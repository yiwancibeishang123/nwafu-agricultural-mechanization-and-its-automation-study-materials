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webp" ContentType="image/webp"/>
  <Override PartName="/ppt/media/image11.webp" ContentType="image/webp"/>
  <Override PartName="/ppt/media/image22.webp" ContentType="image/webp"/>
  <Override PartName="/ppt/media/image2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500" r:id="rId5"/>
    <p:sldId id="643" r:id="rId6"/>
    <p:sldId id="581" r:id="rId7"/>
    <p:sldId id="582" r:id="rId8"/>
    <p:sldId id="644" r:id="rId9"/>
    <p:sldId id="563" r:id="rId10"/>
    <p:sldId id="646" r:id="rId11"/>
    <p:sldId id="654" r:id="rId12"/>
    <p:sldId id="655" r:id="rId13"/>
    <p:sldId id="656" r:id="rId14"/>
    <p:sldId id="645" r:id="rId15"/>
    <p:sldId id="657" r:id="rId16"/>
    <p:sldId id="651" r:id="rId17"/>
    <p:sldId id="658" r:id="rId18"/>
    <p:sldId id="537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842" autoAdjust="0"/>
  </p:normalViewPr>
  <p:slideViewPr>
    <p:cSldViewPr snapToGrid="0">
      <p:cViewPr varScale="1">
        <p:scale>
          <a:sx n="85" d="100"/>
          <a:sy n="85" d="100"/>
        </p:scale>
        <p:origin x="629" y="73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6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2DD21-6401-4011-B947-E020279BCE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13AE6-4EBB-4B20-B70E-12CD22EE9C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各位老师大家好，我是</a:t>
            </a:r>
            <a:r>
              <a:rPr lang="en-US" altLang="zh-CN" dirty="0"/>
              <a:t>…</a:t>
            </a:r>
            <a:r>
              <a:rPr lang="zh-CN" altLang="en-US" dirty="0"/>
              <a:t>，很荣幸参加此次的结题答辩，本项目的名称是：</a:t>
            </a:r>
            <a:r>
              <a:rPr lang="en-US" altLang="zh-CN" dirty="0"/>
              <a:t>…</a:t>
            </a:r>
            <a:r>
              <a:rPr lang="zh-CN" altLang="en-US" dirty="0"/>
              <a:t>，队伍成员有</a:t>
            </a:r>
            <a:r>
              <a:rPr lang="en-US" altLang="zh-CN" dirty="0"/>
              <a:t>…</a:t>
            </a:r>
            <a:r>
              <a:rPr lang="zh-CN" altLang="en-US" dirty="0"/>
              <a:t>，指导老师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DAD178A8-F3D1-4E10-A20B-72AD9A99CF51}" type="datetime1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本次答辩将从以上几个方面进行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F21A768-2401-4C39-B3EB-14ABE4A97285}" type="datetime1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b="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21A768-2401-4C39-B3EB-14ABE4A97285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1BD8F2-0F2F-4E1E-9B71-BD8E480C2916}" type="datetime1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ECAC-8CE4-483C-9CFA-121B0FAAF4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F5DB2-92F1-42AD-B9C6-930FCB48B9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slide" Target="slide1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.png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webp"/><Relationship Id="rId7" Type="http://schemas.openxmlformats.org/officeDocument/2006/relationships/image" Target="../media/image10.webp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6.xml"/><Relationship Id="rId7" Type="http://schemas.openxmlformats.org/officeDocument/2006/relationships/image" Target="../media/image12.png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9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55.xml"/><Relationship Id="rId7" Type="http://schemas.openxmlformats.org/officeDocument/2006/relationships/image" Target="../media/image20.png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6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3.webp"/><Relationship Id="rId7" Type="http://schemas.openxmlformats.org/officeDocument/2006/relationships/image" Target="../media/image22.webp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577477" y="4783039"/>
            <a:ext cx="7037045" cy="55308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</a:rPr>
              <a:t>汇报人：黄钊伟</a:t>
            </a:r>
            <a:endParaRPr kumimoji="1"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+mj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060766" y="2779493"/>
            <a:ext cx="10084912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草莓采摘机器人</a:t>
            </a:r>
            <a:endParaRPr lang="zh-CN" altLang="en-US" sz="5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5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识别与定位创新</a:t>
            </a:r>
            <a:r>
              <a:rPr lang="zh-CN" altLang="en-US" sz="5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</a:t>
            </a:r>
            <a:endParaRPr lang="zh-CN" altLang="en-US" sz="5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" name="直线连接符 56"/>
          <p:cNvCxnSpPr/>
          <p:nvPr/>
        </p:nvCxnSpPr>
        <p:spPr>
          <a:xfrm>
            <a:off x="194478" y="1113672"/>
            <a:ext cx="11817491" cy="0"/>
          </a:xfrm>
          <a:prstGeom prst="line">
            <a:avLst/>
          </a:prstGeom>
          <a:noFill/>
          <a:ln w="25400" cap="flat" cmpd="sng" algn="ctr">
            <a:gradFill flip="none" rotWithShape="1">
              <a:gsLst>
                <a:gs pos="0">
                  <a:srgbClr val="035231"/>
                </a:gs>
                <a:gs pos="27000">
                  <a:srgbClr val="2A684B"/>
                </a:gs>
                <a:gs pos="68000">
                  <a:srgbClr val="70AD47">
                    <a:lumMod val="75000"/>
                  </a:srgbClr>
                </a:gs>
                <a:gs pos="99000">
                  <a:srgbClr val="70AD47">
                    <a:lumMod val="20000"/>
                    <a:lumOff val="8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7" name="组合 6"/>
          <p:cNvGrpSpPr/>
          <p:nvPr/>
        </p:nvGrpSpPr>
        <p:grpSpPr>
          <a:xfrm>
            <a:off x="10203486" y="6548817"/>
            <a:ext cx="235416" cy="253469"/>
            <a:chOff x="2709552" y="2558261"/>
            <a:chExt cx="316524" cy="366426"/>
          </a:xfrm>
        </p:grpSpPr>
        <p:sp>
          <p:nvSpPr>
            <p:cNvPr id="8" name="矩形 7"/>
            <p:cNvSpPr/>
            <p:nvPr/>
          </p:nvSpPr>
          <p:spPr>
            <a:xfrm>
              <a:off x="2709552" y="2558261"/>
              <a:ext cx="162302" cy="1579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863774" y="2766774"/>
              <a:ext cx="162302" cy="15791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438902" y="6494509"/>
            <a:ext cx="2003903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现代果业装备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新技术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78" y="309325"/>
            <a:ext cx="680085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8887598" y="5977319"/>
            <a:ext cx="31026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spc="300" dirty="0">
                <a:solidFill>
                  <a:srgbClr val="122E66"/>
                </a:solidFill>
                <a:latin typeface="+mn-ea"/>
                <a:cs typeface="+mn-ea"/>
              </a:rPr>
              <a:t>汇报时间：</a:t>
            </a:r>
            <a:r>
              <a:rPr lang="en-US" altLang="zh-CN" b="1" spc="300" dirty="0">
                <a:solidFill>
                  <a:srgbClr val="122E66"/>
                </a:solidFill>
                <a:latin typeface="+mn-ea"/>
                <a:cs typeface="+mn-ea"/>
              </a:rPr>
              <a:t>2026/01/07</a:t>
            </a:r>
            <a:endParaRPr lang="zh-CN" altLang="en-US" b="1" spc="300" dirty="0">
              <a:solidFill>
                <a:srgbClr val="122E66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ṡ1íḋe"/>
          <p:cNvSpPr/>
          <p:nvPr/>
        </p:nvSpPr>
        <p:spPr>
          <a:xfrm>
            <a:off x="371379" y="969969"/>
            <a:ext cx="11229278" cy="5696184"/>
          </a:xfrm>
          <a:prstGeom prst="rect">
            <a:avLst/>
          </a:prstGeom>
          <a:solidFill>
            <a:schemeClr val="bg1"/>
          </a:solidFill>
          <a:ln w="22225">
            <a:solidFill>
              <a:srgbClr val="0E419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1" name="TextBox 37"/>
          <p:cNvSpPr txBox="1"/>
          <p:nvPr/>
        </p:nvSpPr>
        <p:spPr>
          <a:xfrm>
            <a:off x="4653529" y="98198"/>
            <a:ext cx="2004907" cy="848544"/>
          </a:xfrm>
          <a:prstGeom prst="rect">
            <a:avLst/>
          </a:prstGeom>
          <a:noFill/>
        </p:spPr>
        <p:txBody>
          <a:bodyPr wrap="square" lIns="108819" tIns="54409" rIns="108819" bIns="54409" rtlCol="0">
            <a:spAutoFit/>
          </a:bodyPr>
          <a:lstStyle/>
          <a:p>
            <a:pPr algn="dist" defTabSz="914400"/>
            <a:r>
              <a:rPr lang="zh-CN" altLang="en-US" sz="4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endParaRPr lang="zh-CN" altLang="en-US" sz="4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964565" y="4999355"/>
            <a:ext cx="3318510" cy="1084569"/>
            <a:chOff x="2377440" y="2130511"/>
            <a:chExt cx="2741369" cy="913580"/>
          </a:xfrm>
        </p:grpSpPr>
        <p:sp>
          <p:nvSpPr>
            <p:cNvPr id="6" name="矩形: 圆角 5"/>
            <p:cNvSpPr/>
            <p:nvPr>
              <p:custDataLst>
                <p:tags r:id="rId2"/>
              </p:custDataLst>
            </p:nvPr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7" name="文本框 6">
              <a:hlinkClick r:id="rId3" action="ppaction://hlinksldjump"/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377440" y="2130511"/>
              <a:ext cx="607859" cy="543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01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3209040" y="2565378"/>
              <a:ext cx="1344148" cy="387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背景简介</a:t>
              </a:r>
              <a:endParaRPr lang="zh-CN" altLang="en-US" sz="2400" b="1" spc="300" dirty="0"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3275965" y="3729355"/>
            <a:ext cx="4150995" cy="1084580"/>
            <a:chOff x="2377440" y="2130511"/>
            <a:chExt cx="2849254" cy="913580"/>
          </a:xfrm>
        </p:grpSpPr>
        <p:sp>
          <p:nvSpPr>
            <p:cNvPr id="14" name="矩形: 圆角 13"/>
            <p:cNvSpPr/>
            <p:nvPr>
              <p:custDataLst>
                <p:tags r:id="rId7"/>
              </p:custDataLst>
            </p:nvPr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8"/>
              </p:custDataLst>
            </p:nvPr>
          </p:nvSpPr>
          <p:spPr>
            <a:xfrm>
              <a:off x="2377440" y="2130511"/>
              <a:ext cx="559267" cy="543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02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9"/>
              </p:custDataLst>
            </p:nvPr>
          </p:nvSpPr>
          <p:spPr>
            <a:xfrm>
              <a:off x="2936914" y="2540221"/>
              <a:ext cx="2289780" cy="387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核心技术与</a:t>
              </a:r>
              <a:r>
                <a:rPr lang="zh-CN" altLang="en-US" sz="2400" b="1" spc="300" dirty="0"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痛点</a:t>
              </a:r>
              <a:endParaRPr lang="zh-CN" altLang="en-US" sz="2400" b="1" spc="300" dirty="0"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0"/>
            </p:custDataLst>
          </p:nvPr>
        </p:nvGrpSpPr>
        <p:grpSpPr>
          <a:xfrm>
            <a:off x="5655945" y="2480945"/>
            <a:ext cx="4180205" cy="1084580"/>
            <a:chOff x="2377440" y="2130511"/>
            <a:chExt cx="3220788" cy="913580"/>
          </a:xfrm>
        </p:grpSpPr>
        <p:sp>
          <p:nvSpPr>
            <p:cNvPr id="22" name="矩形: 圆角 21"/>
            <p:cNvSpPr/>
            <p:nvPr>
              <p:custDataLst>
                <p:tags r:id="rId11"/>
              </p:custDataLst>
            </p:nvPr>
          </p:nvSpPr>
          <p:spPr>
            <a:xfrm>
              <a:off x="2377440" y="2397952"/>
              <a:ext cx="2834850" cy="646139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2"/>
              </p:custDataLst>
            </p:nvPr>
          </p:nvSpPr>
          <p:spPr>
            <a:xfrm>
              <a:off x="2377440" y="2130511"/>
              <a:ext cx="570069" cy="543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03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3"/>
              </p:custDataLst>
            </p:nvPr>
          </p:nvSpPr>
          <p:spPr>
            <a:xfrm>
              <a:off x="3167597" y="2526491"/>
              <a:ext cx="2430631" cy="387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实际应用</a:t>
              </a:r>
              <a:r>
                <a:rPr lang="zh-CN" altLang="en-US" sz="2400" b="1" spc="300" dirty="0"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案例</a:t>
              </a:r>
              <a:endParaRPr lang="zh-CN" altLang="en-US" sz="2400" b="1" spc="300" dirty="0"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4"/>
            </p:custDataLst>
          </p:nvPr>
        </p:nvGrpSpPr>
        <p:grpSpPr>
          <a:xfrm>
            <a:off x="8170856" y="1260594"/>
            <a:ext cx="3254563" cy="1084606"/>
            <a:chOff x="2377440" y="2130511"/>
            <a:chExt cx="2741369" cy="913580"/>
          </a:xfrm>
        </p:grpSpPr>
        <p:sp>
          <p:nvSpPr>
            <p:cNvPr id="27" name="矩形: 圆角 26"/>
            <p:cNvSpPr/>
            <p:nvPr>
              <p:custDataLst>
                <p:tags r:id="rId15"/>
              </p:custDataLst>
            </p:nvPr>
          </p:nvSpPr>
          <p:spPr>
            <a:xfrm>
              <a:off x="2377440" y="2397760"/>
              <a:ext cx="2741369" cy="646331"/>
            </a:xfrm>
            <a:prstGeom prst="roundRect">
              <a:avLst>
                <a:gd name="adj" fmla="val 3563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8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16"/>
              </p:custDataLst>
            </p:nvPr>
          </p:nvSpPr>
          <p:spPr>
            <a:xfrm>
              <a:off x="2377440" y="2130511"/>
              <a:ext cx="557917" cy="54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E419C">
                      <a:alpha val="62000"/>
                    </a:srgbClr>
                  </a:solidFill>
                  <a:latin typeface="Impact" panose="020B0806030902050204" pitchFamily="34" charset="0"/>
                  <a:cs typeface="+mn-ea"/>
                </a:rPr>
                <a:t>04</a:t>
              </a:r>
              <a:endParaRPr lang="zh-CN" altLang="en-US" sz="3600" dirty="0">
                <a:solidFill>
                  <a:srgbClr val="0E419C">
                    <a:alpha val="62000"/>
                  </a:srgbClr>
                </a:solidFill>
                <a:latin typeface="Impact" panose="020B0806030902050204" pitchFamily="34" charset="0"/>
                <a:cs typeface="+mn-ea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7"/>
              </p:custDataLst>
            </p:nvPr>
          </p:nvSpPr>
          <p:spPr>
            <a:xfrm>
              <a:off x="3182700" y="2526491"/>
              <a:ext cx="1688764" cy="387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未来</a:t>
              </a:r>
              <a:r>
                <a:rPr lang="zh-CN" altLang="en-US" sz="2400" b="1" spc="300" dirty="0"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展望</a:t>
              </a:r>
              <a:endParaRPr lang="zh-CN" altLang="en-US" sz="2400" b="1" spc="300" dirty="0"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pic>
        <p:nvPicPr>
          <p:cNvPr id="30" name="图片 29" descr="0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1379" y="236399"/>
            <a:ext cx="738534" cy="733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522388" y="2973614"/>
            <a:ext cx="5147224" cy="8305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背景简介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01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10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endParaRPr lang="en-US" altLang="zh-CN" sz="1400" spc="-1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3209608" y="3908102"/>
            <a:ext cx="5773420" cy="76200"/>
            <a:chOff x="4998" y="4189"/>
            <a:chExt cx="9092" cy="120"/>
          </a:xfrm>
          <a:solidFill>
            <a:schemeClr val="accent2"/>
          </a:solidFill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 flipV="1">
              <a:off x="8347" y="4189"/>
              <a:ext cx="2394" cy="12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cxnSp>
          <p:nvCxnSpPr>
            <p:cNvPr id="6" name="powerpoint template design by DAJU_PPT正版来源小红书大橘PPT微信DAJU_PPT请勿抄袭搬运！盗版必究！-2"/>
            <p:cNvCxnSpPr/>
            <p:nvPr/>
          </p:nvCxnSpPr>
          <p:spPr>
            <a:xfrm>
              <a:off x="11221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powerpoint template design by DAJU_PPT正版来源小红书大橘PPT微信DAJU_PPT请勿抄袭搬运！盗版必究！-3"/>
            <p:cNvCxnSpPr/>
            <p:nvPr/>
          </p:nvCxnSpPr>
          <p:spPr>
            <a:xfrm>
              <a:off x="4998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owerpoint template design by DAJU_PPT正版来源小红书大橘PPT微信DAJU_PPT请勿抄袭搬运！盗版必究！"/>
          <p:cNvSpPr/>
          <p:nvPr/>
        </p:nvSpPr>
        <p:spPr>
          <a:xfrm>
            <a:off x="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953" y="505818"/>
            <a:ext cx="2809435" cy="5034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3" name="图片 22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背景简介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1" name="直接连接符 10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背景介绍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156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443230" y="1412888"/>
            <a:ext cx="11542395" cy="304292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686435" y="1517028"/>
            <a:ext cx="364934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草莓采摘作业现状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1600522" y="1969783"/>
            <a:ext cx="2564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主要依赖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5402753" y="1969783"/>
            <a:ext cx="2564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定位算法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9345295" y="1969783"/>
            <a:ext cx="1757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果实识别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不准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猕猴桃采摘机器人 的图像结果"/>
          <p:cNvPicPr>
            <a:picLocks noChangeAspect="1" noChangeArrowheads="1"/>
          </p:cNvPicPr>
          <p:nvPr/>
        </p:nvPicPr>
        <p:blipFill>
          <a:blip r:embed="rId6"/>
          <a:srcRect l="7929" r="7929"/>
          <a:stretch>
            <a:fillRect/>
          </a:stretch>
        </p:blipFill>
        <p:spPr bwMode="auto">
          <a:xfrm>
            <a:off x="1196112" y="2400838"/>
            <a:ext cx="2473410" cy="195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猕猴桃采摘机器人 的图像结果"/>
          <p:cNvPicPr>
            <a:picLocks noChangeAspect="1" noChangeArrowheads="1"/>
          </p:cNvPicPr>
          <p:nvPr/>
        </p:nvPicPr>
        <p:blipFill>
          <a:blip r:embed="rId7"/>
          <a:srcRect l="15465" r="15465"/>
          <a:stretch>
            <a:fillRect/>
          </a:stretch>
        </p:blipFill>
        <p:spPr bwMode="auto">
          <a:xfrm>
            <a:off x="5269165" y="2400838"/>
            <a:ext cx="1890523" cy="195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机器人采摘猕猴桃 的图像结果"/>
          <p:cNvPicPr>
            <a:picLocks noChangeAspect="1" noChangeArrowheads="1"/>
          </p:cNvPicPr>
          <p:nvPr/>
        </p:nvPicPr>
        <p:blipFill>
          <a:blip r:embed="rId8"/>
          <a:srcRect l="1429" r="1429"/>
          <a:stretch>
            <a:fillRect/>
          </a:stretch>
        </p:blipFill>
        <p:spPr bwMode="auto">
          <a:xfrm>
            <a:off x="8759331" y="2400838"/>
            <a:ext cx="2842788" cy="194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686435" y="4551058"/>
            <a:ext cx="6337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草莓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产业自动化采摘的发展要求？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10192256" y="5030769"/>
            <a:ext cx="2362835" cy="14314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提高作业水平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推进智慧农业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右箭头 30"/>
          <p:cNvSpPr/>
          <p:nvPr/>
        </p:nvSpPr>
        <p:spPr>
          <a:xfrm>
            <a:off x="9472044" y="5463889"/>
            <a:ext cx="555317" cy="3270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11"/>
            </p:custDataLst>
          </p:nvPr>
        </p:nvSpPr>
        <p:spPr>
          <a:xfrm>
            <a:off x="443230" y="4455808"/>
            <a:ext cx="11542395" cy="23145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92577" y="4919358"/>
            <a:ext cx="5205743" cy="1743113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70" y="4903447"/>
            <a:ext cx="3279608" cy="1759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40646" y="1482098"/>
            <a:ext cx="4943481" cy="41706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81000" indent="-38100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    针对目前草莓采摘机器人果实识别与定位困难等问题，采用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形态学</a:t>
            </a:r>
            <a:r>
              <a:rPr lang="zh-CN" altLang="en-US" sz="2000" dirty="0">
                <a:latin typeface="+mn-ea"/>
              </a:rPr>
              <a:t>定位策略和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双分支</a:t>
            </a:r>
            <a:r>
              <a:rPr lang="zh-CN" altLang="en-US" sz="2000" dirty="0">
                <a:latin typeface="+mn-ea"/>
              </a:rPr>
              <a:t>识别模型进行</a:t>
            </a:r>
            <a:r>
              <a:rPr lang="zh-CN" altLang="en-US" sz="2000" dirty="0">
                <a:latin typeface="+mn-ea"/>
              </a:rPr>
              <a:t>设计。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+mn-ea"/>
            </a:endParaRPr>
          </a:p>
          <a:p>
            <a:pPr marL="381000" indent="-3810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构建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数据集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结构</a:t>
            </a:r>
            <a:r>
              <a:rPr lang="zh-CN" altLang="en-US" sz="2000" dirty="0">
                <a:latin typeface="+mn-ea"/>
              </a:rPr>
              <a:t>与</a:t>
            </a:r>
            <a:r>
              <a:rPr lang="zh-CN" altLang="en-US" sz="2000" dirty="0">
                <a:latin typeface="+mn-ea"/>
              </a:rPr>
              <a:t>标注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 marL="381000" indent="-3810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构建草莓形态特征识别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模型</a:t>
            </a:r>
            <a:endParaRPr lang="en-US" altLang="zh-CN" sz="2000" dirty="0">
              <a:latin typeface="+mn-ea"/>
            </a:endParaRPr>
          </a:p>
          <a:p>
            <a:pPr marL="381000" indent="-3810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相机标定</a:t>
            </a:r>
            <a:r>
              <a:rPr lang="zh-CN" altLang="en-US" sz="2000" dirty="0">
                <a:latin typeface="+mn-ea"/>
              </a:rPr>
              <a:t>与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手眼标定</a:t>
            </a:r>
            <a:r>
              <a:rPr lang="zh-CN" altLang="en-US" sz="2000" dirty="0">
                <a:latin typeface="+mn-ea"/>
              </a:rPr>
              <a:t>结合</a:t>
            </a:r>
            <a:endParaRPr lang="en-US" altLang="zh-CN" sz="2000" dirty="0">
              <a:latin typeface="+mn-ea"/>
            </a:endParaRPr>
          </a:p>
          <a:p>
            <a:pPr marL="381000" indent="-3810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实景试验</a:t>
            </a:r>
            <a:endParaRPr lang="en-US" altLang="zh-CN" sz="2000" dirty="0">
              <a:latin typeface="+mn-ea"/>
            </a:endParaRPr>
          </a:p>
          <a:p>
            <a:pPr marL="381000" indent="-38100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背景简介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156C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技术路线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156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5577205" y="760095"/>
            <a:ext cx="6614795" cy="5159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209925" y="2973705"/>
            <a:ext cx="6108065" cy="830580"/>
          </a:xfrm>
          <a:prstGeom prst="rect">
            <a:avLst/>
          </a:prstGeom>
        </p:spPr>
        <p:txBody>
          <a:bodyPr wrap="square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核心技术与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痛点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90440" y="1886726"/>
            <a:ext cx="811120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02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TWO</a:t>
            </a:r>
            <a:endParaRPr lang="zh-CN" altLang="en-US" dirty="0"/>
          </a:p>
        </p:txBody>
      </p:sp>
      <p:sp>
        <p:nvSpPr>
          <p:cNvPr id="10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endParaRPr lang="en-US" altLang="zh-CN" sz="1400" spc="-1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3209608" y="3908102"/>
            <a:ext cx="5773420" cy="76200"/>
            <a:chOff x="4998" y="4189"/>
            <a:chExt cx="9092" cy="120"/>
          </a:xfrm>
          <a:solidFill>
            <a:schemeClr val="accent2"/>
          </a:solidFill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 flipV="1">
              <a:off x="8347" y="4189"/>
              <a:ext cx="2394" cy="12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cxnSp>
          <p:nvCxnSpPr>
            <p:cNvPr id="6" name="powerpoint template design by DAJU_PPT正版来源小红书大橘PPT微信DAJU_PPT请勿抄袭搬运！盗版必究！-2"/>
            <p:cNvCxnSpPr/>
            <p:nvPr/>
          </p:nvCxnSpPr>
          <p:spPr>
            <a:xfrm>
              <a:off x="11221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powerpoint template design by DAJU_PPT正版来源小红书大橘PPT微信DAJU_PPT请勿抄袭搬运！盗版必究！-3"/>
            <p:cNvCxnSpPr/>
            <p:nvPr/>
          </p:nvCxnSpPr>
          <p:spPr>
            <a:xfrm>
              <a:off x="4998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owerpoint template design by DAJU_PPT正版来源小红书大橘PPT微信DAJU_PPT请勿抄袭搬运！盗版必究！"/>
          <p:cNvSpPr/>
          <p:nvPr/>
        </p:nvSpPr>
        <p:spPr>
          <a:xfrm>
            <a:off x="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953" y="505818"/>
            <a:ext cx="2809435" cy="5034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核心技术与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痛点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行业痛点</a:t>
              </a:r>
              <a:endParaRPr lang="zh-CN" altLang="en-US" sz="2200" b="1" dirty="0">
                <a:solidFill>
                  <a:srgbClr val="00156C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332034" y="1998007"/>
            <a:ext cx="4968875" cy="434721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82295" y="1990137"/>
            <a:ext cx="5103495" cy="434721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8092106" y="5863343"/>
            <a:ext cx="2829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ym typeface="+mn-ea"/>
              </a:rPr>
              <a:t>累计误差</a:t>
            </a:r>
            <a:r>
              <a:rPr lang="zh-CN" altLang="en-US" sz="1600" b="1" dirty="0">
                <a:sym typeface="+mn-ea"/>
              </a:rPr>
              <a:t>效应</a:t>
            </a:r>
            <a:endParaRPr lang="zh-CN" altLang="en-US" sz="1600" b="1" dirty="0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92576" y="1412408"/>
            <a:ext cx="9572818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视觉感知单任务模型级联架构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计算量庞大</a:t>
            </a:r>
            <a:r>
              <a:rPr lang="zh-CN" altLang="en-US" dirty="0">
                <a:latin typeface="+mn-ea"/>
              </a:rPr>
              <a:t>；多个级联架构串联存在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累计误差效应</a:t>
            </a:r>
            <a:r>
              <a:rPr lang="zh-CN" altLang="en-US" dirty="0">
                <a:latin typeface="+mn-ea"/>
              </a:rPr>
              <a:t>。</a:t>
            </a:r>
            <a:endParaRPr lang="en-US" altLang="zh-CN" sz="1800" dirty="0">
              <a:latin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2281781" y="5863343"/>
            <a:ext cx="2011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单任务模型级联</a:t>
            </a:r>
            <a:r>
              <a:rPr lang="zh-CN" altLang="en-US" sz="1600" b="1" dirty="0"/>
              <a:t>架构</a:t>
            </a:r>
            <a:endParaRPr lang="zh-CN" altLang="en-US" sz="1600" b="1" dirty="0"/>
          </a:p>
        </p:txBody>
      </p:sp>
      <p:pic>
        <p:nvPicPr>
          <p:cNvPr id="2" name="图片 1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13105" y="2383155"/>
            <a:ext cx="4685665" cy="303085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8"/>
          <a:stretch>
            <a:fillRect/>
          </a:stretch>
        </p:blipFill>
        <p:spPr>
          <a:xfrm>
            <a:off x="6785610" y="2383155"/>
            <a:ext cx="4164330" cy="3021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核心技术与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痛点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行业</a:t>
              </a: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痛点</a:t>
              </a:r>
              <a:endParaRPr lang="zh-CN" altLang="en-US" sz="2200" b="1" dirty="0">
                <a:solidFill>
                  <a:srgbClr val="00156C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332034" y="1998007"/>
            <a:ext cx="4968875" cy="434721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82295" y="1990137"/>
            <a:ext cx="5103495" cy="434721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8092106" y="5863343"/>
            <a:ext cx="2829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ym typeface="+mn-ea"/>
              </a:rPr>
              <a:t>定位策略</a:t>
            </a:r>
            <a:r>
              <a:rPr lang="zh-CN" altLang="en-US" sz="1600" b="1" dirty="0">
                <a:sym typeface="+mn-ea"/>
              </a:rPr>
              <a:t>有待改进</a:t>
            </a:r>
            <a:endParaRPr lang="zh-CN" altLang="en-US" sz="1600" b="1" dirty="0"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2281781" y="5863343"/>
            <a:ext cx="1402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果梗密集</a:t>
            </a:r>
            <a:r>
              <a:rPr lang="zh-CN" altLang="en-US" sz="1600" b="1" dirty="0"/>
              <a:t>区域</a:t>
            </a:r>
            <a:endParaRPr lang="zh-CN" altLang="en-US" sz="16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92576" y="1412408"/>
            <a:ext cx="9572818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难以实现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无效果梗</a:t>
            </a:r>
            <a:r>
              <a:rPr lang="zh-CN" altLang="en-US" dirty="0">
                <a:latin typeface="+mn-ea"/>
              </a:rPr>
              <a:t>干扰判别；定位策略忽略倾斜角、弯曲度等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空间姿态</a:t>
            </a:r>
            <a:r>
              <a:rPr lang="zh-CN" altLang="en-US" dirty="0">
                <a:latin typeface="+mn-ea"/>
              </a:rPr>
              <a:t>。</a:t>
            </a:r>
            <a:endParaRPr lang="en-US" altLang="zh-CN" sz="1800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20163" r="20163"/>
          <a:stretch>
            <a:fillRect/>
          </a:stretch>
        </p:blipFill>
        <p:spPr>
          <a:xfrm>
            <a:off x="6720205" y="2553970"/>
            <a:ext cx="4201160" cy="30905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4827" r="4827"/>
          <a:stretch>
            <a:fillRect/>
          </a:stretch>
        </p:blipFill>
        <p:spPr bwMode="auto">
          <a:xfrm>
            <a:off x="865582" y="2553984"/>
            <a:ext cx="4453357" cy="295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核心技术与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痛点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核心技术</a:t>
              </a:r>
              <a:endParaRPr lang="zh-CN" altLang="en-US" sz="2200" b="1" dirty="0">
                <a:solidFill>
                  <a:srgbClr val="00156C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332220" y="3277870"/>
            <a:ext cx="4968875" cy="306705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82295" y="3277235"/>
            <a:ext cx="5103495" cy="3060065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8092106" y="5863343"/>
            <a:ext cx="2829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600" b="1" dirty="0">
                <a:sym typeface="+mn-ea"/>
              </a:rPr>
              <a:t>LAWDS</a:t>
            </a:r>
            <a:r>
              <a:rPr lang="zh-CN" altLang="en-US" sz="1600" b="1" dirty="0">
                <a:sym typeface="+mn-ea"/>
              </a:rPr>
              <a:t>注意力机制</a:t>
            </a:r>
            <a:endParaRPr lang="zh-CN" altLang="en-US" sz="1600" b="1" dirty="0"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2281781" y="5863343"/>
            <a:ext cx="9867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MTS N</a:t>
            </a:r>
            <a:r>
              <a:rPr lang="en-US" altLang="zh-CN" sz="1600" b="1" dirty="0"/>
              <a:t>et</a:t>
            </a:r>
            <a:endParaRPr lang="en-US" altLang="zh-CN" sz="16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92576" y="1412408"/>
            <a:ext cx="9572818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多任务感知网络：</a:t>
            </a:r>
            <a:r>
              <a:rPr lang="en-US" altLang="zh-CN" dirty="0">
                <a:latin typeface="+mn-ea"/>
              </a:rPr>
              <a:t>MTS Net</a:t>
            </a:r>
            <a:r>
              <a:rPr lang="zh-CN" altLang="en-US" dirty="0">
                <a:latin typeface="+mn-ea"/>
              </a:rPr>
              <a:t>，骨干网络、果实检测与果梗分割两个颈部网络、两头部</a:t>
            </a:r>
            <a:r>
              <a:rPr lang="zh-CN" altLang="en-US" dirty="0">
                <a:latin typeface="+mn-ea"/>
              </a:rPr>
              <a:t>网络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骨干网络：引入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注意力机制</a:t>
            </a:r>
            <a:r>
              <a:rPr lang="zh-CN" altLang="en-US" dirty="0">
                <a:latin typeface="+mn-ea"/>
              </a:rPr>
              <a:t>，自适应地为特征图不同子区域分配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权重</a:t>
            </a:r>
            <a:r>
              <a:rPr lang="zh-CN" altLang="en-US" dirty="0">
                <a:latin typeface="+mn-ea"/>
              </a:rPr>
              <a:t>，保留重要</a:t>
            </a:r>
            <a:r>
              <a:rPr lang="zh-CN" altLang="en-US" dirty="0">
                <a:latin typeface="+mn-ea"/>
              </a:rPr>
              <a:t>特征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果实检测网络：可变形卷积网络</a:t>
            </a:r>
            <a:r>
              <a:rPr lang="en-US" altLang="zh-CN" dirty="0">
                <a:latin typeface="+mn-ea"/>
              </a:rPr>
              <a:t>DCN</a:t>
            </a:r>
            <a:r>
              <a:rPr lang="zh-CN" altLang="en-US" dirty="0">
                <a:latin typeface="+mn-ea"/>
              </a:rPr>
              <a:t>，动态调整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卷积核</a:t>
            </a:r>
            <a:r>
              <a:rPr lang="zh-CN" altLang="en-US" dirty="0">
                <a:latin typeface="+mn-ea"/>
              </a:rPr>
              <a:t>形状大小，减少尺度变化敏感性问题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果梗分割网络：引入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高效局部</a:t>
            </a:r>
            <a:r>
              <a:rPr lang="zh-CN" altLang="en-US" dirty="0">
                <a:latin typeface="+mn-ea"/>
              </a:rPr>
              <a:t>注意力机制，抑制背景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噪声</a:t>
            </a:r>
            <a:r>
              <a:rPr lang="zh-CN" altLang="en-US" dirty="0">
                <a:latin typeface="+mn-ea"/>
              </a:rPr>
              <a:t>干扰，实现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自适应聚焦</a:t>
            </a:r>
            <a:endParaRPr lang="en-US" altLang="zh-CN" sz="1800" dirty="0">
              <a:latin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6"/>
          <a:stretch>
            <a:fillRect/>
          </a:stretch>
        </p:blipFill>
        <p:spPr>
          <a:xfrm>
            <a:off x="655955" y="3399790"/>
            <a:ext cx="4921250" cy="225742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7"/>
          <a:stretch>
            <a:fillRect/>
          </a:stretch>
        </p:blipFill>
        <p:spPr>
          <a:xfrm>
            <a:off x="6483985" y="3399790"/>
            <a:ext cx="4693920" cy="2258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核心技术与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痛点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核心技术</a:t>
              </a:r>
              <a:endParaRPr lang="zh-CN" altLang="en-US" sz="2200" b="1" dirty="0">
                <a:solidFill>
                  <a:srgbClr val="00156C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332220" y="3192780"/>
            <a:ext cx="4968875" cy="315214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82295" y="3192780"/>
            <a:ext cx="5103495" cy="314452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7803181" y="5863343"/>
            <a:ext cx="2829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600" b="1" dirty="0">
                <a:sym typeface="+mn-ea"/>
              </a:rPr>
              <a:t>草莓果实果梗隶属算法</a:t>
            </a:r>
            <a:endParaRPr lang="en-US" altLang="zh-CN" sz="1600" b="1" dirty="0"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2281781" y="5863343"/>
            <a:ext cx="17995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MTS Net</a:t>
            </a:r>
            <a:r>
              <a:rPr lang="zh-CN" altLang="en-US" sz="1600" b="1" dirty="0"/>
              <a:t>识别效果</a:t>
            </a:r>
            <a:endParaRPr lang="zh-CN" altLang="en-US" sz="16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92576" y="1412408"/>
            <a:ext cx="9572818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基于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多约束特征</a:t>
            </a:r>
            <a:r>
              <a:rPr lang="zh-CN" altLang="en-US" dirty="0">
                <a:latin typeface="+mn-ea"/>
              </a:rPr>
              <a:t>的草莓果实果梗隶属算法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获取果实的边界框、果梗的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掩膜</a:t>
            </a:r>
            <a:r>
              <a:rPr lang="zh-CN" altLang="en-US" dirty="0">
                <a:latin typeface="+mn-ea"/>
              </a:rPr>
              <a:t>后，将位置和距离等多特征作为决策模型的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约束条件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采用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双重条件</a:t>
            </a:r>
            <a:r>
              <a:rPr lang="zh-CN" altLang="en-US" dirty="0">
                <a:latin typeface="+mn-ea"/>
              </a:rPr>
              <a:t>联合判定：仅当果实与果梗之间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综合距离</a:t>
            </a:r>
            <a:r>
              <a:rPr lang="zh-CN" altLang="en-US" dirty="0">
                <a:latin typeface="+mn-ea"/>
              </a:rPr>
              <a:t>最小且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关联夹角</a:t>
            </a:r>
            <a:r>
              <a:rPr lang="zh-CN" altLang="en-US" dirty="0">
                <a:latin typeface="+mn-ea"/>
              </a:rPr>
              <a:t>最小时，方确认其与对应果梗的隶属关系</a:t>
            </a:r>
            <a:endParaRPr lang="en-US" altLang="zh-CN" sz="1800" dirty="0">
              <a:latin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6"/>
          <a:stretch>
            <a:fillRect/>
          </a:stretch>
        </p:blipFill>
        <p:spPr>
          <a:xfrm>
            <a:off x="666750" y="3322955"/>
            <a:ext cx="4899660" cy="243205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7"/>
          <a:stretch>
            <a:fillRect/>
          </a:stretch>
        </p:blipFill>
        <p:spPr>
          <a:xfrm>
            <a:off x="6370955" y="3554095"/>
            <a:ext cx="4799965" cy="2107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核心技术与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痛点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核心技术</a:t>
              </a:r>
              <a:endParaRPr lang="zh-CN" altLang="en-US" sz="2200" b="1" dirty="0">
                <a:solidFill>
                  <a:srgbClr val="00156C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332220" y="2543810"/>
            <a:ext cx="4968875" cy="380111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82295" y="2543810"/>
            <a:ext cx="5103495" cy="3793490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8092106" y="5863343"/>
            <a:ext cx="2829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ym typeface="+mn-ea"/>
              </a:rPr>
              <a:t>软件</a:t>
            </a:r>
            <a:r>
              <a:rPr lang="zh-CN" altLang="en-US" sz="1600" b="1" dirty="0">
                <a:sym typeface="+mn-ea"/>
              </a:rPr>
              <a:t>架构</a:t>
            </a:r>
            <a:endParaRPr lang="zh-CN" altLang="en-US" sz="1600" b="1" dirty="0"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2281781" y="5863343"/>
            <a:ext cx="1198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机器人</a:t>
            </a:r>
            <a:r>
              <a:rPr lang="zh-CN" altLang="en-US" sz="1600" b="1" dirty="0"/>
              <a:t>实物</a:t>
            </a:r>
            <a:endParaRPr lang="zh-CN" altLang="en-US" sz="16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92576" y="1412408"/>
            <a:ext cx="9572818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机器人包括上位机、</a:t>
            </a:r>
            <a:r>
              <a:rPr lang="en-US" altLang="zh-CN" dirty="0">
                <a:latin typeface="+mn-ea"/>
              </a:rPr>
              <a:t>Intel RealSense D435i </a:t>
            </a:r>
            <a:r>
              <a:rPr lang="zh-CN" altLang="en-US" dirty="0">
                <a:latin typeface="+mn-ea"/>
              </a:rPr>
              <a:t>深度相机、</a:t>
            </a:r>
            <a:r>
              <a:rPr lang="en-US" altLang="zh-CN" dirty="0">
                <a:latin typeface="+mn-ea"/>
              </a:rPr>
              <a:t>UR5 </a:t>
            </a:r>
            <a:r>
              <a:rPr lang="zh-CN" altLang="en-US" dirty="0">
                <a:latin typeface="+mn-ea"/>
              </a:rPr>
              <a:t>六自由度机械臂、机械臂控制箱、移动机器人底盘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795780" y="2648585"/>
            <a:ext cx="2722245" cy="321500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7"/>
          <a:stretch>
            <a:fillRect/>
          </a:stretch>
        </p:blipFill>
        <p:spPr>
          <a:xfrm>
            <a:off x="6374765" y="3432175"/>
            <a:ext cx="4870450" cy="161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522388" y="2973614"/>
            <a:ext cx="5147224" cy="8305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实际应用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90440" y="1886726"/>
            <a:ext cx="811120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03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10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endParaRPr lang="en-US" altLang="zh-CN" sz="1400" spc="-1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3209608" y="3908102"/>
            <a:ext cx="5773420" cy="76200"/>
            <a:chOff x="4998" y="4189"/>
            <a:chExt cx="9092" cy="120"/>
          </a:xfrm>
          <a:solidFill>
            <a:schemeClr val="accent2"/>
          </a:solidFill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 flipV="1">
              <a:off x="8347" y="4189"/>
              <a:ext cx="2394" cy="12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cxnSp>
          <p:nvCxnSpPr>
            <p:cNvPr id="6" name="powerpoint template design by DAJU_PPT正版来源小红书大橘PPT微信DAJU_PPT请勿抄袭搬运！盗版必究！-2"/>
            <p:cNvCxnSpPr/>
            <p:nvPr/>
          </p:nvCxnSpPr>
          <p:spPr>
            <a:xfrm>
              <a:off x="11221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powerpoint template design by DAJU_PPT正版来源小红书大橘PPT微信DAJU_PPT请勿抄袭搬运！盗版必究！-3"/>
            <p:cNvCxnSpPr/>
            <p:nvPr/>
          </p:nvCxnSpPr>
          <p:spPr>
            <a:xfrm>
              <a:off x="4998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owerpoint template design by DAJU_PPT正版来源小红书大橘PPT微信DAJU_PPT请勿抄袭搬运！盗版必究！"/>
          <p:cNvSpPr/>
          <p:nvPr/>
        </p:nvSpPr>
        <p:spPr>
          <a:xfrm>
            <a:off x="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953" y="505818"/>
            <a:ext cx="2809435" cy="5034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实际应用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案例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实验应用案例</a:t>
              </a:r>
              <a:endParaRPr lang="zh-CN" altLang="en-US" sz="2200" b="1" dirty="0">
                <a:solidFill>
                  <a:srgbClr val="00156C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332220" y="2750185"/>
            <a:ext cx="4968875" cy="3594735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82295" y="2765425"/>
            <a:ext cx="5103495" cy="3571875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8092106" y="5863343"/>
            <a:ext cx="2829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ym typeface="+mn-ea"/>
              </a:rPr>
              <a:t>实验</a:t>
            </a:r>
            <a:r>
              <a:rPr lang="zh-CN" altLang="en-US" sz="1600" b="1" dirty="0">
                <a:sym typeface="+mn-ea"/>
              </a:rPr>
              <a:t>结果</a:t>
            </a:r>
            <a:endParaRPr lang="zh-CN" altLang="en-US" sz="1600" b="1" dirty="0"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2281781" y="5863343"/>
            <a:ext cx="20027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MTS Net</a:t>
            </a:r>
            <a:r>
              <a:rPr lang="zh-CN" altLang="en-US" sz="1600" b="1" dirty="0"/>
              <a:t>多场景</a:t>
            </a:r>
            <a:r>
              <a:rPr lang="zh-CN" altLang="en-US" sz="1600" b="1" dirty="0"/>
              <a:t>实验</a:t>
            </a:r>
            <a:endParaRPr lang="zh-CN" altLang="en-US" sz="16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92576" y="1412408"/>
            <a:ext cx="9572818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latin typeface="+mn-ea"/>
              </a:rPr>
              <a:t>MTS Net</a:t>
            </a:r>
            <a:r>
              <a:rPr lang="zh-CN" altLang="en-US" sz="1800" dirty="0">
                <a:latin typeface="+mn-ea"/>
              </a:rPr>
              <a:t>模型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掩膜分割</a:t>
            </a:r>
            <a:r>
              <a:rPr lang="zh-CN" altLang="en-US" sz="1800" dirty="0">
                <a:latin typeface="+mn-ea"/>
              </a:rPr>
              <a:t>掩膜质量更高，果梗边缘细节保留更完整，在</a:t>
            </a:r>
            <a:r>
              <a:rPr lang="zh-CN" altLang="en-US" sz="1800" dirty="0">
                <a:latin typeface="+mn-ea"/>
              </a:rPr>
              <a:t>多个场景中均实现检测置信度与分割质量的系统性提升</a:t>
            </a:r>
            <a:endParaRPr lang="zh-CN" altLang="en-US" sz="18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+mn-ea"/>
              </a:rPr>
              <a:t>验证了检测任务提供的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全局空间约束</a:t>
            </a:r>
            <a:r>
              <a:rPr lang="zh-CN" altLang="en-US" sz="1800" dirty="0">
                <a:latin typeface="+mn-ea"/>
              </a:rPr>
              <a:t>有助于改善分割掩膜的几何一致性</a:t>
            </a:r>
            <a:endParaRPr lang="zh-CN" altLang="en-US" sz="1800" dirty="0">
              <a:latin typeface="+mn-ea"/>
            </a:endParaRPr>
          </a:p>
        </p:txBody>
      </p: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1250" y="2912745"/>
            <a:ext cx="4057650" cy="2943225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419215" y="3518535"/>
            <a:ext cx="4779645" cy="1852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522388" y="2973614"/>
            <a:ext cx="5147224" cy="8305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未来展望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690440" y="1886726"/>
            <a:ext cx="811120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04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10" name="powerpoint template design by DAJU_PPT正版来源小红书大橘PPT微信DAJU_PPT请勿抄袭搬运！盗版必究！"/>
          <p:cNvSpPr txBox="1"/>
          <p:nvPr/>
        </p:nvSpPr>
        <p:spPr>
          <a:xfrm>
            <a:off x="2407920" y="6249873"/>
            <a:ext cx="737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艰苦朴素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实事求是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严格要求 </a:t>
            </a:r>
            <a:r>
              <a:rPr lang="en-US" altLang="zh-CN" sz="1400" spc="30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sz="1400" spc="300" dirty="0">
                <a:solidFill>
                  <a:schemeClr val="bg1"/>
                </a:solidFill>
                <a:cs typeface="+mn-ea"/>
                <a:sym typeface="+mn-lt"/>
              </a:rPr>
              <a:t>勇于探索 </a:t>
            </a:r>
            <a:r>
              <a:rPr lang="en-US" altLang="zh-CN" sz="1400" spc="-150" dirty="0">
                <a:solidFill>
                  <a:schemeClr val="bg1"/>
                </a:solidFill>
                <a:cs typeface="+mn-ea"/>
                <a:sym typeface="+mn-lt"/>
              </a:rPr>
              <a:t>——</a:t>
            </a:r>
            <a:endParaRPr lang="en-US" altLang="zh-CN" sz="1400" spc="-1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3209608" y="3908102"/>
            <a:ext cx="5773420" cy="76200"/>
            <a:chOff x="4998" y="4189"/>
            <a:chExt cx="9092" cy="120"/>
          </a:xfrm>
          <a:solidFill>
            <a:schemeClr val="accent2"/>
          </a:solidFill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 flipV="1">
              <a:off x="8347" y="4189"/>
              <a:ext cx="2394" cy="12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cxnSp>
          <p:nvCxnSpPr>
            <p:cNvPr id="6" name="powerpoint template design by DAJU_PPT正版来源小红书大橘PPT微信DAJU_PPT请勿抄袭搬运！盗版必究！-2"/>
            <p:cNvCxnSpPr/>
            <p:nvPr/>
          </p:nvCxnSpPr>
          <p:spPr>
            <a:xfrm>
              <a:off x="11221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powerpoint template design by DAJU_PPT正版来源小红书大橘PPT微信DAJU_PPT请勿抄袭搬运！盗版必究！-3"/>
            <p:cNvCxnSpPr/>
            <p:nvPr/>
          </p:nvCxnSpPr>
          <p:spPr>
            <a:xfrm>
              <a:off x="4998" y="4249"/>
              <a:ext cx="286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owerpoint template design by DAJU_PPT正版来源小红书大橘PPT微信DAJU_PPT请勿抄袭搬运！盗版必究！"/>
          <p:cNvSpPr/>
          <p:nvPr/>
        </p:nvSpPr>
        <p:spPr>
          <a:xfrm>
            <a:off x="0" y="5842000"/>
            <a:ext cx="12192000" cy="1016000"/>
          </a:xfrm>
          <a:custGeom>
            <a:avLst/>
            <a:gdLst>
              <a:gd name="connsiteX0" fmla="*/ 6096000 w 12192000"/>
              <a:gd name="connsiteY0" fmla="*/ 0 h 1016000"/>
              <a:gd name="connsiteX1" fmla="*/ 11872101 w 12192000"/>
              <a:gd name="connsiteY1" fmla="*/ 363047 h 1016000"/>
              <a:gd name="connsiteX2" fmla="*/ 12192000 w 12192000"/>
              <a:gd name="connsiteY2" fmla="*/ 416457 h 1016000"/>
              <a:gd name="connsiteX3" fmla="*/ 12192000 w 12192000"/>
              <a:gd name="connsiteY3" fmla="*/ 1016000 h 1016000"/>
              <a:gd name="connsiteX4" fmla="*/ 0 w 12192000"/>
              <a:gd name="connsiteY4" fmla="*/ 1016000 h 1016000"/>
              <a:gd name="connsiteX5" fmla="*/ 0 w 12192000"/>
              <a:gd name="connsiteY5" fmla="*/ 416457 h 1016000"/>
              <a:gd name="connsiteX6" fmla="*/ 319900 w 12192000"/>
              <a:gd name="connsiteY6" fmla="*/ 363047 h 1016000"/>
              <a:gd name="connsiteX7" fmla="*/ 6096000 w 12192000"/>
              <a:gd name="connsiteY7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16000">
                <a:moveTo>
                  <a:pt x="6096000" y="0"/>
                </a:moveTo>
                <a:cubicBezTo>
                  <a:pt x="8351708" y="0"/>
                  <a:pt x="10393868" y="138738"/>
                  <a:pt x="11872101" y="363047"/>
                </a:cubicBezTo>
                <a:lnTo>
                  <a:pt x="12192000" y="416457"/>
                </a:lnTo>
                <a:lnTo>
                  <a:pt x="12192000" y="1016000"/>
                </a:lnTo>
                <a:lnTo>
                  <a:pt x="0" y="1016000"/>
                </a:lnTo>
                <a:lnTo>
                  <a:pt x="0" y="416457"/>
                </a:lnTo>
                <a:lnTo>
                  <a:pt x="319900" y="363047"/>
                </a:lnTo>
                <a:cubicBezTo>
                  <a:pt x="1798133" y="138738"/>
                  <a:pt x="3840293" y="0"/>
                  <a:pt x="6096000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953" y="505818"/>
            <a:ext cx="2809435" cy="5034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8224" y="270648"/>
            <a:ext cx="114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绪论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73" y="191134"/>
            <a:ext cx="639303" cy="6350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9361" y="173744"/>
            <a:ext cx="36943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未来展望</a:t>
            </a:r>
            <a:endParaRPr lang="zh-CN" altLang="en-US" sz="36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79130" y="930351"/>
            <a:ext cx="3828219" cy="429895"/>
            <a:chOff x="707718" y="813975"/>
            <a:chExt cx="3828219" cy="429895"/>
          </a:xfrm>
        </p:grpSpPr>
        <p:cxnSp>
          <p:nvCxnSpPr>
            <p:cNvPr id="13" name="直接连接符 12"/>
            <p:cNvCxnSpPr/>
            <p:nvPr/>
          </p:nvCxnSpPr>
          <p:spPr>
            <a:xfrm flipV="1">
              <a:off x="707718" y="856366"/>
              <a:ext cx="0" cy="355445"/>
            </a:xfrm>
            <a:prstGeom prst="line">
              <a:avLst/>
            </a:prstGeom>
            <a:ln w="79375">
              <a:solidFill>
                <a:srgbClr val="122E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841558" y="813975"/>
              <a:ext cx="3694379" cy="429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改进方向与</a:t>
              </a:r>
              <a:r>
                <a:rPr lang="zh-CN" altLang="en-US" sz="2200" b="1" dirty="0">
                  <a:solidFill>
                    <a:srgbClr val="00156C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+mn-ea"/>
                </a:rPr>
                <a:t>展望</a:t>
              </a:r>
              <a:endParaRPr lang="zh-CN" altLang="en-US" sz="2200" b="1" dirty="0">
                <a:solidFill>
                  <a:srgbClr val="00156C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ea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6332220" y="2750185"/>
            <a:ext cx="4968875" cy="3594735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82295" y="2765425"/>
            <a:ext cx="5103495" cy="3571875"/>
          </a:xfrm>
          <a:prstGeom prst="rect">
            <a:avLst/>
          </a:prstGeom>
          <a:solidFill>
            <a:srgbClr val="F8F5F2"/>
          </a:solidFill>
          <a:ln>
            <a:solidFill>
              <a:srgbClr val="538B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marL="18034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8092106" y="5863343"/>
            <a:ext cx="2829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ym typeface="+mn-ea"/>
              </a:rPr>
              <a:t>知识蒸馏</a:t>
            </a:r>
            <a:endParaRPr lang="zh-CN" altLang="en-US" sz="1600" b="1" dirty="0"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2281781" y="5863343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模型剪</a:t>
            </a:r>
            <a:r>
              <a:rPr lang="zh-CN" altLang="en-US" sz="1600" b="1" dirty="0"/>
              <a:t>枝</a:t>
            </a:r>
            <a:endParaRPr lang="zh-CN" altLang="en-US" sz="16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92576" y="1412408"/>
            <a:ext cx="9572818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+mn-ea"/>
              </a:rPr>
              <a:t>可引入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模型剪枝</a:t>
            </a:r>
            <a:r>
              <a:rPr lang="zh-CN" altLang="en-US" sz="1800" dirty="0">
                <a:latin typeface="+mn-ea"/>
              </a:rPr>
              <a:t>、模型量化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知识蒸馏</a:t>
            </a:r>
            <a:r>
              <a:rPr lang="zh-CN" altLang="en-US" sz="1800" dirty="0">
                <a:latin typeface="+mn-ea"/>
              </a:rPr>
              <a:t>等以获得更轻量化的多任务感知</a:t>
            </a:r>
            <a:r>
              <a:rPr lang="zh-CN" altLang="en-US" sz="1800" dirty="0">
                <a:latin typeface="+mn-ea"/>
              </a:rPr>
              <a:t>模型</a:t>
            </a:r>
            <a:endParaRPr lang="zh-CN" altLang="en-US" sz="18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+mn-ea"/>
              </a:rPr>
              <a:t>可根据该采摘点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周围</a:t>
            </a:r>
            <a:r>
              <a:rPr lang="zh-CN" altLang="en-US" sz="1800" dirty="0">
                <a:latin typeface="+mn-ea"/>
              </a:rPr>
              <a:t>其它像素点的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深度值</a:t>
            </a:r>
            <a:r>
              <a:rPr lang="zh-CN" altLang="en-US" sz="1800" dirty="0">
                <a:latin typeface="+mn-ea"/>
              </a:rPr>
              <a:t>估计该采摘点的深度值，提高三维定位</a:t>
            </a:r>
            <a:r>
              <a:rPr lang="zh-CN" altLang="en-US" sz="1800" dirty="0">
                <a:latin typeface="+mn-ea"/>
              </a:rPr>
              <a:t>准确率</a:t>
            </a:r>
            <a:endParaRPr lang="zh-CN" altLang="en-US" sz="1800" dirty="0">
              <a:latin typeface="+mn-ea"/>
            </a:endParaRPr>
          </a:p>
        </p:txBody>
      </p:sp>
      <p:pic>
        <p:nvPicPr>
          <p:cNvPr id="3" name="图片 2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72160" y="2978150"/>
            <a:ext cx="4650740" cy="274002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8"/>
          <a:stretch>
            <a:fillRect/>
          </a:stretch>
        </p:blipFill>
        <p:spPr>
          <a:xfrm>
            <a:off x="6436360" y="3390265"/>
            <a:ext cx="4749800" cy="1915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478753" y="2455322"/>
            <a:ext cx="7785980" cy="212280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感谢聆听！</a:t>
            </a:r>
            <a:endParaRPr lang="en-US" altLang="zh-CN" sz="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请老师批评指正！</a:t>
            </a:r>
            <a:endParaRPr lang="zh-CN" altLang="en-US" sz="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33941" y="6095494"/>
            <a:ext cx="256331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汇报人：黄钊伟</a:t>
            </a:r>
            <a:endParaRPr lang="zh-CN" altLang="en-US" sz="2400" dirty="0"/>
          </a:p>
        </p:txBody>
      </p:sp>
      <p:cxnSp>
        <p:nvCxnSpPr>
          <p:cNvPr id="5" name="直线连接符 56"/>
          <p:cNvCxnSpPr/>
          <p:nvPr/>
        </p:nvCxnSpPr>
        <p:spPr>
          <a:xfrm>
            <a:off x="194478" y="1113672"/>
            <a:ext cx="11817491" cy="0"/>
          </a:xfrm>
          <a:prstGeom prst="line">
            <a:avLst/>
          </a:prstGeom>
          <a:noFill/>
          <a:ln w="25400" cap="flat" cmpd="sng" algn="ctr">
            <a:gradFill flip="none" rotWithShape="1">
              <a:gsLst>
                <a:gs pos="0">
                  <a:srgbClr val="035231"/>
                </a:gs>
                <a:gs pos="27000">
                  <a:srgbClr val="2A684B"/>
                </a:gs>
                <a:gs pos="68000">
                  <a:srgbClr val="70AD47">
                    <a:lumMod val="75000"/>
                  </a:srgbClr>
                </a:gs>
                <a:gs pos="99000">
                  <a:srgbClr val="70AD47">
                    <a:lumMod val="20000"/>
                    <a:lumOff val="8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78" y="309325"/>
            <a:ext cx="680085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2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3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4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5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6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7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8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9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0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1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2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3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4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5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6.xml><?xml version="1.0" encoding="utf-8"?>
<p:tagLst xmlns:p="http://schemas.openxmlformats.org/presentationml/2006/main">
  <p:tag name="KSO_WM_DIAGRAM_VIRTUALLY_FRAME" val="{&quot;height&quot;:400.3897392737026,&quot;left&quot;:75.96181102362205,&quot;top&quot;:99.25937007874015,&quot;width&quot;:823.6774803149607}"/>
</p:tagLst>
</file>

<file path=ppt/tags/tag17.xml><?xml version="1.0" encoding="utf-8"?>
<p:tagLst xmlns:p="http://schemas.openxmlformats.org/presentationml/2006/main">
  <p:tag name="ISLIDE.ICON" val="#35732;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ISLIDE.ICON" val="#35732;"/>
</p:tagLst>
</file>

<file path=ppt/tags/tag26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27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28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29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30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31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32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33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34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35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36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37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38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39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40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41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42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43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44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3.9853543307087}"/>
</p:tagLst>
</file>

<file path=ppt/tags/tag47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48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3.9853543307087}"/>
</p:tagLst>
</file>

<file path=ppt/tags/tag49.xml><?xml version="1.0" encoding="utf-8"?>
<p:tagLst xmlns:p="http://schemas.openxmlformats.org/presentationml/2006/main">
  <p:tag name="ISLIDE.ICON" val="#35732;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4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4}"/>
</p:tagLst>
</file>

<file path=ppt/tags/tag52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4}"/>
</p:tagLst>
</file>

<file path=ppt/tags/tag53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4}"/>
</p:tagLst>
</file>

<file path=ppt/tags/tag54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4}"/>
</p:tagLst>
</file>

<file path=ppt/tags/tag55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4}"/>
</p:tagLst>
</file>

<file path=ppt/tags/tag56.xml><?xml version="1.0" encoding="utf-8"?>
<p:tagLst xmlns:p="http://schemas.openxmlformats.org/presentationml/2006/main">
  <p:tag name="ISLIDE.ICON" val="#35732;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4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342.9196850393701,&quot;left&quot;:45.85,&quot;top&quot;:156.70370078740157,&quot;width&quot;:844}"/>
</p:tagLst>
</file>

<file path=ppt/tags/tag59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4}"/>
</p:tagLst>
</file>

<file path=ppt/tags/tag60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4}"/>
</p:tagLst>
</file>

<file path=ppt/tags/tag61.xml><?xml version="1.0" encoding="utf-8"?>
<p:tagLst xmlns:p="http://schemas.openxmlformats.org/presentationml/2006/main">
  <p:tag name="KSO_WM_DIAGRAM_VIRTUALLY_FRAME" val="{&quot;height&quot;:342.9196850393701,&quot;left&quot;:45.85,&quot;top&quot;:156.70370078740157,&quot;width&quot;:844}"/>
</p:tagLst>
</file>

<file path=ppt/tags/tag62.xml><?xml version="1.0" encoding="utf-8"?>
<p:tagLst xmlns:p="http://schemas.openxmlformats.org/presentationml/2006/main">
  <p:tag name="KSO_WPP_MARK_KEY" val="d81fc1d7-e615-4d2a-a2eb-f407b0c135e3"/>
  <p:tag name="COMMONDATA" val="eyJoZGlkIjoiMmMyODkzNzEwYThmNDg5MTExZjUyZDZmZDY2NDNlZj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</Words>
  <Application>WPS 演示</Application>
  <PresentationFormat>宽屏</PresentationFormat>
  <Paragraphs>189</Paragraphs>
  <Slides>16</Slides>
  <Notes>19</Notes>
  <HiddenSlides>0</HiddenSlides>
  <MMClips>2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Times New Roman</vt:lpstr>
      <vt:lpstr>Arial</vt:lpstr>
      <vt:lpstr>黑体</vt:lpstr>
      <vt:lpstr>Impact</vt:lpstr>
      <vt:lpstr>仿宋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天驰</dc:creator>
  <cp:lastModifiedBy>核动力独木舟</cp:lastModifiedBy>
  <cp:revision>113</cp:revision>
  <dcterms:created xsi:type="dcterms:W3CDTF">2022-08-10T13:19:00Z</dcterms:created>
  <dcterms:modified xsi:type="dcterms:W3CDTF">2026-01-06T10:35:07Z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E7863096E0BB46DAB613668B9FB794F4_13</vt:lpwstr>
  </property>
  <property fmtid="{D5CDD505-2E9C-101B-9397-08002B2CF9AE}" pid="3" name="KSOProductBuildVer">
    <vt:lpwstr>2052-12.1.0.24657</vt:lpwstr>
  </property>
</Properties>
</file>