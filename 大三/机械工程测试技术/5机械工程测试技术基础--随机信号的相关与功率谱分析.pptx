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gif" ContentType="image/gif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  <p:sldMasterId id="2147483650" r:id="rId2"/>
  </p:sldMasterIdLst>
  <p:notesMasterIdLst>
    <p:notesMasterId r:id="rId56"/>
  </p:notesMasterIdLst>
  <p:sldIdLst>
    <p:sldId id="526" r:id="rId3"/>
    <p:sldId id="752" r:id="rId4"/>
    <p:sldId id="755" r:id="rId5"/>
    <p:sldId id="754" r:id="rId6"/>
    <p:sldId id="765" r:id="rId7"/>
    <p:sldId id="757" r:id="rId8"/>
    <p:sldId id="758" r:id="rId9"/>
    <p:sldId id="759" r:id="rId10"/>
    <p:sldId id="747" r:id="rId11"/>
    <p:sldId id="748" r:id="rId12"/>
    <p:sldId id="749" r:id="rId13"/>
    <p:sldId id="750" r:id="rId14"/>
    <p:sldId id="692" r:id="rId15"/>
    <p:sldId id="693" r:id="rId16"/>
    <p:sldId id="694" r:id="rId17"/>
    <p:sldId id="768" r:id="rId18"/>
    <p:sldId id="627" r:id="rId19"/>
    <p:sldId id="687" r:id="rId20"/>
    <p:sldId id="745" r:id="rId21"/>
    <p:sldId id="690" r:id="rId22"/>
    <p:sldId id="689" r:id="rId23"/>
    <p:sldId id="767" r:id="rId24"/>
    <p:sldId id="766" r:id="rId25"/>
    <p:sldId id="697" r:id="rId26"/>
    <p:sldId id="763" r:id="rId27"/>
    <p:sldId id="727" r:id="rId28"/>
    <p:sldId id="764" r:id="rId29"/>
    <p:sldId id="738" r:id="rId30"/>
    <p:sldId id="735" r:id="rId31"/>
    <p:sldId id="700" r:id="rId32"/>
    <p:sldId id="699" r:id="rId33"/>
    <p:sldId id="701" r:id="rId34"/>
    <p:sldId id="702" r:id="rId35"/>
    <p:sldId id="628" r:id="rId36"/>
    <p:sldId id="703" r:id="rId37"/>
    <p:sldId id="640" r:id="rId38"/>
    <p:sldId id="704" r:id="rId39"/>
    <p:sldId id="642" r:id="rId40"/>
    <p:sldId id="649" r:id="rId41"/>
    <p:sldId id="647" r:id="rId42"/>
    <p:sldId id="633" r:id="rId43"/>
    <p:sldId id="673" r:id="rId44"/>
    <p:sldId id="646" r:id="rId45"/>
    <p:sldId id="656" r:id="rId46"/>
    <p:sldId id="713" r:id="rId47"/>
    <p:sldId id="714" r:id="rId48"/>
    <p:sldId id="657" r:id="rId49"/>
    <p:sldId id="658" r:id="rId50"/>
    <p:sldId id="663" r:id="rId51"/>
    <p:sldId id="659" r:id="rId52"/>
    <p:sldId id="708" r:id="rId53"/>
    <p:sldId id="669" r:id="rId54"/>
    <p:sldId id="769" r:id="rId55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umimoji="1" sz="2800" u="sng" kern="1200">
        <a:solidFill>
          <a:srgbClr val="993300"/>
        </a:solidFill>
        <a:latin typeface="Times New Roman" pitchFamily="18" charset="0"/>
        <a:ea typeface="黑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800" u="sng" kern="1200">
        <a:solidFill>
          <a:srgbClr val="993300"/>
        </a:solidFill>
        <a:latin typeface="Times New Roman" pitchFamily="18" charset="0"/>
        <a:ea typeface="黑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800" u="sng" kern="1200">
        <a:solidFill>
          <a:srgbClr val="993300"/>
        </a:solidFill>
        <a:latin typeface="Times New Roman" pitchFamily="18" charset="0"/>
        <a:ea typeface="黑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800" u="sng" kern="1200">
        <a:solidFill>
          <a:srgbClr val="993300"/>
        </a:solidFill>
        <a:latin typeface="Times New Roman" pitchFamily="18" charset="0"/>
        <a:ea typeface="黑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800" u="sng" kern="1200">
        <a:solidFill>
          <a:srgbClr val="993300"/>
        </a:solidFill>
        <a:latin typeface="Times New Roman" pitchFamily="18" charset="0"/>
        <a:ea typeface="黑体" pitchFamily="2" charset="-122"/>
        <a:cs typeface="+mn-cs"/>
      </a:defRPr>
    </a:lvl5pPr>
    <a:lvl6pPr marL="2286000" algn="l" defTabSz="914400" rtl="0" eaLnBrk="1" latinLnBrk="0" hangingPunct="1">
      <a:defRPr kumimoji="1" sz="2800" u="sng" kern="1200">
        <a:solidFill>
          <a:srgbClr val="993300"/>
        </a:solidFill>
        <a:latin typeface="Times New Roman" pitchFamily="18" charset="0"/>
        <a:ea typeface="黑体" pitchFamily="2" charset="-122"/>
        <a:cs typeface="+mn-cs"/>
      </a:defRPr>
    </a:lvl6pPr>
    <a:lvl7pPr marL="2743200" algn="l" defTabSz="914400" rtl="0" eaLnBrk="1" latinLnBrk="0" hangingPunct="1">
      <a:defRPr kumimoji="1" sz="2800" u="sng" kern="1200">
        <a:solidFill>
          <a:srgbClr val="993300"/>
        </a:solidFill>
        <a:latin typeface="Times New Roman" pitchFamily="18" charset="0"/>
        <a:ea typeface="黑体" pitchFamily="2" charset="-122"/>
        <a:cs typeface="+mn-cs"/>
      </a:defRPr>
    </a:lvl7pPr>
    <a:lvl8pPr marL="3200400" algn="l" defTabSz="914400" rtl="0" eaLnBrk="1" latinLnBrk="0" hangingPunct="1">
      <a:defRPr kumimoji="1" sz="2800" u="sng" kern="1200">
        <a:solidFill>
          <a:srgbClr val="993300"/>
        </a:solidFill>
        <a:latin typeface="Times New Roman" pitchFamily="18" charset="0"/>
        <a:ea typeface="黑体" pitchFamily="2" charset="-122"/>
        <a:cs typeface="+mn-cs"/>
      </a:defRPr>
    </a:lvl8pPr>
    <a:lvl9pPr marL="3657600" algn="l" defTabSz="914400" rtl="0" eaLnBrk="1" latinLnBrk="0" hangingPunct="1">
      <a:defRPr kumimoji="1" sz="2800" u="sng" kern="1200">
        <a:solidFill>
          <a:srgbClr val="993300"/>
        </a:solidFill>
        <a:latin typeface="Times New Roman" pitchFamily="18" charset="0"/>
        <a:ea typeface="黑体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FFCC"/>
    <a:srgbClr val="FFFFCC"/>
    <a:srgbClr val="66FFFF"/>
    <a:srgbClr val="800000"/>
    <a:srgbClr val="000099"/>
    <a:srgbClr val="336600"/>
    <a:srgbClr val="FF3300"/>
    <a:srgbClr val="FF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31" autoAdjust="0"/>
    <p:restoredTop sz="98544" autoAdjust="0"/>
  </p:normalViewPr>
  <p:slideViewPr>
    <p:cSldViewPr snapToGrid="0">
      <p:cViewPr varScale="1">
        <p:scale>
          <a:sx n="108" d="100"/>
          <a:sy n="108" d="100"/>
        </p:scale>
        <p:origin x="-240" y="-5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232"/>
    </p:cViewPr>
  </p:sorterViewPr>
  <p:notesViewPr>
    <p:cSldViewPr snapToGrid="0">
      <p:cViewPr varScale="1">
        <p:scale>
          <a:sx n="59" d="100"/>
          <a:sy n="59" d="100"/>
        </p:scale>
        <p:origin x="-1176" y="-90"/>
      </p:cViewPr>
      <p:guideLst>
        <p:guide orient="horz" pos="2880"/>
        <p:guide pos="2160"/>
      </p:guideLst>
    </p:cSldViewPr>
  </p:notesViewPr>
  <p:gridSpacing cx="1800225" cy="1800225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.wmf"/><Relationship Id="rId1" Type="http://schemas.openxmlformats.org/officeDocument/2006/relationships/image" Target="../media/image10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3.wmf"/><Relationship Id="rId1" Type="http://schemas.openxmlformats.org/officeDocument/2006/relationships/image" Target="../media/image12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image" Target="../media/image16.wmf"/><Relationship Id="rId1" Type="http://schemas.openxmlformats.org/officeDocument/2006/relationships/image" Target="../media/image15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.wmf"/><Relationship Id="rId2" Type="http://schemas.openxmlformats.org/officeDocument/2006/relationships/image" Target="../media/image19.wmf"/><Relationship Id="rId1" Type="http://schemas.openxmlformats.org/officeDocument/2006/relationships/image" Target="../media/image18.wmf"/><Relationship Id="rId5" Type="http://schemas.openxmlformats.org/officeDocument/2006/relationships/image" Target="../media/image22.wmf"/><Relationship Id="rId4" Type="http://schemas.openxmlformats.org/officeDocument/2006/relationships/image" Target="../media/image21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1.wmf"/><Relationship Id="rId2" Type="http://schemas.openxmlformats.org/officeDocument/2006/relationships/image" Target="../media/image18.wmf"/><Relationship Id="rId1" Type="http://schemas.openxmlformats.org/officeDocument/2006/relationships/image" Target="../media/image23.e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28.emf"/><Relationship Id="rId2" Type="http://schemas.openxmlformats.org/officeDocument/2006/relationships/image" Target="../media/image27.wmf"/><Relationship Id="rId1" Type="http://schemas.openxmlformats.org/officeDocument/2006/relationships/image" Target="../media/image26.wmf"/><Relationship Id="rId4" Type="http://schemas.openxmlformats.org/officeDocument/2006/relationships/image" Target="../media/image29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31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33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39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3.wmf"/><Relationship Id="rId2" Type="http://schemas.openxmlformats.org/officeDocument/2006/relationships/image" Target="../media/image42.wmf"/><Relationship Id="rId1" Type="http://schemas.openxmlformats.org/officeDocument/2006/relationships/image" Target="../media/image41.wmf"/><Relationship Id="rId5" Type="http://schemas.openxmlformats.org/officeDocument/2006/relationships/image" Target="../media/image45.wmf"/><Relationship Id="rId4" Type="http://schemas.openxmlformats.org/officeDocument/2006/relationships/image" Target="../media/image44.wmf"/></Relationships>
</file>

<file path=ppt/drawings/_rels/vmlDrawing12.vml.rels><?xml version="1.0" encoding="UTF-8" standalone="yes"?>
<Relationships xmlns="http://schemas.openxmlformats.org/package/2006/relationships"><Relationship Id="rId8" Type="http://schemas.openxmlformats.org/officeDocument/2006/relationships/image" Target="../media/image53.wmf"/><Relationship Id="rId3" Type="http://schemas.openxmlformats.org/officeDocument/2006/relationships/image" Target="../media/image48.wmf"/><Relationship Id="rId7" Type="http://schemas.openxmlformats.org/officeDocument/2006/relationships/image" Target="../media/image52.wmf"/><Relationship Id="rId2" Type="http://schemas.openxmlformats.org/officeDocument/2006/relationships/image" Target="../media/image47.wmf"/><Relationship Id="rId1" Type="http://schemas.openxmlformats.org/officeDocument/2006/relationships/image" Target="../media/image46.wmf"/><Relationship Id="rId6" Type="http://schemas.openxmlformats.org/officeDocument/2006/relationships/image" Target="../media/image51.wmf"/><Relationship Id="rId5" Type="http://schemas.openxmlformats.org/officeDocument/2006/relationships/image" Target="../media/image50.wmf"/><Relationship Id="rId4" Type="http://schemas.openxmlformats.org/officeDocument/2006/relationships/image" Target="../media/image49.wmf"/><Relationship Id="rId9" Type="http://schemas.openxmlformats.org/officeDocument/2006/relationships/image" Target="../media/image39.wmf"/></Relationships>
</file>

<file path=ppt/drawings/_rels/vmlDrawing13.vml.rels><?xml version="1.0" encoding="UTF-8" standalone="yes"?>
<Relationships xmlns="http://schemas.openxmlformats.org/package/2006/relationships"><Relationship Id="rId2" Type="http://schemas.openxmlformats.org/officeDocument/2006/relationships/image" Target="../media/image55.wmf"/><Relationship Id="rId1" Type="http://schemas.openxmlformats.org/officeDocument/2006/relationships/image" Target="../media/image54.w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59.wmf"/><Relationship Id="rId2" Type="http://schemas.openxmlformats.org/officeDocument/2006/relationships/image" Target="../media/image58.wmf"/><Relationship Id="rId1" Type="http://schemas.openxmlformats.org/officeDocument/2006/relationships/image" Target="../media/image57.wmf"/><Relationship Id="rId5" Type="http://schemas.openxmlformats.org/officeDocument/2006/relationships/image" Target="../media/image51.wmf"/><Relationship Id="rId4" Type="http://schemas.openxmlformats.org/officeDocument/2006/relationships/image" Target="../media/image52.wmf"/></Relationships>
</file>

<file path=ppt/drawings/_rels/vmlDrawing15.vml.rels><?xml version="1.0" encoding="UTF-8" standalone="yes"?>
<Relationships xmlns="http://schemas.openxmlformats.org/package/2006/relationships"><Relationship Id="rId8" Type="http://schemas.openxmlformats.org/officeDocument/2006/relationships/image" Target="../media/image66.wmf"/><Relationship Id="rId3" Type="http://schemas.openxmlformats.org/officeDocument/2006/relationships/image" Target="../media/image59.wmf"/><Relationship Id="rId7" Type="http://schemas.openxmlformats.org/officeDocument/2006/relationships/image" Target="../media/image65.wmf"/><Relationship Id="rId2" Type="http://schemas.openxmlformats.org/officeDocument/2006/relationships/image" Target="../media/image61.wmf"/><Relationship Id="rId1" Type="http://schemas.openxmlformats.org/officeDocument/2006/relationships/image" Target="../media/image60.wmf"/><Relationship Id="rId6" Type="http://schemas.openxmlformats.org/officeDocument/2006/relationships/image" Target="../media/image64.wmf"/><Relationship Id="rId5" Type="http://schemas.openxmlformats.org/officeDocument/2006/relationships/image" Target="../media/image63.wmf"/><Relationship Id="rId4" Type="http://schemas.openxmlformats.org/officeDocument/2006/relationships/image" Target="../media/image62.wmf"/></Relationships>
</file>

<file path=ppt/drawings/_rels/vmlDrawing16.vml.rels><?xml version="1.0" encoding="UTF-8" standalone="yes"?>
<Relationships xmlns="http://schemas.openxmlformats.org/package/2006/relationships"><Relationship Id="rId8" Type="http://schemas.openxmlformats.org/officeDocument/2006/relationships/image" Target="../media/image74.wmf"/><Relationship Id="rId3" Type="http://schemas.openxmlformats.org/officeDocument/2006/relationships/image" Target="../media/image70.wmf"/><Relationship Id="rId7" Type="http://schemas.openxmlformats.org/officeDocument/2006/relationships/image" Target="../media/image73.wmf"/><Relationship Id="rId2" Type="http://schemas.openxmlformats.org/officeDocument/2006/relationships/image" Target="../media/image69.wmf"/><Relationship Id="rId1" Type="http://schemas.openxmlformats.org/officeDocument/2006/relationships/image" Target="../media/image68.wmf"/><Relationship Id="rId6" Type="http://schemas.openxmlformats.org/officeDocument/2006/relationships/image" Target="../media/image72.wmf"/><Relationship Id="rId5" Type="http://schemas.openxmlformats.org/officeDocument/2006/relationships/image" Target="../media/image58.wmf"/><Relationship Id="rId4" Type="http://schemas.openxmlformats.org/officeDocument/2006/relationships/image" Target="../media/image71.w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58.wmf"/><Relationship Id="rId2" Type="http://schemas.openxmlformats.org/officeDocument/2006/relationships/image" Target="../media/image76.wmf"/><Relationship Id="rId1" Type="http://schemas.openxmlformats.org/officeDocument/2006/relationships/image" Target="../media/image75.wmf"/><Relationship Id="rId4" Type="http://schemas.openxmlformats.org/officeDocument/2006/relationships/image" Target="../media/image72.wmf"/></Relationships>
</file>

<file path=ppt/drawings/_rels/vmlDrawing18.vml.rels><?xml version="1.0" encoding="UTF-8" standalone="yes"?>
<Relationships xmlns="http://schemas.openxmlformats.org/package/2006/relationships"><Relationship Id="rId2" Type="http://schemas.openxmlformats.org/officeDocument/2006/relationships/image" Target="../media/image77.wmf"/><Relationship Id="rId1" Type="http://schemas.openxmlformats.org/officeDocument/2006/relationships/image" Target="../media/image72.wmf"/></Relationships>
</file>

<file path=ppt/drawings/_rels/vmlDrawing19.vml.rels><?xml version="1.0" encoding="UTF-8" standalone="yes"?>
<Relationships xmlns="http://schemas.openxmlformats.org/package/2006/relationships"><Relationship Id="rId3" Type="http://schemas.openxmlformats.org/officeDocument/2006/relationships/image" Target="../media/image80.wmf"/><Relationship Id="rId2" Type="http://schemas.openxmlformats.org/officeDocument/2006/relationships/image" Target="../media/image79.wmf"/><Relationship Id="rId1" Type="http://schemas.openxmlformats.org/officeDocument/2006/relationships/image" Target="../media/image78.wmf"/><Relationship Id="rId6" Type="http://schemas.openxmlformats.org/officeDocument/2006/relationships/image" Target="../media/image83.wmf"/><Relationship Id="rId5" Type="http://schemas.openxmlformats.org/officeDocument/2006/relationships/image" Target="../media/image82.wmf"/><Relationship Id="rId4" Type="http://schemas.openxmlformats.org/officeDocument/2006/relationships/image" Target="../media/image81.wmf"/></Relationships>
</file>

<file path=ppt/drawings/_rels/vmlDrawing20.vml.rels><?xml version="1.0" encoding="UTF-8" standalone="yes"?>
<Relationships xmlns="http://schemas.openxmlformats.org/package/2006/relationships"><Relationship Id="rId2" Type="http://schemas.openxmlformats.org/officeDocument/2006/relationships/image" Target="../media/image87.emf"/><Relationship Id="rId1" Type="http://schemas.openxmlformats.org/officeDocument/2006/relationships/image" Target="../media/image86.wmf"/></Relationships>
</file>

<file path=ppt/drawings/_rels/vmlDrawing21.vml.rels><?xml version="1.0" encoding="UTF-8" standalone="yes"?>
<Relationships xmlns="http://schemas.openxmlformats.org/package/2006/relationships"><Relationship Id="rId1" Type="http://schemas.openxmlformats.org/officeDocument/2006/relationships/image" Target="../media/image92.wmf"/></Relationships>
</file>

<file path=ppt/drawings/_rels/vmlDrawing22.vml.rels><?xml version="1.0" encoding="UTF-8" standalone="yes"?>
<Relationships xmlns="http://schemas.openxmlformats.org/package/2006/relationships"><Relationship Id="rId1" Type="http://schemas.openxmlformats.org/officeDocument/2006/relationships/image" Target="../media/image94.wmf"/></Relationships>
</file>

<file path=ppt/drawings/_rels/vmlDrawing23.vml.rels><?xml version="1.0" encoding="UTF-8" standalone="yes"?>
<Relationships xmlns="http://schemas.openxmlformats.org/package/2006/relationships"><Relationship Id="rId3" Type="http://schemas.openxmlformats.org/officeDocument/2006/relationships/image" Target="../media/image97.wmf"/><Relationship Id="rId2" Type="http://schemas.openxmlformats.org/officeDocument/2006/relationships/image" Target="../media/image96.wmf"/><Relationship Id="rId1" Type="http://schemas.openxmlformats.org/officeDocument/2006/relationships/image" Target="../media/image95.wmf"/><Relationship Id="rId6" Type="http://schemas.openxmlformats.org/officeDocument/2006/relationships/image" Target="../media/image51.wmf"/><Relationship Id="rId5" Type="http://schemas.openxmlformats.org/officeDocument/2006/relationships/image" Target="../media/image99.wmf"/><Relationship Id="rId4" Type="http://schemas.openxmlformats.org/officeDocument/2006/relationships/image" Target="../media/image98.wmf"/></Relationships>
</file>

<file path=ppt/drawings/_rels/vmlDrawing24.vml.rels><?xml version="1.0" encoding="UTF-8" standalone="yes"?>
<Relationships xmlns="http://schemas.openxmlformats.org/package/2006/relationships"><Relationship Id="rId2" Type="http://schemas.openxmlformats.org/officeDocument/2006/relationships/image" Target="../media/image95.wmf"/><Relationship Id="rId1" Type="http://schemas.openxmlformats.org/officeDocument/2006/relationships/image" Target="../media/image100.wmf"/></Relationships>
</file>

<file path=ppt/drawings/_rels/vmlDrawing2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wmf"/><Relationship Id="rId2" Type="http://schemas.openxmlformats.org/officeDocument/2006/relationships/image" Target="../media/image103.wmf"/><Relationship Id="rId1" Type="http://schemas.openxmlformats.org/officeDocument/2006/relationships/image" Target="../media/image102.wmf"/><Relationship Id="rId6" Type="http://schemas.openxmlformats.org/officeDocument/2006/relationships/image" Target="../media/image94.wmf"/><Relationship Id="rId5" Type="http://schemas.openxmlformats.org/officeDocument/2006/relationships/image" Target="../media/image106.wmf"/><Relationship Id="rId4" Type="http://schemas.openxmlformats.org/officeDocument/2006/relationships/image" Target="../media/image105.wmf"/></Relationships>
</file>

<file path=ppt/drawings/_rels/vmlDrawing2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wmf"/><Relationship Id="rId7" Type="http://schemas.openxmlformats.org/officeDocument/2006/relationships/image" Target="../media/image114.wmf"/><Relationship Id="rId2" Type="http://schemas.openxmlformats.org/officeDocument/2006/relationships/image" Target="../media/image109.wmf"/><Relationship Id="rId1" Type="http://schemas.openxmlformats.org/officeDocument/2006/relationships/image" Target="../media/image108.wmf"/><Relationship Id="rId6" Type="http://schemas.openxmlformats.org/officeDocument/2006/relationships/image" Target="../media/image113.wmf"/><Relationship Id="rId5" Type="http://schemas.openxmlformats.org/officeDocument/2006/relationships/image" Target="../media/image112.wmf"/><Relationship Id="rId4" Type="http://schemas.openxmlformats.org/officeDocument/2006/relationships/image" Target="../media/image111.wmf"/></Relationships>
</file>

<file path=ppt/drawings/_rels/vmlDrawing2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wmf"/><Relationship Id="rId2" Type="http://schemas.openxmlformats.org/officeDocument/2006/relationships/image" Target="../media/image115.wmf"/><Relationship Id="rId1" Type="http://schemas.openxmlformats.org/officeDocument/2006/relationships/image" Target="../media/image108.wmf"/><Relationship Id="rId5" Type="http://schemas.openxmlformats.org/officeDocument/2006/relationships/image" Target="../media/image118.wmf"/><Relationship Id="rId4" Type="http://schemas.openxmlformats.org/officeDocument/2006/relationships/image" Target="../media/image117.wmf"/></Relationships>
</file>

<file path=ppt/drawings/_rels/vmlDrawing2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wmf"/><Relationship Id="rId7" Type="http://schemas.openxmlformats.org/officeDocument/2006/relationships/image" Target="../media/image124.wmf"/><Relationship Id="rId2" Type="http://schemas.openxmlformats.org/officeDocument/2006/relationships/image" Target="../media/image120.wmf"/><Relationship Id="rId1" Type="http://schemas.openxmlformats.org/officeDocument/2006/relationships/image" Target="../media/image119.wmf"/><Relationship Id="rId6" Type="http://schemas.openxmlformats.org/officeDocument/2006/relationships/image" Target="../media/image108.wmf"/><Relationship Id="rId5" Type="http://schemas.openxmlformats.org/officeDocument/2006/relationships/image" Target="../media/image123.wmf"/><Relationship Id="rId4" Type="http://schemas.openxmlformats.org/officeDocument/2006/relationships/image" Target="../media/image122.wmf"/></Relationships>
</file>

<file path=ppt/drawings/_rels/vmlDrawing2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5.emf"/></Relationships>
</file>

<file path=ppt/drawings/_rels/vmlDrawing30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7.emf"/><Relationship Id="rId1" Type="http://schemas.openxmlformats.org/officeDocument/2006/relationships/image" Target="../media/image126.emf"/></Relationships>
</file>

<file path=ppt/drawings/_rels/vmlDrawing3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wmf"/><Relationship Id="rId2" Type="http://schemas.openxmlformats.org/officeDocument/2006/relationships/image" Target="../media/image129.wmf"/><Relationship Id="rId1" Type="http://schemas.openxmlformats.org/officeDocument/2006/relationships/image" Target="../media/image128.wmf"/><Relationship Id="rId4" Type="http://schemas.openxmlformats.org/officeDocument/2006/relationships/image" Target="../media/image131.emf"/></Relationships>
</file>

<file path=ppt/drawings/_rels/vmlDrawing3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2.wmf"/></Relationships>
</file>

<file path=ppt/drawings/_rels/vmlDrawing3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36.wmf"/><Relationship Id="rId1" Type="http://schemas.openxmlformats.org/officeDocument/2006/relationships/image" Target="../media/image135.wmf"/></Relationships>
</file>

<file path=ppt/drawings/_rels/vmlDrawing3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8.wmf"/><Relationship Id="rId2" Type="http://schemas.openxmlformats.org/officeDocument/2006/relationships/image" Target="../media/image137.wmf"/><Relationship Id="rId1" Type="http://schemas.openxmlformats.org/officeDocument/2006/relationships/image" Target="../media/image128.wmf"/><Relationship Id="rId5" Type="http://schemas.openxmlformats.org/officeDocument/2006/relationships/image" Target="../media/image140.wmf"/><Relationship Id="rId4" Type="http://schemas.openxmlformats.org/officeDocument/2006/relationships/image" Target="../media/image139.wmf"/></Relationships>
</file>

<file path=ppt/drawings/_rels/vmlDrawing3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2.wmf"/><Relationship Id="rId2" Type="http://schemas.openxmlformats.org/officeDocument/2006/relationships/image" Target="../media/image138.wmf"/><Relationship Id="rId1" Type="http://schemas.openxmlformats.org/officeDocument/2006/relationships/image" Target="../media/image141.wmf"/><Relationship Id="rId6" Type="http://schemas.openxmlformats.org/officeDocument/2006/relationships/image" Target="../media/image81.wmf"/><Relationship Id="rId5" Type="http://schemas.openxmlformats.org/officeDocument/2006/relationships/image" Target="../media/image144.wmf"/><Relationship Id="rId4" Type="http://schemas.openxmlformats.org/officeDocument/2006/relationships/image" Target="../media/image143.wmf"/></Relationships>
</file>

<file path=ppt/drawings/_rels/vmlDrawing36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6.wmf"/><Relationship Id="rId1" Type="http://schemas.openxmlformats.org/officeDocument/2006/relationships/image" Target="../media/image137.wmf"/></Relationships>
</file>

<file path=ppt/drawings/_rels/vmlDrawing3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4.wmf"/><Relationship Id="rId7" Type="http://schemas.openxmlformats.org/officeDocument/2006/relationships/image" Target="../media/image152.wmf"/><Relationship Id="rId2" Type="http://schemas.openxmlformats.org/officeDocument/2006/relationships/image" Target="../media/image149.wmf"/><Relationship Id="rId1" Type="http://schemas.openxmlformats.org/officeDocument/2006/relationships/image" Target="../media/image148.wmf"/><Relationship Id="rId6" Type="http://schemas.openxmlformats.org/officeDocument/2006/relationships/image" Target="../media/image151.wmf"/><Relationship Id="rId5" Type="http://schemas.openxmlformats.org/officeDocument/2006/relationships/image" Target="../media/image150.wmf"/><Relationship Id="rId4" Type="http://schemas.openxmlformats.org/officeDocument/2006/relationships/image" Target="../media/image146.wmf"/></Relationships>
</file>

<file path=ppt/drawings/_rels/vmlDrawing3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1.wmf"/><Relationship Id="rId2" Type="http://schemas.openxmlformats.org/officeDocument/2006/relationships/image" Target="../media/image154.wmf"/><Relationship Id="rId1" Type="http://schemas.openxmlformats.org/officeDocument/2006/relationships/image" Target="../media/image153.emf"/><Relationship Id="rId4" Type="http://schemas.openxmlformats.org/officeDocument/2006/relationships/image" Target="../media/image155.wmf"/></Relationships>
</file>

<file path=ppt/drawings/_rels/vmlDrawing39.vml.rels><?xml version="1.0" encoding="UTF-8" standalone="yes"?>
<Relationships xmlns="http://schemas.openxmlformats.org/package/2006/relationships"><Relationship Id="rId8" Type="http://schemas.openxmlformats.org/officeDocument/2006/relationships/image" Target="../media/image163.wmf"/><Relationship Id="rId3" Type="http://schemas.openxmlformats.org/officeDocument/2006/relationships/image" Target="../media/image158.wmf"/><Relationship Id="rId7" Type="http://schemas.openxmlformats.org/officeDocument/2006/relationships/image" Target="../media/image162.wmf"/><Relationship Id="rId2" Type="http://schemas.openxmlformats.org/officeDocument/2006/relationships/image" Target="../media/image157.wmf"/><Relationship Id="rId1" Type="http://schemas.openxmlformats.org/officeDocument/2006/relationships/image" Target="../media/image156.emf"/><Relationship Id="rId6" Type="http://schemas.openxmlformats.org/officeDocument/2006/relationships/image" Target="../media/image161.wmf"/><Relationship Id="rId5" Type="http://schemas.openxmlformats.org/officeDocument/2006/relationships/image" Target="../media/image160.wmf"/><Relationship Id="rId4" Type="http://schemas.openxmlformats.org/officeDocument/2006/relationships/image" Target="../media/image159.wmf"/></Relationships>
</file>

<file path=ppt/drawings/_rels/vmlDrawing4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4.wmf"/></Relationships>
</file>

<file path=ppt/drawings/_rels/vmlDrawing4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4.wmf"/><Relationship Id="rId2" Type="http://schemas.openxmlformats.org/officeDocument/2006/relationships/image" Target="../media/image166.wmf"/><Relationship Id="rId1" Type="http://schemas.openxmlformats.org/officeDocument/2006/relationships/image" Target="../media/image165.wmf"/><Relationship Id="rId5" Type="http://schemas.openxmlformats.org/officeDocument/2006/relationships/image" Target="../media/image168.wmf"/><Relationship Id="rId4" Type="http://schemas.openxmlformats.org/officeDocument/2006/relationships/image" Target="../media/image167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u="none">
                <a:solidFill>
                  <a:schemeClr val="tx1"/>
                </a:solidFill>
                <a:ea typeface="宋体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593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u="none">
                <a:solidFill>
                  <a:schemeClr val="tx1"/>
                </a:solidFill>
                <a:ea typeface="宋体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593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593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593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u="none">
                <a:solidFill>
                  <a:schemeClr val="tx1"/>
                </a:solidFill>
                <a:ea typeface="宋体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593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u="none">
                <a:solidFill>
                  <a:schemeClr val="tx1"/>
                </a:solidFill>
                <a:ea typeface="宋体" pitchFamily="2" charset="-122"/>
              </a:defRPr>
            </a:lvl1pPr>
          </a:lstStyle>
          <a:p>
            <a:fld id="{3A39BB45-9E82-4BC1-B71E-AFDB1618E80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6653478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5333066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3491914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708263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5714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6224676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9082908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0934956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7620221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7636346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4307093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9609301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037256D-AED7-4CBD-A1C3-466B4190FDD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742520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CDAD7F9-789B-4D96-AA31-55CBD395E66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107058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DEDA433-18EE-4488-9A8D-50110F7BF1A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64711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61814C2-309F-4E84-B36D-959BF4F02E0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0133540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DAE7AF5-E700-4D58-9D69-8876720F43B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6555673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F35342F-E0F9-48FA-8A9E-728F392AE35F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4719846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D8720F8-3C7C-41A4-ADF1-31E036D74F34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4356122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34DD4D9-66B3-4523-801F-D1E10FBFB6F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6982290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B682846-D170-46C1-8386-61F8C35D61C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2291549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8F19B9F-1630-4658-9B48-62C0FDEC692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520296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92088EF-9575-4435-98DA-54EEB46A7094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5055781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>
          <a:xfrm>
            <a:off x="457200" y="6386513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>
          <a:xfrm>
            <a:off x="3124200" y="6386513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>
          <a:xfrm>
            <a:off x="6553200" y="6386513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079A5D8E-9481-46F0-BFF3-19696A018299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872882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859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57200" y="3938588"/>
            <a:ext cx="4038600" cy="218757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457200" y="6386513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3124200" y="6386513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6553200" y="6386513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4194D3BE-D2BE-4721-91B8-DFAEFC52B32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5796912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457200" y="6386513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124200" y="6386513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553200" y="6386513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EC237858-F7A1-4169-B912-3C0BED3E75D4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078538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image" Target="../media/image4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image" Target="../media/image2.jpeg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1.jpeg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407" name="Rectangle 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11863" y="6381750"/>
            <a:ext cx="2854325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u="none">
                <a:solidFill>
                  <a:schemeClr val="tx1"/>
                </a:solidFill>
                <a:ea typeface="+mn-ea"/>
              </a:defRPr>
            </a:lvl1pPr>
          </a:lstStyle>
          <a:p>
            <a:endParaRPr lang="zh-CN" altLang="zh-CN"/>
          </a:p>
        </p:txBody>
      </p:sp>
      <p:sp>
        <p:nvSpPr>
          <p:cNvPr id="486408" name="Rectangle 8"/>
          <p:cNvSpPr>
            <a:spLocks noChangeArrowheads="1"/>
          </p:cNvSpPr>
          <p:nvPr userDrawn="1"/>
        </p:nvSpPr>
        <p:spPr bwMode="auto">
          <a:xfrm>
            <a:off x="8064500" y="6488113"/>
            <a:ext cx="914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marL="457200" indent="-457200" algn="r"/>
            <a:fld id="{885DC1CB-DFD3-46E5-ABB2-5731D12647E5}" type="slidenum">
              <a:rPr kumimoji="0" lang="en-US" altLang="zh-CN" sz="1200" u="none">
                <a:solidFill>
                  <a:schemeClr val="tx1"/>
                </a:solidFill>
                <a:ea typeface="宋体" pitchFamily="2" charset="-122"/>
              </a:rPr>
              <a:pPr marL="457200" indent="-457200" algn="r"/>
              <a:t>‹#›</a:t>
            </a:fld>
            <a:endParaRPr kumimoji="0" lang="en-US" altLang="zh-CN" sz="1200" u="none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9" name="AutoShape 4"/>
          <p:cNvSpPr>
            <a:spLocks noChangeArrowheads="1"/>
          </p:cNvSpPr>
          <p:nvPr userDrawn="1"/>
        </p:nvSpPr>
        <p:spPr bwMode="auto">
          <a:xfrm>
            <a:off x="0" y="815975"/>
            <a:ext cx="9144000" cy="109538"/>
          </a:xfrm>
          <a:custGeom>
            <a:avLst/>
            <a:gdLst>
              <a:gd name="T0" fmla="*/ 0 w 1000"/>
              <a:gd name="T1" fmla="*/ 0 h 1000"/>
              <a:gd name="T2" fmla="*/ 2147483647 w 1000"/>
              <a:gd name="T3" fmla="*/ 0 h 1000"/>
              <a:gd name="T4" fmla="*/ 2147483647 w 1000"/>
              <a:gd name="T5" fmla="*/ 2147483647 h 1000"/>
              <a:gd name="T6" fmla="*/ 0 w 1000"/>
              <a:gd name="T7" fmla="*/ 2147483647 h 1000"/>
              <a:gd name="T8" fmla="*/ 0 w 1000"/>
              <a:gd name="T9" fmla="*/ 0 h 1000"/>
              <a:gd name="T10" fmla="*/ 2147483647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333399"/>
          </a:solidFill>
          <a:ln w="9525">
            <a:solidFill>
              <a:srgbClr val="333399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Line 5"/>
          <p:cNvSpPr>
            <a:spLocks noChangeShapeType="1"/>
          </p:cNvSpPr>
          <p:nvPr userDrawn="1"/>
        </p:nvSpPr>
        <p:spPr bwMode="auto">
          <a:xfrm flipV="1">
            <a:off x="0" y="6453188"/>
            <a:ext cx="9144000" cy="0"/>
          </a:xfrm>
          <a:prstGeom prst="line">
            <a:avLst/>
          </a:prstGeom>
          <a:noFill/>
          <a:ln w="31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11" name="图片 1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9938" y="52388"/>
            <a:ext cx="690562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图片 2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4213" y="6484938"/>
            <a:ext cx="1290637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7"/>
          <p:cNvPicPr>
            <a:picLocks noChangeAspect="1" noChangeArrowheads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55" r="78629"/>
          <a:stretch>
            <a:fillRect/>
          </a:stretch>
        </p:blipFill>
        <p:spPr bwMode="auto">
          <a:xfrm>
            <a:off x="42863" y="6475413"/>
            <a:ext cx="412750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TextBox 1"/>
          <p:cNvSpPr txBox="1">
            <a:spLocks noChangeArrowheads="1"/>
          </p:cNvSpPr>
          <p:nvPr userDrawn="1"/>
        </p:nvSpPr>
        <p:spPr bwMode="auto">
          <a:xfrm>
            <a:off x="365125" y="6450013"/>
            <a:ext cx="275748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2000" b="1" smtClean="0">
                <a:latin typeface="华文隶书" pitchFamily="2" charset="-122"/>
                <a:ea typeface="华文隶书" pitchFamily="2" charset="-122"/>
              </a:rPr>
              <a:t>机械工程测试技术</a:t>
            </a:r>
          </a:p>
        </p:txBody>
      </p:sp>
      <p:sp>
        <p:nvSpPr>
          <p:cNvPr id="15" name="TextBox 2"/>
          <p:cNvSpPr txBox="1">
            <a:spLocks noChangeArrowheads="1"/>
          </p:cNvSpPr>
          <p:nvPr userDrawn="1"/>
        </p:nvSpPr>
        <p:spPr bwMode="auto">
          <a:xfrm>
            <a:off x="7019925" y="6450013"/>
            <a:ext cx="2092325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ctr" eaLnBrk="1" hangingPunct="1">
              <a:defRPr/>
            </a:pPr>
            <a:r>
              <a:rPr lang="zh-CN" altLang="en-US" sz="1400" b="1" smtClean="0">
                <a:latin typeface="华文彩云" pitchFamily="2" charset="-122"/>
                <a:ea typeface="华文彩云" pitchFamily="2" charset="-122"/>
                <a:cs typeface="Times New Roman" pitchFamily="18" charset="0"/>
              </a:rPr>
              <a:t>机械与电子工程学院</a:t>
            </a:r>
            <a:endParaRPr lang="en-US" altLang="zh-CN" sz="1400" b="1" smtClean="0">
              <a:latin typeface="华文彩云" pitchFamily="2" charset="-122"/>
              <a:ea typeface="华文彩云" pitchFamily="2" charset="-122"/>
              <a:cs typeface="Times New Roman" pitchFamily="18" charset="0"/>
            </a:endParaRPr>
          </a:p>
          <a:p>
            <a:pPr algn="ctr" eaLnBrk="1" hangingPunct="1">
              <a:defRPr/>
            </a:pPr>
            <a:r>
              <a:rPr lang="en-US" altLang="zh-CN" sz="800" b="1" smtClean="0">
                <a:latin typeface="Arial Narrow" pitchFamily="34" charset="0"/>
                <a:ea typeface="华文彩云" pitchFamily="2" charset="-122"/>
                <a:cs typeface="Times New Roman" pitchFamily="18" charset="0"/>
              </a:rPr>
              <a:t>College of Mechanical &amp; Electronic Engineering</a:t>
            </a:r>
            <a:endParaRPr lang="zh-CN" altLang="en-US" sz="800" b="1" smtClean="0">
              <a:latin typeface="Arial Narrow" pitchFamily="34" charset="0"/>
              <a:ea typeface="华文彩云" pitchFamily="2" charset="-122"/>
              <a:cs typeface="Times New Roman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timing>
    <p:tnLst>
      <p:par>
        <p:cTn id="1" dur="indefinite" restart="never" nodeType="tmRoot"/>
      </p:par>
    </p:tnLst>
  </p:timing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宋体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宋体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宋体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宋体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35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61235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612356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386513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0" sz="1400" u="none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endParaRPr lang="en-US" altLang="zh-CN"/>
          </a:p>
        </p:txBody>
      </p:sp>
      <p:sp>
        <p:nvSpPr>
          <p:cNvPr id="61235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386513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kumimoji="0" sz="1400" u="none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endParaRPr lang="en-US" altLang="zh-CN"/>
          </a:p>
        </p:txBody>
      </p:sp>
      <p:sp>
        <p:nvSpPr>
          <p:cNvPr id="61235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386513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1400" u="none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fld id="{499F7F70-39FF-4572-9F92-9F06837450F8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612360" name="Rectangle 8"/>
          <p:cNvSpPr>
            <a:spLocks noChangeArrowheads="1"/>
          </p:cNvSpPr>
          <p:nvPr/>
        </p:nvSpPr>
        <p:spPr bwMode="auto">
          <a:xfrm>
            <a:off x="165100" y="6507163"/>
            <a:ext cx="18415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zh-CN" altLang="zh-CN" sz="1200" b="1" i="1" u="none">
              <a:solidFill>
                <a:srgbClr val="FF0000"/>
              </a:solidFill>
              <a:ea typeface="宋体" pitchFamily="2" charset="-122"/>
            </a:endParaRPr>
          </a:p>
        </p:txBody>
      </p:sp>
      <p:sp>
        <p:nvSpPr>
          <p:cNvPr id="612371" name="Rectangle 19"/>
          <p:cNvSpPr>
            <a:spLocks noChangeArrowheads="1"/>
          </p:cNvSpPr>
          <p:nvPr userDrawn="1"/>
        </p:nvSpPr>
        <p:spPr bwMode="auto">
          <a:xfrm>
            <a:off x="8064500" y="6488113"/>
            <a:ext cx="914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marL="457200" indent="-457200" algn="r"/>
            <a:fld id="{173C1B54-BCC6-4BBE-A8FA-C46117FC70B3}" type="slidenum">
              <a:rPr kumimoji="0" lang="en-US" altLang="zh-CN" sz="1200" u="none">
                <a:solidFill>
                  <a:schemeClr val="tx1"/>
                </a:solidFill>
                <a:ea typeface="宋体" pitchFamily="2" charset="-122"/>
              </a:rPr>
              <a:pPr marL="457200" indent="-457200" algn="r"/>
              <a:t>‹#›</a:t>
            </a:fld>
            <a:endParaRPr kumimoji="0" lang="en-US" altLang="zh-CN" sz="1200" u="none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13" name="AutoShape 4"/>
          <p:cNvSpPr>
            <a:spLocks noChangeArrowheads="1"/>
          </p:cNvSpPr>
          <p:nvPr userDrawn="1"/>
        </p:nvSpPr>
        <p:spPr bwMode="auto">
          <a:xfrm>
            <a:off x="0" y="815975"/>
            <a:ext cx="9144000" cy="109538"/>
          </a:xfrm>
          <a:custGeom>
            <a:avLst/>
            <a:gdLst>
              <a:gd name="T0" fmla="*/ 0 w 1000"/>
              <a:gd name="T1" fmla="*/ 0 h 1000"/>
              <a:gd name="T2" fmla="*/ 2147483647 w 1000"/>
              <a:gd name="T3" fmla="*/ 0 h 1000"/>
              <a:gd name="T4" fmla="*/ 2147483647 w 1000"/>
              <a:gd name="T5" fmla="*/ 2147483647 h 1000"/>
              <a:gd name="T6" fmla="*/ 0 w 1000"/>
              <a:gd name="T7" fmla="*/ 2147483647 h 1000"/>
              <a:gd name="T8" fmla="*/ 0 w 1000"/>
              <a:gd name="T9" fmla="*/ 0 h 1000"/>
              <a:gd name="T10" fmla="*/ 2147483647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333399"/>
          </a:solidFill>
          <a:ln w="9525">
            <a:solidFill>
              <a:srgbClr val="333399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Line 5"/>
          <p:cNvSpPr>
            <a:spLocks noChangeShapeType="1"/>
          </p:cNvSpPr>
          <p:nvPr userDrawn="1"/>
        </p:nvSpPr>
        <p:spPr bwMode="auto">
          <a:xfrm flipV="1">
            <a:off x="0" y="6453188"/>
            <a:ext cx="9144000" cy="0"/>
          </a:xfrm>
          <a:prstGeom prst="line">
            <a:avLst/>
          </a:prstGeom>
          <a:noFill/>
          <a:ln w="31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15" name="图片 1"/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9938" y="52388"/>
            <a:ext cx="690562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图片 2"/>
          <p:cNvPicPr>
            <a:picLocks noChangeAspect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4213" y="6484938"/>
            <a:ext cx="1290637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" name="Picture 7"/>
          <p:cNvPicPr>
            <a:picLocks noChangeAspect="1" noChangeArrowheads="1"/>
          </p:cNvPicPr>
          <p:nvPr userDrawn="1"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55" r="78629"/>
          <a:stretch>
            <a:fillRect/>
          </a:stretch>
        </p:blipFill>
        <p:spPr bwMode="auto">
          <a:xfrm>
            <a:off x="42863" y="6475413"/>
            <a:ext cx="412750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8" name="TextBox 1"/>
          <p:cNvSpPr txBox="1">
            <a:spLocks noChangeArrowheads="1"/>
          </p:cNvSpPr>
          <p:nvPr userDrawn="1"/>
        </p:nvSpPr>
        <p:spPr bwMode="auto">
          <a:xfrm>
            <a:off x="365125" y="6450013"/>
            <a:ext cx="275748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2000" b="1" u="none" dirty="0" smtClean="0">
                <a:latin typeface="华文隶书" pitchFamily="2" charset="-122"/>
                <a:ea typeface="华文隶书" pitchFamily="2" charset="-122"/>
              </a:rPr>
              <a:t>机械工程测试技术</a:t>
            </a:r>
          </a:p>
        </p:txBody>
      </p:sp>
      <p:sp>
        <p:nvSpPr>
          <p:cNvPr id="19" name="TextBox 2"/>
          <p:cNvSpPr txBox="1">
            <a:spLocks noChangeArrowheads="1"/>
          </p:cNvSpPr>
          <p:nvPr userDrawn="1"/>
        </p:nvSpPr>
        <p:spPr bwMode="auto">
          <a:xfrm>
            <a:off x="7019925" y="6450013"/>
            <a:ext cx="2092325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ctr" eaLnBrk="1" hangingPunct="1">
              <a:defRPr/>
            </a:pPr>
            <a:r>
              <a:rPr lang="zh-CN" altLang="en-US" sz="1400" b="1" u="none" dirty="0" smtClean="0">
                <a:latin typeface="华文彩云" pitchFamily="2" charset="-122"/>
                <a:ea typeface="华文彩云" pitchFamily="2" charset="-122"/>
                <a:cs typeface="Times New Roman" pitchFamily="18" charset="0"/>
              </a:rPr>
              <a:t>机械与电子工程学院</a:t>
            </a:r>
            <a:endParaRPr lang="en-US" altLang="zh-CN" sz="1400" b="1" u="none" dirty="0" smtClean="0">
              <a:latin typeface="华文彩云" pitchFamily="2" charset="-122"/>
              <a:ea typeface="华文彩云" pitchFamily="2" charset="-122"/>
              <a:cs typeface="Times New Roman" pitchFamily="18" charset="0"/>
            </a:endParaRPr>
          </a:p>
          <a:p>
            <a:pPr algn="ctr" eaLnBrk="1" hangingPunct="1">
              <a:defRPr/>
            </a:pPr>
            <a:r>
              <a:rPr lang="en-US" altLang="zh-CN" sz="800" b="1" u="none" dirty="0" smtClean="0">
                <a:latin typeface="Arial Narrow" pitchFamily="34" charset="0"/>
                <a:ea typeface="华文彩云" pitchFamily="2" charset="-122"/>
                <a:cs typeface="Times New Roman" pitchFamily="18" charset="0"/>
              </a:rPr>
              <a:t>College of Mechanical &amp; Electronic Engineering</a:t>
            </a:r>
            <a:endParaRPr lang="zh-CN" altLang="en-US" sz="800" b="1" u="none" dirty="0" smtClean="0">
              <a:latin typeface="Arial Narrow" pitchFamily="34" charset="0"/>
              <a:ea typeface="华文彩云" pitchFamily="2" charset="-122"/>
              <a:cs typeface="Times New Roman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</p:sldLayoutIdLst>
  <p:timing>
    <p:tnLst>
      <p:par>
        <p:cTn id="1" dur="indefinite" restart="never" nodeType="tmRoot"/>
      </p:par>
    </p:tnLst>
  </p:timing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9.png"/><Relationship Id="rId4" Type="http://schemas.openxmlformats.org/officeDocument/2006/relationships/image" Target="../media/image8.w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7" Type="http://schemas.openxmlformats.org/officeDocument/2006/relationships/image" Target="../media/image9.png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11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10.w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7" Type="http://schemas.openxmlformats.org/officeDocument/2006/relationships/image" Target="../media/image14.png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3.w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12.wmf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wmf"/><Relationship Id="rId3" Type="http://schemas.openxmlformats.org/officeDocument/2006/relationships/oleObject" Target="../embeddings/oleObject6.bin"/><Relationship Id="rId7" Type="http://schemas.openxmlformats.org/officeDocument/2006/relationships/oleObject" Target="../embeddings/oleObject8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6.wmf"/><Relationship Id="rId5" Type="http://schemas.openxmlformats.org/officeDocument/2006/relationships/oleObject" Target="../embeddings/oleObject7.bin"/><Relationship Id="rId4" Type="http://schemas.openxmlformats.org/officeDocument/2006/relationships/image" Target="../media/image15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wmf"/><Relationship Id="rId3" Type="http://schemas.openxmlformats.org/officeDocument/2006/relationships/oleObject" Target="../embeddings/oleObject9.bin"/><Relationship Id="rId7" Type="http://schemas.openxmlformats.org/officeDocument/2006/relationships/oleObject" Target="../embeddings/oleObject11.bin"/><Relationship Id="rId12" Type="http://schemas.openxmlformats.org/officeDocument/2006/relationships/image" Target="../media/image22.wmf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9.wmf"/><Relationship Id="rId11" Type="http://schemas.openxmlformats.org/officeDocument/2006/relationships/oleObject" Target="../embeddings/oleObject13.bin"/><Relationship Id="rId5" Type="http://schemas.openxmlformats.org/officeDocument/2006/relationships/oleObject" Target="../embeddings/oleObject10.bin"/><Relationship Id="rId10" Type="http://schemas.openxmlformats.org/officeDocument/2006/relationships/image" Target="../media/image21.wmf"/><Relationship Id="rId4" Type="http://schemas.openxmlformats.org/officeDocument/2006/relationships/image" Target="../media/image18.wmf"/><Relationship Id="rId9" Type="http://schemas.openxmlformats.org/officeDocument/2006/relationships/oleObject" Target="../embeddings/oleObject12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4.png"/><Relationship Id="rId7" Type="http://schemas.openxmlformats.org/officeDocument/2006/relationships/image" Target="../media/image18.wmf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15.bin"/><Relationship Id="rId5" Type="http://schemas.openxmlformats.org/officeDocument/2006/relationships/image" Target="../media/image23.emf"/><Relationship Id="rId10" Type="http://schemas.openxmlformats.org/officeDocument/2006/relationships/image" Target="../media/image21.wmf"/><Relationship Id="rId4" Type="http://schemas.openxmlformats.org/officeDocument/2006/relationships/oleObject" Target="../embeddings/oleObject14.bin"/><Relationship Id="rId9" Type="http://schemas.openxmlformats.org/officeDocument/2006/relationships/oleObject" Target="../embeddings/oleObject16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.bin"/><Relationship Id="rId3" Type="http://schemas.openxmlformats.org/officeDocument/2006/relationships/oleObject" Target="../embeddings/oleObject17.bin"/><Relationship Id="rId7" Type="http://schemas.openxmlformats.org/officeDocument/2006/relationships/image" Target="../media/image27.wmf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18.bin"/><Relationship Id="rId11" Type="http://schemas.openxmlformats.org/officeDocument/2006/relationships/image" Target="../media/image29.wmf"/><Relationship Id="rId5" Type="http://schemas.openxmlformats.org/officeDocument/2006/relationships/image" Target="../media/image30.png"/><Relationship Id="rId10" Type="http://schemas.openxmlformats.org/officeDocument/2006/relationships/oleObject" Target="../embeddings/oleObject20.bin"/><Relationship Id="rId4" Type="http://schemas.openxmlformats.org/officeDocument/2006/relationships/image" Target="../media/image26.wmf"/><Relationship Id="rId9" Type="http://schemas.openxmlformats.org/officeDocument/2006/relationships/image" Target="../media/image28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8.vml"/><Relationship Id="rId5" Type="http://schemas.openxmlformats.org/officeDocument/2006/relationships/image" Target="../media/image32.jpeg"/><Relationship Id="rId4" Type="http://schemas.openxmlformats.org/officeDocument/2006/relationships/image" Target="../media/image31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9.vml"/><Relationship Id="rId4" Type="http://schemas.openxmlformats.org/officeDocument/2006/relationships/image" Target="../media/image33.wmf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3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10.vml"/><Relationship Id="rId5" Type="http://schemas.openxmlformats.org/officeDocument/2006/relationships/image" Target="../media/image40.png"/><Relationship Id="rId4" Type="http://schemas.openxmlformats.org/officeDocument/2006/relationships/image" Target="../media/image39.w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wmf"/><Relationship Id="rId3" Type="http://schemas.openxmlformats.org/officeDocument/2006/relationships/oleObject" Target="../embeddings/oleObject24.bin"/><Relationship Id="rId7" Type="http://schemas.openxmlformats.org/officeDocument/2006/relationships/oleObject" Target="../embeddings/oleObject26.bin"/><Relationship Id="rId12" Type="http://schemas.openxmlformats.org/officeDocument/2006/relationships/image" Target="../media/image45.wmf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42.wmf"/><Relationship Id="rId11" Type="http://schemas.openxmlformats.org/officeDocument/2006/relationships/oleObject" Target="../embeddings/oleObject28.bin"/><Relationship Id="rId5" Type="http://schemas.openxmlformats.org/officeDocument/2006/relationships/oleObject" Target="../embeddings/oleObject25.bin"/><Relationship Id="rId10" Type="http://schemas.openxmlformats.org/officeDocument/2006/relationships/image" Target="../media/image44.wmf"/><Relationship Id="rId4" Type="http://schemas.openxmlformats.org/officeDocument/2006/relationships/image" Target="../media/image41.wmf"/><Relationship Id="rId9" Type="http://schemas.openxmlformats.org/officeDocument/2006/relationships/oleObject" Target="../embeddings/oleObject27.bin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wmf"/><Relationship Id="rId13" Type="http://schemas.openxmlformats.org/officeDocument/2006/relationships/oleObject" Target="../embeddings/oleObject34.bin"/><Relationship Id="rId18" Type="http://schemas.openxmlformats.org/officeDocument/2006/relationships/image" Target="../media/image53.wmf"/><Relationship Id="rId3" Type="http://schemas.openxmlformats.org/officeDocument/2006/relationships/oleObject" Target="../embeddings/oleObject29.bin"/><Relationship Id="rId7" Type="http://schemas.openxmlformats.org/officeDocument/2006/relationships/oleObject" Target="../embeddings/oleObject31.bin"/><Relationship Id="rId12" Type="http://schemas.openxmlformats.org/officeDocument/2006/relationships/image" Target="../media/image50.wmf"/><Relationship Id="rId17" Type="http://schemas.openxmlformats.org/officeDocument/2006/relationships/oleObject" Target="../embeddings/oleObject36.bin"/><Relationship Id="rId2" Type="http://schemas.openxmlformats.org/officeDocument/2006/relationships/slideLayout" Target="../slideLayouts/slideLayout23.xml"/><Relationship Id="rId16" Type="http://schemas.openxmlformats.org/officeDocument/2006/relationships/image" Target="../media/image52.wmf"/><Relationship Id="rId20" Type="http://schemas.openxmlformats.org/officeDocument/2006/relationships/image" Target="../media/image39.wmf"/><Relationship Id="rId1" Type="http://schemas.openxmlformats.org/officeDocument/2006/relationships/vmlDrawing" Target="../drawings/vmlDrawing12.vml"/><Relationship Id="rId6" Type="http://schemas.openxmlformats.org/officeDocument/2006/relationships/image" Target="../media/image47.wmf"/><Relationship Id="rId11" Type="http://schemas.openxmlformats.org/officeDocument/2006/relationships/oleObject" Target="../embeddings/oleObject33.bin"/><Relationship Id="rId5" Type="http://schemas.openxmlformats.org/officeDocument/2006/relationships/oleObject" Target="../embeddings/oleObject30.bin"/><Relationship Id="rId15" Type="http://schemas.openxmlformats.org/officeDocument/2006/relationships/oleObject" Target="../embeddings/oleObject35.bin"/><Relationship Id="rId10" Type="http://schemas.openxmlformats.org/officeDocument/2006/relationships/image" Target="../media/image49.wmf"/><Relationship Id="rId19" Type="http://schemas.openxmlformats.org/officeDocument/2006/relationships/oleObject" Target="../embeddings/oleObject37.bin"/><Relationship Id="rId4" Type="http://schemas.openxmlformats.org/officeDocument/2006/relationships/image" Target="../media/image46.wmf"/><Relationship Id="rId9" Type="http://schemas.openxmlformats.org/officeDocument/2006/relationships/oleObject" Target="../embeddings/oleObject32.bin"/><Relationship Id="rId14" Type="http://schemas.openxmlformats.org/officeDocument/2006/relationships/image" Target="../media/image51.w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8.bin"/><Relationship Id="rId7" Type="http://schemas.openxmlformats.org/officeDocument/2006/relationships/image" Target="../media/image56.jpeg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55.wmf"/><Relationship Id="rId5" Type="http://schemas.openxmlformats.org/officeDocument/2006/relationships/oleObject" Target="../embeddings/oleObject39.bin"/><Relationship Id="rId4" Type="http://schemas.openxmlformats.org/officeDocument/2006/relationships/image" Target="../media/image54.w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wmf"/><Relationship Id="rId3" Type="http://schemas.openxmlformats.org/officeDocument/2006/relationships/oleObject" Target="../embeddings/oleObject40.bin"/><Relationship Id="rId7" Type="http://schemas.openxmlformats.org/officeDocument/2006/relationships/oleObject" Target="../embeddings/oleObject42.bin"/><Relationship Id="rId12" Type="http://schemas.openxmlformats.org/officeDocument/2006/relationships/image" Target="../media/image51.wmf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58.wmf"/><Relationship Id="rId11" Type="http://schemas.openxmlformats.org/officeDocument/2006/relationships/oleObject" Target="../embeddings/oleObject44.bin"/><Relationship Id="rId5" Type="http://schemas.openxmlformats.org/officeDocument/2006/relationships/oleObject" Target="../embeddings/oleObject41.bin"/><Relationship Id="rId10" Type="http://schemas.openxmlformats.org/officeDocument/2006/relationships/image" Target="../media/image52.wmf"/><Relationship Id="rId4" Type="http://schemas.openxmlformats.org/officeDocument/2006/relationships/image" Target="../media/image57.wmf"/><Relationship Id="rId9" Type="http://schemas.openxmlformats.org/officeDocument/2006/relationships/oleObject" Target="../embeddings/oleObject43.bin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7.bin"/><Relationship Id="rId13" Type="http://schemas.openxmlformats.org/officeDocument/2006/relationships/image" Target="../media/image63.wmf"/><Relationship Id="rId18" Type="http://schemas.openxmlformats.org/officeDocument/2006/relationships/oleObject" Target="../embeddings/oleObject52.bin"/><Relationship Id="rId3" Type="http://schemas.openxmlformats.org/officeDocument/2006/relationships/image" Target="../media/image67.jpeg"/><Relationship Id="rId7" Type="http://schemas.openxmlformats.org/officeDocument/2006/relationships/image" Target="../media/image61.wmf"/><Relationship Id="rId12" Type="http://schemas.openxmlformats.org/officeDocument/2006/relationships/oleObject" Target="../embeddings/oleObject49.bin"/><Relationship Id="rId17" Type="http://schemas.openxmlformats.org/officeDocument/2006/relationships/image" Target="../media/image65.wmf"/><Relationship Id="rId2" Type="http://schemas.openxmlformats.org/officeDocument/2006/relationships/slideLayout" Target="../slideLayouts/slideLayout24.xml"/><Relationship Id="rId16" Type="http://schemas.openxmlformats.org/officeDocument/2006/relationships/oleObject" Target="../embeddings/oleObject51.bin"/><Relationship Id="rId1" Type="http://schemas.openxmlformats.org/officeDocument/2006/relationships/vmlDrawing" Target="../drawings/vmlDrawing15.vml"/><Relationship Id="rId6" Type="http://schemas.openxmlformats.org/officeDocument/2006/relationships/oleObject" Target="../embeddings/oleObject46.bin"/><Relationship Id="rId11" Type="http://schemas.openxmlformats.org/officeDocument/2006/relationships/image" Target="../media/image62.wmf"/><Relationship Id="rId5" Type="http://schemas.openxmlformats.org/officeDocument/2006/relationships/image" Target="../media/image60.wmf"/><Relationship Id="rId15" Type="http://schemas.openxmlformats.org/officeDocument/2006/relationships/image" Target="../media/image64.wmf"/><Relationship Id="rId10" Type="http://schemas.openxmlformats.org/officeDocument/2006/relationships/oleObject" Target="../embeddings/oleObject48.bin"/><Relationship Id="rId19" Type="http://schemas.openxmlformats.org/officeDocument/2006/relationships/image" Target="../media/image66.wmf"/><Relationship Id="rId4" Type="http://schemas.openxmlformats.org/officeDocument/2006/relationships/oleObject" Target="../embeddings/oleObject45.bin"/><Relationship Id="rId9" Type="http://schemas.openxmlformats.org/officeDocument/2006/relationships/image" Target="../media/image59.wmf"/><Relationship Id="rId14" Type="http://schemas.openxmlformats.org/officeDocument/2006/relationships/oleObject" Target="../embeddings/oleObject50.bin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5.bin"/><Relationship Id="rId13" Type="http://schemas.openxmlformats.org/officeDocument/2006/relationships/image" Target="../media/image58.wmf"/><Relationship Id="rId18" Type="http://schemas.openxmlformats.org/officeDocument/2006/relationships/oleObject" Target="../embeddings/oleObject60.bin"/><Relationship Id="rId3" Type="http://schemas.openxmlformats.org/officeDocument/2006/relationships/image" Target="../media/image67.jpeg"/><Relationship Id="rId7" Type="http://schemas.openxmlformats.org/officeDocument/2006/relationships/image" Target="../media/image69.wmf"/><Relationship Id="rId12" Type="http://schemas.openxmlformats.org/officeDocument/2006/relationships/oleObject" Target="../embeddings/oleObject57.bin"/><Relationship Id="rId17" Type="http://schemas.openxmlformats.org/officeDocument/2006/relationships/image" Target="../media/image73.wmf"/><Relationship Id="rId2" Type="http://schemas.openxmlformats.org/officeDocument/2006/relationships/slideLayout" Target="../slideLayouts/slideLayout25.xml"/><Relationship Id="rId16" Type="http://schemas.openxmlformats.org/officeDocument/2006/relationships/oleObject" Target="../embeddings/oleObject59.bin"/><Relationship Id="rId1" Type="http://schemas.openxmlformats.org/officeDocument/2006/relationships/vmlDrawing" Target="../drawings/vmlDrawing16.vml"/><Relationship Id="rId6" Type="http://schemas.openxmlformats.org/officeDocument/2006/relationships/oleObject" Target="../embeddings/oleObject54.bin"/><Relationship Id="rId11" Type="http://schemas.openxmlformats.org/officeDocument/2006/relationships/image" Target="../media/image71.wmf"/><Relationship Id="rId5" Type="http://schemas.openxmlformats.org/officeDocument/2006/relationships/image" Target="../media/image68.wmf"/><Relationship Id="rId15" Type="http://schemas.openxmlformats.org/officeDocument/2006/relationships/image" Target="../media/image72.wmf"/><Relationship Id="rId10" Type="http://schemas.openxmlformats.org/officeDocument/2006/relationships/oleObject" Target="../embeddings/oleObject56.bin"/><Relationship Id="rId19" Type="http://schemas.openxmlformats.org/officeDocument/2006/relationships/image" Target="../media/image74.wmf"/><Relationship Id="rId4" Type="http://schemas.openxmlformats.org/officeDocument/2006/relationships/oleObject" Target="../embeddings/oleObject53.bin"/><Relationship Id="rId9" Type="http://schemas.openxmlformats.org/officeDocument/2006/relationships/image" Target="../media/image70.wmf"/><Relationship Id="rId14" Type="http://schemas.openxmlformats.org/officeDocument/2006/relationships/oleObject" Target="../embeddings/oleObject58.bin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3.bin"/><Relationship Id="rId3" Type="http://schemas.openxmlformats.org/officeDocument/2006/relationships/image" Target="../media/image67.jpeg"/><Relationship Id="rId7" Type="http://schemas.openxmlformats.org/officeDocument/2006/relationships/image" Target="../media/image76.wmf"/><Relationship Id="rId2" Type="http://schemas.openxmlformats.org/officeDocument/2006/relationships/slideLayout" Target="../slideLayouts/slideLayout25.xml"/><Relationship Id="rId1" Type="http://schemas.openxmlformats.org/officeDocument/2006/relationships/vmlDrawing" Target="../drawings/vmlDrawing17.vml"/><Relationship Id="rId6" Type="http://schemas.openxmlformats.org/officeDocument/2006/relationships/oleObject" Target="../embeddings/oleObject62.bin"/><Relationship Id="rId11" Type="http://schemas.openxmlformats.org/officeDocument/2006/relationships/image" Target="../media/image72.wmf"/><Relationship Id="rId5" Type="http://schemas.openxmlformats.org/officeDocument/2006/relationships/image" Target="../media/image75.wmf"/><Relationship Id="rId10" Type="http://schemas.openxmlformats.org/officeDocument/2006/relationships/oleObject" Target="../embeddings/oleObject64.bin"/><Relationship Id="rId4" Type="http://schemas.openxmlformats.org/officeDocument/2006/relationships/oleObject" Target="../embeddings/oleObject61.bin"/><Relationship Id="rId9" Type="http://schemas.openxmlformats.org/officeDocument/2006/relationships/image" Target="../media/image58.w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5.bin"/><Relationship Id="rId2" Type="http://schemas.openxmlformats.org/officeDocument/2006/relationships/slideLayout" Target="../slideLayouts/slideLayout25.xml"/><Relationship Id="rId1" Type="http://schemas.openxmlformats.org/officeDocument/2006/relationships/vmlDrawing" Target="../drawings/vmlDrawing18.vml"/><Relationship Id="rId6" Type="http://schemas.openxmlformats.org/officeDocument/2006/relationships/image" Target="../media/image77.wmf"/><Relationship Id="rId5" Type="http://schemas.openxmlformats.org/officeDocument/2006/relationships/oleObject" Target="../embeddings/oleObject66.bin"/><Relationship Id="rId4" Type="http://schemas.openxmlformats.org/officeDocument/2006/relationships/image" Target="../media/image72.wm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9.bin"/><Relationship Id="rId13" Type="http://schemas.openxmlformats.org/officeDocument/2006/relationships/image" Target="../media/image82.wmf"/><Relationship Id="rId3" Type="http://schemas.openxmlformats.org/officeDocument/2006/relationships/oleObject" Target="../embeddings/oleObject67.bin"/><Relationship Id="rId7" Type="http://schemas.openxmlformats.org/officeDocument/2006/relationships/image" Target="../media/image84.wmf"/><Relationship Id="rId12" Type="http://schemas.openxmlformats.org/officeDocument/2006/relationships/oleObject" Target="../embeddings/oleObject71.bin"/><Relationship Id="rId2" Type="http://schemas.openxmlformats.org/officeDocument/2006/relationships/slideLayout" Target="../slideLayouts/slideLayout24.xml"/><Relationship Id="rId16" Type="http://schemas.openxmlformats.org/officeDocument/2006/relationships/image" Target="../media/image85.wmf"/><Relationship Id="rId1" Type="http://schemas.openxmlformats.org/officeDocument/2006/relationships/vmlDrawing" Target="../drawings/vmlDrawing19.vml"/><Relationship Id="rId6" Type="http://schemas.openxmlformats.org/officeDocument/2006/relationships/image" Target="../media/image79.wmf"/><Relationship Id="rId11" Type="http://schemas.openxmlformats.org/officeDocument/2006/relationships/image" Target="../media/image81.wmf"/><Relationship Id="rId5" Type="http://schemas.openxmlformats.org/officeDocument/2006/relationships/oleObject" Target="../embeddings/oleObject68.bin"/><Relationship Id="rId15" Type="http://schemas.openxmlformats.org/officeDocument/2006/relationships/image" Target="../media/image83.wmf"/><Relationship Id="rId10" Type="http://schemas.openxmlformats.org/officeDocument/2006/relationships/oleObject" Target="../embeddings/oleObject70.bin"/><Relationship Id="rId4" Type="http://schemas.openxmlformats.org/officeDocument/2006/relationships/image" Target="../media/image78.wmf"/><Relationship Id="rId9" Type="http://schemas.openxmlformats.org/officeDocument/2006/relationships/image" Target="../media/image80.wmf"/><Relationship Id="rId14" Type="http://schemas.openxmlformats.org/officeDocument/2006/relationships/oleObject" Target="../embeddings/oleObject72.bin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3.bin"/><Relationship Id="rId7" Type="http://schemas.openxmlformats.org/officeDocument/2006/relationships/image" Target="../media/image88.wmf"/><Relationship Id="rId2" Type="http://schemas.openxmlformats.org/officeDocument/2006/relationships/slideLayout" Target="../slideLayouts/slideLayout23.xml"/><Relationship Id="rId1" Type="http://schemas.openxmlformats.org/officeDocument/2006/relationships/vmlDrawing" Target="../drawings/vmlDrawing20.vml"/><Relationship Id="rId6" Type="http://schemas.openxmlformats.org/officeDocument/2006/relationships/image" Target="../media/image87.emf"/><Relationship Id="rId5" Type="http://schemas.openxmlformats.org/officeDocument/2006/relationships/oleObject" Target="../embeddings/oleObject74.bin"/><Relationship Id="rId4" Type="http://schemas.openxmlformats.org/officeDocument/2006/relationships/image" Target="../media/image86.wmf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gif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18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21.vml"/><Relationship Id="rId5" Type="http://schemas.openxmlformats.org/officeDocument/2006/relationships/image" Target="../media/image92.wmf"/><Relationship Id="rId4" Type="http://schemas.openxmlformats.org/officeDocument/2006/relationships/oleObject" Target="../embeddings/oleObject75.bin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6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22.vml"/><Relationship Id="rId4" Type="http://schemas.openxmlformats.org/officeDocument/2006/relationships/image" Target="../media/image94.wmf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7.wmf"/><Relationship Id="rId13" Type="http://schemas.openxmlformats.org/officeDocument/2006/relationships/oleObject" Target="../embeddings/oleObject82.bin"/><Relationship Id="rId3" Type="http://schemas.openxmlformats.org/officeDocument/2006/relationships/oleObject" Target="../embeddings/oleObject77.bin"/><Relationship Id="rId7" Type="http://schemas.openxmlformats.org/officeDocument/2006/relationships/oleObject" Target="../embeddings/oleObject79.bin"/><Relationship Id="rId12" Type="http://schemas.openxmlformats.org/officeDocument/2006/relationships/image" Target="../media/image99.wmf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23.vml"/><Relationship Id="rId6" Type="http://schemas.openxmlformats.org/officeDocument/2006/relationships/image" Target="../media/image96.wmf"/><Relationship Id="rId11" Type="http://schemas.openxmlformats.org/officeDocument/2006/relationships/oleObject" Target="../embeddings/oleObject81.bin"/><Relationship Id="rId5" Type="http://schemas.openxmlformats.org/officeDocument/2006/relationships/oleObject" Target="../embeddings/oleObject78.bin"/><Relationship Id="rId10" Type="http://schemas.openxmlformats.org/officeDocument/2006/relationships/image" Target="../media/image98.wmf"/><Relationship Id="rId4" Type="http://schemas.openxmlformats.org/officeDocument/2006/relationships/image" Target="../media/image95.wmf"/><Relationship Id="rId9" Type="http://schemas.openxmlformats.org/officeDocument/2006/relationships/oleObject" Target="../embeddings/oleObject80.bin"/><Relationship Id="rId14" Type="http://schemas.openxmlformats.org/officeDocument/2006/relationships/image" Target="../media/image51.w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7" Type="http://schemas.openxmlformats.org/officeDocument/2006/relationships/image" Target="../media/image95.wmf"/><Relationship Id="rId2" Type="http://schemas.openxmlformats.org/officeDocument/2006/relationships/slideLayout" Target="../slideLayouts/slideLayout25.xml"/><Relationship Id="rId1" Type="http://schemas.openxmlformats.org/officeDocument/2006/relationships/vmlDrawing" Target="../drawings/vmlDrawing24.vml"/><Relationship Id="rId6" Type="http://schemas.openxmlformats.org/officeDocument/2006/relationships/oleObject" Target="../embeddings/oleObject84.bin"/><Relationship Id="rId5" Type="http://schemas.openxmlformats.org/officeDocument/2006/relationships/image" Target="../media/image100.wmf"/><Relationship Id="rId4" Type="http://schemas.openxmlformats.org/officeDocument/2006/relationships/oleObject" Target="../embeddings/oleObject83.bin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4.wmf"/><Relationship Id="rId13" Type="http://schemas.openxmlformats.org/officeDocument/2006/relationships/oleObject" Target="../embeddings/oleObject90.bin"/><Relationship Id="rId3" Type="http://schemas.openxmlformats.org/officeDocument/2006/relationships/oleObject" Target="../embeddings/oleObject85.bin"/><Relationship Id="rId7" Type="http://schemas.openxmlformats.org/officeDocument/2006/relationships/oleObject" Target="../embeddings/oleObject87.bin"/><Relationship Id="rId12" Type="http://schemas.openxmlformats.org/officeDocument/2006/relationships/image" Target="../media/image106.wmf"/><Relationship Id="rId2" Type="http://schemas.openxmlformats.org/officeDocument/2006/relationships/slideLayout" Target="../slideLayouts/slideLayout25.xml"/><Relationship Id="rId1" Type="http://schemas.openxmlformats.org/officeDocument/2006/relationships/vmlDrawing" Target="../drawings/vmlDrawing25.vml"/><Relationship Id="rId6" Type="http://schemas.openxmlformats.org/officeDocument/2006/relationships/image" Target="../media/image103.wmf"/><Relationship Id="rId11" Type="http://schemas.openxmlformats.org/officeDocument/2006/relationships/oleObject" Target="../embeddings/oleObject89.bin"/><Relationship Id="rId5" Type="http://schemas.openxmlformats.org/officeDocument/2006/relationships/oleObject" Target="../embeddings/oleObject86.bin"/><Relationship Id="rId15" Type="http://schemas.openxmlformats.org/officeDocument/2006/relationships/image" Target="../media/image107.wmf"/><Relationship Id="rId10" Type="http://schemas.openxmlformats.org/officeDocument/2006/relationships/image" Target="../media/image105.wmf"/><Relationship Id="rId4" Type="http://schemas.openxmlformats.org/officeDocument/2006/relationships/image" Target="../media/image102.wmf"/><Relationship Id="rId9" Type="http://schemas.openxmlformats.org/officeDocument/2006/relationships/oleObject" Target="../embeddings/oleObject88.bin"/><Relationship Id="rId14" Type="http://schemas.openxmlformats.org/officeDocument/2006/relationships/image" Target="../media/image94.wmf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5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0.wmf"/><Relationship Id="rId13" Type="http://schemas.openxmlformats.org/officeDocument/2006/relationships/oleObject" Target="../embeddings/oleObject96.bin"/><Relationship Id="rId3" Type="http://schemas.openxmlformats.org/officeDocument/2006/relationships/oleObject" Target="../embeddings/oleObject91.bin"/><Relationship Id="rId7" Type="http://schemas.openxmlformats.org/officeDocument/2006/relationships/oleObject" Target="../embeddings/oleObject93.bin"/><Relationship Id="rId12" Type="http://schemas.openxmlformats.org/officeDocument/2006/relationships/image" Target="../media/image112.wmf"/><Relationship Id="rId2" Type="http://schemas.openxmlformats.org/officeDocument/2006/relationships/slideLayout" Target="../slideLayouts/slideLayout25.xml"/><Relationship Id="rId16" Type="http://schemas.openxmlformats.org/officeDocument/2006/relationships/image" Target="../media/image114.wmf"/><Relationship Id="rId1" Type="http://schemas.openxmlformats.org/officeDocument/2006/relationships/vmlDrawing" Target="../drawings/vmlDrawing26.vml"/><Relationship Id="rId6" Type="http://schemas.openxmlformats.org/officeDocument/2006/relationships/image" Target="../media/image109.wmf"/><Relationship Id="rId11" Type="http://schemas.openxmlformats.org/officeDocument/2006/relationships/oleObject" Target="../embeddings/oleObject95.bin"/><Relationship Id="rId5" Type="http://schemas.openxmlformats.org/officeDocument/2006/relationships/oleObject" Target="../embeddings/oleObject92.bin"/><Relationship Id="rId15" Type="http://schemas.openxmlformats.org/officeDocument/2006/relationships/oleObject" Target="../embeddings/oleObject97.bin"/><Relationship Id="rId10" Type="http://schemas.openxmlformats.org/officeDocument/2006/relationships/image" Target="../media/image111.wmf"/><Relationship Id="rId4" Type="http://schemas.openxmlformats.org/officeDocument/2006/relationships/image" Target="../media/image108.wmf"/><Relationship Id="rId9" Type="http://schemas.openxmlformats.org/officeDocument/2006/relationships/oleObject" Target="../embeddings/oleObject94.bin"/><Relationship Id="rId14" Type="http://schemas.openxmlformats.org/officeDocument/2006/relationships/image" Target="../media/image113.wmf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6.wmf"/><Relationship Id="rId3" Type="http://schemas.openxmlformats.org/officeDocument/2006/relationships/oleObject" Target="../embeddings/oleObject98.bin"/><Relationship Id="rId7" Type="http://schemas.openxmlformats.org/officeDocument/2006/relationships/oleObject" Target="../embeddings/oleObject100.bin"/><Relationship Id="rId12" Type="http://schemas.openxmlformats.org/officeDocument/2006/relationships/image" Target="../media/image118.wmf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27.vml"/><Relationship Id="rId6" Type="http://schemas.openxmlformats.org/officeDocument/2006/relationships/image" Target="../media/image115.wmf"/><Relationship Id="rId11" Type="http://schemas.openxmlformats.org/officeDocument/2006/relationships/oleObject" Target="../embeddings/oleObject102.bin"/><Relationship Id="rId5" Type="http://schemas.openxmlformats.org/officeDocument/2006/relationships/oleObject" Target="../embeddings/oleObject99.bin"/><Relationship Id="rId10" Type="http://schemas.openxmlformats.org/officeDocument/2006/relationships/image" Target="../media/image117.wmf"/><Relationship Id="rId4" Type="http://schemas.openxmlformats.org/officeDocument/2006/relationships/image" Target="../media/image108.wmf"/><Relationship Id="rId9" Type="http://schemas.openxmlformats.org/officeDocument/2006/relationships/oleObject" Target="../embeddings/oleObject101.bin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1.wmf"/><Relationship Id="rId13" Type="http://schemas.openxmlformats.org/officeDocument/2006/relationships/oleObject" Target="../embeddings/oleObject108.bin"/><Relationship Id="rId3" Type="http://schemas.openxmlformats.org/officeDocument/2006/relationships/oleObject" Target="../embeddings/oleObject103.bin"/><Relationship Id="rId7" Type="http://schemas.openxmlformats.org/officeDocument/2006/relationships/oleObject" Target="../embeddings/oleObject105.bin"/><Relationship Id="rId12" Type="http://schemas.openxmlformats.org/officeDocument/2006/relationships/image" Target="../media/image123.wmf"/><Relationship Id="rId2" Type="http://schemas.openxmlformats.org/officeDocument/2006/relationships/slideLayout" Target="../slideLayouts/slideLayout18.xml"/><Relationship Id="rId16" Type="http://schemas.openxmlformats.org/officeDocument/2006/relationships/image" Target="../media/image124.wmf"/><Relationship Id="rId1" Type="http://schemas.openxmlformats.org/officeDocument/2006/relationships/vmlDrawing" Target="../drawings/vmlDrawing28.vml"/><Relationship Id="rId6" Type="http://schemas.openxmlformats.org/officeDocument/2006/relationships/image" Target="../media/image120.wmf"/><Relationship Id="rId11" Type="http://schemas.openxmlformats.org/officeDocument/2006/relationships/oleObject" Target="../embeddings/oleObject107.bin"/><Relationship Id="rId5" Type="http://schemas.openxmlformats.org/officeDocument/2006/relationships/oleObject" Target="../embeddings/oleObject104.bin"/><Relationship Id="rId15" Type="http://schemas.openxmlformats.org/officeDocument/2006/relationships/oleObject" Target="../embeddings/oleObject109.bin"/><Relationship Id="rId10" Type="http://schemas.openxmlformats.org/officeDocument/2006/relationships/image" Target="../media/image122.wmf"/><Relationship Id="rId4" Type="http://schemas.openxmlformats.org/officeDocument/2006/relationships/image" Target="../media/image119.wmf"/><Relationship Id="rId9" Type="http://schemas.openxmlformats.org/officeDocument/2006/relationships/oleObject" Target="../embeddings/oleObject106.bin"/><Relationship Id="rId14" Type="http://schemas.openxmlformats.org/officeDocument/2006/relationships/image" Target="../media/image108.wmf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29.vml"/><Relationship Id="rId5" Type="http://schemas.openxmlformats.org/officeDocument/2006/relationships/image" Target="../media/image125.emf"/><Relationship Id="rId4" Type="http://schemas.openxmlformats.org/officeDocument/2006/relationships/oleObject" Target="../embeddings/oleObject110.bin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1.bin"/><Relationship Id="rId7" Type="http://schemas.openxmlformats.org/officeDocument/2006/relationships/image" Target="../media/image88.wmf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30.vml"/><Relationship Id="rId6" Type="http://schemas.openxmlformats.org/officeDocument/2006/relationships/image" Target="../media/image127.emf"/><Relationship Id="rId5" Type="http://schemas.openxmlformats.org/officeDocument/2006/relationships/oleObject" Target="../embeddings/oleObject112.bin"/><Relationship Id="rId4" Type="http://schemas.openxmlformats.org/officeDocument/2006/relationships/image" Target="../media/image126.emf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0.wmf"/><Relationship Id="rId3" Type="http://schemas.openxmlformats.org/officeDocument/2006/relationships/oleObject" Target="../embeddings/oleObject113.bin"/><Relationship Id="rId7" Type="http://schemas.openxmlformats.org/officeDocument/2006/relationships/oleObject" Target="../embeddings/oleObject115.bin"/><Relationship Id="rId2" Type="http://schemas.openxmlformats.org/officeDocument/2006/relationships/slideLayout" Target="../slideLayouts/slideLayout25.xml"/><Relationship Id="rId1" Type="http://schemas.openxmlformats.org/officeDocument/2006/relationships/vmlDrawing" Target="../drawings/vmlDrawing31.vml"/><Relationship Id="rId6" Type="http://schemas.openxmlformats.org/officeDocument/2006/relationships/image" Target="../media/image129.wmf"/><Relationship Id="rId5" Type="http://schemas.openxmlformats.org/officeDocument/2006/relationships/oleObject" Target="../embeddings/oleObject114.bin"/><Relationship Id="rId10" Type="http://schemas.openxmlformats.org/officeDocument/2006/relationships/image" Target="../media/image131.emf"/><Relationship Id="rId4" Type="http://schemas.openxmlformats.org/officeDocument/2006/relationships/image" Target="../media/image128.wmf"/><Relationship Id="rId9" Type="http://schemas.openxmlformats.org/officeDocument/2006/relationships/oleObject" Target="../embeddings/oleObject116.bin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3.png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32.vml"/><Relationship Id="rId5" Type="http://schemas.openxmlformats.org/officeDocument/2006/relationships/image" Target="../media/image132.wmf"/><Relationship Id="rId4" Type="http://schemas.openxmlformats.org/officeDocument/2006/relationships/oleObject" Target="../embeddings/oleObject117.bin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4.png"/><Relationship Id="rId1" Type="http://schemas.openxmlformats.org/officeDocument/2006/relationships/slideLayout" Target="../slideLayouts/slideLayout25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8.bin"/><Relationship Id="rId2" Type="http://schemas.openxmlformats.org/officeDocument/2006/relationships/slideLayout" Target="../slideLayouts/slideLayout25.xml"/><Relationship Id="rId1" Type="http://schemas.openxmlformats.org/officeDocument/2006/relationships/vmlDrawing" Target="../drawings/vmlDrawing33.vml"/><Relationship Id="rId6" Type="http://schemas.openxmlformats.org/officeDocument/2006/relationships/image" Target="../media/image136.wmf"/><Relationship Id="rId5" Type="http://schemas.openxmlformats.org/officeDocument/2006/relationships/oleObject" Target="../embeddings/oleObject119.bin"/><Relationship Id="rId4" Type="http://schemas.openxmlformats.org/officeDocument/2006/relationships/image" Target="../media/image135.wmf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8.wmf"/><Relationship Id="rId3" Type="http://schemas.openxmlformats.org/officeDocument/2006/relationships/oleObject" Target="../embeddings/oleObject120.bin"/><Relationship Id="rId7" Type="http://schemas.openxmlformats.org/officeDocument/2006/relationships/oleObject" Target="../embeddings/oleObject122.bin"/><Relationship Id="rId12" Type="http://schemas.openxmlformats.org/officeDocument/2006/relationships/image" Target="../media/image140.wmf"/><Relationship Id="rId2" Type="http://schemas.openxmlformats.org/officeDocument/2006/relationships/slideLayout" Target="../slideLayouts/slideLayout25.xml"/><Relationship Id="rId1" Type="http://schemas.openxmlformats.org/officeDocument/2006/relationships/vmlDrawing" Target="../drawings/vmlDrawing34.vml"/><Relationship Id="rId6" Type="http://schemas.openxmlformats.org/officeDocument/2006/relationships/image" Target="../media/image137.wmf"/><Relationship Id="rId11" Type="http://schemas.openxmlformats.org/officeDocument/2006/relationships/oleObject" Target="../embeddings/oleObject124.bin"/><Relationship Id="rId5" Type="http://schemas.openxmlformats.org/officeDocument/2006/relationships/oleObject" Target="../embeddings/oleObject121.bin"/><Relationship Id="rId10" Type="http://schemas.openxmlformats.org/officeDocument/2006/relationships/image" Target="../media/image139.wmf"/><Relationship Id="rId4" Type="http://schemas.openxmlformats.org/officeDocument/2006/relationships/image" Target="../media/image128.wmf"/><Relationship Id="rId9" Type="http://schemas.openxmlformats.org/officeDocument/2006/relationships/oleObject" Target="../embeddings/oleObject123.bin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2.wmf"/><Relationship Id="rId13" Type="http://schemas.openxmlformats.org/officeDocument/2006/relationships/oleObject" Target="../embeddings/oleObject130.bin"/><Relationship Id="rId3" Type="http://schemas.openxmlformats.org/officeDocument/2006/relationships/oleObject" Target="../embeddings/oleObject125.bin"/><Relationship Id="rId7" Type="http://schemas.openxmlformats.org/officeDocument/2006/relationships/oleObject" Target="../embeddings/oleObject127.bin"/><Relationship Id="rId12" Type="http://schemas.openxmlformats.org/officeDocument/2006/relationships/image" Target="../media/image144.wmf"/><Relationship Id="rId2" Type="http://schemas.openxmlformats.org/officeDocument/2006/relationships/slideLayout" Target="../slideLayouts/slideLayout25.xml"/><Relationship Id="rId1" Type="http://schemas.openxmlformats.org/officeDocument/2006/relationships/vmlDrawing" Target="../drawings/vmlDrawing35.vml"/><Relationship Id="rId6" Type="http://schemas.openxmlformats.org/officeDocument/2006/relationships/image" Target="../media/image138.wmf"/><Relationship Id="rId11" Type="http://schemas.openxmlformats.org/officeDocument/2006/relationships/oleObject" Target="../embeddings/oleObject129.bin"/><Relationship Id="rId5" Type="http://schemas.openxmlformats.org/officeDocument/2006/relationships/oleObject" Target="../embeddings/oleObject126.bin"/><Relationship Id="rId15" Type="http://schemas.openxmlformats.org/officeDocument/2006/relationships/image" Target="../media/image145.png"/><Relationship Id="rId10" Type="http://schemas.openxmlformats.org/officeDocument/2006/relationships/image" Target="../media/image143.wmf"/><Relationship Id="rId4" Type="http://schemas.openxmlformats.org/officeDocument/2006/relationships/image" Target="../media/image141.wmf"/><Relationship Id="rId9" Type="http://schemas.openxmlformats.org/officeDocument/2006/relationships/oleObject" Target="../embeddings/oleObject128.bin"/><Relationship Id="rId14" Type="http://schemas.openxmlformats.org/officeDocument/2006/relationships/image" Target="../media/image81.wmf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1.bin"/><Relationship Id="rId7" Type="http://schemas.openxmlformats.org/officeDocument/2006/relationships/image" Target="../media/image147.png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36.vml"/><Relationship Id="rId6" Type="http://schemas.openxmlformats.org/officeDocument/2006/relationships/image" Target="../media/image146.wmf"/><Relationship Id="rId5" Type="http://schemas.openxmlformats.org/officeDocument/2006/relationships/oleObject" Target="../embeddings/oleObject132.bin"/><Relationship Id="rId4" Type="http://schemas.openxmlformats.org/officeDocument/2006/relationships/image" Target="../media/image137.wmf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4.wmf"/><Relationship Id="rId13" Type="http://schemas.openxmlformats.org/officeDocument/2006/relationships/oleObject" Target="../embeddings/oleObject138.bin"/><Relationship Id="rId3" Type="http://schemas.openxmlformats.org/officeDocument/2006/relationships/oleObject" Target="../embeddings/oleObject133.bin"/><Relationship Id="rId7" Type="http://schemas.openxmlformats.org/officeDocument/2006/relationships/oleObject" Target="../embeddings/oleObject135.bin"/><Relationship Id="rId12" Type="http://schemas.openxmlformats.org/officeDocument/2006/relationships/image" Target="../media/image150.wmf"/><Relationship Id="rId2" Type="http://schemas.openxmlformats.org/officeDocument/2006/relationships/slideLayout" Target="../slideLayouts/slideLayout15.xml"/><Relationship Id="rId16" Type="http://schemas.openxmlformats.org/officeDocument/2006/relationships/image" Target="../media/image152.wmf"/><Relationship Id="rId1" Type="http://schemas.openxmlformats.org/officeDocument/2006/relationships/vmlDrawing" Target="../drawings/vmlDrawing37.vml"/><Relationship Id="rId6" Type="http://schemas.openxmlformats.org/officeDocument/2006/relationships/image" Target="../media/image149.wmf"/><Relationship Id="rId11" Type="http://schemas.openxmlformats.org/officeDocument/2006/relationships/oleObject" Target="../embeddings/oleObject137.bin"/><Relationship Id="rId5" Type="http://schemas.openxmlformats.org/officeDocument/2006/relationships/oleObject" Target="../embeddings/oleObject134.bin"/><Relationship Id="rId15" Type="http://schemas.openxmlformats.org/officeDocument/2006/relationships/oleObject" Target="../embeddings/oleObject139.bin"/><Relationship Id="rId10" Type="http://schemas.openxmlformats.org/officeDocument/2006/relationships/image" Target="../media/image146.wmf"/><Relationship Id="rId4" Type="http://schemas.openxmlformats.org/officeDocument/2006/relationships/image" Target="../media/image148.wmf"/><Relationship Id="rId9" Type="http://schemas.openxmlformats.org/officeDocument/2006/relationships/oleObject" Target="../embeddings/oleObject136.bin"/><Relationship Id="rId14" Type="http://schemas.openxmlformats.org/officeDocument/2006/relationships/image" Target="../media/image151.wmf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1.wmf"/><Relationship Id="rId3" Type="http://schemas.openxmlformats.org/officeDocument/2006/relationships/oleObject" Target="../embeddings/oleObject140.bin"/><Relationship Id="rId7" Type="http://schemas.openxmlformats.org/officeDocument/2006/relationships/oleObject" Target="../embeddings/oleObject142.bin"/><Relationship Id="rId2" Type="http://schemas.openxmlformats.org/officeDocument/2006/relationships/slideLayout" Target="../slideLayouts/slideLayout15.xml"/><Relationship Id="rId1" Type="http://schemas.openxmlformats.org/officeDocument/2006/relationships/vmlDrawing" Target="../drawings/vmlDrawing38.vml"/><Relationship Id="rId6" Type="http://schemas.openxmlformats.org/officeDocument/2006/relationships/image" Target="../media/image154.wmf"/><Relationship Id="rId5" Type="http://schemas.openxmlformats.org/officeDocument/2006/relationships/oleObject" Target="../embeddings/oleObject141.bin"/><Relationship Id="rId10" Type="http://schemas.openxmlformats.org/officeDocument/2006/relationships/image" Target="../media/image155.wmf"/><Relationship Id="rId4" Type="http://schemas.openxmlformats.org/officeDocument/2006/relationships/image" Target="../media/image153.emf"/><Relationship Id="rId9" Type="http://schemas.openxmlformats.org/officeDocument/2006/relationships/oleObject" Target="../embeddings/oleObject143.bin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8.wmf"/><Relationship Id="rId13" Type="http://schemas.openxmlformats.org/officeDocument/2006/relationships/oleObject" Target="../embeddings/oleObject149.bin"/><Relationship Id="rId18" Type="http://schemas.openxmlformats.org/officeDocument/2006/relationships/image" Target="../media/image163.wmf"/><Relationship Id="rId3" Type="http://schemas.openxmlformats.org/officeDocument/2006/relationships/oleObject" Target="../embeddings/oleObject144.bin"/><Relationship Id="rId7" Type="http://schemas.openxmlformats.org/officeDocument/2006/relationships/oleObject" Target="../embeddings/oleObject146.bin"/><Relationship Id="rId12" Type="http://schemas.openxmlformats.org/officeDocument/2006/relationships/image" Target="../media/image160.wmf"/><Relationship Id="rId17" Type="http://schemas.openxmlformats.org/officeDocument/2006/relationships/oleObject" Target="../embeddings/oleObject151.bin"/><Relationship Id="rId2" Type="http://schemas.openxmlformats.org/officeDocument/2006/relationships/slideLayout" Target="../slideLayouts/slideLayout15.xml"/><Relationship Id="rId16" Type="http://schemas.openxmlformats.org/officeDocument/2006/relationships/image" Target="../media/image162.wmf"/><Relationship Id="rId1" Type="http://schemas.openxmlformats.org/officeDocument/2006/relationships/vmlDrawing" Target="../drawings/vmlDrawing39.vml"/><Relationship Id="rId6" Type="http://schemas.openxmlformats.org/officeDocument/2006/relationships/image" Target="../media/image157.wmf"/><Relationship Id="rId11" Type="http://schemas.openxmlformats.org/officeDocument/2006/relationships/oleObject" Target="../embeddings/oleObject148.bin"/><Relationship Id="rId5" Type="http://schemas.openxmlformats.org/officeDocument/2006/relationships/oleObject" Target="../embeddings/oleObject145.bin"/><Relationship Id="rId15" Type="http://schemas.openxmlformats.org/officeDocument/2006/relationships/oleObject" Target="../embeddings/oleObject150.bin"/><Relationship Id="rId10" Type="http://schemas.openxmlformats.org/officeDocument/2006/relationships/image" Target="../media/image159.wmf"/><Relationship Id="rId4" Type="http://schemas.openxmlformats.org/officeDocument/2006/relationships/image" Target="../media/image156.emf"/><Relationship Id="rId9" Type="http://schemas.openxmlformats.org/officeDocument/2006/relationships/oleObject" Target="../embeddings/oleObject147.bin"/><Relationship Id="rId14" Type="http://schemas.openxmlformats.org/officeDocument/2006/relationships/image" Target="../media/image161.wmf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2.bin"/><Relationship Id="rId2" Type="http://schemas.openxmlformats.org/officeDocument/2006/relationships/slideLayout" Target="../slideLayouts/slideLayout25.xml"/><Relationship Id="rId1" Type="http://schemas.openxmlformats.org/officeDocument/2006/relationships/vmlDrawing" Target="../drawings/vmlDrawing40.vml"/><Relationship Id="rId4" Type="http://schemas.openxmlformats.org/officeDocument/2006/relationships/image" Target="../media/image164.wmf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4.wmf"/><Relationship Id="rId3" Type="http://schemas.openxmlformats.org/officeDocument/2006/relationships/oleObject" Target="../embeddings/oleObject153.bin"/><Relationship Id="rId7" Type="http://schemas.openxmlformats.org/officeDocument/2006/relationships/oleObject" Target="../embeddings/oleObject155.bin"/><Relationship Id="rId12" Type="http://schemas.openxmlformats.org/officeDocument/2006/relationships/image" Target="../media/image168.wmf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41.vml"/><Relationship Id="rId6" Type="http://schemas.openxmlformats.org/officeDocument/2006/relationships/image" Target="../media/image166.wmf"/><Relationship Id="rId11" Type="http://schemas.openxmlformats.org/officeDocument/2006/relationships/oleObject" Target="../embeddings/oleObject157.bin"/><Relationship Id="rId5" Type="http://schemas.openxmlformats.org/officeDocument/2006/relationships/oleObject" Target="../embeddings/oleObject154.bin"/><Relationship Id="rId10" Type="http://schemas.openxmlformats.org/officeDocument/2006/relationships/image" Target="../media/image167.wmf"/><Relationship Id="rId4" Type="http://schemas.openxmlformats.org/officeDocument/2006/relationships/image" Target="../media/image165.wmf"/><Relationship Id="rId9" Type="http://schemas.openxmlformats.org/officeDocument/2006/relationships/oleObject" Target="../embeddings/oleObject156.bin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9.png"/><Relationship Id="rId1" Type="http://schemas.openxmlformats.org/officeDocument/2006/relationships/slideLayout" Target="../slideLayouts/slideLayout25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0.jpeg"/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250" name="Rectangle 2"/>
          <p:cNvSpPr>
            <a:spLocks noChangeArrowheads="1"/>
          </p:cNvSpPr>
          <p:nvPr/>
        </p:nvSpPr>
        <p:spPr bwMode="auto">
          <a:xfrm>
            <a:off x="1065882" y="1974059"/>
            <a:ext cx="5509579" cy="3323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571500" indent="-571500">
              <a:lnSpc>
                <a:spcPct val="150000"/>
              </a:lnSpc>
              <a:buBlip>
                <a:blip r:embed="rId2"/>
              </a:buBlip>
            </a:pPr>
            <a:r>
              <a:rPr lang="zh-CN" altLang="en-US" b="1" u="none" dirty="0" smtClean="0">
                <a:solidFill>
                  <a:srgbClr val="00B0F0"/>
                </a:solidFill>
              </a:rPr>
              <a:t>数字信号处理的步骤</a:t>
            </a:r>
            <a:endParaRPr lang="en-US" altLang="zh-CN" b="1" u="none" dirty="0" smtClean="0">
              <a:solidFill>
                <a:srgbClr val="00B0F0"/>
              </a:solidFill>
            </a:endParaRPr>
          </a:p>
          <a:p>
            <a:pPr marL="571500" indent="-571500">
              <a:lnSpc>
                <a:spcPct val="150000"/>
              </a:lnSpc>
              <a:buBlip>
                <a:blip r:embed="rId2"/>
              </a:buBlip>
            </a:pPr>
            <a:r>
              <a:rPr lang="zh-CN" altLang="en-US" b="1" u="none" dirty="0" smtClean="0">
                <a:solidFill>
                  <a:srgbClr val="00B0F0"/>
                </a:solidFill>
              </a:rPr>
              <a:t>信号数字化的问题</a:t>
            </a:r>
            <a:endParaRPr lang="en-US" altLang="zh-CN" b="1" u="none" dirty="0">
              <a:solidFill>
                <a:srgbClr val="00B0F0"/>
              </a:solidFill>
            </a:endParaRPr>
          </a:p>
          <a:p>
            <a:pPr marL="571500" indent="-571500">
              <a:lnSpc>
                <a:spcPct val="150000"/>
              </a:lnSpc>
              <a:buBlip>
                <a:blip r:embed="rId2"/>
              </a:buBlip>
            </a:pPr>
            <a:r>
              <a:rPr lang="zh-CN" altLang="en-US" b="1" u="none" dirty="0" smtClean="0">
                <a:solidFill>
                  <a:srgbClr val="000066"/>
                </a:solidFill>
              </a:rPr>
              <a:t>信号</a:t>
            </a:r>
            <a:r>
              <a:rPr lang="zh-CN" altLang="en-US" b="1" u="none" dirty="0">
                <a:solidFill>
                  <a:srgbClr val="000066"/>
                </a:solidFill>
              </a:rPr>
              <a:t>的</a:t>
            </a:r>
            <a:r>
              <a:rPr lang="zh-CN" altLang="en-US" b="1" u="none" dirty="0" smtClean="0">
                <a:solidFill>
                  <a:srgbClr val="000066"/>
                </a:solidFill>
              </a:rPr>
              <a:t>相关分析</a:t>
            </a:r>
            <a:r>
              <a:rPr lang="zh-CN" altLang="en-US" b="1" u="none" dirty="0" smtClean="0">
                <a:solidFill>
                  <a:srgbClr val="FF0000"/>
                </a:solidFill>
              </a:rPr>
              <a:t> （*）</a:t>
            </a:r>
            <a:endParaRPr lang="en-US" altLang="zh-CN" b="1" u="none" dirty="0" smtClean="0">
              <a:solidFill>
                <a:srgbClr val="FF0000"/>
              </a:solidFill>
            </a:endParaRPr>
          </a:p>
          <a:p>
            <a:pPr marL="571500" indent="-571500">
              <a:lnSpc>
                <a:spcPct val="150000"/>
              </a:lnSpc>
              <a:buBlip>
                <a:blip r:embed="rId2"/>
              </a:buBlip>
            </a:pPr>
            <a:r>
              <a:rPr lang="zh-CN" altLang="en-US" b="1" u="none" dirty="0" smtClean="0">
                <a:solidFill>
                  <a:srgbClr val="000066"/>
                </a:solidFill>
              </a:rPr>
              <a:t>信号功率谱分析</a:t>
            </a:r>
            <a:r>
              <a:rPr lang="zh-CN" altLang="en-US" b="1" u="none" dirty="0" smtClean="0">
                <a:solidFill>
                  <a:srgbClr val="FF0000"/>
                </a:solidFill>
              </a:rPr>
              <a:t>（</a:t>
            </a:r>
            <a:r>
              <a:rPr lang="zh-CN" altLang="en-US" b="1" u="none" dirty="0">
                <a:solidFill>
                  <a:srgbClr val="FF0000"/>
                </a:solidFill>
              </a:rPr>
              <a:t>*</a:t>
            </a:r>
            <a:r>
              <a:rPr lang="zh-CN" altLang="en-US" b="1" u="none" dirty="0" smtClean="0">
                <a:solidFill>
                  <a:srgbClr val="FF0000"/>
                </a:solidFill>
              </a:rPr>
              <a:t>）</a:t>
            </a:r>
            <a:endParaRPr lang="en-US" altLang="zh-CN" b="1" u="none" dirty="0" smtClean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b="1" u="none" dirty="0" smtClean="0">
                <a:solidFill>
                  <a:srgbClr val="FF0000"/>
                </a:solidFill>
              </a:rPr>
              <a:t>           </a:t>
            </a:r>
            <a:r>
              <a:rPr lang="zh-CN" altLang="en-US" sz="2000" b="1" u="none" dirty="0" smtClean="0">
                <a:solidFill>
                  <a:srgbClr val="FF0000"/>
                </a:solidFill>
              </a:rPr>
              <a:t>（</a:t>
            </a:r>
            <a:r>
              <a:rPr lang="en-US" altLang="zh-CN" sz="2000" b="1" u="none" dirty="0" smtClean="0">
                <a:solidFill>
                  <a:srgbClr val="FF0000"/>
                </a:solidFill>
              </a:rPr>
              <a:t>1.4</a:t>
            </a:r>
            <a:r>
              <a:rPr lang="zh-CN" altLang="en-US" sz="2000" b="1" u="none" dirty="0" smtClean="0">
                <a:solidFill>
                  <a:srgbClr val="FF0000"/>
                </a:solidFill>
              </a:rPr>
              <a:t>章节</a:t>
            </a:r>
            <a:r>
              <a:rPr lang="en-US" altLang="zh-CN" sz="2000" b="1" u="none" dirty="0" smtClean="0">
                <a:solidFill>
                  <a:srgbClr val="FF0000"/>
                </a:solidFill>
              </a:rPr>
              <a:t>+5.3</a:t>
            </a:r>
            <a:r>
              <a:rPr lang="zh-CN" altLang="en-US" sz="2000" b="1" u="none" dirty="0" smtClean="0">
                <a:solidFill>
                  <a:srgbClr val="FF0000"/>
                </a:solidFill>
              </a:rPr>
              <a:t>章节</a:t>
            </a:r>
            <a:r>
              <a:rPr lang="en-US" altLang="zh-CN" sz="2000" b="1" u="none" dirty="0" smtClean="0">
                <a:solidFill>
                  <a:srgbClr val="FF0000"/>
                </a:solidFill>
              </a:rPr>
              <a:t>+5.4</a:t>
            </a:r>
            <a:r>
              <a:rPr lang="zh-CN" altLang="en-US" sz="2000" b="1" u="none" dirty="0" smtClean="0">
                <a:solidFill>
                  <a:srgbClr val="FF0000"/>
                </a:solidFill>
              </a:rPr>
              <a:t>章节）</a:t>
            </a:r>
            <a:endParaRPr lang="zh-CN" altLang="en-US" sz="2000" b="1" u="none" dirty="0">
              <a:solidFill>
                <a:srgbClr val="FF0000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1938372" y="959899"/>
            <a:ext cx="5137946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4800" b="1" u="none" dirty="0">
                <a:solidFill>
                  <a:srgbClr val="000066"/>
                </a:solidFill>
                <a:latin typeface="黑体" pitchFamily="49" charset="-122"/>
                <a:ea typeface="黑体" pitchFamily="49" charset="-122"/>
              </a:rPr>
              <a:t>5.</a:t>
            </a:r>
            <a:r>
              <a:rPr lang="zh-CN" altLang="en-US" sz="4800" b="1" u="none" dirty="0">
                <a:solidFill>
                  <a:srgbClr val="000066"/>
                </a:solidFill>
                <a:latin typeface="黑体" pitchFamily="49" charset="-122"/>
                <a:ea typeface="黑体" pitchFamily="49" charset="-122"/>
              </a:rPr>
              <a:t>信号的初步处理</a:t>
            </a:r>
            <a:endParaRPr lang="en-US" altLang="zh-CN" sz="4800" b="1" u="none" dirty="0">
              <a:solidFill>
                <a:srgbClr val="000066"/>
              </a:solidFill>
              <a:latin typeface="黑体" pitchFamily="49" charset="-122"/>
              <a:ea typeface="黑体" pitchFamily="49" charset="-122"/>
            </a:endParaRPr>
          </a:p>
        </p:txBody>
      </p:sp>
      <p:pic>
        <p:nvPicPr>
          <p:cNvPr id="650242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9975" y="1974059"/>
            <a:ext cx="2441024" cy="14332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50243" name="Picture 3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69" r="5452"/>
          <a:stretch/>
        </p:blipFill>
        <p:spPr bwMode="auto">
          <a:xfrm>
            <a:off x="6936503" y="4590473"/>
            <a:ext cx="2179783" cy="15880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858" name="Rectangle 2"/>
          <p:cNvSpPr>
            <a:spLocks noChangeArrowheads="1"/>
          </p:cNvSpPr>
          <p:nvPr/>
        </p:nvSpPr>
        <p:spPr bwMode="auto">
          <a:xfrm>
            <a:off x="312738" y="198671"/>
            <a:ext cx="54927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 b="1" u="none" dirty="0" smtClean="0">
                <a:solidFill>
                  <a:srgbClr val="800000"/>
                </a:solidFill>
                <a:latin typeface="黑体" pitchFamily="49" charset="-122"/>
                <a:ea typeface="黑体" pitchFamily="49" charset="-122"/>
              </a:rPr>
              <a:t>5.1 </a:t>
            </a:r>
            <a:r>
              <a:rPr lang="zh-CN" altLang="en-US" sz="3200" b="1" u="none" dirty="0">
                <a:solidFill>
                  <a:srgbClr val="800000"/>
                </a:solidFill>
                <a:latin typeface="黑体" pitchFamily="49" charset="-122"/>
                <a:ea typeface="黑体" pitchFamily="49" charset="-122"/>
              </a:rPr>
              <a:t>随机信号的基本概念</a:t>
            </a:r>
            <a:r>
              <a:rPr lang="zh-CN" altLang="en-US" sz="3200" b="1" u="none" dirty="0">
                <a:solidFill>
                  <a:srgbClr val="000066"/>
                </a:solidFill>
                <a:latin typeface="黑体" pitchFamily="49" charset="-122"/>
                <a:ea typeface="黑体" pitchFamily="49" charset="-122"/>
              </a:rPr>
              <a:t> 　 </a:t>
            </a:r>
          </a:p>
        </p:txBody>
      </p:sp>
      <p:sp>
        <p:nvSpPr>
          <p:cNvPr id="633859" name="Text Box 3"/>
          <p:cNvSpPr txBox="1">
            <a:spLocks noChangeArrowheads="1"/>
          </p:cNvSpPr>
          <p:nvPr/>
        </p:nvSpPr>
        <p:spPr bwMode="auto">
          <a:xfrm>
            <a:off x="473075" y="1005682"/>
            <a:ext cx="581501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 u="none" dirty="0" smtClean="0">
                <a:solidFill>
                  <a:srgbClr val="000066"/>
                </a:solidFill>
              </a:rPr>
              <a:t>1</a:t>
            </a:r>
            <a:r>
              <a:rPr lang="zh-CN" altLang="en-US" b="1" u="none" dirty="0" smtClean="0">
                <a:solidFill>
                  <a:srgbClr val="000066"/>
                </a:solidFill>
              </a:rPr>
              <a:t>）</a:t>
            </a:r>
            <a:r>
              <a:rPr lang="en-US" altLang="zh-CN" b="1" u="none" dirty="0" smtClean="0">
                <a:solidFill>
                  <a:srgbClr val="000066"/>
                </a:solidFill>
              </a:rPr>
              <a:t>.</a:t>
            </a:r>
            <a:r>
              <a:rPr lang="zh-CN" altLang="en-US" b="1" u="none" dirty="0">
                <a:solidFill>
                  <a:srgbClr val="000066"/>
                </a:solidFill>
              </a:rPr>
              <a:t>样本函数、样本记录、随机过程</a:t>
            </a:r>
          </a:p>
        </p:txBody>
      </p:sp>
      <p:sp>
        <p:nvSpPr>
          <p:cNvPr id="633869" name="Rectangle 13"/>
          <p:cNvSpPr>
            <a:spLocks noChangeArrowheads="1"/>
          </p:cNvSpPr>
          <p:nvPr/>
        </p:nvSpPr>
        <p:spPr bwMode="auto">
          <a:xfrm>
            <a:off x="5361512" y="5439833"/>
            <a:ext cx="30178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 u="none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随机过程与样本函数 </a:t>
            </a:r>
          </a:p>
        </p:txBody>
      </p:sp>
      <p:sp>
        <p:nvSpPr>
          <p:cNvPr id="633870" name="Rectangle 14"/>
          <p:cNvSpPr>
            <a:spLocks noChangeArrowheads="1"/>
          </p:cNvSpPr>
          <p:nvPr/>
        </p:nvSpPr>
        <p:spPr bwMode="auto">
          <a:xfrm>
            <a:off x="482600" y="1806575"/>
            <a:ext cx="429260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buClr>
                <a:srgbClr val="FF3300"/>
              </a:buClr>
              <a:buFont typeface="Wingdings" pitchFamily="2" charset="2"/>
              <a:buChar char="Ø"/>
            </a:pPr>
            <a:r>
              <a:rPr lang="zh-CN" altLang="en-US" sz="2400" b="1" u="none" dirty="0">
                <a:solidFill>
                  <a:schemeClr val="tx1"/>
                </a:solidFill>
              </a:rPr>
              <a:t>对随机信号按时间历程所作的</a:t>
            </a:r>
            <a:r>
              <a:rPr lang="zh-CN" altLang="en-US" sz="2400" b="1" u="none" dirty="0">
                <a:solidFill>
                  <a:srgbClr val="0070C0"/>
                </a:solidFill>
              </a:rPr>
              <a:t>各次长时间</a:t>
            </a:r>
            <a:r>
              <a:rPr lang="zh-CN" altLang="en-US" sz="2400" b="1" u="none" dirty="0">
                <a:solidFill>
                  <a:schemeClr val="tx1"/>
                </a:solidFill>
              </a:rPr>
              <a:t>的观测记录称作</a:t>
            </a:r>
            <a:r>
              <a:rPr lang="zh-CN" altLang="en-US" sz="2400" b="1" u="none" dirty="0">
                <a:solidFill>
                  <a:srgbClr val="FF3300"/>
                </a:solidFill>
              </a:rPr>
              <a:t>样本函数</a:t>
            </a:r>
            <a:r>
              <a:rPr lang="zh-CN" altLang="en-US" sz="2400" b="1" u="none" dirty="0">
                <a:solidFill>
                  <a:schemeClr val="tx1"/>
                </a:solidFill>
              </a:rPr>
              <a:t>，记为</a:t>
            </a:r>
            <a:r>
              <a:rPr lang="en-US" altLang="zh-CN" sz="2400" b="1" i="1" u="none" dirty="0">
                <a:solidFill>
                  <a:schemeClr val="tx1"/>
                </a:solidFill>
              </a:rPr>
              <a:t>x</a:t>
            </a:r>
            <a:r>
              <a:rPr lang="en-US" altLang="zh-CN" sz="2400" b="1" u="none" baseline="-25000" dirty="0">
                <a:solidFill>
                  <a:schemeClr val="tx1"/>
                </a:solidFill>
              </a:rPr>
              <a:t>i</a:t>
            </a:r>
            <a:r>
              <a:rPr lang="en-US" altLang="zh-CN" sz="2400" b="1" u="none" dirty="0">
                <a:solidFill>
                  <a:schemeClr val="tx1"/>
                </a:solidFill>
              </a:rPr>
              <a:t>(</a:t>
            </a:r>
            <a:r>
              <a:rPr lang="en-US" altLang="zh-CN" sz="2400" b="1" i="1" u="none" dirty="0">
                <a:solidFill>
                  <a:schemeClr val="tx1"/>
                </a:solidFill>
              </a:rPr>
              <a:t>t</a:t>
            </a:r>
            <a:r>
              <a:rPr lang="en-US" altLang="zh-CN" sz="2400" b="1" u="none" dirty="0">
                <a:solidFill>
                  <a:schemeClr val="tx1"/>
                </a:solidFill>
              </a:rPr>
              <a:t>) </a:t>
            </a:r>
          </a:p>
        </p:txBody>
      </p:sp>
      <p:sp>
        <p:nvSpPr>
          <p:cNvPr id="633871" name="Rectangle 15"/>
          <p:cNvSpPr>
            <a:spLocks noChangeArrowheads="1"/>
          </p:cNvSpPr>
          <p:nvPr/>
        </p:nvSpPr>
        <p:spPr bwMode="auto">
          <a:xfrm>
            <a:off x="473075" y="4133850"/>
            <a:ext cx="3930650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buClr>
                <a:srgbClr val="FF3300"/>
              </a:buClr>
              <a:buFont typeface="Wingdings" pitchFamily="2" charset="2"/>
              <a:buChar char="Ø"/>
            </a:pPr>
            <a:r>
              <a:rPr lang="zh-CN" altLang="en-US" sz="2400" b="1" u="none">
                <a:solidFill>
                  <a:schemeClr val="tx1"/>
                </a:solidFill>
              </a:rPr>
              <a:t>在同等试验条件下，全部样本函数的集合</a:t>
            </a:r>
            <a:r>
              <a:rPr lang="en-US" altLang="zh-CN" sz="2400" b="1" u="none">
                <a:solidFill>
                  <a:schemeClr val="tx1"/>
                </a:solidFill>
              </a:rPr>
              <a:t>(</a:t>
            </a:r>
            <a:r>
              <a:rPr lang="zh-CN" altLang="en-US" sz="2400" b="1" u="none">
                <a:solidFill>
                  <a:schemeClr val="tx1"/>
                </a:solidFill>
              </a:rPr>
              <a:t>总体</a:t>
            </a:r>
            <a:r>
              <a:rPr lang="en-US" altLang="zh-CN" sz="2400" b="1" u="none">
                <a:solidFill>
                  <a:schemeClr val="tx1"/>
                </a:solidFill>
              </a:rPr>
              <a:t>)</a:t>
            </a:r>
            <a:r>
              <a:rPr lang="zh-CN" altLang="en-US" sz="2400" b="1" u="none">
                <a:solidFill>
                  <a:schemeClr val="tx1"/>
                </a:solidFill>
              </a:rPr>
              <a:t>就是</a:t>
            </a:r>
            <a:r>
              <a:rPr lang="zh-CN" altLang="en-US" sz="2400" b="1" u="none">
                <a:solidFill>
                  <a:srgbClr val="FF3300"/>
                </a:solidFill>
              </a:rPr>
              <a:t>随机过程</a:t>
            </a:r>
            <a:r>
              <a:rPr lang="zh-CN" altLang="en-US" sz="2400" b="1" u="none">
                <a:solidFill>
                  <a:schemeClr val="tx1"/>
                </a:solidFill>
              </a:rPr>
              <a:t>，记作 </a:t>
            </a:r>
            <a:r>
              <a:rPr lang="en-US" altLang="zh-CN" sz="2400" b="1" u="none">
                <a:solidFill>
                  <a:schemeClr val="tx1"/>
                </a:solidFill>
              </a:rPr>
              <a:t>{</a:t>
            </a:r>
            <a:r>
              <a:rPr lang="en-US" altLang="zh-CN" sz="2400" b="1" i="1" u="none">
                <a:solidFill>
                  <a:schemeClr val="tx1"/>
                </a:solidFill>
              </a:rPr>
              <a:t>x</a:t>
            </a:r>
            <a:r>
              <a:rPr lang="en-US" altLang="zh-CN" sz="2400" b="1" u="none">
                <a:solidFill>
                  <a:schemeClr val="tx1"/>
                </a:solidFill>
              </a:rPr>
              <a:t>(t)}</a:t>
            </a:r>
          </a:p>
        </p:txBody>
      </p:sp>
      <p:graphicFrame>
        <p:nvGraphicFramePr>
          <p:cNvPr id="633872" name="Object 16"/>
          <p:cNvGraphicFramePr>
            <a:graphicFrameLocks noChangeAspect="1"/>
          </p:cNvGraphicFramePr>
          <p:nvPr/>
        </p:nvGraphicFramePr>
        <p:xfrm>
          <a:off x="544513" y="5537200"/>
          <a:ext cx="3887787" cy="446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3927" name="Equation" r:id="rId3" imgW="1739900" imgH="203200" progId="Equation.DSMT4">
                  <p:embed/>
                </p:oleObj>
              </mc:Choice>
              <mc:Fallback>
                <p:oleObj name="Equation" r:id="rId3" imgW="1739900" imgH="203200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4513" y="5537200"/>
                        <a:ext cx="3887787" cy="4460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3874" name="Rectangle 18"/>
          <p:cNvSpPr>
            <a:spLocks noChangeArrowheads="1"/>
          </p:cNvSpPr>
          <p:nvPr/>
        </p:nvSpPr>
        <p:spPr bwMode="auto">
          <a:xfrm>
            <a:off x="512763" y="3138488"/>
            <a:ext cx="3825875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buClr>
                <a:srgbClr val="FF3300"/>
              </a:buClr>
              <a:buFont typeface="Wingdings" pitchFamily="2" charset="2"/>
              <a:buChar char="Ø"/>
            </a:pPr>
            <a:r>
              <a:rPr lang="zh-CN" altLang="en-US" sz="2400" b="1" u="none">
                <a:solidFill>
                  <a:schemeClr val="tx1"/>
                </a:solidFill>
              </a:rPr>
              <a:t>在有限区间内的样本函数称作</a:t>
            </a:r>
            <a:r>
              <a:rPr lang="zh-CN" altLang="en-US" sz="2400" b="1" u="none">
                <a:solidFill>
                  <a:srgbClr val="FF3300"/>
                </a:solidFill>
              </a:rPr>
              <a:t>样本记录</a:t>
            </a:r>
            <a:r>
              <a:rPr lang="zh-CN" altLang="en-US" sz="2400" b="1" u="none">
                <a:solidFill>
                  <a:schemeClr val="tx1"/>
                </a:solidFill>
              </a:rPr>
              <a:t> </a:t>
            </a:r>
          </a:p>
        </p:txBody>
      </p:sp>
      <p:pic>
        <p:nvPicPr>
          <p:cNvPr id="633896" name="Picture 40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47"/>
          <a:stretch/>
        </p:blipFill>
        <p:spPr bwMode="auto">
          <a:xfrm>
            <a:off x="4721451" y="1806575"/>
            <a:ext cx="4297960" cy="3514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954" name="Text Box 2"/>
          <p:cNvSpPr txBox="1">
            <a:spLocks noChangeArrowheads="1"/>
          </p:cNvSpPr>
          <p:nvPr/>
        </p:nvSpPr>
        <p:spPr bwMode="auto">
          <a:xfrm>
            <a:off x="327025" y="868867"/>
            <a:ext cx="41116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 u="none" dirty="0" smtClean="0">
                <a:solidFill>
                  <a:srgbClr val="000066"/>
                </a:solidFill>
              </a:rPr>
              <a:t>2</a:t>
            </a:r>
            <a:r>
              <a:rPr lang="zh-CN" altLang="en-US" b="1" u="none" dirty="0" smtClean="0">
                <a:solidFill>
                  <a:srgbClr val="000066"/>
                </a:solidFill>
              </a:rPr>
              <a:t>）</a:t>
            </a:r>
            <a:r>
              <a:rPr lang="en-US" altLang="zh-CN" b="1" u="none" dirty="0" smtClean="0">
                <a:solidFill>
                  <a:srgbClr val="000066"/>
                </a:solidFill>
              </a:rPr>
              <a:t>. </a:t>
            </a:r>
            <a:r>
              <a:rPr lang="zh-CN" altLang="en-US" b="1" u="none" dirty="0">
                <a:solidFill>
                  <a:srgbClr val="000066"/>
                </a:solidFill>
              </a:rPr>
              <a:t>集合平均和时间平均</a:t>
            </a:r>
          </a:p>
        </p:txBody>
      </p:sp>
      <p:sp>
        <p:nvSpPr>
          <p:cNvPr id="637956" name="Rectangle 4"/>
          <p:cNvSpPr>
            <a:spLocks noChangeArrowheads="1"/>
          </p:cNvSpPr>
          <p:nvPr/>
        </p:nvSpPr>
        <p:spPr bwMode="auto">
          <a:xfrm>
            <a:off x="5378450" y="4533900"/>
            <a:ext cx="30178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 u="none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随机过程与样本函数 </a:t>
            </a:r>
          </a:p>
        </p:txBody>
      </p:sp>
      <p:sp>
        <p:nvSpPr>
          <p:cNvPr id="637957" name="Rectangle 5"/>
          <p:cNvSpPr>
            <a:spLocks noChangeArrowheads="1"/>
          </p:cNvSpPr>
          <p:nvPr/>
        </p:nvSpPr>
        <p:spPr bwMode="auto">
          <a:xfrm>
            <a:off x="388938" y="1309688"/>
            <a:ext cx="4292600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buClr>
                <a:srgbClr val="FF3300"/>
              </a:buClr>
              <a:buFont typeface="Wingdings" pitchFamily="2" charset="2"/>
              <a:buChar char="Ø"/>
            </a:pPr>
            <a:r>
              <a:rPr lang="zh-CN" altLang="zh-CN" sz="2400" b="1" u="none" dirty="0">
                <a:solidFill>
                  <a:schemeClr val="tx1"/>
                </a:solidFill>
              </a:rPr>
              <a:t>随机过程的某个统计</a:t>
            </a:r>
            <a:r>
              <a:rPr lang="zh-CN" altLang="zh-CN" sz="2400" b="1" u="none" dirty="0" smtClean="0">
                <a:solidFill>
                  <a:schemeClr val="tx1"/>
                </a:solidFill>
              </a:rPr>
              <a:t>参数</a:t>
            </a:r>
            <a:r>
              <a:rPr lang="zh-CN" altLang="en-US" sz="2400" b="1" u="none" dirty="0" smtClean="0">
                <a:solidFill>
                  <a:schemeClr val="tx1"/>
                </a:solidFill>
              </a:rPr>
              <a:t>（</a:t>
            </a:r>
            <a:r>
              <a:rPr lang="zh-CN" altLang="zh-CN" sz="2400" b="1" u="none" dirty="0" smtClean="0">
                <a:solidFill>
                  <a:schemeClr val="tx1"/>
                </a:solidFill>
              </a:rPr>
              <a:t>如</a:t>
            </a:r>
            <a:r>
              <a:rPr lang="zh-CN" altLang="zh-CN" sz="2400" b="1" u="none" dirty="0">
                <a:solidFill>
                  <a:schemeClr val="tx1"/>
                </a:solidFill>
              </a:rPr>
              <a:t>均值、方差、均方值和均方根值</a:t>
            </a:r>
            <a:r>
              <a:rPr lang="zh-CN" altLang="zh-CN" sz="2400" b="1" u="none" dirty="0" smtClean="0">
                <a:solidFill>
                  <a:schemeClr val="tx1"/>
                </a:solidFill>
              </a:rPr>
              <a:t>等</a:t>
            </a:r>
            <a:r>
              <a:rPr lang="zh-CN" altLang="en-US" sz="2400" b="1" u="none" dirty="0" smtClean="0">
                <a:solidFill>
                  <a:schemeClr val="tx1"/>
                </a:solidFill>
              </a:rPr>
              <a:t>）</a:t>
            </a:r>
            <a:r>
              <a:rPr lang="zh-CN" altLang="zh-CN" sz="2400" b="1" u="none" dirty="0" smtClean="0">
                <a:solidFill>
                  <a:schemeClr val="tx1"/>
                </a:solidFill>
              </a:rPr>
              <a:t>，</a:t>
            </a:r>
            <a:r>
              <a:rPr lang="zh-CN" altLang="zh-CN" sz="2400" b="1" u="none" dirty="0">
                <a:solidFill>
                  <a:schemeClr val="tx1"/>
                </a:solidFill>
              </a:rPr>
              <a:t>是按随机过程</a:t>
            </a:r>
            <a:r>
              <a:rPr lang="en-US" altLang="zh-CN" sz="2400" b="1" u="none" dirty="0">
                <a:solidFill>
                  <a:schemeClr val="tx1"/>
                </a:solidFill>
              </a:rPr>
              <a:t>{</a:t>
            </a:r>
            <a:r>
              <a:rPr lang="en-US" altLang="zh-CN" sz="2400" b="1" i="1" u="none" dirty="0">
                <a:solidFill>
                  <a:schemeClr val="tx1"/>
                </a:solidFill>
              </a:rPr>
              <a:t>x</a:t>
            </a:r>
            <a:r>
              <a:rPr lang="en-US" altLang="zh-CN" sz="2400" b="1" u="none" dirty="0">
                <a:solidFill>
                  <a:schemeClr val="tx1"/>
                </a:solidFill>
              </a:rPr>
              <a:t>(</a:t>
            </a:r>
            <a:r>
              <a:rPr lang="en-US" altLang="zh-CN" sz="2400" b="1" i="1" u="none" dirty="0">
                <a:solidFill>
                  <a:schemeClr val="tx1"/>
                </a:solidFill>
              </a:rPr>
              <a:t>t</a:t>
            </a:r>
            <a:r>
              <a:rPr lang="en-US" altLang="zh-CN" sz="2400" b="1" u="none" dirty="0">
                <a:solidFill>
                  <a:schemeClr val="tx1"/>
                </a:solidFill>
              </a:rPr>
              <a:t>)}</a:t>
            </a:r>
            <a:r>
              <a:rPr lang="zh-CN" altLang="en-US" sz="2400" b="1" u="none" dirty="0">
                <a:solidFill>
                  <a:schemeClr val="tx1"/>
                </a:solidFill>
              </a:rPr>
              <a:t>中</a:t>
            </a:r>
            <a:r>
              <a:rPr lang="zh-CN" altLang="en-US" sz="2400" b="1" u="none" dirty="0">
                <a:solidFill>
                  <a:srgbClr val="FF3300"/>
                </a:solidFill>
              </a:rPr>
              <a:t>所有样本函数</a:t>
            </a:r>
            <a:r>
              <a:rPr lang="en-US" altLang="zh-CN" sz="2400" b="1" i="1" u="none" dirty="0">
                <a:solidFill>
                  <a:srgbClr val="FF3300"/>
                </a:solidFill>
              </a:rPr>
              <a:t>x</a:t>
            </a:r>
            <a:r>
              <a:rPr lang="en-US" altLang="zh-CN" sz="2400" b="1" u="none" baseline="-25000" dirty="0">
                <a:solidFill>
                  <a:srgbClr val="FF3300"/>
                </a:solidFill>
              </a:rPr>
              <a:t>i</a:t>
            </a:r>
            <a:r>
              <a:rPr lang="en-US" altLang="zh-CN" sz="2400" b="1" u="none" dirty="0">
                <a:solidFill>
                  <a:srgbClr val="FF3300"/>
                </a:solidFill>
              </a:rPr>
              <a:t>(</a:t>
            </a:r>
            <a:r>
              <a:rPr lang="en-US" altLang="zh-CN" sz="2400" b="1" i="1" u="none" dirty="0">
                <a:solidFill>
                  <a:srgbClr val="FF3300"/>
                </a:solidFill>
              </a:rPr>
              <a:t>t</a:t>
            </a:r>
            <a:r>
              <a:rPr lang="en-US" altLang="zh-CN" sz="2400" b="1" u="none" dirty="0">
                <a:solidFill>
                  <a:srgbClr val="FF3300"/>
                </a:solidFill>
              </a:rPr>
              <a:t>)</a:t>
            </a:r>
            <a:r>
              <a:rPr lang="zh-CN" altLang="en-US" sz="2400" b="1" u="none" dirty="0">
                <a:solidFill>
                  <a:srgbClr val="FF3300"/>
                </a:solidFill>
              </a:rPr>
              <a:t>在</a:t>
            </a:r>
            <a:r>
              <a:rPr lang="en-US" altLang="zh-CN" sz="2400" b="1" i="1" u="none" dirty="0" err="1">
                <a:solidFill>
                  <a:srgbClr val="FF3300"/>
                </a:solidFill>
              </a:rPr>
              <a:t>t</a:t>
            </a:r>
            <a:r>
              <a:rPr lang="en-US" altLang="zh-CN" sz="2400" b="1" u="none" baseline="-25000" dirty="0" err="1">
                <a:solidFill>
                  <a:srgbClr val="FF3300"/>
                </a:solidFill>
              </a:rPr>
              <a:t>i</a:t>
            </a:r>
            <a:r>
              <a:rPr lang="zh-CN" altLang="en-US" sz="2400" b="1" u="none" dirty="0">
                <a:solidFill>
                  <a:srgbClr val="FF3300"/>
                </a:solidFill>
              </a:rPr>
              <a:t>时刻</a:t>
            </a:r>
            <a:r>
              <a:rPr lang="zh-CN" altLang="en-US" sz="2400" b="1" u="none" dirty="0">
                <a:solidFill>
                  <a:schemeClr val="tx1"/>
                </a:solidFill>
              </a:rPr>
              <a:t>的观测值进行运算再取其平均的方法，称为</a:t>
            </a:r>
            <a:r>
              <a:rPr lang="zh-CN" altLang="en-US" sz="2400" b="1" u="none" dirty="0">
                <a:solidFill>
                  <a:srgbClr val="FF0000"/>
                </a:solidFill>
              </a:rPr>
              <a:t>集合平均</a:t>
            </a:r>
            <a:r>
              <a:rPr lang="zh-CN" altLang="en-US" sz="2400" b="1" u="none" dirty="0">
                <a:solidFill>
                  <a:schemeClr val="tx1"/>
                </a:solidFill>
              </a:rPr>
              <a:t>。</a:t>
            </a:r>
          </a:p>
        </p:txBody>
      </p:sp>
      <p:sp>
        <p:nvSpPr>
          <p:cNvPr id="637958" name="Rectangle 6"/>
          <p:cNvSpPr>
            <a:spLocks noChangeArrowheads="1"/>
          </p:cNvSpPr>
          <p:nvPr/>
        </p:nvSpPr>
        <p:spPr bwMode="auto">
          <a:xfrm>
            <a:off x="0" y="33289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637959" name="Rectangle 7"/>
          <p:cNvSpPr>
            <a:spLocks noChangeArrowheads="1"/>
          </p:cNvSpPr>
          <p:nvPr/>
        </p:nvSpPr>
        <p:spPr bwMode="auto">
          <a:xfrm>
            <a:off x="0" y="32337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637960" name="Object 8"/>
          <p:cNvGraphicFramePr>
            <a:graphicFrameLocks noChangeAspect="1"/>
          </p:cNvGraphicFramePr>
          <p:nvPr/>
        </p:nvGraphicFramePr>
        <p:xfrm>
          <a:off x="1165225" y="4095750"/>
          <a:ext cx="3006725" cy="906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8069" name="Equation" r:id="rId3" imgW="1295400" imgH="393700" progId="Equation.DSMT4">
                  <p:embed/>
                </p:oleObj>
              </mc:Choice>
              <mc:Fallback>
                <p:oleObj name="Equation" r:id="rId3" imgW="1295400" imgH="3937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65225" y="4095750"/>
                        <a:ext cx="3006725" cy="9064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7961" name="Rectangle 9"/>
          <p:cNvSpPr>
            <a:spLocks noChangeArrowheads="1"/>
          </p:cNvSpPr>
          <p:nvPr/>
        </p:nvSpPr>
        <p:spPr bwMode="auto">
          <a:xfrm>
            <a:off x="333375" y="3621088"/>
            <a:ext cx="41052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buClr>
                <a:srgbClr val="FF3300"/>
              </a:buClr>
              <a:buFont typeface="Wingdings" pitchFamily="2" charset="2"/>
              <a:buChar char="Ø"/>
            </a:pPr>
            <a:r>
              <a:rPr lang="zh-CN" altLang="en-US" sz="2400" b="1" u="none" dirty="0">
                <a:solidFill>
                  <a:schemeClr val="tx1"/>
                </a:solidFill>
              </a:rPr>
              <a:t>随机过程中</a:t>
            </a:r>
            <a:r>
              <a:rPr lang="en-US" altLang="zh-CN" sz="2400" b="1" i="1" u="none" dirty="0">
                <a:solidFill>
                  <a:schemeClr val="tx1"/>
                </a:solidFill>
              </a:rPr>
              <a:t>t</a:t>
            </a:r>
            <a:r>
              <a:rPr lang="en-US" altLang="zh-CN" sz="2400" b="1" u="none" baseline="-25000" dirty="0">
                <a:solidFill>
                  <a:schemeClr val="tx1"/>
                </a:solidFill>
              </a:rPr>
              <a:t>1</a:t>
            </a:r>
            <a:r>
              <a:rPr lang="zh-CN" altLang="en-US" sz="2400" b="1" u="none" dirty="0">
                <a:solidFill>
                  <a:schemeClr val="tx1"/>
                </a:solidFill>
              </a:rPr>
              <a:t>时刻的</a:t>
            </a:r>
            <a:r>
              <a:rPr lang="zh-CN" altLang="en-US" sz="2400" b="1" u="none" dirty="0" smtClean="0">
                <a:solidFill>
                  <a:schemeClr val="tx1"/>
                </a:solidFill>
              </a:rPr>
              <a:t>均值： </a:t>
            </a:r>
            <a:endParaRPr lang="zh-CN" altLang="en-US" sz="2400" b="1" u="none" dirty="0">
              <a:solidFill>
                <a:schemeClr val="tx1"/>
              </a:solidFill>
            </a:endParaRPr>
          </a:p>
        </p:txBody>
      </p:sp>
      <p:sp>
        <p:nvSpPr>
          <p:cNvPr id="637962" name="Rectangle 10"/>
          <p:cNvSpPr>
            <a:spLocks noChangeArrowheads="1"/>
          </p:cNvSpPr>
          <p:nvPr/>
        </p:nvSpPr>
        <p:spPr bwMode="auto">
          <a:xfrm>
            <a:off x="327025" y="5026025"/>
            <a:ext cx="30384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buClr>
                <a:srgbClr val="FF3300"/>
              </a:buClr>
              <a:buFont typeface="Wingdings" pitchFamily="2" charset="2"/>
              <a:buChar char="Ø"/>
            </a:pPr>
            <a:r>
              <a:rPr lang="zh-CN" altLang="en-US" sz="2400" b="1" u="none" dirty="0">
                <a:solidFill>
                  <a:schemeClr val="tx1"/>
                </a:solidFill>
              </a:rPr>
              <a:t>在</a:t>
            </a:r>
            <a:r>
              <a:rPr lang="en-US" altLang="zh-CN" sz="2400" b="1" i="1" u="none" dirty="0">
                <a:solidFill>
                  <a:schemeClr val="tx1"/>
                </a:solidFill>
              </a:rPr>
              <a:t>t</a:t>
            </a:r>
            <a:r>
              <a:rPr lang="en-US" altLang="zh-CN" sz="2400" b="1" u="none" baseline="-25000" dirty="0">
                <a:solidFill>
                  <a:schemeClr val="tx1"/>
                </a:solidFill>
              </a:rPr>
              <a:t>1</a:t>
            </a:r>
            <a:r>
              <a:rPr lang="zh-CN" altLang="en-US" sz="2400" b="1" u="none" dirty="0">
                <a:solidFill>
                  <a:schemeClr val="tx1"/>
                </a:solidFill>
              </a:rPr>
              <a:t>时刻的均方</a:t>
            </a:r>
            <a:r>
              <a:rPr lang="zh-CN" altLang="en-US" sz="2400" b="1" u="none" dirty="0" smtClean="0">
                <a:solidFill>
                  <a:schemeClr val="tx1"/>
                </a:solidFill>
              </a:rPr>
              <a:t>值： </a:t>
            </a:r>
            <a:endParaRPr lang="zh-CN" altLang="en-US" sz="2400" b="1" u="none" dirty="0">
              <a:solidFill>
                <a:schemeClr val="tx1"/>
              </a:solidFill>
            </a:endParaRPr>
          </a:p>
        </p:txBody>
      </p:sp>
      <p:sp>
        <p:nvSpPr>
          <p:cNvPr id="637964" name="Rectangle 12"/>
          <p:cNvSpPr>
            <a:spLocks noChangeArrowheads="1"/>
          </p:cNvSpPr>
          <p:nvPr/>
        </p:nvSpPr>
        <p:spPr bwMode="auto">
          <a:xfrm>
            <a:off x="0" y="32337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637963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29558164"/>
              </p:ext>
            </p:extLst>
          </p:nvPr>
        </p:nvGraphicFramePr>
        <p:xfrm>
          <a:off x="1256242" y="5483225"/>
          <a:ext cx="3315758" cy="9783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8070" name="Equation" r:id="rId5" imgW="1320227" imgH="393529" progId="Equation.DSMT4">
                  <p:embed/>
                </p:oleObj>
              </mc:Choice>
              <mc:Fallback>
                <p:oleObj name="Equation" r:id="rId5" imgW="1320227" imgH="393529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6242" y="5483225"/>
                        <a:ext cx="3315758" cy="978376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2"/>
          <p:cNvSpPr>
            <a:spLocks noChangeArrowheads="1"/>
          </p:cNvSpPr>
          <p:nvPr/>
        </p:nvSpPr>
        <p:spPr bwMode="auto">
          <a:xfrm>
            <a:off x="312738" y="198671"/>
            <a:ext cx="54927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 b="1" u="none" dirty="0" smtClean="0">
                <a:solidFill>
                  <a:srgbClr val="800000"/>
                </a:solidFill>
                <a:latin typeface="黑体" pitchFamily="49" charset="-122"/>
                <a:ea typeface="黑体" pitchFamily="49" charset="-122"/>
              </a:rPr>
              <a:t>5.1 </a:t>
            </a:r>
            <a:r>
              <a:rPr lang="zh-CN" altLang="en-US" sz="3200" b="1" u="none" dirty="0">
                <a:solidFill>
                  <a:srgbClr val="800000"/>
                </a:solidFill>
                <a:latin typeface="黑体" pitchFamily="49" charset="-122"/>
                <a:ea typeface="黑体" pitchFamily="49" charset="-122"/>
              </a:rPr>
              <a:t>随机信号的基本概念</a:t>
            </a:r>
            <a:r>
              <a:rPr lang="zh-CN" altLang="en-US" sz="3200" b="1" u="none" dirty="0">
                <a:solidFill>
                  <a:srgbClr val="000066"/>
                </a:solidFill>
                <a:latin typeface="黑体" pitchFamily="49" charset="-122"/>
                <a:ea typeface="黑体" pitchFamily="49" charset="-122"/>
              </a:rPr>
              <a:t> 　 </a:t>
            </a:r>
          </a:p>
        </p:txBody>
      </p:sp>
      <p:pic>
        <p:nvPicPr>
          <p:cNvPr id="14" name="Picture 40"/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47"/>
          <a:stretch/>
        </p:blipFill>
        <p:spPr bwMode="auto">
          <a:xfrm>
            <a:off x="4681538" y="1019174"/>
            <a:ext cx="4297960" cy="3514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933" name="Rectangle 5"/>
          <p:cNvSpPr>
            <a:spLocks noChangeArrowheads="1"/>
          </p:cNvSpPr>
          <p:nvPr/>
        </p:nvSpPr>
        <p:spPr bwMode="auto">
          <a:xfrm>
            <a:off x="5378450" y="4830763"/>
            <a:ext cx="30178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 u="none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随机过程与样本函数 </a:t>
            </a:r>
          </a:p>
        </p:txBody>
      </p:sp>
      <p:sp>
        <p:nvSpPr>
          <p:cNvPr id="636934" name="Rectangle 6"/>
          <p:cNvSpPr>
            <a:spLocks noChangeArrowheads="1"/>
          </p:cNvSpPr>
          <p:nvPr/>
        </p:nvSpPr>
        <p:spPr bwMode="auto">
          <a:xfrm>
            <a:off x="284163" y="895812"/>
            <a:ext cx="4292600" cy="2282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buClr>
                <a:srgbClr val="FF3300"/>
              </a:buClr>
              <a:buFont typeface="Wingdings" pitchFamily="2" charset="2"/>
              <a:buChar char="Ø"/>
            </a:pPr>
            <a:r>
              <a:rPr lang="zh-CN" altLang="en-US" sz="2400" b="1" u="none" dirty="0">
                <a:solidFill>
                  <a:schemeClr val="tx1"/>
                </a:solidFill>
              </a:rPr>
              <a:t>计算随机过程的某个统计参数时，仅利用随机过程</a:t>
            </a:r>
            <a:r>
              <a:rPr lang="en-US" altLang="zh-CN" sz="2400" b="1" u="none" dirty="0">
                <a:solidFill>
                  <a:schemeClr val="tx1"/>
                </a:solidFill>
              </a:rPr>
              <a:t>{</a:t>
            </a:r>
            <a:r>
              <a:rPr lang="en-US" altLang="zh-CN" sz="2400" b="1" i="1" u="none" dirty="0">
                <a:solidFill>
                  <a:schemeClr val="tx1"/>
                </a:solidFill>
              </a:rPr>
              <a:t>x</a:t>
            </a:r>
            <a:r>
              <a:rPr lang="en-US" altLang="zh-CN" sz="2400" b="1" u="none" dirty="0">
                <a:solidFill>
                  <a:schemeClr val="tx1"/>
                </a:solidFill>
              </a:rPr>
              <a:t>(</a:t>
            </a:r>
            <a:r>
              <a:rPr lang="en-US" altLang="zh-CN" sz="2400" b="1" i="1" u="none" dirty="0">
                <a:solidFill>
                  <a:schemeClr val="tx1"/>
                </a:solidFill>
              </a:rPr>
              <a:t>t</a:t>
            </a:r>
            <a:r>
              <a:rPr lang="en-US" altLang="zh-CN" sz="2400" b="1" u="none" dirty="0">
                <a:solidFill>
                  <a:schemeClr val="tx1"/>
                </a:solidFill>
              </a:rPr>
              <a:t>)}</a:t>
            </a:r>
            <a:r>
              <a:rPr lang="zh-CN" altLang="en-US" sz="2400" b="1" u="none" dirty="0">
                <a:solidFill>
                  <a:schemeClr val="tx1"/>
                </a:solidFill>
              </a:rPr>
              <a:t>中</a:t>
            </a:r>
            <a:r>
              <a:rPr lang="zh-CN" altLang="en-US" sz="2400" b="1" u="none" dirty="0">
                <a:solidFill>
                  <a:srgbClr val="FF3300"/>
                </a:solidFill>
              </a:rPr>
              <a:t>第</a:t>
            </a:r>
            <a:r>
              <a:rPr lang="en-US" altLang="zh-CN" sz="2400" b="1" i="1" u="none" dirty="0" err="1">
                <a:solidFill>
                  <a:srgbClr val="FF3300"/>
                </a:solidFill>
              </a:rPr>
              <a:t>i</a:t>
            </a:r>
            <a:r>
              <a:rPr lang="zh-CN" altLang="en-US" sz="2400" b="1" u="none" dirty="0">
                <a:solidFill>
                  <a:srgbClr val="FF3300"/>
                </a:solidFill>
              </a:rPr>
              <a:t>个样本函数</a:t>
            </a:r>
            <a:r>
              <a:rPr lang="en-US" altLang="zh-CN" sz="2400" b="1" i="1" u="none" dirty="0">
                <a:solidFill>
                  <a:srgbClr val="FF3300"/>
                </a:solidFill>
              </a:rPr>
              <a:t>x</a:t>
            </a:r>
            <a:r>
              <a:rPr lang="en-US" altLang="zh-CN" sz="2400" b="1" u="none" baseline="-25000" dirty="0">
                <a:solidFill>
                  <a:srgbClr val="FF3300"/>
                </a:solidFill>
              </a:rPr>
              <a:t>i</a:t>
            </a:r>
            <a:r>
              <a:rPr lang="en-US" altLang="zh-CN" sz="2400" b="1" u="none" dirty="0">
                <a:solidFill>
                  <a:srgbClr val="FF3300"/>
                </a:solidFill>
              </a:rPr>
              <a:t>(t)</a:t>
            </a:r>
            <a:r>
              <a:rPr lang="zh-CN" altLang="en-US" sz="2400" b="1" u="none" dirty="0">
                <a:solidFill>
                  <a:schemeClr val="tx1"/>
                </a:solidFill>
              </a:rPr>
              <a:t>，当观测时间</a:t>
            </a:r>
            <a:r>
              <a:rPr lang="en-US" altLang="zh-CN" sz="2400" b="1" u="none" dirty="0">
                <a:solidFill>
                  <a:schemeClr val="tx1"/>
                </a:solidFill>
              </a:rPr>
              <a:t>T→∞</a:t>
            </a:r>
            <a:r>
              <a:rPr lang="zh-CN" altLang="en-US" sz="2400" b="1" u="none" dirty="0">
                <a:solidFill>
                  <a:schemeClr val="tx1"/>
                </a:solidFill>
              </a:rPr>
              <a:t>时，对</a:t>
            </a:r>
            <a:r>
              <a:rPr lang="zh-CN" altLang="en-US" sz="2400" b="1" u="none" dirty="0">
                <a:solidFill>
                  <a:srgbClr val="FF3300"/>
                </a:solidFill>
              </a:rPr>
              <a:t>所有观测值</a:t>
            </a:r>
            <a:r>
              <a:rPr lang="zh-CN" altLang="en-US" sz="2400" b="1" u="none" dirty="0">
                <a:solidFill>
                  <a:schemeClr val="tx1"/>
                </a:solidFill>
              </a:rPr>
              <a:t>进行运算再取其平均的方法称为</a:t>
            </a:r>
            <a:r>
              <a:rPr lang="zh-CN" altLang="en-US" sz="2400" b="1" u="none" dirty="0">
                <a:solidFill>
                  <a:srgbClr val="FF0000"/>
                </a:solidFill>
              </a:rPr>
              <a:t>时间平均</a:t>
            </a:r>
            <a:r>
              <a:rPr lang="zh-CN" altLang="en-US" sz="2400" b="1" u="none" dirty="0">
                <a:solidFill>
                  <a:schemeClr val="tx1"/>
                </a:solidFill>
              </a:rPr>
              <a:t>。</a:t>
            </a:r>
          </a:p>
        </p:txBody>
      </p:sp>
      <p:sp>
        <p:nvSpPr>
          <p:cNvPr id="636936" name="Rectangle 8"/>
          <p:cNvSpPr>
            <a:spLocks noChangeArrowheads="1"/>
          </p:cNvSpPr>
          <p:nvPr/>
        </p:nvSpPr>
        <p:spPr bwMode="auto">
          <a:xfrm>
            <a:off x="0" y="33289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636939" name="Rectangle 11"/>
          <p:cNvSpPr>
            <a:spLocks noChangeArrowheads="1"/>
          </p:cNvSpPr>
          <p:nvPr/>
        </p:nvSpPr>
        <p:spPr bwMode="auto">
          <a:xfrm>
            <a:off x="0" y="32337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636941" name="Rectangle 13"/>
          <p:cNvSpPr>
            <a:spLocks noChangeArrowheads="1"/>
          </p:cNvSpPr>
          <p:nvPr/>
        </p:nvSpPr>
        <p:spPr bwMode="auto">
          <a:xfrm>
            <a:off x="0" y="32527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636940" name="Object 12"/>
          <p:cNvGraphicFramePr>
            <a:graphicFrameLocks noChangeAspect="1"/>
          </p:cNvGraphicFramePr>
          <p:nvPr/>
        </p:nvGraphicFramePr>
        <p:xfrm>
          <a:off x="1152525" y="3808413"/>
          <a:ext cx="2841625" cy="790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7049" name="Equation" r:id="rId3" imgW="1269449" imgH="355446" progId="Equation.DSMT4">
                  <p:embed/>
                </p:oleObj>
              </mc:Choice>
              <mc:Fallback>
                <p:oleObj name="Equation" r:id="rId3" imgW="1269449" imgH="355446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52525" y="3808413"/>
                        <a:ext cx="2841625" cy="790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6943" name="Rectangle 15"/>
          <p:cNvSpPr>
            <a:spLocks noChangeArrowheads="1"/>
          </p:cNvSpPr>
          <p:nvPr/>
        </p:nvSpPr>
        <p:spPr bwMode="auto">
          <a:xfrm>
            <a:off x="0" y="32527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636942" name="Object 14"/>
          <p:cNvGraphicFramePr>
            <a:graphicFrameLocks noChangeAspect="1"/>
          </p:cNvGraphicFramePr>
          <p:nvPr/>
        </p:nvGraphicFramePr>
        <p:xfrm>
          <a:off x="1033463" y="5227638"/>
          <a:ext cx="2905125" cy="790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7050" name="Equation" r:id="rId5" imgW="1294838" imgH="355446" progId="Equation.DSMT4">
                  <p:embed/>
                </p:oleObj>
              </mc:Choice>
              <mc:Fallback>
                <p:oleObj name="Equation" r:id="rId5" imgW="1294838" imgH="355446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33463" y="5227638"/>
                        <a:ext cx="2905125" cy="790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6944" name="Rectangle 16"/>
          <p:cNvSpPr>
            <a:spLocks noChangeArrowheads="1"/>
          </p:cNvSpPr>
          <p:nvPr/>
        </p:nvSpPr>
        <p:spPr bwMode="auto">
          <a:xfrm>
            <a:off x="215900" y="3206750"/>
            <a:ext cx="41052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buClr>
                <a:srgbClr val="FF3300"/>
              </a:buClr>
              <a:buFont typeface="Wingdings" pitchFamily="2" charset="2"/>
              <a:buChar char="Ø"/>
            </a:pPr>
            <a:r>
              <a:rPr lang="zh-CN" altLang="en-US" sz="2400" b="1" u="none">
                <a:solidFill>
                  <a:schemeClr val="tx1"/>
                </a:solidFill>
              </a:rPr>
              <a:t>随机过程第</a:t>
            </a:r>
            <a:r>
              <a:rPr lang="en-US" altLang="zh-CN" sz="2400" b="1" u="none">
                <a:solidFill>
                  <a:schemeClr val="tx1"/>
                </a:solidFill>
              </a:rPr>
              <a:t>i</a:t>
            </a:r>
            <a:r>
              <a:rPr lang="zh-CN" altLang="en-US" sz="2400" b="1" u="none">
                <a:solidFill>
                  <a:schemeClr val="tx1"/>
                </a:solidFill>
              </a:rPr>
              <a:t>个样本的均值 </a:t>
            </a:r>
          </a:p>
        </p:txBody>
      </p:sp>
      <p:sp>
        <p:nvSpPr>
          <p:cNvPr id="636945" name="Rectangle 17"/>
          <p:cNvSpPr>
            <a:spLocks noChangeArrowheads="1"/>
          </p:cNvSpPr>
          <p:nvPr/>
        </p:nvSpPr>
        <p:spPr bwMode="auto">
          <a:xfrm>
            <a:off x="173038" y="4602163"/>
            <a:ext cx="43370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buClr>
                <a:srgbClr val="FF3300"/>
              </a:buClr>
              <a:buFont typeface="Wingdings" pitchFamily="2" charset="2"/>
              <a:buChar char="Ø"/>
            </a:pPr>
            <a:r>
              <a:rPr lang="zh-CN" altLang="en-US" sz="2400" b="1" u="none">
                <a:solidFill>
                  <a:schemeClr val="tx1"/>
                </a:solidFill>
              </a:rPr>
              <a:t>随机过程第</a:t>
            </a:r>
            <a:r>
              <a:rPr lang="en-US" altLang="zh-CN" sz="2400" b="1" u="none">
                <a:solidFill>
                  <a:schemeClr val="tx1"/>
                </a:solidFill>
              </a:rPr>
              <a:t>i</a:t>
            </a:r>
            <a:r>
              <a:rPr lang="zh-CN" altLang="en-US" sz="2400" b="1" u="none">
                <a:solidFill>
                  <a:schemeClr val="tx1"/>
                </a:solidFill>
              </a:rPr>
              <a:t>个样本的均方值 </a:t>
            </a:r>
          </a:p>
        </p:txBody>
      </p:sp>
      <p:sp>
        <p:nvSpPr>
          <p:cNvPr id="13" name="Rectangle 2"/>
          <p:cNvSpPr>
            <a:spLocks noChangeArrowheads="1"/>
          </p:cNvSpPr>
          <p:nvPr/>
        </p:nvSpPr>
        <p:spPr bwMode="auto">
          <a:xfrm>
            <a:off x="312738" y="198671"/>
            <a:ext cx="54927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 b="1" u="none" dirty="0" smtClean="0">
                <a:solidFill>
                  <a:srgbClr val="800000"/>
                </a:solidFill>
                <a:latin typeface="宋体" pitchFamily="2" charset="-122"/>
                <a:ea typeface="宋体" pitchFamily="2" charset="-122"/>
              </a:rPr>
              <a:t>5.1 </a:t>
            </a:r>
            <a:r>
              <a:rPr lang="zh-CN" altLang="en-US" sz="3200" b="1" u="none" dirty="0">
                <a:solidFill>
                  <a:srgbClr val="800000"/>
                </a:solidFill>
                <a:latin typeface="宋体" pitchFamily="2" charset="-122"/>
                <a:ea typeface="宋体" pitchFamily="2" charset="-122"/>
              </a:rPr>
              <a:t>随机信号的基本概念</a:t>
            </a:r>
            <a:r>
              <a:rPr lang="zh-CN" altLang="en-US" sz="3200" b="1" u="none" dirty="0">
                <a:solidFill>
                  <a:srgbClr val="000066"/>
                </a:solidFill>
                <a:latin typeface="宋体" pitchFamily="2" charset="-122"/>
                <a:ea typeface="宋体" pitchFamily="2" charset="-122"/>
              </a:rPr>
              <a:t> 　 </a:t>
            </a:r>
          </a:p>
        </p:txBody>
      </p:sp>
      <p:pic>
        <p:nvPicPr>
          <p:cNvPr id="636988" name="Picture 60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6763" y="1084263"/>
            <a:ext cx="4297363" cy="3517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978" name="Text Box 2"/>
          <p:cNvSpPr txBox="1">
            <a:spLocks noChangeArrowheads="1"/>
          </p:cNvSpPr>
          <p:nvPr/>
        </p:nvSpPr>
        <p:spPr bwMode="auto">
          <a:xfrm>
            <a:off x="365124" y="942181"/>
            <a:ext cx="581501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 u="none" dirty="0" smtClean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en-US" b="1" u="none" dirty="0" smtClean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r>
              <a:rPr lang="en-US" altLang="zh-CN" b="1" u="none" dirty="0" smtClean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. </a:t>
            </a:r>
            <a:r>
              <a:rPr lang="zh-CN" altLang="en-US" b="1" u="none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随机过程的分类</a:t>
            </a:r>
          </a:p>
        </p:txBody>
      </p:sp>
      <p:grpSp>
        <p:nvGrpSpPr>
          <p:cNvPr id="638997" name="Group 21"/>
          <p:cNvGrpSpPr>
            <a:grpSpLocks/>
          </p:cNvGrpSpPr>
          <p:nvPr/>
        </p:nvGrpSpPr>
        <p:grpSpPr bwMode="auto">
          <a:xfrm>
            <a:off x="736600" y="1459603"/>
            <a:ext cx="7677935" cy="1970088"/>
            <a:chOff x="489" y="1018"/>
            <a:chExt cx="4018" cy="1241"/>
          </a:xfrm>
        </p:grpSpPr>
        <p:sp>
          <p:nvSpPr>
            <p:cNvPr id="638989" name="Text Box 13"/>
            <p:cNvSpPr txBox="1">
              <a:spLocks noChangeArrowheads="1"/>
            </p:cNvSpPr>
            <p:nvPr/>
          </p:nvSpPr>
          <p:spPr bwMode="auto">
            <a:xfrm>
              <a:off x="1542" y="1315"/>
              <a:ext cx="1133" cy="436"/>
            </a:xfrm>
            <a:prstGeom prst="rect">
              <a:avLst/>
            </a:prstGeom>
            <a:solidFill>
              <a:srgbClr val="CCFFFF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1800" b="1" u="none" dirty="0" smtClean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平稳随机过程</a:t>
              </a:r>
              <a:endParaRPr lang="en-US" altLang="zh-CN" sz="1800" b="1" u="none" dirty="0" smtClean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 algn="ctr">
                <a:spcBef>
                  <a:spcPct val="50000"/>
                </a:spcBef>
              </a:pPr>
              <a:r>
                <a:rPr lang="zh-CN" altLang="en-US" sz="1400" b="1" u="none" dirty="0" smtClean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统计特征不随时间变化</a:t>
              </a:r>
              <a:endParaRPr lang="zh-CN" altLang="en-US" sz="1400" b="1" u="none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38990" name="Text Box 14"/>
            <p:cNvSpPr txBox="1">
              <a:spLocks noChangeArrowheads="1"/>
            </p:cNvSpPr>
            <p:nvPr/>
          </p:nvSpPr>
          <p:spPr bwMode="auto">
            <a:xfrm>
              <a:off x="1542" y="2022"/>
              <a:ext cx="1200" cy="237"/>
            </a:xfrm>
            <a:prstGeom prst="rect">
              <a:avLst/>
            </a:prstGeom>
            <a:solidFill>
              <a:srgbClr val="CCFFFF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1800" b="1" u="none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非平稳随机过程</a:t>
              </a:r>
            </a:p>
          </p:txBody>
        </p:sp>
        <p:sp>
          <p:nvSpPr>
            <p:cNvPr id="638991" name="AutoShape 15"/>
            <p:cNvSpPr>
              <a:spLocks/>
            </p:cNvSpPr>
            <p:nvPr/>
          </p:nvSpPr>
          <p:spPr bwMode="auto">
            <a:xfrm>
              <a:off x="1319" y="1687"/>
              <a:ext cx="158" cy="371"/>
            </a:xfrm>
            <a:prstGeom prst="leftBrace">
              <a:avLst>
                <a:gd name="adj1" fmla="val 46941"/>
                <a:gd name="adj2" fmla="val 50000"/>
              </a:avLst>
            </a:prstGeom>
            <a:noFill/>
            <a:ln w="25400">
              <a:solidFill>
                <a:srgbClr val="99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8080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38992" name="AutoShape 16"/>
            <p:cNvSpPr>
              <a:spLocks/>
            </p:cNvSpPr>
            <p:nvPr/>
          </p:nvSpPr>
          <p:spPr bwMode="auto">
            <a:xfrm>
              <a:off x="2779" y="1351"/>
              <a:ext cx="158" cy="371"/>
            </a:xfrm>
            <a:prstGeom prst="leftBrace">
              <a:avLst>
                <a:gd name="adj1" fmla="val 46941"/>
                <a:gd name="adj2" fmla="val 50000"/>
              </a:avLst>
            </a:prstGeom>
            <a:noFill/>
            <a:ln w="25400">
              <a:solidFill>
                <a:srgbClr val="99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8080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38993" name="Text Box 17"/>
            <p:cNvSpPr txBox="1">
              <a:spLocks noChangeArrowheads="1"/>
            </p:cNvSpPr>
            <p:nvPr/>
          </p:nvSpPr>
          <p:spPr bwMode="auto">
            <a:xfrm>
              <a:off x="2991" y="1018"/>
              <a:ext cx="1457" cy="436"/>
            </a:xfrm>
            <a:prstGeom prst="rect">
              <a:avLst/>
            </a:prstGeom>
            <a:solidFill>
              <a:srgbClr val="CCFFFF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1800" b="1" u="none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各态历经</a:t>
              </a:r>
              <a:r>
                <a:rPr lang="zh-CN" altLang="en-US" sz="1800" b="1" u="none" dirty="0" smtClean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随机过程</a:t>
              </a:r>
              <a:endParaRPr lang="en-US" altLang="zh-CN" sz="1800" b="1" u="none" dirty="0" smtClean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 algn="ctr">
                <a:spcBef>
                  <a:spcPct val="50000"/>
                </a:spcBef>
              </a:pPr>
              <a:r>
                <a:rPr lang="zh-CN" altLang="en-US" sz="1400" b="1" u="none" dirty="0" smtClean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时间平均</a:t>
              </a:r>
              <a:r>
                <a:rPr lang="en-US" altLang="zh-CN" sz="1400" b="1" u="none" dirty="0" smtClean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=</a:t>
              </a:r>
              <a:r>
                <a:rPr lang="zh-CN" altLang="en-US" sz="1400" b="1" u="none" dirty="0" smtClean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集合平均</a:t>
              </a:r>
              <a:endParaRPr lang="zh-CN" altLang="en-US" sz="1400" b="1" u="none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38994" name="Text Box 18"/>
            <p:cNvSpPr txBox="1">
              <a:spLocks noChangeArrowheads="1"/>
            </p:cNvSpPr>
            <p:nvPr/>
          </p:nvSpPr>
          <p:spPr bwMode="auto">
            <a:xfrm>
              <a:off x="2991" y="1635"/>
              <a:ext cx="1516" cy="237"/>
            </a:xfrm>
            <a:prstGeom prst="rect">
              <a:avLst/>
            </a:prstGeom>
            <a:solidFill>
              <a:srgbClr val="CCFFFF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1800" b="1" u="none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非各态历经随机过程</a:t>
              </a:r>
            </a:p>
          </p:txBody>
        </p:sp>
        <p:sp>
          <p:nvSpPr>
            <p:cNvPr id="638996" name="Text Box 20"/>
            <p:cNvSpPr txBox="1">
              <a:spLocks noChangeArrowheads="1"/>
            </p:cNvSpPr>
            <p:nvPr/>
          </p:nvSpPr>
          <p:spPr bwMode="auto">
            <a:xfrm>
              <a:off x="489" y="1729"/>
              <a:ext cx="783" cy="237"/>
            </a:xfrm>
            <a:prstGeom prst="rect">
              <a:avLst/>
            </a:prstGeom>
            <a:solidFill>
              <a:srgbClr val="CCFFFF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1800" b="1" u="none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随机过程</a:t>
              </a:r>
            </a:p>
          </p:txBody>
        </p:sp>
      </p:grpSp>
      <p:sp>
        <p:nvSpPr>
          <p:cNvPr id="13" name="Rectangle 2"/>
          <p:cNvSpPr>
            <a:spLocks noChangeArrowheads="1"/>
          </p:cNvSpPr>
          <p:nvPr/>
        </p:nvSpPr>
        <p:spPr bwMode="auto">
          <a:xfrm>
            <a:off x="312738" y="198671"/>
            <a:ext cx="54927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 b="1" u="none" dirty="0" smtClean="0">
                <a:solidFill>
                  <a:srgbClr val="8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5.1 </a:t>
            </a:r>
            <a:r>
              <a:rPr lang="zh-CN" altLang="en-US" sz="3200" b="1" u="none" dirty="0">
                <a:solidFill>
                  <a:srgbClr val="8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随机信号的基本概念</a:t>
            </a:r>
            <a:r>
              <a:rPr lang="zh-CN" altLang="en-US" sz="3200" b="1" u="none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　 </a:t>
            </a:r>
          </a:p>
        </p:txBody>
      </p:sp>
      <p:sp>
        <p:nvSpPr>
          <p:cNvPr id="14" name="Text Box 17"/>
          <p:cNvSpPr txBox="1">
            <a:spLocks noChangeArrowheads="1"/>
          </p:cNvSpPr>
          <p:nvPr/>
        </p:nvSpPr>
        <p:spPr bwMode="auto">
          <a:xfrm>
            <a:off x="658813" y="4051985"/>
            <a:ext cx="7835830" cy="784830"/>
          </a:xfrm>
          <a:prstGeom prst="rect">
            <a:avLst/>
          </a:prstGeom>
          <a:solidFill>
            <a:srgbClr val="CCFFFF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800" b="1" u="none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各态历经</a:t>
            </a:r>
            <a:r>
              <a:rPr lang="zh-CN" altLang="en-US" sz="1800" b="1" u="none" dirty="0" smtClea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随机过程</a:t>
            </a:r>
            <a:r>
              <a:rPr lang="zh-CN" altLang="en-US" sz="1800" b="1" u="none" dirty="0" smtClean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：任一单个样本函数的</a:t>
            </a:r>
            <a:r>
              <a:rPr lang="zh-CN" altLang="en-US" sz="1800" b="1" u="none" dirty="0" smtClea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时间平均</a:t>
            </a:r>
            <a:r>
              <a:rPr lang="zh-CN" altLang="en-US" sz="1800" b="1" u="none" dirty="0" smtClean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统计特征</a:t>
            </a:r>
            <a:r>
              <a:rPr lang="zh-CN" altLang="en-US" sz="1800" b="1" u="none" dirty="0" smtClea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等于</a:t>
            </a:r>
            <a:r>
              <a:rPr lang="zh-CN" altLang="en-US" sz="1800" b="1" u="none" dirty="0" smtClean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该过程的</a:t>
            </a:r>
            <a:endParaRPr lang="en-US" altLang="zh-CN" sz="1800" b="1" u="none" dirty="0" smtClean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spcBef>
                <a:spcPct val="50000"/>
              </a:spcBef>
            </a:pPr>
            <a:r>
              <a:rPr lang="zh-CN" altLang="en-US" sz="1800" b="1" u="none" dirty="0" smtClean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          </a:t>
            </a:r>
            <a:r>
              <a:rPr lang="zh-CN" altLang="en-US" sz="1800" b="1" u="none" dirty="0" smtClea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集合平均</a:t>
            </a:r>
            <a:r>
              <a:rPr lang="zh-CN" altLang="en-US" sz="1800" b="1" u="none" dirty="0" smtClean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统计特征；</a:t>
            </a:r>
            <a:endParaRPr lang="zh-CN" altLang="en-US" sz="1800" b="1" u="none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5" name="Text Box 18"/>
          <p:cNvSpPr txBox="1">
            <a:spLocks noChangeArrowheads="1"/>
          </p:cNvSpPr>
          <p:nvPr/>
        </p:nvSpPr>
        <p:spPr bwMode="auto">
          <a:xfrm>
            <a:off x="652462" y="5327995"/>
            <a:ext cx="7842181" cy="369332"/>
          </a:xfrm>
          <a:prstGeom prst="rect">
            <a:avLst/>
          </a:prstGeom>
          <a:solidFill>
            <a:srgbClr val="CCFFFF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800" b="1" u="none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非各态历经随机过程</a:t>
            </a:r>
            <a:r>
              <a:rPr lang="zh-CN" altLang="en-US" sz="1800" b="1" u="none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：各态历经</a:t>
            </a:r>
            <a:r>
              <a:rPr lang="zh-CN" altLang="en-US" sz="1800" b="1" u="none" dirty="0" smtClean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随机过程以外的。</a:t>
            </a:r>
            <a:endParaRPr lang="zh-CN" altLang="en-US" sz="1800" b="1" u="none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860850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002" name="Text Box 2"/>
          <p:cNvSpPr txBox="1">
            <a:spLocks noChangeArrowheads="1"/>
          </p:cNvSpPr>
          <p:nvPr/>
        </p:nvSpPr>
        <p:spPr bwMode="auto">
          <a:xfrm>
            <a:off x="365125" y="838739"/>
            <a:ext cx="581501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 u="none" dirty="0" smtClean="0">
                <a:solidFill>
                  <a:srgbClr val="000066"/>
                </a:solidFill>
              </a:rPr>
              <a:t>4</a:t>
            </a:r>
            <a:r>
              <a:rPr lang="zh-CN" altLang="en-US" b="1" u="none" dirty="0" smtClean="0">
                <a:solidFill>
                  <a:srgbClr val="000066"/>
                </a:solidFill>
              </a:rPr>
              <a:t>）</a:t>
            </a:r>
            <a:r>
              <a:rPr lang="en-US" altLang="zh-CN" b="1" u="none" dirty="0" smtClean="0">
                <a:solidFill>
                  <a:srgbClr val="000066"/>
                </a:solidFill>
              </a:rPr>
              <a:t>. </a:t>
            </a:r>
            <a:r>
              <a:rPr lang="zh-CN" altLang="en-US" b="1" u="none" dirty="0">
                <a:solidFill>
                  <a:srgbClr val="000066"/>
                </a:solidFill>
              </a:rPr>
              <a:t>随机信号的主要特征参数 </a:t>
            </a:r>
          </a:p>
        </p:txBody>
      </p:sp>
      <p:sp>
        <p:nvSpPr>
          <p:cNvPr id="640003" name="Rectangle 3"/>
          <p:cNvSpPr>
            <a:spLocks noChangeArrowheads="1"/>
          </p:cNvSpPr>
          <p:nvPr/>
        </p:nvSpPr>
        <p:spPr bwMode="auto">
          <a:xfrm>
            <a:off x="368300" y="33289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640004" name="Rectangle 4"/>
          <p:cNvSpPr>
            <a:spLocks noChangeArrowheads="1"/>
          </p:cNvSpPr>
          <p:nvPr/>
        </p:nvSpPr>
        <p:spPr bwMode="auto">
          <a:xfrm>
            <a:off x="368300" y="32337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640013" name="Rectangle 13"/>
          <p:cNvSpPr>
            <a:spLocks noChangeArrowheads="1"/>
          </p:cNvSpPr>
          <p:nvPr/>
        </p:nvSpPr>
        <p:spPr bwMode="auto">
          <a:xfrm>
            <a:off x="690563" y="1286445"/>
            <a:ext cx="66738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buClr>
                <a:srgbClr val="FF3300"/>
              </a:buClr>
              <a:buFont typeface="Wingdings" pitchFamily="2" charset="2"/>
              <a:buChar char="Ø"/>
            </a:pPr>
            <a:r>
              <a:rPr lang="zh-CN" altLang="en-US" sz="2400" b="1" u="none" dirty="0">
                <a:solidFill>
                  <a:schemeClr val="tx1"/>
                </a:solidFill>
              </a:rPr>
              <a:t>描述各态历经随机过程的主要特征参数有 </a:t>
            </a:r>
          </a:p>
        </p:txBody>
      </p:sp>
      <p:sp>
        <p:nvSpPr>
          <p:cNvPr id="640014" name="Rectangle 14"/>
          <p:cNvSpPr>
            <a:spLocks noChangeArrowheads="1"/>
          </p:cNvSpPr>
          <p:nvPr/>
        </p:nvSpPr>
        <p:spPr bwMode="auto">
          <a:xfrm>
            <a:off x="1147763" y="1740843"/>
            <a:ext cx="320953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buClr>
                <a:srgbClr val="FF3300"/>
              </a:buClr>
              <a:buFont typeface="Wingdings" pitchFamily="2" charset="2"/>
              <a:buChar char="ü"/>
            </a:pPr>
            <a:r>
              <a:rPr lang="zh-CN" altLang="en-US" sz="2400" b="1" u="none" dirty="0" smtClean="0">
                <a:solidFill>
                  <a:schemeClr val="tx1"/>
                </a:solidFill>
              </a:rPr>
              <a:t>统计参数：均值    、</a:t>
            </a:r>
            <a:endParaRPr lang="zh-CN" altLang="en-US" sz="2400" b="1" dirty="0">
              <a:solidFill>
                <a:schemeClr val="tx1"/>
              </a:solidFill>
            </a:endParaRPr>
          </a:p>
        </p:txBody>
      </p:sp>
      <p:sp>
        <p:nvSpPr>
          <p:cNvPr id="640015" name="Rectangle 15"/>
          <p:cNvSpPr>
            <a:spLocks noChangeArrowheads="1"/>
          </p:cNvSpPr>
          <p:nvPr/>
        </p:nvSpPr>
        <p:spPr bwMode="auto">
          <a:xfrm>
            <a:off x="4036336" y="1703387"/>
            <a:ext cx="190103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buClr>
                <a:srgbClr val="FF3300"/>
              </a:buClr>
              <a:buFont typeface="Wingdings" pitchFamily="2" charset="2"/>
              <a:buNone/>
            </a:pPr>
            <a:r>
              <a:rPr lang="zh-CN" altLang="en-US" sz="2400" b="1" u="none" dirty="0">
                <a:solidFill>
                  <a:schemeClr val="tx1"/>
                </a:solidFill>
              </a:rPr>
              <a:t>均方值      、 </a:t>
            </a:r>
          </a:p>
        </p:txBody>
      </p:sp>
      <p:sp>
        <p:nvSpPr>
          <p:cNvPr id="640016" name="Rectangle 16"/>
          <p:cNvSpPr>
            <a:spLocks noChangeArrowheads="1"/>
          </p:cNvSpPr>
          <p:nvPr/>
        </p:nvSpPr>
        <p:spPr bwMode="auto">
          <a:xfrm>
            <a:off x="5609436" y="1677898"/>
            <a:ext cx="16383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buClr>
                <a:srgbClr val="FF3300"/>
              </a:buClr>
              <a:buFont typeface="Wingdings" pitchFamily="2" charset="2"/>
              <a:buNone/>
            </a:pPr>
            <a:r>
              <a:rPr lang="zh-CN" altLang="en-US" sz="2400" b="1" u="none" dirty="0">
                <a:solidFill>
                  <a:schemeClr val="tx1"/>
                </a:solidFill>
              </a:rPr>
              <a:t>方差             </a:t>
            </a:r>
          </a:p>
        </p:txBody>
      </p:sp>
      <p:sp>
        <p:nvSpPr>
          <p:cNvPr id="640017" name="Rectangle 17"/>
          <p:cNvSpPr>
            <a:spLocks noChangeArrowheads="1"/>
          </p:cNvSpPr>
          <p:nvPr/>
        </p:nvSpPr>
        <p:spPr bwMode="auto">
          <a:xfrm>
            <a:off x="2674938" y="2181225"/>
            <a:ext cx="59626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sz="2400" b="1" u="none" dirty="0">
                <a:solidFill>
                  <a:schemeClr val="tx1"/>
                </a:solidFill>
              </a:rPr>
              <a:t>——</a:t>
            </a:r>
            <a:r>
              <a:rPr lang="zh-CN" altLang="en-US" sz="2400" b="1" u="none" dirty="0">
                <a:solidFill>
                  <a:schemeClr val="tx1"/>
                </a:solidFill>
              </a:rPr>
              <a:t>描述信号在幅值域中</a:t>
            </a:r>
            <a:r>
              <a:rPr lang="zh-CN" altLang="en-US" sz="2400" b="1" u="none" dirty="0">
                <a:solidFill>
                  <a:srgbClr val="0070C0"/>
                </a:solidFill>
              </a:rPr>
              <a:t>强度</a:t>
            </a:r>
            <a:r>
              <a:rPr lang="zh-CN" altLang="en-US" sz="2400" b="1" u="none" dirty="0">
                <a:solidFill>
                  <a:schemeClr val="tx1"/>
                </a:solidFill>
              </a:rPr>
              <a:t>方面的特征 </a:t>
            </a:r>
          </a:p>
        </p:txBody>
      </p:sp>
      <p:sp>
        <p:nvSpPr>
          <p:cNvPr id="640018" name="Rectangle 18"/>
          <p:cNvSpPr>
            <a:spLocks noChangeArrowheads="1"/>
          </p:cNvSpPr>
          <p:nvPr/>
        </p:nvSpPr>
        <p:spPr bwMode="auto">
          <a:xfrm>
            <a:off x="1069975" y="2725738"/>
            <a:ext cx="77406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buClr>
                <a:srgbClr val="FF3300"/>
              </a:buClr>
              <a:buFont typeface="Wingdings" pitchFamily="2" charset="2"/>
              <a:buChar char="ü"/>
            </a:pPr>
            <a:r>
              <a:rPr lang="zh-CN" altLang="en-US" sz="2400" b="1" u="none" dirty="0">
                <a:solidFill>
                  <a:srgbClr val="FF3300"/>
                </a:solidFill>
              </a:rPr>
              <a:t>概率密度函数</a:t>
            </a:r>
            <a:r>
              <a:rPr lang="en-US" altLang="zh-CN" sz="2400" b="1" u="none" dirty="0">
                <a:solidFill>
                  <a:srgbClr val="FF3300"/>
                </a:solidFill>
              </a:rPr>
              <a:t>——</a:t>
            </a:r>
            <a:r>
              <a:rPr lang="zh-CN" altLang="en-US" sz="2400" b="1" u="none" dirty="0">
                <a:solidFill>
                  <a:srgbClr val="FF3300"/>
                </a:solidFill>
              </a:rPr>
              <a:t>描述信号在</a:t>
            </a:r>
            <a:r>
              <a:rPr lang="zh-CN" altLang="en-US" sz="2400" b="1" u="none" dirty="0">
                <a:solidFill>
                  <a:srgbClr val="0070C0"/>
                </a:solidFill>
              </a:rPr>
              <a:t>幅值域</a:t>
            </a:r>
            <a:r>
              <a:rPr lang="zh-CN" altLang="en-US" sz="2400" b="1" u="none" dirty="0">
                <a:solidFill>
                  <a:srgbClr val="FF3300"/>
                </a:solidFill>
              </a:rPr>
              <a:t>中的特征； </a:t>
            </a:r>
          </a:p>
        </p:txBody>
      </p:sp>
      <p:sp>
        <p:nvSpPr>
          <p:cNvPr id="640019" name="Rectangle 19"/>
          <p:cNvSpPr>
            <a:spLocks noChangeArrowheads="1"/>
          </p:cNvSpPr>
          <p:nvPr/>
        </p:nvSpPr>
        <p:spPr bwMode="auto">
          <a:xfrm>
            <a:off x="1087438" y="3276600"/>
            <a:ext cx="73850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buClr>
                <a:srgbClr val="FF3300"/>
              </a:buClr>
              <a:buFont typeface="Wingdings" pitchFamily="2" charset="2"/>
              <a:buChar char="ü"/>
            </a:pPr>
            <a:r>
              <a:rPr lang="zh-CN" altLang="en-US" sz="2400" b="1" u="none" dirty="0">
                <a:solidFill>
                  <a:schemeClr val="tx1"/>
                </a:solidFill>
              </a:rPr>
              <a:t>自相关函数</a:t>
            </a:r>
            <a:r>
              <a:rPr lang="en-US" altLang="zh-CN" sz="2400" b="1" u="none" dirty="0">
                <a:solidFill>
                  <a:schemeClr val="tx1"/>
                </a:solidFill>
              </a:rPr>
              <a:t>——</a:t>
            </a:r>
            <a:r>
              <a:rPr lang="zh-CN" altLang="en-US" sz="2400" b="1" u="none" dirty="0">
                <a:solidFill>
                  <a:schemeClr val="tx1"/>
                </a:solidFill>
              </a:rPr>
              <a:t>描述信号在</a:t>
            </a:r>
            <a:r>
              <a:rPr lang="zh-CN" altLang="en-US" sz="2400" b="1" u="none" dirty="0">
                <a:solidFill>
                  <a:srgbClr val="0070C0"/>
                </a:solidFill>
              </a:rPr>
              <a:t>时延域</a:t>
            </a:r>
            <a:r>
              <a:rPr lang="zh-CN" altLang="en-US" sz="2400" b="1" u="none" dirty="0">
                <a:solidFill>
                  <a:schemeClr val="tx1"/>
                </a:solidFill>
              </a:rPr>
              <a:t>中的特征； </a:t>
            </a:r>
          </a:p>
        </p:txBody>
      </p:sp>
      <p:sp>
        <p:nvSpPr>
          <p:cNvPr id="640020" name="Rectangle 20"/>
          <p:cNvSpPr>
            <a:spLocks noChangeArrowheads="1"/>
          </p:cNvSpPr>
          <p:nvPr/>
        </p:nvSpPr>
        <p:spPr bwMode="auto">
          <a:xfrm>
            <a:off x="1098550" y="3784722"/>
            <a:ext cx="73850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buClr>
                <a:srgbClr val="FF3300"/>
              </a:buClr>
              <a:buFont typeface="Wingdings" pitchFamily="2" charset="2"/>
              <a:buChar char="ü"/>
            </a:pPr>
            <a:r>
              <a:rPr lang="zh-CN" altLang="en-US" sz="2400" b="1" u="none" dirty="0">
                <a:solidFill>
                  <a:srgbClr val="000099"/>
                </a:solidFill>
              </a:rPr>
              <a:t>功率谱密度函数</a:t>
            </a:r>
            <a:r>
              <a:rPr lang="en-US" altLang="zh-CN" sz="2400" b="1" u="none" dirty="0">
                <a:solidFill>
                  <a:srgbClr val="000099"/>
                </a:solidFill>
              </a:rPr>
              <a:t>——</a:t>
            </a:r>
            <a:r>
              <a:rPr lang="zh-CN" altLang="en-US" sz="2400" b="1" u="none" dirty="0">
                <a:solidFill>
                  <a:srgbClr val="000099"/>
                </a:solidFill>
              </a:rPr>
              <a:t>描述随机信号在</a:t>
            </a:r>
            <a:r>
              <a:rPr lang="zh-CN" altLang="en-US" sz="2400" b="1" u="none" dirty="0">
                <a:solidFill>
                  <a:srgbClr val="0070C0"/>
                </a:solidFill>
              </a:rPr>
              <a:t>频域</a:t>
            </a:r>
            <a:r>
              <a:rPr lang="zh-CN" altLang="en-US" sz="2400" b="1" u="none" dirty="0">
                <a:solidFill>
                  <a:srgbClr val="000099"/>
                </a:solidFill>
              </a:rPr>
              <a:t>中的特征 </a:t>
            </a:r>
          </a:p>
        </p:txBody>
      </p:sp>
      <p:sp>
        <p:nvSpPr>
          <p:cNvPr id="640022" name="Rectangle 22"/>
          <p:cNvSpPr>
            <a:spLocks noChangeArrowheads="1"/>
          </p:cNvSpPr>
          <p:nvPr/>
        </p:nvSpPr>
        <p:spPr bwMode="auto">
          <a:xfrm>
            <a:off x="368300" y="33289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640021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47594381"/>
              </p:ext>
            </p:extLst>
          </p:nvPr>
        </p:nvGraphicFramePr>
        <p:xfrm>
          <a:off x="3648076" y="1740843"/>
          <a:ext cx="379412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0185" name="Equation" r:id="rId3" imgW="177569" imgH="202936" progId="Equation.DSMT4">
                  <p:embed/>
                </p:oleObj>
              </mc:Choice>
              <mc:Fallback>
                <p:oleObj name="Equation" r:id="rId3" imgW="177569" imgH="202936" progId="Equation.DSMT4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48076" y="1740843"/>
                        <a:ext cx="379412" cy="419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0024" name="Rectangle 24"/>
          <p:cNvSpPr>
            <a:spLocks noChangeArrowheads="1"/>
          </p:cNvSpPr>
          <p:nvPr/>
        </p:nvSpPr>
        <p:spPr bwMode="auto">
          <a:xfrm>
            <a:off x="368300" y="33194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640023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34818837"/>
              </p:ext>
            </p:extLst>
          </p:nvPr>
        </p:nvGraphicFramePr>
        <p:xfrm>
          <a:off x="5100027" y="1616868"/>
          <a:ext cx="468313" cy="538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0186" name="Equation" r:id="rId5" imgW="190335" imgH="215713" progId="Equation.DSMT4">
                  <p:embed/>
                </p:oleObj>
              </mc:Choice>
              <mc:Fallback>
                <p:oleObj name="Equation" r:id="rId5" imgW="190335" imgH="215713" progId="Equation.DSMT4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0027" y="1616868"/>
                        <a:ext cx="468313" cy="5381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0026" name="Rectangle 26"/>
          <p:cNvSpPr>
            <a:spLocks noChangeArrowheads="1"/>
          </p:cNvSpPr>
          <p:nvPr/>
        </p:nvSpPr>
        <p:spPr bwMode="auto">
          <a:xfrm>
            <a:off x="368300" y="33194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640025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32110147"/>
              </p:ext>
            </p:extLst>
          </p:nvPr>
        </p:nvGraphicFramePr>
        <p:xfrm>
          <a:off x="6387490" y="1641177"/>
          <a:ext cx="455612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0187" name="Equation" r:id="rId7" imgW="190335" imgH="215713" progId="Equation.DSMT4">
                  <p:embed/>
                </p:oleObj>
              </mc:Choice>
              <mc:Fallback>
                <p:oleObj name="Equation" r:id="rId7" imgW="190335" imgH="215713" progId="Equation.DSMT4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87490" y="1641177"/>
                        <a:ext cx="455612" cy="5238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0027" name="Rectangle 27"/>
          <p:cNvSpPr>
            <a:spLocks noChangeArrowheads="1"/>
          </p:cNvSpPr>
          <p:nvPr/>
        </p:nvSpPr>
        <p:spPr bwMode="auto">
          <a:xfrm>
            <a:off x="588963" y="4362450"/>
            <a:ext cx="85550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buClr>
                <a:srgbClr val="FF3300"/>
              </a:buClr>
              <a:buFont typeface="Wingdings" pitchFamily="2" charset="2"/>
              <a:buChar char="Ø"/>
            </a:pPr>
            <a:r>
              <a:rPr lang="zh-CN" altLang="en-US" sz="2400" b="1" u="none" dirty="0">
                <a:solidFill>
                  <a:schemeClr val="tx1"/>
                </a:solidFill>
              </a:rPr>
              <a:t>描述两个或两个以上各态历经随机信号之间的</a:t>
            </a:r>
            <a:r>
              <a:rPr lang="zh-CN" altLang="en-US" sz="2400" b="1" u="none" dirty="0">
                <a:solidFill>
                  <a:srgbClr val="FF0000"/>
                </a:solidFill>
              </a:rPr>
              <a:t>相互依赖程度</a:t>
            </a:r>
            <a:r>
              <a:rPr lang="zh-CN" altLang="en-US" sz="2400" b="1" u="none" dirty="0">
                <a:solidFill>
                  <a:schemeClr val="tx1"/>
                </a:solidFill>
              </a:rPr>
              <a:t>： </a:t>
            </a:r>
          </a:p>
        </p:txBody>
      </p:sp>
      <p:sp>
        <p:nvSpPr>
          <p:cNvPr id="640028" name="Rectangle 28"/>
          <p:cNvSpPr>
            <a:spLocks noChangeArrowheads="1"/>
          </p:cNvSpPr>
          <p:nvPr/>
        </p:nvSpPr>
        <p:spPr bwMode="auto">
          <a:xfrm>
            <a:off x="1009650" y="4903788"/>
            <a:ext cx="4956175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buClr>
                <a:srgbClr val="FF3300"/>
              </a:buClr>
              <a:buFont typeface="Wingdings" pitchFamily="2" charset="2"/>
              <a:buChar char="ü"/>
            </a:pPr>
            <a:r>
              <a:rPr lang="en-US" altLang="zh-CN" sz="2400" b="1" u="none" dirty="0">
                <a:solidFill>
                  <a:schemeClr val="tx1"/>
                </a:solidFill>
              </a:rPr>
              <a:t>(1) </a:t>
            </a:r>
            <a:r>
              <a:rPr lang="zh-CN" altLang="en-US" sz="2400" b="1" u="none" dirty="0">
                <a:solidFill>
                  <a:schemeClr val="tx1"/>
                </a:solidFill>
              </a:rPr>
              <a:t>联合概率密度函数；</a:t>
            </a:r>
          </a:p>
          <a:p>
            <a:pPr>
              <a:buClr>
                <a:srgbClr val="FF3300"/>
              </a:buClr>
              <a:buFont typeface="Wingdings" pitchFamily="2" charset="2"/>
              <a:buChar char="ü"/>
            </a:pPr>
            <a:r>
              <a:rPr lang="en-US" altLang="zh-CN" sz="2400" b="1" u="none" dirty="0">
                <a:solidFill>
                  <a:schemeClr val="tx1"/>
                </a:solidFill>
              </a:rPr>
              <a:t>(2) </a:t>
            </a:r>
            <a:r>
              <a:rPr lang="zh-CN" altLang="en-US" sz="2400" b="1" u="none" dirty="0">
                <a:solidFill>
                  <a:schemeClr val="tx1"/>
                </a:solidFill>
              </a:rPr>
              <a:t>互相关函数；</a:t>
            </a:r>
          </a:p>
          <a:p>
            <a:pPr>
              <a:buClr>
                <a:srgbClr val="FF3300"/>
              </a:buClr>
              <a:buFont typeface="Wingdings" pitchFamily="2" charset="2"/>
              <a:buChar char="ü"/>
            </a:pPr>
            <a:r>
              <a:rPr lang="en-US" altLang="zh-CN" sz="2400" b="1" u="none" dirty="0">
                <a:solidFill>
                  <a:schemeClr val="tx1"/>
                </a:solidFill>
              </a:rPr>
              <a:t>(3) </a:t>
            </a:r>
            <a:r>
              <a:rPr lang="zh-CN" altLang="en-US" sz="2400" b="1" u="none" dirty="0">
                <a:solidFill>
                  <a:schemeClr val="tx1"/>
                </a:solidFill>
              </a:rPr>
              <a:t>互谱密度函数和相干函数。</a:t>
            </a:r>
          </a:p>
        </p:txBody>
      </p:sp>
      <p:sp>
        <p:nvSpPr>
          <p:cNvPr id="21" name="Rectangle 2"/>
          <p:cNvSpPr>
            <a:spLocks noChangeArrowheads="1"/>
          </p:cNvSpPr>
          <p:nvPr/>
        </p:nvSpPr>
        <p:spPr bwMode="auto">
          <a:xfrm>
            <a:off x="312738" y="198671"/>
            <a:ext cx="54927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 b="1" u="none" dirty="0" smtClean="0">
                <a:solidFill>
                  <a:srgbClr val="800000"/>
                </a:solidFill>
                <a:latin typeface="宋体" pitchFamily="2" charset="-122"/>
                <a:ea typeface="宋体" pitchFamily="2" charset="-122"/>
              </a:rPr>
              <a:t>5.1 </a:t>
            </a:r>
            <a:r>
              <a:rPr lang="zh-CN" altLang="en-US" sz="3200" b="1" u="none" dirty="0">
                <a:solidFill>
                  <a:srgbClr val="800000"/>
                </a:solidFill>
                <a:latin typeface="宋体" pitchFamily="2" charset="-122"/>
                <a:ea typeface="宋体" pitchFamily="2" charset="-122"/>
              </a:rPr>
              <a:t>随机信号的基本概念</a:t>
            </a:r>
            <a:r>
              <a:rPr lang="zh-CN" altLang="en-US" sz="3200" b="1" u="none" dirty="0">
                <a:solidFill>
                  <a:srgbClr val="000066"/>
                </a:solidFill>
                <a:latin typeface="宋体" pitchFamily="2" charset="-122"/>
                <a:ea typeface="宋体" pitchFamily="2" charset="-122"/>
              </a:rPr>
              <a:t> 　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0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400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400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0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6400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400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40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0027" grpId="0"/>
      <p:bldP spid="64002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026" name="Rectangle 2"/>
          <p:cNvSpPr>
            <a:spLocks noChangeArrowheads="1"/>
          </p:cNvSpPr>
          <p:nvPr/>
        </p:nvSpPr>
        <p:spPr bwMode="auto">
          <a:xfrm>
            <a:off x="288925" y="259287"/>
            <a:ext cx="4185761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 b="1" u="none" dirty="0" smtClean="0">
                <a:solidFill>
                  <a:srgbClr val="800000"/>
                </a:solidFill>
                <a:ea typeface="宋体" pitchFamily="2" charset="-122"/>
              </a:rPr>
              <a:t>5.2 </a:t>
            </a:r>
            <a:r>
              <a:rPr lang="zh-CN" altLang="en-US" sz="3200" b="1" u="none" dirty="0">
                <a:solidFill>
                  <a:srgbClr val="800000"/>
                </a:solidFill>
                <a:ea typeface="宋体" pitchFamily="2" charset="-122"/>
              </a:rPr>
              <a:t>信号的幅</a:t>
            </a:r>
            <a:r>
              <a:rPr lang="zh-CN" altLang="en-US" sz="3200" b="1" u="none" dirty="0" smtClean="0">
                <a:solidFill>
                  <a:srgbClr val="800000"/>
                </a:solidFill>
                <a:ea typeface="宋体" pitchFamily="2" charset="-122"/>
              </a:rPr>
              <a:t>值域分析</a:t>
            </a:r>
            <a:r>
              <a:rPr lang="zh-CN" altLang="en-US" b="1" u="none" dirty="0" smtClean="0">
                <a:solidFill>
                  <a:srgbClr val="000066"/>
                </a:solidFill>
                <a:ea typeface="宋体" pitchFamily="2" charset="-122"/>
              </a:rPr>
              <a:t> </a:t>
            </a:r>
            <a:endParaRPr lang="zh-CN" altLang="en-US" b="1" u="none" dirty="0">
              <a:solidFill>
                <a:srgbClr val="000066"/>
              </a:solidFill>
              <a:ea typeface="宋体" pitchFamily="2" charset="-122"/>
            </a:endParaRPr>
          </a:p>
        </p:txBody>
      </p:sp>
      <p:sp>
        <p:nvSpPr>
          <p:cNvPr id="641040" name="Rectangle 16"/>
          <p:cNvSpPr>
            <a:spLocks noChangeArrowheads="1"/>
          </p:cNvSpPr>
          <p:nvPr/>
        </p:nvSpPr>
        <p:spPr bwMode="auto">
          <a:xfrm>
            <a:off x="771524" y="1201130"/>
            <a:ext cx="523081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 u="none" dirty="0">
                <a:solidFill>
                  <a:srgbClr val="000066"/>
                </a:solidFill>
              </a:rPr>
              <a:t>1. </a:t>
            </a:r>
            <a:r>
              <a:rPr lang="zh-CN" altLang="en-US" b="1" u="none" dirty="0" smtClean="0">
                <a:solidFill>
                  <a:srgbClr val="000066"/>
                </a:solidFill>
              </a:rPr>
              <a:t>强度统计</a:t>
            </a:r>
            <a:r>
              <a:rPr lang="zh-CN" altLang="en-US" b="1" u="none" dirty="0">
                <a:solidFill>
                  <a:srgbClr val="000066"/>
                </a:solidFill>
              </a:rPr>
              <a:t>特征参数 </a:t>
            </a:r>
          </a:p>
        </p:txBody>
      </p:sp>
      <p:sp>
        <p:nvSpPr>
          <p:cNvPr id="641041" name="Rectangle 17"/>
          <p:cNvSpPr>
            <a:spLocks noChangeArrowheads="1"/>
          </p:cNvSpPr>
          <p:nvPr/>
        </p:nvSpPr>
        <p:spPr bwMode="auto">
          <a:xfrm>
            <a:off x="1133475" y="1880543"/>
            <a:ext cx="104227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buClr>
                <a:srgbClr val="FF3300"/>
              </a:buClr>
              <a:buFont typeface="Wingdings" pitchFamily="2" charset="2"/>
              <a:buChar char="ü"/>
            </a:pPr>
            <a:r>
              <a:rPr lang="zh-CN" altLang="en-US" sz="2400" b="1" u="none" dirty="0" smtClean="0">
                <a:solidFill>
                  <a:schemeClr val="tx1"/>
                </a:solidFill>
              </a:rPr>
              <a:t>均值</a:t>
            </a:r>
            <a:endParaRPr lang="zh-CN" altLang="en-US" sz="2400" b="1" dirty="0">
              <a:solidFill>
                <a:schemeClr val="tx1"/>
              </a:solidFill>
            </a:endParaRPr>
          </a:p>
        </p:txBody>
      </p:sp>
      <p:sp>
        <p:nvSpPr>
          <p:cNvPr id="641044" name="Rectangle 20"/>
          <p:cNvSpPr>
            <a:spLocks noChangeArrowheads="1"/>
          </p:cNvSpPr>
          <p:nvPr/>
        </p:nvSpPr>
        <p:spPr bwMode="auto">
          <a:xfrm>
            <a:off x="0" y="32527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641043" name="Object 19"/>
          <p:cNvGraphicFramePr>
            <a:graphicFrameLocks noChangeAspect="1"/>
          </p:cNvGraphicFramePr>
          <p:nvPr/>
        </p:nvGraphicFramePr>
        <p:xfrm>
          <a:off x="3040063" y="1681163"/>
          <a:ext cx="2435225" cy="776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1322" name="Equation" r:id="rId3" imgW="1104421" imgH="355446" progId="Equation.DSMT4">
                  <p:embed/>
                </p:oleObj>
              </mc:Choice>
              <mc:Fallback>
                <p:oleObj name="Equation" r:id="rId3" imgW="1104421" imgH="355446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0063" y="1681163"/>
                        <a:ext cx="2435225" cy="7762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1045" name="Rectangle 21"/>
          <p:cNvSpPr>
            <a:spLocks noChangeArrowheads="1"/>
          </p:cNvSpPr>
          <p:nvPr/>
        </p:nvSpPr>
        <p:spPr bwMode="auto">
          <a:xfrm>
            <a:off x="1104900" y="2752081"/>
            <a:ext cx="143180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buClr>
                <a:srgbClr val="FF3300"/>
              </a:buClr>
              <a:buFont typeface="Wingdings" pitchFamily="2" charset="2"/>
              <a:buChar char="ü"/>
            </a:pPr>
            <a:r>
              <a:rPr lang="zh-CN" altLang="en-US" sz="2400" b="1" u="none">
                <a:solidFill>
                  <a:schemeClr val="tx1"/>
                </a:solidFill>
              </a:rPr>
              <a:t>均方值 </a:t>
            </a:r>
          </a:p>
        </p:txBody>
      </p:sp>
      <p:sp>
        <p:nvSpPr>
          <p:cNvPr id="641046" name="Rectangle 22"/>
          <p:cNvSpPr>
            <a:spLocks noChangeArrowheads="1"/>
          </p:cNvSpPr>
          <p:nvPr/>
        </p:nvSpPr>
        <p:spPr bwMode="auto">
          <a:xfrm>
            <a:off x="1133475" y="3672831"/>
            <a:ext cx="174118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buClr>
                <a:srgbClr val="FF3300"/>
              </a:buClr>
              <a:buFont typeface="Wingdings" pitchFamily="2" charset="2"/>
              <a:buChar char="ü"/>
            </a:pPr>
            <a:r>
              <a:rPr lang="zh-CN" altLang="en-US" sz="2400" b="1" u="none">
                <a:solidFill>
                  <a:schemeClr val="tx1"/>
                </a:solidFill>
              </a:rPr>
              <a:t>均方根值 </a:t>
            </a:r>
          </a:p>
        </p:txBody>
      </p:sp>
      <p:sp>
        <p:nvSpPr>
          <p:cNvPr id="641047" name="Rectangle 23"/>
          <p:cNvSpPr>
            <a:spLocks noChangeArrowheads="1"/>
          </p:cNvSpPr>
          <p:nvPr/>
        </p:nvSpPr>
        <p:spPr bwMode="auto">
          <a:xfrm>
            <a:off x="1162050" y="4528688"/>
            <a:ext cx="112242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buClr>
                <a:srgbClr val="FF3300"/>
              </a:buClr>
              <a:buFont typeface="Wingdings" pitchFamily="2" charset="2"/>
              <a:buChar char="ü"/>
            </a:pPr>
            <a:r>
              <a:rPr lang="zh-CN" altLang="en-US" sz="2400" b="1" u="none" dirty="0">
                <a:solidFill>
                  <a:schemeClr val="tx1"/>
                </a:solidFill>
              </a:rPr>
              <a:t>方差 </a:t>
            </a:r>
          </a:p>
        </p:txBody>
      </p:sp>
      <p:sp>
        <p:nvSpPr>
          <p:cNvPr id="641049" name="Rectangle 25"/>
          <p:cNvSpPr>
            <a:spLocks noChangeArrowheads="1"/>
          </p:cNvSpPr>
          <p:nvPr/>
        </p:nvSpPr>
        <p:spPr bwMode="auto">
          <a:xfrm>
            <a:off x="0" y="32527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641048" name="Object 24"/>
          <p:cNvGraphicFramePr>
            <a:graphicFrameLocks noChangeAspect="1"/>
          </p:cNvGraphicFramePr>
          <p:nvPr/>
        </p:nvGraphicFramePr>
        <p:xfrm>
          <a:off x="3013075" y="2516188"/>
          <a:ext cx="2933700" cy="882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1323" name="Equation" r:id="rId5" imgW="1168200" imgH="355320" progId="Equation.DSMT4">
                  <p:embed/>
                </p:oleObj>
              </mc:Choice>
              <mc:Fallback>
                <p:oleObj name="Equation" r:id="rId5" imgW="1168200" imgH="355320" progId="Equation.DSMT4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13075" y="2516188"/>
                        <a:ext cx="2933700" cy="8826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1051" name="Rectangle 27"/>
          <p:cNvSpPr>
            <a:spLocks noChangeArrowheads="1"/>
          </p:cNvSpPr>
          <p:nvPr/>
        </p:nvSpPr>
        <p:spPr bwMode="auto">
          <a:xfrm>
            <a:off x="0" y="32337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641050" name="Object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75426499"/>
              </p:ext>
            </p:extLst>
          </p:nvPr>
        </p:nvGraphicFramePr>
        <p:xfrm>
          <a:off x="3045558" y="3426558"/>
          <a:ext cx="3282950" cy="815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1324" name="Equation" r:id="rId7" imgW="1574640" imgH="393480" progId="Equation.DSMT4">
                  <p:embed/>
                </p:oleObj>
              </mc:Choice>
              <mc:Fallback>
                <p:oleObj name="Equation" r:id="rId7" imgW="1574640" imgH="393480" progId="Equation.DSMT4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5558" y="3426558"/>
                        <a:ext cx="3282950" cy="8159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1053" name="Rectangle 29"/>
          <p:cNvSpPr>
            <a:spLocks noChangeArrowheads="1"/>
          </p:cNvSpPr>
          <p:nvPr/>
        </p:nvSpPr>
        <p:spPr bwMode="auto">
          <a:xfrm>
            <a:off x="0" y="32527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641052" name="Object 28"/>
          <p:cNvGraphicFramePr>
            <a:graphicFrameLocks noChangeAspect="1"/>
          </p:cNvGraphicFramePr>
          <p:nvPr/>
        </p:nvGraphicFramePr>
        <p:xfrm>
          <a:off x="3071813" y="4356100"/>
          <a:ext cx="3205162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1325" name="Equation" r:id="rId9" imgW="1536033" imgH="355446" progId="Equation.DSMT4">
                  <p:embed/>
                </p:oleObj>
              </mc:Choice>
              <mc:Fallback>
                <p:oleObj name="Equation" r:id="rId9" imgW="1536033" imgH="355446" progId="Equation.DSMT4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1813" y="4356100"/>
                        <a:ext cx="3205162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1055" name="Rectangle 31"/>
          <p:cNvSpPr>
            <a:spLocks noChangeArrowheads="1"/>
          </p:cNvSpPr>
          <p:nvPr/>
        </p:nvSpPr>
        <p:spPr bwMode="auto">
          <a:xfrm>
            <a:off x="0" y="33194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641054" name="Object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2957112"/>
              </p:ext>
            </p:extLst>
          </p:nvPr>
        </p:nvGraphicFramePr>
        <p:xfrm>
          <a:off x="6132514" y="5178095"/>
          <a:ext cx="2012420" cy="5859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1326" name="Equation" r:id="rId11" imgW="748975" imgH="215806" progId="Equation.DSMT4">
                  <p:embed/>
                </p:oleObj>
              </mc:Choice>
              <mc:Fallback>
                <p:oleObj name="Equation" r:id="rId11" imgW="748975" imgH="215806" progId="Equation.DSMT4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32514" y="5178095"/>
                        <a:ext cx="2012420" cy="585992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1056" name="Rectangle 32"/>
          <p:cNvSpPr>
            <a:spLocks noChangeArrowheads="1"/>
          </p:cNvSpPr>
          <p:nvPr/>
        </p:nvSpPr>
        <p:spPr bwMode="auto">
          <a:xfrm>
            <a:off x="1133475" y="5304654"/>
            <a:ext cx="483497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buClr>
                <a:srgbClr val="FF3300"/>
              </a:buClr>
              <a:buFont typeface="Wingdings" pitchFamily="2" charset="2"/>
              <a:buChar char="ü"/>
            </a:pPr>
            <a:r>
              <a:rPr lang="zh-CN" altLang="en-US" sz="2400" b="1" u="none" dirty="0">
                <a:solidFill>
                  <a:schemeClr val="tx1"/>
                </a:solidFill>
              </a:rPr>
              <a:t>均值、方差和均方值之间的关系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2067" name="Group 19"/>
          <p:cNvGrpSpPr>
            <a:grpSpLocks/>
          </p:cNvGrpSpPr>
          <p:nvPr/>
        </p:nvGrpSpPr>
        <p:grpSpPr bwMode="auto">
          <a:xfrm>
            <a:off x="828675" y="931863"/>
            <a:ext cx="7808913" cy="2060575"/>
            <a:chOff x="841" y="2021"/>
            <a:chExt cx="4919" cy="1306"/>
          </a:xfrm>
        </p:grpSpPr>
        <p:pic>
          <p:nvPicPr>
            <p:cNvPr id="642068" name="Picture 20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179" t="35010" r="42180" b="35056"/>
            <a:stretch>
              <a:fillRect/>
            </a:stretch>
          </p:blipFill>
          <p:spPr bwMode="auto">
            <a:xfrm>
              <a:off x="841" y="2021"/>
              <a:ext cx="4919" cy="130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642069" name="Text Box 21"/>
            <p:cNvSpPr txBox="1">
              <a:spLocks noChangeArrowheads="1"/>
            </p:cNvSpPr>
            <p:nvPr/>
          </p:nvSpPr>
          <p:spPr bwMode="auto">
            <a:xfrm>
              <a:off x="1122" y="2125"/>
              <a:ext cx="23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u="none">
                  <a:solidFill>
                    <a:srgbClr val="FFFFCC"/>
                  </a:solidFill>
                  <a:ea typeface="宋体" pitchFamily="2" charset="-122"/>
                </a:rPr>
                <a:t>A</a:t>
              </a:r>
            </a:p>
          </p:txBody>
        </p:sp>
      </p:grpSp>
      <p:sp>
        <p:nvSpPr>
          <p:cNvPr id="642070" name="Text Box 22"/>
          <p:cNvSpPr txBox="1">
            <a:spLocks noChangeArrowheads="1"/>
          </p:cNvSpPr>
          <p:nvPr/>
        </p:nvSpPr>
        <p:spPr bwMode="auto">
          <a:xfrm>
            <a:off x="1741488" y="2451100"/>
            <a:ext cx="381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u="none">
                <a:solidFill>
                  <a:srgbClr val="FFFFCC"/>
                </a:solidFill>
                <a:ea typeface="宋体" pitchFamily="2" charset="-122"/>
              </a:rPr>
              <a:t>0</a:t>
            </a:r>
          </a:p>
        </p:txBody>
      </p:sp>
      <p:sp>
        <p:nvSpPr>
          <p:cNvPr id="642071" name="Text Box 23"/>
          <p:cNvSpPr txBox="1">
            <a:spLocks noChangeArrowheads="1"/>
          </p:cNvSpPr>
          <p:nvPr/>
        </p:nvSpPr>
        <p:spPr bwMode="auto">
          <a:xfrm>
            <a:off x="8306532" y="2435225"/>
            <a:ext cx="381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u="none" dirty="0">
                <a:solidFill>
                  <a:srgbClr val="FFFFCC"/>
                </a:solidFill>
                <a:ea typeface="宋体" pitchFamily="2" charset="-122"/>
              </a:rPr>
              <a:t>t</a:t>
            </a:r>
          </a:p>
        </p:txBody>
      </p:sp>
      <p:sp>
        <p:nvSpPr>
          <p:cNvPr id="642072" name="Text Box 24"/>
          <p:cNvSpPr txBox="1">
            <a:spLocks noChangeArrowheads="1"/>
          </p:cNvSpPr>
          <p:nvPr/>
        </p:nvSpPr>
        <p:spPr bwMode="auto">
          <a:xfrm>
            <a:off x="854075" y="3017838"/>
            <a:ext cx="7602538" cy="466725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400" b="1" u="none" dirty="0">
                <a:solidFill>
                  <a:srgbClr val="990000"/>
                </a:solidFill>
                <a:ea typeface="宋体" pitchFamily="2" charset="-122"/>
              </a:rPr>
              <a:t>均值：反映了信号变化的中心</a:t>
            </a:r>
            <a:r>
              <a:rPr lang="zh-CN" altLang="en-US" sz="2400" b="1" u="none" dirty="0" smtClean="0">
                <a:solidFill>
                  <a:srgbClr val="990000"/>
                </a:solidFill>
                <a:ea typeface="宋体" pitchFamily="2" charset="-122"/>
              </a:rPr>
              <a:t>趋势。</a:t>
            </a:r>
            <a:endParaRPr lang="zh-CN" altLang="en-US" sz="2400" b="1" u="none" dirty="0">
              <a:solidFill>
                <a:srgbClr val="990000"/>
              </a:solidFill>
              <a:ea typeface="宋体" pitchFamily="2" charset="-122"/>
            </a:endParaRPr>
          </a:p>
        </p:txBody>
      </p:sp>
      <p:sp>
        <p:nvSpPr>
          <p:cNvPr id="642073" name="Line 25"/>
          <p:cNvSpPr>
            <a:spLocks noChangeShapeType="1"/>
          </p:cNvSpPr>
          <p:nvPr/>
        </p:nvSpPr>
        <p:spPr bwMode="auto">
          <a:xfrm>
            <a:off x="1550988" y="1946275"/>
            <a:ext cx="6934200" cy="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42074" name="Line 26"/>
          <p:cNvSpPr>
            <a:spLocks noChangeShapeType="1"/>
          </p:cNvSpPr>
          <p:nvPr/>
        </p:nvSpPr>
        <p:spPr bwMode="auto">
          <a:xfrm>
            <a:off x="7077075" y="1960563"/>
            <a:ext cx="0" cy="949325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642075" name="Object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93556788"/>
              </p:ext>
            </p:extLst>
          </p:nvPr>
        </p:nvGraphicFramePr>
        <p:xfrm>
          <a:off x="7118351" y="2353733"/>
          <a:ext cx="404813" cy="4561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2279" name="Equation" r:id="rId4" imgW="190440" imgH="228600" progId="Equation.DSMT4">
                  <p:embed/>
                </p:oleObj>
              </mc:Choice>
              <mc:Fallback>
                <p:oleObj name="Equation" r:id="rId4" imgW="190440" imgH="228600" progId="Equation.DSMT4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18351" y="2353733"/>
                        <a:ext cx="404813" cy="45614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2076" name="Line 28"/>
          <p:cNvSpPr>
            <a:spLocks noChangeShapeType="1"/>
          </p:cNvSpPr>
          <p:nvPr/>
        </p:nvSpPr>
        <p:spPr bwMode="auto">
          <a:xfrm rot="-27000000">
            <a:off x="4742657" y="-900907"/>
            <a:ext cx="0" cy="7764463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642077" name="Line 29"/>
          <p:cNvSpPr>
            <a:spLocks noChangeShapeType="1"/>
          </p:cNvSpPr>
          <p:nvPr/>
        </p:nvSpPr>
        <p:spPr bwMode="auto">
          <a:xfrm rot="10800000" flipH="1">
            <a:off x="1702592" y="931862"/>
            <a:ext cx="7145" cy="208597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endParaRPr lang="zh-CN" altLang="en-US"/>
          </a:p>
        </p:txBody>
      </p:sp>
      <p:sp>
        <p:nvSpPr>
          <p:cNvPr id="642078" name="Line 30"/>
          <p:cNvSpPr>
            <a:spLocks noChangeShapeType="1"/>
          </p:cNvSpPr>
          <p:nvPr/>
        </p:nvSpPr>
        <p:spPr bwMode="auto">
          <a:xfrm>
            <a:off x="6851650" y="2987675"/>
            <a:ext cx="533400" cy="0"/>
          </a:xfrm>
          <a:prstGeom prst="line">
            <a:avLst/>
          </a:prstGeom>
          <a:noFill/>
          <a:ln w="508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642079" name="Group 31"/>
          <p:cNvGrpSpPr>
            <a:grpSpLocks/>
          </p:cNvGrpSpPr>
          <p:nvPr/>
        </p:nvGrpSpPr>
        <p:grpSpPr bwMode="auto">
          <a:xfrm>
            <a:off x="1550988" y="1946280"/>
            <a:ext cx="6934200" cy="1041401"/>
            <a:chOff x="1159" y="2562"/>
            <a:chExt cx="4368" cy="656"/>
          </a:xfrm>
        </p:grpSpPr>
        <p:sp>
          <p:nvSpPr>
            <p:cNvPr id="642080" name="Line 32"/>
            <p:cNvSpPr>
              <a:spLocks noChangeShapeType="1"/>
            </p:cNvSpPr>
            <p:nvPr/>
          </p:nvSpPr>
          <p:spPr bwMode="auto">
            <a:xfrm>
              <a:off x="1159" y="2562"/>
              <a:ext cx="4368" cy="0"/>
            </a:xfrm>
            <a:prstGeom prst="line">
              <a:avLst/>
            </a:prstGeom>
            <a:noFill/>
            <a:ln w="25400">
              <a:solidFill>
                <a:srgbClr val="CCFFC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2081" name="Line 33"/>
            <p:cNvSpPr>
              <a:spLocks noChangeShapeType="1"/>
            </p:cNvSpPr>
            <p:nvPr/>
          </p:nvSpPr>
          <p:spPr bwMode="auto">
            <a:xfrm>
              <a:off x="4640" y="2571"/>
              <a:ext cx="0" cy="598"/>
            </a:xfrm>
            <a:prstGeom prst="line">
              <a:avLst/>
            </a:prstGeom>
            <a:noFill/>
            <a:ln w="25400">
              <a:solidFill>
                <a:srgbClr val="CCFFFF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2083" name="Line 35"/>
            <p:cNvSpPr>
              <a:spLocks noChangeShapeType="1"/>
            </p:cNvSpPr>
            <p:nvPr/>
          </p:nvSpPr>
          <p:spPr bwMode="auto">
            <a:xfrm>
              <a:off x="4498" y="3218"/>
              <a:ext cx="336" cy="0"/>
            </a:xfrm>
            <a:prstGeom prst="line">
              <a:avLst/>
            </a:prstGeom>
            <a:noFill/>
            <a:ln w="50800">
              <a:solidFill>
                <a:srgbClr val="CCFFC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642098" name="Group 50"/>
          <p:cNvGrpSpPr>
            <a:grpSpLocks/>
          </p:cNvGrpSpPr>
          <p:nvPr/>
        </p:nvGrpSpPr>
        <p:grpSpPr bwMode="auto">
          <a:xfrm>
            <a:off x="3413125" y="728663"/>
            <a:ext cx="3514726" cy="654050"/>
            <a:chOff x="1757" y="126"/>
            <a:chExt cx="2214" cy="412"/>
          </a:xfrm>
        </p:grpSpPr>
        <p:sp>
          <p:nvSpPr>
            <p:cNvPr id="642084" name="Rectangle 36"/>
            <p:cNvSpPr>
              <a:spLocks noChangeArrowheads="1"/>
            </p:cNvSpPr>
            <p:nvPr/>
          </p:nvSpPr>
          <p:spPr bwMode="auto">
            <a:xfrm>
              <a:off x="1757" y="188"/>
              <a:ext cx="891" cy="288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buClr>
                  <a:srgbClr val="FF3300"/>
                </a:buClr>
                <a:buFont typeface="Wingdings" pitchFamily="2" charset="2"/>
                <a:buChar char="ü"/>
              </a:pPr>
              <a:r>
                <a:rPr lang="zh-CN" altLang="en-US" sz="2400" u="none" dirty="0">
                  <a:solidFill>
                    <a:schemeClr val="tx1"/>
                  </a:solidFill>
                </a:rPr>
                <a:t>均值    </a:t>
              </a:r>
              <a:r>
                <a:rPr lang="zh-CN" altLang="en-US" sz="2400" dirty="0">
                  <a:solidFill>
                    <a:schemeClr val="tx1"/>
                  </a:solidFill>
                </a:rPr>
                <a:t> </a:t>
              </a:r>
            </a:p>
          </p:txBody>
        </p:sp>
        <p:graphicFrame>
          <p:nvGraphicFramePr>
            <p:cNvPr id="642085" name="Object 3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40792769"/>
                </p:ext>
              </p:extLst>
            </p:nvPr>
          </p:nvGraphicFramePr>
          <p:xfrm>
            <a:off x="2678" y="126"/>
            <a:ext cx="1293" cy="4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42280" name="Equation" r:id="rId6" imgW="1104421" imgH="355446" progId="Equation.DSMT4">
                    <p:embed/>
                  </p:oleObj>
                </mc:Choice>
                <mc:Fallback>
                  <p:oleObj name="Equation" r:id="rId6" imgW="1104421" imgH="355446" progId="Equation.DSMT4">
                    <p:embed/>
                    <p:pic>
                      <p:nvPicPr>
                        <p:cNvPr id="0" name="Object 3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78" y="126"/>
                          <a:ext cx="1293" cy="412"/>
                        </a:xfrm>
                        <a:prstGeom prst="rect">
                          <a:avLst/>
                        </a:prstGeom>
                        <a:solidFill>
                          <a:srgbClr val="99CCFF"/>
                        </a:solidFill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42086" name="Text Box 38"/>
          <p:cNvSpPr txBox="1">
            <a:spLocks noChangeArrowheads="1"/>
          </p:cNvSpPr>
          <p:nvPr/>
        </p:nvSpPr>
        <p:spPr bwMode="auto">
          <a:xfrm>
            <a:off x="898525" y="5846763"/>
            <a:ext cx="7558088" cy="466725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400" b="1" u="none">
                <a:solidFill>
                  <a:srgbClr val="990000"/>
                </a:solidFill>
                <a:ea typeface="宋体" pitchFamily="2" charset="-122"/>
              </a:rPr>
              <a:t>方差：反映了信号绕均值的波动程度。 </a:t>
            </a:r>
          </a:p>
        </p:txBody>
      </p:sp>
      <p:sp>
        <p:nvSpPr>
          <p:cNvPr id="642088" name="Rectangle 40"/>
          <p:cNvSpPr>
            <a:spLocks noChangeArrowheads="1"/>
          </p:cNvSpPr>
          <p:nvPr/>
        </p:nvSpPr>
        <p:spPr bwMode="auto">
          <a:xfrm>
            <a:off x="866775" y="3979863"/>
            <a:ext cx="7888288" cy="1792287"/>
          </a:xfrm>
          <a:prstGeom prst="rect">
            <a:avLst/>
          </a:prstGeom>
          <a:gradFill rotWithShape="1">
            <a:gsLst>
              <a:gs pos="0">
                <a:srgbClr val="3366FF">
                  <a:gamma/>
                  <a:shade val="46275"/>
                  <a:invGamma/>
                </a:srgbClr>
              </a:gs>
              <a:gs pos="50000">
                <a:srgbClr val="3366FF"/>
              </a:gs>
              <a:gs pos="100000">
                <a:srgbClr val="3366FF">
                  <a:gamma/>
                  <a:shade val="46275"/>
                  <a:invGamma/>
                </a:srgbClr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pic>
        <p:nvPicPr>
          <p:cNvPr id="642089" name="Picture 41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8525" y="4062413"/>
            <a:ext cx="4251325" cy="10588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42090" name="Picture 42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3338" y="4294188"/>
            <a:ext cx="3627437" cy="542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642091" name="Group 43"/>
          <p:cNvGrpSpPr>
            <a:grpSpLocks/>
          </p:cNvGrpSpPr>
          <p:nvPr/>
        </p:nvGrpSpPr>
        <p:grpSpPr bwMode="auto">
          <a:xfrm>
            <a:off x="1000125" y="3692525"/>
            <a:ext cx="7834313" cy="1876425"/>
            <a:chOff x="748" y="1620"/>
            <a:chExt cx="4793" cy="1474"/>
          </a:xfrm>
        </p:grpSpPr>
        <p:sp>
          <p:nvSpPr>
            <p:cNvPr id="642092" name="Line 44"/>
            <p:cNvSpPr>
              <a:spLocks noChangeShapeType="1"/>
            </p:cNvSpPr>
            <p:nvPr/>
          </p:nvSpPr>
          <p:spPr bwMode="auto">
            <a:xfrm rot="10800000" flipH="1">
              <a:off x="1017" y="1620"/>
              <a:ext cx="9" cy="1474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642093" name="Line 45"/>
            <p:cNvSpPr>
              <a:spLocks noChangeShapeType="1"/>
            </p:cNvSpPr>
            <p:nvPr/>
          </p:nvSpPr>
          <p:spPr bwMode="auto">
            <a:xfrm rot="-5400000">
              <a:off x="3135" y="538"/>
              <a:ext cx="20" cy="4793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642094" name="Line 46"/>
          <p:cNvSpPr>
            <a:spLocks noChangeShapeType="1"/>
          </p:cNvSpPr>
          <p:nvPr/>
        </p:nvSpPr>
        <p:spPr bwMode="auto">
          <a:xfrm>
            <a:off x="866775" y="4608513"/>
            <a:ext cx="7874000" cy="0"/>
          </a:xfrm>
          <a:prstGeom prst="line">
            <a:avLst/>
          </a:prstGeom>
          <a:noFill/>
          <a:ln w="25400">
            <a:solidFill>
              <a:srgbClr val="CCFF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642095" name="Text Box 47"/>
          <p:cNvSpPr txBox="1">
            <a:spLocks noChangeArrowheads="1"/>
          </p:cNvSpPr>
          <p:nvPr/>
        </p:nvSpPr>
        <p:spPr bwMode="auto">
          <a:xfrm>
            <a:off x="8412163" y="5237163"/>
            <a:ext cx="4191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 i="1" u="none">
                <a:solidFill>
                  <a:srgbClr val="66FFFF"/>
                </a:solidFill>
                <a:ea typeface="宋体" pitchFamily="2" charset="-122"/>
              </a:rPr>
              <a:t>t</a:t>
            </a:r>
          </a:p>
        </p:txBody>
      </p:sp>
      <p:sp>
        <p:nvSpPr>
          <p:cNvPr id="642096" name="Text Box 48"/>
          <p:cNvSpPr txBox="1">
            <a:spLocks noChangeArrowheads="1"/>
          </p:cNvSpPr>
          <p:nvPr/>
        </p:nvSpPr>
        <p:spPr bwMode="auto">
          <a:xfrm>
            <a:off x="1433513" y="3770313"/>
            <a:ext cx="6985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 i="1" u="none">
                <a:solidFill>
                  <a:srgbClr val="66FFFF"/>
                </a:solidFill>
                <a:ea typeface="宋体" pitchFamily="2" charset="-122"/>
              </a:rPr>
              <a:t>x(t)</a:t>
            </a:r>
          </a:p>
        </p:txBody>
      </p:sp>
      <p:grpSp>
        <p:nvGrpSpPr>
          <p:cNvPr id="642101" name="Group 53"/>
          <p:cNvGrpSpPr>
            <a:grpSpLocks/>
          </p:cNvGrpSpPr>
          <p:nvPr/>
        </p:nvGrpSpPr>
        <p:grpSpPr bwMode="auto">
          <a:xfrm>
            <a:off x="4632325" y="3648075"/>
            <a:ext cx="3289300" cy="527050"/>
            <a:chOff x="1396" y="3416"/>
            <a:chExt cx="2072" cy="332"/>
          </a:xfrm>
        </p:grpSpPr>
        <p:sp>
          <p:nvSpPr>
            <p:cNvPr id="642099" name="Rectangle 51"/>
            <p:cNvSpPr>
              <a:spLocks noChangeArrowheads="1"/>
            </p:cNvSpPr>
            <p:nvPr/>
          </p:nvSpPr>
          <p:spPr bwMode="auto">
            <a:xfrm>
              <a:off x="1396" y="3422"/>
              <a:ext cx="699" cy="28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buClr>
                  <a:srgbClr val="FF3300"/>
                </a:buClr>
                <a:buFont typeface="Wingdings" pitchFamily="2" charset="2"/>
                <a:buChar char="ü"/>
              </a:pPr>
              <a:r>
                <a:rPr lang="zh-CN" altLang="en-US" sz="2400" u="none">
                  <a:solidFill>
                    <a:schemeClr val="tx1"/>
                  </a:solidFill>
                </a:rPr>
                <a:t>方差 </a:t>
              </a:r>
            </a:p>
          </p:txBody>
        </p:sp>
        <p:graphicFrame>
          <p:nvGraphicFramePr>
            <p:cNvPr id="642100" name="Object 5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67893856"/>
                </p:ext>
              </p:extLst>
            </p:nvPr>
          </p:nvGraphicFramePr>
          <p:xfrm>
            <a:off x="2023" y="3416"/>
            <a:ext cx="1445" cy="3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42281" name="Equation" r:id="rId9" imgW="1536033" imgH="355446" progId="Equation.DSMT4">
                    <p:embed/>
                  </p:oleObj>
                </mc:Choice>
                <mc:Fallback>
                  <p:oleObj name="Equation" r:id="rId9" imgW="1536033" imgH="355446" progId="Equation.DSMT4">
                    <p:embed/>
                    <p:pic>
                      <p:nvPicPr>
                        <p:cNvPr id="0" name="Object 5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23" y="3416"/>
                          <a:ext cx="1445" cy="332"/>
                        </a:xfrm>
                        <a:prstGeom prst="rect">
                          <a:avLst/>
                        </a:prstGeom>
                        <a:solidFill>
                          <a:schemeClr val="accent1"/>
                        </a:solidFill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5" name="Rectangle 2"/>
          <p:cNvSpPr>
            <a:spLocks noChangeArrowheads="1"/>
          </p:cNvSpPr>
          <p:nvPr/>
        </p:nvSpPr>
        <p:spPr bwMode="auto">
          <a:xfrm>
            <a:off x="288925" y="259287"/>
            <a:ext cx="41465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 b="1" u="none" dirty="0" smtClean="0">
                <a:solidFill>
                  <a:srgbClr val="800000"/>
                </a:solidFill>
                <a:ea typeface="宋体" pitchFamily="2" charset="-122"/>
              </a:rPr>
              <a:t>5.2 </a:t>
            </a:r>
            <a:r>
              <a:rPr lang="zh-CN" altLang="en-US" sz="3200" b="1" u="none" dirty="0">
                <a:solidFill>
                  <a:srgbClr val="800000"/>
                </a:solidFill>
                <a:ea typeface="宋体" pitchFamily="2" charset="-122"/>
              </a:rPr>
              <a:t>信号的幅值域分析</a:t>
            </a:r>
            <a:r>
              <a:rPr lang="zh-CN" altLang="en-US" b="1" u="none" dirty="0">
                <a:solidFill>
                  <a:srgbClr val="000066"/>
                </a:solidFill>
                <a:ea typeface="宋体" pitchFamily="2" charset="-122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2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420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420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2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420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420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2072" grpId="0" animBg="1" autoUpdateAnimBg="0"/>
      <p:bldP spid="642086" grpId="0" animBg="1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2873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35549678"/>
              </p:ext>
            </p:extLst>
          </p:nvPr>
        </p:nvGraphicFramePr>
        <p:xfrm>
          <a:off x="875241" y="1435985"/>
          <a:ext cx="5060950" cy="768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8973" name="Equation" r:id="rId3" imgW="2311200" imgH="431640" progId="Equation.DSMT4">
                  <p:embed/>
                </p:oleObj>
              </mc:Choice>
              <mc:Fallback>
                <p:oleObj name="Equation" r:id="rId3" imgW="2311200" imgH="43164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5241" y="1435985"/>
                        <a:ext cx="5060950" cy="768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28742" name="Picture 6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511"/>
          <a:stretch/>
        </p:blipFill>
        <p:spPr bwMode="auto">
          <a:xfrm>
            <a:off x="1616868" y="4157134"/>
            <a:ext cx="5637213" cy="2159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62874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38882318"/>
              </p:ext>
            </p:extLst>
          </p:nvPr>
        </p:nvGraphicFramePr>
        <p:xfrm>
          <a:off x="921851" y="2178050"/>
          <a:ext cx="4538174" cy="936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8974" name="Equation" r:id="rId6" imgW="1854000" imgH="469800" progId="Equation.DSMT4">
                  <p:embed/>
                </p:oleObj>
              </mc:Choice>
              <mc:Fallback>
                <p:oleObj name="Equation" r:id="rId6" imgW="1854000" imgH="4698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1851" y="2178050"/>
                        <a:ext cx="4538174" cy="936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874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06508208"/>
              </p:ext>
            </p:extLst>
          </p:nvPr>
        </p:nvGraphicFramePr>
        <p:xfrm>
          <a:off x="833437" y="3224426"/>
          <a:ext cx="3913223" cy="7824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8975" name="公式" r:id="rId8" imgW="1930320" imgH="419040" progId="Equation.3">
                  <p:embed/>
                </p:oleObj>
              </mc:Choice>
              <mc:Fallback>
                <p:oleObj name="公式" r:id="rId8" imgW="1930320" imgH="41904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3437" y="3224426"/>
                        <a:ext cx="3913223" cy="78241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8745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59297162"/>
              </p:ext>
            </p:extLst>
          </p:nvPr>
        </p:nvGraphicFramePr>
        <p:xfrm>
          <a:off x="4682055" y="3302000"/>
          <a:ext cx="3006725" cy="731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8976" name="公式" r:id="rId10" imgW="1117440" imgH="304560" progId="Equation.3">
                  <p:embed/>
                </p:oleObj>
              </mc:Choice>
              <mc:Fallback>
                <p:oleObj name="公式" r:id="rId10" imgW="1117440" imgH="30456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2055" y="3302000"/>
                        <a:ext cx="3006725" cy="731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28746" name="Group 10"/>
          <p:cNvGrpSpPr>
            <a:grpSpLocks/>
          </p:cNvGrpSpPr>
          <p:nvPr/>
        </p:nvGrpSpPr>
        <p:grpSpPr bwMode="auto">
          <a:xfrm>
            <a:off x="6578603" y="2482850"/>
            <a:ext cx="1668463" cy="819150"/>
            <a:chOff x="4578" y="1350"/>
            <a:chExt cx="1051" cy="516"/>
          </a:xfrm>
        </p:grpSpPr>
        <p:sp>
          <p:nvSpPr>
            <p:cNvPr id="628747" name="Rectangle 11"/>
            <p:cNvSpPr>
              <a:spLocks noChangeArrowheads="1"/>
            </p:cNvSpPr>
            <p:nvPr/>
          </p:nvSpPr>
          <p:spPr bwMode="auto">
            <a:xfrm>
              <a:off x="4815" y="1350"/>
              <a:ext cx="814" cy="294"/>
            </a:xfrm>
            <a:prstGeom prst="rect">
              <a:avLst/>
            </a:prstGeom>
            <a:solidFill>
              <a:srgbClr val="CCE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2000" b="1" u="none">
                  <a:solidFill>
                    <a:srgbClr val="FF3300"/>
                  </a:solidFill>
                  <a:ea typeface="宋体" pitchFamily="2" charset="-122"/>
                </a:rPr>
                <a:t>概率密度</a:t>
              </a:r>
              <a:r>
                <a:rPr lang="zh-CN" altLang="en-US" sz="2400" b="1" u="none">
                  <a:solidFill>
                    <a:schemeClr val="tx1"/>
                  </a:solidFill>
                  <a:ea typeface="宋体" pitchFamily="2" charset="-122"/>
                </a:rPr>
                <a:t> </a:t>
              </a:r>
            </a:p>
          </p:txBody>
        </p:sp>
        <p:sp>
          <p:nvSpPr>
            <p:cNvPr id="628748" name="Line 12"/>
            <p:cNvSpPr>
              <a:spLocks noChangeShapeType="1"/>
            </p:cNvSpPr>
            <p:nvPr/>
          </p:nvSpPr>
          <p:spPr bwMode="auto">
            <a:xfrm flipH="1">
              <a:off x="4578" y="1642"/>
              <a:ext cx="387" cy="224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628749" name="Group 13"/>
          <p:cNvGrpSpPr>
            <a:grpSpLocks/>
          </p:cNvGrpSpPr>
          <p:nvPr/>
        </p:nvGrpSpPr>
        <p:grpSpPr bwMode="auto">
          <a:xfrm>
            <a:off x="5513388" y="1544638"/>
            <a:ext cx="1701800" cy="938212"/>
            <a:chOff x="3533" y="995"/>
            <a:chExt cx="1072" cy="591"/>
          </a:xfrm>
        </p:grpSpPr>
        <p:sp>
          <p:nvSpPr>
            <p:cNvPr id="628750" name="Rectangle 14"/>
            <p:cNvSpPr>
              <a:spLocks noChangeArrowheads="1"/>
            </p:cNvSpPr>
            <p:nvPr/>
          </p:nvSpPr>
          <p:spPr bwMode="auto">
            <a:xfrm>
              <a:off x="4113" y="995"/>
              <a:ext cx="492" cy="294"/>
            </a:xfrm>
            <a:prstGeom prst="rect">
              <a:avLst/>
            </a:prstGeom>
            <a:solidFill>
              <a:srgbClr val="CCE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2000" b="1" u="none">
                  <a:solidFill>
                    <a:srgbClr val="FF3300"/>
                  </a:solidFill>
                  <a:ea typeface="宋体" pitchFamily="2" charset="-122"/>
                </a:rPr>
                <a:t>概率</a:t>
              </a:r>
              <a:r>
                <a:rPr lang="zh-CN" altLang="en-US" sz="2400" b="1" u="none">
                  <a:solidFill>
                    <a:schemeClr val="tx1"/>
                  </a:solidFill>
                  <a:ea typeface="宋体" pitchFamily="2" charset="-122"/>
                </a:rPr>
                <a:t> </a:t>
              </a:r>
            </a:p>
          </p:txBody>
        </p:sp>
        <p:sp>
          <p:nvSpPr>
            <p:cNvPr id="628751" name="Line 15"/>
            <p:cNvSpPr>
              <a:spLocks noChangeShapeType="1"/>
            </p:cNvSpPr>
            <p:nvPr/>
          </p:nvSpPr>
          <p:spPr bwMode="auto">
            <a:xfrm flipH="1">
              <a:off x="3533" y="1233"/>
              <a:ext cx="562" cy="353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628752" name="Rectangle 16"/>
          <p:cNvSpPr>
            <a:spLocks noChangeArrowheads="1"/>
          </p:cNvSpPr>
          <p:nvPr/>
        </p:nvSpPr>
        <p:spPr bwMode="auto">
          <a:xfrm>
            <a:off x="363537" y="925339"/>
            <a:ext cx="779414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b="1" u="none" dirty="0" smtClean="0">
                <a:solidFill>
                  <a:srgbClr val="000066"/>
                </a:solidFill>
              </a:rPr>
              <a:t>2. </a:t>
            </a:r>
            <a:r>
              <a:rPr lang="zh-CN" altLang="en-US" b="1" u="none" dirty="0" smtClean="0">
                <a:solidFill>
                  <a:srgbClr val="000066"/>
                </a:solidFill>
              </a:rPr>
              <a:t>概率密度函数：</a:t>
            </a:r>
            <a:r>
              <a:rPr lang="zh-CN" altLang="en-US" sz="1800" b="1" u="none" dirty="0" smtClean="0">
                <a:solidFill>
                  <a:srgbClr val="FF0000"/>
                </a:solidFill>
              </a:rPr>
              <a:t>描述信号幅值落在指定 区间的概率</a:t>
            </a:r>
            <a:r>
              <a:rPr lang="en-US" altLang="zh-CN" sz="1800" b="1" u="none" dirty="0" smtClean="0">
                <a:solidFill>
                  <a:srgbClr val="FF0000"/>
                </a:solidFill>
              </a:rPr>
              <a:t>.</a:t>
            </a:r>
            <a:endParaRPr lang="zh-CN" altLang="en-US" sz="1800" b="1" u="none" dirty="0">
              <a:solidFill>
                <a:srgbClr val="FF0000"/>
              </a:solidFill>
            </a:endParaRPr>
          </a:p>
        </p:txBody>
      </p:sp>
      <p:sp>
        <p:nvSpPr>
          <p:cNvPr id="16" name="Rectangle 2"/>
          <p:cNvSpPr>
            <a:spLocks noChangeArrowheads="1"/>
          </p:cNvSpPr>
          <p:nvPr/>
        </p:nvSpPr>
        <p:spPr bwMode="auto">
          <a:xfrm>
            <a:off x="288925" y="259287"/>
            <a:ext cx="41465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 b="1" u="none" dirty="0" smtClean="0">
                <a:solidFill>
                  <a:srgbClr val="800000"/>
                </a:solidFill>
                <a:ea typeface="宋体" pitchFamily="2" charset="-122"/>
              </a:rPr>
              <a:t>5.2 </a:t>
            </a:r>
            <a:r>
              <a:rPr lang="zh-CN" altLang="en-US" sz="3200" b="1" u="none" dirty="0">
                <a:solidFill>
                  <a:srgbClr val="800000"/>
                </a:solidFill>
                <a:ea typeface="宋体" pitchFamily="2" charset="-122"/>
              </a:rPr>
              <a:t>信号的幅值域分析</a:t>
            </a:r>
            <a:r>
              <a:rPr lang="zh-CN" altLang="en-US" b="1" u="none" dirty="0">
                <a:solidFill>
                  <a:srgbClr val="000066"/>
                </a:solidFill>
                <a:ea typeface="宋体" pitchFamily="2" charset="-122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287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287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287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287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287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287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287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287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287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287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287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287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3" dur="500"/>
                                        <p:tgtEl>
                                          <p:spTgt spid="6287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875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763" name="Rectangle 3"/>
          <p:cNvSpPr>
            <a:spLocks noChangeArrowheads="1"/>
          </p:cNvSpPr>
          <p:nvPr/>
        </p:nvSpPr>
        <p:spPr bwMode="auto">
          <a:xfrm>
            <a:off x="565150" y="890973"/>
            <a:ext cx="8208963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sz="2400" b="1" u="none" dirty="0">
                <a:solidFill>
                  <a:schemeClr val="tx1"/>
                </a:solidFill>
              </a:rPr>
              <a:t>        </a:t>
            </a:r>
            <a:r>
              <a:rPr lang="zh-CN" altLang="en-US" sz="2400" b="1" u="none" dirty="0">
                <a:solidFill>
                  <a:schemeClr val="tx1"/>
                </a:solidFill>
              </a:rPr>
              <a:t>以幅值大小为横坐标，以每个幅值间隔内出现的概率为纵坐标进行统计分析的方法。它反映了</a:t>
            </a:r>
            <a:r>
              <a:rPr lang="zh-CN" altLang="en-US" sz="2400" b="1" u="none" dirty="0">
                <a:solidFill>
                  <a:srgbClr val="FF3300"/>
                </a:solidFill>
              </a:rPr>
              <a:t>信号落在不同幅值强度区域内的概率情况</a:t>
            </a:r>
            <a:r>
              <a:rPr lang="zh-CN" altLang="en-US" sz="2400" b="1" u="none" dirty="0">
                <a:solidFill>
                  <a:schemeClr val="tx1"/>
                </a:solidFill>
              </a:rPr>
              <a:t>。 </a:t>
            </a:r>
          </a:p>
        </p:txBody>
      </p:sp>
      <p:graphicFrame>
        <p:nvGraphicFramePr>
          <p:cNvPr id="62976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28639697"/>
              </p:ext>
            </p:extLst>
          </p:nvPr>
        </p:nvGraphicFramePr>
        <p:xfrm>
          <a:off x="2029522" y="2092760"/>
          <a:ext cx="4461766" cy="9663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9817" name="公式" r:id="rId3" imgW="1930320" imgH="419040" progId="Equation.3">
                  <p:embed/>
                </p:oleObj>
              </mc:Choice>
              <mc:Fallback>
                <p:oleObj name="公式" r:id="rId3" imgW="1930320" imgH="41904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29522" y="2092760"/>
                        <a:ext cx="4461766" cy="96635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29765" name="Picture 5" descr="y06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7287" y="3074988"/>
            <a:ext cx="6753813" cy="2914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288925" y="259287"/>
            <a:ext cx="41465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 b="1" u="none" dirty="0" smtClean="0">
                <a:solidFill>
                  <a:srgbClr val="800000"/>
                </a:solidFill>
                <a:ea typeface="宋体" pitchFamily="2" charset="-122"/>
              </a:rPr>
              <a:t>5.2 </a:t>
            </a:r>
            <a:r>
              <a:rPr lang="zh-CN" altLang="en-US" sz="3200" b="1" u="none" dirty="0">
                <a:solidFill>
                  <a:srgbClr val="800000"/>
                </a:solidFill>
                <a:ea typeface="宋体" pitchFamily="2" charset="-122"/>
              </a:rPr>
              <a:t>信号的幅值域分析</a:t>
            </a:r>
            <a:r>
              <a:rPr lang="zh-CN" altLang="en-US" b="1" u="none" dirty="0">
                <a:solidFill>
                  <a:srgbClr val="000066"/>
                </a:solidFill>
                <a:ea typeface="宋体" pitchFamily="2" charset="-122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6297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976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786" name="Rectangle 2"/>
          <p:cNvSpPr>
            <a:spLocks noChangeArrowheads="1"/>
          </p:cNvSpPr>
          <p:nvPr/>
        </p:nvSpPr>
        <p:spPr bwMode="auto">
          <a:xfrm>
            <a:off x="338138" y="897441"/>
            <a:ext cx="3429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b="1" u="none" dirty="0">
                <a:solidFill>
                  <a:srgbClr val="000066"/>
                </a:solidFill>
              </a:rPr>
              <a:t>2. </a:t>
            </a:r>
            <a:r>
              <a:rPr lang="zh-CN" altLang="en-US" b="1" u="none" dirty="0">
                <a:solidFill>
                  <a:srgbClr val="000066"/>
                </a:solidFill>
              </a:rPr>
              <a:t>概率分布函数</a:t>
            </a:r>
            <a:r>
              <a:rPr lang="zh-CN" altLang="en-US" sz="1100" u="none" dirty="0">
                <a:solidFill>
                  <a:srgbClr val="000066"/>
                </a:solidFill>
              </a:rPr>
              <a:t> </a:t>
            </a:r>
            <a:endParaRPr lang="zh-CN" altLang="en-US" sz="2400" u="none" dirty="0">
              <a:solidFill>
                <a:srgbClr val="000066"/>
              </a:solidFill>
            </a:endParaRPr>
          </a:p>
        </p:txBody>
      </p:sp>
      <p:sp>
        <p:nvSpPr>
          <p:cNvPr id="630787" name="Rectangle 3"/>
          <p:cNvSpPr>
            <a:spLocks noChangeArrowheads="1"/>
          </p:cNvSpPr>
          <p:nvPr/>
        </p:nvSpPr>
        <p:spPr bwMode="auto">
          <a:xfrm>
            <a:off x="528638" y="1387475"/>
            <a:ext cx="76200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sz="2400" b="1" u="none" dirty="0">
                <a:solidFill>
                  <a:schemeClr val="tx1"/>
                </a:solidFill>
              </a:rPr>
              <a:t>        </a:t>
            </a:r>
            <a:r>
              <a:rPr lang="zh-CN" altLang="en-US" sz="2400" b="1" u="none" dirty="0">
                <a:solidFill>
                  <a:srgbClr val="FF0000"/>
                </a:solidFill>
              </a:rPr>
              <a:t>概率分布函数</a:t>
            </a:r>
            <a:r>
              <a:rPr lang="zh-CN" altLang="en-US" sz="2400" b="1" u="none" dirty="0">
                <a:solidFill>
                  <a:schemeClr val="tx1"/>
                </a:solidFill>
              </a:rPr>
              <a:t>是信号幅值</a:t>
            </a:r>
            <a:r>
              <a:rPr lang="zh-CN" altLang="en-US" sz="2400" b="1" u="none" dirty="0">
                <a:solidFill>
                  <a:srgbClr val="FF0000"/>
                </a:solidFill>
              </a:rPr>
              <a:t>小于或等于某值</a:t>
            </a:r>
            <a:r>
              <a:rPr lang="en-US" altLang="zh-CN" sz="2400" b="1" u="none" dirty="0">
                <a:solidFill>
                  <a:srgbClr val="FF0000"/>
                </a:solidFill>
              </a:rPr>
              <a:t>R</a:t>
            </a:r>
            <a:r>
              <a:rPr lang="zh-CN" altLang="en-US" sz="2400" b="1" u="none" dirty="0">
                <a:solidFill>
                  <a:schemeClr val="tx1"/>
                </a:solidFill>
              </a:rPr>
              <a:t>的概率，其定义为： </a:t>
            </a:r>
          </a:p>
        </p:txBody>
      </p:sp>
      <p:sp>
        <p:nvSpPr>
          <p:cNvPr id="630788" name="Rectangle 4"/>
          <p:cNvSpPr>
            <a:spLocks noChangeArrowheads="1"/>
          </p:cNvSpPr>
          <p:nvPr/>
        </p:nvSpPr>
        <p:spPr bwMode="auto">
          <a:xfrm>
            <a:off x="696913" y="3629025"/>
            <a:ext cx="739140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sz="2400" b="1" u="none">
                <a:solidFill>
                  <a:schemeClr val="tx1"/>
                </a:solidFill>
              </a:rPr>
              <a:t>概率分布函数又称之为累积概率，表示了落在某一区间的概率。 </a:t>
            </a:r>
          </a:p>
        </p:txBody>
      </p:sp>
      <p:graphicFrame>
        <p:nvGraphicFramePr>
          <p:cNvPr id="630789" name="Object 5"/>
          <p:cNvGraphicFramePr>
            <a:graphicFrameLocks noChangeAspect="1"/>
          </p:cNvGraphicFramePr>
          <p:nvPr/>
        </p:nvGraphicFramePr>
        <p:xfrm>
          <a:off x="2300288" y="2438400"/>
          <a:ext cx="3505200" cy="912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0841" name="Equation" r:id="rId3" imgW="1130040" imgH="330120" progId="Equation.3">
                  <p:embed/>
                </p:oleObj>
              </mc:Choice>
              <mc:Fallback>
                <p:oleObj name="Equation" r:id="rId3" imgW="1130040" imgH="33012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00288" y="2438400"/>
                        <a:ext cx="3505200" cy="912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288925" y="259287"/>
            <a:ext cx="41465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 b="1" u="none" dirty="0" smtClean="0">
                <a:solidFill>
                  <a:srgbClr val="800000"/>
                </a:solidFill>
                <a:ea typeface="宋体" pitchFamily="2" charset="-122"/>
              </a:rPr>
              <a:t>5.2 </a:t>
            </a:r>
            <a:r>
              <a:rPr lang="zh-CN" altLang="en-US" sz="3200" b="1" u="none" dirty="0">
                <a:solidFill>
                  <a:srgbClr val="800000"/>
                </a:solidFill>
                <a:ea typeface="宋体" pitchFamily="2" charset="-122"/>
              </a:rPr>
              <a:t>信号的幅值域分析</a:t>
            </a:r>
            <a:r>
              <a:rPr lang="zh-CN" altLang="en-US" b="1" u="none" dirty="0">
                <a:solidFill>
                  <a:srgbClr val="000066"/>
                </a:solidFill>
                <a:ea typeface="宋体" pitchFamily="2" charset="-122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18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188" y="1059366"/>
            <a:ext cx="7391400" cy="53771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288925" y="259287"/>
            <a:ext cx="41465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 b="1" u="none" dirty="0" smtClean="0">
                <a:solidFill>
                  <a:srgbClr val="800000"/>
                </a:solidFill>
                <a:ea typeface="宋体" pitchFamily="2" charset="-122"/>
              </a:rPr>
              <a:t>5.2 </a:t>
            </a:r>
            <a:r>
              <a:rPr lang="zh-CN" altLang="en-US" sz="3200" b="1" u="none" dirty="0">
                <a:solidFill>
                  <a:srgbClr val="800000"/>
                </a:solidFill>
                <a:ea typeface="宋体" pitchFamily="2" charset="-122"/>
              </a:rPr>
              <a:t>信号的幅值域分析</a:t>
            </a:r>
            <a:r>
              <a:rPr lang="zh-CN" altLang="en-US" b="1" u="none" dirty="0">
                <a:solidFill>
                  <a:srgbClr val="000066"/>
                </a:solidFill>
                <a:ea typeface="宋体" pitchFamily="2" charset="-122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100" name="Rectangle 4"/>
          <p:cNvSpPr>
            <a:spLocks noChangeArrowheads="1"/>
          </p:cNvSpPr>
          <p:nvPr/>
        </p:nvSpPr>
        <p:spPr bwMode="auto">
          <a:xfrm>
            <a:off x="379413" y="300831"/>
            <a:ext cx="3738562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 b="1" u="none" dirty="0" smtClean="0">
                <a:solidFill>
                  <a:srgbClr val="800000"/>
                </a:solidFill>
                <a:ea typeface="宋体" pitchFamily="2" charset="-122"/>
              </a:rPr>
              <a:t>5.3 </a:t>
            </a:r>
            <a:r>
              <a:rPr lang="zh-CN" altLang="en-US" sz="3200" b="1" u="none" dirty="0">
                <a:solidFill>
                  <a:srgbClr val="800000"/>
                </a:solidFill>
                <a:ea typeface="宋体" pitchFamily="2" charset="-122"/>
              </a:rPr>
              <a:t>相关分析及应用</a:t>
            </a:r>
            <a:r>
              <a:rPr lang="zh-CN" altLang="en-US" b="1" u="none" dirty="0">
                <a:solidFill>
                  <a:srgbClr val="000066"/>
                </a:solidFill>
                <a:ea typeface="宋体" pitchFamily="2" charset="-122"/>
              </a:rPr>
              <a:t> </a:t>
            </a:r>
          </a:p>
        </p:txBody>
      </p:sp>
      <p:sp>
        <p:nvSpPr>
          <p:cNvPr id="516101" name="Rectangle 5"/>
          <p:cNvSpPr>
            <a:spLocks noChangeArrowheads="1"/>
          </p:cNvSpPr>
          <p:nvPr/>
        </p:nvSpPr>
        <p:spPr bwMode="auto">
          <a:xfrm>
            <a:off x="517525" y="1084263"/>
            <a:ext cx="2438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b="1" u="none">
                <a:solidFill>
                  <a:srgbClr val="000066"/>
                </a:solidFill>
              </a:rPr>
              <a:t>1.</a:t>
            </a:r>
            <a:r>
              <a:rPr lang="zh-CN" altLang="en-US" b="1" u="none">
                <a:solidFill>
                  <a:srgbClr val="000066"/>
                </a:solidFill>
              </a:rPr>
              <a:t>相关的概念</a:t>
            </a:r>
          </a:p>
        </p:txBody>
      </p:sp>
      <p:pic>
        <p:nvPicPr>
          <p:cNvPr id="516102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3275" y="1401763"/>
            <a:ext cx="4310063" cy="18018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16103" name="Rectangle 7"/>
          <p:cNvSpPr>
            <a:spLocks noChangeArrowheads="1"/>
          </p:cNvSpPr>
          <p:nvPr/>
        </p:nvSpPr>
        <p:spPr bwMode="auto">
          <a:xfrm>
            <a:off x="561975" y="3449638"/>
            <a:ext cx="47926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buClr>
                <a:srgbClr val="FF3300"/>
              </a:buClr>
              <a:buFont typeface="Wingdings" pitchFamily="2" charset="2"/>
              <a:buChar char="Ø"/>
            </a:pPr>
            <a:r>
              <a:rPr kumimoji="0" lang="zh-CN" altLang="en-US" sz="2400" b="1" u="none">
                <a:solidFill>
                  <a:schemeClr val="tx1"/>
                </a:solidFill>
                <a:ea typeface="宋体" pitchFamily="2" charset="-122"/>
              </a:rPr>
              <a:t>相关：指两变量之间的</a:t>
            </a:r>
            <a:r>
              <a:rPr kumimoji="0" lang="zh-CN" altLang="en-US" sz="2400" b="1" u="none">
                <a:solidFill>
                  <a:srgbClr val="FF3300"/>
                </a:solidFill>
                <a:ea typeface="宋体" pitchFamily="2" charset="-122"/>
              </a:rPr>
              <a:t>线性</a:t>
            </a:r>
            <a:r>
              <a:rPr kumimoji="0" lang="zh-CN" altLang="en-US" sz="2400" b="1" u="none">
                <a:solidFill>
                  <a:schemeClr val="tx1"/>
                </a:solidFill>
                <a:ea typeface="宋体" pitchFamily="2" charset="-122"/>
              </a:rPr>
              <a:t>关系 </a:t>
            </a:r>
          </a:p>
        </p:txBody>
      </p:sp>
      <p:sp>
        <p:nvSpPr>
          <p:cNvPr id="516104" name="Rectangle 8"/>
          <p:cNvSpPr>
            <a:spLocks noChangeArrowheads="1"/>
          </p:cNvSpPr>
          <p:nvPr/>
        </p:nvSpPr>
        <p:spPr bwMode="auto">
          <a:xfrm>
            <a:off x="550863" y="2943225"/>
            <a:ext cx="35671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buClr>
                <a:srgbClr val="FF3300"/>
              </a:buClr>
              <a:buFont typeface="Wingdings" pitchFamily="2" charset="2"/>
              <a:buChar char="Ø"/>
            </a:pPr>
            <a:r>
              <a:rPr kumimoji="0" lang="zh-CN" altLang="en-US" sz="2400" b="1" u="none">
                <a:solidFill>
                  <a:schemeClr val="tx1"/>
                </a:solidFill>
                <a:ea typeface="宋体" pitchFamily="2" charset="-122"/>
              </a:rPr>
              <a:t>人的身高和体重的关系 </a:t>
            </a:r>
          </a:p>
        </p:txBody>
      </p:sp>
      <p:sp>
        <p:nvSpPr>
          <p:cNvPr id="516105" name="Rectangle 9"/>
          <p:cNvSpPr>
            <a:spLocks noChangeArrowheads="1"/>
          </p:cNvSpPr>
          <p:nvPr/>
        </p:nvSpPr>
        <p:spPr bwMode="auto">
          <a:xfrm>
            <a:off x="588963" y="1616075"/>
            <a:ext cx="3822700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>
              <a:buClr>
                <a:srgbClr val="FF3300"/>
              </a:buClr>
              <a:buFont typeface="Wingdings" pitchFamily="2" charset="2"/>
              <a:buChar char="Ø"/>
            </a:pPr>
            <a:r>
              <a:rPr kumimoji="0" lang="zh-CN" altLang="en-US" sz="2400" b="1" u="none">
                <a:solidFill>
                  <a:schemeClr val="tx1"/>
                </a:solidFill>
                <a:ea typeface="宋体" pitchFamily="2" charset="-122"/>
              </a:rPr>
              <a:t>确定性信号：两个变量</a:t>
            </a:r>
            <a:r>
              <a:rPr kumimoji="0" lang="zh-CN" altLang="en-US" sz="2400" b="1" i="1" u="none">
                <a:solidFill>
                  <a:schemeClr val="tx1"/>
                </a:solidFill>
                <a:ea typeface="宋体" pitchFamily="2" charset="-122"/>
              </a:rPr>
              <a:t> </a:t>
            </a:r>
            <a:r>
              <a:rPr kumimoji="0" lang="en-US" altLang="zh-CN" sz="2400" b="1" i="1" u="none">
                <a:solidFill>
                  <a:schemeClr val="tx1"/>
                </a:solidFill>
                <a:ea typeface="宋体" pitchFamily="2" charset="-122"/>
              </a:rPr>
              <a:t>t</a:t>
            </a:r>
            <a:r>
              <a:rPr kumimoji="0" lang="zh-CN" altLang="en-US" sz="2400" b="1" u="none">
                <a:solidFill>
                  <a:schemeClr val="tx1"/>
                </a:solidFill>
                <a:ea typeface="宋体" pitchFamily="2" charset="-122"/>
              </a:rPr>
              <a:t>、</a:t>
            </a:r>
            <a:r>
              <a:rPr kumimoji="0" lang="en-US" altLang="zh-CN" sz="2400" b="1" i="1" u="none">
                <a:solidFill>
                  <a:schemeClr val="tx1"/>
                </a:solidFill>
                <a:ea typeface="宋体" pitchFamily="2" charset="-122"/>
              </a:rPr>
              <a:t>y</a:t>
            </a:r>
            <a:r>
              <a:rPr kumimoji="0" lang="zh-CN" altLang="en-US" sz="2400" b="1" u="none">
                <a:solidFill>
                  <a:schemeClr val="tx1"/>
                </a:solidFill>
                <a:ea typeface="宋体" pitchFamily="2" charset="-122"/>
              </a:rPr>
              <a:t>之间用</a:t>
            </a:r>
            <a:r>
              <a:rPr kumimoji="0" lang="zh-CN" altLang="en-US" sz="2400" b="1" u="none">
                <a:solidFill>
                  <a:srgbClr val="FF3300"/>
                </a:solidFill>
                <a:ea typeface="宋体" pitchFamily="2" charset="-122"/>
              </a:rPr>
              <a:t>函数关系</a:t>
            </a:r>
            <a:r>
              <a:rPr kumimoji="0" lang="zh-CN" altLang="en-US" sz="2400" b="1" u="none">
                <a:solidFill>
                  <a:schemeClr val="tx1"/>
                </a:solidFill>
                <a:ea typeface="宋体" pitchFamily="2" charset="-122"/>
              </a:rPr>
              <a:t>来描述</a:t>
            </a:r>
          </a:p>
          <a:p>
            <a:pPr>
              <a:buClr>
                <a:srgbClr val="FF3300"/>
              </a:buClr>
              <a:buFont typeface="Wingdings" pitchFamily="2" charset="2"/>
              <a:buNone/>
            </a:pPr>
            <a:r>
              <a:rPr kumimoji="0" lang="zh-CN" altLang="en-US" sz="2400" b="1" u="none">
                <a:solidFill>
                  <a:schemeClr val="tx1"/>
                </a:solidFill>
                <a:ea typeface="宋体" pitchFamily="2" charset="-122"/>
              </a:rPr>
              <a:t>    </a:t>
            </a:r>
            <a:r>
              <a:rPr kumimoji="0" lang="en-US" altLang="zh-CN" sz="2400" b="1" u="none">
                <a:solidFill>
                  <a:schemeClr val="tx1"/>
                </a:solidFill>
                <a:ea typeface="宋体" pitchFamily="2" charset="-122"/>
              </a:rPr>
              <a:t>y=10sin(2π ƒ t+φ </a:t>
            </a:r>
            <a:r>
              <a:rPr kumimoji="0" lang="en-US" altLang="zh-CN" sz="2400" b="1" u="none" baseline="-25000">
                <a:solidFill>
                  <a:schemeClr val="tx1"/>
                </a:solidFill>
                <a:ea typeface="宋体" pitchFamily="2" charset="-122"/>
              </a:rPr>
              <a:t>0</a:t>
            </a:r>
            <a:r>
              <a:rPr kumimoji="0" lang="en-US" altLang="zh-CN" sz="2400" b="1" u="none">
                <a:solidFill>
                  <a:schemeClr val="tx1"/>
                </a:solidFill>
                <a:ea typeface="宋体" pitchFamily="2" charset="-122"/>
              </a:rPr>
              <a:t>) </a:t>
            </a:r>
          </a:p>
        </p:txBody>
      </p:sp>
      <p:sp>
        <p:nvSpPr>
          <p:cNvPr id="516109" name="Rectangle 13"/>
          <p:cNvSpPr>
            <a:spLocks noChangeArrowheads="1"/>
          </p:cNvSpPr>
          <p:nvPr/>
        </p:nvSpPr>
        <p:spPr bwMode="auto">
          <a:xfrm>
            <a:off x="2160588" y="6151563"/>
            <a:ext cx="4508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0" lang="en-US" altLang="zh-CN" sz="1800" b="1" u="none">
                <a:solidFill>
                  <a:srgbClr val="FF3300"/>
                </a:solidFill>
                <a:ea typeface="宋体" pitchFamily="2" charset="-122"/>
              </a:rPr>
              <a:t>(a)</a:t>
            </a:r>
          </a:p>
        </p:txBody>
      </p:sp>
      <p:sp>
        <p:nvSpPr>
          <p:cNvPr id="516110" name="Rectangle 14"/>
          <p:cNvSpPr>
            <a:spLocks noChangeArrowheads="1"/>
          </p:cNvSpPr>
          <p:nvPr/>
        </p:nvSpPr>
        <p:spPr bwMode="auto">
          <a:xfrm>
            <a:off x="4613275" y="6127750"/>
            <a:ext cx="4635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0" lang="en-US" altLang="zh-CN" sz="1800" b="1" u="none">
                <a:solidFill>
                  <a:srgbClr val="FF3300"/>
                </a:solidFill>
                <a:ea typeface="宋体" pitchFamily="2" charset="-122"/>
              </a:rPr>
              <a:t>(b)</a:t>
            </a:r>
          </a:p>
        </p:txBody>
      </p:sp>
      <p:sp>
        <p:nvSpPr>
          <p:cNvPr id="516111" name="Rectangle 15"/>
          <p:cNvSpPr>
            <a:spLocks noChangeArrowheads="1"/>
          </p:cNvSpPr>
          <p:nvPr/>
        </p:nvSpPr>
        <p:spPr bwMode="auto">
          <a:xfrm>
            <a:off x="6964363" y="6076950"/>
            <a:ext cx="438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0" lang="en-US" altLang="zh-CN" sz="1800" b="1" u="none">
                <a:solidFill>
                  <a:srgbClr val="FF3300"/>
                </a:solidFill>
                <a:ea typeface="宋体" pitchFamily="2" charset="-122"/>
              </a:rPr>
              <a:t>(c)</a:t>
            </a:r>
          </a:p>
        </p:txBody>
      </p:sp>
      <p:pic>
        <p:nvPicPr>
          <p:cNvPr id="516112" name="Picture 16" descr="图片1"/>
          <p:cNvPicPr>
            <a:picLocks noGrp="1" noChangeAspect="1" noChangeArrowheads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295400" y="3998913"/>
            <a:ext cx="1992313" cy="2262187"/>
          </a:xfrm>
          <a:ln/>
        </p:spPr>
      </p:pic>
      <p:pic>
        <p:nvPicPr>
          <p:cNvPr id="516114" name="Picture 18" descr="图片1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97275" y="3987800"/>
            <a:ext cx="2201863" cy="2185988"/>
          </a:xfrm>
          <a:ln/>
        </p:spPr>
      </p:pic>
      <p:pic>
        <p:nvPicPr>
          <p:cNvPr id="516117" name="Picture 21" descr="图片1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015038" y="4002088"/>
            <a:ext cx="2179637" cy="2149475"/>
          </a:xfrm>
          <a:ln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161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161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5161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161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16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16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16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16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161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16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161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161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161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161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5161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5161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161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161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516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516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6103" grpId="0"/>
      <p:bldP spid="516104" grpId="0"/>
      <p:bldP spid="516105" grpId="0"/>
      <p:bldP spid="516109" grpId="0"/>
      <p:bldP spid="516110" grpId="0"/>
      <p:bldP spid="51611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194" name="Rectangle 2"/>
          <p:cNvSpPr>
            <a:spLocks noGrp="1" noChangeArrowheads="1"/>
          </p:cNvSpPr>
          <p:nvPr>
            <p:ph type="title"/>
          </p:nvPr>
        </p:nvSpPr>
        <p:spPr>
          <a:xfrm>
            <a:off x="227012" y="888299"/>
            <a:ext cx="3951288" cy="547687"/>
          </a:xfrm>
          <a:noFill/>
          <a:ln/>
        </p:spPr>
        <p:txBody>
          <a:bodyPr anchor="b"/>
          <a:lstStyle/>
          <a:p>
            <a:r>
              <a:rPr kumimoji="1" lang="en-US" altLang="zh-CN" sz="2800" b="1" dirty="0">
                <a:solidFill>
                  <a:srgbClr val="000066"/>
                </a:solidFill>
                <a:ea typeface="黑体" pitchFamily="2" charset="-122"/>
              </a:rPr>
              <a:t>2.</a:t>
            </a:r>
            <a:r>
              <a:rPr kumimoji="1" lang="zh-CN" altLang="en-US" sz="2800" b="1" dirty="0">
                <a:solidFill>
                  <a:srgbClr val="000066"/>
                </a:solidFill>
                <a:ea typeface="黑体" pitchFamily="2" charset="-122"/>
              </a:rPr>
              <a:t>相关函数和相关系数</a:t>
            </a:r>
            <a:r>
              <a:rPr lang="zh-CN" altLang="en-US" dirty="0"/>
              <a:t> </a:t>
            </a:r>
          </a:p>
        </p:txBody>
      </p:sp>
      <p:sp>
        <p:nvSpPr>
          <p:cNvPr id="520196" name="Rectangle 4"/>
          <p:cNvSpPr>
            <a:spLocks noChangeArrowheads="1"/>
          </p:cNvSpPr>
          <p:nvPr/>
        </p:nvSpPr>
        <p:spPr bwMode="auto">
          <a:xfrm>
            <a:off x="471488" y="1848351"/>
            <a:ext cx="8158162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buClr>
                <a:srgbClr val="FF3300"/>
              </a:buClr>
              <a:buFont typeface="Wingdings" pitchFamily="2" charset="2"/>
              <a:buNone/>
            </a:pPr>
            <a:r>
              <a:rPr kumimoji="0" lang="en-US" altLang="zh-CN" sz="2400" b="1" u="none" dirty="0">
                <a:solidFill>
                  <a:schemeClr val="tx1"/>
                </a:solidFill>
              </a:rPr>
              <a:t>        </a:t>
            </a:r>
            <a:r>
              <a:rPr kumimoji="0" lang="zh-CN" altLang="en-US" sz="2400" b="1" u="none" dirty="0">
                <a:solidFill>
                  <a:schemeClr val="tx1"/>
                </a:solidFill>
              </a:rPr>
              <a:t>随机变量</a:t>
            </a:r>
            <a:r>
              <a:rPr kumimoji="0" lang="en-US" altLang="zh-CN" sz="2400" b="1" i="1" u="none" dirty="0">
                <a:solidFill>
                  <a:schemeClr val="tx1"/>
                </a:solidFill>
              </a:rPr>
              <a:t>x</a:t>
            </a:r>
            <a:r>
              <a:rPr kumimoji="0" lang="en-US" altLang="zh-CN" sz="2400" b="1" u="none" dirty="0">
                <a:solidFill>
                  <a:schemeClr val="tx1"/>
                </a:solidFill>
              </a:rPr>
              <a:t>(t)</a:t>
            </a:r>
            <a:r>
              <a:rPr kumimoji="0" lang="zh-CN" altLang="en-US" sz="2400" b="1" u="none" dirty="0">
                <a:solidFill>
                  <a:schemeClr val="tx1"/>
                </a:solidFill>
              </a:rPr>
              <a:t>和</a:t>
            </a:r>
            <a:r>
              <a:rPr kumimoji="0" lang="en-US" altLang="zh-CN" sz="2400" b="1" i="1" u="none" dirty="0">
                <a:solidFill>
                  <a:schemeClr val="tx1"/>
                </a:solidFill>
              </a:rPr>
              <a:t>y</a:t>
            </a:r>
            <a:r>
              <a:rPr kumimoji="0" lang="en-US" altLang="zh-CN" sz="2400" b="1" u="none" dirty="0">
                <a:solidFill>
                  <a:schemeClr val="tx1"/>
                </a:solidFill>
              </a:rPr>
              <a:t>(t)</a:t>
            </a:r>
            <a:r>
              <a:rPr kumimoji="0" lang="zh-CN" altLang="en-US" sz="2400" b="1" u="none" dirty="0">
                <a:solidFill>
                  <a:schemeClr val="tx1"/>
                </a:solidFill>
              </a:rPr>
              <a:t>在</a:t>
            </a:r>
            <a:r>
              <a:rPr kumimoji="0" lang="zh-CN" altLang="en-US" sz="2400" b="1" u="none" dirty="0">
                <a:solidFill>
                  <a:srgbClr val="FF3300"/>
                </a:solidFill>
              </a:rPr>
              <a:t>不同时刻</a:t>
            </a:r>
            <a:r>
              <a:rPr kumimoji="0" lang="zh-CN" altLang="en-US" sz="2400" b="1" u="none" dirty="0">
                <a:solidFill>
                  <a:schemeClr val="tx1"/>
                </a:solidFill>
              </a:rPr>
              <a:t>的乘积平均来描述它们之间的</a:t>
            </a:r>
            <a:r>
              <a:rPr kumimoji="0" lang="zh-CN" altLang="en-US" sz="2400" b="1" u="none" dirty="0">
                <a:solidFill>
                  <a:srgbClr val="FF3300"/>
                </a:solidFill>
              </a:rPr>
              <a:t>线性相关程度</a:t>
            </a:r>
            <a:r>
              <a:rPr kumimoji="0" lang="zh-CN" altLang="en-US" sz="2400" b="1" u="none" dirty="0">
                <a:solidFill>
                  <a:schemeClr val="tx1"/>
                </a:solidFill>
              </a:rPr>
              <a:t>，称为</a:t>
            </a:r>
            <a:r>
              <a:rPr kumimoji="0" lang="zh-CN" altLang="en-US" sz="2400" b="1" u="none" dirty="0">
                <a:solidFill>
                  <a:srgbClr val="FF3300"/>
                </a:solidFill>
              </a:rPr>
              <a:t>相关函数</a:t>
            </a:r>
            <a:r>
              <a:rPr kumimoji="0" lang="zh-CN" altLang="en-US" sz="2400" b="1" u="none" dirty="0">
                <a:solidFill>
                  <a:schemeClr val="tx1"/>
                </a:solidFill>
              </a:rPr>
              <a:t>，表示为：</a:t>
            </a:r>
          </a:p>
        </p:txBody>
      </p:sp>
      <p:sp>
        <p:nvSpPr>
          <p:cNvPr id="520197" name="Rectangle 5"/>
          <p:cNvSpPr>
            <a:spLocks noChangeArrowheads="1"/>
          </p:cNvSpPr>
          <p:nvPr/>
        </p:nvSpPr>
        <p:spPr bwMode="auto">
          <a:xfrm>
            <a:off x="517525" y="3346450"/>
            <a:ext cx="8497888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kumimoji="0" lang="zh-CN" altLang="en-US" sz="2400" b="1" u="none">
                <a:solidFill>
                  <a:schemeClr val="tx1"/>
                </a:solidFill>
              </a:rPr>
              <a:t>式中，</a:t>
            </a:r>
            <a:r>
              <a:rPr kumimoji="0" lang="en-US" altLang="zh-CN" sz="2400" b="1" u="none">
                <a:solidFill>
                  <a:schemeClr val="tx1"/>
                </a:solidFill>
              </a:rPr>
              <a:t>τ∈(-∞, ∞)</a:t>
            </a:r>
            <a:r>
              <a:rPr kumimoji="0" lang="zh-CN" altLang="en-US" sz="2400" b="1" u="none">
                <a:solidFill>
                  <a:schemeClr val="tx1"/>
                </a:solidFill>
              </a:rPr>
              <a:t>，表示时间位移，或时延，为连续变量，</a:t>
            </a:r>
            <a:r>
              <a:rPr kumimoji="0" lang="zh-CN" altLang="en-US" sz="2400" b="1" u="none">
                <a:solidFill>
                  <a:srgbClr val="FF3300"/>
                </a:solidFill>
              </a:rPr>
              <a:t>与</a:t>
            </a:r>
            <a:r>
              <a:rPr kumimoji="0" lang="en-US" altLang="zh-CN" sz="2400" b="1" i="1" u="none">
                <a:solidFill>
                  <a:srgbClr val="FF3300"/>
                </a:solidFill>
              </a:rPr>
              <a:t>t</a:t>
            </a:r>
            <a:r>
              <a:rPr kumimoji="0" lang="zh-CN" altLang="en-US" sz="2400" b="1" u="none">
                <a:solidFill>
                  <a:srgbClr val="FF3300"/>
                </a:solidFill>
              </a:rPr>
              <a:t>无关</a:t>
            </a:r>
            <a:r>
              <a:rPr kumimoji="0" lang="zh-CN" altLang="en-US" sz="2400" b="1" u="none">
                <a:solidFill>
                  <a:schemeClr val="tx1"/>
                </a:solidFill>
              </a:rPr>
              <a:t>。</a:t>
            </a:r>
          </a:p>
        </p:txBody>
      </p:sp>
      <p:sp>
        <p:nvSpPr>
          <p:cNvPr id="520203" name="Rectangle 11"/>
          <p:cNvSpPr>
            <a:spLocks noChangeArrowheads="1"/>
          </p:cNvSpPr>
          <p:nvPr/>
        </p:nvSpPr>
        <p:spPr bwMode="auto">
          <a:xfrm>
            <a:off x="6551613" y="2743200"/>
            <a:ext cx="6413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0" lang="en-US" altLang="zh-CN" sz="1800" b="1" u="none" dirty="0" smtClean="0">
                <a:solidFill>
                  <a:srgbClr val="FF3300"/>
                </a:solidFill>
                <a:ea typeface="宋体" pitchFamily="2" charset="-122"/>
              </a:rPr>
              <a:t>(5-1</a:t>
            </a:r>
            <a:r>
              <a:rPr kumimoji="0" lang="en-US" altLang="zh-CN" sz="1800" b="1" u="none" dirty="0">
                <a:solidFill>
                  <a:srgbClr val="FF3300"/>
                </a:solidFill>
                <a:ea typeface="宋体" pitchFamily="2" charset="-122"/>
              </a:rPr>
              <a:t>)</a:t>
            </a:r>
          </a:p>
        </p:txBody>
      </p:sp>
      <p:graphicFrame>
        <p:nvGraphicFramePr>
          <p:cNvPr id="520209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09238459"/>
              </p:ext>
            </p:extLst>
          </p:nvPr>
        </p:nvGraphicFramePr>
        <p:xfrm>
          <a:off x="1895707" y="2511832"/>
          <a:ext cx="4432068" cy="8870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0359" name="公式" r:id="rId3" imgW="1955800" imgH="393700" progId="Equation.3">
                  <p:embed/>
                </p:oleObj>
              </mc:Choice>
              <mc:Fallback>
                <p:oleObj name="公式" r:id="rId3" imgW="1955800" imgH="39370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95707" y="2511832"/>
                        <a:ext cx="4432068" cy="887005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0285" name="Rectangle 93"/>
          <p:cNvSpPr>
            <a:spLocks noChangeArrowheads="1"/>
          </p:cNvSpPr>
          <p:nvPr/>
        </p:nvSpPr>
        <p:spPr bwMode="auto">
          <a:xfrm>
            <a:off x="458788" y="1425595"/>
            <a:ext cx="2360612" cy="466725"/>
          </a:xfrm>
          <a:prstGeom prst="rect">
            <a:avLst/>
          </a:prstGeom>
          <a:solidFill>
            <a:srgbClr val="CC99FF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sz="2400" b="1" u="none">
                <a:solidFill>
                  <a:srgbClr val="990000"/>
                </a:solidFill>
                <a:latin typeface="楷体_GB2312" pitchFamily="49" charset="-122"/>
                <a:ea typeface="楷体_GB2312" pitchFamily="49" charset="-122"/>
              </a:rPr>
              <a:t>(1).</a:t>
            </a:r>
            <a:r>
              <a:rPr lang="zh-CN" altLang="en-US" sz="2400" b="1" u="none">
                <a:solidFill>
                  <a:srgbClr val="990000"/>
                </a:solidFill>
                <a:latin typeface="楷体_GB2312" pitchFamily="49" charset="-122"/>
                <a:ea typeface="楷体_GB2312" pitchFamily="49" charset="-122"/>
              </a:rPr>
              <a:t>相关函数</a:t>
            </a:r>
          </a:p>
        </p:txBody>
      </p:sp>
      <p:grpSp>
        <p:nvGrpSpPr>
          <p:cNvPr id="520287" name="Group 95"/>
          <p:cNvGrpSpPr>
            <a:grpSpLocks/>
          </p:cNvGrpSpPr>
          <p:nvPr/>
        </p:nvGrpSpPr>
        <p:grpSpPr bwMode="auto">
          <a:xfrm>
            <a:off x="596900" y="4075113"/>
            <a:ext cx="7620000" cy="2219325"/>
            <a:chOff x="528" y="1104"/>
            <a:chExt cx="4800" cy="1398"/>
          </a:xfrm>
        </p:grpSpPr>
        <p:sp>
          <p:nvSpPr>
            <p:cNvPr id="520288" name="Text Box 96"/>
            <p:cNvSpPr txBox="1">
              <a:spLocks noChangeArrowheads="1"/>
            </p:cNvSpPr>
            <p:nvPr/>
          </p:nvSpPr>
          <p:spPr bwMode="auto">
            <a:xfrm>
              <a:off x="528" y="1152"/>
              <a:ext cx="384" cy="288"/>
            </a:xfrm>
            <a:prstGeom prst="rect">
              <a:avLst/>
            </a:prstGeom>
            <a:solidFill>
              <a:srgbClr val="FFCC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1" i="1" u="none">
                  <a:solidFill>
                    <a:schemeClr val="tx1"/>
                  </a:solidFill>
                  <a:ea typeface="宋体" pitchFamily="2" charset="-122"/>
                </a:rPr>
                <a:t>x</a:t>
              </a:r>
              <a:r>
                <a:rPr lang="en-US" altLang="zh-CN" sz="2400" b="1" u="none">
                  <a:solidFill>
                    <a:schemeClr val="tx1"/>
                  </a:solidFill>
                  <a:ea typeface="宋体" pitchFamily="2" charset="-122"/>
                </a:rPr>
                <a:t>(</a:t>
              </a:r>
              <a:r>
                <a:rPr lang="en-US" altLang="zh-CN" sz="2400" b="1" i="1" u="none">
                  <a:solidFill>
                    <a:schemeClr val="tx1"/>
                  </a:solidFill>
                  <a:ea typeface="宋体" pitchFamily="2" charset="-122"/>
                </a:rPr>
                <a:t>t</a:t>
              </a:r>
              <a:r>
                <a:rPr lang="en-US" altLang="zh-CN" sz="2400" b="1" u="none">
                  <a:solidFill>
                    <a:schemeClr val="tx1"/>
                  </a:solidFill>
                  <a:ea typeface="宋体" pitchFamily="2" charset="-122"/>
                </a:rPr>
                <a:t>)</a:t>
              </a:r>
            </a:p>
          </p:txBody>
        </p:sp>
        <p:sp>
          <p:nvSpPr>
            <p:cNvPr id="520289" name="Text Box 97"/>
            <p:cNvSpPr txBox="1">
              <a:spLocks noChangeArrowheads="1"/>
            </p:cNvSpPr>
            <p:nvPr/>
          </p:nvSpPr>
          <p:spPr bwMode="auto">
            <a:xfrm>
              <a:off x="528" y="1824"/>
              <a:ext cx="384" cy="288"/>
            </a:xfrm>
            <a:prstGeom prst="rect">
              <a:avLst/>
            </a:prstGeom>
            <a:solidFill>
              <a:srgbClr val="FFCC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1" i="1" u="none" dirty="0" smtClean="0">
                  <a:solidFill>
                    <a:schemeClr val="tx1"/>
                  </a:solidFill>
                  <a:ea typeface="宋体" pitchFamily="2" charset="-122"/>
                </a:rPr>
                <a:t>x</a:t>
              </a:r>
              <a:r>
                <a:rPr lang="en-US" altLang="zh-CN" sz="2400" b="1" u="none" dirty="0" smtClean="0">
                  <a:solidFill>
                    <a:schemeClr val="tx1"/>
                  </a:solidFill>
                  <a:ea typeface="宋体" pitchFamily="2" charset="-122"/>
                </a:rPr>
                <a:t>(t</a:t>
              </a:r>
              <a:r>
                <a:rPr lang="en-US" altLang="zh-CN" sz="2400" b="1" u="none" dirty="0">
                  <a:solidFill>
                    <a:schemeClr val="tx1"/>
                  </a:solidFill>
                  <a:ea typeface="宋体" pitchFamily="2" charset="-122"/>
                </a:rPr>
                <a:t>)</a:t>
              </a:r>
            </a:p>
          </p:txBody>
        </p:sp>
        <p:sp>
          <p:nvSpPr>
            <p:cNvPr id="520290" name="Line 98"/>
            <p:cNvSpPr>
              <a:spLocks noChangeShapeType="1"/>
            </p:cNvSpPr>
            <p:nvPr/>
          </p:nvSpPr>
          <p:spPr bwMode="auto">
            <a:xfrm>
              <a:off x="960" y="1344"/>
              <a:ext cx="172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0291" name="Line 99"/>
            <p:cNvSpPr>
              <a:spLocks noChangeShapeType="1"/>
            </p:cNvSpPr>
            <p:nvPr/>
          </p:nvSpPr>
          <p:spPr bwMode="auto">
            <a:xfrm>
              <a:off x="960" y="1968"/>
              <a:ext cx="57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0292" name="Text Box 100"/>
            <p:cNvSpPr txBox="1">
              <a:spLocks noChangeArrowheads="1"/>
            </p:cNvSpPr>
            <p:nvPr/>
          </p:nvSpPr>
          <p:spPr bwMode="auto">
            <a:xfrm>
              <a:off x="1536" y="1440"/>
              <a:ext cx="288" cy="1062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US" altLang="zh-CN" sz="2000" b="1" u="none">
                <a:solidFill>
                  <a:srgbClr val="990000"/>
                </a:solidFill>
                <a:ea typeface="宋体" pitchFamily="2" charset="-122"/>
              </a:endParaRPr>
            </a:p>
            <a:p>
              <a:r>
                <a:rPr lang="zh-CN" altLang="en-US" sz="2000" b="1" u="none">
                  <a:solidFill>
                    <a:srgbClr val="990000"/>
                  </a:solidFill>
                  <a:ea typeface="宋体" pitchFamily="2" charset="-122"/>
                </a:rPr>
                <a:t>时</a:t>
              </a:r>
            </a:p>
            <a:p>
              <a:r>
                <a:rPr lang="zh-CN" altLang="en-US" sz="2000" b="1" u="none">
                  <a:solidFill>
                    <a:srgbClr val="990000"/>
                  </a:solidFill>
                  <a:ea typeface="宋体" pitchFamily="2" charset="-122"/>
                </a:rPr>
                <a:t>延</a:t>
              </a:r>
            </a:p>
            <a:p>
              <a:r>
                <a:rPr lang="zh-CN" altLang="en-US" sz="2000" b="1" u="none">
                  <a:solidFill>
                    <a:srgbClr val="990000"/>
                  </a:solidFill>
                  <a:ea typeface="宋体" pitchFamily="2" charset="-122"/>
                </a:rPr>
                <a:t>器</a:t>
              </a:r>
            </a:p>
            <a:p>
              <a:r>
                <a:rPr lang="zh-CN" altLang="en-US" sz="2400" u="none">
                  <a:solidFill>
                    <a:schemeClr val="tx1"/>
                  </a:solidFill>
                  <a:ea typeface="宋体" pitchFamily="2" charset="-122"/>
                </a:rPr>
                <a:t> </a:t>
              </a:r>
            </a:p>
          </p:txBody>
        </p:sp>
        <p:sp>
          <p:nvSpPr>
            <p:cNvPr id="520293" name="Line 101"/>
            <p:cNvSpPr>
              <a:spLocks noChangeShapeType="1"/>
            </p:cNvSpPr>
            <p:nvPr/>
          </p:nvSpPr>
          <p:spPr bwMode="auto">
            <a:xfrm>
              <a:off x="1824" y="1968"/>
              <a:ext cx="86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0294" name="Text Box 102"/>
            <p:cNvSpPr txBox="1">
              <a:spLocks noChangeArrowheads="1"/>
            </p:cNvSpPr>
            <p:nvPr/>
          </p:nvSpPr>
          <p:spPr bwMode="auto">
            <a:xfrm>
              <a:off x="2688" y="1200"/>
              <a:ext cx="288" cy="1062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endParaRPr lang="en-US" altLang="zh-CN" sz="2000" b="1" u="none">
                <a:solidFill>
                  <a:srgbClr val="990000"/>
                </a:solidFill>
                <a:ea typeface="宋体" pitchFamily="2" charset="-122"/>
              </a:endParaRPr>
            </a:p>
            <a:p>
              <a:r>
                <a:rPr lang="zh-CN" altLang="en-US" sz="2000" b="1" u="none">
                  <a:solidFill>
                    <a:srgbClr val="990000"/>
                  </a:solidFill>
                  <a:ea typeface="宋体" pitchFamily="2" charset="-122"/>
                </a:rPr>
                <a:t>乘法</a:t>
              </a:r>
            </a:p>
            <a:p>
              <a:r>
                <a:rPr lang="zh-CN" altLang="en-US" sz="2000" b="1" u="none">
                  <a:solidFill>
                    <a:srgbClr val="990000"/>
                  </a:solidFill>
                  <a:ea typeface="宋体" pitchFamily="2" charset="-122"/>
                </a:rPr>
                <a:t>器</a:t>
              </a:r>
            </a:p>
            <a:p>
              <a:r>
                <a:rPr lang="zh-CN" altLang="en-US" sz="2400" u="none">
                  <a:solidFill>
                    <a:schemeClr val="tx1"/>
                  </a:solidFill>
                  <a:ea typeface="宋体" pitchFamily="2" charset="-122"/>
                </a:rPr>
                <a:t> </a:t>
              </a:r>
            </a:p>
          </p:txBody>
        </p:sp>
        <p:sp>
          <p:nvSpPr>
            <p:cNvPr id="520295" name="Text Box 103"/>
            <p:cNvSpPr txBox="1">
              <a:spLocks noChangeArrowheads="1"/>
            </p:cNvSpPr>
            <p:nvPr/>
          </p:nvSpPr>
          <p:spPr bwMode="auto">
            <a:xfrm>
              <a:off x="1872" y="2208"/>
              <a:ext cx="912" cy="288"/>
            </a:xfrm>
            <a:prstGeom prst="rect">
              <a:avLst/>
            </a:prstGeom>
            <a:solidFill>
              <a:srgbClr val="FFCC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1" i="1" u="none" dirty="0" smtClean="0">
                  <a:solidFill>
                    <a:schemeClr val="tx1"/>
                  </a:solidFill>
                  <a:ea typeface="宋体" pitchFamily="2" charset="-122"/>
                </a:rPr>
                <a:t>x</a:t>
              </a:r>
              <a:r>
                <a:rPr lang="en-US" altLang="zh-CN" sz="2400" b="1" u="none" dirty="0" smtClean="0">
                  <a:solidFill>
                    <a:schemeClr val="tx1"/>
                  </a:solidFill>
                  <a:ea typeface="宋体" pitchFamily="2" charset="-122"/>
                </a:rPr>
                <a:t>(t </a:t>
              </a:r>
              <a:r>
                <a:rPr lang="en-US" altLang="zh-CN" sz="2400" b="1" u="none" dirty="0">
                  <a:solidFill>
                    <a:schemeClr val="tx1"/>
                  </a:solidFill>
                  <a:ea typeface="宋体" pitchFamily="2" charset="-122"/>
                </a:rPr>
                <a:t>+τ)</a:t>
              </a:r>
            </a:p>
          </p:txBody>
        </p:sp>
        <p:sp>
          <p:nvSpPr>
            <p:cNvPr id="520296" name="Line 104"/>
            <p:cNvSpPr>
              <a:spLocks noChangeShapeType="1"/>
            </p:cNvSpPr>
            <p:nvPr/>
          </p:nvSpPr>
          <p:spPr bwMode="auto">
            <a:xfrm>
              <a:off x="2976" y="1632"/>
              <a:ext cx="124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0297" name="Text Box 105"/>
            <p:cNvSpPr txBox="1">
              <a:spLocks noChangeArrowheads="1"/>
            </p:cNvSpPr>
            <p:nvPr/>
          </p:nvSpPr>
          <p:spPr bwMode="auto">
            <a:xfrm>
              <a:off x="3072" y="1200"/>
              <a:ext cx="1200" cy="288"/>
            </a:xfrm>
            <a:prstGeom prst="rect">
              <a:avLst/>
            </a:prstGeom>
            <a:solidFill>
              <a:srgbClr val="FFCC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1" i="1" u="none" dirty="0" smtClean="0">
                  <a:solidFill>
                    <a:schemeClr val="tx1"/>
                  </a:solidFill>
                  <a:ea typeface="宋体" pitchFamily="2" charset="-122"/>
                </a:rPr>
                <a:t>x</a:t>
              </a:r>
              <a:r>
                <a:rPr lang="en-US" altLang="zh-CN" sz="2400" b="1" u="none" dirty="0" smtClean="0">
                  <a:solidFill>
                    <a:schemeClr val="tx1"/>
                  </a:solidFill>
                  <a:ea typeface="宋体" pitchFamily="2" charset="-122"/>
                </a:rPr>
                <a:t>(t)</a:t>
              </a:r>
              <a:r>
                <a:rPr lang="en-US" altLang="zh-CN" sz="2400" b="1" i="1" u="none" dirty="0" smtClean="0">
                  <a:solidFill>
                    <a:schemeClr val="tx1"/>
                  </a:solidFill>
                  <a:ea typeface="宋体" pitchFamily="2" charset="-122"/>
                </a:rPr>
                <a:t>x</a:t>
              </a:r>
              <a:r>
                <a:rPr lang="en-US" altLang="zh-CN" sz="2400" b="1" u="none" dirty="0" smtClean="0">
                  <a:solidFill>
                    <a:schemeClr val="tx1"/>
                  </a:solidFill>
                  <a:ea typeface="宋体" pitchFamily="2" charset="-122"/>
                </a:rPr>
                <a:t>(t </a:t>
              </a:r>
              <a:r>
                <a:rPr lang="en-US" altLang="zh-CN" sz="2400" b="1" u="none" dirty="0">
                  <a:solidFill>
                    <a:schemeClr val="tx1"/>
                  </a:solidFill>
                  <a:ea typeface="宋体" pitchFamily="2" charset="-122"/>
                </a:rPr>
                <a:t>+τ)</a:t>
              </a:r>
            </a:p>
          </p:txBody>
        </p:sp>
        <p:sp>
          <p:nvSpPr>
            <p:cNvPr id="520298" name="Text Box 106"/>
            <p:cNvSpPr txBox="1">
              <a:spLocks noChangeArrowheads="1"/>
            </p:cNvSpPr>
            <p:nvPr/>
          </p:nvSpPr>
          <p:spPr bwMode="auto">
            <a:xfrm>
              <a:off x="4224" y="1104"/>
              <a:ext cx="288" cy="1062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endParaRPr lang="en-US" altLang="zh-CN" sz="2000" b="1" u="none">
                <a:solidFill>
                  <a:srgbClr val="990000"/>
                </a:solidFill>
                <a:ea typeface="宋体" pitchFamily="2" charset="-122"/>
              </a:endParaRPr>
            </a:p>
            <a:p>
              <a:r>
                <a:rPr lang="zh-CN" altLang="en-US" sz="2000" b="1" u="none">
                  <a:solidFill>
                    <a:srgbClr val="990000"/>
                  </a:solidFill>
                  <a:ea typeface="宋体" pitchFamily="2" charset="-122"/>
                </a:rPr>
                <a:t>积分 </a:t>
              </a:r>
            </a:p>
            <a:p>
              <a:r>
                <a:rPr lang="zh-CN" altLang="en-US" sz="2000" b="1" u="none">
                  <a:solidFill>
                    <a:srgbClr val="990000"/>
                  </a:solidFill>
                  <a:ea typeface="宋体" pitchFamily="2" charset="-122"/>
                </a:rPr>
                <a:t>器</a:t>
              </a:r>
            </a:p>
            <a:p>
              <a:r>
                <a:rPr lang="zh-CN" altLang="en-US" sz="2400" u="none">
                  <a:solidFill>
                    <a:schemeClr val="tx1"/>
                  </a:solidFill>
                  <a:ea typeface="宋体" pitchFamily="2" charset="-122"/>
                </a:rPr>
                <a:t> </a:t>
              </a:r>
            </a:p>
          </p:txBody>
        </p:sp>
        <p:sp>
          <p:nvSpPr>
            <p:cNvPr id="520300" name="Line 108"/>
            <p:cNvSpPr>
              <a:spLocks noChangeShapeType="1"/>
            </p:cNvSpPr>
            <p:nvPr/>
          </p:nvSpPr>
          <p:spPr bwMode="auto">
            <a:xfrm>
              <a:off x="4512" y="1632"/>
              <a:ext cx="81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0299" name="Text Box 107"/>
            <p:cNvSpPr txBox="1">
              <a:spLocks noChangeArrowheads="1"/>
            </p:cNvSpPr>
            <p:nvPr/>
          </p:nvSpPr>
          <p:spPr bwMode="auto">
            <a:xfrm>
              <a:off x="4560" y="1200"/>
              <a:ext cx="720" cy="288"/>
            </a:xfrm>
            <a:prstGeom prst="rect">
              <a:avLst/>
            </a:prstGeom>
            <a:solidFill>
              <a:srgbClr val="FFCC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1" i="1" u="none">
                  <a:solidFill>
                    <a:schemeClr val="tx1"/>
                  </a:solidFill>
                  <a:ea typeface="宋体" pitchFamily="2" charset="-122"/>
                </a:rPr>
                <a:t>R</a:t>
              </a:r>
              <a:r>
                <a:rPr lang="en-US" altLang="zh-CN" sz="2400" b="1" i="1" u="none" baseline="-25000">
                  <a:solidFill>
                    <a:schemeClr val="tx1"/>
                  </a:solidFill>
                  <a:ea typeface="宋体" pitchFamily="2" charset="-122"/>
                </a:rPr>
                <a:t>xy</a:t>
              </a:r>
              <a:r>
                <a:rPr lang="en-US" altLang="zh-CN" sz="2400" b="1" u="none">
                  <a:solidFill>
                    <a:schemeClr val="tx1"/>
                  </a:solidFill>
                  <a:ea typeface="宋体" pitchFamily="2" charset="-122"/>
                </a:rPr>
                <a:t>(τ)</a:t>
              </a:r>
            </a:p>
          </p:txBody>
        </p:sp>
      </p:grpSp>
      <p:pic>
        <p:nvPicPr>
          <p:cNvPr id="520304" name="Picture 112" descr="image001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7312" y="3780631"/>
            <a:ext cx="4243388" cy="2579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Rectangle 4"/>
          <p:cNvSpPr>
            <a:spLocks noChangeArrowheads="1"/>
          </p:cNvSpPr>
          <p:nvPr/>
        </p:nvSpPr>
        <p:spPr bwMode="auto">
          <a:xfrm>
            <a:off x="379413" y="300831"/>
            <a:ext cx="3738562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 b="1" u="none" dirty="0" smtClean="0">
                <a:solidFill>
                  <a:srgbClr val="800000"/>
                </a:solidFill>
                <a:ea typeface="宋体" pitchFamily="2" charset="-122"/>
              </a:rPr>
              <a:t>5.3 </a:t>
            </a:r>
            <a:r>
              <a:rPr lang="zh-CN" altLang="en-US" sz="3200" b="1" u="none" dirty="0">
                <a:solidFill>
                  <a:srgbClr val="800000"/>
                </a:solidFill>
                <a:ea typeface="宋体" pitchFamily="2" charset="-122"/>
              </a:rPr>
              <a:t>相关分析及应用</a:t>
            </a:r>
            <a:r>
              <a:rPr lang="zh-CN" altLang="en-US" b="1" u="none" dirty="0">
                <a:solidFill>
                  <a:srgbClr val="000066"/>
                </a:solidFill>
                <a:ea typeface="宋体" pitchFamily="2" charset="-122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202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202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218" name="Rectangle 2"/>
          <p:cNvSpPr>
            <a:spLocks noChangeArrowheads="1"/>
          </p:cNvSpPr>
          <p:nvPr/>
        </p:nvSpPr>
        <p:spPr bwMode="auto">
          <a:xfrm>
            <a:off x="522288" y="1374312"/>
            <a:ext cx="65357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buClr>
                <a:srgbClr val="FF3300"/>
              </a:buClr>
              <a:buFont typeface="Wingdings" pitchFamily="2" charset="2"/>
              <a:buChar char="Ø"/>
            </a:pPr>
            <a:r>
              <a:rPr kumimoji="0" lang="zh-CN" altLang="en-US" sz="2400" b="1" u="none" dirty="0">
                <a:solidFill>
                  <a:schemeClr val="tx1"/>
                </a:solidFill>
              </a:rPr>
              <a:t>用</a:t>
            </a:r>
            <a:r>
              <a:rPr kumimoji="0" lang="zh-CN" altLang="en-US" sz="2400" b="1" u="none" dirty="0">
                <a:solidFill>
                  <a:srgbClr val="FF3300"/>
                </a:solidFill>
              </a:rPr>
              <a:t>相关系数</a:t>
            </a:r>
            <a:r>
              <a:rPr kumimoji="0" lang="zh-CN" altLang="en-US" sz="2400" b="1" u="none" dirty="0">
                <a:solidFill>
                  <a:schemeClr val="tx1"/>
                </a:solidFill>
              </a:rPr>
              <a:t>表示两个变量</a:t>
            </a:r>
            <a:r>
              <a:rPr kumimoji="0" lang="en-US" altLang="zh-CN" sz="2400" b="1" i="1" u="none" dirty="0">
                <a:solidFill>
                  <a:schemeClr val="tx1"/>
                </a:solidFill>
              </a:rPr>
              <a:t>x</a:t>
            </a:r>
            <a:r>
              <a:rPr kumimoji="0" lang="zh-CN" altLang="en-US" sz="2400" b="1" i="1" u="none" dirty="0">
                <a:solidFill>
                  <a:schemeClr val="tx1"/>
                </a:solidFill>
              </a:rPr>
              <a:t>、</a:t>
            </a:r>
            <a:r>
              <a:rPr kumimoji="0" lang="en-US" altLang="zh-CN" sz="2400" b="1" i="1" u="none" dirty="0">
                <a:solidFill>
                  <a:schemeClr val="tx1"/>
                </a:solidFill>
              </a:rPr>
              <a:t>y</a:t>
            </a:r>
            <a:r>
              <a:rPr kumimoji="0" lang="zh-CN" altLang="en-US" sz="2400" b="1" u="none" dirty="0">
                <a:solidFill>
                  <a:schemeClr val="tx1"/>
                </a:solidFill>
              </a:rPr>
              <a:t>之间的相关程度</a:t>
            </a:r>
          </a:p>
        </p:txBody>
      </p:sp>
      <p:graphicFrame>
        <p:nvGraphicFramePr>
          <p:cNvPr id="52121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46860605"/>
              </p:ext>
            </p:extLst>
          </p:nvPr>
        </p:nvGraphicFramePr>
        <p:xfrm>
          <a:off x="1903413" y="1831513"/>
          <a:ext cx="2640012" cy="819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1565" name="Equation" r:id="rId3" imgW="1600200" imgH="469900" progId="Equation.DSMT4">
                  <p:embed/>
                </p:oleObj>
              </mc:Choice>
              <mc:Fallback>
                <p:oleObj name="Equation" r:id="rId3" imgW="1600200" imgH="4699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3413" y="1831513"/>
                        <a:ext cx="2640012" cy="819612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1223" name="Rectangle 7"/>
          <p:cNvSpPr>
            <a:spLocks noChangeArrowheads="1"/>
          </p:cNvSpPr>
          <p:nvPr/>
        </p:nvSpPr>
        <p:spPr bwMode="auto">
          <a:xfrm>
            <a:off x="5030788" y="2030413"/>
            <a:ext cx="6413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0" lang="en-US" altLang="zh-CN" sz="1800" b="1" u="none" dirty="0" smtClean="0">
                <a:solidFill>
                  <a:srgbClr val="FF3300"/>
                </a:solidFill>
                <a:ea typeface="宋体" pitchFamily="2" charset="-122"/>
              </a:rPr>
              <a:t>(</a:t>
            </a:r>
            <a:r>
              <a:rPr kumimoji="0" lang="en-US" altLang="zh-CN" sz="1800" b="1" u="none" dirty="0" smtClean="0">
                <a:solidFill>
                  <a:srgbClr val="FF3300"/>
                </a:solidFill>
              </a:rPr>
              <a:t>5-</a:t>
            </a:r>
            <a:r>
              <a:rPr kumimoji="0" lang="en-US" altLang="zh-CN" sz="1800" b="1" u="none" dirty="0" smtClean="0">
                <a:solidFill>
                  <a:srgbClr val="FF3300"/>
                </a:solidFill>
                <a:ea typeface="宋体" pitchFamily="2" charset="-122"/>
              </a:rPr>
              <a:t>2</a:t>
            </a:r>
            <a:r>
              <a:rPr kumimoji="0" lang="en-US" altLang="zh-CN" sz="1800" b="1" u="none" dirty="0">
                <a:solidFill>
                  <a:srgbClr val="FF3300"/>
                </a:solidFill>
                <a:ea typeface="宋体" pitchFamily="2" charset="-122"/>
              </a:rPr>
              <a:t>)</a:t>
            </a:r>
          </a:p>
        </p:txBody>
      </p:sp>
      <p:sp>
        <p:nvSpPr>
          <p:cNvPr id="521224" name="Rectangle 8"/>
          <p:cNvSpPr>
            <a:spLocks noChangeArrowheads="1"/>
          </p:cNvSpPr>
          <p:nvPr/>
        </p:nvSpPr>
        <p:spPr bwMode="auto">
          <a:xfrm>
            <a:off x="595313" y="2695575"/>
            <a:ext cx="13509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kumimoji="0" lang="en-US" altLang="zh-CN" sz="2400" b="1" u="none">
                <a:solidFill>
                  <a:schemeClr val="tx1"/>
                </a:solidFill>
                <a:ea typeface="宋体" pitchFamily="2" charset="-122"/>
              </a:rPr>
              <a:t>|</a:t>
            </a:r>
            <a:r>
              <a:rPr kumimoji="0" lang="en-US" altLang="zh-CN" sz="2400" b="1" i="1" u="none">
                <a:solidFill>
                  <a:schemeClr val="tx1"/>
                </a:solidFill>
                <a:ea typeface="宋体" pitchFamily="2" charset="-122"/>
              </a:rPr>
              <a:t>ρ</a:t>
            </a:r>
            <a:r>
              <a:rPr kumimoji="0" lang="en-US" altLang="zh-CN" sz="2400" b="1" i="1" u="none" baseline="-25000">
                <a:solidFill>
                  <a:schemeClr val="tx1"/>
                </a:solidFill>
                <a:ea typeface="宋体" pitchFamily="2" charset="-122"/>
              </a:rPr>
              <a:t>xy</a:t>
            </a:r>
            <a:r>
              <a:rPr kumimoji="0" lang="en-US" altLang="zh-CN" sz="2400" b="1" u="none">
                <a:solidFill>
                  <a:schemeClr val="tx1"/>
                </a:solidFill>
                <a:ea typeface="宋体" pitchFamily="2" charset="-122"/>
              </a:rPr>
              <a:t>|≤1 </a:t>
            </a:r>
          </a:p>
        </p:txBody>
      </p:sp>
      <p:sp>
        <p:nvSpPr>
          <p:cNvPr id="521225" name="Rectangle 9"/>
          <p:cNvSpPr>
            <a:spLocks noChangeArrowheads="1"/>
          </p:cNvSpPr>
          <p:nvPr/>
        </p:nvSpPr>
        <p:spPr bwMode="auto">
          <a:xfrm>
            <a:off x="1903413" y="2622550"/>
            <a:ext cx="71929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kumimoji="0" lang="zh-CN" altLang="en-US" sz="2400" b="1" u="none" dirty="0">
                <a:solidFill>
                  <a:schemeClr val="tx1"/>
                </a:solidFill>
              </a:rPr>
              <a:t>当</a:t>
            </a:r>
            <a:r>
              <a:rPr kumimoji="0" lang="en-US" altLang="zh-CN" sz="2400" b="1" i="1" u="none" dirty="0" err="1">
                <a:solidFill>
                  <a:schemeClr val="tx1"/>
                </a:solidFill>
              </a:rPr>
              <a:t>ρ</a:t>
            </a:r>
            <a:r>
              <a:rPr kumimoji="0" lang="en-US" altLang="zh-CN" sz="2400" b="1" i="1" u="none" baseline="-25000" dirty="0" err="1">
                <a:solidFill>
                  <a:schemeClr val="tx1"/>
                </a:solidFill>
              </a:rPr>
              <a:t>xy</a:t>
            </a:r>
            <a:r>
              <a:rPr kumimoji="0" lang="en-US" altLang="zh-CN" sz="2400" b="1" u="none" dirty="0">
                <a:solidFill>
                  <a:schemeClr val="tx1"/>
                </a:solidFill>
              </a:rPr>
              <a:t>=±1</a:t>
            </a:r>
            <a:r>
              <a:rPr kumimoji="0" lang="zh-CN" altLang="en-US" sz="2400" b="1" u="none" dirty="0">
                <a:solidFill>
                  <a:schemeClr val="tx1"/>
                </a:solidFill>
              </a:rPr>
              <a:t>时，则随机变量</a:t>
            </a:r>
            <a:r>
              <a:rPr kumimoji="0" lang="en-US" altLang="zh-CN" sz="2400" b="1" i="1" u="none" dirty="0">
                <a:solidFill>
                  <a:schemeClr val="tx1"/>
                </a:solidFill>
              </a:rPr>
              <a:t>x</a:t>
            </a:r>
            <a:r>
              <a:rPr kumimoji="0" lang="zh-CN" altLang="en-US" sz="2400" b="1" i="1" u="none" dirty="0">
                <a:solidFill>
                  <a:schemeClr val="tx1"/>
                </a:solidFill>
              </a:rPr>
              <a:t>、</a:t>
            </a:r>
            <a:r>
              <a:rPr kumimoji="0" lang="en-US" altLang="zh-CN" sz="2400" b="1" i="1" u="none" dirty="0">
                <a:solidFill>
                  <a:schemeClr val="tx1"/>
                </a:solidFill>
              </a:rPr>
              <a:t>y</a:t>
            </a:r>
            <a:r>
              <a:rPr kumimoji="0" lang="zh-CN" altLang="en-US" sz="2400" b="1" u="none" dirty="0">
                <a:solidFill>
                  <a:schemeClr val="tx1"/>
                </a:solidFill>
              </a:rPr>
              <a:t>具有理想的线性关系 </a:t>
            </a:r>
          </a:p>
        </p:txBody>
      </p:sp>
      <p:sp>
        <p:nvSpPr>
          <p:cNvPr id="521226" name="Rectangle 10"/>
          <p:cNvSpPr>
            <a:spLocks noChangeArrowheads="1"/>
          </p:cNvSpPr>
          <p:nvPr/>
        </p:nvSpPr>
        <p:spPr bwMode="auto">
          <a:xfrm>
            <a:off x="1903413" y="3198813"/>
            <a:ext cx="56610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kumimoji="0" lang="zh-CN" altLang="en-US" sz="2400" b="1" u="none">
                <a:solidFill>
                  <a:schemeClr val="tx1"/>
                </a:solidFill>
              </a:rPr>
              <a:t>当</a:t>
            </a:r>
            <a:r>
              <a:rPr kumimoji="0" lang="en-US" altLang="zh-CN" sz="2400" b="1" i="1" u="none">
                <a:solidFill>
                  <a:schemeClr val="tx1"/>
                </a:solidFill>
              </a:rPr>
              <a:t>ρ</a:t>
            </a:r>
            <a:r>
              <a:rPr kumimoji="0" lang="en-US" altLang="zh-CN" sz="2400" b="1" i="1" u="none" baseline="-25000">
                <a:solidFill>
                  <a:schemeClr val="tx1"/>
                </a:solidFill>
              </a:rPr>
              <a:t>xy</a:t>
            </a:r>
            <a:r>
              <a:rPr kumimoji="0" lang="en-US" altLang="zh-CN" sz="2400" b="1" u="none">
                <a:solidFill>
                  <a:schemeClr val="tx1"/>
                </a:solidFill>
              </a:rPr>
              <a:t>=0</a:t>
            </a:r>
            <a:r>
              <a:rPr kumimoji="0" lang="zh-CN" altLang="en-US" sz="2400" b="1" u="none">
                <a:solidFill>
                  <a:schemeClr val="tx1"/>
                </a:solidFill>
              </a:rPr>
              <a:t>时，两随机变量</a:t>
            </a:r>
            <a:r>
              <a:rPr kumimoji="0" lang="en-US" altLang="zh-CN" sz="2400" b="1" i="1" u="none">
                <a:solidFill>
                  <a:schemeClr val="tx1"/>
                </a:solidFill>
              </a:rPr>
              <a:t>x</a:t>
            </a:r>
            <a:r>
              <a:rPr kumimoji="0" lang="zh-CN" altLang="en-US" sz="2400" b="1" i="1" u="none">
                <a:solidFill>
                  <a:schemeClr val="tx1"/>
                </a:solidFill>
              </a:rPr>
              <a:t>、</a:t>
            </a:r>
            <a:r>
              <a:rPr kumimoji="0" lang="en-US" altLang="zh-CN" sz="2400" b="1" i="1" u="none">
                <a:solidFill>
                  <a:schemeClr val="tx1"/>
                </a:solidFill>
              </a:rPr>
              <a:t>y</a:t>
            </a:r>
            <a:r>
              <a:rPr kumimoji="0" lang="zh-CN" altLang="en-US" sz="2400" b="1" u="none">
                <a:solidFill>
                  <a:schemeClr val="tx1"/>
                </a:solidFill>
              </a:rPr>
              <a:t>完全不相关 </a:t>
            </a:r>
          </a:p>
        </p:txBody>
      </p:sp>
      <p:grpSp>
        <p:nvGrpSpPr>
          <p:cNvPr id="521227" name="Group 11"/>
          <p:cNvGrpSpPr>
            <a:grpSpLocks/>
          </p:cNvGrpSpPr>
          <p:nvPr/>
        </p:nvGrpSpPr>
        <p:grpSpPr bwMode="auto">
          <a:xfrm>
            <a:off x="693738" y="3822700"/>
            <a:ext cx="1905000" cy="2362200"/>
            <a:chOff x="336" y="2592"/>
            <a:chExt cx="1200" cy="1488"/>
          </a:xfrm>
        </p:grpSpPr>
        <p:sp>
          <p:nvSpPr>
            <p:cNvPr id="521228" name="Rectangle 12"/>
            <p:cNvSpPr>
              <a:spLocks noChangeArrowheads="1"/>
            </p:cNvSpPr>
            <p:nvPr/>
          </p:nvSpPr>
          <p:spPr bwMode="auto">
            <a:xfrm>
              <a:off x="336" y="2592"/>
              <a:ext cx="1200" cy="1488"/>
            </a:xfrm>
            <a:prstGeom prst="rect">
              <a:avLst/>
            </a:prstGeom>
            <a:solidFill>
              <a:srgbClr val="FFFFCC"/>
            </a:solidFill>
            <a:ln w="9525">
              <a:solidFill>
                <a:srgbClr val="FFFFCC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1229" name="Oval 13"/>
            <p:cNvSpPr>
              <a:spLocks noChangeArrowheads="1"/>
            </p:cNvSpPr>
            <p:nvPr/>
          </p:nvSpPr>
          <p:spPr bwMode="auto">
            <a:xfrm>
              <a:off x="864" y="325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1230" name="Oval 14"/>
            <p:cNvSpPr>
              <a:spLocks noChangeArrowheads="1"/>
            </p:cNvSpPr>
            <p:nvPr/>
          </p:nvSpPr>
          <p:spPr bwMode="auto">
            <a:xfrm>
              <a:off x="960" y="315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1231" name="Oval 15"/>
            <p:cNvSpPr>
              <a:spLocks noChangeArrowheads="1"/>
            </p:cNvSpPr>
            <p:nvPr/>
          </p:nvSpPr>
          <p:spPr bwMode="auto">
            <a:xfrm>
              <a:off x="1056" y="306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1232" name="Oval 16"/>
            <p:cNvSpPr>
              <a:spLocks noChangeArrowheads="1"/>
            </p:cNvSpPr>
            <p:nvPr/>
          </p:nvSpPr>
          <p:spPr bwMode="auto">
            <a:xfrm>
              <a:off x="1152" y="296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1233" name="Oval 17"/>
            <p:cNvSpPr>
              <a:spLocks noChangeArrowheads="1"/>
            </p:cNvSpPr>
            <p:nvPr/>
          </p:nvSpPr>
          <p:spPr bwMode="auto">
            <a:xfrm>
              <a:off x="1248" y="2870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1234" name="Oval 18"/>
            <p:cNvSpPr>
              <a:spLocks noChangeArrowheads="1"/>
            </p:cNvSpPr>
            <p:nvPr/>
          </p:nvSpPr>
          <p:spPr bwMode="auto">
            <a:xfrm>
              <a:off x="480" y="363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1235" name="Oval 19"/>
            <p:cNvSpPr>
              <a:spLocks noChangeArrowheads="1"/>
            </p:cNvSpPr>
            <p:nvPr/>
          </p:nvSpPr>
          <p:spPr bwMode="auto">
            <a:xfrm>
              <a:off x="576" y="354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1236" name="Oval 20"/>
            <p:cNvSpPr>
              <a:spLocks noChangeArrowheads="1"/>
            </p:cNvSpPr>
            <p:nvPr/>
          </p:nvSpPr>
          <p:spPr bwMode="auto">
            <a:xfrm>
              <a:off x="672" y="344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1237" name="Oval 21"/>
            <p:cNvSpPr>
              <a:spLocks noChangeArrowheads="1"/>
            </p:cNvSpPr>
            <p:nvPr/>
          </p:nvSpPr>
          <p:spPr bwMode="auto">
            <a:xfrm>
              <a:off x="768" y="3350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1238" name="Line 22"/>
            <p:cNvSpPr>
              <a:spLocks noChangeShapeType="1"/>
            </p:cNvSpPr>
            <p:nvPr/>
          </p:nvSpPr>
          <p:spPr bwMode="auto">
            <a:xfrm>
              <a:off x="336" y="3254"/>
              <a:ext cx="12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1239" name="Line 23"/>
            <p:cNvSpPr>
              <a:spLocks noChangeShapeType="1"/>
            </p:cNvSpPr>
            <p:nvPr/>
          </p:nvSpPr>
          <p:spPr bwMode="auto">
            <a:xfrm flipV="1">
              <a:off x="912" y="2678"/>
              <a:ext cx="0" cy="111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1240" name="Text Box 24"/>
            <p:cNvSpPr txBox="1">
              <a:spLocks noChangeArrowheads="1"/>
            </p:cNvSpPr>
            <p:nvPr/>
          </p:nvSpPr>
          <p:spPr bwMode="auto">
            <a:xfrm>
              <a:off x="1392" y="3216"/>
              <a:ext cx="96" cy="2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i="1" u="none">
                  <a:solidFill>
                    <a:schemeClr val="tx1"/>
                  </a:solidFill>
                  <a:ea typeface="宋体" pitchFamily="2" charset="-122"/>
                </a:rPr>
                <a:t>x</a:t>
              </a:r>
            </a:p>
          </p:txBody>
        </p:sp>
        <p:sp>
          <p:nvSpPr>
            <p:cNvPr id="521241" name="Text Box 25"/>
            <p:cNvSpPr txBox="1">
              <a:spLocks noChangeArrowheads="1"/>
            </p:cNvSpPr>
            <p:nvPr/>
          </p:nvSpPr>
          <p:spPr bwMode="auto">
            <a:xfrm>
              <a:off x="768" y="2592"/>
              <a:ext cx="9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 i="1" u="none">
                  <a:solidFill>
                    <a:schemeClr val="tx1"/>
                  </a:solidFill>
                  <a:ea typeface="宋体" pitchFamily="2" charset="-122"/>
                </a:rPr>
                <a:t>y</a:t>
              </a:r>
            </a:p>
          </p:txBody>
        </p:sp>
        <p:graphicFrame>
          <p:nvGraphicFramePr>
            <p:cNvPr id="521242" name="Object 26"/>
            <p:cNvGraphicFramePr>
              <a:graphicFrameLocks noChangeAspect="1"/>
            </p:cNvGraphicFramePr>
            <p:nvPr/>
          </p:nvGraphicFramePr>
          <p:xfrm>
            <a:off x="672" y="3825"/>
            <a:ext cx="470" cy="2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21566" name="Equation" r:id="rId5" imgW="444240" imgH="241200" progId="Equation.3">
                    <p:embed/>
                  </p:oleObj>
                </mc:Choice>
                <mc:Fallback>
                  <p:oleObj name="Equation" r:id="rId5" imgW="444240" imgH="241200" progId="Equation.3">
                    <p:embed/>
                    <p:pic>
                      <p:nvPicPr>
                        <p:cNvPr id="0" name="Object 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72" y="3825"/>
                          <a:ext cx="470" cy="25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21243" name="Group 27"/>
          <p:cNvGrpSpPr>
            <a:grpSpLocks/>
          </p:cNvGrpSpPr>
          <p:nvPr/>
        </p:nvGrpSpPr>
        <p:grpSpPr bwMode="auto">
          <a:xfrm>
            <a:off x="2616200" y="3835400"/>
            <a:ext cx="1905000" cy="2362200"/>
            <a:chOff x="1584" y="2592"/>
            <a:chExt cx="1200" cy="1488"/>
          </a:xfrm>
        </p:grpSpPr>
        <p:sp>
          <p:nvSpPr>
            <p:cNvPr id="521244" name="Rectangle 28"/>
            <p:cNvSpPr>
              <a:spLocks noChangeArrowheads="1"/>
            </p:cNvSpPr>
            <p:nvPr/>
          </p:nvSpPr>
          <p:spPr bwMode="auto">
            <a:xfrm>
              <a:off x="1584" y="2592"/>
              <a:ext cx="1200" cy="1488"/>
            </a:xfrm>
            <a:prstGeom prst="rect">
              <a:avLst/>
            </a:prstGeom>
            <a:solidFill>
              <a:srgbClr val="CCECFF"/>
            </a:solidFill>
            <a:ln w="9525">
              <a:solidFill>
                <a:srgbClr val="CCEC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1245" name="Line 29"/>
            <p:cNvSpPr>
              <a:spLocks noChangeShapeType="1"/>
            </p:cNvSpPr>
            <p:nvPr/>
          </p:nvSpPr>
          <p:spPr bwMode="auto">
            <a:xfrm>
              <a:off x="1584" y="3254"/>
              <a:ext cx="12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1246" name="Line 30"/>
            <p:cNvSpPr>
              <a:spLocks noChangeShapeType="1"/>
            </p:cNvSpPr>
            <p:nvPr/>
          </p:nvSpPr>
          <p:spPr bwMode="auto">
            <a:xfrm flipV="1">
              <a:off x="2160" y="2678"/>
              <a:ext cx="0" cy="111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1247" name="Text Box 31"/>
            <p:cNvSpPr txBox="1">
              <a:spLocks noChangeArrowheads="1"/>
            </p:cNvSpPr>
            <p:nvPr/>
          </p:nvSpPr>
          <p:spPr bwMode="auto">
            <a:xfrm>
              <a:off x="2640" y="3216"/>
              <a:ext cx="96" cy="2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i="1" u="none">
                  <a:solidFill>
                    <a:schemeClr val="tx1"/>
                  </a:solidFill>
                  <a:ea typeface="宋体" pitchFamily="2" charset="-122"/>
                </a:rPr>
                <a:t>x</a:t>
              </a:r>
            </a:p>
          </p:txBody>
        </p:sp>
        <p:sp>
          <p:nvSpPr>
            <p:cNvPr id="521248" name="Text Box 32"/>
            <p:cNvSpPr txBox="1">
              <a:spLocks noChangeArrowheads="1"/>
            </p:cNvSpPr>
            <p:nvPr/>
          </p:nvSpPr>
          <p:spPr bwMode="auto">
            <a:xfrm>
              <a:off x="2016" y="2592"/>
              <a:ext cx="9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 i="1" u="none">
                  <a:solidFill>
                    <a:schemeClr val="tx1"/>
                  </a:solidFill>
                  <a:ea typeface="宋体" pitchFamily="2" charset="-122"/>
                </a:rPr>
                <a:t>y</a:t>
              </a:r>
            </a:p>
          </p:txBody>
        </p:sp>
        <p:sp>
          <p:nvSpPr>
            <p:cNvPr id="521249" name="Oval 33"/>
            <p:cNvSpPr>
              <a:spLocks noChangeArrowheads="1"/>
            </p:cNvSpPr>
            <p:nvPr/>
          </p:nvSpPr>
          <p:spPr bwMode="auto">
            <a:xfrm>
              <a:off x="2208" y="331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1250" name="Oval 34"/>
            <p:cNvSpPr>
              <a:spLocks noChangeArrowheads="1"/>
            </p:cNvSpPr>
            <p:nvPr/>
          </p:nvSpPr>
          <p:spPr bwMode="auto">
            <a:xfrm>
              <a:off x="2016" y="3120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1251" name="Oval 35"/>
            <p:cNvSpPr>
              <a:spLocks noChangeArrowheads="1"/>
            </p:cNvSpPr>
            <p:nvPr/>
          </p:nvSpPr>
          <p:spPr bwMode="auto">
            <a:xfrm>
              <a:off x="1920" y="29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1252" name="Oval 36"/>
            <p:cNvSpPr>
              <a:spLocks noChangeArrowheads="1"/>
            </p:cNvSpPr>
            <p:nvPr/>
          </p:nvSpPr>
          <p:spPr bwMode="auto">
            <a:xfrm>
              <a:off x="1824" y="2880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1253" name="Oval 37"/>
            <p:cNvSpPr>
              <a:spLocks noChangeArrowheads="1"/>
            </p:cNvSpPr>
            <p:nvPr/>
          </p:nvSpPr>
          <p:spPr bwMode="auto">
            <a:xfrm>
              <a:off x="1728" y="278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1254" name="Oval 38"/>
            <p:cNvSpPr>
              <a:spLocks noChangeArrowheads="1"/>
            </p:cNvSpPr>
            <p:nvPr/>
          </p:nvSpPr>
          <p:spPr bwMode="auto">
            <a:xfrm>
              <a:off x="2496" y="3600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1255" name="Oval 39"/>
            <p:cNvSpPr>
              <a:spLocks noChangeArrowheads="1"/>
            </p:cNvSpPr>
            <p:nvPr/>
          </p:nvSpPr>
          <p:spPr bwMode="auto">
            <a:xfrm>
              <a:off x="2400" y="350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1256" name="Oval 40"/>
            <p:cNvSpPr>
              <a:spLocks noChangeArrowheads="1"/>
            </p:cNvSpPr>
            <p:nvPr/>
          </p:nvSpPr>
          <p:spPr bwMode="auto">
            <a:xfrm>
              <a:off x="2304" y="340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1257" name="Oval 41"/>
            <p:cNvSpPr>
              <a:spLocks noChangeArrowheads="1"/>
            </p:cNvSpPr>
            <p:nvPr/>
          </p:nvSpPr>
          <p:spPr bwMode="auto">
            <a:xfrm>
              <a:off x="2112" y="321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521258" name="Object 42"/>
            <p:cNvGraphicFramePr>
              <a:graphicFrameLocks noChangeAspect="1"/>
            </p:cNvGraphicFramePr>
            <p:nvPr/>
          </p:nvGraphicFramePr>
          <p:xfrm>
            <a:off x="1872" y="3825"/>
            <a:ext cx="577" cy="2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21567" name="Equation" r:id="rId7" imgW="545760" imgH="241200" progId="Equation.3">
                    <p:embed/>
                  </p:oleObj>
                </mc:Choice>
                <mc:Fallback>
                  <p:oleObj name="Equation" r:id="rId7" imgW="545760" imgH="241200" progId="Equation.3">
                    <p:embed/>
                    <p:pic>
                      <p:nvPicPr>
                        <p:cNvPr id="0" name="Object 4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72" y="3825"/>
                          <a:ext cx="577" cy="25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21259" name="Group 43"/>
          <p:cNvGrpSpPr>
            <a:grpSpLocks/>
          </p:cNvGrpSpPr>
          <p:nvPr/>
        </p:nvGrpSpPr>
        <p:grpSpPr bwMode="auto">
          <a:xfrm>
            <a:off x="4543425" y="3806825"/>
            <a:ext cx="1981200" cy="2386013"/>
            <a:chOff x="2928" y="2592"/>
            <a:chExt cx="1248" cy="1503"/>
          </a:xfrm>
        </p:grpSpPr>
        <p:grpSp>
          <p:nvGrpSpPr>
            <p:cNvPr id="521260" name="Group 44"/>
            <p:cNvGrpSpPr>
              <a:grpSpLocks/>
            </p:cNvGrpSpPr>
            <p:nvPr/>
          </p:nvGrpSpPr>
          <p:grpSpPr bwMode="auto">
            <a:xfrm>
              <a:off x="2928" y="2592"/>
              <a:ext cx="1248" cy="1488"/>
              <a:chOff x="2928" y="2592"/>
              <a:chExt cx="1248" cy="1488"/>
            </a:xfrm>
          </p:grpSpPr>
          <p:grpSp>
            <p:nvGrpSpPr>
              <p:cNvPr id="521261" name="Group 45"/>
              <p:cNvGrpSpPr>
                <a:grpSpLocks/>
              </p:cNvGrpSpPr>
              <p:nvPr/>
            </p:nvGrpSpPr>
            <p:grpSpPr bwMode="auto">
              <a:xfrm>
                <a:off x="2928" y="2592"/>
                <a:ext cx="1248" cy="1488"/>
                <a:chOff x="2928" y="2592"/>
                <a:chExt cx="1248" cy="1488"/>
              </a:xfrm>
            </p:grpSpPr>
            <p:sp>
              <p:nvSpPr>
                <p:cNvPr id="521262" name="Rectangle 46"/>
                <p:cNvSpPr>
                  <a:spLocks noChangeArrowheads="1"/>
                </p:cNvSpPr>
                <p:nvPr/>
              </p:nvSpPr>
              <p:spPr bwMode="auto">
                <a:xfrm>
                  <a:off x="2928" y="2592"/>
                  <a:ext cx="1200" cy="1488"/>
                </a:xfrm>
                <a:prstGeom prst="rect">
                  <a:avLst/>
                </a:prstGeom>
                <a:solidFill>
                  <a:srgbClr val="FFFFCC"/>
                </a:solidFill>
                <a:ln w="9525">
                  <a:solidFill>
                    <a:srgbClr val="FFFFCC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grpSp>
              <p:nvGrpSpPr>
                <p:cNvPr id="521263" name="Group 47"/>
                <p:cNvGrpSpPr>
                  <a:grpSpLocks/>
                </p:cNvGrpSpPr>
                <p:nvPr/>
              </p:nvGrpSpPr>
              <p:grpSpPr bwMode="auto">
                <a:xfrm>
                  <a:off x="2976" y="2602"/>
                  <a:ext cx="1200" cy="1382"/>
                  <a:chOff x="2928" y="2698"/>
                  <a:chExt cx="1200" cy="1382"/>
                </a:xfrm>
              </p:grpSpPr>
              <p:grpSp>
                <p:nvGrpSpPr>
                  <p:cNvPr id="521264" name="Group 48"/>
                  <p:cNvGrpSpPr>
                    <a:grpSpLocks/>
                  </p:cNvGrpSpPr>
                  <p:nvPr/>
                </p:nvGrpSpPr>
                <p:grpSpPr bwMode="auto">
                  <a:xfrm>
                    <a:off x="2928" y="2698"/>
                    <a:ext cx="1200" cy="1382"/>
                    <a:chOff x="624" y="2698"/>
                    <a:chExt cx="1200" cy="1382"/>
                  </a:xfrm>
                </p:grpSpPr>
                <p:sp>
                  <p:nvSpPr>
                    <p:cNvPr id="521265" name="Line 49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624" y="3360"/>
                      <a:ext cx="1200" cy="0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 type="triangle" w="med" len="med"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521266" name="Line 50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1200" y="2784"/>
                      <a:ext cx="0" cy="1296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 type="triangle" w="med" len="med"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521267" name="Text Box 51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1680" y="3322"/>
                      <a:ext cx="96" cy="23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lIns="0" tIns="0" rIns="0" bIns="0">
                      <a:spAutoFit/>
                    </a:bodyPr>
                    <a:lstStyle/>
                    <a:p>
                      <a:pPr>
                        <a:spcBef>
                          <a:spcPct val="50000"/>
                        </a:spcBef>
                      </a:pPr>
                      <a:r>
                        <a:rPr lang="en-US" altLang="zh-CN" sz="2400" i="1" u="none">
                          <a:solidFill>
                            <a:schemeClr val="tx1"/>
                          </a:solidFill>
                          <a:ea typeface="宋体" pitchFamily="2" charset="-122"/>
                        </a:rPr>
                        <a:t>x</a:t>
                      </a:r>
                    </a:p>
                  </p:txBody>
                </p:sp>
                <p:sp>
                  <p:nvSpPr>
                    <p:cNvPr id="521268" name="Text Box 52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1056" y="2698"/>
                      <a:ext cx="96" cy="192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lIns="0" tIns="0" rIns="0" bIns="0">
                      <a:spAutoFit/>
                    </a:bodyPr>
                    <a:lstStyle/>
                    <a:p>
                      <a:pPr>
                        <a:spcBef>
                          <a:spcPct val="50000"/>
                        </a:spcBef>
                      </a:pPr>
                      <a:r>
                        <a:rPr lang="en-US" altLang="zh-CN" sz="2000" i="1" u="none">
                          <a:solidFill>
                            <a:schemeClr val="tx1"/>
                          </a:solidFill>
                          <a:ea typeface="宋体" pitchFamily="2" charset="-122"/>
                        </a:rPr>
                        <a:t>y</a:t>
                      </a:r>
                    </a:p>
                  </p:txBody>
                </p:sp>
              </p:grpSp>
              <p:sp>
                <p:nvSpPr>
                  <p:cNvPr id="521269" name="Oval 53"/>
                  <p:cNvSpPr>
                    <a:spLocks noChangeArrowheads="1"/>
                  </p:cNvSpPr>
                  <p:nvPr/>
                </p:nvSpPr>
                <p:spPr bwMode="auto">
                  <a:xfrm>
                    <a:off x="3504" y="3312"/>
                    <a:ext cx="48" cy="48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21270" name="Oval 54"/>
                  <p:cNvSpPr>
                    <a:spLocks noChangeArrowheads="1"/>
                  </p:cNvSpPr>
                  <p:nvPr/>
                </p:nvSpPr>
                <p:spPr bwMode="auto">
                  <a:xfrm>
                    <a:off x="3552" y="3168"/>
                    <a:ext cx="48" cy="48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21271" name="Oval 55"/>
                  <p:cNvSpPr>
                    <a:spLocks noChangeArrowheads="1"/>
                  </p:cNvSpPr>
                  <p:nvPr/>
                </p:nvSpPr>
                <p:spPr bwMode="auto">
                  <a:xfrm>
                    <a:off x="3648" y="3024"/>
                    <a:ext cx="48" cy="48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21272" name="Oval 56"/>
                  <p:cNvSpPr>
                    <a:spLocks noChangeArrowheads="1"/>
                  </p:cNvSpPr>
                  <p:nvPr/>
                </p:nvSpPr>
                <p:spPr bwMode="auto">
                  <a:xfrm>
                    <a:off x="3792" y="2928"/>
                    <a:ext cx="48" cy="48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21273" name="Oval 57"/>
                  <p:cNvSpPr>
                    <a:spLocks noChangeArrowheads="1"/>
                  </p:cNvSpPr>
                  <p:nvPr/>
                </p:nvSpPr>
                <p:spPr bwMode="auto">
                  <a:xfrm>
                    <a:off x="3936" y="2880"/>
                    <a:ext cx="48" cy="48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21274" name="Oval 58"/>
                  <p:cNvSpPr>
                    <a:spLocks noChangeArrowheads="1"/>
                  </p:cNvSpPr>
                  <p:nvPr/>
                </p:nvSpPr>
                <p:spPr bwMode="auto">
                  <a:xfrm>
                    <a:off x="3024" y="3792"/>
                    <a:ext cx="48" cy="48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21275" name="Oval 59"/>
                  <p:cNvSpPr>
                    <a:spLocks noChangeArrowheads="1"/>
                  </p:cNvSpPr>
                  <p:nvPr/>
                </p:nvSpPr>
                <p:spPr bwMode="auto">
                  <a:xfrm>
                    <a:off x="3216" y="3696"/>
                    <a:ext cx="48" cy="48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21276" name="Oval 60"/>
                  <p:cNvSpPr>
                    <a:spLocks noChangeArrowheads="1"/>
                  </p:cNvSpPr>
                  <p:nvPr/>
                </p:nvSpPr>
                <p:spPr bwMode="auto">
                  <a:xfrm>
                    <a:off x="3360" y="3600"/>
                    <a:ext cx="48" cy="48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21277" name="Oval 61"/>
                  <p:cNvSpPr>
                    <a:spLocks noChangeArrowheads="1"/>
                  </p:cNvSpPr>
                  <p:nvPr/>
                </p:nvSpPr>
                <p:spPr bwMode="auto">
                  <a:xfrm>
                    <a:off x="3408" y="3456"/>
                    <a:ext cx="48" cy="48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</p:grpSp>
          <p:sp>
            <p:nvSpPr>
              <p:cNvPr id="521278" name="Rectangle 62"/>
              <p:cNvSpPr>
                <a:spLocks noChangeArrowheads="1"/>
              </p:cNvSpPr>
              <p:nvPr/>
            </p:nvSpPr>
            <p:spPr bwMode="auto">
              <a:xfrm>
                <a:off x="3216" y="3840"/>
                <a:ext cx="672" cy="192"/>
              </a:xfrm>
              <a:prstGeom prst="rect">
                <a:avLst/>
              </a:prstGeom>
              <a:solidFill>
                <a:srgbClr val="FFFFCC"/>
              </a:solidFill>
              <a:ln w="9525">
                <a:solidFill>
                  <a:srgbClr val="FFFFCC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aphicFrame>
          <p:nvGraphicFramePr>
            <p:cNvPr id="521279" name="Object 63"/>
            <p:cNvGraphicFramePr>
              <a:graphicFrameLocks noChangeAspect="1"/>
            </p:cNvGraphicFramePr>
            <p:nvPr/>
          </p:nvGraphicFramePr>
          <p:xfrm>
            <a:off x="3224" y="3840"/>
            <a:ext cx="712" cy="2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21568" name="Equation" r:id="rId9" imgW="672840" imgH="241200" progId="Equation.3">
                    <p:embed/>
                  </p:oleObj>
                </mc:Choice>
                <mc:Fallback>
                  <p:oleObj name="Equation" r:id="rId9" imgW="672840" imgH="241200" progId="Equation.3">
                    <p:embed/>
                    <p:pic>
                      <p:nvPicPr>
                        <p:cNvPr id="0" name="Object 6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24" y="3840"/>
                          <a:ext cx="712" cy="25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21280" name="Group 64"/>
          <p:cNvGrpSpPr>
            <a:grpSpLocks/>
          </p:cNvGrpSpPr>
          <p:nvPr/>
        </p:nvGrpSpPr>
        <p:grpSpPr bwMode="auto">
          <a:xfrm>
            <a:off x="6526213" y="3806825"/>
            <a:ext cx="1981200" cy="2362200"/>
            <a:chOff x="4224" y="2592"/>
            <a:chExt cx="1248" cy="1488"/>
          </a:xfrm>
        </p:grpSpPr>
        <p:grpSp>
          <p:nvGrpSpPr>
            <p:cNvPr id="521281" name="Group 65"/>
            <p:cNvGrpSpPr>
              <a:grpSpLocks/>
            </p:cNvGrpSpPr>
            <p:nvPr/>
          </p:nvGrpSpPr>
          <p:grpSpPr bwMode="auto">
            <a:xfrm>
              <a:off x="4224" y="2592"/>
              <a:ext cx="1248" cy="1488"/>
              <a:chOff x="4224" y="2592"/>
              <a:chExt cx="1248" cy="1488"/>
            </a:xfrm>
          </p:grpSpPr>
          <p:grpSp>
            <p:nvGrpSpPr>
              <p:cNvPr id="521282" name="Group 66"/>
              <p:cNvGrpSpPr>
                <a:grpSpLocks/>
              </p:cNvGrpSpPr>
              <p:nvPr/>
            </p:nvGrpSpPr>
            <p:grpSpPr bwMode="auto">
              <a:xfrm>
                <a:off x="4224" y="2592"/>
                <a:ext cx="1248" cy="1488"/>
                <a:chOff x="4224" y="2592"/>
                <a:chExt cx="1248" cy="1488"/>
              </a:xfrm>
            </p:grpSpPr>
            <p:sp>
              <p:nvSpPr>
                <p:cNvPr id="521283" name="Rectangle 67"/>
                <p:cNvSpPr>
                  <a:spLocks noChangeArrowheads="1"/>
                </p:cNvSpPr>
                <p:nvPr/>
              </p:nvSpPr>
              <p:spPr bwMode="auto">
                <a:xfrm>
                  <a:off x="4224" y="2592"/>
                  <a:ext cx="1200" cy="1488"/>
                </a:xfrm>
                <a:prstGeom prst="rect">
                  <a:avLst/>
                </a:prstGeom>
                <a:solidFill>
                  <a:srgbClr val="CCECFF"/>
                </a:solidFill>
                <a:ln w="9525">
                  <a:solidFill>
                    <a:srgbClr val="CCECFF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grpSp>
              <p:nvGrpSpPr>
                <p:cNvPr id="521284" name="Group 68"/>
                <p:cNvGrpSpPr>
                  <a:grpSpLocks/>
                </p:cNvGrpSpPr>
                <p:nvPr/>
              </p:nvGrpSpPr>
              <p:grpSpPr bwMode="auto">
                <a:xfrm>
                  <a:off x="4272" y="2592"/>
                  <a:ext cx="1200" cy="1382"/>
                  <a:chOff x="4272" y="2688"/>
                  <a:chExt cx="1200" cy="1382"/>
                </a:xfrm>
              </p:grpSpPr>
              <p:grpSp>
                <p:nvGrpSpPr>
                  <p:cNvPr id="521285" name="Group 69"/>
                  <p:cNvGrpSpPr>
                    <a:grpSpLocks/>
                  </p:cNvGrpSpPr>
                  <p:nvPr/>
                </p:nvGrpSpPr>
                <p:grpSpPr bwMode="auto">
                  <a:xfrm>
                    <a:off x="4272" y="2688"/>
                    <a:ext cx="1200" cy="1382"/>
                    <a:chOff x="624" y="2698"/>
                    <a:chExt cx="1200" cy="1382"/>
                  </a:xfrm>
                </p:grpSpPr>
                <p:sp>
                  <p:nvSpPr>
                    <p:cNvPr id="521286" name="Line 70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624" y="3360"/>
                      <a:ext cx="1200" cy="0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 type="triangle" w="med" len="med"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521287" name="Line 71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1200" y="2784"/>
                      <a:ext cx="0" cy="1296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 type="triangle" w="med" len="med"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521288" name="Text Box 72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1680" y="3322"/>
                      <a:ext cx="96" cy="23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lIns="0" tIns="0" rIns="0" bIns="0">
                      <a:spAutoFit/>
                    </a:bodyPr>
                    <a:lstStyle/>
                    <a:p>
                      <a:pPr>
                        <a:spcBef>
                          <a:spcPct val="50000"/>
                        </a:spcBef>
                      </a:pPr>
                      <a:r>
                        <a:rPr lang="en-US" altLang="zh-CN" sz="2400" i="1" u="none">
                          <a:solidFill>
                            <a:schemeClr val="tx1"/>
                          </a:solidFill>
                          <a:ea typeface="宋体" pitchFamily="2" charset="-122"/>
                        </a:rPr>
                        <a:t>x</a:t>
                      </a:r>
                    </a:p>
                  </p:txBody>
                </p:sp>
                <p:sp>
                  <p:nvSpPr>
                    <p:cNvPr id="521289" name="Text Box 73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1056" y="2698"/>
                      <a:ext cx="96" cy="192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lIns="0" tIns="0" rIns="0" bIns="0">
                      <a:spAutoFit/>
                    </a:bodyPr>
                    <a:lstStyle/>
                    <a:p>
                      <a:pPr>
                        <a:spcBef>
                          <a:spcPct val="50000"/>
                        </a:spcBef>
                      </a:pPr>
                      <a:r>
                        <a:rPr lang="en-US" altLang="zh-CN" sz="2000" i="1" u="none">
                          <a:solidFill>
                            <a:schemeClr val="tx1"/>
                          </a:solidFill>
                          <a:ea typeface="宋体" pitchFamily="2" charset="-122"/>
                        </a:rPr>
                        <a:t>y</a:t>
                      </a:r>
                    </a:p>
                  </p:txBody>
                </p:sp>
              </p:grpSp>
              <p:sp>
                <p:nvSpPr>
                  <p:cNvPr id="521290" name="Oval 74"/>
                  <p:cNvSpPr>
                    <a:spLocks noChangeArrowheads="1"/>
                  </p:cNvSpPr>
                  <p:nvPr/>
                </p:nvSpPr>
                <p:spPr bwMode="auto">
                  <a:xfrm>
                    <a:off x="4704" y="3216"/>
                    <a:ext cx="48" cy="48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21291" name="Oval 75"/>
                  <p:cNvSpPr>
                    <a:spLocks noChangeArrowheads="1"/>
                  </p:cNvSpPr>
                  <p:nvPr/>
                </p:nvSpPr>
                <p:spPr bwMode="auto">
                  <a:xfrm>
                    <a:off x="4608" y="2928"/>
                    <a:ext cx="48" cy="48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21292" name="Oval 76"/>
                  <p:cNvSpPr>
                    <a:spLocks noChangeArrowheads="1"/>
                  </p:cNvSpPr>
                  <p:nvPr/>
                </p:nvSpPr>
                <p:spPr bwMode="auto">
                  <a:xfrm>
                    <a:off x="5136" y="3744"/>
                    <a:ext cx="48" cy="48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21293" name="Oval 77"/>
                  <p:cNvSpPr>
                    <a:spLocks noChangeArrowheads="1"/>
                  </p:cNvSpPr>
                  <p:nvPr/>
                </p:nvSpPr>
                <p:spPr bwMode="auto">
                  <a:xfrm>
                    <a:off x="5040" y="2976"/>
                    <a:ext cx="48" cy="48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21294" name="Oval 78"/>
                  <p:cNvSpPr>
                    <a:spLocks noChangeArrowheads="1"/>
                  </p:cNvSpPr>
                  <p:nvPr/>
                </p:nvSpPr>
                <p:spPr bwMode="auto">
                  <a:xfrm>
                    <a:off x="5280" y="3024"/>
                    <a:ext cx="48" cy="48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21295" name="Oval 79"/>
                  <p:cNvSpPr>
                    <a:spLocks noChangeArrowheads="1"/>
                  </p:cNvSpPr>
                  <p:nvPr/>
                </p:nvSpPr>
                <p:spPr bwMode="auto">
                  <a:xfrm>
                    <a:off x="4464" y="3408"/>
                    <a:ext cx="48" cy="48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21296" name="Oval 80"/>
                  <p:cNvSpPr>
                    <a:spLocks noChangeArrowheads="1"/>
                  </p:cNvSpPr>
                  <p:nvPr/>
                </p:nvSpPr>
                <p:spPr bwMode="auto">
                  <a:xfrm>
                    <a:off x="5040" y="3504"/>
                    <a:ext cx="48" cy="48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21297" name="Oval 81"/>
                  <p:cNvSpPr>
                    <a:spLocks noChangeArrowheads="1"/>
                  </p:cNvSpPr>
                  <p:nvPr/>
                </p:nvSpPr>
                <p:spPr bwMode="auto">
                  <a:xfrm>
                    <a:off x="4608" y="3456"/>
                    <a:ext cx="48" cy="48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21298" name="Oval 82"/>
                  <p:cNvSpPr>
                    <a:spLocks noChangeArrowheads="1"/>
                  </p:cNvSpPr>
                  <p:nvPr/>
                </p:nvSpPr>
                <p:spPr bwMode="auto">
                  <a:xfrm>
                    <a:off x="4704" y="3696"/>
                    <a:ext cx="48" cy="48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</p:grpSp>
          <p:sp>
            <p:nvSpPr>
              <p:cNvPr id="521299" name="Rectangle 83"/>
              <p:cNvSpPr>
                <a:spLocks noChangeArrowheads="1"/>
              </p:cNvSpPr>
              <p:nvPr/>
            </p:nvSpPr>
            <p:spPr bwMode="auto">
              <a:xfrm>
                <a:off x="4608" y="3840"/>
                <a:ext cx="480" cy="192"/>
              </a:xfrm>
              <a:prstGeom prst="rect">
                <a:avLst/>
              </a:prstGeom>
              <a:solidFill>
                <a:srgbClr val="CCECFF"/>
              </a:solidFill>
              <a:ln w="9525">
                <a:solidFill>
                  <a:srgbClr val="CCECF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aphicFrame>
          <p:nvGraphicFramePr>
            <p:cNvPr id="521300" name="Object 84"/>
            <p:cNvGraphicFramePr>
              <a:graphicFrameLocks noChangeAspect="1"/>
            </p:cNvGraphicFramePr>
            <p:nvPr/>
          </p:nvGraphicFramePr>
          <p:xfrm>
            <a:off x="4608" y="3826"/>
            <a:ext cx="508" cy="2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21569" name="Equation" r:id="rId11" imgW="482400" imgH="241200" progId="Equation.3">
                    <p:embed/>
                  </p:oleObj>
                </mc:Choice>
                <mc:Fallback>
                  <p:oleObj name="Equation" r:id="rId11" imgW="482400" imgH="241200" progId="Equation.3">
                    <p:embed/>
                    <p:pic>
                      <p:nvPicPr>
                        <p:cNvPr id="0" name="Object 8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08" y="3826"/>
                          <a:ext cx="508" cy="25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21301" name="Rectangle 85"/>
          <p:cNvSpPr>
            <a:spLocks noChangeArrowheads="1"/>
          </p:cNvSpPr>
          <p:nvPr/>
        </p:nvSpPr>
        <p:spPr bwMode="auto">
          <a:xfrm>
            <a:off x="6215062" y="849346"/>
            <a:ext cx="2801937" cy="2540000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18000" rIns="18000">
            <a:spAutoFit/>
          </a:bodyPr>
          <a:lstStyle/>
          <a:p>
            <a:r>
              <a:rPr lang="zh-CN" altLang="en-US" sz="2000" b="1" u="none" dirty="0">
                <a:solidFill>
                  <a:srgbClr val="99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例如，玻璃管温度计液面高度</a:t>
            </a:r>
            <a:r>
              <a:rPr lang="en-US" altLang="zh-CN" sz="2000" b="1" u="none" dirty="0">
                <a:solidFill>
                  <a:srgbClr val="99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(Y)</a:t>
            </a:r>
            <a:r>
              <a:rPr lang="zh-CN" altLang="en-US" sz="2000" b="1" u="none" dirty="0">
                <a:solidFill>
                  <a:srgbClr val="99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与环境温度</a:t>
            </a:r>
            <a:r>
              <a:rPr lang="en-US" altLang="zh-CN" sz="2000" b="1" u="none" dirty="0">
                <a:solidFill>
                  <a:srgbClr val="99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(x)</a:t>
            </a:r>
            <a:r>
              <a:rPr lang="zh-CN" altLang="en-US" sz="2000" b="1" u="none" dirty="0">
                <a:solidFill>
                  <a:srgbClr val="99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的关系就是近似理想的线形相关，在两个变量相关的情况下，可以用其中一个可以测量的量的变化来表示另一个量的变化。</a:t>
            </a:r>
            <a:r>
              <a:rPr lang="zh-CN" altLang="en-US" sz="2000" b="1" u="none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</a:p>
        </p:txBody>
      </p:sp>
      <p:sp>
        <p:nvSpPr>
          <p:cNvPr id="521302" name="Rectangle 86"/>
          <p:cNvSpPr>
            <a:spLocks noChangeArrowheads="1"/>
          </p:cNvSpPr>
          <p:nvPr/>
        </p:nvSpPr>
        <p:spPr bwMode="auto">
          <a:xfrm>
            <a:off x="366713" y="959774"/>
            <a:ext cx="2035175" cy="466725"/>
          </a:xfrm>
          <a:prstGeom prst="rect">
            <a:avLst/>
          </a:prstGeom>
          <a:solidFill>
            <a:srgbClr val="CC99FF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 u="none">
                <a:solidFill>
                  <a:srgbClr val="990000"/>
                </a:solidFill>
                <a:latin typeface="楷体_GB2312" pitchFamily="49" charset="-122"/>
                <a:ea typeface="楷体_GB2312" pitchFamily="49" charset="-122"/>
              </a:rPr>
              <a:t>(2).</a:t>
            </a:r>
            <a:r>
              <a:rPr lang="zh-CN" altLang="en-US" sz="2400" b="1" u="none">
                <a:solidFill>
                  <a:srgbClr val="990000"/>
                </a:solidFill>
                <a:latin typeface="楷体_GB2312" pitchFamily="49" charset="-122"/>
                <a:ea typeface="楷体_GB2312" pitchFamily="49" charset="-122"/>
              </a:rPr>
              <a:t>相关系数</a:t>
            </a:r>
          </a:p>
        </p:txBody>
      </p:sp>
      <p:sp>
        <p:nvSpPr>
          <p:cNvPr id="84" name="Rectangle 4"/>
          <p:cNvSpPr>
            <a:spLocks noChangeArrowheads="1"/>
          </p:cNvSpPr>
          <p:nvPr/>
        </p:nvSpPr>
        <p:spPr bwMode="auto">
          <a:xfrm>
            <a:off x="379413" y="300831"/>
            <a:ext cx="3738562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 b="1" u="none" dirty="0" smtClean="0">
                <a:solidFill>
                  <a:srgbClr val="800000"/>
                </a:solidFill>
                <a:ea typeface="宋体" pitchFamily="2" charset="-122"/>
              </a:rPr>
              <a:t>5.3 </a:t>
            </a:r>
            <a:r>
              <a:rPr lang="zh-CN" altLang="en-US" sz="3200" b="1" u="none" dirty="0">
                <a:solidFill>
                  <a:srgbClr val="800000"/>
                </a:solidFill>
                <a:ea typeface="宋体" pitchFamily="2" charset="-122"/>
              </a:rPr>
              <a:t>相关分析及应用</a:t>
            </a:r>
            <a:r>
              <a:rPr lang="zh-CN" altLang="en-US" b="1" u="none" dirty="0">
                <a:solidFill>
                  <a:srgbClr val="000066"/>
                </a:solidFill>
                <a:ea typeface="宋体" pitchFamily="2" charset="-122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212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212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212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212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212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212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212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212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213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213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1301" grpId="0" animBg="1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78229" name="Object 21"/>
          <p:cNvGraphicFramePr>
            <a:graphicFrameLocks noGrp="1" noChangeAspect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636031717"/>
              </p:ext>
            </p:extLst>
          </p:nvPr>
        </p:nvGraphicFramePr>
        <p:xfrm>
          <a:off x="611367" y="3616341"/>
          <a:ext cx="4700374" cy="8751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2445" name="公式" r:id="rId3" imgW="3340080" imgH="622080" progId="Equation.3">
                  <p:embed/>
                </p:oleObj>
              </mc:Choice>
              <mc:Fallback>
                <p:oleObj name="公式" r:id="rId3" imgW="3340080" imgH="622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367" y="3616341"/>
                        <a:ext cx="4700374" cy="87510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8230" name="Object 22"/>
          <p:cNvGraphicFramePr>
            <a:graphicFrameLocks noGrp="1" noChangeAspect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3247498416"/>
              </p:ext>
            </p:extLst>
          </p:nvPr>
        </p:nvGraphicFramePr>
        <p:xfrm>
          <a:off x="545307" y="4621837"/>
          <a:ext cx="8208963" cy="738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2446" name="公式" r:id="rId5" imgW="5079960" imgH="457200" progId="Equation.3">
                  <p:embed/>
                </p:oleObj>
              </mc:Choice>
              <mc:Fallback>
                <p:oleObj name="公式" r:id="rId5" imgW="507996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5307" y="4621837"/>
                        <a:ext cx="8208963" cy="738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8231" name="Object 23"/>
          <p:cNvGraphicFramePr>
            <a:graphicFrameLocks noGrp="1" noChangeAspect="1"/>
          </p:cNvGraphicFramePr>
          <p:nvPr>
            <p:ph sz="quarter" idx="3"/>
            <p:extLst>
              <p:ext uri="{D42A27DB-BD31-4B8C-83A1-F6EECF244321}">
                <p14:modId xmlns:p14="http://schemas.microsoft.com/office/powerpoint/2010/main" val="3856786245"/>
              </p:ext>
            </p:extLst>
          </p:nvPr>
        </p:nvGraphicFramePr>
        <p:xfrm>
          <a:off x="673100" y="5545032"/>
          <a:ext cx="3529013" cy="657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2447" name="公式" r:id="rId7" imgW="2387520" imgH="444240" progId="Equation.3">
                  <p:embed/>
                </p:oleObj>
              </mc:Choice>
              <mc:Fallback>
                <p:oleObj name="公式" r:id="rId7" imgW="2387520" imgH="444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3100" y="5545032"/>
                        <a:ext cx="3529013" cy="657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8234" name="Rectangle 26"/>
          <p:cNvSpPr>
            <a:spLocks noChangeArrowheads="1"/>
          </p:cNvSpPr>
          <p:nvPr/>
        </p:nvSpPr>
        <p:spPr bwMode="auto">
          <a:xfrm>
            <a:off x="114300" y="32210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478235" name="Object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82882912"/>
              </p:ext>
            </p:extLst>
          </p:nvPr>
        </p:nvGraphicFramePr>
        <p:xfrm>
          <a:off x="5822952" y="2204468"/>
          <a:ext cx="3097212" cy="547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2448" name="公式" r:id="rId9" imgW="2209800" imgH="393700" progId="Equation.3">
                  <p:embed/>
                </p:oleObj>
              </mc:Choice>
              <mc:Fallback>
                <p:oleObj name="公式" r:id="rId9" imgW="2209800" imgH="393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22952" y="2204468"/>
                        <a:ext cx="3097212" cy="5476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8236" name="Rectangle 28"/>
          <p:cNvSpPr>
            <a:spLocks noChangeArrowheads="1"/>
          </p:cNvSpPr>
          <p:nvPr/>
        </p:nvSpPr>
        <p:spPr bwMode="auto">
          <a:xfrm>
            <a:off x="114300" y="32210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478237" name="Object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30124248"/>
              </p:ext>
            </p:extLst>
          </p:nvPr>
        </p:nvGraphicFramePr>
        <p:xfrm>
          <a:off x="5832475" y="2719388"/>
          <a:ext cx="3087689" cy="57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2449" name="公式" r:id="rId11" imgW="2234880" imgH="393480" progId="Equation.3">
                  <p:embed/>
                </p:oleObj>
              </mc:Choice>
              <mc:Fallback>
                <p:oleObj name="公式" r:id="rId11" imgW="223488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32475" y="2719388"/>
                        <a:ext cx="3087689" cy="57785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8239" name="Rectangle 31"/>
          <p:cNvSpPr>
            <a:spLocks noChangeArrowheads="1"/>
          </p:cNvSpPr>
          <p:nvPr/>
        </p:nvSpPr>
        <p:spPr bwMode="auto">
          <a:xfrm>
            <a:off x="114300" y="32972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78244" name="Rectangle 36"/>
          <p:cNvSpPr>
            <a:spLocks noChangeArrowheads="1"/>
          </p:cNvSpPr>
          <p:nvPr/>
        </p:nvSpPr>
        <p:spPr bwMode="auto">
          <a:xfrm>
            <a:off x="114300" y="2311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478245" name="Object 3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18796643"/>
              </p:ext>
            </p:extLst>
          </p:nvPr>
        </p:nvGraphicFramePr>
        <p:xfrm>
          <a:off x="617539" y="2542087"/>
          <a:ext cx="4248150" cy="969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2450" name="公式" r:id="rId13" imgW="2730240" imgH="622080" progId="Equation.3">
                  <p:embed/>
                </p:oleObj>
              </mc:Choice>
              <mc:Fallback>
                <p:oleObj name="公式" r:id="rId13" imgW="2730240" imgH="622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7539" y="2542087"/>
                        <a:ext cx="4248150" cy="9699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8246" name="Object 3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72036706"/>
              </p:ext>
            </p:extLst>
          </p:nvPr>
        </p:nvGraphicFramePr>
        <p:xfrm>
          <a:off x="4264774" y="5516367"/>
          <a:ext cx="1584325" cy="706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2451" name="公式" r:id="rId15" imgW="1054080" imgH="469800" progId="Equation.3">
                  <p:embed/>
                </p:oleObj>
              </mc:Choice>
              <mc:Fallback>
                <p:oleObj name="公式" r:id="rId15" imgW="1054080" imgH="469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4774" y="5516367"/>
                        <a:ext cx="1584325" cy="706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Rectangle 18"/>
          <p:cNvSpPr>
            <a:spLocks noChangeArrowheads="1"/>
          </p:cNvSpPr>
          <p:nvPr/>
        </p:nvSpPr>
        <p:spPr bwMode="auto">
          <a:xfrm>
            <a:off x="269876" y="263642"/>
            <a:ext cx="4335462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sz="3200" b="1" u="none" dirty="0" smtClean="0">
                <a:solidFill>
                  <a:srgbClr val="800000"/>
                </a:solidFill>
              </a:rPr>
              <a:t>5.4 </a:t>
            </a:r>
            <a:r>
              <a:rPr lang="zh-CN" altLang="en-US" sz="3200" b="1" u="none" dirty="0">
                <a:solidFill>
                  <a:srgbClr val="800000"/>
                </a:solidFill>
              </a:rPr>
              <a:t>功率谱分析及应用</a:t>
            </a:r>
          </a:p>
        </p:txBody>
      </p:sp>
      <p:sp>
        <p:nvSpPr>
          <p:cNvPr id="23" name="Rectangle 99"/>
          <p:cNvSpPr>
            <a:spLocks noChangeArrowheads="1"/>
          </p:cNvSpPr>
          <p:nvPr/>
        </p:nvSpPr>
        <p:spPr bwMode="auto">
          <a:xfrm>
            <a:off x="379414" y="1503051"/>
            <a:ext cx="854075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>
              <a:buClr>
                <a:srgbClr val="FF3300"/>
              </a:buClr>
              <a:buFont typeface="Wingdings" pitchFamily="2" charset="2"/>
              <a:buChar char="Ø"/>
            </a:pPr>
            <a:r>
              <a:rPr kumimoji="0" lang="zh-CN" altLang="en-US" sz="2400" b="1" u="none" dirty="0">
                <a:solidFill>
                  <a:schemeClr val="tx1"/>
                </a:solidFill>
              </a:rPr>
              <a:t>设</a:t>
            </a:r>
            <a:r>
              <a:rPr kumimoji="0" lang="en-US" altLang="zh-CN" sz="2400" b="1" i="1" u="none" dirty="0">
                <a:solidFill>
                  <a:schemeClr val="tx1"/>
                </a:solidFill>
              </a:rPr>
              <a:t>y</a:t>
            </a:r>
            <a:r>
              <a:rPr kumimoji="0" lang="en-US" altLang="zh-CN" sz="2400" b="1" u="none" dirty="0">
                <a:solidFill>
                  <a:schemeClr val="tx1"/>
                </a:solidFill>
              </a:rPr>
              <a:t>(</a:t>
            </a:r>
            <a:r>
              <a:rPr kumimoji="0" lang="en-US" altLang="zh-CN" sz="2400" b="1" u="none" dirty="0" err="1">
                <a:solidFill>
                  <a:schemeClr val="tx1"/>
                </a:solidFill>
              </a:rPr>
              <a:t>t+τ</a:t>
            </a:r>
            <a:r>
              <a:rPr kumimoji="0" lang="en-US" altLang="zh-CN" sz="2400" b="1" u="none" dirty="0">
                <a:solidFill>
                  <a:schemeClr val="tx1"/>
                </a:solidFill>
              </a:rPr>
              <a:t>)</a:t>
            </a:r>
            <a:r>
              <a:rPr kumimoji="0" lang="zh-CN" altLang="en-US" sz="2400" b="1" u="none" dirty="0">
                <a:solidFill>
                  <a:schemeClr val="tx1"/>
                </a:solidFill>
              </a:rPr>
              <a:t>是</a:t>
            </a:r>
            <a:r>
              <a:rPr kumimoji="0" lang="en-US" altLang="zh-CN" sz="2400" b="1" i="1" u="none" dirty="0">
                <a:solidFill>
                  <a:schemeClr val="tx1"/>
                </a:solidFill>
              </a:rPr>
              <a:t>y</a:t>
            </a:r>
            <a:r>
              <a:rPr kumimoji="0" lang="en-US" altLang="zh-CN" sz="2400" b="1" u="none" dirty="0">
                <a:solidFill>
                  <a:schemeClr val="tx1"/>
                </a:solidFill>
              </a:rPr>
              <a:t>(t)</a:t>
            </a:r>
            <a:r>
              <a:rPr kumimoji="0" lang="zh-CN" altLang="en-US" sz="2400" b="1" u="none" dirty="0" smtClean="0">
                <a:solidFill>
                  <a:schemeClr val="tx1"/>
                </a:solidFill>
              </a:rPr>
              <a:t>时延时</a:t>
            </a:r>
            <a:r>
              <a:rPr kumimoji="0" lang="en-US" altLang="zh-CN" sz="2400" b="1" u="none" dirty="0" smtClean="0">
                <a:solidFill>
                  <a:schemeClr val="tx1"/>
                </a:solidFill>
              </a:rPr>
              <a:t>τ</a:t>
            </a:r>
            <a:r>
              <a:rPr kumimoji="0" lang="zh-CN" altLang="en-US" sz="2400" b="1" u="none" dirty="0">
                <a:solidFill>
                  <a:schemeClr val="tx1"/>
                </a:solidFill>
              </a:rPr>
              <a:t>后的样本，对于</a:t>
            </a:r>
            <a:r>
              <a:rPr kumimoji="0" lang="en-US" altLang="zh-CN" sz="2400" b="1" i="1" u="none" dirty="0">
                <a:solidFill>
                  <a:schemeClr val="tx1"/>
                </a:solidFill>
              </a:rPr>
              <a:t>x</a:t>
            </a:r>
            <a:r>
              <a:rPr kumimoji="0" lang="en-US" altLang="zh-CN" sz="2400" b="1" u="none" dirty="0">
                <a:solidFill>
                  <a:schemeClr val="tx1"/>
                </a:solidFill>
              </a:rPr>
              <a:t>(t)</a:t>
            </a:r>
            <a:r>
              <a:rPr kumimoji="0" lang="zh-CN" altLang="en-US" sz="2400" b="1" u="none" dirty="0">
                <a:solidFill>
                  <a:schemeClr val="tx1"/>
                </a:solidFill>
              </a:rPr>
              <a:t>和</a:t>
            </a:r>
            <a:r>
              <a:rPr kumimoji="0" lang="en-US" altLang="zh-CN" sz="2400" b="1" i="1" u="none" dirty="0">
                <a:solidFill>
                  <a:schemeClr val="tx1"/>
                </a:solidFill>
              </a:rPr>
              <a:t>y</a:t>
            </a:r>
            <a:r>
              <a:rPr kumimoji="0" lang="en-US" altLang="zh-CN" sz="2400" b="1" u="none" dirty="0">
                <a:solidFill>
                  <a:schemeClr val="tx1"/>
                </a:solidFill>
              </a:rPr>
              <a:t>(</a:t>
            </a:r>
            <a:r>
              <a:rPr kumimoji="0" lang="en-US" altLang="zh-CN" sz="2400" b="1" u="none" dirty="0" err="1">
                <a:solidFill>
                  <a:schemeClr val="tx1"/>
                </a:solidFill>
              </a:rPr>
              <a:t>t+τ</a:t>
            </a:r>
            <a:r>
              <a:rPr kumimoji="0" lang="en-US" altLang="zh-CN" sz="2400" b="1" u="none" dirty="0">
                <a:solidFill>
                  <a:schemeClr val="tx1"/>
                </a:solidFill>
              </a:rPr>
              <a:t>)</a:t>
            </a:r>
            <a:r>
              <a:rPr kumimoji="0" lang="zh-CN" altLang="en-US" sz="2400" b="1" u="none" dirty="0">
                <a:solidFill>
                  <a:schemeClr val="tx1"/>
                </a:solidFill>
              </a:rPr>
              <a:t>的相关系数 </a:t>
            </a:r>
          </a:p>
        </p:txBody>
      </p:sp>
      <p:graphicFrame>
        <p:nvGraphicFramePr>
          <p:cNvPr id="24" name="Object 10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16872182"/>
              </p:ext>
            </p:extLst>
          </p:nvPr>
        </p:nvGraphicFramePr>
        <p:xfrm>
          <a:off x="742385" y="1919249"/>
          <a:ext cx="1240979" cy="526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2452" name="公式" r:id="rId17" imgW="558558" imgH="241195" progId="Equation.3">
                  <p:embed/>
                </p:oleObj>
              </mc:Choice>
              <mc:Fallback>
                <p:oleObj name="公式" r:id="rId17" imgW="558558" imgH="24119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2385" y="1919249"/>
                        <a:ext cx="1240979" cy="526325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Rectangle 101"/>
          <p:cNvSpPr>
            <a:spLocks noChangeArrowheads="1"/>
          </p:cNvSpPr>
          <p:nvPr/>
        </p:nvSpPr>
        <p:spPr bwMode="auto">
          <a:xfrm>
            <a:off x="1951929" y="1975868"/>
            <a:ext cx="216604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r>
              <a:rPr kumimoji="0" lang="zh-CN" altLang="en-US" sz="2400" b="1" u="none" dirty="0" smtClean="0">
                <a:solidFill>
                  <a:schemeClr val="tx1"/>
                </a:solidFill>
              </a:rPr>
              <a:t>，简写</a:t>
            </a:r>
            <a:r>
              <a:rPr kumimoji="0" lang="zh-CN" altLang="en-US" sz="2400" b="1" u="none" dirty="0">
                <a:solidFill>
                  <a:schemeClr val="tx1"/>
                </a:solidFill>
              </a:rPr>
              <a:t>为</a:t>
            </a:r>
            <a:r>
              <a:rPr kumimoji="0" lang="en-US" altLang="zh-CN" sz="2400" b="1" i="1" u="none" dirty="0" err="1">
                <a:solidFill>
                  <a:schemeClr val="tx1"/>
                </a:solidFill>
              </a:rPr>
              <a:t>ρ</a:t>
            </a:r>
            <a:r>
              <a:rPr kumimoji="0" lang="en-US" altLang="zh-CN" sz="2400" b="1" i="1" u="none" baseline="-25000" dirty="0" err="1">
                <a:solidFill>
                  <a:schemeClr val="tx1"/>
                </a:solidFill>
              </a:rPr>
              <a:t>xy</a:t>
            </a:r>
            <a:r>
              <a:rPr kumimoji="0" lang="en-US" altLang="zh-CN" sz="2400" b="1" u="none" dirty="0">
                <a:solidFill>
                  <a:schemeClr val="tx1"/>
                </a:solidFill>
              </a:rPr>
              <a:t>(τ) </a:t>
            </a:r>
          </a:p>
        </p:txBody>
      </p:sp>
      <p:sp>
        <p:nvSpPr>
          <p:cNvPr id="26" name="Rectangle 106"/>
          <p:cNvSpPr>
            <a:spLocks noChangeArrowheads="1"/>
          </p:cNvSpPr>
          <p:nvPr/>
        </p:nvSpPr>
        <p:spPr bwMode="auto">
          <a:xfrm>
            <a:off x="379414" y="945820"/>
            <a:ext cx="4486275" cy="466725"/>
          </a:xfrm>
          <a:prstGeom prst="rect">
            <a:avLst/>
          </a:prstGeom>
          <a:solidFill>
            <a:srgbClr val="CC99FF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 u="none" dirty="0">
                <a:solidFill>
                  <a:srgbClr val="990000"/>
                </a:solidFill>
                <a:latin typeface="楷体_GB2312" pitchFamily="49" charset="-122"/>
                <a:ea typeface="楷体_GB2312" pitchFamily="49" charset="-122"/>
              </a:rPr>
              <a:t>(3).</a:t>
            </a:r>
            <a:r>
              <a:rPr lang="zh-CN" altLang="en-US" sz="2400" b="1" u="none" dirty="0">
                <a:solidFill>
                  <a:srgbClr val="990000"/>
                </a:solidFill>
                <a:latin typeface="楷体_GB2312" pitchFamily="49" charset="-122"/>
                <a:ea typeface="楷体_GB2312" pitchFamily="49" charset="-122"/>
              </a:rPr>
              <a:t>相关函数和相关系数的关系</a:t>
            </a: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04885593"/>
              </p:ext>
            </p:extLst>
          </p:nvPr>
        </p:nvGraphicFramePr>
        <p:xfrm>
          <a:off x="5769672" y="851950"/>
          <a:ext cx="3269377" cy="654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2453" name="公式" r:id="rId19" imgW="1955800" imgH="393700" progId="Equation.3">
                  <p:embed/>
                </p:oleObj>
              </mc:Choice>
              <mc:Fallback>
                <p:oleObj name="公式" r:id="rId19" imgW="1955800" imgH="393700" progId="Equation.3">
                  <p:embed/>
                  <p:pic>
                    <p:nvPicPr>
                      <p:cNvPr id="0" name="Object 9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69672" y="851950"/>
                        <a:ext cx="3269377" cy="654463"/>
                      </a:xfrm>
                      <a:prstGeom prst="rect">
                        <a:avLst/>
                      </a:prstGeom>
                      <a:solidFill>
                        <a:srgbClr val="CC99FF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311306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782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782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782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782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782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782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732" name="Rectangle 12"/>
          <p:cNvSpPr>
            <a:spLocks noChangeArrowheads="1"/>
          </p:cNvSpPr>
          <p:nvPr/>
        </p:nvSpPr>
        <p:spPr bwMode="auto">
          <a:xfrm>
            <a:off x="6346825" y="2689225"/>
            <a:ext cx="6413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0" lang="en-US" altLang="zh-CN" sz="1800" b="1" u="none" dirty="0" smtClean="0">
                <a:solidFill>
                  <a:srgbClr val="FF3300"/>
                </a:solidFill>
                <a:ea typeface="宋体" pitchFamily="2" charset="-122"/>
              </a:rPr>
              <a:t>(</a:t>
            </a:r>
            <a:r>
              <a:rPr kumimoji="0" lang="en-US" altLang="zh-CN" sz="1800" b="1" u="none" dirty="0" smtClean="0">
                <a:solidFill>
                  <a:srgbClr val="FF3300"/>
                </a:solidFill>
              </a:rPr>
              <a:t>5-</a:t>
            </a:r>
            <a:r>
              <a:rPr kumimoji="0" lang="en-US" altLang="zh-CN" sz="1800" b="1" u="none" dirty="0" smtClean="0">
                <a:solidFill>
                  <a:srgbClr val="FF3300"/>
                </a:solidFill>
                <a:ea typeface="宋体" pitchFamily="2" charset="-122"/>
              </a:rPr>
              <a:t>4</a:t>
            </a:r>
            <a:r>
              <a:rPr kumimoji="0" lang="en-US" altLang="zh-CN" sz="1800" b="1" u="none" dirty="0">
                <a:solidFill>
                  <a:srgbClr val="FF3300"/>
                </a:solidFill>
                <a:ea typeface="宋体" pitchFamily="2" charset="-122"/>
              </a:rPr>
              <a:t>)</a:t>
            </a:r>
          </a:p>
        </p:txBody>
      </p:sp>
      <p:graphicFrame>
        <p:nvGraphicFramePr>
          <p:cNvPr id="414733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19708847"/>
              </p:ext>
            </p:extLst>
          </p:nvPr>
        </p:nvGraphicFramePr>
        <p:xfrm>
          <a:off x="5245100" y="785326"/>
          <a:ext cx="3257550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4846" name="公式" r:id="rId3" imgW="1968480" imgH="393480" progId="Equation.3">
                  <p:embed/>
                </p:oleObj>
              </mc:Choice>
              <mc:Fallback>
                <p:oleObj name="公式" r:id="rId3" imgW="1968480" imgH="39348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45100" y="785326"/>
                        <a:ext cx="3257550" cy="647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4734" name="Rectangle 14"/>
          <p:cNvSpPr>
            <a:spLocks noChangeArrowheads="1"/>
          </p:cNvSpPr>
          <p:nvPr/>
        </p:nvSpPr>
        <p:spPr bwMode="auto">
          <a:xfrm>
            <a:off x="720725" y="1362294"/>
            <a:ext cx="8137525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>
              <a:buClr>
                <a:srgbClr val="FF3300"/>
              </a:buClr>
              <a:buFont typeface="Wingdings" pitchFamily="2" charset="2"/>
              <a:buChar char="Ø"/>
            </a:pPr>
            <a:r>
              <a:rPr kumimoji="0" lang="zh-CN" altLang="en-US" sz="2400" b="1" u="none" dirty="0">
                <a:solidFill>
                  <a:schemeClr val="tx1"/>
                </a:solidFill>
                <a:ea typeface="黑体" pitchFamily="49" charset="-122"/>
                <a:cs typeface="Times New Roman" pitchFamily="18" charset="0"/>
              </a:rPr>
              <a:t>设</a:t>
            </a:r>
            <a:r>
              <a:rPr kumimoji="0" lang="en-US" altLang="zh-CN" sz="2400" b="1" i="1" u="none" dirty="0">
                <a:solidFill>
                  <a:schemeClr val="tx1"/>
                </a:solidFill>
                <a:ea typeface="黑体" pitchFamily="49" charset="-122"/>
                <a:cs typeface="Times New Roman" pitchFamily="18" charset="0"/>
              </a:rPr>
              <a:t>x</a:t>
            </a:r>
            <a:r>
              <a:rPr kumimoji="0" lang="en-US" altLang="zh-CN" sz="2400" b="1" u="none" dirty="0">
                <a:solidFill>
                  <a:schemeClr val="tx1"/>
                </a:solidFill>
                <a:ea typeface="黑体" pitchFamily="49" charset="-122"/>
                <a:cs typeface="Times New Roman" pitchFamily="18" charset="0"/>
              </a:rPr>
              <a:t>(</a:t>
            </a:r>
            <a:r>
              <a:rPr kumimoji="0" lang="en-US" altLang="zh-CN" sz="2400" b="1" i="1" u="none" dirty="0">
                <a:solidFill>
                  <a:schemeClr val="tx1"/>
                </a:solidFill>
                <a:ea typeface="黑体" pitchFamily="49" charset="-122"/>
                <a:cs typeface="Times New Roman" pitchFamily="18" charset="0"/>
              </a:rPr>
              <a:t>t</a:t>
            </a:r>
            <a:r>
              <a:rPr kumimoji="0" lang="en-US" altLang="zh-CN" sz="2400" b="1" u="none" dirty="0">
                <a:solidFill>
                  <a:schemeClr val="tx1"/>
                </a:solidFill>
                <a:ea typeface="黑体" pitchFamily="49" charset="-122"/>
                <a:cs typeface="Times New Roman" pitchFamily="18" charset="0"/>
              </a:rPr>
              <a:t>)</a:t>
            </a:r>
            <a:r>
              <a:rPr kumimoji="0" lang="zh-CN" altLang="en-US" sz="2400" b="1" u="none" dirty="0">
                <a:solidFill>
                  <a:schemeClr val="tx1"/>
                </a:solidFill>
                <a:ea typeface="黑体" pitchFamily="49" charset="-122"/>
                <a:cs typeface="Times New Roman" pitchFamily="18" charset="0"/>
              </a:rPr>
              <a:t>是</a:t>
            </a:r>
            <a:r>
              <a:rPr kumimoji="0" lang="zh-CN" altLang="en-US" sz="2400" b="1" u="none" dirty="0">
                <a:solidFill>
                  <a:srgbClr val="FF3300"/>
                </a:solidFill>
                <a:ea typeface="黑体" pitchFamily="49" charset="-122"/>
                <a:cs typeface="Times New Roman" pitchFamily="18" charset="0"/>
              </a:rPr>
              <a:t>各态历经</a:t>
            </a:r>
            <a:r>
              <a:rPr kumimoji="0" lang="zh-CN" altLang="en-US" sz="2400" b="1" u="none" dirty="0">
                <a:solidFill>
                  <a:schemeClr val="tx1"/>
                </a:solidFill>
                <a:ea typeface="黑体" pitchFamily="49" charset="-122"/>
                <a:cs typeface="Times New Roman" pitchFamily="18" charset="0"/>
              </a:rPr>
              <a:t>随机过程的一个</a:t>
            </a:r>
            <a:r>
              <a:rPr kumimoji="0" lang="zh-CN" altLang="en-US" sz="2400" b="1" u="none" dirty="0">
                <a:solidFill>
                  <a:srgbClr val="FF3300"/>
                </a:solidFill>
                <a:ea typeface="黑体" pitchFamily="49" charset="-122"/>
                <a:cs typeface="Times New Roman" pitchFamily="18" charset="0"/>
              </a:rPr>
              <a:t>记录样本</a:t>
            </a:r>
            <a:r>
              <a:rPr kumimoji="0" lang="zh-CN" altLang="en-US" sz="2400" b="1" u="none" dirty="0">
                <a:solidFill>
                  <a:schemeClr val="tx1"/>
                </a:solidFill>
                <a:ea typeface="黑体" pitchFamily="49" charset="-122"/>
                <a:cs typeface="Times New Roman" pitchFamily="18" charset="0"/>
              </a:rPr>
              <a:t>，而</a:t>
            </a:r>
            <a:r>
              <a:rPr kumimoji="0" lang="en-US" altLang="zh-CN" sz="2400" b="1" i="1" u="none" dirty="0">
                <a:solidFill>
                  <a:schemeClr val="tx1"/>
                </a:solidFill>
                <a:ea typeface="黑体" pitchFamily="49" charset="-122"/>
                <a:cs typeface="Times New Roman" pitchFamily="18" charset="0"/>
              </a:rPr>
              <a:t>x</a:t>
            </a:r>
            <a:r>
              <a:rPr kumimoji="0" lang="en-US" altLang="zh-CN" sz="2400" b="1" u="none" dirty="0">
                <a:solidFill>
                  <a:schemeClr val="tx1"/>
                </a:solidFill>
                <a:ea typeface="黑体" pitchFamily="49" charset="-122"/>
                <a:cs typeface="Times New Roman" pitchFamily="18" charset="0"/>
              </a:rPr>
              <a:t>(</a:t>
            </a:r>
            <a:r>
              <a:rPr kumimoji="0" lang="en-US" altLang="zh-CN" sz="2400" b="1" i="1" u="none" dirty="0" err="1">
                <a:solidFill>
                  <a:schemeClr val="tx1"/>
                </a:solidFill>
                <a:ea typeface="黑体" pitchFamily="49" charset="-122"/>
                <a:cs typeface="Times New Roman" pitchFamily="18" charset="0"/>
              </a:rPr>
              <a:t>t+</a:t>
            </a:r>
            <a:r>
              <a:rPr kumimoji="0" lang="en-US" altLang="zh-CN" sz="2400" b="1" u="none" dirty="0" err="1">
                <a:solidFill>
                  <a:schemeClr val="tx1"/>
                </a:solidFill>
                <a:ea typeface="黑体" pitchFamily="49" charset="-122"/>
                <a:cs typeface="Times New Roman" pitchFamily="18" charset="0"/>
              </a:rPr>
              <a:t>τ</a:t>
            </a:r>
            <a:r>
              <a:rPr kumimoji="0" lang="en-US" altLang="zh-CN" sz="2400" b="1" u="none" dirty="0">
                <a:solidFill>
                  <a:schemeClr val="tx1"/>
                </a:solidFill>
                <a:ea typeface="黑体" pitchFamily="49" charset="-122"/>
                <a:cs typeface="Times New Roman" pitchFamily="18" charset="0"/>
              </a:rPr>
              <a:t>)</a:t>
            </a:r>
            <a:r>
              <a:rPr kumimoji="0" lang="zh-CN" altLang="en-US" sz="2400" b="1" u="none" dirty="0">
                <a:solidFill>
                  <a:schemeClr val="tx1"/>
                </a:solidFill>
                <a:ea typeface="黑体" pitchFamily="49" charset="-122"/>
                <a:cs typeface="Times New Roman" pitchFamily="18" charset="0"/>
              </a:rPr>
              <a:t>是</a:t>
            </a:r>
            <a:r>
              <a:rPr kumimoji="0" lang="en-US" altLang="zh-CN" sz="2400" b="1" i="1" u="none" dirty="0">
                <a:solidFill>
                  <a:schemeClr val="tx1"/>
                </a:solidFill>
                <a:ea typeface="黑体" pitchFamily="49" charset="-122"/>
                <a:cs typeface="Times New Roman" pitchFamily="18" charset="0"/>
              </a:rPr>
              <a:t>x</a:t>
            </a:r>
            <a:r>
              <a:rPr kumimoji="0" lang="en-US" altLang="zh-CN" sz="2400" b="1" u="none" dirty="0">
                <a:solidFill>
                  <a:schemeClr val="tx1"/>
                </a:solidFill>
                <a:ea typeface="黑体" pitchFamily="49" charset="-122"/>
                <a:cs typeface="Times New Roman" pitchFamily="18" charset="0"/>
              </a:rPr>
              <a:t>(</a:t>
            </a:r>
            <a:r>
              <a:rPr kumimoji="0" lang="en-US" altLang="zh-CN" sz="2400" b="1" i="1" u="none" dirty="0">
                <a:solidFill>
                  <a:schemeClr val="tx1"/>
                </a:solidFill>
                <a:ea typeface="黑体" pitchFamily="49" charset="-122"/>
                <a:cs typeface="Times New Roman" pitchFamily="18" charset="0"/>
              </a:rPr>
              <a:t>t</a:t>
            </a:r>
            <a:r>
              <a:rPr kumimoji="0" lang="en-US" altLang="zh-CN" sz="2400" b="1" u="none" dirty="0">
                <a:solidFill>
                  <a:schemeClr val="tx1"/>
                </a:solidFill>
                <a:ea typeface="黑体" pitchFamily="49" charset="-122"/>
                <a:cs typeface="Times New Roman" pitchFamily="18" charset="0"/>
              </a:rPr>
              <a:t>)</a:t>
            </a:r>
            <a:r>
              <a:rPr kumimoji="0" lang="zh-CN" altLang="en-US" sz="2400" b="1" u="none" dirty="0">
                <a:solidFill>
                  <a:schemeClr val="tx1"/>
                </a:solidFill>
                <a:ea typeface="黑体" pitchFamily="49" charset="-122"/>
                <a:cs typeface="Times New Roman" pitchFamily="18" charset="0"/>
              </a:rPr>
              <a:t>时移</a:t>
            </a:r>
            <a:r>
              <a:rPr kumimoji="0" lang="en-US" altLang="zh-CN" sz="2400" b="1" u="none" dirty="0">
                <a:solidFill>
                  <a:schemeClr val="tx1"/>
                </a:solidFill>
                <a:ea typeface="黑体" pitchFamily="49" charset="-122"/>
                <a:cs typeface="Times New Roman" pitchFamily="18" charset="0"/>
              </a:rPr>
              <a:t>τ</a:t>
            </a:r>
            <a:r>
              <a:rPr kumimoji="0" lang="zh-CN" altLang="en-US" sz="2400" b="1" u="none" dirty="0">
                <a:solidFill>
                  <a:schemeClr val="tx1"/>
                </a:solidFill>
                <a:ea typeface="黑体" pitchFamily="49" charset="-122"/>
                <a:cs typeface="Times New Roman" pitchFamily="18" charset="0"/>
              </a:rPr>
              <a:t>后的样本。令</a:t>
            </a:r>
            <a:r>
              <a:rPr kumimoji="0" lang="en-US" altLang="zh-CN" sz="2400" b="1" i="1" u="none" dirty="0">
                <a:solidFill>
                  <a:schemeClr val="tx1"/>
                </a:solidFill>
                <a:ea typeface="黑体" pitchFamily="49" charset="-122"/>
                <a:cs typeface="Times New Roman" pitchFamily="18" charset="0"/>
              </a:rPr>
              <a:t>x</a:t>
            </a:r>
            <a:r>
              <a:rPr kumimoji="0" lang="en-US" altLang="zh-CN" sz="2400" b="1" u="none" dirty="0">
                <a:solidFill>
                  <a:schemeClr val="tx1"/>
                </a:solidFill>
                <a:ea typeface="黑体" pitchFamily="49" charset="-122"/>
                <a:cs typeface="Times New Roman" pitchFamily="18" charset="0"/>
              </a:rPr>
              <a:t>(</a:t>
            </a:r>
            <a:r>
              <a:rPr kumimoji="0" lang="en-US" altLang="zh-CN" sz="2400" b="1" i="1" u="none" dirty="0">
                <a:solidFill>
                  <a:schemeClr val="tx1"/>
                </a:solidFill>
                <a:ea typeface="黑体" pitchFamily="49" charset="-122"/>
                <a:cs typeface="Times New Roman" pitchFamily="18" charset="0"/>
              </a:rPr>
              <a:t>t</a:t>
            </a:r>
            <a:r>
              <a:rPr kumimoji="0" lang="en-US" altLang="zh-CN" sz="2400" b="1" u="none" dirty="0">
                <a:solidFill>
                  <a:schemeClr val="tx1"/>
                </a:solidFill>
                <a:ea typeface="黑体" pitchFamily="49" charset="-122"/>
                <a:cs typeface="Times New Roman" pitchFamily="18" charset="0"/>
              </a:rPr>
              <a:t>) ←</a:t>
            </a:r>
            <a:r>
              <a:rPr kumimoji="0" lang="en-US" altLang="zh-CN" sz="2400" u="none" dirty="0">
                <a:solidFill>
                  <a:schemeClr val="tx1"/>
                </a:solidFill>
                <a:ea typeface="黑体" pitchFamily="49" charset="-122"/>
                <a:cs typeface="Times New Roman" pitchFamily="18" charset="0"/>
              </a:rPr>
              <a:t> </a:t>
            </a:r>
            <a:r>
              <a:rPr kumimoji="0" lang="en-US" altLang="zh-CN" sz="2400" b="1" i="1" u="none" dirty="0">
                <a:solidFill>
                  <a:schemeClr val="tx1"/>
                </a:solidFill>
                <a:ea typeface="黑体" pitchFamily="49" charset="-122"/>
                <a:cs typeface="Times New Roman" pitchFamily="18" charset="0"/>
              </a:rPr>
              <a:t> x</a:t>
            </a:r>
            <a:r>
              <a:rPr kumimoji="0" lang="en-US" altLang="zh-CN" sz="2400" b="1" u="none" dirty="0">
                <a:solidFill>
                  <a:schemeClr val="tx1"/>
                </a:solidFill>
                <a:ea typeface="黑体" pitchFamily="49" charset="-122"/>
                <a:cs typeface="Times New Roman" pitchFamily="18" charset="0"/>
              </a:rPr>
              <a:t>(</a:t>
            </a:r>
            <a:r>
              <a:rPr kumimoji="0" lang="en-US" altLang="zh-CN" sz="2400" b="1" i="1" u="none" dirty="0">
                <a:solidFill>
                  <a:schemeClr val="tx1"/>
                </a:solidFill>
                <a:ea typeface="黑体" pitchFamily="49" charset="-122"/>
                <a:cs typeface="Times New Roman" pitchFamily="18" charset="0"/>
              </a:rPr>
              <a:t>t</a:t>
            </a:r>
            <a:r>
              <a:rPr kumimoji="0" lang="en-US" altLang="zh-CN" sz="2400" b="1" u="none" dirty="0">
                <a:solidFill>
                  <a:schemeClr val="tx1"/>
                </a:solidFill>
                <a:ea typeface="黑体" pitchFamily="49" charset="-122"/>
                <a:cs typeface="Times New Roman" pitchFamily="18" charset="0"/>
              </a:rPr>
              <a:t>)</a:t>
            </a:r>
            <a:r>
              <a:rPr kumimoji="0" lang="zh-CN" altLang="en-US" sz="2400" b="1" u="none" dirty="0">
                <a:solidFill>
                  <a:schemeClr val="tx1"/>
                </a:solidFill>
                <a:ea typeface="黑体" pitchFamily="49" charset="-122"/>
                <a:cs typeface="Times New Roman" pitchFamily="18" charset="0"/>
              </a:rPr>
              <a:t>，</a:t>
            </a:r>
            <a:r>
              <a:rPr kumimoji="0" lang="en-US" altLang="zh-CN" sz="2400" b="1" i="1" u="none" dirty="0">
                <a:solidFill>
                  <a:schemeClr val="tx1"/>
                </a:solidFill>
                <a:ea typeface="黑体" pitchFamily="49" charset="-122"/>
                <a:cs typeface="Times New Roman" pitchFamily="18" charset="0"/>
              </a:rPr>
              <a:t>y</a:t>
            </a:r>
            <a:r>
              <a:rPr kumimoji="0" lang="en-US" altLang="zh-CN" sz="2400" b="1" u="none" dirty="0">
                <a:solidFill>
                  <a:schemeClr val="tx1"/>
                </a:solidFill>
                <a:ea typeface="黑体" pitchFamily="49" charset="-122"/>
                <a:cs typeface="Times New Roman" pitchFamily="18" charset="0"/>
              </a:rPr>
              <a:t>(</a:t>
            </a:r>
            <a:r>
              <a:rPr kumimoji="0" lang="en-US" altLang="zh-CN" sz="2400" b="1" i="1" u="none" dirty="0" err="1">
                <a:solidFill>
                  <a:schemeClr val="tx1"/>
                </a:solidFill>
                <a:ea typeface="黑体" pitchFamily="49" charset="-122"/>
                <a:cs typeface="Times New Roman" pitchFamily="18" charset="0"/>
              </a:rPr>
              <a:t>t+</a:t>
            </a:r>
            <a:r>
              <a:rPr kumimoji="0" lang="en-US" altLang="zh-CN" sz="2400" b="1" u="none" dirty="0" err="1">
                <a:solidFill>
                  <a:schemeClr val="tx1"/>
                </a:solidFill>
                <a:ea typeface="黑体" pitchFamily="49" charset="-122"/>
                <a:cs typeface="Times New Roman" pitchFamily="18" charset="0"/>
              </a:rPr>
              <a:t>τ</a:t>
            </a:r>
            <a:r>
              <a:rPr kumimoji="0" lang="en-US" altLang="zh-CN" sz="2400" b="1" u="none" dirty="0">
                <a:solidFill>
                  <a:schemeClr val="tx1"/>
                </a:solidFill>
                <a:ea typeface="黑体" pitchFamily="49" charset="-122"/>
                <a:cs typeface="Times New Roman" pitchFamily="18" charset="0"/>
              </a:rPr>
              <a:t>) ←</a:t>
            </a:r>
            <a:r>
              <a:rPr kumimoji="0" lang="en-US" altLang="zh-CN" sz="2400" u="none" dirty="0">
                <a:solidFill>
                  <a:schemeClr val="tx1"/>
                </a:solidFill>
                <a:ea typeface="黑体" pitchFamily="49" charset="-122"/>
                <a:cs typeface="Times New Roman" pitchFamily="18" charset="0"/>
              </a:rPr>
              <a:t> </a:t>
            </a:r>
            <a:r>
              <a:rPr kumimoji="0" lang="en-US" altLang="zh-CN" sz="2400" b="1" i="1" u="none" dirty="0">
                <a:solidFill>
                  <a:schemeClr val="tx1"/>
                </a:solidFill>
                <a:ea typeface="黑体" pitchFamily="49" charset="-122"/>
                <a:cs typeface="Times New Roman" pitchFamily="18" charset="0"/>
              </a:rPr>
              <a:t>x</a:t>
            </a:r>
            <a:r>
              <a:rPr kumimoji="0" lang="en-US" altLang="zh-CN" sz="2400" b="1" u="none" dirty="0">
                <a:solidFill>
                  <a:schemeClr val="tx1"/>
                </a:solidFill>
                <a:ea typeface="黑体" pitchFamily="49" charset="-122"/>
                <a:cs typeface="Times New Roman" pitchFamily="18" charset="0"/>
              </a:rPr>
              <a:t>(</a:t>
            </a:r>
            <a:r>
              <a:rPr kumimoji="0" lang="en-US" altLang="zh-CN" sz="2400" b="1" i="1" u="none" dirty="0" err="1">
                <a:solidFill>
                  <a:schemeClr val="tx1"/>
                </a:solidFill>
                <a:ea typeface="黑体" pitchFamily="49" charset="-122"/>
                <a:cs typeface="Times New Roman" pitchFamily="18" charset="0"/>
              </a:rPr>
              <a:t>t+</a:t>
            </a:r>
            <a:r>
              <a:rPr kumimoji="0" lang="en-US" altLang="zh-CN" sz="2400" b="1" u="none" dirty="0" err="1">
                <a:solidFill>
                  <a:schemeClr val="tx1"/>
                </a:solidFill>
                <a:ea typeface="黑体" pitchFamily="49" charset="-122"/>
                <a:cs typeface="Times New Roman" pitchFamily="18" charset="0"/>
              </a:rPr>
              <a:t>τ</a:t>
            </a:r>
            <a:r>
              <a:rPr kumimoji="0" lang="en-US" altLang="zh-CN" sz="2400" b="1" u="none" dirty="0">
                <a:solidFill>
                  <a:schemeClr val="tx1"/>
                </a:solidFill>
                <a:ea typeface="黑体" pitchFamily="49" charset="-122"/>
                <a:cs typeface="Times New Roman" pitchFamily="18" charset="0"/>
              </a:rPr>
              <a:t>)</a:t>
            </a:r>
            <a:r>
              <a:rPr kumimoji="0" lang="zh-CN" altLang="en-US" sz="2400" b="1" u="none" dirty="0">
                <a:solidFill>
                  <a:schemeClr val="tx1"/>
                </a:solidFill>
                <a:ea typeface="黑体" pitchFamily="49" charset="-122"/>
                <a:cs typeface="Times New Roman" pitchFamily="18" charset="0"/>
              </a:rPr>
              <a:t>，则得到</a:t>
            </a:r>
            <a:r>
              <a:rPr kumimoji="0" lang="en-US" altLang="zh-CN" sz="2400" b="1" i="1" u="none" dirty="0">
                <a:solidFill>
                  <a:schemeClr val="tx1"/>
                </a:solidFill>
                <a:ea typeface="黑体" pitchFamily="49" charset="-122"/>
                <a:cs typeface="Times New Roman" pitchFamily="18" charset="0"/>
              </a:rPr>
              <a:t>x</a:t>
            </a:r>
            <a:r>
              <a:rPr kumimoji="0" lang="en-US" altLang="zh-CN" sz="2400" b="1" u="none" dirty="0">
                <a:solidFill>
                  <a:schemeClr val="tx1"/>
                </a:solidFill>
                <a:ea typeface="黑体" pitchFamily="49" charset="-122"/>
                <a:cs typeface="Times New Roman" pitchFamily="18" charset="0"/>
              </a:rPr>
              <a:t>(</a:t>
            </a:r>
            <a:r>
              <a:rPr kumimoji="0" lang="en-US" altLang="zh-CN" sz="2400" b="1" i="1" u="none" dirty="0">
                <a:solidFill>
                  <a:schemeClr val="tx1"/>
                </a:solidFill>
                <a:ea typeface="黑体" pitchFamily="49" charset="-122"/>
                <a:cs typeface="Times New Roman" pitchFamily="18" charset="0"/>
              </a:rPr>
              <a:t>t</a:t>
            </a:r>
            <a:r>
              <a:rPr kumimoji="0" lang="en-US" altLang="zh-CN" sz="2400" b="1" u="none" dirty="0">
                <a:solidFill>
                  <a:schemeClr val="tx1"/>
                </a:solidFill>
                <a:ea typeface="黑体" pitchFamily="49" charset="-122"/>
                <a:cs typeface="Times New Roman" pitchFamily="18" charset="0"/>
              </a:rPr>
              <a:t>)</a:t>
            </a:r>
            <a:r>
              <a:rPr kumimoji="0" lang="zh-CN" altLang="en-US" sz="2400" b="1" u="none" dirty="0">
                <a:solidFill>
                  <a:schemeClr val="tx1"/>
                </a:solidFill>
                <a:ea typeface="黑体" pitchFamily="49" charset="-122"/>
                <a:cs typeface="Times New Roman" pitchFamily="18" charset="0"/>
              </a:rPr>
              <a:t>的自相关函数</a:t>
            </a:r>
            <a:r>
              <a:rPr kumimoji="0" lang="en-US" altLang="zh-CN" sz="2400" b="1" i="1" u="none" dirty="0">
                <a:solidFill>
                  <a:schemeClr val="tx1"/>
                </a:solidFill>
                <a:ea typeface="黑体" pitchFamily="49" charset="-122"/>
                <a:cs typeface="Times New Roman" pitchFamily="18" charset="0"/>
              </a:rPr>
              <a:t>R</a:t>
            </a:r>
            <a:r>
              <a:rPr kumimoji="0" lang="en-US" altLang="zh-CN" sz="2400" b="1" i="1" u="none" baseline="-25000" dirty="0">
                <a:solidFill>
                  <a:schemeClr val="tx1"/>
                </a:solidFill>
                <a:ea typeface="黑体" pitchFamily="49" charset="-122"/>
                <a:cs typeface="Times New Roman" pitchFamily="18" charset="0"/>
              </a:rPr>
              <a:t>x</a:t>
            </a:r>
            <a:r>
              <a:rPr kumimoji="0" lang="en-US" altLang="zh-CN" sz="2400" b="1" u="none" dirty="0">
                <a:solidFill>
                  <a:schemeClr val="tx1"/>
                </a:solidFill>
                <a:ea typeface="黑体" pitchFamily="49" charset="-122"/>
                <a:cs typeface="Times New Roman" pitchFamily="18" charset="0"/>
              </a:rPr>
              <a:t>(τ) </a:t>
            </a:r>
          </a:p>
        </p:txBody>
      </p:sp>
      <p:graphicFrame>
        <p:nvGraphicFramePr>
          <p:cNvPr id="414736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3117227"/>
              </p:ext>
            </p:extLst>
          </p:nvPr>
        </p:nvGraphicFramePr>
        <p:xfrm>
          <a:off x="2387742" y="2562623"/>
          <a:ext cx="3862388" cy="811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4847" name="公式" r:id="rId5" imgW="1879560" imgH="393480" progId="Equation.3">
                  <p:embed/>
                </p:oleObj>
              </mc:Choice>
              <mc:Fallback>
                <p:oleObj name="公式" r:id="rId5" imgW="1879560" imgH="39348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87742" y="2562623"/>
                        <a:ext cx="3862388" cy="811212"/>
                      </a:xfrm>
                      <a:prstGeom prst="rect">
                        <a:avLst/>
                      </a:prstGeom>
                      <a:solidFill>
                        <a:srgbClr val="FF99CC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4738" name="Rectangle 18"/>
          <p:cNvSpPr>
            <a:spLocks noChangeArrowheads="1"/>
          </p:cNvSpPr>
          <p:nvPr/>
        </p:nvSpPr>
        <p:spPr bwMode="auto">
          <a:xfrm>
            <a:off x="746125" y="3713424"/>
            <a:ext cx="3744913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>
              <a:buClr>
                <a:srgbClr val="FF3300"/>
              </a:buClr>
              <a:buFont typeface="Wingdings" pitchFamily="2" charset="2"/>
              <a:buChar char="Ø"/>
            </a:pPr>
            <a:r>
              <a:rPr kumimoji="0" lang="zh-CN" altLang="en-US" sz="2400" b="1" u="none" dirty="0">
                <a:solidFill>
                  <a:srgbClr val="0070C0"/>
                </a:solidFill>
              </a:rPr>
              <a:t>自相关函数</a:t>
            </a:r>
            <a:r>
              <a:rPr kumimoji="0" lang="zh-CN" altLang="en-US" sz="2400" b="1" u="none" dirty="0">
                <a:solidFill>
                  <a:schemeClr val="tx1"/>
                </a:solidFill>
              </a:rPr>
              <a:t>：描述随机过程一个时刻的幅值与另一个时刻</a:t>
            </a:r>
            <a:r>
              <a:rPr kumimoji="0" lang="zh-CN" altLang="en-US" sz="2400" b="1" u="none" dirty="0">
                <a:solidFill>
                  <a:srgbClr val="FF3300"/>
                </a:solidFill>
              </a:rPr>
              <a:t>幅值之间</a:t>
            </a:r>
            <a:r>
              <a:rPr kumimoji="0" lang="zh-CN" altLang="en-US" sz="2400" b="1" u="none" dirty="0">
                <a:solidFill>
                  <a:schemeClr val="tx1"/>
                </a:solidFill>
              </a:rPr>
              <a:t>的</a:t>
            </a:r>
            <a:r>
              <a:rPr kumimoji="0" lang="zh-CN" altLang="en-US" sz="2400" b="1" u="none" dirty="0">
                <a:solidFill>
                  <a:srgbClr val="FF3300"/>
                </a:solidFill>
              </a:rPr>
              <a:t>依赖关系</a:t>
            </a:r>
            <a:r>
              <a:rPr kumimoji="0" lang="zh-CN" altLang="en-US" sz="2400" b="1" u="none" dirty="0">
                <a:solidFill>
                  <a:schemeClr val="tx1"/>
                </a:solidFill>
              </a:rPr>
              <a:t>。或者说，现在的波形与时间坐标移动了之后的</a:t>
            </a:r>
            <a:r>
              <a:rPr kumimoji="0" lang="zh-CN" altLang="en-US" sz="2400" b="1" u="none" dirty="0">
                <a:solidFill>
                  <a:srgbClr val="FF3300"/>
                </a:solidFill>
              </a:rPr>
              <a:t>波形之间的相似程度</a:t>
            </a:r>
            <a:r>
              <a:rPr kumimoji="0" lang="zh-CN" altLang="en-US" sz="2400" b="1" u="none" dirty="0">
                <a:solidFill>
                  <a:schemeClr val="tx1"/>
                </a:solidFill>
              </a:rPr>
              <a:t>。 </a:t>
            </a:r>
          </a:p>
        </p:txBody>
      </p:sp>
      <p:sp>
        <p:nvSpPr>
          <p:cNvPr id="414739" name="Rectangle 19"/>
          <p:cNvSpPr>
            <a:spLocks noChangeArrowheads="1"/>
          </p:cNvSpPr>
          <p:nvPr/>
        </p:nvSpPr>
        <p:spPr bwMode="auto">
          <a:xfrm>
            <a:off x="442913" y="849621"/>
            <a:ext cx="2438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b="1" u="none" dirty="0">
                <a:solidFill>
                  <a:srgbClr val="000066"/>
                </a:solidFill>
              </a:rPr>
              <a:t>3.</a:t>
            </a:r>
            <a:r>
              <a:rPr lang="zh-CN" altLang="en-US" b="1" u="none" dirty="0">
                <a:solidFill>
                  <a:srgbClr val="000066"/>
                </a:solidFill>
              </a:rPr>
              <a:t>自相关函数</a:t>
            </a:r>
          </a:p>
        </p:txBody>
      </p:sp>
      <p:sp>
        <p:nvSpPr>
          <p:cNvPr id="414740" name="Rectangle 20"/>
          <p:cNvSpPr>
            <a:spLocks noChangeArrowheads="1"/>
          </p:cNvSpPr>
          <p:nvPr/>
        </p:nvSpPr>
        <p:spPr bwMode="auto">
          <a:xfrm>
            <a:off x="8502650" y="925820"/>
            <a:ext cx="6413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0" lang="en-US" altLang="zh-CN" sz="1800" b="1" u="none" dirty="0" smtClean="0">
                <a:solidFill>
                  <a:srgbClr val="FF3300"/>
                </a:solidFill>
                <a:ea typeface="宋体" pitchFamily="2" charset="-122"/>
              </a:rPr>
              <a:t>(</a:t>
            </a:r>
            <a:r>
              <a:rPr kumimoji="0" lang="en-US" altLang="zh-CN" sz="1800" b="1" u="none" dirty="0" smtClean="0">
                <a:solidFill>
                  <a:srgbClr val="FF3300"/>
                </a:solidFill>
              </a:rPr>
              <a:t>5-</a:t>
            </a:r>
            <a:r>
              <a:rPr kumimoji="0" lang="en-US" altLang="zh-CN" sz="1800" b="1" u="none" dirty="0" smtClean="0">
                <a:solidFill>
                  <a:srgbClr val="FF3300"/>
                </a:solidFill>
                <a:ea typeface="宋体" pitchFamily="2" charset="-122"/>
              </a:rPr>
              <a:t>1</a:t>
            </a:r>
            <a:r>
              <a:rPr kumimoji="0" lang="en-US" altLang="zh-CN" sz="1800" b="1" u="none" dirty="0">
                <a:solidFill>
                  <a:srgbClr val="FF3300"/>
                </a:solidFill>
                <a:ea typeface="宋体" pitchFamily="2" charset="-122"/>
              </a:rPr>
              <a:t>)</a:t>
            </a:r>
          </a:p>
        </p:txBody>
      </p:sp>
      <p:pic>
        <p:nvPicPr>
          <p:cNvPr id="414742" name="Picture 22" descr="图片1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1038" y="3406866"/>
            <a:ext cx="4450555" cy="29869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4"/>
          <p:cNvSpPr>
            <a:spLocks noChangeArrowheads="1"/>
          </p:cNvSpPr>
          <p:nvPr/>
        </p:nvSpPr>
        <p:spPr bwMode="auto">
          <a:xfrm>
            <a:off x="379413" y="300831"/>
            <a:ext cx="3738562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 b="1" u="none" dirty="0" smtClean="0">
                <a:solidFill>
                  <a:srgbClr val="800000"/>
                </a:solidFill>
                <a:ea typeface="宋体" pitchFamily="2" charset="-122"/>
              </a:rPr>
              <a:t>5.3 </a:t>
            </a:r>
            <a:r>
              <a:rPr lang="zh-CN" altLang="en-US" sz="3200" b="1" u="none" dirty="0">
                <a:solidFill>
                  <a:srgbClr val="800000"/>
                </a:solidFill>
                <a:ea typeface="宋体" pitchFamily="2" charset="-122"/>
              </a:rPr>
              <a:t>相关分析及应用</a:t>
            </a:r>
            <a:r>
              <a:rPr lang="zh-CN" altLang="en-US" b="1" u="none" dirty="0">
                <a:solidFill>
                  <a:srgbClr val="000066"/>
                </a:solidFill>
                <a:ea typeface="宋体" pitchFamily="2" charset="-122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147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147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4732" grpId="0"/>
      <p:bldP spid="41473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10997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6752548"/>
              </p:ext>
            </p:extLst>
          </p:nvPr>
        </p:nvGraphicFramePr>
        <p:xfrm>
          <a:off x="2248694" y="4791251"/>
          <a:ext cx="2840037" cy="879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1209" name="公式" r:id="rId3" imgW="1473200" imgH="457200" progId="Equation.3">
                  <p:embed/>
                </p:oleObj>
              </mc:Choice>
              <mc:Fallback>
                <p:oleObj name="公式" r:id="rId3" imgW="1473200" imgH="457200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48694" y="4791251"/>
                        <a:ext cx="2840037" cy="8794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0999" name="Rectangle 23"/>
          <p:cNvSpPr>
            <a:spLocks noChangeArrowheads="1"/>
          </p:cNvSpPr>
          <p:nvPr/>
        </p:nvSpPr>
        <p:spPr bwMode="auto">
          <a:xfrm>
            <a:off x="6061075" y="5047633"/>
            <a:ext cx="6413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0" lang="en-US" altLang="zh-CN" sz="1800" b="1" u="none" dirty="0" smtClean="0">
                <a:solidFill>
                  <a:srgbClr val="FF3300"/>
                </a:solidFill>
                <a:ea typeface="宋体" pitchFamily="2" charset="-122"/>
              </a:rPr>
              <a:t>(</a:t>
            </a:r>
            <a:r>
              <a:rPr kumimoji="0" lang="en-US" altLang="zh-CN" sz="1800" b="1" u="none" dirty="0" smtClean="0">
                <a:solidFill>
                  <a:srgbClr val="FF3300"/>
                </a:solidFill>
              </a:rPr>
              <a:t>5-</a:t>
            </a:r>
            <a:r>
              <a:rPr kumimoji="0" lang="en-US" altLang="zh-CN" sz="1800" b="1" u="none" dirty="0" smtClean="0">
                <a:solidFill>
                  <a:srgbClr val="FF3300"/>
                </a:solidFill>
                <a:ea typeface="宋体" pitchFamily="2" charset="-122"/>
              </a:rPr>
              <a:t>3</a:t>
            </a:r>
            <a:r>
              <a:rPr kumimoji="0" lang="en-US" altLang="zh-CN" sz="1800" b="1" u="none" dirty="0">
                <a:solidFill>
                  <a:srgbClr val="FF3300"/>
                </a:solidFill>
                <a:ea typeface="宋体" pitchFamily="2" charset="-122"/>
              </a:rPr>
              <a:t>)</a:t>
            </a:r>
          </a:p>
        </p:txBody>
      </p:sp>
      <p:sp>
        <p:nvSpPr>
          <p:cNvPr id="511001" name="Rectangle 25"/>
          <p:cNvSpPr>
            <a:spLocks noChangeArrowheads="1"/>
          </p:cNvSpPr>
          <p:nvPr/>
        </p:nvSpPr>
        <p:spPr bwMode="auto">
          <a:xfrm>
            <a:off x="541338" y="903288"/>
            <a:ext cx="2952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buClr>
                <a:srgbClr val="FF3300"/>
              </a:buClr>
              <a:buFont typeface="Wingdings" pitchFamily="2" charset="2"/>
              <a:buChar char="Ø"/>
            </a:pPr>
            <a:r>
              <a:rPr kumimoji="0" lang="zh-CN" altLang="en-US" sz="2400" b="1" u="none">
                <a:solidFill>
                  <a:schemeClr val="tx1"/>
                </a:solidFill>
              </a:rPr>
              <a:t>自相关系数</a:t>
            </a:r>
            <a:r>
              <a:rPr kumimoji="0" lang="en-US" altLang="zh-CN" sz="2400" b="1" u="none">
                <a:solidFill>
                  <a:schemeClr val="tx1"/>
                </a:solidFill>
              </a:rPr>
              <a:t>ρ</a:t>
            </a:r>
            <a:r>
              <a:rPr kumimoji="0" lang="en-US" altLang="zh-CN" sz="2400" b="1" i="1" u="none" baseline="-25000">
                <a:solidFill>
                  <a:schemeClr val="tx1"/>
                </a:solidFill>
              </a:rPr>
              <a:t>x</a:t>
            </a:r>
            <a:r>
              <a:rPr kumimoji="0" lang="en-US" altLang="zh-CN" sz="2400" b="1" u="none">
                <a:solidFill>
                  <a:schemeClr val="tx1"/>
                </a:solidFill>
              </a:rPr>
              <a:t>(τ) </a:t>
            </a:r>
          </a:p>
        </p:txBody>
      </p:sp>
      <p:graphicFrame>
        <p:nvGraphicFramePr>
          <p:cNvPr id="511002" name="Object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09340923"/>
              </p:ext>
            </p:extLst>
          </p:nvPr>
        </p:nvGraphicFramePr>
        <p:xfrm>
          <a:off x="2232025" y="2236171"/>
          <a:ext cx="3379788" cy="1130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1210" name="公式" r:id="rId5" imgW="1231900" imgH="457200" progId="Equation.3">
                  <p:embed/>
                </p:oleObj>
              </mc:Choice>
              <mc:Fallback>
                <p:oleObj name="公式" r:id="rId5" imgW="1231900" imgH="457200" progId="Equation.3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32025" y="2236171"/>
                        <a:ext cx="3379788" cy="1130300"/>
                      </a:xfrm>
                      <a:prstGeom prst="rect">
                        <a:avLst/>
                      </a:prstGeom>
                      <a:solidFill>
                        <a:srgbClr val="CC99FF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1003" name="Object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16945451"/>
              </p:ext>
            </p:extLst>
          </p:nvPr>
        </p:nvGraphicFramePr>
        <p:xfrm>
          <a:off x="2248694" y="3769695"/>
          <a:ext cx="3384550" cy="588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1211" name="公式" r:id="rId7" imgW="1371600" imgH="241300" progId="Equation.3">
                  <p:embed/>
                </p:oleObj>
              </mc:Choice>
              <mc:Fallback>
                <p:oleObj name="公式" r:id="rId7" imgW="1371600" imgH="241300" progId="Equation.3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48694" y="3769695"/>
                        <a:ext cx="3384550" cy="588963"/>
                      </a:xfrm>
                      <a:prstGeom prst="rect">
                        <a:avLst/>
                      </a:prstGeom>
                      <a:solidFill>
                        <a:srgbClr val="CC99FF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1004" name="Rectangle 28"/>
          <p:cNvSpPr>
            <a:spLocks noChangeArrowheads="1"/>
          </p:cNvSpPr>
          <p:nvPr/>
        </p:nvSpPr>
        <p:spPr bwMode="auto">
          <a:xfrm>
            <a:off x="6213475" y="2521921"/>
            <a:ext cx="6413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0" lang="en-US" altLang="zh-CN" sz="1800" b="1" u="none" dirty="0" smtClean="0">
                <a:solidFill>
                  <a:srgbClr val="FF3300"/>
                </a:solidFill>
                <a:ea typeface="宋体" pitchFamily="2" charset="-122"/>
              </a:rPr>
              <a:t>(</a:t>
            </a:r>
            <a:r>
              <a:rPr kumimoji="0" lang="en-US" altLang="zh-CN" sz="1800" b="1" u="none" dirty="0" smtClean="0">
                <a:solidFill>
                  <a:srgbClr val="FF3300"/>
                </a:solidFill>
              </a:rPr>
              <a:t>5-</a:t>
            </a:r>
            <a:r>
              <a:rPr kumimoji="0" lang="en-US" altLang="zh-CN" sz="1800" b="1" u="none" dirty="0" smtClean="0">
                <a:solidFill>
                  <a:srgbClr val="FF3300"/>
                </a:solidFill>
                <a:ea typeface="宋体" pitchFamily="2" charset="-122"/>
              </a:rPr>
              <a:t>5</a:t>
            </a:r>
            <a:r>
              <a:rPr kumimoji="0" lang="en-US" altLang="zh-CN" sz="1800" b="1" u="none" dirty="0">
                <a:solidFill>
                  <a:srgbClr val="FF3300"/>
                </a:solidFill>
                <a:ea typeface="宋体" pitchFamily="2" charset="-122"/>
              </a:rPr>
              <a:t>)</a:t>
            </a:r>
          </a:p>
        </p:txBody>
      </p:sp>
      <p:sp>
        <p:nvSpPr>
          <p:cNvPr id="511005" name="Rectangle 29"/>
          <p:cNvSpPr>
            <a:spLocks noChangeArrowheads="1"/>
          </p:cNvSpPr>
          <p:nvPr/>
        </p:nvSpPr>
        <p:spPr bwMode="auto">
          <a:xfrm>
            <a:off x="6218238" y="3880821"/>
            <a:ext cx="6413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0" lang="en-US" altLang="zh-CN" sz="1800" b="1" u="none" dirty="0" smtClean="0">
                <a:solidFill>
                  <a:srgbClr val="FF3300"/>
                </a:solidFill>
                <a:ea typeface="宋体" pitchFamily="2" charset="-122"/>
              </a:rPr>
              <a:t>(</a:t>
            </a:r>
            <a:r>
              <a:rPr kumimoji="0" lang="en-US" altLang="zh-CN" sz="1800" b="1" u="none" dirty="0" smtClean="0">
                <a:solidFill>
                  <a:srgbClr val="FF3300"/>
                </a:solidFill>
              </a:rPr>
              <a:t>5-</a:t>
            </a:r>
            <a:r>
              <a:rPr kumimoji="0" lang="en-US" altLang="zh-CN" sz="1800" b="1" u="none" dirty="0" smtClean="0">
                <a:solidFill>
                  <a:srgbClr val="FF3300"/>
                </a:solidFill>
                <a:ea typeface="宋体" pitchFamily="2" charset="-122"/>
              </a:rPr>
              <a:t>6</a:t>
            </a:r>
            <a:r>
              <a:rPr kumimoji="0" lang="en-US" altLang="zh-CN" sz="1800" b="1" u="none" dirty="0">
                <a:solidFill>
                  <a:srgbClr val="FF3300"/>
                </a:solidFill>
                <a:ea typeface="宋体" pitchFamily="2" charset="-122"/>
              </a:rPr>
              <a:t>)</a:t>
            </a:r>
          </a:p>
        </p:txBody>
      </p:sp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379413" y="300831"/>
            <a:ext cx="3738562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 b="1" u="none" dirty="0" smtClean="0">
                <a:solidFill>
                  <a:srgbClr val="800000"/>
                </a:solidFill>
                <a:ea typeface="宋体" pitchFamily="2" charset="-122"/>
              </a:rPr>
              <a:t>5.3 </a:t>
            </a:r>
            <a:r>
              <a:rPr lang="zh-CN" altLang="en-US" sz="3200" b="1" u="none" dirty="0">
                <a:solidFill>
                  <a:srgbClr val="800000"/>
                </a:solidFill>
                <a:ea typeface="宋体" pitchFamily="2" charset="-122"/>
              </a:rPr>
              <a:t>相关分析及应用</a:t>
            </a:r>
            <a:r>
              <a:rPr lang="zh-CN" altLang="en-US" b="1" u="none" dirty="0">
                <a:solidFill>
                  <a:srgbClr val="000066"/>
                </a:solidFill>
                <a:ea typeface="宋体" pitchFamily="2" charset="-122"/>
              </a:rPr>
              <a:t> </a:t>
            </a: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07792188"/>
              </p:ext>
            </p:extLst>
          </p:nvPr>
        </p:nvGraphicFramePr>
        <p:xfrm>
          <a:off x="7713697" y="1790877"/>
          <a:ext cx="1430303" cy="7310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1212" name="公式" r:id="rId9" imgW="1054100" imgH="469900" progId="Equation.3">
                  <p:embed/>
                </p:oleObj>
              </mc:Choice>
              <mc:Fallback>
                <p:oleObj name="公式" r:id="rId9" imgW="1054100" imgH="469900" progId="Equation.3">
                  <p:embed/>
                  <p:pic>
                    <p:nvPicPr>
                      <p:cNvPr id="0" name="Object 10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13697" y="1790877"/>
                        <a:ext cx="1430303" cy="731044"/>
                      </a:xfrm>
                      <a:prstGeom prst="rect">
                        <a:avLst/>
                      </a:prstGeom>
                      <a:solidFill>
                        <a:srgbClr val="FF99CC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01283839"/>
              </p:ext>
            </p:extLst>
          </p:nvPr>
        </p:nvGraphicFramePr>
        <p:xfrm>
          <a:off x="5352836" y="927619"/>
          <a:ext cx="3791164" cy="865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1213" name="公式" r:id="rId11" imgW="2730500" imgH="622300" progId="Equation.3">
                  <p:embed/>
                </p:oleObj>
              </mc:Choice>
              <mc:Fallback>
                <p:oleObj name="公式" r:id="rId11" imgW="2730500" imgH="622300" progId="Equation.3">
                  <p:embed/>
                  <p:pic>
                    <p:nvPicPr>
                      <p:cNvPr id="0" name="Object 10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52836" y="927619"/>
                        <a:ext cx="3791164" cy="865738"/>
                      </a:xfrm>
                      <a:prstGeom prst="rect">
                        <a:avLst/>
                      </a:prstGeom>
                      <a:solidFill>
                        <a:srgbClr val="FF99CC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110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110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110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110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110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110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110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110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109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109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109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109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0999" grpId="0"/>
      <p:bldP spid="511004" grpId="0"/>
      <p:bldP spid="51100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4642" name="Picture 2" descr="图片1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89338" y="3805238"/>
            <a:ext cx="5513387" cy="2603500"/>
          </a:xfrm>
          <a:noFill/>
          <a:ln/>
        </p:spPr>
      </p:pic>
      <p:graphicFrame>
        <p:nvGraphicFramePr>
          <p:cNvPr id="624658" name="Object 18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727075" y="3475038"/>
          <a:ext cx="4225925" cy="639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5077" name="公式" r:id="rId4" imgW="1841400" imgH="279360" progId="Equation.3">
                  <p:embed/>
                </p:oleObj>
              </mc:Choice>
              <mc:Fallback>
                <p:oleObj name="公式" r:id="rId4" imgW="1841400" imgH="279360" progId="Equation.3">
                  <p:embed/>
                  <p:pic>
                    <p:nvPicPr>
                      <p:cNvPr id="0" name="Object 18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7075" y="3475038"/>
                        <a:ext cx="4225925" cy="639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4661" name="Object 21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685800" y="2822575"/>
          <a:ext cx="3530600" cy="627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5078" name="公式" r:id="rId6" imgW="1574640" imgH="279360" progId="Equation.3">
                  <p:embed/>
                </p:oleObj>
              </mc:Choice>
              <mc:Fallback>
                <p:oleObj name="公式" r:id="rId6" imgW="1574640" imgH="279360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2822575"/>
                        <a:ext cx="3530600" cy="627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4643" name="Rectangle 3"/>
          <p:cNvSpPr>
            <a:spLocks noChangeArrowheads="1"/>
          </p:cNvSpPr>
          <p:nvPr/>
        </p:nvSpPr>
        <p:spPr bwMode="auto">
          <a:xfrm>
            <a:off x="454025" y="916758"/>
            <a:ext cx="3346450" cy="466725"/>
          </a:xfrm>
          <a:prstGeom prst="rect">
            <a:avLst/>
          </a:prstGeom>
          <a:solidFill>
            <a:srgbClr val="CC99FF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sz="2400" b="1" u="none" dirty="0">
                <a:solidFill>
                  <a:srgbClr val="990000"/>
                </a:solidFill>
                <a:latin typeface="楷体_GB2312" pitchFamily="49" charset="-122"/>
                <a:ea typeface="楷体_GB2312" pitchFamily="49" charset="-122"/>
              </a:rPr>
              <a:t>(1).</a:t>
            </a:r>
            <a:r>
              <a:rPr lang="zh-CN" altLang="en-US" sz="2400" b="1" u="none" dirty="0">
                <a:solidFill>
                  <a:srgbClr val="990000"/>
                </a:solidFill>
                <a:latin typeface="楷体_GB2312" pitchFamily="49" charset="-122"/>
                <a:ea typeface="楷体_GB2312" pitchFamily="49" charset="-122"/>
              </a:rPr>
              <a:t>自相关函数的性质</a:t>
            </a:r>
          </a:p>
        </p:txBody>
      </p:sp>
      <p:sp>
        <p:nvSpPr>
          <p:cNvPr id="624644" name="Rectangle 4"/>
          <p:cNvSpPr>
            <a:spLocks noChangeArrowheads="1"/>
          </p:cNvSpPr>
          <p:nvPr/>
        </p:nvSpPr>
        <p:spPr bwMode="auto">
          <a:xfrm>
            <a:off x="488950" y="1298960"/>
            <a:ext cx="36782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buClr>
                <a:schemeClr val="hlink"/>
              </a:buClr>
              <a:buFont typeface="Wingdings" pitchFamily="2" charset="2"/>
              <a:buNone/>
            </a:pPr>
            <a:r>
              <a:rPr kumimoji="0" lang="en-US" altLang="zh-CN" sz="2400" b="1" u="none" dirty="0">
                <a:solidFill>
                  <a:srgbClr val="FF3300"/>
                </a:solidFill>
              </a:rPr>
              <a:t>1</a:t>
            </a:r>
            <a:r>
              <a:rPr kumimoji="0" lang="zh-CN" altLang="en-US" sz="2400" b="1" u="none" dirty="0">
                <a:solidFill>
                  <a:srgbClr val="FF3300"/>
                </a:solidFill>
              </a:rPr>
              <a:t>）</a:t>
            </a:r>
            <a:r>
              <a:rPr kumimoji="0" lang="zh-CN" altLang="en-US" sz="2400" u="none" dirty="0">
                <a:solidFill>
                  <a:schemeClr val="tx1"/>
                </a:solidFill>
              </a:rPr>
              <a:t> </a:t>
            </a:r>
            <a:r>
              <a:rPr kumimoji="0" lang="en-US" altLang="zh-CN" sz="2400" b="1" i="1" u="none" dirty="0">
                <a:solidFill>
                  <a:schemeClr val="tx1"/>
                </a:solidFill>
              </a:rPr>
              <a:t>R</a:t>
            </a:r>
            <a:r>
              <a:rPr kumimoji="0" lang="en-US" altLang="zh-CN" sz="2400" b="1" i="1" u="none" baseline="-25000" dirty="0">
                <a:solidFill>
                  <a:schemeClr val="tx1"/>
                </a:solidFill>
              </a:rPr>
              <a:t>x</a:t>
            </a:r>
            <a:r>
              <a:rPr kumimoji="0" lang="en-US" altLang="zh-CN" sz="2400" b="1" u="none" dirty="0">
                <a:solidFill>
                  <a:schemeClr val="tx1"/>
                </a:solidFill>
              </a:rPr>
              <a:t>(τ)</a:t>
            </a:r>
            <a:r>
              <a:rPr kumimoji="0" lang="zh-CN" altLang="en-US" sz="2400" b="1" u="none" dirty="0">
                <a:solidFill>
                  <a:schemeClr val="tx1"/>
                </a:solidFill>
              </a:rPr>
              <a:t>的值限制范围为</a:t>
            </a:r>
          </a:p>
        </p:txBody>
      </p:sp>
      <p:graphicFrame>
        <p:nvGraphicFramePr>
          <p:cNvPr id="62464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18722313"/>
              </p:ext>
            </p:extLst>
          </p:nvPr>
        </p:nvGraphicFramePr>
        <p:xfrm>
          <a:off x="5508625" y="906466"/>
          <a:ext cx="2597150" cy="452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5079" name="公式" r:id="rId8" imgW="1371600" imgH="241300" progId="Equation.3">
                  <p:embed/>
                </p:oleObj>
              </mc:Choice>
              <mc:Fallback>
                <p:oleObj name="公式" r:id="rId8" imgW="1371600" imgH="2413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08625" y="906466"/>
                        <a:ext cx="2597150" cy="452437"/>
                      </a:xfrm>
                      <a:prstGeom prst="rect">
                        <a:avLst/>
                      </a:prstGeom>
                      <a:solidFill>
                        <a:srgbClr val="CC99FF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4646" name="Rectangle 6"/>
          <p:cNvSpPr>
            <a:spLocks noChangeArrowheads="1"/>
          </p:cNvSpPr>
          <p:nvPr/>
        </p:nvSpPr>
        <p:spPr bwMode="auto">
          <a:xfrm>
            <a:off x="5330825" y="1839913"/>
            <a:ext cx="6413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0" lang="en-US" altLang="zh-CN" sz="1800" b="1" u="none" dirty="0" smtClean="0">
                <a:solidFill>
                  <a:srgbClr val="FF3300"/>
                </a:solidFill>
                <a:ea typeface="宋体" pitchFamily="2" charset="-122"/>
              </a:rPr>
              <a:t>(</a:t>
            </a:r>
            <a:r>
              <a:rPr kumimoji="0" lang="en-US" altLang="zh-CN" sz="1800" b="1" u="none" dirty="0" smtClean="0">
                <a:solidFill>
                  <a:srgbClr val="FF3300"/>
                </a:solidFill>
              </a:rPr>
              <a:t>5-</a:t>
            </a:r>
            <a:r>
              <a:rPr kumimoji="0" lang="en-US" altLang="zh-CN" sz="1800" b="1" u="none" dirty="0" smtClean="0">
                <a:solidFill>
                  <a:srgbClr val="FF3300"/>
                </a:solidFill>
                <a:ea typeface="宋体" pitchFamily="2" charset="-122"/>
              </a:rPr>
              <a:t>7</a:t>
            </a:r>
            <a:r>
              <a:rPr kumimoji="0" lang="en-US" altLang="zh-CN" sz="1800" b="1" u="none" dirty="0">
                <a:solidFill>
                  <a:srgbClr val="FF3300"/>
                </a:solidFill>
                <a:ea typeface="宋体" pitchFamily="2" charset="-122"/>
              </a:rPr>
              <a:t>)</a:t>
            </a:r>
          </a:p>
        </p:txBody>
      </p:sp>
      <p:graphicFrame>
        <p:nvGraphicFramePr>
          <p:cNvPr id="62464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08333004"/>
              </p:ext>
            </p:extLst>
          </p:nvPr>
        </p:nvGraphicFramePr>
        <p:xfrm>
          <a:off x="6586086" y="1398588"/>
          <a:ext cx="946601" cy="5341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5080" name="Equation" r:id="rId10" imgW="495000" imgH="279360" progId="Equation.DSMT4">
                  <p:embed/>
                </p:oleObj>
              </mc:Choice>
              <mc:Fallback>
                <p:oleObj name="Equation" r:id="rId10" imgW="495000" imgH="27936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86086" y="1398588"/>
                        <a:ext cx="946601" cy="53419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464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47442998"/>
              </p:ext>
            </p:extLst>
          </p:nvPr>
        </p:nvGraphicFramePr>
        <p:xfrm>
          <a:off x="1520825" y="1747307"/>
          <a:ext cx="3629025" cy="5434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5081" name="Equation" r:id="rId12" imgW="1612800" imgH="241200" progId="Equation.DSMT4">
                  <p:embed/>
                </p:oleObj>
              </mc:Choice>
              <mc:Fallback>
                <p:oleObj name="Equation" r:id="rId12" imgW="1612800" imgH="2412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0825" y="1747307"/>
                        <a:ext cx="3629025" cy="543456"/>
                      </a:xfrm>
                      <a:prstGeom prst="rect">
                        <a:avLst/>
                      </a:prstGeom>
                      <a:solidFill>
                        <a:srgbClr val="FFCC99"/>
                      </a:solidFill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4649" name="Rectangle 9"/>
          <p:cNvSpPr>
            <a:spLocks noChangeArrowheads="1"/>
          </p:cNvSpPr>
          <p:nvPr/>
        </p:nvSpPr>
        <p:spPr bwMode="auto">
          <a:xfrm>
            <a:off x="484188" y="2312988"/>
            <a:ext cx="26304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buClr>
                <a:schemeClr val="hlink"/>
              </a:buClr>
              <a:buFont typeface="Wingdings" pitchFamily="2" charset="2"/>
              <a:buNone/>
            </a:pPr>
            <a:r>
              <a:rPr kumimoji="0" lang="en-US" altLang="zh-CN" sz="2400" b="1" u="none">
                <a:solidFill>
                  <a:srgbClr val="FF3300"/>
                </a:solidFill>
              </a:rPr>
              <a:t>2)</a:t>
            </a:r>
            <a:r>
              <a:rPr kumimoji="0" lang="en-US" altLang="zh-CN" sz="2400" b="1" u="none">
                <a:solidFill>
                  <a:schemeClr val="hlink"/>
                </a:solidFill>
              </a:rPr>
              <a:t> </a:t>
            </a:r>
            <a:r>
              <a:rPr kumimoji="0" lang="en-US" altLang="zh-CN" sz="2400" b="1" i="1" u="none">
                <a:solidFill>
                  <a:schemeClr val="tx1"/>
                </a:solidFill>
              </a:rPr>
              <a:t>R</a:t>
            </a:r>
            <a:r>
              <a:rPr kumimoji="0" lang="en-US" altLang="zh-CN" sz="2400" b="1" i="1" u="none" baseline="-25000">
                <a:solidFill>
                  <a:schemeClr val="tx1"/>
                </a:solidFill>
              </a:rPr>
              <a:t>x</a:t>
            </a:r>
            <a:r>
              <a:rPr kumimoji="0" lang="en-US" altLang="zh-CN" sz="2400" b="1" u="none">
                <a:solidFill>
                  <a:schemeClr val="tx1"/>
                </a:solidFill>
              </a:rPr>
              <a:t>(τ)</a:t>
            </a:r>
            <a:r>
              <a:rPr kumimoji="0" lang="zh-CN" altLang="en-US" sz="2400" b="1" u="none">
                <a:solidFill>
                  <a:schemeClr val="tx1"/>
                </a:solidFill>
              </a:rPr>
              <a:t>为偶函数 </a:t>
            </a:r>
          </a:p>
        </p:txBody>
      </p:sp>
      <p:sp>
        <p:nvSpPr>
          <p:cNvPr id="624650" name="Rectangle 10"/>
          <p:cNvSpPr>
            <a:spLocks noChangeArrowheads="1"/>
          </p:cNvSpPr>
          <p:nvPr/>
        </p:nvSpPr>
        <p:spPr bwMode="auto">
          <a:xfrm>
            <a:off x="4959350" y="2790825"/>
            <a:ext cx="1287463" cy="457200"/>
          </a:xfrm>
          <a:prstGeom prst="rect">
            <a:avLst/>
          </a:prstGeom>
          <a:solidFill>
            <a:srgbClr val="99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kumimoji="0" lang="en-US" altLang="zh-CN" sz="2400" b="1" i="1" u="none">
                <a:solidFill>
                  <a:schemeClr val="tx1"/>
                </a:solidFill>
              </a:rPr>
              <a:t>t</a:t>
            </a:r>
            <a:r>
              <a:rPr kumimoji="0" lang="en-US" altLang="zh-CN" sz="2400" b="1" u="none">
                <a:solidFill>
                  <a:schemeClr val="tx1"/>
                </a:solidFill>
              </a:rPr>
              <a:t>+τ</a:t>
            </a:r>
            <a:r>
              <a:rPr kumimoji="0" lang="en-US" altLang="zh-CN" sz="2400" b="1" u="none">
                <a:solidFill>
                  <a:schemeClr val="tx1"/>
                </a:solidFill>
                <a:ea typeface="宋体" pitchFamily="2" charset="-122"/>
              </a:rPr>
              <a:t>←</a:t>
            </a:r>
            <a:r>
              <a:rPr kumimoji="0" lang="en-US" altLang="zh-CN" sz="2400" b="1" u="none">
                <a:solidFill>
                  <a:schemeClr val="tx1"/>
                </a:solidFill>
              </a:rPr>
              <a:t> </a:t>
            </a:r>
            <a:r>
              <a:rPr kumimoji="0" lang="en-US" altLang="zh-CN" sz="2400" b="1" i="1" u="none">
                <a:solidFill>
                  <a:schemeClr val="tx1"/>
                </a:solidFill>
                <a:ea typeface="宋体" pitchFamily="2" charset="-122"/>
              </a:rPr>
              <a:t>t</a:t>
            </a:r>
            <a:r>
              <a:rPr kumimoji="0" lang="en-US" altLang="zh-CN" sz="2400" b="1" u="none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624651" name="Rectangle 11"/>
          <p:cNvSpPr>
            <a:spLocks noChangeArrowheads="1"/>
          </p:cNvSpPr>
          <p:nvPr/>
        </p:nvSpPr>
        <p:spPr bwMode="auto">
          <a:xfrm>
            <a:off x="7877175" y="2314575"/>
            <a:ext cx="6413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0" lang="en-US" altLang="zh-CN" sz="1800" b="1" u="none" dirty="0" smtClean="0">
                <a:solidFill>
                  <a:srgbClr val="FF3300"/>
                </a:solidFill>
                <a:ea typeface="宋体" pitchFamily="2" charset="-122"/>
              </a:rPr>
              <a:t>(</a:t>
            </a:r>
            <a:r>
              <a:rPr kumimoji="0" lang="en-US" altLang="zh-CN" sz="1800" b="1" u="none" dirty="0" smtClean="0">
                <a:solidFill>
                  <a:srgbClr val="FF3300"/>
                </a:solidFill>
              </a:rPr>
              <a:t>5-</a:t>
            </a:r>
            <a:r>
              <a:rPr kumimoji="0" lang="en-US" altLang="zh-CN" sz="1800" b="1" u="none" dirty="0" smtClean="0">
                <a:solidFill>
                  <a:srgbClr val="FF3300"/>
                </a:solidFill>
                <a:ea typeface="宋体" pitchFamily="2" charset="-122"/>
              </a:rPr>
              <a:t>4</a:t>
            </a:r>
            <a:r>
              <a:rPr kumimoji="0" lang="en-US" altLang="zh-CN" sz="1800" b="1" u="none" dirty="0">
                <a:solidFill>
                  <a:srgbClr val="FF3300"/>
                </a:solidFill>
                <a:ea typeface="宋体" pitchFamily="2" charset="-122"/>
              </a:rPr>
              <a:t>)</a:t>
            </a:r>
          </a:p>
        </p:txBody>
      </p:sp>
      <p:graphicFrame>
        <p:nvGraphicFramePr>
          <p:cNvPr id="624652" name="Object 12"/>
          <p:cNvGraphicFramePr>
            <a:graphicFrameLocks noChangeAspect="1"/>
          </p:cNvGraphicFramePr>
          <p:nvPr/>
        </p:nvGraphicFramePr>
        <p:xfrm>
          <a:off x="5172075" y="2219325"/>
          <a:ext cx="2717800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5082" name="公式" r:id="rId14" imgW="1739880" imgH="342720" progId="Equation.3">
                  <p:embed/>
                </p:oleObj>
              </mc:Choice>
              <mc:Fallback>
                <p:oleObj name="公式" r:id="rId14" imgW="1739880" imgH="34272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72075" y="2219325"/>
                        <a:ext cx="2717800" cy="536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4653" name="Rectangle 13"/>
          <p:cNvSpPr>
            <a:spLocks noChangeArrowheads="1"/>
          </p:cNvSpPr>
          <p:nvPr/>
        </p:nvSpPr>
        <p:spPr bwMode="auto">
          <a:xfrm>
            <a:off x="8147050" y="962025"/>
            <a:ext cx="6413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0" lang="en-US" altLang="zh-CN" sz="1800" b="1" u="none" dirty="0" smtClean="0">
                <a:solidFill>
                  <a:srgbClr val="FF3300"/>
                </a:solidFill>
                <a:ea typeface="宋体" pitchFamily="2" charset="-122"/>
              </a:rPr>
              <a:t>(</a:t>
            </a:r>
            <a:r>
              <a:rPr kumimoji="0" lang="en-US" altLang="zh-CN" sz="1800" b="1" u="none" dirty="0" smtClean="0">
                <a:solidFill>
                  <a:srgbClr val="FF3300"/>
                </a:solidFill>
              </a:rPr>
              <a:t>5-</a:t>
            </a:r>
            <a:r>
              <a:rPr kumimoji="0" lang="en-US" altLang="zh-CN" sz="1800" b="1" u="none" dirty="0" smtClean="0">
                <a:solidFill>
                  <a:srgbClr val="FF3300"/>
                </a:solidFill>
                <a:ea typeface="宋体" pitchFamily="2" charset="-122"/>
              </a:rPr>
              <a:t>6</a:t>
            </a:r>
            <a:r>
              <a:rPr kumimoji="0" lang="en-US" altLang="zh-CN" sz="1800" b="1" u="none" dirty="0">
                <a:solidFill>
                  <a:srgbClr val="FF3300"/>
                </a:solidFill>
                <a:ea typeface="宋体" pitchFamily="2" charset="-122"/>
              </a:rPr>
              <a:t>)</a:t>
            </a:r>
          </a:p>
        </p:txBody>
      </p:sp>
      <p:sp>
        <p:nvSpPr>
          <p:cNvPr id="624654" name="Rectangle 14"/>
          <p:cNvSpPr>
            <a:spLocks noChangeArrowheads="1"/>
          </p:cNvSpPr>
          <p:nvPr/>
        </p:nvSpPr>
        <p:spPr bwMode="auto">
          <a:xfrm>
            <a:off x="8147050" y="1473200"/>
            <a:ext cx="6413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0" lang="en-US" altLang="zh-CN" sz="1800" b="1" u="none" dirty="0" smtClean="0">
                <a:solidFill>
                  <a:srgbClr val="FF3300"/>
                </a:solidFill>
                <a:ea typeface="宋体" pitchFamily="2" charset="-122"/>
              </a:rPr>
              <a:t>(</a:t>
            </a:r>
            <a:r>
              <a:rPr kumimoji="0" lang="en-US" altLang="zh-CN" sz="1800" b="1" u="none" dirty="0" smtClean="0">
                <a:solidFill>
                  <a:srgbClr val="FF3300"/>
                </a:solidFill>
              </a:rPr>
              <a:t>5-</a:t>
            </a:r>
            <a:r>
              <a:rPr kumimoji="0" lang="en-US" altLang="zh-CN" sz="1800" b="1" u="none" dirty="0" smtClean="0">
                <a:solidFill>
                  <a:srgbClr val="FF3300"/>
                </a:solidFill>
                <a:ea typeface="宋体" pitchFamily="2" charset="-122"/>
              </a:rPr>
              <a:t>2</a:t>
            </a:r>
            <a:r>
              <a:rPr kumimoji="0" lang="en-US" altLang="zh-CN" sz="1800" b="1" u="none" dirty="0">
                <a:solidFill>
                  <a:srgbClr val="FF3300"/>
                </a:solidFill>
                <a:ea typeface="宋体" pitchFamily="2" charset="-122"/>
              </a:rPr>
              <a:t>)</a:t>
            </a:r>
          </a:p>
        </p:txBody>
      </p:sp>
      <p:sp>
        <p:nvSpPr>
          <p:cNvPr id="624655" name="Rectangle 15"/>
          <p:cNvSpPr>
            <a:spLocks noChangeArrowheads="1"/>
          </p:cNvSpPr>
          <p:nvPr/>
        </p:nvSpPr>
        <p:spPr bwMode="auto">
          <a:xfrm>
            <a:off x="4114800" y="6022975"/>
            <a:ext cx="20701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kumimoji="0" lang="zh-CN" altLang="en-US" sz="1800" b="1" u="none">
                <a:solidFill>
                  <a:srgbClr val="FF3300"/>
                </a:solidFill>
                <a:ea typeface="宋体" pitchFamily="2" charset="-122"/>
              </a:rPr>
              <a:t>自相关函数的性质 </a:t>
            </a:r>
          </a:p>
        </p:txBody>
      </p:sp>
      <p:sp>
        <p:nvSpPr>
          <p:cNvPr id="624656" name="Line 16"/>
          <p:cNvSpPr>
            <a:spLocks noChangeShapeType="1"/>
          </p:cNvSpPr>
          <p:nvPr/>
        </p:nvSpPr>
        <p:spPr bwMode="auto">
          <a:xfrm flipV="1">
            <a:off x="7270750" y="4510088"/>
            <a:ext cx="0" cy="6477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24657" name="Line 17"/>
          <p:cNvSpPr>
            <a:spLocks noChangeShapeType="1"/>
          </p:cNvSpPr>
          <p:nvPr/>
        </p:nvSpPr>
        <p:spPr bwMode="auto">
          <a:xfrm flipV="1">
            <a:off x="5330825" y="5121275"/>
            <a:ext cx="0" cy="6477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24659" name="Rectangle 19"/>
          <p:cNvSpPr>
            <a:spLocks noChangeArrowheads="1"/>
          </p:cNvSpPr>
          <p:nvPr/>
        </p:nvSpPr>
        <p:spPr bwMode="auto">
          <a:xfrm>
            <a:off x="5003800" y="3394075"/>
            <a:ext cx="1860550" cy="457200"/>
          </a:xfrm>
          <a:prstGeom prst="rect">
            <a:avLst/>
          </a:prstGeom>
          <a:solidFill>
            <a:srgbClr val="99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kumimoji="0" lang="en-US" altLang="zh-CN" sz="2400" b="1" u="none">
                <a:solidFill>
                  <a:schemeClr val="tx1"/>
                </a:solidFill>
              </a:rPr>
              <a:t>d(t+τ)=d(</a:t>
            </a:r>
            <a:r>
              <a:rPr kumimoji="0" lang="en-US" altLang="zh-CN" sz="2400" b="1" u="none">
                <a:solidFill>
                  <a:schemeClr val="tx1"/>
                </a:solidFill>
                <a:ea typeface="宋体" pitchFamily="2" charset="-122"/>
              </a:rPr>
              <a:t>t)</a:t>
            </a:r>
            <a:r>
              <a:rPr kumimoji="0" lang="en-US" altLang="zh-CN" sz="2400" b="1" u="none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624660" name="Rectangle 20"/>
          <p:cNvSpPr>
            <a:spLocks noChangeArrowheads="1"/>
          </p:cNvSpPr>
          <p:nvPr/>
        </p:nvSpPr>
        <p:spPr bwMode="auto">
          <a:xfrm>
            <a:off x="2471738" y="4806950"/>
            <a:ext cx="6413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0" lang="en-US" altLang="zh-CN" sz="1800" b="1" u="none" dirty="0" smtClean="0">
                <a:solidFill>
                  <a:srgbClr val="FF3300"/>
                </a:solidFill>
                <a:ea typeface="宋体" pitchFamily="2" charset="-122"/>
              </a:rPr>
              <a:t>(</a:t>
            </a:r>
            <a:r>
              <a:rPr kumimoji="0" lang="en-US" altLang="zh-CN" sz="1800" b="1" u="none" dirty="0" smtClean="0">
                <a:solidFill>
                  <a:srgbClr val="FF3300"/>
                </a:solidFill>
              </a:rPr>
              <a:t>5-</a:t>
            </a:r>
            <a:r>
              <a:rPr kumimoji="0" lang="en-US" altLang="zh-CN" sz="1800" b="1" u="none" dirty="0" smtClean="0">
                <a:solidFill>
                  <a:srgbClr val="FF3300"/>
                </a:solidFill>
                <a:ea typeface="宋体" pitchFamily="2" charset="-122"/>
              </a:rPr>
              <a:t>8</a:t>
            </a:r>
            <a:r>
              <a:rPr kumimoji="0" lang="en-US" altLang="zh-CN" sz="1800" b="1" u="none" dirty="0">
                <a:solidFill>
                  <a:srgbClr val="FF3300"/>
                </a:solidFill>
                <a:ea typeface="宋体" pitchFamily="2" charset="-122"/>
              </a:rPr>
              <a:t>)</a:t>
            </a:r>
          </a:p>
        </p:txBody>
      </p:sp>
      <p:graphicFrame>
        <p:nvGraphicFramePr>
          <p:cNvPr id="624664" name="Object 24"/>
          <p:cNvGraphicFramePr>
            <a:graphicFrameLocks noGrp="1" noChangeAspect="1"/>
          </p:cNvGraphicFramePr>
          <p:nvPr>
            <p:ph sz="quarter" idx="4"/>
          </p:nvPr>
        </p:nvGraphicFramePr>
        <p:xfrm>
          <a:off x="736600" y="4103688"/>
          <a:ext cx="3162300" cy="695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5083" name="公式" r:id="rId16" imgW="1269720" imgH="279360" progId="Equation.3">
                  <p:embed/>
                </p:oleObj>
              </mc:Choice>
              <mc:Fallback>
                <p:oleObj name="公式" r:id="rId16" imgW="1269720" imgH="279360" progId="Equation.3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6600" y="4103688"/>
                        <a:ext cx="3162300" cy="695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4667" name="Object 27"/>
          <p:cNvGraphicFramePr>
            <a:graphicFrameLocks noChangeAspect="1"/>
          </p:cNvGraphicFramePr>
          <p:nvPr/>
        </p:nvGraphicFramePr>
        <p:xfrm>
          <a:off x="779463" y="4837113"/>
          <a:ext cx="1211262" cy="554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5084" name="公式" r:id="rId18" imgW="444240" imgH="203040" progId="Equation.3">
                  <p:embed/>
                </p:oleObj>
              </mc:Choice>
              <mc:Fallback>
                <p:oleObj name="公式" r:id="rId18" imgW="444240" imgH="203040" progId="Equation.3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9463" y="4837113"/>
                        <a:ext cx="1211262" cy="554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Rectangle 4"/>
          <p:cNvSpPr>
            <a:spLocks noChangeArrowheads="1"/>
          </p:cNvSpPr>
          <p:nvPr/>
        </p:nvSpPr>
        <p:spPr bwMode="auto">
          <a:xfrm>
            <a:off x="379413" y="300831"/>
            <a:ext cx="3738562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 b="1" u="none" dirty="0" smtClean="0">
                <a:solidFill>
                  <a:srgbClr val="800000"/>
                </a:solidFill>
                <a:ea typeface="宋体" pitchFamily="2" charset="-122"/>
              </a:rPr>
              <a:t>5.3 </a:t>
            </a:r>
            <a:r>
              <a:rPr lang="zh-CN" altLang="en-US" sz="3200" b="1" u="none" dirty="0">
                <a:solidFill>
                  <a:srgbClr val="800000"/>
                </a:solidFill>
                <a:ea typeface="宋体" pitchFamily="2" charset="-122"/>
              </a:rPr>
              <a:t>相关分析及应用</a:t>
            </a:r>
            <a:r>
              <a:rPr lang="zh-CN" altLang="en-US" b="1" u="none" dirty="0">
                <a:solidFill>
                  <a:srgbClr val="000066"/>
                </a:solidFill>
                <a:ea typeface="宋体" pitchFamily="2" charset="-122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246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246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6246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246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246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6246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246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246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246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246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6246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6246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6246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6246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6246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6246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6246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6246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6246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6246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6246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6246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6246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6246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4644" grpId="0"/>
      <p:bldP spid="624646" grpId="0"/>
      <p:bldP spid="624649" grpId="0"/>
      <p:bldP spid="624650" grpId="0" animBg="1"/>
      <p:bldP spid="624651" grpId="0"/>
      <p:bldP spid="624655" grpId="0"/>
      <p:bldP spid="624656" grpId="0" animBg="1"/>
      <p:bldP spid="624657" grpId="0" animBg="1"/>
      <p:bldP spid="624659" grpId="0" animBg="1"/>
      <p:bldP spid="624660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3063" name="Picture 39" descr="图片1"/>
          <p:cNvPicPr>
            <a:picLocks noGrp="1" noChangeAspect="1" noChangeArrowheads="1"/>
          </p:cNvPicPr>
          <p:nvPr>
            <p:ph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475038" y="3535363"/>
            <a:ext cx="5291137" cy="2498725"/>
          </a:xfrm>
          <a:ln/>
        </p:spPr>
      </p:pic>
      <p:graphicFrame>
        <p:nvGraphicFramePr>
          <p:cNvPr id="513036" name="Object 12"/>
          <p:cNvGraphicFramePr>
            <a:graphicFrameLocks noChangeAspect="1"/>
          </p:cNvGraphicFramePr>
          <p:nvPr/>
        </p:nvGraphicFramePr>
        <p:xfrm>
          <a:off x="1458913" y="1933575"/>
          <a:ext cx="2085975" cy="735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475" name="公式" r:id="rId4" imgW="1117440" imgH="393480" progId="Equation.3">
                  <p:embed/>
                </p:oleObj>
              </mc:Choice>
              <mc:Fallback>
                <p:oleObj name="公式" r:id="rId4" imgW="1117440" imgH="39348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58913" y="1933575"/>
                        <a:ext cx="2085975" cy="735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3037" name="Object 13"/>
          <p:cNvGraphicFramePr>
            <a:graphicFrameLocks noChangeAspect="1"/>
          </p:cNvGraphicFramePr>
          <p:nvPr/>
        </p:nvGraphicFramePr>
        <p:xfrm>
          <a:off x="1417638" y="2747963"/>
          <a:ext cx="1800225" cy="45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476" name="公式" r:id="rId6" imgW="965160" imgH="241200" progId="Equation.3">
                  <p:embed/>
                </p:oleObj>
              </mc:Choice>
              <mc:Fallback>
                <p:oleObj name="公式" r:id="rId6" imgW="965160" imgH="24120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17638" y="2747963"/>
                        <a:ext cx="1800225" cy="450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3039" name="Rectangle 15"/>
          <p:cNvSpPr>
            <a:spLocks noChangeArrowheads="1"/>
          </p:cNvSpPr>
          <p:nvPr/>
        </p:nvSpPr>
        <p:spPr bwMode="auto">
          <a:xfrm>
            <a:off x="430213" y="869809"/>
            <a:ext cx="735489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buClr>
                <a:schemeClr val="hlink"/>
              </a:buClr>
              <a:buFont typeface="Wingdings" pitchFamily="2" charset="2"/>
              <a:buNone/>
            </a:pPr>
            <a:r>
              <a:rPr kumimoji="0" lang="en-US" altLang="zh-CN" sz="2400" b="1" u="none" dirty="0">
                <a:solidFill>
                  <a:srgbClr val="FF3300"/>
                </a:solidFill>
              </a:rPr>
              <a:t>3</a:t>
            </a:r>
            <a:r>
              <a:rPr kumimoji="0" lang="zh-CN" altLang="en-US" sz="2400" b="1" u="none" dirty="0">
                <a:solidFill>
                  <a:srgbClr val="FF3300"/>
                </a:solidFill>
              </a:rPr>
              <a:t>）</a:t>
            </a:r>
            <a:r>
              <a:rPr kumimoji="0" lang="zh-CN" altLang="en-US" sz="2400" b="1" u="none" dirty="0" smtClean="0">
                <a:solidFill>
                  <a:schemeClr val="tx1"/>
                </a:solidFill>
              </a:rPr>
              <a:t>当延时</a:t>
            </a:r>
            <a:r>
              <a:rPr kumimoji="0" lang="en-US" altLang="zh-CN" sz="2400" b="1" u="none" dirty="0" smtClean="0">
                <a:solidFill>
                  <a:schemeClr val="tx1"/>
                </a:solidFill>
              </a:rPr>
              <a:t>τ=0</a:t>
            </a:r>
            <a:r>
              <a:rPr kumimoji="0" lang="zh-CN" altLang="en-US" sz="2400" b="1" u="none" dirty="0">
                <a:solidFill>
                  <a:schemeClr val="tx1"/>
                </a:solidFill>
              </a:rPr>
              <a:t>时，</a:t>
            </a:r>
            <a:r>
              <a:rPr kumimoji="0" lang="en-US" altLang="zh-CN" sz="2400" b="1" i="1" u="none" dirty="0">
                <a:solidFill>
                  <a:schemeClr val="tx1"/>
                </a:solidFill>
              </a:rPr>
              <a:t>R</a:t>
            </a:r>
            <a:r>
              <a:rPr kumimoji="0" lang="en-US" altLang="zh-CN" sz="2400" b="1" i="1" u="none" baseline="-25000" dirty="0">
                <a:solidFill>
                  <a:schemeClr val="tx1"/>
                </a:solidFill>
              </a:rPr>
              <a:t>x</a:t>
            </a:r>
            <a:r>
              <a:rPr kumimoji="0" lang="en-US" altLang="zh-CN" sz="2400" b="1" u="none" dirty="0">
                <a:solidFill>
                  <a:schemeClr val="tx1"/>
                </a:solidFill>
              </a:rPr>
              <a:t>(0)</a:t>
            </a:r>
            <a:r>
              <a:rPr kumimoji="0" lang="zh-CN" altLang="en-US" sz="2400" b="1" u="none" dirty="0">
                <a:solidFill>
                  <a:schemeClr val="tx1"/>
                </a:solidFill>
              </a:rPr>
              <a:t>达到最大值。即</a:t>
            </a:r>
            <a:r>
              <a:rPr kumimoji="0" lang="en-US" altLang="zh-CN" sz="2400" b="1" i="1" u="none" dirty="0">
                <a:solidFill>
                  <a:schemeClr val="tx1"/>
                </a:solidFill>
              </a:rPr>
              <a:t>R</a:t>
            </a:r>
            <a:r>
              <a:rPr kumimoji="0" lang="en-US" altLang="zh-CN" sz="2400" b="1" i="1" u="none" baseline="-25000" dirty="0">
                <a:solidFill>
                  <a:schemeClr val="tx1"/>
                </a:solidFill>
              </a:rPr>
              <a:t>x</a:t>
            </a:r>
            <a:r>
              <a:rPr kumimoji="0" lang="en-US" altLang="zh-CN" sz="2400" b="1" u="none" dirty="0">
                <a:solidFill>
                  <a:schemeClr val="tx1"/>
                </a:solidFill>
              </a:rPr>
              <a:t>(0) ≥|</a:t>
            </a:r>
            <a:r>
              <a:rPr kumimoji="0" lang="en-US" altLang="zh-CN" sz="2400" b="1" i="1" u="none" dirty="0">
                <a:solidFill>
                  <a:schemeClr val="tx1"/>
                </a:solidFill>
              </a:rPr>
              <a:t> R</a:t>
            </a:r>
            <a:r>
              <a:rPr kumimoji="0" lang="en-US" altLang="zh-CN" sz="2400" b="1" i="1" u="none" baseline="-25000" dirty="0">
                <a:solidFill>
                  <a:schemeClr val="tx1"/>
                </a:solidFill>
              </a:rPr>
              <a:t>x</a:t>
            </a:r>
            <a:r>
              <a:rPr kumimoji="0" lang="en-US" altLang="zh-CN" sz="2400" b="1" u="none" dirty="0">
                <a:solidFill>
                  <a:schemeClr val="tx1"/>
                </a:solidFill>
              </a:rPr>
              <a:t>(τ)| </a:t>
            </a:r>
          </a:p>
        </p:txBody>
      </p:sp>
      <p:sp>
        <p:nvSpPr>
          <p:cNvPr id="513040" name="Rectangle 16"/>
          <p:cNvSpPr>
            <a:spLocks noChangeArrowheads="1"/>
          </p:cNvSpPr>
          <p:nvPr/>
        </p:nvSpPr>
        <p:spPr bwMode="auto">
          <a:xfrm>
            <a:off x="-88900" y="32146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513041" name="Rectangle 17"/>
          <p:cNvSpPr>
            <a:spLocks noChangeArrowheads="1"/>
          </p:cNvSpPr>
          <p:nvPr/>
        </p:nvSpPr>
        <p:spPr bwMode="auto">
          <a:xfrm>
            <a:off x="-88900" y="32146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513042" name="Rectangle 18"/>
          <p:cNvSpPr>
            <a:spLocks noChangeArrowheads="1"/>
          </p:cNvSpPr>
          <p:nvPr/>
        </p:nvSpPr>
        <p:spPr bwMode="auto">
          <a:xfrm>
            <a:off x="-88900" y="32146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513044" name="Rectangle 20"/>
          <p:cNvSpPr>
            <a:spLocks noChangeArrowheads="1"/>
          </p:cNvSpPr>
          <p:nvPr/>
        </p:nvSpPr>
        <p:spPr bwMode="auto">
          <a:xfrm>
            <a:off x="-88900" y="32337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513045" name="Object 21"/>
          <p:cNvGraphicFramePr>
            <a:graphicFrameLocks noChangeAspect="1"/>
          </p:cNvGraphicFramePr>
          <p:nvPr/>
        </p:nvGraphicFramePr>
        <p:xfrm>
          <a:off x="811213" y="1214438"/>
          <a:ext cx="3384550" cy="703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477" name="公式" r:id="rId8" imgW="1879560" imgH="393480" progId="Equation.3">
                  <p:embed/>
                </p:oleObj>
              </mc:Choice>
              <mc:Fallback>
                <p:oleObj name="公式" r:id="rId8" imgW="1879560" imgH="393480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1213" y="1214438"/>
                        <a:ext cx="3384550" cy="7032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3046" name="Rectangle 22"/>
          <p:cNvSpPr>
            <a:spLocks noChangeArrowheads="1"/>
          </p:cNvSpPr>
          <p:nvPr/>
        </p:nvSpPr>
        <p:spPr bwMode="auto">
          <a:xfrm>
            <a:off x="-88900" y="3200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513047" name="Object 23"/>
          <p:cNvGraphicFramePr>
            <a:graphicFrameLocks noChangeAspect="1"/>
          </p:cNvGraphicFramePr>
          <p:nvPr/>
        </p:nvGraphicFramePr>
        <p:xfrm>
          <a:off x="712788" y="3327400"/>
          <a:ext cx="2257425" cy="854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478" name="公式" r:id="rId10" imgW="1206360" imgH="457200" progId="Equation.3">
                  <p:embed/>
                </p:oleObj>
              </mc:Choice>
              <mc:Fallback>
                <p:oleObj name="公式" r:id="rId10" imgW="1206360" imgH="457200" progId="Equation.3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2788" y="3327400"/>
                        <a:ext cx="2257425" cy="8540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3048" name="Object 24"/>
          <p:cNvGraphicFramePr>
            <a:graphicFrameLocks noChangeAspect="1"/>
          </p:cNvGraphicFramePr>
          <p:nvPr/>
        </p:nvGraphicFramePr>
        <p:xfrm>
          <a:off x="5648325" y="2324100"/>
          <a:ext cx="1944688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479" name="公式" r:id="rId12" imgW="1231900" imgH="457200" progId="Equation.3">
                  <p:embed/>
                </p:oleObj>
              </mc:Choice>
              <mc:Fallback>
                <p:oleObj name="公式" r:id="rId12" imgW="1231900" imgH="457200" progId="Equation.3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48325" y="2324100"/>
                        <a:ext cx="1944688" cy="723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3049" name="Rectangle 25"/>
          <p:cNvSpPr>
            <a:spLocks noChangeArrowheads="1"/>
          </p:cNvSpPr>
          <p:nvPr/>
        </p:nvSpPr>
        <p:spPr bwMode="auto">
          <a:xfrm>
            <a:off x="8091488" y="1531938"/>
            <a:ext cx="6413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0" lang="en-US" altLang="zh-CN" sz="1800" b="1" u="none" dirty="0" smtClean="0">
                <a:solidFill>
                  <a:srgbClr val="FF3300"/>
                </a:solidFill>
                <a:ea typeface="宋体" pitchFamily="2" charset="-122"/>
              </a:rPr>
              <a:t>(</a:t>
            </a:r>
            <a:r>
              <a:rPr kumimoji="0" lang="en-US" altLang="zh-CN" sz="1800" b="1" u="none" dirty="0" smtClean="0">
                <a:solidFill>
                  <a:srgbClr val="FF3300"/>
                </a:solidFill>
              </a:rPr>
              <a:t>5-</a:t>
            </a:r>
            <a:r>
              <a:rPr kumimoji="0" lang="en-US" altLang="zh-CN" sz="1800" b="1" u="none" dirty="0" smtClean="0">
                <a:solidFill>
                  <a:srgbClr val="FF3300"/>
                </a:solidFill>
                <a:ea typeface="宋体" pitchFamily="2" charset="-122"/>
              </a:rPr>
              <a:t>4</a:t>
            </a:r>
            <a:r>
              <a:rPr kumimoji="0" lang="en-US" altLang="zh-CN" sz="1800" b="1" u="none" dirty="0">
                <a:solidFill>
                  <a:srgbClr val="FF3300"/>
                </a:solidFill>
                <a:ea typeface="宋体" pitchFamily="2" charset="-122"/>
              </a:rPr>
              <a:t>)</a:t>
            </a:r>
          </a:p>
        </p:txBody>
      </p:sp>
      <p:graphicFrame>
        <p:nvGraphicFramePr>
          <p:cNvPr id="513050" name="Object 26"/>
          <p:cNvGraphicFramePr>
            <a:graphicFrameLocks noChangeAspect="1"/>
          </p:cNvGraphicFramePr>
          <p:nvPr/>
        </p:nvGraphicFramePr>
        <p:xfrm>
          <a:off x="5572125" y="1531938"/>
          <a:ext cx="2546350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480" name="公式" r:id="rId14" imgW="1739880" imgH="342720" progId="Equation.3">
                  <p:embed/>
                </p:oleObj>
              </mc:Choice>
              <mc:Fallback>
                <p:oleObj name="公式" r:id="rId14" imgW="1739880" imgH="342720" progId="Equation.3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72125" y="1531938"/>
                        <a:ext cx="2546350" cy="5016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3051" name="Rectangle 27"/>
          <p:cNvSpPr>
            <a:spLocks noChangeArrowheads="1"/>
          </p:cNvSpPr>
          <p:nvPr/>
        </p:nvSpPr>
        <p:spPr bwMode="auto">
          <a:xfrm>
            <a:off x="7951788" y="2540000"/>
            <a:ext cx="6413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0" lang="en-US" altLang="zh-CN" sz="1800" b="1" u="none" dirty="0" smtClean="0">
                <a:solidFill>
                  <a:srgbClr val="FF3300"/>
                </a:solidFill>
                <a:ea typeface="宋体" pitchFamily="2" charset="-122"/>
              </a:rPr>
              <a:t>(</a:t>
            </a:r>
            <a:r>
              <a:rPr kumimoji="0" lang="en-US" altLang="zh-CN" sz="1800" b="1" u="none" dirty="0" smtClean="0">
                <a:solidFill>
                  <a:srgbClr val="FF3300"/>
                </a:solidFill>
              </a:rPr>
              <a:t>5-</a:t>
            </a:r>
            <a:r>
              <a:rPr kumimoji="0" lang="en-US" altLang="zh-CN" sz="1800" b="1" u="none" dirty="0" smtClean="0">
                <a:solidFill>
                  <a:srgbClr val="FF3300"/>
                </a:solidFill>
                <a:ea typeface="宋体" pitchFamily="2" charset="-122"/>
              </a:rPr>
              <a:t>5</a:t>
            </a:r>
            <a:r>
              <a:rPr kumimoji="0" lang="en-US" altLang="zh-CN" sz="1800" b="1" u="none" dirty="0">
                <a:solidFill>
                  <a:srgbClr val="FF3300"/>
                </a:solidFill>
                <a:ea typeface="宋体" pitchFamily="2" charset="-122"/>
              </a:rPr>
              <a:t>)</a:t>
            </a:r>
          </a:p>
        </p:txBody>
      </p:sp>
      <p:graphicFrame>
        <p:nvGraphicFramePr>
          <p:cNvPr id="513052" name="Object 28"/>
          <p:cNvGraphicFramePr>
            <a:graphicFrameLocks noChangeAspect="1"/>
          </p:cNvGraphicFramePr>
          <p:nvPr/>
        </p:nvGraphicFramePr>
        <p:xfrm>
          <a:off x="1314450" y="4057650"/>
          <a:ext cx="1827213" cy="854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481" name="公式" r:id="rId16" imgW="977760" imgH="457200" progId="Equation.3">
                  <p:embed/>
                </p:oleObj>
              </mc:Choice>
              <mc:Fallback>
                <p:oleObj name="公式" r:id="rId16" imgW="977760" imgH="457200" progId="Equation.3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14450" y="4057650"/>
                        <a:ext cx="1827213" cy="854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3053" name="Object 29"/>
          <p:cNvGraphicFramePr>
            <a:graphicFrameLocks noChangeAspect="1"/>
          </p:cNvGraphicFramePr>
          <p:nvPr/>
        </p:nvGraphicFramePr>
        <p:xfrm>
          <a:off x="1387475" y="4849813"/>
          <a:ext cx="1044575" cy="854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482" name="公式" r:id="rId18" imgW="558720" imgH="457200" progId="Equation.3">
                  <p:embed/>
                </p:oleObj>
              </mc:Choice>
              <mc:Fallback>
                <p:oleObj name="公式" r:id="rId18" imgW="558720" imgH="457200" progId="Equation.3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87475" y="4849813"/>
                        <a:ext cx="1044575" cy="854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3054" name="Rectangle 30"/>
          <p:cNvSpPr>
            <a:spLocks noChangeArrowheads="1"/>
          </p:cNvSpPr>
          <p:nvPr/>
        </p:nvSpPr>
        <p:spPr bwMode="auto">
          <a:xfrm>
            <a:off x="3475038" y="2698750"/>
            <a:ext cx="6413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0" lang="en-US" altLang="zh-CN" sz="1800" b="1" u="none" dirty="0" smtClean="0">
                <a:solidFill>
                  <a:srgbClr val="FF3300"/>
                </a:solidFill>
                <a:ea typeface="宋体" pitchFamily="2" charset="-122"/>
              </a:rPr>
              <a:t>(</a:t>
            </a:r>
            <a:r>
              <a:rPr kumimoji="0" lang="en-US" altLang="zh-CN" sz="1800" b="1" u="none" dirty="0" smtClean="0">
                <a:solidFill>
                  <a:srgbClr val="FF3300"/>
                </a:solidFill>
              </a:rPr>
              <a:t>5-</a:t>
            </a:r>
            <a:r>
              <a:rPr kumimoji="0" lang="en-US" altLang="zh-CN" sz="1800" b="1" u="none" dirty="0" smtClean="0">
                <a:solidFill>
                  <a:srgbClr val="FF3300"/>
                </a:solidFill>
                <a:ea typeface="宋体" pitchFamily="2" charset="-122"/>
              </a:rPr>
              <a:t>9</a:t>
            </a:r>
            <a:r>
              <a:rPr kumimoji="0" lang="en-US" altLang="zh-CN" sz="1800" b="1" u="none" dirty="0">
                <a:solidFill>
                  <a:srgbClr val="FF3300"/>
                </a:solidFill>
                <a:ea typeface="宋体" pitchFamily="2" charset="-122"/>
              </a:rPr>
              <a:t>)</a:t>
            </a:r>
          </a:p>
        </p:txBody>
      </p:sp>
      <p:sp>
        <p:nvSpPr>
          <p:cNvPr id="513055" name="Rectangle 31"/>
          <p:cNvSpPr>
            <a:spLocks noChangeArrowheads="1"/>
          </p:cNvSpPr>
          <p:nvPr/>
        </p:nvSpPr>
        <p:spPr bwMode="auto">
          <a:xfrm>
            <a:off x="2763838" y="5076825"/>
            <a:ext cx="7556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0" lang="en-US" altLang="zh-CN" sz="1800" b="1" u="none" dirty="0" smtClean="0">
                <a:solidFill>
                  <a:srgbClr val="FF3300"/>
                </a:solidFill>
                <a:ea typeface="宋体" pitchFamily="2" charset="-122"/>
              </a:rPr>
              <a:t>(</a:t>
            </a:r>
            <a:r>
              <a:rPr kumimoji="0" lang="en-US" altLang="zh-CN" sz="1800" b="1" u="none" dirty="0" smtClean="0">
                <a:solidFill>
                  <a:srgbClr val="FF3300"/>
                </a:solidFill>
              </a:rPr>
              <a:t>5-</a:t>
            </a:r>
            <a:r>
              <a:rPr kumimoji="0" lang="en-US" altLang="zh-CN" sz="1800" b="1" u="none" dirty="0" smtClean="0">
                <a:solidFill>
                  <a:srgbClr val="FF3300"/>
                </a:solidFill>
                <a:ea typeface="宋体" pitchFamily="2" charset="-122"/>
              </a:rPr>
              <a:t>10</a:t>
            </a:r>
            <a:r>
              <a:rPr kumimoji="0" lang="en-US" altLang="zh-CN" sz="1800" b="1" u="none" dirty="0">
                <a:solidFill>
                  <a:srgbClr val="FF3300"/>
                </a:solidFill>
                <a:ea typeface="宋体" pitchFamily="2" charset="-122"/>
              </a:rPr>
              <a:t>)</a:t>
            </a:r>
          </a:p>
        </p:txBody>
      </p:sp>
      <p:sp>
        <p:nvSpPr>
          <p:cNvPr id="513056" name="Rectangle 32"/>
          <p:cNvSpPr>
            <a:spLocks noChangeArrowheads="1"/>
          </p:cNvSpPr>
          <p:nvPr/>
        </p:nvSpPr>
        <p:spPr bwMode="auto">
          <a:xfrm>
            <a:off x="5384800" y="5973763"/>
            <a:ext cx="20828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kumimoji="0" lang="zh-CN" altLang="en-US" sz="1800" b="1" u="none">
                <a:solidFill>
                  <a:srgbClr val="FF3300"/>
                </a:solidFill>
                <a:ea typeface="宋体" pitchFamily="2" charset="-122"/>
              </a:rPr>
              <a:t>自相关函数的性质 </a:t>
            </a:r>
          </a:p>
        </p:txBody>
      </p:sp>
      <p:sp>
        <p:nvSpPr>
          <p:cNvPr id="513057" name="Line 33"/>
          <p:cNvSpPr>
            <a:spLocks noChangeShapeType="1"/>
          </p:cNvSpPr>
          <p:nvPr/>
        </p:nvSpPr>
        <p:spPr bwMode="auto">
          <a:xfrm flipV="1">
            <a:off x="7486650" y="4184650"/>
            <a:ext cx="0" cy="6477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3058" name="Line 34"/>
          <p:cNvSpPr>
            <a:spLocks noChangeShapeType="1"/>
          </p:cNvSpPr>
          <p:nvPr/>
        </p:nvSpPr>
        <p:spPr bwMode="auto">
          <a:xfrm flipV="1">
            <a:off x="5559425" y="4781550"/>
            <a:ext cx="0" cy="6477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3064" name="Text Box 40"/>
          <p:cNvSpPr txBox="1">
            <a:spLocks noChangeArrowheads="1"/>
          </p:cNvSpPr>
          <p:nvPr/>
        </p:nvSpPr>
        <p:spPr bwMode="auto">
          <a:xfrm>
            <a:off x="3502025" y="3060700"/>
            <a:ext cx="5387975" cy="457200"/>
          </a:xfrm>
          <a:prstGeom prst="rect">
            <a:avLst/>
          </a:prstGeom>
          <a:solidFill>
            <a:srgbClr val="FFCC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i="1" u="none">
                <a:solidFill>
                  <a:srgbClr val="336600"/>
                </a:solidFill>
              </a:rPr>
              <a:t>x</a:t>
            </a:r>
            <a:r>
              <a:rPr lang="en-US" altLang="zh-CN" sz="2400" b="1" u="none">
                <a:solidFill>
                  <a:srgbClr val="336600"/>
                </a:solidFill>
                <a:latin typeface="华文新魏" pitchFamily="2" charset="-122"/>
                <a:ea typeface="华文新魏" pitchFamily="2" charset="-122"/>
              </a:rPr>
              <a:t>(t)</a:t>
            </a:r>
            <a:r>
              <a:rPr lang="zh-CN" altLang="en-US" sz="2400" b="1" u="none">
                <a:solidFill>
                  <a:srgbClr val="336600"/>
                </a:solidFill>
                <a:latin typeface="华文新魏" pitchFamily="2" charset="-122"/>
                <a:ea typeface="华文新魏" pitchFamily="2" charset="-122"/>
              </a:rPr>
              <a:t>在同一时刻的记录样本</a:t>
            </a:r>
            <a:r>
              <a:rPr lang="zh-CN" altLang="en-US" sz="2400" b="1" u="none">
                <a:solidFill>
                  <a:srgbClr val="FF3300"/>
                </a:solidFill>
                <a:latin typeface="华文新魏" pitchFamily="2" charset="-122"/>
                <a:ea typeface="华文新魏" pitchFamily="2" charset="-122"/>
              </a:rPr>
              <a:t>完全成线性</a:t>
            </a:r>
          </a:p>
        </p:txBody>
      </p:sp>
      <p:sp>
        <p:nvSpPr>
          <p:cNvPr id="25" name="Rectangle 4"/>
          <p:cNvSpPr>
            <a:spLocks noChangeArrowheads="1"/>
          </p:cNvSpPr>
          <p:nvPr/>
        </p:nvSpPr>
        <p:spPr bwMode="auto">
          <a:xfrm>
            <a:off x="379413" y="300831"/>
            <a:ext cx="3738562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 b="1" u="none" dirty="0" smtClean="0">
                <a:solidFill>
                  <a:srgbClr val="800000"/>
                </a:solidFill>
                <a:ea typeface="宋体" pitchFamily="2" charset="-122"/>
              </a:rPr>
              <a:t>5.3 </a:t>
            </a:r>
            <a:r>
              <a:rPr lang="zh-CN" altLang="en-US" sz="3200" b="1" u="none" dirty="0">
                <a:solidFill>
                  <a:srgbClr val="800000"/>
                </a:solidFill>
                <a:ea typeface="宋体" pitchFamily="2" charset="-122"/>
              </a:rPr>
              <a:t>相关分析及应用</a:t>
            </a:r>
            <a:r>
              <a:rPr lang="zh-CN" altLang="en-US" b="1" u="none" dirty="0">
                <a:solidFill>
                  <a:srgbClr val="000066"/>
                </a:solidFill>
                <a:ea typeface="宋体" pitchFamily="2" charset="-122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130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130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130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130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130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130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130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130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5130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5130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051" grpId="0"/>
      <p:bldP spid="513054" grpId="0"/>
      <p:bldP spid="513055" grpId="0"/>
      <p:bldP spid="513057" grpId="0" animBg="1"/>
      <p:bldP spid="513058" grpId="0" animBg="1"/>
      <p:bldP spid="513064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4084" name="Picture 36" descr="图片1"/>
          <p:cNvPicPr>
            <a:picLocks noGrp="1" noChangeAspect="1" noChangeArrowheads="1"/>
          </p:cNvPicPr>
          <p:nvPr>
            <p:ph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182938" y="3487738"/>
            <a:ext cx="5291137" cy="2498725"/>
          </a:xfrm>
          <a:ln/>
        </p:spPr>
      </p:pic>
      <p:sp>
        <p:nvSpPr>
          <p:cNvPr id="514070" name="Rectangle 22"/>
          <p:cNvSpPr>
            <a:spLocks noChangeArrowheads="1"/>
          </p:cNvSpPr>
          <p:nvPr/>
        </p:nvSpPr>
        <p:spPr bwMode="auto">
          <a:xfrm>
            <a:off x="400050" y="754063"/>
            <a:ext cx="8194675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kumimoji="0" lang="en-US" altLang="zh-CN" sz="2400" b="1" u="none">
                <a:solidFill>
                  <a:srgbClr val="FF3300"/>
                </a:solidFill>
              </a:rPr>
              <a:t>4</a:t>
            </a:r>
            <a:r>
              <a:rPr kumimoji="0" lang="zh-CN" altLang="en-US" sz="2400" b="1" u="none">
                <a:solidFill>
                  <a:srgbClr val="FF3300"/>
                </a:solidFill>
              </a:rPr>
              <a:t>）</a:t>
            </a:r>
            <a:r>
              <a:rPr kumimoji="0" lang="zh-CN" altLang="en-US" sz="2400" b="1" u="none">
                <a:solidFill>
                  <a:schemeClr val="tx1"/>
                </a:solidFill>
              </a:rPr>
              <a:t> 当</a:t>
            </a:r>
            <a:r>
              <a:rPr kumimoji="0" lang="en-US" altLang="zh-CN" sz="2400" b="1" u="none">
                <a:solidFill>
                  <a:schemeClr val="tx1"/>
                </a:solidFill>
              </a:rPr>
              <a:t>τ→∞</a:t>
            </a:r>
            <a:r>
              <a:rPr kumimoji="0" lang="zh-CN" altLang="en-US" sz="2400" b="1" u="none">
                <a:solidFill>
                  <a:schemeClr val="tx1"/>
                </a:solidFill>
              </a:rPr>
              <a:t>时，</a:t>
            </a:r>
            <a:r>
              <a:rPr kumimoji="0" lang="en-US" altLang="zh-CN" sz="2400" b="1" i="1" u="none">
                <a:solidFill>
                  <a:schemeClr val="tx1"/>
                </a:solidFill>
              </a:rPr>
              <a:t>x</a:t>
            </a:r>
            <a:r>
              <a:rPr kumimoji="0" lang="en-US" altLang="zh-CN" sz="2400" b="1" u="none">
                <a:solidFill>
                  <a:schemeClr val="tx1"/>
                </a:solidFill>
              </a:rPr>
              <a:t>(</a:t>
            </a:r>
            <a:r>
              <a:rPr kumimoji="0" lang="en-US" altLang="zh-CN" sz="2400" b="1" i="1" u="none">
                <a:solidFill>
                  <a:schemeClr val="tx1"/>
                </a:solidFill>
              </a:rPr>
              <a:t>t</a:t>
            </a:r>
            <a:r>
              <a:rPr kumimoji="0" lang="en-US" altLang="zh-CN" sz="2400" b="1" u="none">
                <a:solidFill>
                  <a:schemeClr val="tx1"/>
                </a:solidFill>
              </a:rPr>
              <a:t>)</a:t>
            </a:r>
            <a:r>
              <a:rPr kumimoji="0" lang="zh-CN" altLang="en-US" sz="2400" b="1" u="none">
                <a:solidFill>
                  <a:schemeClr val="tx1"/>
                </a:solidFill>
              </a:rPr>
              <a:t>和</a:t>
            </a:r>
            <a:r>
              <a:rPr kumimoji="0" lang="en-US" altLang="zh-CN" sz="2400" b="1" i="1" u="none">
                <a:solidFill>
                  <a:schemeClr val="tx1"/>
                </a:solidFill>
              </a:rPr>
              <a:t>x</a:t>
            </a:r>
            <a:r>
              <a:rPr kumimoji="0" lang="en-US" altLang="zh-CN" sz="2400" b="1" u="none">
                <a:solidFill>
                  <a:schemeClr val="tx1"/>
                </a:solidFill>
              </a:rPr>
              <a:t>(</a:t>
            </a:r>
            <a:r>
              <a:rPr kumimoji="0" lang="en-US" altLang="zh-CN" sz="2400" b="1" i="1" u="none">
                <a:solidFill>
                  <a:schemeClr val="tx1"/>
                </a:solidFill>
              </a:rPr>
              <a:t>t+</a:t>
            </a:r>
            <a:r>
              <a:rPr kumimoji="0" lang="en-US" altLang="zh-CN" sz="2400" b="1" u="none">
                <a:solidFill>
                  <a:schemeClr val="tx1"/>
                </a:solidFill>
              </a:rPr>
              <a:t>τ)</a:t>
            </a:r>
            <a:r>
              <a:rPr kumimoji="0" lang="zh-CN" altLang="en-US" sz="2400" b="1" u="none">
                <a:solidFill>
                  <a:schemeClr val="tx1"/>
                </a:solidFill>
              </a:rPr>
              <a:t>之间不存在内在联系，彼此无关 </a:t>
            </a:r>
          </a:p>
        </p:txBody>
      </p:sp>
      <p:graphicFrame>
        <p:nvGraphicFramePr>
          <p:cNvPr id="514071" name="Object 23"/>
          <p:cNvGraphicFramePr>
            <a:graphicFrameLocks noChangeAspect="1"/>
          </p:cNvGraphicFramePr>
          <p:nvPr/>
        </p:nvGraphicFramePr>
        <p:xfrm>
          <a:off x="1298575" y="2111375"/>
          <a:ext cx="2806700" cy="641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288" name="公式" r:id="rId4" imgW="1002865" imgH="228501" progId="Equation.3">
                  <p:embed/>
                </p:oleObj>
              </mc:Choice>
              <mc:Fallback>
                <p:oleObj name="公式" r:id="rId4" imgW="1002865" imgH="228501" progId="Equation.3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8575" y="2111375"/>
                        <a:ext cx="2806700" cy="6413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4072" name="Object 24"/>
          <p:cNvGraphicFramePr>
            <a:graphicFrameLocks noChangeAspect="1"/>
          </p:cNvGraphicFramePr>
          <p:nvPr/>
        </p:nvGraphicFramePr>
        <p:xfrm>
          <a:off x="1298575" y="1392238"/>
          <a:ext cx="3024188" cy="668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289" name="公式" r:id="rId6" imgW="1079032" imgH="241195" progId="Equation.3">
                  <p:embed/>
                </p:oleObj>
              </mc:Choice>
              <mc:Fallback>
                <p:oleObj name="公式" r:id="rId6" imgW="1079032" imgH="241195" progId="Equation.3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8575" y="1392238"/>
                        <a:ext cx="3024188" cy="6683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4073" name="Object 25"/>
          <p:cNvGraphicFramePr>
            <a:graphicFrameLocks noChangeAspect="1"/>
          </p:cNvGraphicFramePr>
          <p:nvPr/>
        </p:nvGraphicFramePr>
        <p:xfrm>
          <a:off x="5546725" y="2286000"/>
          <a:ext cx="1944688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290" name="公式" r:id="rId8" imgW="1231900" imgH="457200" progId="Equation.3">
                  <p:embed/>
                </p:oleObj>
              </mc:Choice>
              <mc:Fallback>
                <p:oleObj name="公式" r:id="rId8" imgW="1231900" imgH="457200" progId="Equation.3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46725" y="2286000"/>
                        <a:ext cx="1944688" cy="723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4074" name="Rectangle 26"/>
          <p:cNvSpPr>
            <a:spLocks noChangeArrowheads="1"/>
          </p:cNvSpPr>
          <p:nvPr/>
        </p:nvSpPr>
        <p:spPr bwMode="auto">
          <a:xfrm>
            <a:off x="8143875" y="1595438"/>
            <a:ext cx="6413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0" lang="en-US" altLang="zh-CN" sz="1800" b="1" u="none" dirty="0" smtClean="0">
                <a:solidFill>
                  <a:srgbClr val="FF3300"/>
                </a:solidFill>
                <a:ea typeface="宋体" pitchFamily="2" charset="-122"/>
              </a:rPr>
              <a:t>(</a:t>
            </a:r>
            <a:r>
              <a:rPr kumimoji="0" lang="en-US" altLang="zh-CN" sz="1800" b="1" u="none" dirty="0" smtClean="0">
                <a:solidFill>
                  <a:srgbClr val="FF3300"/>
                </a:solidFill>
              </a:rPr>
              <a:t>5-</a:t>
            </a:r>
            <a:r>
              <a:rPr kumimoji="0" lang="en-US" altLang="zh-CN" sz="1800" b="1" u="none" dirty="0" smtClean="0">
                <a:solidFill>
                  <a:srgbClr val="FF3300"/>
                </a:solidFill>
                <a:ea typeface="宋体" pitchFamily="2" charset="-122"/>
              </a:rPr>
              <a:t>4</a:t>
            </a:r>
            <a:r>
              <a:rPr kumimoji="0" lang="en-US" altLang="zh-CN" sz="1800" b="1" u="none" dirty="0">
                <a:solidFill>
                  <a:srgbClr val="FF3300"/>
                </a:solidFill>
                <a:ea typeface="宋体" pitchFamily="2" charset="-122"/>
              </a:rPr>
              <a:t>)</a:t>
            </a:r>
          </a:p>
        </p:txBody>
      </p:sp>
      <p:graphicFrame>
        <p:nvGraphicFramePr>
          <p:cNvPr id="514075" name="Object 27"/>
          <p:cNvGraphicFramePr>
            <a:graphicFrameLocks noChangeAspect="1"/>
          </p:cNvGraphicFramePr>
          <p:nvPr/>
        </p:nvGraphicFramePr>
        <p:xfrm>
          <a:off x="5495925" y="1493838"/>
          <a:ext cx="2546350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291" name="公式" r:id="rId10" imgW="1739880" imgH="342720" progId="Equation.3">
                  <p:embed/>
                </p:oleObj>
              </mc:Choice>
              <mc:Fallback>
                <p:oleObj name="公式" r:id="rId10" imgW="1739880" imgH="342720" progId="Equation.3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95925" y="1493838"/>
                        <a:ext cx="2546350" cy="5016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4076" name="Rectangle 28"/>
          <p:cNvSpPr>
            <a:spLocks noChangeArrowheads="1"/>
          </p:cNvSpPr>
          <p:nvPr/>
        </p:nvSpPr>
        <p:spPr bwMode="auto">
          <a:xfrm>
            <a:off x="8143875" y="2400300"/>
            <a:ext cx="6413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0" lang="en-US" altLang="zh-CN" sz="1800" b="1" u="none" dirty="0" smtClean="0">
                <a:solidFill>
                  <a:srgbClr val="FF3300"/>
                </a:solidFill>
                <a:ea typeface="宋体" pitchFamily="2" charset="-122"/>
              </a:rPr>
              <a:t>(</a:t>
            </a:r>
            <a:r>
              <a:rPr kumimoji="0" lang="en-US" altLang="zh-CN" sz="1800" b="1" u="none" dirty="0" smtClean="0">
                <a:solidFill>
                  <a:srgbClr val="FF3300"/>
                </a:solidFill>
              </a:rPr>
              <a:t>5-</a:t>
            </a:r>
            <a:r>
              <a:rPr kumimoji="0" lang="en-US" altLang="zh-CN" sz="1800" b="1" u="none" dirty="0" smtClean="0">
                <a:solidFill>
                  <a:srgbClr val="FF3300"/>
                </a:solidFill>
                <a:ea typeface="宋体" pitchFamily="2" charset="-122"/>
              </a:rPr>
              <a:t>5</a:t>
            </a:r>
            <a:r>
              <a:rPr kumimoji="0" lang="en-US" altLang="zh-CN" sz="1800" b="1" u="none" dirty="0">
                <a:solidFill>
                  <a:srgbClr val="FF3300"/>
                </a:solidFill>
                <a:ea typeface="宋体" pitchFamily="2" charset="-122"/>
              </a:rPr>
              <a:t>)</a:t>
            </a:r>
          </a:p>
        </p:txBody>
      </p:sp>
      <p:sp>
        <p:nvSpPr>
          <p:cNvPr id="514077" name="Rectangle 29"/>
          <p:cNvSpPr>
            <a:spLocks noChangeArrowheads="1"/>
          </p:cNvSpPr>
          <p:nvPr/>
        </p:nvSpPr>
        <p:spPr bwMode="auto">
          <a:xfrm>
            <a:off x="476250" y="2857500"/>
            <a:ext cx="44116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kumimoji="0" lang="zh-CN" altLang="en-US" sz="2400" b="1" u="none">
                <a:solidFill>
                  <a:schemeClr val="tx1"/>
                </a:solidFill>
              </a:rPr>
              <a:t>如果均值</a:t>
            </a:r>
            <a:r>
              <a:rPr kumimoji="0" lang="en-US" altLang="zh-CN" sz="2400" b="1" i="1" u="none">
                <a:solidFill>
                  <a:schemeClr val="tx1"/>
                </a:solidFill>
              </a:rPr>
              <a:t>μ</a:t>
            </a:r>
            <a:r>
              <a:rPr kumimoji="0" lang="en-US" altLang="zh-CN" sz="2400" b="1" i="1" u="none" baseline="-25000">
                <a:solidFill>
                  <a:schemeClr val="tx1"/>
                </a:solidFill>
              </a:rPr>
              <a:t>x</a:t>
            </a:r>
            <a:r>
              <a:rPr kumimoji="0" lang="en-US" altLang="zh-CN" sz="2400" b="1" u="none">
                <a:solidFill>
                  <a:schemeClr val="tx1"/>
                </a:solidFill>
              </a:rPr>
              <a:t>=0</a:t>
            </a:r>
            <a:r>
              <a:rPr kumimoji="0" lang="zh-CN" altLang="en-US" sz="2400" b="1" u="none">
                <a:solidFill>
                  <a:schemeClr val="tx1"/>
                </a:solidFill>
              </a:rPr>
              <a:t>，则</a:t>
            </a:r>
            <a:r>
              <a:rPr kumimoji="0" lang="en-US" altLang="zh-CN" sz="2400" b="1" i="1" u="none">
                <a:solidFill>
                  <a:schemeClr val="tx1"/>
                </a:solidFill>
              </a:rPr>
              <a:t>R</a:t>
            </a:r>
            <a:r>
              <a:rPr kumimoji="0" lang="en-US" altLang="zh-CN" sz="2400" b="1" i="1" u="none" baseline="-25000">
                <a:solidFill>
                  <a:schemeClr val="tx1"/>
                </a:solidFill>
              </a:rPr>
              <a:t>x</a:t>
            </a:r>
            <a:r>
              <a:rPr kumimoji="0" lang="en-US" altLang="zh-CN" sz="2400" b="1" u="none">
                <a:solidFill>
                  <a:schemeClr val="tx1"/>
                </a:solidFill>
              </a:rPr>
              <a:t>(τ) →0</a:t>
            </a:r>
            <a:r>
              <a:rPr kumimoji="0" lang="zh-CN" altLang="en-US" sz="2400" b="1" u="none">
                <a:solidFill>
                  <a:schemeClr val="tx1"/>
                </a:solidFill>
              </a:rPr>
              <a:t>。</a:t>
            </a:r>
          </a:p>
        </p:txBody>
      </p:sp>
      <p:sp>
        <p:nvSpPr>
          <p:cNvPr id="514078" name="Rectangle 30"/>
          <p:cNvSpPr>
            <a:spLocks noChangeArrowheads="1"/>
          </p:cNvSpPr>
          <p:nvPr/>
        </p:nvSpPr>
        <p:spPr bwMode="auto">
          <a:xfrm>
            <a:off x="4716463" y="1624013"/>
            <a:ext cx="7556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0" lang="en-US" altLang="zh-CN" sz="1800" b="1" u="none" dirty="0" smtClean="0">
                <a:solidFill>
                  <a:srgbClr val="FF3300"/>
                </a:solidFill>
                <a:ea typeface="宋体" pitchFamily="2" charset="-122"/>
              </a:rPr>
              <a:t>(</a:t>
            </a:r>
            <a:r>
              <a:rPr kumimoji="0" lang="en-US" altLang="zh-CN" sz="1800" b="1" u="none" dirty="0" smtClean="0">
                <a:solidFill>
                  <a:srgbClr val="FF3300"/>
                </a:solidFill>
              </a:rPr>
              <a:t>5-</a:t>
            </a:r>
            <a:r>
              <a:rPr kumimoji="0" lang="en-US" altLang="zh-CN" sz="1800" b="1" u="none" dirty="0" smtClean="0">
                <a:solidFill>
                  <a:srgbClr val="FF3300"/>
                </a:solidFill>
                <a:ea typeface="宋体" pitchFamily="2" charset="-122"/>
              </a:rPr>
              <a:t>11</a:t>
            </a:r>
            <a:r>
              <a:rPr kumimoji="0" lang="en-US" altLang="zh-CN" sz="1800" b="1" u="none" dirty="0">
                <a:solidFill>
                  <a:srgbClr val="FF3300"/>
                </a:solidFill>
                <a:ea typeface="宋体" pitchFamily="2" charset="-122"/>
              </a:rPr>
              <a:t>)</a:t>
            </a:r>
          </a:p>
        </p:txBody>
      </p:sp>
      <p:sp>
        <p:nvSpPr>
          <p:cNvPr id="514079" name="Rectangle 31"/>
          <p:cNvSpPr>
            <a:spLocks noChangeArrowheads="1"/>
          </p:cNvSpPr>
          <p:nvPr/>
        </p:nvSpPr>
        <p:spPr bwMode="auto">
          <a:xfrm>
            <a:off x="4703763" y="2220913"/>
            <a:ext cx="7556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0" lang="en-US" altLang="zh-CN" sz="1800" b="1" u="none" dirty="0" smtClean="0">
                <a:solidFill>
                  <a:srgbClr val="FF3300"/>
                </a:solidFill>
                <a:ea typeface="宋体" pitchFamily="2" charset="-122"/>
              </a:rPr>
              <a:t>(</a:t>
            </a:r>
            <a:r>
              <a:rPr kumimoji="0" lang="en-US" altLang="zh-CN" sz="1800" b="1" u="none" dirty="0" smtClean="0">
                <a:solidFill>
                  <a:srgbClr val="FF3300"/>
                </a:solidFill>
              </a:rPr>
              <a:t>5-</a:t>
            </a:r>
            <a:r>
              <a:rPr kumimoji="0" lang="en-US" altLang="zh-CN" sz="1800" b="1" u="none" dirty="0" smtClean="0">
                <a:solidFill>
                  <a:srgbClr val="FF3300"/>
                </a:solidFill>
                <a:ea typeface="宋体" pitchFamily="2" charset="-122"/>
              </a:rPr>
              <a:t>12</a:t>
            </a:r>
            <a:r>
              <a:rPr kumimoji="0" lang="en-US" altLang="zh-CN" sz="1800" b="1" u="none" dirty="0">
                <a:solidFill>
                  <a:srgbClr val="FF3300"/>
                </a:solidFill>
                <a:ea typeface="宋体" pitchFamily="2" charset="-122"/>
              </a:rPr>
              <a:t>)</a:t>
            </a:r>
          </a:p>
        </p:txBody>
      </p:sp>
      <p:sp>
        <p:nvSpPr>
          <p:cNvPr id="514081" name="Rectangle 33"/>
          <p:cNvSpPr>
            <a:spLocks noChangeArrowheads="1"/>
          </p:cNvSpPr>
          <p:nvPr/>
        </p:nvSpPr>
        <p:spPr bwMode="auto">
          <a:xfrm>
            <a:off x="5219700" y="6027738"/>
            <a:ext cx="20828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kumimoji="0" lang="zh-CN" altLang="en-US" sz="1800" b="1" u="none">
                <a:solidFill>
                  <a:srgbClr val="FF3300"/>
                </a:solidFill>
                <a:ea typeface="宋体" pitchFamily="2" charset="-122"/>
              </a:rPr>
              <a:t>自相关函数的性质 </a:t>
            </a:r>
          </a:p>
        </p:txBody>
      </p:sp>
      <p:sp>
        <p:nvSpPr>
          <p:cNvPr id="514082" name="Line 34"/>
          <p:cNvSpPr>
            <a:spLocks noChangeShapeType="1"/>
          </p:cNvSpPr>
          <p:nvPr/>
        </p:nvSpPr>
        <p:spPr bwMode="auto">
          <a:xfrm flipV="1">
            <a:off x="7321550" y="4149725"/>
            <a:ext cx="0" cy="6477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4083" name="Line 35"/>
          <p:cNvSpPr>
            <a:spLocks noChangeShapeType="1"/>
          </p:cNvSpPr>
          <p:nvPr/>
        </p:nvSpPr>
        <p:spPr bwMode="auto">
          <a:xfrm flipV="1">
            <a:off x="5394325" y="4746625"/>
            <a:ext cx="0" cy="6477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4086" name="Text Box 38"/>
          <p:cNvSpPr txBox="1">
            <a:spLocks noChangeArrowheads="1"/>
          </p:cNvSpPr>
          <p:nvPr/>
        </p:nvSpPr>
        <p:spPr bwMode="auto">
          <a:xfrm>
            <a:off x="758825" y="3455988"/>
            <a:ext cx="3889375" cy="457200"/>
          </a:xfrm>
          <a:prstGeom prst="rect">
            <a:avLst/>
          </a:prstGeom>
          <a:solidFill>
            <a:srgbClr val="FFCC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i="1" u="none">
                <a:solidFill>
                  <a:srgbClr val="336600"/>
                </a:solidFill>
              </a:rPr>
              <a:t>x</a:t>
            </a:r>
            <a:r>
              <a:rPr lang="en-US" altLang="zh-CN" sz="2400" b="1" u="none">
                <a:solidFill>
                  <a:srgbClr val="336600"/>
                </a:solidFill>
              </a:rPr>
              <a:t>(</a:t>
            </a:r>
            <a:r>
              <a:rPr lang="en-US" altLang="zh-CN" sz="2400" b="1" i="1" u="none">
                <a:solidFill>
                  <a:srgbClr val="336600"/>
                </a:solidFill>
              </a:rPr>
              <a:t>t</a:t>
            </a:r>
            <a:r>
              <a:rPr lang="en-US" altLang="zh-CN" sz="2400" b="1" u="none">
                <a:solidFill>
                  <a:srgbClr val="336600"/>
                </a:solidFill>
              </a:rPr>
              <a:t>)</a:t>
            </a:r>
            <a:r>
              <a:rPr lang="zh-CN" altLang="en-US" sz="2400" b="1" u="none">
                <a:solidFill>
                  <a:srgbClr val="336600"/>
                </a:solidFill>
              </a:rPr>
              <a:t>与</a:t>
            </a:r>
            <a:r>
              <a:rPr lang="en-US" altLang="zh-CN" sz="2400" b="1" i="1" u="none">
                <a:solidFill>
                  <a:srgbClr val="336600"/>
                </a:solidFill>
              </a:rPr>
              <a:t>x</a:t>
            </a:r>
            <a:r>
              <a:rPr lang="en-US" altLang="zh-CN" sz="2400" b="1" u="none">
                <a:solidFill>
                  <a:srgbClr val="336600"/>
                </a:solidFill>
              </a:rPr>
              <a:t>(</a:t>
            </a:r>
            <a:r>
              <a:rPr lang="en-US" altLang="zh-CN" sz="2400" b="1" i="1" u="none">
                <a:solidFill>
                  <a:srgbClr val="336600"/>
                </a:solidFill>
              </a:rPr>
              <a:t>t</a:t>
            </a:r>
            <a:r>
              <a:rPr lang="zh-CN" altLang="en-US" sz="2400" b="1" u="none">
                <a:solidFill>
                  <a:srgbClr val="336600"/>
                </a:solidFill>
              </a:rPr>
              <a:t>＋∞）彼此无关</a:t>
            </a:r>
          </a:p>
        </p:txBody>
      </p:sp>
      <p:sp>
        <p:nvSpPr>
          <p:cNvPr id="17" name="Rectangle 4"/>
          <p:cNvSpPr>
            <a:spLocks noChangeArrowheads="1"/>
          </p:cNvSpPr>
          <p:nvPr/>
        </p:nvSpPr>
        <p:spPr bwMode="auto">
          <a:xfrm>
            <a:off x="379413" y="300831"/>
            <a:ext cx="3738562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 b="1" u="none" dirty="0" smtClean="0">
                <a:solidFill>
                  <a:srgbClr val="800000"/>
                </a:solidFill>
                <a:ea typeface="宋体" pitchFamily="2" charset="-122"/>
              </a:rPr>
              <a:t>5.3 </a:t>
            </a:r>
            <a:r>
              <a:rPr lang="zh-CN" altLang="en-US" sz="3200" b="1" u="none" dirty="0">
                <a:solidFill>
                  <a:srgbClr val="800000"/>
                </a:solidFill>
                <a:ea typeface="宋体" pitchFamily="2" charset="-122"/>
              </a:rPr>
              <a:t>相关分析及应用</a:t>
            </a:r>
            <a:r>
              <a:rPr lang="zh-CN" altLang="en-US" b="1" u="none" dirty="0">
                <a:solidFill>
                  <a:srgbClr val="000066"/>
                </a:solidFill>
                <a:ea typeface="宋体" pitchFamily="2" charset="-122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140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140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140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5140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4077" grpId="0"/>
      <p:bldP spid="514078" grpId="0"/>
      <p:bldP spid="514079" grpId="0"/>
      <p:bldP spid="514086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04" name="Rectangle 4"/>
          <p:cNvSpPr>
            <a:spLocks noChangeArrowheads="1"/>
          </p:cNvSpPr>
          <p:nvPr/>
        </p:nvSpPr>
        <p:spPr bwMode="auto">
          <a:xfrm>
            <a:off x="539750" y="1128713"/>
            <a:ext cx="846455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>
              <a:buClr>
                <a:schemeClr val="hlink"/>
              </a:buClr>
              <a:buFont typeface="Wingdings" pitchFamily="2" charset="2"/>
              <a:buNone/>
            </a:pPr>
            <a:r>
              <a:rPr kumimoji="0" lang="en-US" altLang="zh-CN" sz="2400" b="1" u="none">
                <a:solidFill>
                  <a:srgbClr val="FF3300"/>
                </a:solidFill>
              </a:rPr>
              <a:t>5</a:t>
            </a:r>
            <a:r>
              <a:rPr kumimoji="0" lang="zh-CN" altLang="en-US" sz="2400" b="1" u="none">
                <a:solidFill>
                  <a:srgbClr val="FF3300"/>
                </a:solidFill>
              </a:rPr>
              <a:t>）</a:t>
            </a:r>
            <a:r>
              <a:rPr kumimoji="0" lang="zh-CN" altLang="en-US" sz="2400" b="1" u="none">
                <a:solidFill>
                  <a:schemeClr val="tx1"/>
                </a:solidFill>
              </a:rPr>
              <a:t>当信号</a:t>
            </a:r>
            <a:r>
              <a:rPr kumimoji="0" lang="en-US" altLang="zh-CN" sz="2400" b="1" i="1" u="none">
                <a:solidFill>
                  <a:schemeClr val="tx1"/>
                </a:solidFill>
              </a:rPr>
              <a:t>x</a:t>
            </a:r>
            <a:r>
              <a:rPr kumimoji="0" lang="en-US" altLang="zh-CN" sz="2400" b="1" u="none">
                <a:solidFill>
                  <a:schemeClr val="tx1"/>
                </a:solidFill>
              </a:rPr>
              <a:t>(</a:t>
            </a:r>
            <a:r>
              <a:rPr kumimoji="0" lang="en-US" altLang="zh-CN" sz="2400" b="1" i="1" u="none">
                <a:solidFill>
                  <a:schemeClr val="tx1"/>
                </a:solidFill>
              </a:rPr>
              <a:t>t</a:t>
            </a:r>
            <a:r>
              <a:rPr kumimoji="0" lang="en-US" altLang="zh-CN" sz="2400" b="1" u="none">
                <a:solidFill>
                  <a:schemeClr val="tx1"/>
                </a:solidFill>
              </a:rPr>
              <a:t>)</a:t>
            </a:r>
            <a:r>
              <a:rPr kumimoji="0" lang="zh-CN" altLang="en-US" sz="2400" b="1" u="none">
                <a:solidFill>
                  <a:schemeClr val="tx1"/>
                </a:solidFill>
              </a:rPr>
              <a:t>为周期函数时，自相关函数</a:t>
            </a:r>
            <a:r>
              <a:rPr kumimoji="0" lang="en-US" altLang="zh-CN" sz="2400" b="1" i="1" u="none">
                <a:solidFill>
                  <a:schemeClr val="tx1"/>
                </a:solidFill>
              </a:rPr>
              <a:t>R</a:t>
            </a:r>
            <a:r>
              <a:rPr kumimoji="0" lang="en-US" altLang="zh-CN" sz="2400" b="1" i="1" u="none" baseline="-25000">
                <a:solidFill>
                  <a:schemeClr val="tx1"/>
                </a:solidFill>
              </a:rPr>
              <a:t>x</a:t>
            </a:r>
            <a:r>
              <a:rPr kumimoji="0" lang="en-US" altLang="zh-CN" sz="2400" b="1" u="none">
                <a:solidFill>
                  <a:schemeClr val="tx1"/>
                </a:solidFill>
              </a:rPr>
              <a:t>(τ)</a:t>
            </a:r>
            <a:r>
              <a:rPr kumimoji="0" lang="zh-CN" altLang="en-US" sz="2400" b="1" u="none">
                <a:solidFill>
                  <a:srgbClr val="FF3300"/>
                </a:solidFill>
              </a:rPr>
              <a:t>也是周期的</a:t>
            </a:r>
            <a:r>
              <a:rPr kumimoji="0" lang="zh-CN" altLang="en-US" sz="2400" b="1" u="none">
                <a:solidFill>
                  <a:schemeClr val="tx1"/>
                </a:solidFill>
              </a:rPr>
              <a:t>，且</a:t>
            </a:r>
            <a:r>
              <a:rPr kumimoji="0" lang="zh-CN" altLang="en-US" sz="2400" b="1" u="none">
                <a:solidFill>
                  <a:srgbClr val="FF3300"/>
                </a:solidFill>
              </a:rPr>
              <a:t>周期相同</a:t>
            </a:r>
            <a:r>
              <a:rPr kumimoji="0" lang="zh-CN" altLang="en-US" sz="2400" b="1" u="none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512005" name="Rectangle 5"/>
          <p:cNvSpPr>
            <a:spLocks noChangeArrowheads="1"/>
          </p:cNvSpPr>
          <p:nvPr/>
        </p:nvSpPr>
        <p:spPr bwMode="auto">
          <a:xfrm>
            <a:off x="687388" y="2306638"/>
            <a:ext cx="65309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kumimoji="0" lang="zh-CN" altLang="en-US" sz="2400" b="1" u="none">
                <a:solidFill>
                  <a:schemeClr val="tx1"/>
                </a:solidFill>
              </a:rPr>
              <a:t>若周期函数为</a:t>
            </a:r>
            <a:r>
              <a:rPr kumimoji="0" lang="en-US" altLang="zh-CN" sz="2400" b="1" i="1" u="none">
                <a:solidFill>
                  <a:schemeClr val="tx1"/>
                </a:solidFill>
              </a:rPr>
              <a:t>x</a:t>
            </a:r>
            <a:r>
              <a:rPr kumimoji="0" lang="en-US" altLang="zh-CN" sz="2400" b="1" u="none">
                <a:solidFill>
                  <a:schemeClr val="tx1"/>
                </a:solidFill>
              </a:rPr>
              <a:t>(</a:t>
            </a:r>
            <a:r>
              <a:rPr kumimoji="0" lang="en-US" altLang="zh-CN" sz="2400" b="1" i="1" u="none">
                <a:solidFill>
                  <a:schemeClr val="tx1"/>
                </a:solidFill>
              </a:rPr>
              <a:t>t</a:t>
            </a:r>
            <a:r>
              <a:rPr kumimoji="0" lang="en-US" altLang="zh-CN" sz="2400" b="1" u="none">
                <a:solidFill>
                  <a:schemeClr val="tx1"/>
                </a:solidFill>
              </a:rPr>
              <a:t>)=</a:t>
            </a:r>
            <a:r>
              <a:rPr kumimoji="0" lang="en-US" altLang="zh-CN" sz="2400" b="1" i="1" u="none">
                <a:solidFill>
                  <a:schemeClr val="tx1"/>
                </a:solidFill>
              </a:rPr>
              <a:t> x</a:t>
            </a:r>
            <a:r>
              <a:rPr kumimoji="0" lang="en-US" altLang="zh-CN" sz="2400" b="1" u="none">
                <a:solidFill>
                  <a:schemeClr val="tx1"/>
                </a:solidFill>
              </a:rPr>
              <a:t>(</a:t>
            </a:r>
            <a:r>
              <a:rPr kumimoji="0" lang="en-US" altLang="zh-CN" sz="2400" b="1" i="1" u="none">
                <a:solidFill>
                  <a:schemeClr val="tx1"/>
                </a:solidFill>
              </a:rPr>
              <a:t>t</a:t>
            </a:r>
            <a:r>
              <a:rPr kumimoji="0" lang="en-US" altLang="zh-CN" sz="2400" b="1" u="none">
                <a:solidFill>
                  <a:schemeClr val="tx1"/>
                </a:solidFill>
              </a:rPr>
              <a:t>+nT)</a:t>
            </a:r>
            <a:r>
              <a:rPr kumimoji="0" lang="zh-CN" altLang="en-US" sz="2400" b="1" u="none">
                <a:solidFill>
                  <a:schemeClr val="tx1"/>
                </a:solidFill>
              </a:rPr>
              <a:t>，则其自相关函数为 </a:t>
            </a:r>
          </a:p>
        </p:txBody>
      </p:sp>
      <p:sp>
        <p:nvSpPr>
          <p:cNvPr id="512006" name="Rectangle 6"/>
          <p:cNvSpPr>
            <a:spLocks noChangeArrowheads="1"/>
          </p:cNvSpPr>
          <p:nvPr/>
        </p:nvSpPr>
        <p:spPr bwMode="auto">
          <a:xfrm>
            <a:off x="8081963" y="1755775"/>
            <a:ext cx="6413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0" lang="en-US" altLang="zh-CN" sz="1800" b="1" u="none" dirty="0" smtClean="0">
                <a:solidFill>
                  <a:srgbClr val="FF3300"/>
                </a:solidFill>
                <a:ea typeface="宋体" pitchFamily="2" charset="-122"/>
              </a:rPr>
              <a:t>(</a:t>
            </a:r>
            <a:r>
              <a:rPr kumimoji="0" lang="en-US" altLang="zh-CN" sz="1800" b="1" u="none" dirty="0" smtClean="0">
                <a:solidFill>
                  <a:srgbClr val="FF3300"/>
                </a:solidFill>
              </a:rPr>
              <a:t>5-</a:t>
            </a:r>
            <a:r>
              <a:rPr kumimoji="0" lang="en-US" altLang="zh-CN" sz="1800" b="1" u="none" dirty="0" smtClean="0">
                <a:solidFill>
                  <a:srgbClr val="FF3300"/>
                </a:solidFill>
                <a:ea typeface="宋体" pitchFamily="2" charset="-122"/>
              </a:rPr>
              <a:t>4</a:t>
            </a:r>
            <a:r>
              <a:rPr kumimoji="0" lang="en-US" altLang="zh-CN" sz="1800" b="1" u="none" dirty="0">
                <a:solidFill>
                  <a:srgbClr val="FF3300"/>
                </a:solidFill>
                <a:ea typeface="宋体" pitchFamily="2" charset="-122"/>
              </a:rPr>
              <a:t>)</a:t>
            </a:r>
          </a:p>
        </p:txBody>
      </p:sp>
      <p:graphicFrame>
        <p:nvGraphicFramePr>
          <p:cNvPr id="512007" name="Object 7"/>
          <p:cNvGraphicFramePr>
            <a:graphicFrameLocks noChangeAspect="1"/>
          </p:cNvGraphicFramePr>
          <p:nvPr/>
        </p:nvGraphicFramePr>
        <p:xfrm>
          <a:off x="5322888" y="1730375"/>
          <a:ext cx="2546350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1302" name="公式" r:id="rId3" imgW="1739880" imgH="342720" progId="Equation.3">
                  <p:embed/>
                </p:oleObj>
              </mc:Choice>
              <mc:Fallback>
                <p:oleObj name="公式" r:id="rId3" imgW="1739880" imgH="3427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22888" y="1730375"/>
                        <a:ext cx="2546350" cy="5016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008" name="Object 8"/>
          <p:cNvGraphicFramePr>
            <a:graphicFrameLocks noChangeAspect="1"/>
          </p:cNvGraphicFramePr>
          <p:nvPr/>
        </p:nvGraphicFramePr>
        <p:xfrm>
          <a:off x="2125663" y="3217863"/>
          <a:ext cx="5427662" cy="2549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1303" name="Equation" r:id="rId5" imgW="2730240" imgH="1282680" progId="Equation.DSMT4">
                  <p:embed/>
                </p:oleObj>
              </mc:Choice>
              <mc:Fallback>
                <p:oleObj name="Equation" r:id="rId5" imgW="2730240" imgH="12826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5663" y="3217863"/>
                        <a:ext cx="5427662" cy="2549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009" name="Rectangle 9"/>
          <p:cNvSpPr>
            <a:spLocks noChangeArrowheads="1"/>
          </p:cNvSpPr>
          <p:nvPr/>
        </p:nvSpPr>
        <p:spPr bwMode="auto">
          <a:xfrm>
            <a:off x="6872288" y="5443538"/>
            <a:ext cx="7556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0" lang="en-US" altLang="zh-CN" sz="1800" b="1" u="none" dirty="0" smtClean="0">
                <a:solidFill>
                  <a:srgbClr val="FF3300"/>
                </a:solidFill>
                <a:ea typeface="宋体" pitchFamily="2" charset="-122"/>
              </a:rPr>
              <a:t>(</a:t>
            </a:r>
            <a:r>
              <a:rPr kumimoji="0" lang="en-US" altLang="zh-CN" sz="1800" b="1" u="none" dirty="0" smtClean="0">
                <a:solidFill>
                  <a:srgbClr val="FF3300"/>
                </a:solidFill>
              </a:rPr>
              <a:t>5-</a:t>
            </a:r>
            <a:r>
              <a:rPr kumimoji="0" lang="en-US" altLang="zh-CN" sz="1800" b="1" u="none" dirty="0" smtClean="0">
                <a:solidFill>
                  <a:srgbClr val="FF3300"/>
                </a:solidFill>
                <a:ea typeface="宋体" pitchFamily="2" charset="-122"/>
              </a:rPr>
              <a:t>13</a:t>
            </a:r>
            <a:r>
              <a:rPr kumimoji="0" lang="en-US" altLang="zh-CN" sz="1800" b="1" u="none" dirty="0">
                <a:solidFill>
                  <a:srgbClr val="FF3300"/>
                </a:solidFill>
                <a:ea typeface="宋体" pitchFamily="2" charset="-122"/>
              </a:rPr>
              <a:t>)</a:t>
            </a: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379413" y="300831"/>
            <a:ext cx="3738562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 b="1" u="none" dirty="0" smtClean="0">
                <a:solidFill>
                  <a:srgbClr val="800000"/>
                </a:solidFill>
                <a:ea typeface="宋体" pitchFamily="2" charset="-122"/>
              </a:rPr>
              <a:t>5.3 </a:t>
            </a:r>
            <a:r>
              <a:rPr lang="zh-CN" altLang="en-US" sz="3200" b="1" u="none" dirty="0">
                <a:solidFill>
                  <a:srgbClr val="800000"/>
                </a:solidFill>
                <a:ea typeface="宋体" pitchFamily="2" charset="-122"/>
              </a:rPr>
              <a:t>相关分析及应用</a:t>
            </a:r>
            <a:r>
              <a:rPr lang="zh-CN" altLang="en-US" b="1" u="none" dirty="0">
                <a:solidFill>
                  <a:srgbClr val="000066"/>
                </a:solidFill>
                <a:ea typeface="宋体" pitchFamily="2" charset="-122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31046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120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120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120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120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005" grpId="0"/>
      <p:bldP spid="512006" grpId="0"/>
      <p:bldP spid="512009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66956" name="Object 12"/>
          <p:cNvGraphicFramePr>
            <a:graphicFrameLocks noGrp="1" noChangeAspect="1"/>
          </p:cNvGraphicFramePr>
          <p:nvPr>
            <p:ph sz="quarter" idx="1"/>
          </p:nvPr>
        </p:nvGraphicFramePr>
        <p:xfrm>
          <a:off x="1212850" y="2370138"/>
          <a:ext cx="3756025" cy="615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0356" name="公式" r:id="rId3" imgW="2400120" imgH="393480" progId="Equation.3">
                  <p:embed/>
                </p:oleObj>
              </mc:Choice>
              <mc:Fallback>
                <p:oleObj name="公式" r:id="rId3" imgW="240012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2850" y="2370138"/>
                        <a:ext cx="3756025" cy="615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6957" name="Object 13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1260475" y="2949575"/>
          <a:ext cx="6178550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0357" name="公式" r:id="rId5" imgW="4114800" imgH="419040" progId="Equation.3">
                  <p:embed/>
                </p:oleObj>
              </mc:Choice>
              <mc:Fallback>
                <p:oleObj name="公式" r:id="rId5" imgW="4114800" imgH="419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60475" y="2949575"/>
                        <a:ext cx="6178550" cy="628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66977" name="Picture 33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63016" y="967982"/>
            <a:ext cx="2838121" cy="1647825"/>
          </a:xfrm>
          <a:solidFill>
            <a:schemeClr val="bg1"/>
          </a:solidFill>
          <a:ln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466958" name="Object 14"/>
          <p:cNvGraphicFramePr>
            <a:graphicFrameLocks noChangeAspect="1"/>
          </p:cNvGraphicFramePr>
          <p:nvPr/>
        </p:nvGraphicFramePr>
        <p:xfrm>
          <a:off x="1289050" y="3644900"/>
          <a:ext cx="4146550" cy="712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0358" name="公式" r:id="rId8" imgW="2438280" imgH="419040" progId="Equation.3">
                  <p:embed/>
                </p:oleObj>
              </mc:Choice>
              <mc:Fallback>
                <p:oleObj name="公式" r:id="rId8" imgW="2438280" imgH="419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89050" y="3644900"/>
                        <a:ext cx="4146550" cy="712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6959" name="Rectangle 15"/>
          <p:cNvSpPr>
            <a:spLocks noChangeArrowheads="1"/>
          </p:cNvSpPr>
          <p:nvPr/>
        </p:nvSpPr>
        <p:spPr bwMode="auto">
          <a:xfrm>
            <a:off x="3971925" y="31956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466960" name="Rectangle 16"/>
          <p:cNvSpPr>
            <a:spLocks noChangeArrowheads="1"/>
          </p:cNvSpPr>
          <p:nvPr/>
        </p:nvSpPr>
        <p:spPr bwMode="auto">
          <a:xfrm>
            <a:off x="3957638" y="31956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466961" name="Rectangle 17"/>
          <p:cNvSpPr>
            <a:spLocks noChangeArrowheads="1"/>
          </p:cNvSpPr>
          <p:nvPr/>
        </p:nvSpPr>
        <p:spPr bwMode="auto">
          <a:xfrm>
            <a:off x="-42863" y="3211513"/>
            <a:ext cx="9144001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66962" name="Rectangle 18"/>
          <p:cNvSpPr>
            <a:spLocks noChangeArrowheads="1"/>
          </p:cNvSpPr>
          <p:nvPr/>
        </p:nvSpPr>
        <p:spPr bwMode="auto">
          <a:xfrm>
            <a:off x="352425" y="1284566"/>
            <a:ext cx="591059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kumimoji="0" lang="zh-CN" altLang="en-US" sz="2000" b="1" u="none" dirty="0">
                <a:solidFill>
                  <a:schemeClr val="tx1"/>
                </a:solidFill>
                <a:ea typeface="黑体" pitchFamily="49" charset="-122"/>
                <a:cs typeface="Times New Roman" pitchFamily="18" charset="0"/>
              </a:rPr>
              <a:t>例</a:t>
            </a:r>
            <a:r>
              <a:rPr kumimoji="0" lang="en-US" altLang="zh-CN" sz="2000" b="1" u="none" dirty="0">
                <a:solidFill>
                  <a:schemeClr val="tx1"/>
                </a:solidFill>
                <a:ea typeface="黑体" pitchFamily="49" charset="-122"/>
                <a:cs typeface="Times New Roman" pitchFamily="18" charset="0"/>
              </a:rPr>
              <a:t>1</a:t>
            </a:r>
            <a:r>
              <a:rPr kumimoji="0" lang="zh-CN" altLang="en-US" sz="2000" b="1" u="none" dirty="0">
                <a:solidFill>
                  <a:schemeClr val="tx1"/>
                </a:solidFill>
                <a:ea typeface="黑体" pitchFamily="49" charset="-122"/>
                <a:cs typeface="Times New Roman" pitchFamily="18" charset="0"/>
              </a:rPr>
              <a:t>：求正弦函数</a:t>
            </a:r>
            <a:r>
              <a:rPr kumimoji="0" lang="en-US" altLang="zh-CN" sz="2000" b="1" i="1" u="none" dirty="0">
                <a:solidFill>
                  <a:schemeClr val="tx1"/>
                </a:solidFill>
                <a:ea typeface="黑体" pitchFamily="49" charset="-122"/>
                <a:cs typeface="Times New Roman" pitchFamily="18" charset="0"/>
              </a:rPr>
              <a:t>x</a:t>
            </a:r>
            <a:r>
              <a:rPr kumimoji="0" lang="en-US" altLang="zh-CN" sz="2000" b="1" u="none" dirty="0">
                <a:solidFill>
                  <a:schemeClr val="tx1"/>
                </a:solidFill>
                <a:ea typeface="黑体" pitchFamily="49" charset="-122"/>
                <a:cs typeface="Times New Roman" pitchFamily="18" charset="0"/>
              </a:rPr>
              <a:t>(</a:t>
            </a:r>
            <a:r>
              <a:rPr kumimoji="0" lang="en-US" altLang="zh-CN" sz="2000" b="1" i="1" u="none" dirty="0">
                <a:solidFill>
                  <a:schemeClr val="tx1"/>
                </a:solidFill>
                <a:ea typeface="黑体" pitchFamily="49" charset="-122"/>
                <a:cs typeface="Times New Roman" pitchFamily="18" charset="0"/>
              </a:rPr>
              <a:t>t</a:t>
            </a:r>
            <a:r>
              <a:rPr kumimoji="0" lang="en-US" altLang="zh-CN" sz="2000" b="1" u="none" dirty="0">
                <a:solidFill>
                  <a:schemeClr val="tx1"/>
                </a:solidFill>
                <a:ea typeface="黑体" pitchFamily="49" charset="-122"/>
                <a:cs typeface="Times New Roman" pitchFamily="18" charset="0"/>
              </a:rPr>
              <a:t>)</a:t>
            </a:r>
            <a:r>
              <a:rPr kumimoji="0" lang="zh-CN" altLang="en-US" sz="2000" b="1" u="none" dirty="0">
                <a:solidFill>
                  <a:schemeClr val="tx1"/>
                </a:solidFill>
                <a:ea typeface="黑体" pitchFamily="49" charset="-122"/>
                <a:cs typeface="Times New Roman" pitchFamily="18" charset="0"/>
              </a:rPr>
              <a:t>＝</a:t>
            </a:r>
            <a:r>
              <a:rPr kumimoji="0" lang="en-US" altLang="zh-CN" sz="2000" b="1" i="1" u="none" dirty="0">
                <a:solidFill>
                  <a:schemeClr val="tx1"/>
                </a:solidFill>
                <a:ea typeface="黑体" pitchFamily="49" charset="-122"/>
                <a:cs typeface="Times New Roman" pitchFamily="18" charset="0"/>
              </a:rPr>
              <a:t>x</a:t>
            </a:r>
            <a:r>
              <a:rPr kumimoji="0" lang="en-US" altLang="zh-CN" sz="2000" b="1" u="none" baseline="-25000" dirty="0">
                <a:solidFill>
                  <a:schemeClr val="tx1"/>
                </a:solidFill>
                <a:ea typeface="黑体" pitchFamily="49" charset="-122"/>
                <a:cs typeface="Times New Roman" pitchFamily="18" charset="0"/>
              </a:rPr>
              <a:t>0</a:t>
            </a:r>
            <a:r>
              <a:rPr kumimoji="0" lang="en-US" altLang="zh-CN" sz="2000" b="1" u="none" dirty="0">
                <a:solidFill>
                  <a:schemeClr val="tx1"/>
                </a:solidFill>
                <a:ea typeface="黑体" pitchFamily="49" charset="-122"/>
                <a:cs typeface="Times New Roman" pitchFamily="18" charset="0"/>
              </a:rPr>
              <a:t>Sin(</a:t>
            </a:r>
            <a:r>
              <a:rPr kumimoji="0" lang="en-US" altLang="zh-CN" sz="2000" b="1" u="none" dirty="0" err="1">
                <a:solidFill>
                  <a:schemeClr val="tx1"/>
                </a:solidFill>
                <a:ea typeface="黑体" pitchFamily="49" charset="-122"/>
                <a:cs typeface="Times New Roman" pitchFamily="18" charset="0"/>
              </a:rPr>
              <a:t>ω</a:t>
            </a:r>
            <a:r>
              <a:rPr kumimoji="0" lang="en-US" altLang="zh-CN" sz="2000" b="1" i="1" u="none" dirty="0" err="1">
                <a:solidFill>
                  <a:schemeClr val="tx1"/>
                </a:solidFill>
                <a:ea typeface="黑体" pitchFamily="49" charset="-122"/>
                <a:cs typeface="Times New Roman" pitchFamily="18" charset="0"/>
              </a:rPr>
              <a:t>t</a:t>
            </a:r>
            <a:r>
              <a:rPr kumimoji="0" lang="en-US" altLang="zh-CN" sz="2000" b="1" u="none" dirty="0" err="1">
                <a:solidFill>
                  <a:schemeClr val="tx1"/>
                </a:solidFill>
                <a:ea typeface="黑体" pitchFamily="49" charset="-122"/>
                <a:cs typeface="Times New Roman" pitchFamily="18" charset="0"/>
              </a:rPr>
              <a:t>+</a:t>
            </a:r>
            <a:r>
              <a:rPr kumimoji="0" lang="en-US" altLang="zh-CN" sz="2000" b="1" i="1" u="none" dirty="0" err="1">
                <a:solidFill>
                  <a:schemeClr val="tx1"/>
                </a:solidFill>
                <a:ea typeface="黑体" pitchFamily="49" charset="-122"/>
                <a:cs typeface="Times New Roman" pitchFamily="18" charset="0"/>
              </a:rPr>
              <a:t>φ</a:t>
            </a:r>
            <a:r>
              <a:rPr kumimoji="0" lang="en-US" altLang="zh-CN" sz="2000" b="1" u="none" dirty="0">
                <a:solidFill>
                  <a:schemeClr val="tx1"/>
                </a:solidFill>
                <a:ea typeface="黑体" pitchFamily="49" charset="-122"/>
                <a:cs typeface="Times New Roman" pitchFamily="18" charset="0"/>
              </a:rPr>
              <a:t>)</a:t>
            </a:r>
            <a:r>
              <a:rPr kumimoji="0" lang="zh-CN" altLang="en-US" sz="2000" b="1" u="none" dirty="0">
                <a:solidFill>
                  <a:schemeClr val="tx1"/>
                </a:solidFill>
                <a:ea typeface="黑体" pitchFamily="49" charset="-122"/>
                <a:cs typeface="Times New Roman" pitchFamily="18" charset="0"/>
              </a:rPr>
              <a:t>的自相关函数。 </a:t>
            </a:r>
          </a:p>
        </p:txBody>
      </p:sp>
      <p:sp>
        <p:nvSpPr>
          <p:cNvPr id="466963" name="Rectangle 19"/>
          <p:cNvSpPr>
            <a:spLocks noChangeArrowheads="1"/>
          </p:cNvSpPr>
          <p:nvPr/>
        </p:nvSpPr>
        <p:spPr bwMode="auto">
          <a:xfrm>
            <a:off x="-42863" y="2343150"/>
            <a:ext cx="9144001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466964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11185585"/>
              </p:ext>
            </p:extLst>
          </p:nvPr>
        </p:nvGraphicFramePr>
        <p:xfrm>
          <a:off x="641350" y="1717983"/>
          <a:ext cx="3097213" cy="649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0359" name="公式" r:id="rId10" imgW="1879560" imgH="393480" progId="Equation.3">
                  <p:embed/>
                </p:oleObj>
              </mc:Choice>
              <mc:Fallback>
                <p:oleObj name="公式" r:id="rId10" imgW="187956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1350" y="1717983"/>
                        <a:ext cx="3097213" cy="6492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6965" name="Object 21"/>
          <p:cNvGraphicFramePr>
            <a:graphicFrameLocks noChangeAspect="1"/>
          </p:cNvGraphicFramePr>
          <p:nvPr/>
        </p:nvGraphicFramePr>
        <p:xfrm>
          <a:off x="1266825" y="4365625"/>
          <a:ext cx="4775200" cy="777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0360" name="Equation" r:id="rId12" imgW="2806560" imgH="457200" progId="Equation.DSMT4">
                  <p:embed/>
                </p:oleObj>
              </mc:Choice>
              <mc:Fallback>
                <p:oleObj name="Equation" r:id="rId12" imgW="280656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66825" y="4365625"/>
                        <a:ext cx="4775200" cy="777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6966" name="Object 22"/>
          <p:cNvGraphicFramePr>
            <a:graphicFrameLocks noChangeAspect="1"/>
          </p:cNvGraphicFramePr>
          <p:nvPr/>
        </p:nvGraphicFramePr>
        <p:xfrm>
          <a:off x="1290638" y="5084763"/>
          <a:ext cx="1295400" cy="712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0361" name="公式" r:id="rId14" imgW="761760" imgH="419040" progId="Equation.3">
                  <p:embed/>
                </p:oleObj>
              </mc:Choice>
              <mc:Fallback>
                <p:oleObj name="公式" r:id="rId14" imgW="761760" imgH="419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0638" y="5084763"/>
                        <a:ext cx="1295400" cy="712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6969" name="Rectangle 25"/>
          <p:cNvSpPr>
            <a:spLocks noChangeArrowheads="1"/>
          </p:cNvSpPr>
          <p:nvPr/>
        </p:nvSpPr>
        <p:spPr bwMode="auto">
          <a:xfrm>
            <a:off x="7367588" y="2624772"/>
            <a:ext cx="123142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kumimoji="0" lang="zh-CN" altLang="en-US" sz="1800" b="1" u="none" dirty="0">
                <a:solidFill>
                  <a:srgbClr val="FF3300"/>
                </a:solidFill>
                <a:latin typeface="黑体" pitchFamily="49" charset="-122"/>
                <a:ea typeface="黑体" pitchFamily="49" charset="-122"/>
              </a:rPr>
              <a:t>正弦函数 </a:t>
            </a:r>
          </a:p>
        </p:txBody>
      </p:sp>
      <p:sp>
        <p:nvSpPr>
          <p:cNvPr id="466970" name="Rectangle 26"/>
          <p:cNvSpPr>
            <a:spLocks noChangeArrowheads="1"/>
          </p:cNvSpPr>
          <p:nvPr/>
        </p:nvSpPr>
        <p:spPr bwMode="auto">
          <a:xfrm>
            <a:off x="6257925" y="5299353"/>
            <a:ext cx="262604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kumimoji="0" lang="zh-CN" altLang="en-US" sz="1800" b="1" u="none" dirty="0">
                <a:solidFill>
                  <a:srgbClr val="FF3300"/>
                </a:solidFill>
                <a:latin typeface="黑体" pitchFamily="49" charset="-122"/>
                <a:ea typeface="黑体" pitchFamily="49" charset="-122"/>
              </a:rPr>
              <a:t>正弦函数的自相关函数 </a:t>
            </a:r>
          </a:p>
        </p:txBody>
      </p:sp>
      <p:sp>
        <p:nvSpPr>
          <p:cNvPr id="466971" name="Rectangle 27"/>
          <p:cNvSpPr>
            <a:spLocks noChangeArrowheads="1"/>
          </p:cNvSpPr>
          <p:nvPr/>
        </p:nvSpPr>
        <p:spPr bwMode="auto">
          <a:xfrm>
            <a:off x="3808413" y="5324475"/>
            <a:ext cx="7556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0" lang="en-US" altLang="zh-CN" sz="1800" b="1" u="none" dirty="0" smtClean="0">
                <a:solidFill>
                  <a:srgbClr val="FF3300"/>
                </a:solidFill>
                <a:ea typeface="宋体" pitchFamily="2" charset="-122"/>
              </a:rPr>
              <a:t>(5</a:t>
            </a:r>
            <a:r>
              <a:rPr kumimoji="0" lang="en-US" altLang="zh-CN" sz="1800" b="1" u="none" dirty="0" smtClean="0">
                <a:solidFill>
                  <a:srgbClr val="FF3300"/>
                </a:solidFill>
              </a:rPr>
              <a:t>-</a:t>
            </a:r>
            <a:r>
              <a:rPr kumimoji="0" lang="en-US" altLang="zh-CN" sz="1800" b="1" u="none" dirty="0" smtClean="0">
                <a:solidFill>
                  <a:srgbClr val="FF3300"/>
                </a:solidFill>
                <a:ea typeface="宋体" pitchFamily="2" charset="-122"/>
              </a:rPr>
              <a:t>14</a:t>
            </a:r>
            <a:r>
              <a:rPr kumimoji="0" lang="en-US" altLang="zh-CN" sz="1800" b="1" u="none" dirty="0">
                <a:solidFill>
                  <a:srgbClr val="FF3300"/>
                </a:solidFill>
                <a:ea typeface="宋体" pitchFamily="2" charset="-122"/>
              </a:rPr>
              <a:t>)</a:t>
            </a:r>
          </a:p>
        </p:txBody>
      </p:sp>
      <p:sp>
        <p:nvSpPr>
          <p:cNvPr id="466972" name="Rectangle 28"/>
          <p:cNvSpPr>
            <a:spLocks noChangeArrowheads="1"/>
          </p:cNvSpPr>
          <p:nvPr/>
        </p:nvSpPr>
        <p:spPr bwMode="auto">
          <a:xfrm>
            <a:off x="387350" y="5933688"/>
            <a:ext cx="853375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r>
              <a:rPr kumimoji="0" lang="zh-CN" altLang="en-US" sz="2000" b="1" u="none" dirty="0">
                <a:solidFill>
                  <a:srgbClr val="0070C0"/>
                </a:solidFill>
                <a:ea typeface="黑体" pitchFamily="49" charset="-122"/>
                <a:cs typeface="Times New Roman" pitchFamily="18" charset="0"/>
              </a:rPr>
              <a:t>它保留了变量</a:t>
            </a:r>
            <a:r>
              <a:rPr kumimoji="0" lang="en-US" altLang="zh-CN" sz="2000" b="1" i="1" u="none" dirty="0">
                <a:solidFill>
                  <a:srgbClr val="0070C0"/>
                </a:solidFill>
                <a:ea typeface="黑体" pitchFamily="49" charset="-122"/>
                <a:cs typeface="Times New Roman" pitchFamily="18" charset="0"/>
              </a:rPr>
              <a:t>x</a:t>
            </a:r>
            <a:r>
              <a:rPr kumimoji="0" lang="en-US" altLang="zh-CN" sz="2000" b="1" u="none" dirty="0">
                <a:solidFill>
                  <a:srgbClr val="0070C0"/>
                </a:solidFill>
                <a:ea typeface="黑体" pitchFamily="49" charset="-122"/>
                <a:cs typeface="Times New Roman" pitchFamily="18" charset="0"/>
              </a:rPr>
              <a:t>(</a:t>
            </a:r>
            <a:r>
              <a:rPr kumimoji="0" lang="en-US" altLang="zh-CN" sz="2000" b="1" i="1" u="none" dirty="0">
                <a:solidFill>
                  <a:srgbClr val="0070C0"/>
                </a:solidFill>
                <a:ea typeface="黑体" pitchFamily="49" charset="-122"/>
                <a:cs typeface="Times New Roman" pitchFamily="18" charset="0"/>
              </a:rPr>
              <a:t>t</a:t>
            </a:r>
            <a:r>
              <a:rPr kumimoji="0" lang="en-US" altLang="zh-CN" sz="2000" b="1" u="none" dirty="0">
                <a:solidFill>
                  <a:srgbClr val="0070C0"/>
                </a:solidFill>
                <a:ea typeface="黑体" pitchFamily="49" charset="-122"/>
                <a:cs typeface="Times New Roman" pitchFamily="18" charset="0"/>
              </a:rPr>
              <a:t>)</a:t>
            </a:r>
            <a:r>
              <a:rPr kumimoji="0" lang="zh-CN" altLang="en-US" sz="2000" b="1" u="none" dirty="0">
                <a:solidFill>
                  <a:srgbClr val="0070C0"/>
                </a:solidFill>
                <a:ea typeface="黑体" pitchFamily="49" charset="-122"/>
                <a:cs typeface="Times New Roman" pitchFamily="18" charset="0"/>
              </a:rPr>
              <a:t>的</a:t>
            </a:r>
            <a:r>
              <a:rPr kumimoji="0" lang="zh-CN" altLang="en-US" sz="2000" b="1" u="none" dirty="0">
                <a:solidFill>
                  <a:srgbClr val="FF0000"/>
                </a:solidFill>
                <a:ea typeface="黑体" pitchFamily="49" charset="-122"/>
                <a:cs typeface="Times New Roman" pitchFamily="18" charset="0"/>
              </a:rPr>
              <a:t>幅值信息</a:t>
            </a:r>
            <a:r>
              <a:rPr kumimoji="0" lang="en-US" altLang="zh-CN" sz="2000" b="1" i="1" u="none" dirty="0">
                <a:solidFill>
                  <a:srgbClr val="FF0000"/>
                </a:solidFill>
                <a:ea typeface="黑体" pitchFamily="49" charset="-122"/>
                <a:cs typeface="Times New Roman" pitchFamily="18" charset="0"/>
              </a:rPr>
              <a:t>x</a:t>
            </a:r>
            <a:r>
              <a:rPr kumimoji="0" lang="en-US" altLang="zh-CN" sz="2000" b="1" i="1" u="none" baseline="-25000" dirty="0">
                <a:solidFill>
                  <a:srgbClr val="FF0000"/>
                </a:solidFill>
                <a:ea typeface="黑体" pitchFamily="49" charset="-122"/>
                <a:cs typeface="Times New Roman" pitchFamily="18" charset="0"/>
              </a:rPr>
              <a:t>0</a:t>
            </a:r>
            <a:r>
              <a:rPr kumimoji="0" lang="zh-CN" altLang="en-US" sz="2000" b="1" u="none" dirty="0">
                <a:solidFill>
                  <a:srgbClr val="FF0000"/>
                </a:solidFill>
                <a:ea typeface="黑体" pitchFamily="49" charset="-122"/>
                <a:cs typeface="Times New Roman" pitchFamily="18" charset="0"/>
              </a:rPr>
              <a:t>和频率</a:t>
            </a:r>
            <a:r>
              <a:rPr kumimoji="0" lang="en-US" altLang="zh-CN" sz="2000" b="1" u="none" dirty="0">
                <a:solidFill>
                  <a:srgbClr val="FF0000"/>
                </a:solidFill>
                <a:ea typeface="黑体" pitchFamily="49" charset="-122"/>
                <a:cs typeface="Times New Roman" pitchFamily="18" charset="0"/>
              </a:rPr>
              <a:t>ω</a:t>
            </a:r>
            <a:r>
              <a:rPr kumimoji="0" lang="zh-CN" altLang="en-US" sz="2000" b="1" u="none" dirty="0">
                <a:solidFill>
                  <a:srgbClr val="FF0000"/>
                </a:solidFill>
                <a:ea typeface="黑体" pitchFamily="49" charset="-122"/>
                <a:cs typeface="Times New Roman" pitchFamily="18" charset="0"/>
              </a:rPr>
              <a:t>信息</a:t>
            </a:r>
            <a:r>
              <a:rPr kumimoji="0" lang="zh-CN" altLang="en-US" sz="2000" b="1" u="none" dirty="0">
                <a:solidFill>
                  <a:srgbClr val="0070C0"/>
                </a:solidFill>
                <a:ea typeface="黑体" pitchFamily="49" charset="-122"/>
                <a:cs typeface="Times New Roman" pitchFamily="18" charset="0"/>
              </a:rPr>
              <a:t>，但缺</a:t>
            </a:r>
            <a:r>
              <a:rPr kumimoji="0" lang="zh-CN" altLang="en-US" sz="2000" b="1" u="none" dirty="0">
                <a:solidFill>
                  <a:srgbClr val="FF0000"/>
                </a:solidFill>
                <a:ea typeface="黑体" pitchFamily="49" charset="-122"/>
                <a:cs typeface="Times New Roman" pitchFamily="18" charset="0"/>
              </a:rPr>
              <a:t>丢掉了初始相位</a:t>
            </a:r>
            <a:r>
              <a:rPr kumimoji="0" lang="en-US" altLang="zh-CN" sz="2000" b="1" u="none" dirty="0">
                <a:solidFill>
                  <a:srgbClr val="FF0000"/>
                </a:solidFill>
                <a:ea typeface="黑体" pitchFamily="49" charset="-122"/>
                <a:cs typeface="Times New Roman" pitchFamily="18" charset="0"/>
              </a:rPr>
              <a:t>φ</a:t>
            </a:r>
            <a:r>
              <a:rPr kumimoji="0" lang="zh-CN" altLang="en-US" sz="2000" b="1" u="none" dirty="0">
                <a:solidFill>
                  <a:srgbClr val="0070C0"/>
                </a:solidFill>
                <a:ea typeface="黑体" pitchFamily="49" charset="-122"/>
                <a:cs typeface="Times New Roman" pitchFamily="18" charset="0"/>
              </a:rPr>
              <a:t>信息。 </a:t>
            </a:r>
          </a:p>
        </p:txBody>
      </p:sp>
      <p:sp>
        <p:nvSpPr>
          <p:cNvPr id="466974" name="Rectangle 30"/>
          <p:cNvSpPr>
            <a:spLocks noChangeArrowheads="1"/>
          </p:cNvSpPr>
          <p:nvPr/>
        </p:nvSpPr>
        <p:spPr bwMode="auto">
          <a:xfrm>
            <a:off x="387350" y="822825"/>
            <a:ext cx="30416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b="1" u="none" dirty="0">
                <a:solidFill>
                  <a:srgbClr val="000066"/>
                </a:solidFill>
                <a:latin typeface="黑体" pitchFamily="2" charset="-122"/>
              </a:rPr>
              <a:t>自相关函数的性质</a:t>
            </a:r>
          </a:p>
        </p:txBody>
      </p:sp>
      <p:pic>
        <p:nvPicPr>
          <p:cNvPr id="466980" name="Picture 36"/>
          <p:cNvPicPr>
            <a:picLocks noGrp="1" noChangeAspect="1" noChangeArrowheads="1"/>
          </p:cNvPicPr>
          <p:nvPr>
            <p:ph sz="quarter" idx="4"/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183313" y="3586163"/>
            <a:ext cx="2917825" cy="1714500"/>
          </a:xfrm>
          <a:solidFill>
            <a:schemeClr val="bg1"/>
          </a:solidFill>
          <a:ln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Rectangle 4"/>
          <p:cNvSpPr>
            <a:spLocks noChangeArrowheads="1"/>
          </p:cNvSpPr>
          <p:nvPr/>
        </p:nvSpPr>
        <p:spPr bwMode="auto">
          <a:xfrm>
            <a:off x="379413" y="300831"/>
            <a:ext cx="3738562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 b="1" u="none" dirty="0" smtClean="0">
                <a:solidFill>
                  <a:srgbClr val="800000"/>
                </a:solidFill>
                <a:ea typeface="宋体" pitchFamily="2" charset="-122"/>
              </a:rPr>
              <a:t>5.3 </a:t>
            </a:r>
            <a:r>
              <a:rPr lang="zh-CN" altLang="en-US" sz="3200" b="1" u="none" dirty="0">
                <a:solidFill>
                  <a:srgbClr val="800000"/>
                </a:solidFill>
                <a:ea typeface="宋体" pitchFamily="2" charset="-122"/>
              </a:rPr>
              <a:t>相关分析及应用</a:t>
            </a:r>
            <a:r>
              <a:rPr lang="zh-CN" altLang="en-US" b="1" u="none" dirty="0">
                <a:solidFill>
                  <a:srgbClr val="000066"/>
                </a:solidFill>
                <a:ea typeface="宋体" pitchFamily="2" charset="-122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233991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669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669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669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669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669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669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669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4669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4669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4669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6970" grpId="0"/>
      <p:bldP spid="466971" grpId="0"/>
      <p:bldP spid="466972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434" name="Rectangle 2"/>
          <p:cNvSpPr>
            <a:spLocks noChangeArrowheads="1"/>
          </p:cNvSpPr>
          <p:nvPr/>
        </p:nvSpPr>
        <p:spPr bwMode="auto">
          <a:xfrm>
            <a:off x="514350" y="915987"/>
            <a:ext cx="3462338" cy="466725"/>
          </a:xfrm>
          <a:prstGeom prst="rect">
            <a:avLst/>
          </a:prstGeom>
          <a:solidFill>
            <a:srgbClr val="CC99FF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 u="none" dirty="0">
                <a:solidFill>
                  <a:srgbClr val="990000"/>
                </a:solidFill>
                <a:latin typeface="楷体_GB2312" pitchFamily="49" charset="-122"/>
                <a:ea typeface="楷体_GB2312" pitchFamily="49" charset="-122"/>
              </a:rPr>
              <a:t>自相关函数</a:t>
            </a:r>
            <a:r>
              <a:rPr lang="en-US" altLang="zh-CN" sz="2400" b="1" u="none" dirty="0">
                <a:solidFill>
                  <a:srgbClr val="990000"/>
                </a:solidFill>
                <a:ea typeface="楷体_GB2312" pitchFamily="49" charset="-122"/>
              </a:rPr>
              <a:t>R</a:t>
            </a:r>
            <a:r>
              <a:rPr lang="en-US" altLang="zh-CN" sz="2400" b="1" i="1" u="none" baseline="-25000" dirty="0">
                <a:solidFill>
                  <a:srgbClr val="990000"/>
                </a:solidFill>
                <a:ea typeface="楷体_GB2312" pitchFamily="49" charset="-122"/>
              </a:rPr>
              <a:t>x</a:t>
            </a:r>
            <a:r>
              <a:rPr lang="en-US" altLang="zh-CN" sz="2400" b="1" u="none" dirty="0">
                <a:solidFill>
                  <a:srgbClr val="990000"/>
                </a:solidFill>
                <a:ea typeface="楷体_GB2312" pitchFamily="49" charset="-122"/>
              </a:rPr>
              <a:t>(τ)</a:t>
            </a:r>
            <a:r>
              <a:rPr lang="zh-CN" altLang="en-US" sz="2400" b="1" u="none" dirty="0">
                <a:solidFill>
                  <a:srgbClr val="990000"/>
                </a:solidFill>
                <a:latin typeface="楷体_GB2312" pitchFamily="49" charset="-122"/>
                <a:ea typeface="楷体_GB2312" pitchFamily="49" charset="-122"/>
              </a:rPr>
              <a:t>的应用</a:t>
            </a:r>
          </a:p>
        </p:txBody>
      </p:sp>
      <p:sp>
        <p:nvSpPr>
          <p:cNvPr id="530436" name="Rectangle 4"/>
          <p:cNvSpPr>
            <a:spLocks noChangeArrowheads="1"/>
          </p:cNvSpPr>
          <p:nvPr/>
        </p:nvSpPr>
        <p:spPr bwMode="auto">
          <a:xfrm>
            <a:off x="692150" y="1356257"/>
            <a:ext cx="60182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buClr>
                <a:srgbClr val="FF3300"/>
              </a:buClr>
              <a:buFont typeface="Wingdings" pitchFamily="2" charset="2"/>
              <a:buChar char="Ø"/>
            </a:pPr>
            <a:r>
              <a:rPr kumimoji="0" lang="zh-CN" altLang="en-US" sz="2400" b="1" u="none" dirty="0">
                <a:solidFill>
                  <a:schemeClr val="tx1"/>
                </a:solidFill>
              </a:rPr>
              <a:t>可根据自相关图的形状来判断信号的性质 </a:t>
            </a:r>
          </a:p>
        </p:txBody>
      </p:sp>
      <p:sp>
        <p:nvSpPr>
          <p:cNvPr id="530437" name="Rectangle 5"/>
          <p:cNvSpPr>
            <a:spLocks noChangeArrowheads="1"/>
          </p:cNvSpPr>
          <p:nvPr/>
        </p:nvSpPr>
        <p:spPr bwMode="auto">
          <a:xfrm>
            <a:off x="692150" y="1893799"/>
            <a:ext cx="8239125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marL="342900" indent="-342900">
              <a:buFont typeface="Wingdings" pitchFamily="2" charset="2"/>
              <a:buChar char="Ø"/>
            </a:pPr>
            <a:r>
              <a:rPr kumimoji="0" lang="zh-CN" altLang="en-US" sz="2400" b="1" u="none" dirty="0">
                <a:solidFill>
                  <a:schemeClr val="tx1"/>
                </a:solidFill>
              </a:rPr>
              <a:t>由性质</a:t>
            </a:r>
            <a:r>
              <a:rPr kumimoji="0" lang="en-US" altLang="zh-CN" sz="2400" b="1" u="none" dirty="0">
                <a:solidFill>
                  <a:srgbClr val="FF3300"/>
                </a:solidFill>
              </a:rPr>
              <a:t>5</a:t>
            </a:r>
            <a:r>
              <a:rPr kumimoji="0" lang="zh-CN" altLang="en-US" sz="2400" b="1" u="none" dirty="0">
                <a:solidFill>
                  <a:srgbClr val="FF3300"/>
                </a:solidFill>
              </a:rPr>
              <a:t>）</a:t>
            </a:r>
            <a:r>
              <a:rPr kumimoji="0" lang="zh-CN" altLang="en-US" sz="2400" b="1" u="none" dirty="0">
                <a:solidFill>
                  <a:schemeClr val="tx1"/>
                </a:solidFill>
              </a:rPr>
              <a:t>知，</a:t>
            </a:r>
            <a:r>
              <a:rPr kumimoji="0" lang="zh-CN" altLang="en-US" sz="2400" b="1" u="none" dirty="0">
                <a:solidFill>
                  <a:srgbClr val="FF0000"/>
                </a:solidFill>
              </a:rPr>
              <a:t>周期信号的自相关函数仍为周期信号</a:t>
            </a:r>
            <a:r>
              <a:rPr kumimoji="0" lang="zh-CN" altLang="en-US" sz="2400" b="1" u="none" dirty="0">
                <a:solidFill>
                  <a:schemeClr val="tx1"/>
                </a:solidFill>
              </a:rPr>
              <a:t>，</a:t>
            </a:r>
            <a:r>
              <a:rPr kumimoji="0" lang="en-US" altLang="zh-CN" sz="2400" b="1" u="none" dirty="0">
                <a:solidFill>
                  <a:schemeClr val="tx1"/>
                </a:solidFill>
              </a:rPr>
              <a:t>τ→∞</a:t>
            </a:r>
            <a:r>
              <a:rPr kumimoji="0" lang="zh-CN" altLang="en-US" sz="2400" b="1" u="none" dirty="0">
                <a:solidFill>
                  <a:schemeClr val="tx1"/>
                </a:solidFill>
              </a:rPr>
              <a:t>时，</a:t>
            </a:r>
            <a:r>
              <a:rPr kumimoji="0" lang="en-US" altLang="zh-CN" sz="2400" b="1" i="1" u="none" dirty="0">
                <a:solidFill>
                  <a:schemeClr val="tx1"/>
                </a:solidFill>
              </a:rPr>
              <a:t>R</a:t>
            </a:r>
            <a:r>
              <a:rPr kumimoji="0" lang="en-US" altLang="zh-CN" sz="2400" b="1" i="1" u="none" baseline="-25000" dirty="0">
                <a:solidFill>
                  <a:schemeClr val="tx1"/>
                </a:solidFill>
              </a:rPr>
              <a:t>x</a:t>
            </a:r>
            <a:r>
              <a:rPr kumimoji="0" lang="en-US" altLang="zh-CN" sz="2400" b="1" u="none" dirty="0">
                <a:solidFill>
                  <a:schemeClr val="tx1"/>
                </a:solidFill>
              </a:rPr>
              <a:t>(τ)</a:t>
            </a:r>
            <a:r>
              <a:rPr kumimoji="0" lang="zh-CN" altLang="en-US" sz="2400" b="1" u="none" dirty="0">
                <a:solidFill>
                  <a:schemeClr val="tx1"/>
                </a:solidFill>
              </a:rPr>
              <a:t>不衰减且周期与原周期一致</a:t>
            </a:r>
            <a:r>
              <a:rPr kumimoji="0" lang="zh-CN" altLang="en-US" sz="2400" b="1" u="none" dirty="0" smtClean="0">
                <a:solidFill>
                  <a:schemeClr val="tx1"/>
                </a:solidFill>
              </a:rPr>
              <a:t>；</a:t>
            </a:r>
            <a:endParaRPr kumimoji="0" lang="en-US" altLang="zh-CN" sz="2400" b="1" u="none" dirty="0" smtClean="0">
              <a:solidFill>
                <a:schemeClr val="tx1"/>
              </a:solidFill>
            </a:endParaRPr>
          </a:p>
          <a:p>
            <a:pPr marL="342900" indent="-342900">
              <a:buFont typeface="Wingdings" pitchFamily="2" charset="2"/>
              <a:buChar char="Ø"/>
            </a:pPr>
            <a:r>
              <a:rPr kumimoji="0" lang="zh-CN" altLang="en-US" sz="2400" b="1" u="none" dirty="0" smtClean="0">
                <a:solidFill>
                  <a:schemeClr val="tx1"/>
                </a:solidFill>
              </a:rPr>
              <a:t>而</a:t>
            </a:r>
            <a:r>
              <a:rPr kumimoji="0" lang="zh-CN" altLang="en-US" sz="2400" b="1" u="none" dirty="0">
                <a:solidFill>
                  <a:schemeClr val="tx1"/>
                </a:solidFill>
              </a:rPr>
              <a:t>对随机信号，</a:t>
            </a:r>
            <a:r>
              <a:rPr kumimoji="0" lang="zh-CN" altLang="en-US" sz="2400" b="1" u="none" dirty="0">
                <a:solidFill>
                  <a:srgbClr val="FF3300"/>
                </a:solidFill>
              </a:rPr>
              <a:t>当</a:t>
            </a:r>
            <a:r>
              <a:rPr kumimoji="0" lang="en-US" altLang="zh-CN" sz="2400" b="1" u="none" dirty="0">
                <a:solidFill>
                  <a:srgbClr val="FF3300"/>
                </a:solidFill>
              </a:rPr>
              <a:t>τ→∞</a:t>
            </a:r>
            <a:r>
              <a:rPr kumimoji="0" lang="zh-CN" altLang="en-US" sz="2400" b="1" u="none" dirty="0">
                <a:solidFill>
                  <a:srgbClr val="FF3300"/>
                </a:solidFill>
              </a:rPr>
              <a:t>时，</a:t>
            </a:r>
            <a:r>
              <a:rPr kumimoji="0" lang="en-US" altLang="zh-CN" sz="2400" b="1" i="1" u="none" dirty="0">
                <a:solidFill>
                  <a:srgbClr val="FF3300"/>
                </a:solidFill>
              </a:rPr>
              <a:t>R</a:t>
            </a:r>
            <a:r>
              <a:rPr kumimoji="0" lang="en-US" altLang="zh-CN" sz="2400" b="1" i="1" u="none" baseline="-25000" dirty="0">
                <a:solidFill>
                  <a:srgbClr val="FF3300"/>
                </a:solidFill>
              </a:rPr>
              <a:t>x</a:t>
            </a:r>
            <a:r>
              <a:rPr kumimoji="0" lang="en-US" altLang="zh-CN" sz="2400" b="1" u="none" dirty="0">
                <a:solidFill>
                  <a:srgbClr val="FF3300"/>
                </a:solidFill>
              </a:rPr>
              <a:t>(τ)</a:t>
            </a:r>
            <a:r>
              <a:rPr kumimoji="0" lang="zh-CN" altLang="en-US" sz="2400" b="1" u="none" dirty="0">
                <a:solidFill>
                  <a:srgbClr val="FF3300"/>
                </a:solidFill>
              </a:rPr>
              <a:t>衰减→</a:t>
            </a:r>
            <a:r>
              <a:rPr kumimoji="0" lang="en-US" altLang="zh-CN" sz="2400" b="1" u="none" dirty="0">
                <a:solidFill>
                  <a:srgbClr val="FF3300"/>
                </a:solidFill>
              </a:rPr>
              <a:t>0(</a:t>
            </a:r>
            <a:r>
              <a:rPr kumimoji="0" lang="en-US" altLang="zh-CN" sz="2400" b="1" i="1" u="none" dirty="0" err="1">
                <a:solidFill>
                  <a:srgbClr val="FF3300"/>
                </a:solidFill>
              </a:rPr>
              <a:t>μ</a:t>
            </a:r>
            <a:r>
              <a:rPr kumimoji="0" lang="en-US" altLang="zh-CN" sz="2400" b="1" i="1" u="none" baseline="-25000" dirty="0" err="1">
                <a:solidFill>
                  <a:srgbClr val="FF3300"/>
                </a:solidFill>
              </a:rPr>
              <a:t>x</a:t>
            </a:r>
            <a:r>
              <a:rPr kumimoji="0" lang="en-US" altLang="zh-CN" sz="2400" b="1" u="none" dirty="0">
                <a:solidFill>
                  <a:srgbClr val="FF3300"/>
                </a:solidFill>
              </a:rPr>
              <a:t>=0)</a:t>
            </a:r>
            <a:r>
              <a:rPr kumimoji="0" lang="zh-CN" altLang="en-US" sz="2400" b="1" u="none" dirty="0">
                <a:solidFill>
                  <a:srgbClr val="FF3300"/>
                </a:solidFill>
              </a:rPr>
              <a:t>。</a:t>
            </a:r>
            <a:r>
              <a:rPr kumimoji="0" lang="zh-CN" altLang="en-US" sz="2400" b="1" u="none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530439" name="Rectangle 7"/>
          <p:cNvSpPr>
            <a:spLocks noChangeArrowheads="1"/>
          </p:cNvSpPr>
          <p:nvPr/>
        </p:nvSpPr>
        <p:spPr bwMode="auto">
          <a:xfrm>
            <a:off x="658813" y="3197225"/>
            <a:ext cx="60182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buClr>
                <a:srgbClr val="FF3300"/>
              </a:buClr>
              <a:buFont typeface="Wingdings" pitchFamily="2" charset="2"/>
              <a:buChar char="Ø"/>
            </a:pPr>
            <a:r>
              <a:rPr kumimoji="0" lang="zh-CN" altLang="en-US" sz="2400" b="1" u="none">
                <a:solidFill>
                  <a:schemeClr val="tx1"/>
                </a:solidFill>
              </a:rPr>
              <a:t>利用自相关函数进行机械设备的故障诊断 </a:t>
            </a:r>
          </a:p>
        </p:txBody>
      </p:sp>
      <p:graphicFrame>
        <p:nvGraphicFramePr>
          <p:cNvPr id="530440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6132377"/>
              </p:ext>
            </p:extLst>
          </p:nvPr>
        </p:nvGraphicFramePr>
        <p:xfrm>
          <a:off x="5076825" y="829605"/>
          <a:ext cx="2679700" cy="512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0563" name="公式" r:id="rId3" imgW="1193760" imgH="228600" progId="Equation.3">
                  <p:embed/>
                </p:oleObj>
              </mc:Choice>
              <mc:Fallback>
                <p:oleObj name="公式" r:id="rId3" imgW="1193760" imgH="2286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6825" y="829605"/>
                        <a:ext cx="2679700" cy="5127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0441" name="Rectangle 9"/>
          <p:cNvSpPr>
            <a:spLocks noChangeArrowheads="1"/>
          </p:cNvSpPr>
          <p:nvPr/>
        </p:nvSpPr>
        <p:spPr bwMode="auto">
          <a:xfrm>
            <a:off x="8013379" y="880269"/>
            <a:ext cx="7556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0" lang="en-US" altLang="zh-CN" sz="1800" b="1" u="none" dirty="0" smtClean="0">
                <a:solidFill>
                  <a:srgbClr val="FF3300"/>
                </a:solidFill>
                <a:ea typeface="宋体" pitchFamily="2" charset="-122"/>
              </a:rPr>
              <a:t>(5-13</a:t>
            </a:r>
            <a:r>
              <a:rPr kumimoji="0" lang="en-US" altLang="zh-CN" sz="1800" b="1" u="none" dirty="0">
                <a:solidFill>
                  <a:srgbClr val="FF3300"/>
                </a:solidFill>
                <a:ea typeface="宋体" pitchFamily="2" charset="-122"/>
              </a:rPr>
              <a:t>)</a:t>
            </a:r>
          </a:p>
        </p:txBody>
      </p:sp>
      <p:sp>
        <p:nvSpPr>
          <p:cNvPr id="530442" name="Rectangle 10"/>
          <p:cNvSpPr>
            <a:spLocks noChangeArrowheads="1"/>
          </p:cNvSpPr>
          <p:nvPr/>
        </p:nvSpPr>
        <p:spPr bwMode="auto">
          <a:xfrm>
            <a:off x="1022350" y="5848350"/>
            <a:ext cx="27336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kumimoji="0" lang="en-US" altLang="zh-CN" sz="1800" b="1" u="none">
                <a:solidFill>
                  <a:srgbClr val="FF3300"/>
                </a:solidFill>
                <a:ea typeface="宋体" pitchFamily="2" charset="-122"/>
              </a:rPr>
              <a:t>a)</a:t>
            </a:r>
            <a:r>
              <a:rPr kumimoji="0" lang="zh-CN" altLang="en-US" sz="1800" b="1" u="none">
                <a:solidFill>
                  <a:srgbClr val="FF3300"/>
                </a:solidFill>
                <a:ea typeface="宋体" pitchFamily="2" charset="-122"/>
              </a:rPr>
              <a:t>正弦波加随机噪声信号 </a:t>
            </a:r>
          </a:p>
        </p:txBody>
      </p:sp>
      <p:sp>
        <p:nvSpPr>
          <p:cNvPr id="530443" name="Rectangle 11"/>
          <p:cNvSpPr>
            <a:spLocks noChangeArrowheads="1"/>
          </p:cNvSpPr>
          <p:nvPr/>
        </p:nvSpPr>
        <p:spPr bwMode="auto">
          <a:xfrm>
            <a:off x="4462463" y="5822950"/>
            <a:ext cx="41275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kumimoji="0" lang="en-US" altLang="zh-CN" sz="1800" b="1" u="none">
                <a:solidFill>
                  <a:srgbClr val="FF3300"/>
                </a:solidFill>
                <a:ea typeface="宋体" pitchFamily="2" charset="-122"/>
              </a:rPr>
              <a:t>b)</a:t>
            </a:r>
            <a:r>
              <a:rPr kumimoji="0" lang="zh-CN" altLang="en-US" sz="1800" b="1" u="none">
                <a:solidFill>
                  <a:srgbClr val="FF3300"/>
                </a:solidFill>
                <a:ea typeface="宋体" pitchFamily="2" charset="-122"/>
              </a:rPr>
              <a:t>正弦波加随机噪声信号的自相关函数 </a:t>
            </a:r>
          </a:p>
        </p:txBody>
      </p:sp>
      <p:graphicFrame>
        <p:nvGraphicFramePr>
          <p:cNvPr id="530451" name="Object 19"/>
          <p:cNvGraphicFramePr>
            <a:graphicFrameLocks noGrp="1" noChangeAspect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2022586420"/>
              </p:ext>
            </p:extLst>
          </p:nvPr>
        </p:nvGraphicFramePr>
        <p:xfrm>
          <a:off x="4811712" y="3790896"/>
          <a:ext cx="4282326" cy="19367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0564" name="Visio" r:id="rId5" imgW="2428037" imgH="1099109" progId="Visio.Drawing.6">
                  <p:embed/>
                </p:oleObj>
              </mc:Choice>
              <mc:Fallback>
                <p:oleObj name="Visio" r:id="rId5" imgW="2428037" imgH="1099109" progId="Visio.Drawing.6">
                  <p:embed/>
                  <p:pic>
                    <p:nvPicPr>
                      <p:cNvPr id="0" name="Object 19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11712" y="3790896"/>
                        <a:ext cx="4282326" cy="1936716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30455" name="Picture 23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14350" y="3827195"/>
            <a:ext cx="3482975" cy="1881188"/>
          </a:xfrm>
          <a:solidFill>
            <a:schemeClr val="bg1"/>
          </a:solidFill>
          <a:ln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Rectangle 4"/>
          <p:cNvSpPr>
            <a:spLocks noChangeArrowheads="1"/>
          </p:cNvSpPr>
          <p:nvPr/>
        </p:nvSpPr>
        <p:spPr bwMode="auto">
          <a:xfrm>
            <a:off x="379413" y="300831"/>
            <a:ext cx="3738562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 b="1" u="none" dirty="0" smtClean="0">
                <a:solidFill>
                  <a:srgbClr val="800000"/>
                </a:solidFill>
                <a:ea typeface="宋体" pitchFamily="2" charset="-122"/>
              </a:rPr>
              <a:t>5.3 </a:t>
            </a:r>
            <a:r>
              <a:rPr lang="zh-CN" altLang="en-US" sz="3200" b="1" u="none" dirty="0">
                <a:solidFill>
                  <a:srgbClr val="800000"/>
                </a:solidFill>
                <a:ea typeface="宋体" pitchFamily="2" charset="-122"/>
              </a:rPr>
              <a:t>相关分析及应用</a:t>
            </a:r>
            <a:r>
              <a:rPr lang="zh-CN" altLang="en-US" b="1" u="none" dirty="0">
                <a:solidFill>
                  <a:srgbClr val="000066"/>
                </a:solidFill>
                <a:ea typeface="宋体" pitchFamily="2" charset="-122"/>
              </a:rPr>
              <a:t> </a:t>
            </a:r>
          </a:p>
        </p:txBody>
      </p:sp>
      <p:sp>
        <p:nvSpPr>
          <p:cNvPr id="2" name="右箭头 1"/>
          <p:cNvSpPr/>
          <p:nvPr/>
        </p:nvSpPr>
        <p:spPr bwMode="auto">
          <a:xfrm>
            <a:off x="4162550" y="4798030"/>
            <a:ext cx="474573" cy="441789"/>
          </a:xfrm>
          <a:prstGeom prst="rightArrow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800" b="0" i="0" u="sng" strike="noStrike" cap="none" normalizeH="0" baseline="0" smtClean="0">
              <a:ln>
                <a:noFill/>
              </a:ln>
              <a:solidFill>
                <a:srgbClr val="993300"/>
              </a:solidFill>
              <a:effectLst/>
              <a:latin typeface="Times New Roman" pitchFamily="18" charset="0"/>
              <a:ea typeface="黑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304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304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304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304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304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304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304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304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304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304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0439" grpId="0"/>
      <p:bldP spid="530442" grpId="0"/>
      <p:bldP spid="530443" grpId="0"/>
      <p:bldP spid="2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819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150" y="1003610"/>
            <a:ext cx="8183563" cy="49241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48197" name="Rectangle 5"/>
          <p:cNvSpPr>
            <a:spLocks noChangeArrowheads="1"/>
          </p:cNvSpPr>
          <p:nvPr/>
        </p:nvSpPr>
        <p:spPr bwMode="auto">
          <a:xfrm>
            <a:off x="2922588" y="5929591"/>
            <a:ext cx="332334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kumimoji="0" lang="zh-CN" altLang="en-US" sz="1800" b="1" u="none">
                <a:solidFill>
                  <a:srgbClr val="00B0F0"/>
                </a:solidFill>
                <a:latin typeface="黑体" pitchFamily="49" charset="-122"/>
                <a:ea typeface="黑体" pitchFamily="49" charset="-122"/>
              </a:rPr>
              <a:t>四种典型信号及其自相关函数 </a:t>
            </a:r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379413" y="300831"/>
            <a:ext cx="3738562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 b="1" u="none" dirty="0" smtClean="0">
                <a:solidFill>
                  <a:srgbClr val="800000"/>
                </a:solidFill>
                <a:ea typeface="宋体" pitchFamily="2" charset="-122"/>
              </a:rPr>
              <a:t>5.3 </a:t>
            </a:r>
            <a:r>
              <a:rPr lang="zh-CN" altLang="en-US" sz="3200" b="1" u="none" dirty="0">
                <a:solidFill>
                  <a:srgbClr val="800000"/>
                </a:solidFill>
                <a:ea typeface="宋体" pitchFamily="2" charset="-122"/>
              </a:rPr>
              <a:t>相关分析及应用</a:t>
            </a:r>
            <a:r>
              <a:rPr lang="zh-CN" altLang="en-US" b="1" u="none" dirty="0">
                <a:solidFill>
                  <a:srgbClr val="000066"/>
                </a:solidFill>
                <a:ea typeface="宋体" pitchFamily="2" charset="-122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466" name="Rectangle 2"/>
          <p:cNvSpPr>
            <a:spLocks noChangeArrowheads="1"/>
          </p:cNvSpPr>
          <p:nvPr/>
        </p:nvSpPr>
        <p:spPr bwMode="auto">
          <a:xfrm>
            <a:off x="342900" y="914400"/>
            <a:ext cx="5181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buClr>
                <a:srgbClr val="FF3300"/>
              </a:buClr>
              <a:buFont typeface="Wingdings" pitchFamily="2" charset="2"/>
              <a:buChar char="Ø"/>
            </a:pPr>
            <a:r>
              <a:rPr kumimoji="0" lang="zh-CN" altLang="en-US" sz="2400" b="1" u="none">
                <a:solidFill>
                  <a:schemeClr val="tx1"/>
                </a:solidFill>
              </a:rPr>
              <a:t>自相关分析测量转速</a:t>
            </a:r>
          </a:p>
        </p:txBody>
      </p:sp>
      <p:sp>
        <p:nvSpPr>
          <p:cNvPr id="574467" name="Rectangle 3"/>
          <p:cNvSpPr>
            <a:spLocks noChangeArrowheads="1"/>
          </p:cNvSpPr>
          <p:nvPr/>
        </p:nvSpPr>
        <p:spPr bwMode="auto">
          <a:xfrm>
            <a:off x="6248400" y="1257724"/>
            <a:ext cx="381000" cy="228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74468" name="Line 4"/>
          <p:cNvSpPr>
            <a:spLocks noChangeShapeType="1"/>
          </p:cNvSpPr>
          <p:nvPr/>
        </p:nvSpPr>
        <p:spPr bwMode="auto">
          <a:xfrm>
            <a:off x="4800600" y="1410124"/>
            <a:ext cx="1447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574469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1688" y="1676400"/>
            <a:ext cx="8001000" cy="3971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74470" name="Line 6"/>
          <p:cNvSpPr>
            <a:spLocks noChangeShapeType="1"/>
          </p:cNvSpPr>
          <p:nvPr/>
        </p:nvSpPr>
        <p:spPr bwMode="auto">
          <a:xfrm>
            <a:off x="4800600" y="1410124"/>
            <a:ext cx="0" cy="1295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574471" name="Picture 7" descr="gear"/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2300" y="929892"/>
            <a:ext cx="990600" cy="890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74472" name="Rectangle 8"/>
          <p:cNvSpPr>
            <a:spLocks noChangeArrowheads="1"/>
          </p:cNvSpPr>
          <p:nvPr/>
        </p:nvSpPr>
        <p:spPr bwMode="auto">
          <a:xfrm>
            <a:off x="1084263" y="1331913"/>
            <a:ext cx="1136650" cy="406400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18000">
            <a:spAutoFit/>
          </a:bodyPr>
          <a:lstStyle/>
          <a:p>
            <a:pPr algn="ctr"/>
            <a:r>
              <a:rPr lang="zh-CN" altLang="en-US" sz="2000" b="1" u="none">
                <a:solidFill>
                  <a:srgbClr val="990000"/>
                </a:solidFill>
                <a:latin typeface="黑体" pitchFamily="49" charset="-122"/>
                <a:ea typeface="黑体" pitchFamily="49" charset="-122"/>
              </a:rPr>
              <a:t>理想信号</a:t>
            </a:r>
          </a:p>
        </p:txBody>
      </p:sp>
      <p:sp>
        <p:nvSpPr>
          <p:cNvPr id="574473" name="Rectangle 9"/>
          <p:cNvSpPr>
            <a:spLocks noChangeArrowheads="1"/>
          </p:cNvSpPr>
          <p:nvPr/>
        </p:nvSpPr>
        <p:spPr bwMode="auto">
          <a:xfrm>
            <a:off x="995363" y="3632200"/>
            <a:ext cx="1136650" cy="406400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18000">
            <a:spAutoFit/>
          </a:bodyPr>
          <a:lstStyle/>
          <a:p>
            <a:pPr algn="ctr"/>
            <a:r>
              <a:rPr lang="zh-CN" altLang="en-US" sz="2000" b="1" u="none">
                <a:solidFill>
                  <a:srgbClr val="990000"/>
                </a:solidFill>
                <a:latin typeface="黑体" pitchFamily="49" charset="-122"/>
                <a:ea typeface="黑体" pitchFamily="49" charset="-122"/>
              </a:rPr>
              <a:t>干扰信号</a:t>
            </a:r>
          </a:p>
        </p:txBody>
      </p:sp>
      <p:sp>
        <p:nvSpPr>
          <p:cNvPr id="574474" name="Rectangle 10"/>
          <p:cNvSpPr>
            <a:spLocks noChangeArrowheads="1"/>
          </p:cNvSpPr>
          <p:nvPr/>
        </p:nvSpPr>
        <p:spPr bwMode="auto">
          <a:xfrm>
            <a:off x="3500438" y="2514600"/>
            <a:ext cx="1136650" cy="406400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18000">
            <a:spAutoFit/>
          </a:bodyPr>
          <a:lstStyle/>
          <a:p>
            <a:pPr algn="ctr"/>
            <a:r>
              <a:rPr lang="zh-CN" altLang="en-US" sz="2000" b="1" u="none">
                <a:solidFill>
                  <a:srgbClr val="990000"/>
                </a:solidFill>
                <a:latin typeface="黑体" pitchFamily="49" charset="-122"/>
                <a:ea typeface="黑体" pitchFamily="49" charset="-122"/>
              </a:rPr>
              <a:t>实测信号</a:t>
            </a:r>
          </a:p>
        </p:txBody>
      </p:sp>
      <p:sp>
        <p:nvSpPr>
          <p:cNvPr id="574475" name="Rectangle 11"/>
          <p:cNvSpPr>
            <a:spLocks noChangeArrowheads="1"/>
          </p:cNvSpPr>
          <p:nvPr/>
        </p:nvSpPr>
        <p:spPr bwMode="auto">
          <a:xfrm>
            <a:off x="6515100" y="2438400"/>
            <a:ext cx="1447800" cy="406400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18000">
            <a:spAutoFit/>
          </a:bodyPr>
          <a:lstStyle/>
          <a:p>
            <a:pPr algn="ctr"/>
            <a:r>
              <a:rPr lang="zh-CN" altLang="en-US" sz="2000" b="1" u="none" dirty="0">
                <a:solidFill>
                  <a:srgbClr val="990000"/>
                </a:solidFill>
                <a:latin typeface="黑体" pitchFamily="49" charset="-122"/>
                <a:ea typeface="黑体" pitchFamily="49" charset="-122"/>
              </a:rPr>
              <a:t>自相关系数</a:t>
            </a:r>
          </a:p>
        </p:txBody>
      </p:sp>
      <p:sp>
        <p:nvSpPr>
          <p:cNvPr id="574476" name="Rectangle 12"/>
          <p:cNvSpPr>
            <a:spLocks noChangeArrowheads="1"/>
          </p:cNvSpPr>
          <p:nvPr/>
        </p:nvSpPr>
        <p:spPr bwMode="auto">
          <a:xfrm>
            <a:off x="801688" y="5768975"/>
            <a:ext cx="3030538" cy="406400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000" b="1" u="none" dirty="0">
                <a:solidFill>
                  <a:srgbClr val="990000"/>
                </a:solidFill>
                <a:latin typeface="黑体" pitchFamily="49" charset="-122"/>
                <a:ea typeface="黑体" pitchFamily="49" charset="-122"/>
                <a:sym typeface="Wingdings" pitchFamily="2" charset="2"/>
              </a:rPr>
              <a:t>提取周期性转速</a:t>
            </a:r>
            <a:r>
              <a:rPr lang="zh-CN" altLang="en-US" sz="2000" b="1" u="none" dirty="0" smtClean="0">
                <a:solidFill>
                  <a:srgbClr val="990000"/>
                </a:solidFill>
                <a:latin typeface="黑体" pitchFamily="49" charset="-122"/>
                <a:ea typeface="黑体" pitchFamily="49" charset="-122"/>
                <a:sym typeface="Wingdings" pitchFamily="2" charset="2"/>
              </a:rPr>
              <a:t>成分</a:t>
            </a:r>
            <a:endParaRPr lang="zh-CN" altLang="en-US" sz="2000" b="1" u="none" dirty="0">
              <a:solidFill>
                <a:srgbClr val="990000"/>
              </a:solidFill>
              <a:latin typeface="黑体" pitchFamily="49" charset="-122"/>
              <a:ea typeface="黑体" pitchFamily="49" charset="-122"/>
            </a:endParaRPr>
          </a:p>
        </p:txBody>
      </p:sp>
      <p:grpSp>
        <p:nvGrpSpPr>
          <p:cNvPr id="574477" name="Group 13"/>
          <p:cNvGrpSpPr>
            <a:grpSpLocks/>
          </p:cNvGrpSpPr>
          <p:nvPr/>
        </p:nvGrpSpPr>
        <p:grpSpPr bwMode="auto">
          <a:xfrm>
            <a:off x="4803900" y="4639408"/>
            <a:ext cx="3581400" cy="1332767"/>
            <a:chOff x="960" y="912"/>
            <a:chExt cx="2256" cy="765"/>
          </a:xfrm>
        </p:grpSpPr>
        <p:sp>
          <p:nvSpPr>
            <p:cNvPr id="574478" name="Rectangle 14"/>
            <p:cNvSpPr>
              <a:spLocks noChangeArrowheads="1"/>
            </p:cNvSpPr>
            <p:nvPr/>
          </p:nvSpPr>
          <p:spPr bwMode="auto">
            <a:xfrm>
              <a:off x="960" y="912"/>
              <a:ext cx="2256" cy="268"/>
            </a:xfrm>
            <a:prstGeom prst="rect">
              <a:avLst/>
            </a:prstGeom>
            <a:solidFill>
              <a:srgbClr val="CCE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zh-CN" altLang="en-US" sz="2400" b="1" u="none">
                  <a:solidFill>
                    <a:srgbClr val="000066"/>
                  </a:solidFill>
                  <a:latin typeface="黑体" pitchFamily="49" charset="-122"/>
                  <a:ea typeface="黑体" pitchFamily="49" charset="-122"/>
                </a:rPr>
                <a:t>自相关分析的主要应用：</a:t>
              </a:r>
            </a:p>
          </p:txBody>
        </p:sp>
        <p:sp>
          <p:nvSpPr>
            <p:cNvPr id="574479" name="Rectangle 15"/>
            <p:cNvSpPr>
              <a:spLocks noChangeArrowheads="1"/>
            </p:cNvSpPr>
            <p:nvPr/>
          </p:nvSpPr>
          <p:spPr bwMode="auto">
            <a:xfrm>
              <a:off x="960" y="1200"/>
              <a:ext cx="2256" cy="477"/>
            </a:xfrm>
            <a:prstGeom prst="rect">
              <a:avLst/>
            </a:prstGeom>
            <a:solidFill>
              <a:srgbClr val="FF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0" lang="zh-CN" altLang="en-US" sz="2400" b="1" u="none" dirty="0">
                  <a:solidFill>
                    <a:srgbClr val="990000"/>
                  </a:solidFill>
                  <a:latin typeface="黑体" pitchFamily="49" charset="-122"/>
                  <a:ea typeface="黑体" pitchFamily="49" charset="-122"/>
                </a:rPr>
                <a:t>用来检测混肴在干扰信号中的确定性周期信号</a:t>
              </a:r>
              <a:r>
                <a:rPr kumimoji="0" lang="zh-CN" altLang="en-US" sz="2400" b="1" u="none" dirty="0" smtClean="0">
                  <a:solidFill>
                    <a:srgbClr val="990000"/>
                  </a:solidFill>
                  <a:latin typeface="黑体" pitchFamily="49" charset="-122"/>
                  <a:ea typeface="黑体" pitchFamily="49" charset="-122"/>
                </a:rPr>
                <a:t>成分</a:t>
              </a:r>
              <a:endParaRPr kumimoji="0" lang="zh-CN" altLang="en-US" sz="2400" b="1" u="none" dirty="0">
                <a:solidFill>
                  <a:srgbClr val="990000"/>
                </a:solidFill>
                <a:latin typeface="黑体" pitchFamily="49" charset="-122"/>
                <a:ea typeface="黑体" pitchFamily="49" charset="-122"/>
              </a:endParaRPr>
            </a:p>
          </p:txBody>
        </p:sp>
      </p:grpSp>
      <p:sp>
        <p:nvSpPr>
          <p:cNvPr id="16" name="Rectangle 4"/>
          <p:cNvSpPr>
            <a:spLocks noChangeArrowheads="1"/>
          </p:cNvSpPr>
          <p:nvPr/>
        </p:nvSpPr>
        <p:spPr bwMode="auto">
          <a:xfrm>
            <a:off x="379413" y="300831"/>
            <a:ext cx="3738562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 b="1" u="none" dirty="0" smtClean="0">
                <a:solidFill>
                  <a:srgbClr val="800000"/>
                </a:solidFill>
                <a:ea typeface="宋体" pitchFamily="2" charset="-122"/>
              </a:rPr>
              <a:t>5.3 </a:t>
            </a:r>
            <a:r>
              <a:rPr lang="zh-CN" altLang="en-US" sz="3200" b="1" u="none" dirty="0">
                <a:solidFill>
                  <a:srgbClr val="800000"/>
                </a:solidFill>
                <a:ea typeface="宋体" pitchFamily="2" charset="-122"/>
              </a:rPr>
              <a:t>相关分析及应用</a:t>
            </a:r>
            <a:r>
              <a:rPr lang="zh-CN" altLang="en-US" b="1" u="none" dirty="0">
                <a:solidFill>
                  <a:srgbClr val="000066"/>
                </a:solidFill>
                <a:ea typeface="宋体" pitchFamily="2" charset="-122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744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744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744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744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4476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9220" name="Picture 4" descr="3-19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653" y="1566244"/>
            <a:ext cx="8295010" cy="32934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49221" name="Rectangle 5"/>
          <p:cNvSpPr>
            <a:spLocks noChangeArrowheads="1"/>
          </p:cNvSpPr>
          <p:nvPr/>
        </p:nvSpPr>
        <p:spPr bwMode="auto">
          <a:xfrm>
            <a:off x="1000596" y="5499067"/>
            <a:ext cx="249619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altLang="zh-CN" b="1" u="none" dirty="0">
                <a:solidFill>
                  <a:schemeClr val="tx1"/>
                </a:solidFill>
                <a:ea typeface="黑体" pitchFamily="49" charset="-122"/>
                <a:cs typeface="Times New Roman" pitchFamily="18" charset="0"/>
              </a:rPr>
              <a:t>Ra(</a:t>
            </a:r>
            <a:r>
              <a:rPr lang="en-US" altLang="zh-CN" b="1" i="1" u="none" dirty="0">
                <a:solidFill>
                  <a:schemeClr val="tx1"/>
                </a:solidFill>
                <a:ea typeface="黑体" pitchFamily="49" charset="-122"/>
                <a:cs typeface="Times New Roman" pitchFamily="18" charset="0"/>
              </a:rPr>
              <a:t>t</a:t>
            </a:r>
            <a:r>
              <a:rPr lang="en-US" altLang="zh-CN" b="1" u="none" dirty="0">
                <a:solidFill>
                  <a:schemeClr val="tx1"/>
                </a:solidFill>
                <a:ea typeface="黑体" pitchFamily="49" charset="-122"/>
                <a:cs typeface="Times New Roman" pitchFamily="18" charset="0"/>
              </a:rPr>
              <a:t>)</a:t>
            </a:r>
            <a:r>
              <a:rPr lang="zh-CN" altLang="en-US" b="1" u="none" dirty="0">
                <a:solidFill>
                  <a:schemeClr val="tx1"/>
                </a:solidFill>
                <a:ea typeface="黑体" pitchFamily="49" charset="-122"/>
                <a:cs typeface="Times New Roman" pitchFamily="18" charset="0"/>
              </a:rPr>
              <a:t>呈</a:t>
            </a:r>
            <a:r>
              <a:rPr lang="zh-CN" altLang="en-US" b="1" u="none" dirty="0" smtClean="0">
                <a:solidFill>
                  <a:srgbClr val="FF0000"/>
                </a:solidFill>
                <a:ea typeface="黑体" pitchFamily="49" charset="-122"/>
                <a:cs typeface="Times New Roman" pitchFamily="18" charset="0"/>
              </a:rPr>
              <a:t>周期性</a:t>
            </a:r>
            <a:endParaRPr lang="zh-CN" altLang="en-US" b="1" dirty="0">
              <a:solidFill>
                <a:srgbClr val="FF0000"/>
              </a:solidFill>
              <a:ea typeface="黑体" pitchFamily="49" charset="-122"/>
              <a:cs typeface="Times New Roman" pitchFamily="18" charset="0"/>
            </a:endParaRPr>
          </a:p>
        </p:txBody>
      </p:sp>
      <p:sp>
        <p:nvSpPr>
          <p:cNvPr id="649222" name="Rectangle 6"/>
          <p:cNvSpPr>
            <a:spLocks noChangeArrowheads="1"/>
          </p:cNvSpPr>
          <p:nvPr/>
        </p:nvSpPr>
        <p:spPr bwMode="auto">
          <a:xfrm>
            <a:off x="344488" y="962567"/>
            <a:ext cx="57324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buClr>
                <a:srgbClr val="FF3300"/>
              </a:buClr>
              <a:buFont typeface="Wingdings" pitchFamily="2" charset="2"/>
              <a:buChar char="Ø"/>
            </a:pPr>
            <a:r>
              <a:rPr kumimoji="0" lang="zh-CN" altLang="en-US" sz="2400" b="1" u="none" dirty="0">
                <a:solidFill>
                  <a:schemeClr val="tx1"/>
                </a:solidFill>
              </a:rPr>
              <a:t>分析造成机械加工表面的粗糙度的原因</a:t>
            </a:r>
          </a:p>
        </p:txBody>
      </p:sp>
      <p:sp>
        <p:nvSpPr>
          <p:cNvPr id="649224" name="Rectangle 8"/>
          <p:cNvSpPr>
            <a:spLocks noChangeArrowheads="1"/>
          </p:cNvSpPr>
          <p:nvPr/>
        </p:nvSpPr>
        <p:spPr bwMode="auto">
          <a:xfrm>
            <a:off x="0" y="32527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64922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22887313"/>
              </p:ext>
            </p:extLst>
          </p:nvPr>
        </p:nvGraphicFramePr>
        <p:xfrm>
          <a:off x="3875292" y="5307370"/>
          <a:ext cx="3063464" cy="906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9276" name="Equation" r:id="rId4" imgW="1193800" imgH="355600" progId="Equation.DSMT4">
                  <p:embed/>
                </p:oleObj>
              </mc:Choice>
              <mc:Fallback>
                <p:oleObj name="Equation" r:id="rId4" imgW="1193800" imgH="3556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75292" y="5307370"/>
                        <a:ext cx="3063464" cy="906613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379413" y="300831"/>
            <a:ext cx="3738562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 b="1" u="none" dirty="0" smtClean="0">
                <a:solidFill>
                  <a:srgbClr val="800000"/>
                </a:solidFill>
                <a:ea typeface="宋体" pitchFamily="2" charset="-122"/>
              </a:rPr>
              <a:t>5.3 </a:t>
            </a:r>
            <a:r>
              <a:rPr lang="zh-CN" altLang="en-US" sz="3200" b="1" u="none" dirty="0">
                <a:solidFill>
                  <a:srgbClr val="800000"/>
                </a:solidFill>
                <a:ea typeface="宋体" pitchFamily="2" charset="-122"/>
              </a:rPr>
              <a:t>相关分析及应用</a:t>
            </a:r>
            <a:r>
              <a:rPr lang="zh-CN" altLang="en-US" b="1" u="none" dirty="0">
                <a:solidFill>
                  <a:srgbClr val="000066"/>
                </a:solidFill>
                <a:ea typeface="宋体" pitchFamily="2" charset="-122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9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9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9221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87" name="Rectangle 87"/>
          <p:cNvSpPr>
            <a:spLocks noChangeArrowheads="1"/>
          </p:cNvSpPr>
          <p:nvPr/>
        </p:nvSpPr>
        <p:spPr bwMode="auto">
          <a:xfrm>
            <a:off x="444500" y="878681"/>
            <a:ext cx="2438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b="1" u="none" dirty="0">
                <a:solidFill>
                  <a:srgbClr val="000066"/>
                </a:solidFill>
              </a:rPr>
              <a:t>4.</a:t>
            </a:r>
            <a:r>
              <a:rPr lang="zh-CN" altLang="en-US" b="1" u="none" dirty="0">
                <a:solidFill>
                  <a:srgbClr val="000066"/>
                </a:solidFill>
              </a:rPr>
              <a:t>互相关函数</a:t>
            </a:r>
          </a:p>
        </p:txBody>
      </p:sp>
      <p:sp>
        <p:nvSpPr>
          <p:cNvPr id="614488" name="Rectangle 88"/>
          <p:cNvSpPr>
            <a:spLocks noChangeArrowheads="1"/>
          </p:cNvSpPr>
          <p:nvPr/>
        </p:nvSpPr>
        <p:spPr bwMode="auto">
          <a:xfrm>
            <a:off x="534988" y="1345620"/>
            <a:ext cx="8380412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>
              <a:buClr>
                <a:srgbClr val="FF3300"/>
              </a:buClr>
              <a:buFont typeface="Wingdings" pitchFamily="2" charset="2"/>
              <a:buChar char="Ø"/>
            </a:pPr>
            <a:r>
              <a:rPr kumimoji="0" lang="zh-CN" altLang="en-US" sz="2400" b="1" u="none" dirty="0">
                <a:solidFill>
                  <a:schemeClr val="tx1"/>
                </a:solidFill>
              </a:rPr>
              <a:t>对于</a:t>
            </a:r>
            <a:r>
              <a:rPr kumimoji="0" lang="zh-CN" altLang="en-US" sz="2400" b="1" u="none" dirty="0">
                <a:solidFill>
                  <a:srgbClr val="FF3300"/>
                </a:solidFill>
              </a:rPr>
              <a:t>各态历经</a:t>
            </a:r>
            <a:r>
              <a:rPr kumimoji="0" lang="zh-CN" altLang="en-US" sz="2400" b="1" u="none" dirty="0">
                <a:solidFill>
                  <a:schemeClr val="tx1"/>
                </a:solidFill>
              </a:rPr>
              <a:t>随机过程，两个随机信号</a:t>
            </a:r>
            <a:r>
              <a:rPr kumimoji="0" lang="en-US" altLang="zh-CN" sz="2400" b="1" i="1" u="none" dirty="0">
                <a:solidFill>
                  <a:schemeClr val="tx1"/>
                </a:solidFill>
              </a:rPr>
              <a:t>x</a:t>
            </a:r>
            <a:r>
              <a:rPr kumimoji="0" lang="en-US" altLang="zh-CN" sz="2400" b="1" u="none" dirty="0">
                <a:solidFill>
                  <a:schemeClr val="tx1"/>
                </a:solidFill>
              </a:rPr>
              <a:t>(</a:t>
            </a:r>
            <a:r>
              <a:rPr kumimoji="0" lang="en-US" altLang="zh-CN" sz="2400" b="1" i="1" u="none" dirty="0">
                <a:solidFill>
                  <a:schemeClr val="tx1"/>
                </a:solidFill>
              </a:rPr>
              <a:t>t</a:t>
            </a:r>
            <a:r>
              <a:rPr kumimoji="0" lang="en-US" altLang="zh-CN" sz="2400" b="1" u="none" dirty="0">
                <a:solidFill>
                  <a:schemeClr val="tx1"/>
                </a:solidFill>
              </a:rPr>
              <a:t>)</a:t>
            </a:r>
            <a:r>
              <a:rPr kumimoji="0" lang="zh-CN" altLang="en-US" sz="2400" b="1" u="none" dirty="0">
                <a:solidFill>
                  <a:schemeClr val="tx1"/>
                </a:solidFill>
              </a:rPr>
              <a:t>、</a:t>
            </a:r>
            <a:r>
              <a:rPr kumimoji="0" lang="en-US" altLang="zh-CN" sz="2400" b="1" i="1" u="none" dirty="0">
                <a:solidFill>
                  <a:schemeClr val="tx1"/>
                </a:solidFill>
              </a:rPr>
              <a:t>y</a:t>
            </a:r>
            <a:r>
              <a:rPr kumimoji="0" lang="en-US" altLang="zh-CN" sz="2400" b="1" u="none" dirty="0">
                <a:solidFill>
                  <a:schemeClr val="tx1"/>
                </a:solidFill>
              </a:rPr>
              <a:t>(</a:t>
            </a:r>
            <a:r>
              <a:rPr kumimoji="0" lang="en-US" altLang="zh-CN" sz="2400" b="1" i="1" u="none" dirty="0">
                <a:solidFill>
                  <a:schemeClr val="tx1"/>
                </a:solidFill>
              </a:rPr>
              <a:t>t</a:t>
            </a:r>
            <a:r>
              <a:rPr kumimoji="0" lang="en-US" altLang="zh-CN" sz="2400" b="1" u="none" dirty="0">
                <a:solidFill>
                  <a:schemeClr val="tx1"/>
                </a:solidFill>
              </a:rPr>
              <a:t>)</a:t>
            </a:r>
            <a:r>
              <a:rPr kumimoji="0" lang="zh-CN" altLang="en-US" sz="2400" b="1" u="none" dirty="0">
                <a:solidFill>
                  <a:schemeClr val="tx1"/>
                </a:solidFill>
              </a:rPr>
              <a:t>的互相关函数定义为 </a:t>
            </a:r>
            <a:r>
              <a:rPr kumimoji="0" lang="zh-CN" altLang="en-US" sz="2400" b="1" u="none" dirty="0" smtClean="0">
                <a:solidFill>
                  <a:schemeClr val="tx1"/>
                </a:solidFill>
              </a:rPr>
              <a:t>：</a:t>
            </a:r>
            <a:endParaRPr kumimoji="0" lang="zh-CN" altLang="en-US" sz="2400" b="1" u="none" dirty="0">
              <a:solidFill>
                <a:schemeClr val="tx1"/>
              </a:solidFill>
            </a:endParaRPr>
          </a:p>
        </p:txBody>
      </p:sp>
      <p:graphicFrame>
        <p:nvGraphicFramePr>
          <p:cNvPr id="614489" name="Object 8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9881584"/>
              </p:ext>
            </p:extLst>
          </p:nvPr>
        </p:nvGraphicFramePr>
        <p:xfrm>
          <a:off x="2443162" y="1952505"/>
          <a:ext cx="3927475" cy="7524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557" name="公式" r:id="rId3" imgW="1790700" imgH="342900" progId="Equation.3">
                  <p:embed/>
                </p:oleObj>
              </mc:Choice>
              <mc:Fallback>
                <p:oleObj name="公式" r:id="rId3" imgW="1790700" imgH="342900" progId="Equation.3">
                  <p:embed/>
                  <p:pic>
                    <p:nvPicPr>
                      <p:cNvPr id="0" name="Object 8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43162" y="1952505"/>
                        <a:ext cx="3927475" cy="752439"/>
                      </a:xfrm>
                      <a:prstGeom prst="rect">
                        <a:avLst/>
                      </a:prstGeom>
                      <a:solidFill>
                        <a:srgbClr val="CC99FF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4490" name="Rectangle 90"/>
          <p:cNvSpPr>
            <a:spLocks noChangeArrowheads="1"/>
          </p:cNvSpPr>
          <p:nvPr/>
        </p:nvSpPr>
        <p:spPr bwMode="auto">
          <a:xfrm>
            <a:off x="531813" y="2684848"/>
            <a:ext cx="8218487" cy="155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>
              <a:buClr>
                <a:srgbClr val="FF3300"/>
              </a:buClr>
              <a:buFont typeface="Wingdings" pitchFamily="2" charset="2"/>
              <a:buChar char="Ø"/>
            </a:pPr>
            <a:r>
              <a:rPr kumimoji="0" lang="zh-CN" altLang="en-US" sz="2400" b="1" u="none" dirty="0">
                <a:solidFill>
                  <a:schemeClr val="tx1"/>
                </a:solidFill>
              </a:rPr>
              <a:t>互相关函数</a:t>
            </a:r>
            <a:r>
              <a:rPr kumimoji="0" lang="en-US" altLang="zh-CN" sz="2400" b="1" i="1" u="none" dirty="0" err="1">
                <a:solidFill>
                  <a:schemeClr val="tx1"/>
                </a:solidFill>
              </a:rPr>
              <a:t>R</a:t>
            </a:r>
            <a:r>
              <a:rPr kumimoji="0" lang="en-US" altLang="zh-CN" sz="2400" b="1" i="1" u="none" baseline="-25000" dirty="0" err="1">
                <a:solidFill>
                  <a:schemeClr val="tx1"/>
                </a:solidFill>
              </a:rPr>
              <a:t>xy</a:t>
            </a:r>
            <a:r>
              <a:rPr kumimoji="0" lang="en-US" altLang="zh-CN" sz="2400" b="1" u="none" dirty="0">
                <a:solidFill>
                  <a:schemeClr val="tx1"/>
                </a:solidFill>
              </a:rPr>
              <a:t>(</a:t>
            </a:r>
            <a:r>
              <a:rPr kumimoji="0" lang="en-US" altLang="zh-CN" sz="2400" b="1" i="1" u="none" dirty="0">
                <a:solidFill>
                  <a:schemeClr val="tx1"/>
                </a:solidFill>
              </a:rPr>
              <a:t>τ</a:t>
            </a:r>
            <a:r>
              <a:rPr kumimoji="0" lang="en-US" altLang="zh-CN" sz="2400" b="1" u="none" dirty="0">
                <a:solidFill>
                  <a:schemeClr val="tx1"/>
                </a:solidFill>
              </a:rPr>
              <a:t>)——</a:t>
            </a:r>
            <a:r>
              <a:rPr kumimoji="0" lang="zh-CN" altLang="en-US" sz="2400" b="1" u="none" dirty="0">
                <a:solidFill>
                  <a:schemeClr val="tx1"/>
                </a:solidFill>
              </a:rPr>
              <a:t>描述一个系统中的一处测点上所得的数据</a:t>
            </a:r>
            <a:r>
              <a:rPr kumimoji="0" lang="en-US" altLang="zh-CN" sz="2400" b="1" i="1" u="none" dirty="0">
                <a:solidFill>
                  <a:schemeClr val="tx1"/>
                </a:solidFill>
              </a:rPr>
              <a:t>x</a:t>
            </a:r>
            <a:r>
              <a:rPr kumimoji="0" lang="en-US" altLang="zh-CN" sz="2400" b="1" u="none" dirty="0">
                <a:solidFill>
                  <a:schemeClr val="tx1"/>
                </a:solidFill>
              </a:rPr>
              <a:t>(</a:t>
            </a:r>
            <a:r>
              <a:rPr kumimoji="0" lang="en-US" altLang="zh-CN" sz="2400" b="1" i="1" u="none" dirty="0">
                <a:solidFill>
                  <a:schemeClr val="tx1"/>
                </a:solidFill>
              </a:rPr>
              <a:t>t</a:t>
            </a:r>
            <a:r>
              <a:rPr kumimoji="0" lang="en-US" altLang="zh-CN" sz="2400" b="1" u="none" dirty="0">
                <a:solidFill>
                  <a:schemeClr val="tx1"/>
                </a:solidFill>
              </a:rPr>
              <a:t>)</a:t>
            </a:r>
            <a:r>
              <a:rPr kumimoji="0" lang="zh-CN" altLang="en-US" sz="2400" b="1" u="none" dirty="0">
                <a:solidFill>
                  <a:schemeClr val="tx1"/>
                </a:solidFill>
              </a:rPr>
              <a:t>与</a:t>
            </a:r>
            <a:r>
              <a:rPr kumimoji="0" lang="zh-CN" altLang="en-US" sz="2400" b="1" u="none" dirty="0">
                <a:solidFill>
                  <a:srgbClr val="FF3300"/>
                </a:solidFill>
              </a:rPr>
              <a:t>同一系统</a:t>
            </a:r>
            <a:r>
              <a:rPr kumimoji="0" lang="zh-CN" altLang="en-US" sz="2400" b="1" u="none" dirty="0">
                <a:solidFill>
                  <a:schemeClr val="tx1"/>
                </a:solidFill>
              </a:rPr>
              <a:t>的另外一测点数据</a:t>
            </a:r>
            <a:r>
              <a:rPr kumimoji="0" lang="en-US" altLang="zh-CN" sz="2400" b="1" i="1" u="none" dirty="0">
                <a:solidFill>
                  <a:schemeClr val="tx1"/>
                </a:solidFill>
              </a:rPr>
              <a:t>y</a:t>
            </a:r>
            <a:r>
              <a:rPr kumimoji="0" lang="en-US" altLang="zh-CN" sz="2400" b="1" u="none" dirty="0">
                <a:solidFill>
                  <a:schemeClr val="tx1"/>
                </a:solidFill>
              </a:rPr>
              <a:t>(</a:t>
            </a:r>
            <a:r>
              <a:rPr kumimoji="0" lang="en-US" altLang="zh-CN" sz="2400" b="1" i="1" u="none" dirty="0">
                <a:solidFill>
                  <a:schemeClr val="tx1"/>
                </a:solidFill>
              </a:rPr>
              <a:t>t</a:t>
            </a:r>
            <a:r>
              <a:rPr kumimoji="0" lang="en-US" altLang="zh-CN" sz="2400" b="1" u="none" dirty="0">
                <a:solidFill>
                  <a:schemeClr val="tx1"/>
                </a:solidFill>
              </a:rPr>
              <a:t>)</a:t>
            </a:r>
            <a:r>
              <a:rPr kumimoji="0" lang="zh-CN" altLang="en-US" sz="2400" b="1" u="none" dirty="0">
                <a:solidFill>
                  <a:schemeClr val="tx1"/>
                </a:solidFill>
              </a:rPr>
              <a:t>互相比较得出它们之间的关系。也就是说，</a:t>
            </a:r>
            <a:r>
              <a:rPr kumimoji="0" lang="en-US" altLang="zh-CN" sz="2400" b="1" i="1" u="none" dirty="0" err="1">
                <a:solidFill>
                  <a:schemeClr val="tx1"/>
                </a:solidFill>
              </a:rPr>
              <a:t>R</a:t>
            </a:r>
            <a:r>
              <a:rPr kumimoji="0" lang="en-US" altLang="zh-CN" sz="2400" b="1" i="1" u="none" baseline="-25000" dirty="0" err="1">
                <a:solidFill>
                  <a:schemeClr val="tx1"/>
                </a:solidFill>
              </a:rPr>
              <a:t>xy</a:t>
            </a:r>
            <a:r>
              <a:rPr kumimoji="0" lang="en-US" altLang="zh-CN" sz="2400" b="1" u="none" dirty="0">
                <a:solidFill>
                  <a:schemeClr val="tx1"/>
                </a:solidFill>
              </a:rPr>
              <a:t>(τ)</a:t>
            </a:r>
            <a:r>
              <a:rPr kumimoji="0" lang="zh-CN" altLang="en-US" sz="2400" b="1" u="none" dirty="0">
                <a:solidFill>
                  <a:schemeClr val="tx1"/>
                </a:solidFill>
              </a:rPr>
              <a:t>是表示两个随机信号</a:t>
            </a:r>
            <a:r>
              <a:rPr kumimoji="0" lang="en-US" altLang="zh-CN" sz="2400" b="1" i="1" u="none" dirty="0">
                <a:solidFill>
                  <a:schemeClr val="tx1"/>
                </a:solidFill>
              </a:rPr>
              <a:t>x</a:t>
            </a:r>
            <a:r>
              <a:rPr kumimoji="0" lang="en-US" altLang="zh-CN" sz="2400" b="1" u="none" dirty="0">
                <a:solidFill>
                  <a:schemeClr val="tx1"/>
                </a:solidFill>
              </a:rPr>
              <a:t>(</a:t>
            </a:r>
            <a:r>
              <a:rPr kumimoji="0" lang="en-US" altLang="zh-CN" sz="2400" b="1" i="1" u="none" dirty="0">
                <a:solidFill>
                  <a:schemeClr val="tx1"/>
                </a:solidFill>
              </a:rPr>
              <a:t>t</a:t>
            </a:r>
            <a:r>
              <a:rPr kumimoji="0" lang="en-US" altLang="zh-CN" sz="2400" b="1" u="none" dirty="0">
                <a:solidFill>
                  <a:schemeClr val="tx1"/>
                </a:solidFill>
              </a:rPr>
              <a:t>)</a:t>
            </a:r>
            <a:r>
              <a:rPr kumimoji="0" lang="zh-CN" altLang="en-US" sz="2400" b="1" u="none" dirty="0">
                <a:solidFill>
                  <a:schemeClr val="tx1"/>
                </a:solidFill>
              </a:rPr>
              <a:t>、</a:t>
            </a:r>
            <a:r>
              <a:rPr kumimoji="0" lang="en-US" altLang="zh-CN" sz="2400" b="1" i="1" u="none" dirty="0">
                <a:solidFill>
                  <a:schemeClr val="tx1"/>
                </a:solidFill>
              </a:rPr>
              <a:t>y</a:t>
            </a:r>
            <a:r>
              <a:rPr kumimoji="0" lang="en-US" altLang="zh-CN" sz="2400" b="1" u="none" dirty="0">
                <a:solidFill>
                  <a:schemeClr val="tx1"/>
                </a:solidFill>
              </a:rPr>
              <a:t>(</a:t>
            </a:r>
            <a:r>
              <a:rPr kumimoji="0" lang="en-US" altLang="zh-CN" sz="2400" b="1" i="1" u="none" dirty="0">
                <a:solidFill>
                  <a:schemeClr val="tx1"/>
                </a:solidFill>
              </a:rPr>
              <a:t>t</a:t>
            </a:r>
            <a:r>
              <a:rPr kumimoji="0" lang="en-US" altLang="zh-CN" sz="2400" b="1" u="none" dirty="0">
                <a:solidFill>
                  <a:schemeClr val="tx1"/>
                </a:solidFill>
              </a:rPr>
              <a:t>)</a:t>
            </a:r>
            <a:r>
              <a:rPr kumimoji="0" lang="zh-CN" altLang="en-US" sz="2400" b="1" u="none" dirty="0">
                <a:solidFill>
                  <a:schemeClr val="tx1"/>
                </a:solidFill>
              </a:rPr>
              <a:t>相关性的统计量。 </a:t>
            </a:r>
          </a:p>
        </p:txBody>
      </p:sp>
      <p:sp>
        <p:nvSpPr>
          <p:cNvPr id="614491" name="Rectangle 91"/>
          <p:cNvSpPr>
            <a:spLocks noChangeArrowheads="1"/>
          </p:cNvSpPr>
          <p:nvPr/>
        </p:nvSpPr>
        <p:spPr bwMode="auto">
          <a:xfrm>
            <a:off x="6907944" y="2091531"/>
            <a:ext cx="812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kumimoji="0" lang="en-US" altLang="zh-CN" sz="1800" b="1" u="none" dirty="0" smtClean="0">
                <a:solidFill>
                  <a:srgbClr val="FF3300"/>
                </a:solidFill>
                <a:ea typeface="宋体" pitchFamily="2" charset="-122"/>
              </a:rPr>
              <a:t>(</a:t>
            </a:r>
            <a:r>
              <a:rPr kumimoji="0" lang="en-US" altLang="zh-CN" sz="1800" b="1" u="none" dirty="0" smtClean="0">
                <a:solidFill>
                  <a:srgbClr val="FF3300"/>
                </a:solidFill>
              </a:rPr>
              <a:t>5-</a:t>
            </a:r>
            <a:r>
              <a:rPr kumimoji="0" lang="en-US" altLang="zh-CN" sz="1800" b="1" u="none" dirty="0" smtClean="0">
                <a:solidFill>
                  <a:srgbClr val="FF3300"/>
                </a:solidFill>
                <a:ea typeface="宋体" pitchFamily="2" charset="-122"/>
              </a:rPr>
              <a:t>15</a:t>
            </a:r>
            <a:r>
              <a:rPr kumimoji="0" lang="en-US" altLang="zh-CN" sz="1800" b="1" u="none" dirty="0">
                <a:solidFill>
                  <a:srgbClr val="FF3300"/>
                </a:solidFill>
                <a:ea typeface="宋体" pitchFamily="2" charset="-122"/>
              </a:rPr>
              <a:t>)</a:t>
            </a:r>
            <a:r>
              <a:rPr kumimoji="0" lang="en-US" altLang="zh-CN" sz="1800" u="none" dirty="0">
                <a:solidFill>
                  <a:srgbClr val="FF3300"/>
                </a:solidFill>
                <a:ea typeface="宋体" pitchFamily="2" charset="-122"/>
              </a:rPr>
              <a:t> </a:t>
            </a:r>
          </a:p>
        </p:txBody>
      </p:sp>
      <p:grpSp>
        <p:nvGrpSpPr>
          <p:cNvPr id="614492" name="Group 92"/>
          <p:cNvGrpSpPr>
            <a:grpSpLocks/>
          </p:cNvGrpSpPr>
          <p:nvPr/>
        </p:nvGrpSpPr>
        <p:grpSpPr bwMode="auto">
          <a:xfrm>
            <a:off x="825500" y="4176713"/>
            <a:ext cx="7620000" cy="2219325"/>
            <a:chOff x="528" y="1104"/>
            <a:chExt cx="4800" cy="1398"/>
          </a:xfrm>
        </p:grpSpPr>
        <p:sp>
          <p:nvSpPr>
            <p:cNvPr id="614493" name="Text Box 93"/>
            <p:cNvSpPr txBox="1">
              <a:spLocks noChangeArrowheads="1"/>
            </p:cNvSpPr>
            <p:nvPr/>
          </p:nvSpPr>
          <p:spPr bwMode="auto">
            <a:xfrm>
              <a:off x="528" y="1152"/>
              <a:ext cx="384" cy="288"/>
            </a:xfrm>
            <a:prstGeom prst="rect">
              <a:avLst/>
            </a:prstGeom>
            <a:solidFill>
              <a:srgbClr val="FFCC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1" i="1" u="none">
                  <a:solidFill>
                    <a:schemeClr val="tx1"/>
                  </a:solidFill>
                  <a:ea typeface="宋体" pitchFamily="2" charset="-122"/>
                </a:rPr>
                <a:t>x</a:t>
              </a:r>
              <a:r>
                <a:rPr lang="en-US" altLang="zh-CN" sz="2400" b="1" u="none">
                  <a:solidFill>
                    <a:schemeClr val="tx1"/>
                  </a:solidFill>
                  <a:ea typeface="宋体" pitchFamily="2" charset="-122"/>
                </a:rPr>
                <a:t>(</a:t>
              </a:r>
              <a:r>
                <a:rPr lang="en-US" altLang="zh-CN" sz="2400" b="1" i="1" u="none">
                  <a:solidFill>
                    <a:schemeClr val="tx1"/>
                  </a:solidFill>
                  <a:ea typeface="宋体" pitchFamily="2" charset="-122"/>
                </a:rPr>
                <a:t>t</a:t>
              </a:r>
              <a:r>
                <a:rPr lang="en-US" altLang="zh-CN" sz="2400" b="1" u="none">
                  <a:solidFill>
                    <a:schemeClr val="tx1"/>
                  </a:solidFill>
                  <a:ea typeface="宋体" pitchFamily="2" charset="-122"/>
                </a:rPr>
                <a:t>)</a:t>
              </a:r>
            </a:p>
          </p:txBody>
        </p:sp>
        <p:sp>
          <p:nvSpPr>
            <p:cNvPr id="614494" name="Text Box 94"/>
            <p:cNvSpPr txBox="1">
              <a:spLocks noChangeArrowheads="1"/>
            </p:cNvSpPr>
            <p:nvPr/>
          </p:nvSpPr>
          <p:spPr bwMode="auto">
            <a:xfrm>
              <a:off x="528" y="1824"/>
              <a:ext cx="384" cy="288"/>
            </a:xfrm>
            <a:prstGeom prst="rect">
              <a:avLst/>
            </a:prstGeom>
            <a:solidFill>
              <a:srgbClr val="FFCC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1" i="1" u="none">
                  <a:solidFill>
                    <a:schemeClr val="tx1"/>
                  </a:solidFill>
                  <a:ea typeface="宋体" pitchFamily="2" charset="-122"/>
                </a:rPr>
                <a:t>y</a:t>
              </a:r>
              <a:r>
                <a:rPr lang="en-US" altLang="zh-CN" sz="2400" b="1" u="none">
                  <a:solidFill>
                    <a:schemeClr val="tx1"/>
                  </a:solidFill>
                  <a:ea typeface="宋体" pitchFamily="2" charset="-122"/>
                </a:rPr>
                <a:t>(t)</a:t>
              </a:r>
            </a:p>
          </p:txBody>
        </p:sp>
        <p:sp>
          <p:nvSpPr>
            <p:cNvPr id="614495" name="Line 95"/>
            <p:cNvSpPr>
              <a:spLocks noChangeShapeType="1"/>
            </p:cNvSpPr>
            <p:nvPr/>
          </p:nvSpPr>
          <p:spPr bwMode="auto">
            <a:xfrm>
              <a:off x="960" y="1344"/>
              <a:ext cx="172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4496" name="Line 96"/>
            <p:cNvSpPr>
              <a:spLocks noChangeShapeType="1"/>
            </p:cNvSpPr>
            <p:nvPr/>
          </p:nvSpPr>
          <p:spPr bwMode="auto">
            <a:xfrm>
              <a:off x="960" y="1968"/>
              <a:ext cx="57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4497" name="Text Box 97"/>
            <p:cNvSpPr txBox="1">
              <a:spLocks noChangeArrowheads="1"/>
            </p:cNvSpPr>
            <p:nvPr/>
          </p:nvSpPr>
          <p:spPr bwMode="auto">
            <a:xfrm>
              <a:off x="1536" y="1440"/>
              <a:ext cx="288" cy="1062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US" altLang="zh-CN" sz="2000" b="1" u="none">
                <a:solidFill>
                  <a:srgbClr val="990000"/>
                </a:solidFill>
                <a:ea typeface="宋体" pitchFamily="2" charset="-122"/>
              </a:endParaRPr>
            </a:p>
            <a:p>
              <a:r>
                <a:rPr lang="zh-CN" altLang="en-US" sz="2000" b="1" u="none">
                  <a:solidFill>
                    <a:srgbClr val="990000"/>
                  </a:solidFill>
                  <a:ea typeface="宋体" pitchFamily="2" charset="-122"/>
                </a:rPr>
                <a:t>时</a:t>
              </a:r>
            </a:p>
            <a:p>
              <a:r>
                <a:rPr lang="zh-CN" altLang="en-US" sz="2000" b="1" u="none">
                  <a:solidFill>
                    <a:srgbClr val="990000"/>
                  </a:solidFill>
                  <a:ea typeface="宋体" pitchFamily="2" charset="-122"/>
                </a:rPr>
                <a:t>延</a:t>
              </a:r>
            </a:p>
            <a:p>
              <a:r>
                <a:rPr lang="zh-CN" altLang="en-US" sz="2000" b="1" u="none">
                  <a:solidFill>
                    <a:srgbClr val="990000"/>
                  </a:solidFill>
                  <a:ea typeface="宋体" pitchFamily="2" charset="-122"/>
                </a:rPr>
                <a:t>器</a:t>
              </a:r>
            </a:p>
            <a:p>
              <a:r>
                <a:rPr lang="zh-CN" altLang="en-US" sz="2400" u="none">
                  <a:solidFill>
                    <a:schemeClr val="tx1"/>
                  </a:solidFill>
                  <a:ea typeface="宋体" pitchFamily="2" charset="-122"/>
                </a:rPr>
                <a:t> </a:t>
              </a:r>
            </a:p>
          </p:txBody>
        </p:sp>
        <p:sp>
          <p:nvSpPr>
            <p:cNvPr id="614498" name="Line 98"/>
            <p:cNvSpPr>
              <a:spLocks noChangeShapeType="1"/>
            </p:cNvSpPr>
            <p:nvPr/>
          </p:nvSpPr>
          <p:spPr bwMode="auto">
            <a:xfrm>
              <a:off x="1824" y="1968"/>
              <a:ext cx="86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4499" name="Text Box 99"/>
            <p:cNvSpPr txBox="1">
              <a:spLocks noChangeArrowheads="1"/>
            </p:cNvSpPr>
            <p:nvPr/>
          </p:nvSpPr>
          <p:spPr bwMode="auto">
            <a:xfrm>
              <a:off x="2688" y="1200"/>
              <a:ext cx="288" cy="1062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endParaRPr lang="en-US" altLang="zh-CN" sz="2000" b="1" u="none">
                <a:solidFill>
                  <a:srgbClr val="990000"/>
                </a:solidFill>
                <a:ea typeface="宋体" pitchFamily="2" charset="-122"/>
              </a:endParaRPr>
            </a:p>
            <a:p>
              <a:r>
                <a:rPr lang="zh-CN" altLang="en-US" sz="2000" b="1" u="none">
                  <a:solidFill>
                    <a:srgbClr val="990000"/>
                  </a:solidFill>
                  <a:ea typeface="宋体" pitchFamily="2" charset="-122"/>
                </a:rPr>
                <a:t>乘法</a:t>
              </a:r>
            </a:p>
            <a:p>
              <a:r>
                <a:rPr lang="zh-CN" altLang="en-US" sz="2000" b="1" u="none">
                  <a:solidFill>
                    <a:srgbClr val="990000"/>
                  </a:solidFill>
                  <a:ea typeface="宋体" pitchFamily="2" charset="-122"/>
                </a:rPr>
                <a:t>器</a:t>
              </a:r>
            </a:p>
            <a:p>
              <a:r>
                <a:rPr lang="zh-CN" altLang="en-US" sz="2400" u="none">
                  <a:solidFill>
                    <a:schemeClr val="tx1"/>
                  </a:solidFill>
                  <a:ea typeface="宋体" pitchFamily="2" charset="-122"/>
                </a:rPr>
                <a:t> </a:t>
              </a:r>
            </a:p>
          </p:txBody>
        </p:sp>
        <p:sp>
          <p:nvSpPr>
            <p:cNvPr id="614500" name="Text Box 100"/>
            <p:cNvSpPr txBox="1">
              <a:spLocks noChangeArrowheads="1"/>
            </p:cNvSpPr>
            <p:nvPr/>
          </p:nvSpPr>
          <p:spPr bwMode="auto">
            <a:xfrm>
              <a:off x="1872" y="2208"/>
              <a:ext cx="912" cy="288"/>
            </a:xfrm>
            <a:prstGeom prst="rect">
              <a:avLst/>
            </a:prstGeom>
            <a:solidFill>
              <a:srgbClr val="FFCC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1" i="1" u="none">
                  <a:solidFill>
                    <a:schemeClr val="tx1"/>
                  </a:solidFill>
                  <a:ea typeface="宋体" pitchFamily="2" charset="-122"/>
                </a:rPr>
                <a:t>y</a:t>
              </a:r>
              <a:r>
                <a:rPr lang="en-US" altLang="zh-CN" sz="2400" b="1" u="none">
                  <a:solidFill>
                    <a:schemeClr val="tx1"/>
                  </a:solidFill>
                  <a:ea typeface="宋体" pitchFamily="2" charset="-122"/>
                </a:rPr>
                <a:t>(t +τ)</a:t>
              </a:r>
            </a:p>
          </p:txBody>
        </p:sp>
        <p:sp>
          <p:nvSpPr>
            <p:cNvPr id="614501" name="Line 101"/>
            <p:cNvSpPr>
              <a:spLocks noChangeShapeType="1"/>
            </p:cNvSpPr>
            <p:nvPr/>
          </p:nvSpPr>
          <p:spPr bwMode="auto">
            <a:xfrm>
              <a:off x="2976" y="1632"/>
              <a:ext cx="124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4502" name="Text Box 102"/>
            <p:cNvSpPr txBox="1">
              <a:spLocks noChangeArrowheads="1"/>
            </p:cNvSpPr>
            <p:nvPr/>
          </p:nvSpPr>
          <p:spPr bwMode="auto">
            <a:xfrm>
              <a:off x="3072" y="1200"/>
              <a:ext cx="1200" cy="288"/>
            </a:xfrm>
            <a:prstGeom prst="rect">
              <a:avLst/>
            </a:prstGeom>
            <a:solidFill>
              <a:srgbClr val="FFCC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1" i="1" u="none">
                  <a:solidFill>
                    <a:schemeClr val="tx1"/>
                  </a:solidFill>
                  <a:ea typeface="宋体" pitchFamily="2" charset="-122"/>
                </a:rPr>
                <a:t>x</a:t>
              </a:r>
              <a:r>
                <a:rPr lang="en-US" altLang="zh-CN" sz="2400" b="1" u="none">
                  <a:solidFill>
                    <a:schemeClr val="tx1"/>
                  </a:solidFill>
                  <a:ea typeface="宋体" pitchFamily="2" charset="-122"/>
                </a:rPr>
                <a:t>(t)</a:t>
              </a:r>
              <a:r>
                <a:rPr lang="en-US" altLang="zh-CN" sz="2400" b="1" i="1" u="none">
                  <a:solidFill>
                    <a:schemeClr val="tx1"/>
                  </a:solidFill>
                  <a:ea typeface="宋体" pitchFamily="2" charset="-122"/>
                </a:rPr>
                <a:t>y</a:t>
              </a:r>
              <a:r>
                <a:rPr lang="en-US" altLang="zh-CN" sz="2400" b="1" u="none">
                  <a:solidFill>
                    <a:schemeClr val="tx1"/>
                  </a:solidFill>
                  <a:ea typeface="宋体" pitchFamily="2" charset="-122"/>
                </a:rPr>
                <a:t>(t +τ)</a:t>
              </a:r>
            </a:p>
          </p:txBody>
        </p:sp>
        <p:sp>
          <p:nvSpPr>
            <p:cNvPr id="614503" name="Text Box 103"/>
            <p:cNvSpPr txBox="1">
              <a:spLocks noChangeArrowheads="1"/>
            </p:cNvSpPr>
            <p:nvPr/>
          </p:nvSpPr>
          <p:spPr bwMode="auto">
            <a:xfrm>
              <a:off x="4224" y="1104"/>
              <a:ext cx="288" cy="1062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endParaRPr lang="en-US" altLang="zh-CN" sz="2000" b="1" u="none">
                <a:solidFill>
                  <a:srgbClr val="990000"/>
                </a:solidFill>
                <a:ea typeface="宋体" pitchFamily="2" charset="-122"/>
              </a:endParaRPr>
            </a:p>
            <a:p>
              <a:r>
                <a:rPr lang="zh-CN" altLang="en-US" sz="2000" b="1" u="none">
                  <a:solidFill>
                    <a:srgbClr val="990000"/>
                  </a:solidFill>
                  <a:ea typeface="宋体" pitchFamily="2" charset="-122"/>
                </a:rPr>
                <a:t>积分 </a:t>
              </a:r>
            </a:p>
            <a:p>
              <a:r>
                <a:rPr lang="zh-CN" altLang="en-US" sz="2000" b="1" u="none">
                  <a:solidFill>
                    <a:srgbClr val="990000"/>
                  </a:solidFill>
                  <a:ea typeface="宋体" pitchFamily="2" charset="-122"/>
                </a:rPr>
                <a:t>器</a:t>
              </a:r>
            </a:p>
            <a:p>
              <a:r>
                <a:rPr lang="zh-CN" altLang="en-US" sz="2400" u="none">
                  <a:solidFill>
                    <a:schemeClr val="tx1"/>
                  </a:solidFill>
                  <a:ea typeface="宋体" pitchFamily="2" charset="-122"/>
                </a:rPr>
                <a:t> </a:t>
              </a:r>
            </a:p>
          </p:txBody>
        </p:sp>
        <p:sp>
          <p:nvSpPr>
            <p:cNvPr id="614504" name="Text Box 104"/>
            <p:cNvSpPr txBox="1">
              <a:spLocks noChangeArrowheads="1"/>
            </p:cNvSpPr>
            <p:nvPr/>
          </p:nvSpPr>
          <p:spPr bwMode="auto">
            <a:xfrm>
              <a:off x="4560" y="1200"/>
              <a:ext cx="720" cy="288"/>
            </a:xfrm>
            <a:prstGeom prst="rect">
              <a:avLst/>
            </a:prstGeom>
            <a:solidFill>
              <a:srgbClr val="FFCC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1" i="1" u="none">
                  <a:solidFill>
                    <a:schemeClr val="tx1"/>
                  </a:solidFill>
                  <a:ea typeface="宋体" pitchFamily="2" charset="-122"/>
                </a:rPr>
                <a:t>R</a:t>
              </a:r>
              <a:r>
                <a:rPr lang="en-US" altLang="zh-CN" sz="2400" b="1" i="1" u="none" baseline="-25000">
                  <a:solidFill>
                    <a:schemeClr val="tx1"/>
                  </a:solidFill>
                  <a:ea typeface="宋体" pitchFamily="2" charset="-122"/>
                </a:rPr>
                <a:t>xy</a:t>
              </a:r>
              <a:r>
                <a:rPr lang="en-US" altLang="zh-CN" sz="2400" b="1" u="none">
                  <a:solidFill>
                    <a:schemeClr val="tx1"/>
                  </a:solidFill>
                  <a:ea typeface="宋体" pitchFamily="2" charset="-122"/>
                </a:rPr>
                <a:t>(τ)</a:t>
              </a:r>
            </a:p>
          </p:txBody>
        </p:sp>
        <p:sp>
          <p:nvSpPr>
            <p:cNvPr id="614505" name="Line 105"/>
            <p:cNvSpPr>
              <a:spLocks noChangeShapeType="1"/>
            </p:cNvSpPr>
            <p:nvPr/>
          </p:nvSpPr>
          <p:spPr bwMode="auto">
            <a:xfrm>
              <a:off x="4512" y="1632"/>
              <a:ext cx="81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1" name="Rectangle 4"/>
          <p:cNvSpPr>
            <a:spLocks noChangeArrowheads="1"/>
          </p:cNvSpPr>
          <p:nvPr/>
        </p:nvSpPr>
        <p:spPr bwMode="auto">
          <a:xfrm>
            <a:off x="379413" y="300831"/>
            <a:ext cx="3738562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 b="1" u="none" dirty="0" smtClean="0">
                <a:solidFill>
                  <a:srgbClr val="800000"/>
                </a:solidFill>
                <a:ea typeface="宋体" pitchFamily="2" charset="-122"/>
              </a:rPr>
              <a:t>5.3 </a:t>
            </a:r>
            <a:r>
              <a:rPr lang="zh-CN" altLang="en-US" sz="3200" b="1" u="none" dirty="0">
                <a:solidFill>
                  <a:srgbClr val="800000"/>
                </a:solidFill>
                <a:ea typeface="宋体" pitchFamily="2" charset="-122"/>
              </a:rPr>
              <a:t>相关分析及应用</a:t>
            </a:r>
            <a:r>
              <a:rPr lang="zh-CN" altLang="en-US" b="1" u="none" dirty="0">
                <a:solidFill>
                  <a:srgbClr val="000066"/>
                </a:solidFill>
                <a:ea typeface="宋体" pitchFamily="2" charset="-122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144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144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8" name="Rectangle 18"/>
          <p:cNvSpPr>
            <a:spLocks noChangeArrowheads="1"/>
          </p:cNvSpPr>
          <p:nvPr/>
        </p:nvSpPr>
        <p:spPr bwMode="auto">
          <a:xfrm>
            <a:off x="449263" y="926016"/>
            <a:ext cx="20351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buClr>
                <a:srgbClr val="FF3300"/>
              </a:buClr>
              <a:buFont typeface="Wingdings" pitchFamily="2" charset="2"/>
              <a:buChar char="Ø"/>
            </a:pPr>
            <a:r>
              <a:rPr kumimoji="0" lang="zh-CN" altLang="en-US" sz="2400" b="1" u="none" dirty="0">
                <a:solidFill>
                  <a:schemeClr val="tx1"/>
                </a:solidFill>
              </a:rPr>
              <a:t>互相关系数 </a:t>
            </a:r>
          </a:p>
        </p:txBody>
      </p:sp>
      <p:graphicFrame>
        <p:nvGraphicFramePr>
          <p:cNvPr id="593939" name="Object 19"/>
          <p:cNvGraphicFramePr>
            <a:graphicFrameLocks noChangeAspect="1"/>
          </p:cNvGraphicFramePr>
          <p:nvPr/>
        </p:nvGraphicFramePr>
        <p:xfrm>
          <a:off x="2752725" y="1127125"/>
          <a:ext cx="3130550" cy="1057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4298" name="公式" r:id="rId3" imgW="1435100" imgH="482600" progId="Equation.3">
                  <p:embed/>
                </p:oleObj>
              </mc:Choice>
              <mc:Fallback>
                <p:oleObj name="公式" r:id="rId3" imgW="1435100" imgH="482600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52725" y="1127125"/>
                        <a:ext cx="3130550" cy="1057275"/>
                      </a:xfrm>
                      <a:prstGeom prst="rect">
                        <a:avLst/>
                      </a:prstGeom>
                      <a:solidFill>
                        <a:srgbClr val="FFCC99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593940" name="Rectangle 20"/>
          <p:cNvSpPr>
            <a:spLocks noChangeArrowheads="1"/>
          </p:cNvSpPr>
          <p:nvPr/>
        </p:nvSpPr>
        <p:spPr bwMode="auto">
          <a:xfrm>
            <a:off x="6113463" y="1524000"/>
            <a:ext cx="812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kumimoji="0" lang="en-US" altLang="zh-CN" sz="1800" b="1" u="none" dirty="0" smtClean="0">
                <a:solidFill>
                  <a:srgbClr val="FF3300"/>
                </a:solidFill>
                <a:ea typeface="宋体" pitchFamily="2" charset="-122"/>
              </a:rPr>
              <a:t>(</a:t>
            </a:r>
            <a:r>
              <a:rPr kumimoji="0" lang="en-US" altLang="zh-CN" sz="1800" b="1" u="none" dirty="0" smtClean="0">
                <a:solidFill>
                  <a:srgbClr val="FF3300"/>
                </a:solidFill>
              </a:rPr>
              <a:t>5-</a:t>
            </a:r>
            <a:r>
              <a:rPr kumimoji="0" lang="en-US" altLang="zh-CN" sz="1800" b="1" u="none" dirty="0" smtClean="0">
                <a:solidFill>
                  <a:srgbClr val="FF3300"/>
                </a:solidFill>
                <a:ea typeface="宋体" pitchFamily="2" charset="-122"/>
              </a:rPr>
              <a:t>16</a:t>
            </a:r>
            <a:r>
              <a:rPr kumimoji="0" lang="en-US" altLang="zh-CN" sz="1800" b="1" u="none" dirty="0">
                <a:solidFill>
                  <a:srgbClr val="FF3300"/>
                </a:solidFill>
                <a:ea typeface="宋体" pitchFamily="2" charset="-122"/>
              </a:rPr>
              <a:t>)</a:t>
            </a:r>
            <a:r>
              <a:rPr kumimoji="0" lang="en-US" altLang="zh-CN" sz="1800" u="none" dirty="0">
                <a:solidFill>
                  <a:srgbClr val="FF3300"/>
                </a:solidFill>
                <a:ea typeface="宋体" pitchFamily="2" charset="-122"/>
              </a:rPr>
              <a:t> </a:t>
            </a:r>
          </a:p>
        </p:txBody>
      </p:sp>
      <p:sp>
        <p:nvSpPr>
          <p:cNvPr id="593941" name="Rectangle 21"/>
          <p:cNvSpPr>
            <a:spLocks noChangeArrowheads="1"/>
          </p:cNvSpPr>
          <p:nvPr/>
        </p:nvSpPr>
        <p:spPr bwMode="auto">
          <a:xfrm>
            <a:off x="623888" y="2103438"/>
            <a:ext cx="2209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kumimoji="0" lang="en-US" altLang="zh-CN" sz="2400" b="1" u="none">
                <a:solidFill>
                  <a:schemeClr val="tx1"/>
                </a:solidFill>
                <a:ea typeface="宋体" pitchFamily="2" charset="-122"/>
              </a:rPr>
              <a:t>|</a:t>
            </a:r>
            <a:r>
              <a:rPr kumimoji="0" lang="en-US" altLang="zh-CN" sz="2400" b="1" i="1" u="none">
                <a:solidFill>
                  <a:schemeClr val="tx1"/>
                </a:solidFill>
                <a:ea typeface="宋体" pitchFamily="2" charset="-122"/>
              </a:rPr>
              <a:t>ρ</a:t>
            </a:r>
            <a:r>
              <a:rPr kumimoji="0" lang="en-US" altLang="zh-CN" sz="2400" b="1" i="1" u="none" baseline="-25000">
                <a:solidFill>
                  <a:schemeClr val="tx1"/>
                </a:solidFill>
                <a:ea typeface="宋体" pitchFamily="2" charset="-122"/>
              </a:rPr>
              <a:t>xy</a:t>
            </a:r>
            <a:r>
              <a:rPr kumimoji="0" lang="en-US" altLang="zh-CN" b="1" u="none">
                <a:solidFill>
                  <a:schemeClr val="tx1"/>
                </a:solidFill>
              </a:rPr>
              <a:t>(</a:t>
            </a:r>
            <a:r>
              <a:rPr kumimoji="0" lang="el-GR" altLang="zh-CN" b="1" u="none">
                <a:solidFill>
                  <a:schemeClr val="tx1"/>
                </a:solidFill>
              </a:rPr>
              <a:t>τ</a:t>
            </a:r>
            <a:r>
              <a:rPr kumimoji="0" lang="en-US" altLang="zh-CN" b="1" u="none">
                <a:solidFill>
                  <a:schemeClr val="tx1"/>
                </a:solidFill>
              </a:rPr>
              <a:t>)</a:t>
            </a:r>
            <a:r>
              <a:rPr kumimoji="0" lang="en-US" altLang="zh-CN" sz="2400" b="1" u="none">
                <a:solidFill>
                  <a:schemeClr val="tx1"/>
                </a:solidFill>
                <a:ea typeface="宋体" pitchFamily="2" charset="-122"/>
              </a:rPr>
              <a:t>|≤1 </a:t>
            </a:r>
          </a:p>
        </p:txBody>
      </p:sp>
      <p:sp>
        <p:nvSpPr>
          <p:cNvPr id="593942" name="Rectangle 22"/>
          <p:cNvSpPr>
            <a:spLocks noChangeArrowheads="1"/>
          </p:cNvSpPr>
          <p:nvPr/>
        </p:nvSpPr>
        <p:spPr bwMode="auto">
          <a:xfrm>
            <a:off x="1062038" y="2624138"/>
            <a:ext cx="7702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kumimoji="0" lang="zh-CN" altLang="en-US" sz="2400" b="1" u="none">
                <a:solidFill>
                  <a:schemeClr val="tx1"/>
                </a:solidFill>
              </a:rPr>
              <a:t>当</a:t>
            </a:r>
            <a:r>
              <a:rPr kumimoji="0" lang="en-US" altLang="zh-CN" sz="2400" b="1" i="1" u="none">
                <a:solidFill>
                  <a:schemeClr val="tx1"/>
                </a:solidFill>
              </a:rPr>
              <a:t>ρ</a:t>
            </a:r>
            <a:r>
              <a:rPr kumimoji="0" lang="en-US" altLang="zh-CN" sz="2400" b="1" i="1" u="none" baseline="-25000">
                <a:solidFill>
                  <a:schemeClr val="tx1"/>
                </a:solidFill>
              </a:rPr>
              <a:t>xy</a:t>
            </a:r>
            <a:r>
              <a:rPr kumimoji="0" lang="en-US" altLang="zh-CN" sz="2400" b="1" u="none">
                <a:solidFill>
                  <a:schemeClr val="tx1"/>
                </a:solidFill>
              </a:rPr>
              <a:t>(</a:t>
            </a:r>
            <a:r>
              <a:rPr kumimoji="0" lang="el-GR" altLang="zh-CN" sz="2400" b="1" u="none">
                <a:solidFill>
                  <a:schemeClr val="tx1"/>
                </a:solidFill>
                <a:cs typeface="Times New Roman" pitchFamily="18" charset="0"/>
              </a:rPr>
              <a:t>τ</a:t>
            </a:r>
            <a:r>
              <a:rPr kumimoji="0" lang="en-US" altLang="zh-CN" sz="2400" b="1" u="none">
                <a:solidFill>
                  <a:schemeClr val="tx1"/>
                </a:solidFill>
              </a:rPr>
              <a:t>)=±1</a:t>
            </a:r>
            <a:r>
              <a:rPr kumimoji="0" lang="zh-CN" altLang="en-US" sz="2400" b="1" u="none">
                <a:solidFill>
                  <a:schemeClr val="tx1"/>
                </a:solidFill>
              </a:rPr>
              <a:t>时，则随机变量</a:t>
            </a:r>
            <a:r>
              <a:rPr kumimoji="0" lang="en-US" altLang="zh-CN" sz="2400" b="1" i="1" u="none">
                <a:solidFill>
                  <a:schemeClr val="tx1"/>
                </a:solidFill>
              </a:rPr>
              <a:t>x</a:t>
            </a:r>
            <a:r>
              <a:rPr kumimoji="0" lang="zh-CN" altLang="en-US" sz="2400" b="1" i="1" u="none">
                <a:solidFill>
                  <a:schemeClr val="tx1"/>
                </a:solidFill>
              </a:rPr>
              <a:t>、</a:t>
            </a:r>
            <a:r>
              <a:rPr kumimoji="0" lang="en-US" altLang="zh-CN" sz="2400" b="1" i="1" u="none">
                <a:solidFill>
                  <a:schemeClr val="tx1"/>
                </a:solidFill>
              </a:rPr>
              <a:t>y</a:t>
            </a:r>
            <a:r>
              <a:rPr kumimoji="0" lang="zh-CN" altLang="en-US" sz="2400" b="1" u="none">
                <a:solidFill>
                  <a:schemeClr val="tx1"/>
                </a:solidFill>
              </a:rPr>
              <a:t>具有理想的线性关系 </a:t>
            </a:r>
          </a:p>
        </p:txBody>
      </p:sp>
      <p:sp>
        <p:nvSpPr>
          <p:cNvPr id="593943" name="Rectangle 23"/>
          <p:cNvSpPr>
            <a:spLocks noChangeArrowheads="1"/>
          </p:cNvSpPr>
          <p:nvPr/>
        </p:nvSpPr>
        <p:spPr bwMode="auto">
          <a:xfrm>
            <a:off x="1090613" y="3082925"/>
            <a:ext cx="625633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kumimoji="0" lang="zh-CN" altLang="en-US" sz="2400" b="1" u="none">
                <a:solidFill>
                  <a:schemeClr val="tx1"/>
                </a:solidFill>
              </a:rPr>
              <a:t>当</a:t>
            </a:r>
            <a:r>
              <a:rPr kumimoji="0" lang="en-US" altLang="zh-CN" sz="2400" b="1" i="1" u="none">
                <a:solidFill>
                  <a:schemeClr val="tx1"/>
                </a:solidFill>
              </a:rPr>
              <a:t>ρ</a:t>
            </a:r>
            <a:r>
              <a:rPr kumimoji="0" lang="en-US" altLang="zh-CN" sz="2400" b="1" i="1" u="none" baseline="-25000">
                <a:solidFill>
                  <a:schemeClr val="tx1"/>
                </a:solidFill>
              </a:rPr>
              <a:t>xy</a:t>
            </a:r>
            <a:r>
              <a:rPr kumimoji="0" lang="en-US" altLang="zh-CN" b="1" u="none">
                <a:solidFill>
                  <a:schemeClr val="tx1"/>
                </a:solidFill>
              </a:rPr>
              <a:t>(</a:t>
            </a:r>
            <a:r>
              <a:rPr kumimoji="0" lang="el-GR" altLang="zh-CN" b="1" u="none">
                <a:solidFill>
                  <a:schemeClr val="tx1"/>
                </a:solidFill>
              </a:rPr>
              <a:t>τ</a:t>
            </a:r>
            <a:r>
              <a:rPr kumimoji="0" lang="en-US" altLang="zh-CN" b="1" u="none">
                <a:solidFill>
                  <a:schemeClr val="tx1"/>
                </a:solidFill>
              </a:rPr>
              <a:t>)</a:t>
            </a:r>
            <a:r>
              <a:rPr kumimoji="0" lang="en-US" altLang="zh-CN" sz="2400" b="1" u="none">
                <a:solidFill>
                  <a:schemeClr val="tx1"/>
                </a:solidFill>
              </a:rPr>
              <a:t>=0</a:t>
            </a:r>
            <a:r>
              <a:rPr kumimoji="0" lang="zh-CN" altLang="en-US" sz="2400" b="1" u="none">
                <a:solidFill>
                  <a:schemeClr val="tx1"/>
                </a:solidFill>
              </a:rPr>
              <a:t>时，两随机变量</a:t>
            </a:r>
            <a:r>
              <a:rPr kumimoji="0" lang="en-US" altLang="zh-CN" sz="2400" b="1" i="1" u="none">
                <a:solidFill>
                  <a:schemeClr val="tx1"/>
                </a:solidFill>
              </a:rPr>
              <a:t>x</a:t>
            </a:r>
            <a:r>
              <a:rPr kumimoji="0" lang="zh-CN" altLang="en-US" sz="2400" b="1" i="1" u="none">
                <a:solidFill>
                  <a:schemeClr val="tx1"/>
                </a:solidFill>
              </a:rPr>
              <a:t>、</a:t>
            </a:r>
            <a:r>
              <a:rPr kumimoji="0" lang="en-US" altLang="zh-CN" sz="2400" b="1" i="1" u="none">
                <a:solidFill>
                  <a:schemeClr val="tx1"/>
                </a:solidFill>
              </a:rPr>
              <a:t>y</a:t>
            </a:r>
            <a:r>
              <a:rPr kumimoji="0" lang="zh-CN" altLang="en-US" sz="2400" b="1" u="none">
                <a:solidFill>
                  <a:schemeClr val="tx1"/>
                </a:solidFill>
              </a:rPr>
              <a:t>完全不相关 </a:t>
            </a:r>
          </a:p>
        </p:txBody>
      </p:sp>
      <p:grpSp>
        <p:nvGrpSpPr>
          <p:cNvPr id="594022" name="Group 102"/>
          <p:cNvGrpSpPr>
            <a:grpSpLocks/>
          </p:cNvGrpSpPr>
          <p:nvPr/>
        </p:nvGrpSpPr>
        <p:grpSpPr bwMode="auto">
          <a:xfrm>
            <a:off x="674688" y="3741738"/>
            <a:ext cx="1905000" cy="2362200"/>
            <a:chOff x="467" y="2493"/>
            <a:chExt cx="1200" cy="1488"/>
          </a:xfrm>
        </p:grpSpPr>
        <p:grpSp>
          <p:nvGrpSpPr>
            <p:cNvPr id="594018" name="Group 98"/>
            <p:cNvGrpSpPr>
              <a:grpSpLocks/>
            </p:cNvGrpSpPr>
            <p:nvPr/>
          </p:nvGrpSpPr>
          <p:grpSpPr bwMode="auto">
            <a:xfrm>
              <a:off x="467" y="2493"/>
              <a:ext cx="1200" cy="1488"/>
              <a:chOff x="467" y="2349"/>
              <a:chExt cx="1200" cy="1488"/>
            </a:xfrm>
          </p:grpSpPr>
          <p:sp>
            <p:nvSpPr>
              <p:cNvPr id="593945" name="Rectangle 25"/>
              <p:cNvSpPr>
                <a:spLocks noChangeArrowheads="1"/>
              </p:cNvSpPr>
              <p:nvPr/>
            </p:nvSpPr>
            <p:spPr bwMode="auto">
              <a:xfrm>
                <a:off x="467" y="2349"/>
                <a:ext cx="1200" cy="1488"/>
              </a:xfrm>
              <a:prstGeom prst="rect">
                <a:avLst/>
              </a:prstGeom>
              <a:solidFill>
                <a:srgbClr val="FFFFCC"/>
              </a:solidFill>
              <a:ln w="9525">
                <a:solidFill>
                  <a:srgbClr val="FFFFCC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593959" name="Object 39"/>
              <p:cNvGraphicFramePr>
                <a:graphicFrameLocks noChangeAspect="1"/>
              </p:cNvGraphicFramePr>
              <p:nvPr/>
            </p:nvGraphicFramePr>
            <p:xfrm>
              <a:off x="709" y="3582"/>
              <a:ext cx="658" cy="25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94299" name="公式" r:id="rId5" imgW="622080" imgH="241200" progId="Equation.3">
                      <p:embed/>
                    </p:oleObj>
                  </mc:Choice>
                  <mc:Fallback>
                    <p:oleObj name="公式" r:id="rId5" imgW="622080" imgH="241200" progId="Equation.3">
                      <p:embed/>
                      <p:pic>
                        <p:nvPicPr>
                          <p:cNvPr id="0" name="Object 3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09" y="3582"/>
                            <a:ext cx="658" cy="25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593946" name="Oval 26"/>
            <p:cNvSpPr>
              <a:spLocks noChangeArrowheads="1"/>
            </p:cNvSpPr>
            <p:nvPr/>
          </p:nvSpPr>
          <p:spPr bwMode="auto">
            <a:xfrm>
              <a:off x="995" y="3155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3947" name="Oval 27"/>
            <p:cNvSpPr>
              <a:spLocks noChangeArrowheads="1"/>
            </p:cNvSpPr>
            <p:nvPr/>
          </p:nvSpPr>
          <p:spPr bwMode="auto">
            <a:xfrm>
              <a:off x="1091" y="3059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3948" name="Oval 28"/>
            <p:cNvSpPr>
              <a:spLocks noChangeArrowheads="1"/>
            </p:cNvSpPr>
            <p:nvPr/>
          </p:nvSpPr>
          <p:spPr bwMode="auto">
            <a:xfrm>
              <a:off x="1187" y="2963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3949" name="Oval 29"/>
            <p:cNvSpPr>
              <a:spLocks noChangeArrowheads="1"/>
            </p:cNvSpPr>
            <p:nvPr/>
          </p:nvSpPr>
          <p:spPr bwMode="auto">
            <a:xfrm>
              <a:off x="1283" y="2867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3950" name="Oval 30"/>
            <p:cNvSpPr>
              <a:spLocks noChangeArrowheads="1"/>
            </p:cNvSpPr>
            <p:nvPr/>
          </p:nvSpPr>
          <p:spPr bwMode="auto">
            <a:xfrm>
              <a:off x="1379" y="2771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3951" name="Oval 31"/>
            <p:cNvSpPr>
              <a:spLocks noChangeArrowheads="1"/>
            </p:cNvSpPr>
            <p:nvPr/>
          </p:nvSpPr>
          <p:spPr bwMode="auto">
            <a:xfrm>
              <a:off x="611" y="3539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3952" name="Oval 32"/>
            <p:cNvSpPr>
              <a:spLocks noChangeArrowheads="1"/>
            </p:cNvSpPr>
            <p:nvPr/>
          </p:nvSpPr>
          <p:spPr bwMode="auto">
            <a:xfrm>
              <a:off x="707" y="3443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3953" name="Oval 33"/>
            <p:cNvSpPr>
              <a:spLocks noChangeArrowheads="1"/>
            </p:cNvSpPr>
            <p:nvPr/>
          </p:nvSpPr>
          <p:spPr bwMode="auto">
            <a:xfrm>
              <a:off x="803" y="3347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3954" name="Oval 34"/>
            <p:cNvSpPr>
              <a:spLocks noChangeArrowheads="1"/>
            </p:cNvSpPr>
            <p:nvPr/>
          </p:nvSpPr>
          <p:spPr bwMode="auto">
            <a:xfrm>
              <a:off x="899" y="3251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3955" name="Line 35"/>
            <p:cNvSpPr>
              <a:spLocks noChangeShapeType="1"/>
            </p:cNvSpPr>
            <p:nvPr/>
          </p:nvSpPr>
          <p:spPr bwMode="auto">
            <a:xfrm>
              <a:off x="467" y="3155"/>
              <a:ext cx="12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3956" name="Line 36"/>
            <p:cNvSpPr>
              <a:spLocks noChangeShapeType="1"/>
            </p:cNvSpPr>
            <p:nvPr/>
          </p:nvSpPr>
          <p:spPr bwMode="auto">
            <a:xfrm flipV="1">
              <a:off x="1043" y="2579"/>
              <a:ext cx="0" cy="111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3957" name="Text Box 37"/>
            <p:cNvSpPr txBox="1">
              <a:spLocks noChangeArrowheads="1"/>
            </p:cNvSpPr>
            <p:nvPr/>
          </p:nvSpPr>
          <p:spPr bwMode="auto">
            <a:xfrm>
              <a:off x="1523" y="3117"/>
              <a:ext cx="96" cy="2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i="1" u="none">
                  <a:solidFill>
                    <a:schemeClr val="tx1"/>
                  </a:solidFill>
                  <a:ea typeface="宋体" pitchFamily="2" charset="-122"/>
                </a:rPr>
                <a:t>x</a:t>
              </a:r>
            </a:p>
          </p:txBody>
        </p:sp>
        <p:sp>
          <p:nvSpPr>
            <p:cNvPr id="593958" name="Text Box 38"/>
            <p:cNvSpPr txBox="1">
              <a:spLocks noChangeArrowheads="1"/>
            </p:cNvSpPr>
            <p:nvPr/>
          </p:nvSpPr>
          <p:spPr bwMode="auto">
            <a:xfrm>
              <a:off x="899" y="2493"/>
              <a:ext cx="9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 i="1" u="none">
                  <a:solidFill>
                    <a:schemeClr val="tx1"/>
                  </a:solidFill>
                  <a:ea typeface="宋体" pitchFamily="2" charset="-122"/>
                </a:rPr>
                <a:t>y</a:t>
              </a:r>
            </a:p>
          </p:txBody>
        </p:sp>
      </p:grpSp>
      <p:grpSp>
        <p:nvGrpSpPr>
          <p:cNvPr id="594023" name="Group 103"/>
          <p:cNvGrpSpPr>
            <a:grpSpLocks/>
          </p:cNvGrpSpPr>
          <p:nvPr/>
        </p:nvGrpSpPr>
        <p:grpSpPr bwMode="auto">
          <a:xfrm>
            <a:off x="2674938" y="3752850"/>
            <a:ext cx="1905000" cy="2362200"/>
            <a:chOff x="1678" y="2501"/>
            <a:chExt cx="1200" cy="1488"/>
          </a:xfrm>
        </p:grpSpPr>
        <p:grpSp>
          <p:nvGrpSpPr>
            <p:cNvPr id="594019" name="Group 99"/>
            <p:cNvGrpSpPr>
              <a:grpSpLocks/>
            </p:cNvGrpSpPr>
            <p:nvPr/>
          </p:nvGrpSpPr>
          <p:grpSpPr bwMode="auto">
            <a:xfrm>
              <a:off x="1678" y="2501"/>
              <a:ext cx="1200" cy="1488"/>
              <a:chOff x="1678" y="2501"/>
              <a:chExt cx="1200" cy="1488"/>
            </a:xfrm>
          </p:grpSpPr>
          <p:sp>
            <p:nvSpPr>
              <p:cNvPr id="593961" name="Rectangle 41"/>
              <p:cNvSpPr>
                <a:spLocks noChangeArrowheads="1"/>
              </p:cNvSpPr>
              <p:nvPr/>
            </p:nvSpPr>
            <p:spPr bwMode="auto">
              <a:xfrm>
                <a:off x="1678" y="2501"/>
                <a:ext cx="1200" cy="1488"/>
              </a:xfrm>
              <a:prstGeom prst="rect">
                <a:avLst/>
              </a:prstGeom>
              <a:solidFill>
                <a:srgbClr val="CCECFF"/>
              </a:solidFill>
              <a:ln w="9525">
                <a:solidFill>
                  <a:srgbClr val="CCECF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593975" name="Object 55"/>
              <p:cNvGraphicFramePr>
                <a:graphicFrameLocks noChangeAspect="1"/>
              </p:cNvGraphicFramePr>
              <p:nvPr/>
            </p:nvGraphicFramePr>
            <p:xfrm>
              <a:off x="1872" y="3734"/>
              <a:ext cx="765" cy="25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94300" name="公式" r:id="rId7" imgW="723600" imgH="241200" progId="Equation.3">
                      <p:embed/>
                    </p:oleObj>
                  </mc:Choice>
                  <mc:Fallback>
                    <p:oleObj name="公式" r:id="rId7" imgW="723600" imgH="241200" progId="Equation.3">
                      <p:embed/>
                      <p:pic>
                        <p:nvPicPr>
                          <p:cNvPr id="0" name="Object 5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872" y="3734"/>
                            <a:ext cx="765" cy="25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593962" name="Line 42"/>
            <p:cNvSpPr>
              <a:spLocks noChangeShapeType="1"/>
            </p:cNvSpPr>
            <p:nvPr/>
          </p:nvSpPr>
          <p:spPr bwMode="auto">
            <a:xfrm>
              <a:off x="1678" y="3163"/>
              <a:ext cx="12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3963" name="Line 43"/>
            <p:cNvSpPr>
              <a:spLocks noChangeShapeType="1"/>
            </p:cNvSpPr>
            <p:nvPr/>
          </p:nvSpPr>
          <p:spPr bwMode="auto">
            <a:xfrm flipV="1">
              <a:off x="2254" y="2587"/>
              <a:ext cx="0" cy="111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3964" name="Text Box 44"/>
            <p:cNvSpPr txBox="1">
              <a:spLocks noChangeArrowheads="1"/>
            </p:cNvSpPr>
            <p:nvPr/>
          </p:nvSpPr>
          <p:spPr bwMode="auto">
            <a:xfrm>
              <a:off x="2734" y="3125"/>
              <a:ext cx="96" cy="2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i="1" u="none">
                  <a:solidFill>
                    <a:schemeClr val="tx1"/>
                  </a:solidFill>
                  <a:ea typeface="宋体" pitchFamily="2" charset="-122"/>
                </a:rPr>
                <a:t>x</a:t>
              </a:r>
            </a:p>
          </p:txBody>
        </p:sp>
        <p:sp>
          <p:nvSpPr>
            <p:cNvPr id="593965" name="Text Box 45"/>
            <p:cNvSpPr txBox="1">
              <a:spLocks noChangeArrowheads="1"/>
            </p:cNvSpPr>
            <p:nvPr/>
          </p:nvSpPr>
          <p:spPr bwMode="auto">
            <a:xfrm>
              <a:off x="2110" y="2501"/>
              <a:ext cx="9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 i="1" u="none">
                  <a:solidFill>
                    <a:schemeClr val="tx1"/>
                  </a:solidFill>
                  <a:ea typeface="宋体" pitchFamily="2" charset="-122"/>
                </a:rPr>
                <a:t>y</a:t>
              </a:r>
            </a:p>
          </p:txBody>
        </p:sp>
        <p:sp>
          <p:nvSpPr>
            <p:cNvPr id="593966" name="Oval 46"/>
            <p:cNvSpPr>
              <a:spLocks noChangeArrowheads="1"/>
            </p:cNvSpPr>
            <p:nvPr/>
          </p:nvSpPr>
          <p:spPr bwMode="auto">
            <a:xfrm>
              <a:off x="2302" y="3221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3967" name="Oval 47"/>
            <p:cNvSpPr>
              <a:spLocks noChangeArrowheads="1"/>
            </p:cNvSpPr>
            <p:nvPr/>
          </p:nvSpPr>
          <p:spPr bwMode="auto">
            <a:xfrm>
              <a:off x="2110" y="3029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3968" name="Oval 48"/>
            <p:cNvSpPr>
              <a:spLocks noChangeArrowheads="1"/>
            </p:cNvSpPr>
            <p:nvPr/>
          </p:nvSpPr>
          <p:spPr bwMode="auto">
            <a:xfrm>
              <a:off x="2014" y="2885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3969" name="Oval 49"/>
            <p:cNvSpPr>
              <a:spLocks noChangeArrowheads="1"/>
            </p:cNvSpPr>
            <p:nvPr/>
          </p:nvSpPr>
          <p:spPr bwMode="auto">
            <a:xfrm>
              <a:off x="1918" y="2789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3970" name="Oval 50"/>
            <p:cNvSpPr>
              <a:spLocks noChangeArrowheads="1"/>
            </p:cNvSpPr>
            <p:nvPr/>
          </p:nvSpPr>
          <p:spPr bwMode="auto">
            <a:xfrm>
              <a:off x="1822" y="2693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3971" name="Oval 51"/>
            <p:cNvSpPr>
              <a:spLocks noChangeArrowheads="1"/>
            </p:cNvSpPr>
            <p:nvPr/>
          </p:nvSpPr>
          <p:spPr bwMode="auto">
            <a:xfrm>
              <a:off x="2590" y="3509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3972" name="Oval 52"/>
            <p:cNvSpPr>
              <a:spLocks noChangeArrowheads="1"/>
            </p:cNvSpPr>
            <p:nvPr/>
          </p:nvSpPr>
          <p:spPr bwMode="auto">
            <a:xfrm>
              <a:off x="2494" y="3413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3973" name="Oval 53"/>
            <p:cNvSpPr>
              <a:spLocks noChangeArrowheads="1"/>
            </p:cNvSpPr>
            <p:nvPr/>
          </p:nvSpPr>
          <p:spPr bwMode="auto">
            <a:xfrm>
              <a:off x="2398" y="3317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3974" name="Oval 54"/>
            <p:cNvSpPr>
              <a:spLocks noChangeArrowheads="1"/>
            </p:cNvSpPr>
            <p:nvPr/>
          </p:nvSpPr>
          <p:spPr bwMode="auto">
            <a:xfrm>
              <a:off x="2206" y="3125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594020" name="Group 100"/>
          <p:cNvGrpSpPr>
            <a:grpSpLocks/>
          </p:cNvGrpSpPr>
          <p:nvPr/>
        </p:nvGrpSpPr>
        <p:grpSpPr bwMode="auto">
          <a:xfrm>
            <a:off x="4660900" y="3711575"/>
            <a:ext cx="1981200" cy="2386013"/>
            <a:chOff x="2892" y="2483"/>
            <a:chExt cx="1248" cy="1503"/>
          </a:xfrm>
        </p:grpSpPr>
        <p:grpSp>
          <p:nvGrpSpPr>
            <p:cNvPr id="593977" name="Group 57"/>
            <p:cNvGrpSpPr>
              <a:grpSpLocks/>
            </p:cNvGrpSpPr>
            <p:nvPr/>
          </p:nvGrpSpPr>
          <p:grpSpPr bwMode="auto">
            <a:xfrm>
              <a:off x="2892" y="2483"/>
              <a:ext cx="1248" cy="1488"/>
              <a:chOff x="2928" y="2592"/>
              <a:chExt cx="1248" cy="1488"/>
            </a:xfrm>
          </p:grpSpPr>
          <p:grpSp>
            <p:nvGrpSpPr>
              <p:cNvPr id="593978" name="Group 58"/>
              <p:cNvGrpSpPr>
                <a:grpSpLocks/>
              </p:cNvGrpSpPr>
              <p:nvPr/>
            </p:nvGrpSpPr>
            <p:grpSpPr bwMode="auto">
              <a:xfrm>
                <a:off x="2928" y="2592"/>
                <a:ext cx="1248" cy="1488"/>
                <a:chOff x="2928" y="2592"/>
                <a:chExt cx="1248" cy="1488"/>
              </a:xfrm>
            </p:grpSpPr>
            <p:sp>
              <p:nvSpPr>
                <p:cNvPr id="593979" name="Rectangle 59"/>
                <p:cNvSpPr>
                  <a:spLocks noChangeArrowheads="1"/>
                </p:cNvSpPr>
                <p:nvPr/>
              </p:nvSpPr>
              <p:spPr bwMode="auto">
                <a:xfrm>
                  <a:off x="2928" y="2592"/>
                  <a:ext cx="1200" cy="1488"/>
                </a:xfrm>
                <a:prstGeom prst="rect">
                  <a:avLst/>
                </a:prstGeom>
                <a:solidFill>
                  <a:srgbClr val="FFFFCC"/>
                </a:solidFill>
                <a:ln w="9525">
                  <a:solidFill>
                    <a:srgbClr val="FFFFCC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grpSp>
              <p:nvGrpSpPr>
                <p:cNvPr id="593980" name="Group 60"/>
                <p:cNvGrpSpPr>
                  <a:grpSpLocks/>
                </p:cNvGrpSpPr>
                <p:nvPr/>
              </p:nvGrpSpPr>
              <p:grpSpPr bwMode="auto">
                <a:xfrm>
                  <a:off x="2976" y="2602"/>
                  <a:ext cx="1200" cy="1382"/>
                  <a:chOff x="2928" y="2698"/>
                  <a:chExt cx="1200" cy="1382"/>
                </a:xfrm>
              </p:grpSpPr>
              <p:grpSp>
                <p:nvGrpSpPr>
                  <p:cNvPr id="593981" name="Group 61"/>
                  <p:cNvGrpSpPr>
                    <a:grpSpLocks/>
                  </p:cNvGrpSpPr>
                  <p:nvPr/>
                </p:nvGrpSpPr>
                <p:grpSpPr bwMode="auto">
                  <a:xfrm>
                    <a:off x="2928" y="2698"/>
                    <a:ext cx="1200" cy="1382"/>
                    <a:chOff x="624" y="2698"/>
                    <a:chExt cx="1200" cy="1382"/>
                  </a:xfrm>
                </p:grpSpPr>
                <p:sp>
                  <p:nvSpPr>
                    <p:cNvPr id="593982" name="Line 62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624" y="3360"/>
                      <a:ext cx="1200" cy="0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 type="triangle" w="med" len="med"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593983" name="Line 63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1200" y="2784"/>
                      <a:ext cx="0" cy="1296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 type="triangle" w="med" len="med"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593984" name="Text Box 64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1680" y="3322"/>
                      <a:ext cx="96" cy="23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lIns="0" tIns="0" rIns="0" bIns="0">
                      <a:spAutoFit/>
                    </a:bodyPr>
                    <a:lstStyle/>
                    <a:p>
                      <a:pPr>
                        <a:spcBef>
                          <a:spcPct val="50000"/>
                        </a:spcBef>
                      </a:pPr>
                      <a:r>
                        <a:rPr lang="en-US" altLang="zh-CN" sz="2400" i="1" u="none">
                          <a:solidFill>
                            <a:schemeClr val="tx1"/>
                          </a:solidFill>
                          <a:ea typeface="宋体" pitchFamily="2" charset="-122"/>
                        </a:rPr>
                        <a:t>x</a:t>
                      </a:r>
                    </a:p>
                  </p:txBody>
                </p:sp>
                <p:sp>
                  <p:nvSpPr>
                    <p:cNvPr id="593985" name="Text Box 65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1056" y="2698"/>
                      <a:ext cx="96" cy="192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lIns="0" tIns="0" rIns="0" bIns="0">
                      <a:spAutoFit/>
                    </a:bodyPr>
                    <a:lstStyle/>
                    <a:p>
                      <a:pPr>
                        <a:spcBef>
                          <a:spcPct val="50000"/>
                        </a:spcBef>
                      </a:pPr>
                      <a:r>
                        <a:rPr lang="en-US" altLang="zh-CN" sz="2000" i="1" u="none">
                          <a:solidFill>
                            <a:schemeClr val="tx1"/>
                          </a:solidFill>
                          <a:ea typeface="宋体" pitchFamily="2" charset="-122"/>
                        </a:rPr>
                        <a:t>y</a:t>
                      </a:r>
                    </a:p>
                  </p:txBody>
                </p:sp>
              </p:grpSp>
              <p:sp>
                <p:nvSpPr>
                  <p:cNvPr id="593986" name="Oval 66"/>
                  <p:cNvSpPr>
                    <a:spLocks noChangeArrowheads="1"/>
                  </p:cNvSpPr>
                  <p:nvPr/>
                </p:nvSpPr>
                <p:spPr bwMode="auto">
                  <a:xfrm>
                    <a:off x="3504" y="3312"/>
                    <a:ext cx="48" cy="48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93987" name="Oval 67"/>
                  <p:cNvSpPr>
                    <a:spLocks noChangeArrowheads="1"/>
                  </p:cNvSpPr>
                  <p:nvPr/>
                </p:nvSpPr>
                <p:spPr bwMode="auto">
                  <a:xfrm>
                    <a:off x="3552" y="3168"/>
                    <a:ext cx="48" cy="48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93988" name="Oval 68"/>
                  <p:cNvSpPr>
                    <a:spLocks noChangeArrowheads="1"/>
                  </p:cNvSpPr>
                  <p:nvPr/>
                </p:nvSpPr>
                <p:spPr bwMode="auto">
                  <a:xfrm>
                    <a:off x="3648" y="3024"/>
                    <a:ext cx="48" cy="48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93989" name="Oval 69"/>
                  <p:cNvSpPr>
                    <a:spLocks noChangeArrowheads="1"/>
                  </p:cNvSpPr>
                  <p:nvPr/>
                </p:nvSpPr>
                <p:spPr bwMode="auto">
                  <a:xfrm>
                    <a:off x="3792" y="2928"/>
                    <a:ext cx="48" cy="48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93990" name="Oval 70"/>
                  <p:cNvSpPr>
                    <a:spLocks noChangeArrowheads="1"/>
                  </p:cNvSpPr>
                  <p:nvPr/>
                </p:nvSpPr>
                <p:spPr bwMode="auto">
                  <a:xfrm>
                    <a:off x="3936" y="2880"/>
                    <a:ext cx="48" cy="48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93991" name="Oval 71"/>
                  <p:cNvSpPr>
                    <a:spLocks noChangeArrowheads="1"/>
                  </p:cNvSpPr>
                  <p:nvPr/>
                </p:nvSpPr>
                <p:spPr bwMode="auto">
                  <a:xfrm>
                    <a:off x="3024" y="3792"/>
                    <a:ext cx="48" cy="48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93992" name="Oval 72"/>
                  <p:cNvSpPr>
                    <a:spLocks noChangeArrowheads="1"/>
                  </p:cNvSpPr>
                  <p:nvPr/>
                </p:nvSpPr>
                <p:spPr bwMode="auto">
                  <a:xfrm>
                    <a:off x="3216" y="3696"/>
                    <a:ext cx="48" cy="48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93993" name="Oval 73"/>
                  <p:cNvSpPr>
                    <a:spLocks noChangeArrowheads="1"/>
                  </p:cNvSpPr>
                  <p:nvPr/>
                </p:nvSpPr>
                <p:spPr bwMode="auto">
                  <a:xfrm>
                    <a:off x="3360" y="3600"/>
                    <a:ext cx="48" cy="48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93994" name="Oval 74"/>
                  <p:cNvSpPr>
                    <a:spLocks noChangeArrowheads="1"/>
                  </p:cNvSpPr>
                  <p:nvPr/>
                </p:nvSpPr>
                <p:spPr bwMode="auto">
                  <a:xfrm>
                    <a:off x="3408" y="3456"/>
                    <a:ext cx="48" cy="48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</p:grpSp>
          <p:sp>
            <p:nvSpPr>
              <p:cNvPr id="593995" name="Rectangle 75"/>
              <p:cNvSpPr>
                <a:spLocks noChangeArrowheads="1"/>
              </p:cNvSpPr>
              <p:nvPr/>
            </p:nvSpPr>
            <p:spPr bwMode="auto">
              <a:xfrm>
                <a:off x="3216" y="3840"/>
                <a:ext cx="672" cy="192"/>
              </a:xfrm>
              <a:prstGeom prst="rect">
                <a:avLst/>
              </a:prstGeom>
              <a:solidFill>
                <a:srgbClr val="FFFFCC"/>
              </a:solidFill>
              <a:ln w="9525">
                <a:solidFill>
                  <a:srgbClr val="FFFFCC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aphicFrame>
          <p:nvGraphicFramePr>
            <p:cNvPr id="593996" name="Object 76"/>
            <p:cNvGraphicFramePr>
              <a:graphicFrameLocks noChangeAspect="1"/>
            </p:cNvGraphicFramePr>
            <p:nvPr/>
          </p:nvGraphicFramePr>
          <p:xfrm>
            <a:off x="3094" y="3731"/>
            <a:ext cx="900" cy="2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94301" name="公式" r:id="rId9" imgW="850680" imgH="241200" progId="Equation.3">
                    <p:embed/>
                  </p:oleObj>
                </mc:Choice>
                <mc:Fallback>
                  <p:oleObj name="公式" r:id="rId9" imgW="850680" imgH="241200" progId="Equation.3">
                    <p:embed/>
                    <p:pic>
                      <p:nvPicPr>
                        <p:cNvPr id="0" name="Object 7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94" y="3731"/>
                          <a:ext cx="900" cy="25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94021" name="Group 101"/>
          <p:cNvGrpSpPr>
            <a:grpSpLocks/>
          </p:cNvGrpSpPr>
          <p:nvPr/>
        </p:nvGrpSpPr>
        <p:grpSpPr bwMode="auto">
          <a:xfrm>
            <a:off x="6694488" y="3711575"/>
            <a:ext cx="1981200" cy="2362200"/>
            <a:chOff x="4141" y="2483"/>
            <a:chExt cx="1248" cy="1488"/>
          </a:xfrm>
        </p:grpSpPr>
        <p:grpSp>
          <p:nvGrpSpPr>
            <p:cNvPr id="593998" name="Group 78"/>
            <p:cNvGrpSpPr>
              <a:grpSpLocks/>
            </p:cNvGrpSpPr>
            <p:nvPr/>
          </p:nvGrpSpPr>
          <p:grpSpPr bwMode="auto">
            <a:xfrm>
              <a:off x="4141" y="2483"/>
              <a:ext cx="1248" cy="1488"/>
              <a:chOff x="4224" y="2592"/>
              <a:chExt cx="1248" cy="1488"/>
            </a:xfrm>
          </p:grpSpPr>
          <p:grpSp>
            <p:nvGrpSpPr>
              <p:cNvPr id="593999" name="Group 79"/>
              <p:cNvGrpSpPr>
                <a:grpSpLocks/>
              </p:cNvGrpSpPr>
              <p:nvPr/>
            </p:nvGrpSpPr>
            <p:grpSpPr bwMode="auto">
              <a:xfrm>
                <a:off x="4224" y="2592"/>
                <a:ext cx="1248" cy="1488"/>
                <a:chOff x="4224" y="2592"/>
                <a:chExt cx="1248" cy="1488"/>
              </a:xfrm>
            </p:grpSpPr>
            <p:sp>
              <p:nvSpPr>
                <p:cNvPr id="594000" name="Rectangle 80"/>
                <p:cNvSpPr>
                  <a:spLocks noChangeArrowheads="1"/>
                </p:cNvSpPr>
                <p:nvPr/>
              </p:nvSpPr>
              <p:spPr bwMode="auto">
                <a:xfrm>
                  <a:off x="4224" y="2592"/>
                  <a:ext cx="1200" cy="1488"/>
                </a:xfrm>
                <a:prstGeom prst="rect">
                  <a:avLst/>
                </a:prstGeom>
                <a:solidFill>
                  <a:srgbClr val="CCECFF"/>
                </a:solidFill>
                <a:ln w="9525">
                  <a:solidFill>
                    <a:srgbClr val="CCECFF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grpSp>
              <p:nvGrpSpPr>
                <p:cNvPr id="594001" name="Group 81"/>
                <p:cNvGrpSpPr>
                  <a:grpSpLocks/>
                </p:cNvGrpSpPr>
                <p:nvPr/>
              </p:nvGrpSpPr>
              <p:grpSpPr bwMode="auto">
                <a:xfrm>
                  <a:off x="4272" y="2592"/>
                  <a:ext cx="1200" cy="1382"/>
                  <a:chOff x="4272" y="2688"/>
                  <a:chExt cx="1200" cy="1382"/>
                </a:xfrm>
              </p:grpSpPr>
              <p:grpSp>
                <p:nvGrpSpPr>
                  <p:cNvPr id="594002" name="Group 82"/>
                  <p:cNvGrpSpPr>
                    <a:grpSpLocks/>
                  </p:cNvGrpSpPr>
                  <p:nvPr/>
                </p:nvGrpSpPr>
                <p:grpSpPr bwMode="auto">
                  <a:xfrm>
                    <a:off x="4272" y="2688"/>
                    <a:ext cx="1200" cy="1382"/>
                    <a:chOff x="624" y="2698"/>
                    <a:chExt cx="1200" cy="1382"/>
                  </a:xfrm>
                </p:grpSpPr>
                <p:sp>
                  <p:nvSpPr>
                    <p:cNvPr id="594003" name="Line 83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624" y="3360"/>
                      <a:ext cx="1200" cy="0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 type="triangle" w="med" len="med"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594004" name="Line 84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1200" y="2784"/>
                      <a:ext cx="0" cy="1296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 type="triangle" w="med" len="med"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594005" name="Text Box 85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1680" y="3322"/>
                      <a:ext cx="96" cy="23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lIns="0" tIns="0" rIns="0" bIns="0">
                      <a:spAutoFit/>
                    </a:bodyPr>
                    <a:lstStyle/>
                    <a:p>
                      <a:pPr>
                        <a:spcBef>
                          <a:spcPct val="50000"/>
                        </a:spcBef>
                      </a:pPr>
                      <a:r>
                        <a:rPr lang="en-US" altLang="zh-CN" sz="2400" i="1" u="none">
                          <a:solidFill>
                            <a:schemeClr val="tx1"/>
                          </a:solidFill>
                          <a:ea typeface="宋体" pitchFamily="2" charset="-122"/>
                        </a:rPr>
                        <a:t>x</a:t>
                      </a:r>
                    </a:p>
                  </p:txBody>
                </p:sp>
                <p:sp>
                  <p:nvSpPr>
                    <p:cNvPr id="594006" name="Text Box 86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1056" y="2698"/>
                      <a:ext cx="96" cy="192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lIns="0" tIns="0" rIns="0" bIns="0">
                      <a:spAutoFit/>
                    </a:bodyPr>
                    <a:lstStyle/>
                    <a:p>
                      <a:pPr>
                        <a:spcBef>
                          <a:spcPct val="50000"/>
                        </a:spcBef>
                      </a:pPr>
                      <a:r>
                        <a:rPr lang="en-US" altLang="zh-CN" sz="2000" i="1" u="none">
                          <a:solidFill>
                            <a:schemeClr val="tx1"/>
                          </a:solidFill>
                          <a:ea typeface="宋体" pitchFamily="2" charset="-122"/>
                        </a:rPr>
                        <a:t>y</a:t>
                      </a:r>
                    </a:p>
                  </p:txBody>
                </p:sp>
              </p:grpSp>
              <p:sp>
                <p:nvSpPr>
                  <p:cNvPr id="594007" name="Oval 87"/>
                  <p:cNvSpPr>
                    <a:spLocks noChangeArrowheads="1"/>
                  </p:cNvSpPr>
                  <p:nvPr/>
                </p:nvSpPr>
                <p:spPr bwMode="auto">
                  <a:xfrm>
                    <a:off x="4704" y="3216"/>
                    <a:ext cx="48" cy="48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94008" name="Oval 88"/>
                  <p:cNvSpPr>
                    <a:spLocks noChangeArrowheads="1"/>
                  </p:cNvSpPr>
                  <p:nvPr/>
                </p:nvSpPr>
                <p:spPr bwMode="auto">
                  <a:xfrm>
                    <a:off x="4608" y="2928"/>
                    <a:ext cx="48" cy="48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94009" name="Oval 89"/>
                  <p:cNvSpPr>
                    <a:spLocks noChangeArrowheads="1"/>
                  </p:cNvSpPr>
                  <p:nvPr/>
                </p:nvSpPr>
                <p:spPr bwMode="auto">
                  <a:xfrm>
                    <a:off x="5136" y="3744"/>
                    <a:ext cx="48" cy="48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94010" name="Oval 90"/>
                  <p:cNvSpPr>
                    <a:spLocks noChangeArrowheads="1"/>
                  </p:cNvSpPr>
                  <p:nvPr/>
                </p:nvSpPr>
                <p:spPr bwMode="auto">
                  <a:xfrm>
                    <a:off x="5040" y="2976"/>
                    <a:ext cx="48" cy="48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94011" name="Oval 91"/>
                  <p:cNvSpPr>
                    <a:spLocks noChangeArrowheads="1"/>
                  </p:cNvSpPr>
                  <p:nvPr/>
                </p:nvSpPr>
                <p:spPr bwMode="auto">
                  <a:xfrm>
                    <a:off x="5280" y="3024"/>
                    <a:ext cx="48" cy="48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94012" name="Oval 92"/>
                  <p:cNvSpPr>
                    <a:spLocks noChangeArrowheads="1"/>
                  </p:cNvSpPr>
                  <p:nvPr/>
                </p:nvSpPr>
                <p:spPr bwMode="auto">
                  <a:xfrm>
                    <a:off x="4464" y="3408"/>
                    <a:ext cx="48" cy="48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94013" name="Oval 93"/>
                  <p:cNvSpPr>
                    <a:spLocks noChangeArrowheads="1"/>
                  </p:cNvSpPr>
                  <p:nvPr/>
                </p:nvSpPr>
                <p:spPr bwMode="auto">
                  <a:xfrm>
                    <a:off x="5040" y="3504"/>
                    <a:ext cx="48" cy="48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94014" name="Oval 94"/>
                  <p:cNvSpPr>
                    <a:spLocks noChangeArrowheads="1"/>
                  </p:cNvSpPr>
                  <p:nvPr/>
                </p:nvSpPr>
                <p:spPr bwMode="auto">
                  <a:xfrm>
                    <a:off x="4608" y="3456"/>
                    <a:ext cx="48" cy="48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94015" name="Oval 95"/>
                  <p:cNvSpPr>
                    <a:spLocks noChangeArrowheads="1"/>
                  </p:cNvSpPr>
                  <p:nvPr/>
                </p:nvSpPr>
                <p:spPr bwMode="auto">
                  <a:xfrm>
                    <a:off x="4704" y="3696"/>
                    <a:ext cx="48" cy="48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</p:grpSp>
          <p:sp>
            <p:nvSpPr>
              <p:cNvPr id="594016" name="Rectangle 96"/>
              <p:cNvSpPr>
                <a:spLocks noChangeArrowheads="1"/>
              </p:cNvSpPr>
              <p:nvPr/>
            </p:nvSpPr>
            <p:spPr bwMode="auto">
              <a:xfrm>
                <a:off x="4608" y="3840"/>
                <a:ext cx="480" cy="192"/>
              </a:xfrm>
              <a:prstGeom prst="rect">
                <a:avLst/>
              </a:prstGeom>
              <a:solidFill>
                <a:srgbClr val="CCECFF"/>
              </a:solidFill>
              <a:ln w="9525">
                <a:solidFill>
                  <a:srgbClr val="CCECF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aphicFrame>
          <p:nvGraphicFramePr>
            <p:cNvPr id="594017" name="Object 97"/>
            <p:cNvGraphicFramePr>
              <a:graphicFrameLocks noChangeAspect="1"/>
            </p:cNvGraphicFramePr>
            <p:nvPr/>
          </p:nvGraphicFramePr>
          <p:xfrm>
            <a:off x="4432" y="3717"/>
            <a:ext cx="695" cy="2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94302" name="公式" r:id="rId11" imgW="660240" imgH="241200" progId="Equation.3">
                    <p:embed/>
                  </p:oleObj>
                </mc:Choice>
                <mc:Fallback>
                  <p:oleObj name="公式" r:id="rId11" imgW="660240" imgH="241200" progId="Equation.3">
                    <p:embed/>
                    <p:pic>
                      <p:nvPicPr>
                        <p:cNvPr id="0" name="Object 9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32" y="3717"/>
                          <a:ext cx="695" cy="25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84" name="Rectangle 4"/>
          <p:cNvSpPr>
            <a:spLocks noChangeArrowheads="1"/>
          </p:cNvSpPr>
          <p:nvPr/>
        </p:nvSpPr>
        <p:spPr bwMode="auto">
          <a:xfrm>
            <a:off x="379413" y="300831"/>
            <a:ext cx="3738562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 b="1" u="none" dirty="0" smtClean="0">
                <a:solidFill>
                  <a:srgbClr val="800000"/>
                </a:solidFill>
                <a:ea typeface="宋体" pitchFamily="2" charset="-122"/>
              </a:rPr>
              <a:t>5.3 </a:t>
            </a:r>
            <a:r>
              <a:rPr lang="zh-CN" altLang="en-US" sz="3200" b="1" u="none" dirty="0">
                <a:solidFill>
                  <a:srgbClr val="800000"/>
                </a:solidFill>
                <a:ea typeface="宋体" pitchFamily="2" charset="-122"/>
              </a:rPr>
              <a:t>相关分析及应用</a:t>
            </a:r>
            <a:r>
              <a:rPr lang="zh-CN" altLang="en-US" b="1" u="none" dirty="0">
                <a:solidFill>
                  <a:srgbClr val="000066"/>
                </a:solidFill>
                <a:ea typeface="宋体" pitchFamily="2" charset="-122"/>
              </a:rPr>
              <a:t> </a:t>
            </a: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01718819"/>
              </p:ext>
            </p:extLst>
          </p:nvPr>
        </p:nvGraphicFramePr>
        <p:xfrm>
          <a:off x="5081588" y="44521"/>
          <a:ext cx="3225800" cy="7375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4303" name="公式" r:id="rId13" imgW="2730500" imgH="622300" progId="Equation.3">
                  <p:embed/>
                </p:oleObj>
              </mc:Choice>
              <mc:Fallback>
                <p:oleObj name="公式" r:id="rId13" imgW="2730500" imgH="622300" progId="Equation.3">
                  <p:embed/>
                  <p:pic>
                    <p:nvPicPr>
                      <p:cNvPr id="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81588" y="44521"/>
                        <a:ext cx="3225800" cy="737557"/>
                      </a:xfrm>
                      <a:prstGeom prst="rect">
                        <a:avLst/>
                      </a:prstGeom>
                      <a:solidFill>
                        <a:srgbClr val="FF99CC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939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939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939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939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939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939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940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940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940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940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5940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5940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5940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5940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3941" grpId="0"/>
      <p:bldP spid="593942" grpId="0"/>
      <p:bldP spid="593943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7618" name="Picture 18" descr="y039"/>
          <p:cNvPicPr>
            <a:picLocks noGrp="1" noChangeAspect="1" noChangeArrowheads="1"/>
          </p:cNvPicPr>
          <p:nvPr>
            <p:ph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61" t="5055" b="2950"/>
          <a:stretch>
            <a:fillRect/>
          </a:stretch>
        </p:blipFill>
        <p:spPr>
          <a:xfrm>
            <a:off x="1454150" y="3274936"/>
            <a:ext cx="6899275" cy="2773363"/>
          </a:xfrm>
          <a:noFill/>
          <a:ln/>
        </p:spPr>
      </p:pic>
      <p:sp>
        <p:nvSpPr>
          <p:cNvPr id="537603" name="Rectangle 3"/>
          <p:cNvSpPr>
            <a:spLocks noChangeArrowheads="1"/>
          </p:cNvSpPr>
          <p:nvPr/>
        </p:nvSpPr>
        <p:spPr bwMode="auto">
          <a:xfrm>
            <a:off x="623888" y="1416936"/>
            <a:ext cx="4089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buClr>
                <a:schemeClr val="hlink"/>
              </a:buClr>
              <a:buFont typeface="Wingdings" pitchFamily="2" charset="2"/>
              <a:buNone/>
            </a:pPr>
            <a:r>
              <a:rPr kumimoji="0" lang="en-US" altLang="zh-CN" sz="2400" b="1" u="none" dirty="0">
                <a:solidFill>
                  <a:srgbClr val="FF3300"/>
                </a:solidFill>
              </a:rPr>
              <a:t>1</a:t>
            </a:r>
            <a:r>
              <a:rPr kumimoji="0" lang="zh-CN" altLang="en-US" sz="2400" b="1" u="none" dirty="0">
                <a:solidFill>
                  <a:srgbClr val="FF3300"/>
                </a:solidFill>
              </a:rPr>
              <a:t>）</a:t>
            </a:r>
            <a:r>
              <a:rPr kumimoji="0" lang="zh-CN" altLang="en-US" sz="2400" b="1" u="none" dirty="0">
                <a:solidFill>
                  <a:schemeClr val="tx1"/>
                </a:solidFill>
              </a:rPr>
              <a:t>互相关函数的限制范围为 </a:t>
            </a:r>
          </a:p>
        </p:txBody>
      </p:sp>
      <p:sp>
        <p:nvSpPr>
          <p:cNvPr id="537605" name="Rectangle 5"/>
          <p:cNvSpPr>
            <a:spLocks noChangeArrowheads="1"/>
          </p:cNvSpPr>
          <p:nvPr/>
        </p:nvSpPr>
        <p:spPr bwMode="auto">
          <a:xfrm>
            <a:off x="1925831" y="1895818"/>
            <a:ext cx="4687502" cy="523220"/>
          </a:xfrm>
          <a:prstGeom prst="rect">
            <a:avLst/>
          </a:prstGeom>
          <a:solidFill>
            <a:srgbClr val="FFCC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kumimoji="0" lang="en-US" altLang="zh-CN" b="1" i="1" u="none" dirty="0" err="1">
                <a:solidFill>
                  <a:schemeClr val="tx1"/>
                </a:solidFill>
              </a:rPr>
              <a:t>μ</a:t>
            </a:r>
            <a:r>
              <a:rPr kumimoji="0" lang="en-US" altLang="zh-CN" b="1" i="1" u="none" baseline="-25000" dirty="0" err="1">
                <a:solidFill>
                  <a:schemeClr val="tx1"/>
                </a:solidFill>
              </a:rPr>
              <a:t>x</a:t>
            </a:r>
            <a:r>
              <a:rPr kumimoji="0" lang="en-US" altLang="zh-CN" b="1" i="1" u="none" dirty="0" err="1">
                <a:solidFill>
                  <a:schemeClr val="tx1"/>
                </a:solidFill>
              </a:rPr>
              <a:t>μ</a:t>
            </a:r>
            <a:r>
              <a:rPr kumimoji="0" lang="en-US" altLang="zh-CN" b="1" i="1" u="none" baseline="-25000" dirty="0" err="1">
                <a:solidFill>
                  <a:schemeClr val="tx1"/>
                </a:solidFill>
              </a:rPr>
              <a:t>y</a:t>
            </a:r>
            <a:r>
              <a:rPr kumimoji="0" lang="en-US" altLang="zh-CN" b="1" u="none" dirty="0" err="1">
                <a:solidFill>
                  <a:schemeClr val="tx1"/>
                </a:solidFill>
              </a:rPr>
              <a:t>-σ</a:t>
            </a:r>
            <a:r>
              <a:rPr kumimoji="0" lang="en-US" altLang="zh-CN" b="1" i="1" u="none" baseline="-25000" dirty="0" err="1">
                <a:solidFill>
                  <a:schemeClr val="tx1"/>
                </a:solidFill>
              </a:rPr>
              <a:t>x</a:t>
            </a:r>
            <a:r>
              <a:rPr kumimoji="0" lang="en-US" altLang="zh-CN" b="1" u="none" dirty="0" err="1">
                <a:solidFill>
                  <a:schemeClr val="tx1"/>
                </a:solidFill>
              </a:rPr>
              <a:t>σ</a:t>
            </a:r>
            <a:r>
              <a:rPr kumimoji="0" lang="en-US" altLang="zh-CN" b="1" i="1" u="none" baseline="-25000" dirty="0" err="1">
                <a:solidFill>
                  <a:schemeClr val="tx1"/>
                </a:solidFill>
              </a:rPr>
              <a:t>y</a:t>
            </a:r>
            <a:r>
              <a:rPr kumimoji="0" lang="en-US" altLang="zh-CN" b="1" u="none" dirty="0" smtClean="0">
                <a:solidFill>
                  <a:schemeClr val="tx1"/>
                </a:solidFill>
              </a:rPr>
              <a:t>≤ </a:t>
            </a:r>
            <a:r>
              <a:rPr kumimoji="0" lang="en-US" altLang="zh-CN" b="1" i="1" u="none" dirty="0" err="1" smtClean="0">
                <a:solidFill>
                  <a:schemeClr val="tx1"/>
                </a:solidFill>
              </a:rPr>
              <a:t>R</a:t>
            </a:r>
            <a:r>
              <a:rPr kumimoji="0" lang="en-US" altLang="zh-CN" b="1" i="1" u="none" baseline="-25000" dirty="0" err="1" smtClean="0">
                <a:solidFill>
                  <a:schemeClr val="tx1"/>
                </a:solidFill>
              </a:rPr>
              <a:t>xy</a:t>
            </a:r>
            <a:r>
              <a:rPr kumimoji="0" lang="en-US" altLang="zh-CN" b="1" u="none" dirty="0" smtClean="0">
                <a:solidFill>
                  <a:schemeClr val="tx1"/>
                </a:solidFill>
              </a:rPr>
              <a:t>(τ</a:t>
            </a:r>
            <a:r>
              <a:rPr kumimoji="0" lang="en-US" altLang="zh-CN" b="1" u="none" dirty="0">
                <a:solidFill>
                  <a:schemeClr val="tx1"/>
                </a:solidFill>
              </a:rPr>
              <a:t>) </a:t>
            </a:r>
            <a:r>
              <a:rPr kumimoji="0" lang="en-US" altLang="zh-CN" b="1" u="none" dirty="0" smtClean="0">
                <a:solidFill>
                  <a:schemeClr val="tx1"/>
                </a:solidFill>
              </a:rPr>
              <a:t>≤ </a:t>
            </a:r>
            <a:r>
              <a:rPr kumimoji="0" lang="en-US" altLang="zh-CN" b="1" i="1" u="none" dirty="0" err="1" smtClean="0">
                <a:solidFill>
                  <a:schemeClr val="tx1"/>
                </a:solidFill>
              </a:rPr>
              <a:t>μ</a:t>
            </a:r>
            <a:r>
              <a:rPr kumimoji="0" lang="en-US" altLang="zh-CN" b="1" i="1" u="none" baseline="-25000" dirty="0" err="1" smtClean="0">
                <a:solidFill>
                  <a:schemeClr val="tx1"/>
                </a:solidFill>
              </a:rPr>
              <a:t>x</a:t>
            </a:r>
            <a:r>
              <a:rPr kumimoji="0" lang="en-US" altLang="zh-CN" b="1" i="1" u="none" dirty="0" err="1" smtClean="0">
                <a:solidFill>
                  <a:schemeClr val="tx1"/>
                </a:solidFill>
              </a:rPr>
              <a:t>μ</a:t>
            </a:r>
            <a:r>
              <a:rPr kumimoji="0" lang="en-US" altLang="zh-CN" b="1" i="1" u="none" baseline="-25000" dirty="0" err="1" smtClean="0">
                <a:solidFill>
                  <a:schemeClr val="tx1"/>
                </a:solidFill>
              </a:rPr>
              <a:t>y</a:t>
            </a:r>
            <a:r>
              <a:rPr kumimoji="0" lang="zh-CN" altLang="en-US" b="1" u="none" dirty="0">
                <a:solidFill>
                  <a:schemeClr val="tx1"/>
                </a:solidFill>
              </a:rPr>
              <a:t>＋</a:t>
            </a:r>
            <a:r>
              <a:rPr kumimoji="0" lang="en-US" altLang="zh-CN" b="1" u="none" dirty="0" err="1">
                <a:solidFill>
                  <a:schemeClr val="tx1"/>
                </a:solidFill>
              </a:rPr>
              <a:t>σ</a:t>
            </a:r>
            <a:r>
              <a:rPr kumimoji="0" lang="en-US" altLang="zh-CN" b="1" i="1" u="none" baseline="-25000" dirty="0" err="1">
                <a:solidFill>
                  <a:schemeClr val="tx1"/>
                </a:solidFill>
              </a:rPr>
              <a:t>x</a:t>
            </a:r>
            <a:r>
              <a:rPr kumimoji="0" lang="en-US" altLang="zh-CN" b="1" u="none" dirty="0" err="1">
                <a:solidFill>
                  <a:schemeClr val="tx1"/>
                </a:solidFill>
              </a:rPr>
              <a:t>σ</a:t>
            </a:r>
            <a:r>
              <a:rPr kumimoji="0" lang="en-US" altLang="zh-CN" b="1" i="1" u="none" baseline="-25000" dirty="0" err="1">
                <a:solidFill>
                  <a:schemeClr val="tx1"/>
                </a:solidFill>
              </a:rPr>
              <a:t>y</a:t>
            </a:r>
            <a:endParaRPr kumimoji="0" lang="en-US" altLang="zh-CN" b="1" i="1" u="none" baseline="-25000" dirty="0">
              <a:solidFill>
                <a:schemeClr val="tx1"/>
              </a:solidFill>
            </a:endParaRPr>
          </a:p>
        </p:txBody>
      </p:sp>
      <p:sp>
        <p:nvSpPr>
          <p:cNvPr id="537606" name="Rectangle 6"/>
          <p:cNvSpPr>
            <a:spLocks noChangeArrowheads="1"/>
          </p:cNvSpPr>
          <p:nvPr/>
        </p:nvSpPr>
        <p:spPr bwMode="auto">
          <a:xfrm>
            <a:off x="38100" y="33004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53760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02265978"/>
              </p:ext>
            </p:extLst>
          </p:nvPr>
        </p:nvGraphicFramePr>
        <p:xfrm>
          <a:off x="700088" y="2515409"/>
          <a:ext cx="3240087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7723" name="公式" r:id="rId4" imgW="1726451" imgH="253890" progId="Equation.3">
                  <p:embed/>
                </p:oleObj>
              </mc:Choice>
              <mc:Fallback>
                <p:oleObj name="公式" r:id="rId4" imgW="1726451" imgH="25389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0088" y="2515409"/>
                        <a:ext cx="3240087" cy="482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7608" name="Rectangle 8"/>
          <p:cNvSpPr>
            <a:spLocks noChangeArrowheads="1"/>
          </p:cNvSpPr>
          <p:nvPr/>
        </p:nvSpPr>
        <p:spPr bwMode="auto">
          <a:xfrm>
            <a:off x="738188" y="3036109"/>
            <a:ext cx="1860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kumimoji="0" lang="en-US" altLang="zh-CN" sz="2400" b="1" u="none">
                <a:solidFill>
                  <a:schemeClr val="tx1"/>
                </a:solidFill>
              </a:rPr>
              <a:t>|</a:t>
            </a:r>
            <a:r>
              <a:rPr kumimoji="0" lang="en-US" altLang="zh-CN" sz="2400" b="1" i="1" u="none">
                <a:solidFill>
                  <a:schemeClr val="tx1"/>
                </a:solidFill>
              </a:rPr>
              <a:t>ρ</a:t>
            </a:r>
            <a:r>
              <a:rPr kumimoji="0" lang="en-US" altLang="zh-CN" sz="2400" b="1" i="1" u="none" baseline="-25000">
                <a:solidFill>
                  <a:schemeClr val="tx1"/>
                </a:solidFill>
              </a:rPr>
              <a:t>xy</a:t>
            </a:r>
            <a:r>
              <a:rPr kumimoji="0" lang="en-US" altLang="zh-CN" sz="2400" b="1" u="none">
                <a:solidFill>
                  <a:schemeClr val="tx1"/>
                </a:solidFill>
              </a:rPr>
              <a:t>(τ)| ≤1</a:t>
            </a:r>
          </a:p>
        </p:txBody>
      </p:sp>
      <p:graphicFrame>
        <p:nvGraphicFramePr>
          <p:cNvPr id="537609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32938892"/>
              </p:ext>
            </p:extLst>
          </p:nvPr>
        </p:nvGraphicFramePr>
        <p:xfrm>
          <a:off x="5318125" y="2383646"/>
          <a:ext cx="2519363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7724" name="公式" r:id="rId6" imgW="1435100" imgH="482600" progId="Equation.3">
                  <p:embed/>
                </p:oleObj>
              </mc:Choice>
              <mc:Fallback>
                <p:oleObj name="公式" r:id="rId6" imgW="1435100" imgH="4826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18125" y="2383646"/>
                        <a:ext cx="2519363" cy="850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7610" name="Rectangle 10"/>
          <p:cNvSpPr>
            <a:spLocks noChangeArrowheads="1"/>
          </p:cNvSpPr>
          <p:nvPr/>
        </p:nvSpPr>
        <p:spPr bwMode="auto">
          <a:xfrm>
            <a:off x="7835900" y="2561446"/>
            <a:ext cx="812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kumimoji="0" lang="en-US" altLang="zh-CN" sz="1800" b="1" u="none" dirty="0" smtClean="0">
                <a:solidFill>
                  <a:srgbClr val="FF3300"/>
                </a:solidFill>
                <a:ea typeface="宋体" pitchFamily="2" charset="-122"/>
              </a:rPr>
              <a:t>(</a:t>
            </a:r>
            <a:r>
              <a:rPr kumimoji="0" lang="en-US" altLang="zh-CN" sz="1800" b="1" u="none" dirty="0" smtClean="0">
                <a:solidFill>
                  <a:srgbClr val="FF3300"/>
                </a:solidFill>
              </a:rPr>
              <a:t>5-</a:t>
            </a:r>
            <a:r>
              <a:rPr kumimoji="0" lang="en-US" altLang="zh-CN" sz="1800" b="1" u="none" dirty="0" smtClean="0">
                <a:solidFill>
                  <a:srgbClr val="FF3300"/>
                </a:solidFill>
                <a:ea typeface="宋体" pitchFamily="2" charset="-122"/>
              </a:rPr>
              <a:t>16</a:t>
            </a:r>
            <a:r>
              <a:rPr kumimoji="0" lang="en-US" altLang="zh-CN" sz="1800" b="1" u="none" dirty="0">
                <a:solidFill>
                  <a:srgbClr val="FF3300"/>
                </a:solidFill>
                <a:ea typeface="宋体" pitchFamily="2" charset="-122"/>
              </a:rPr>
              <a:t>)</a:t>
            </a:r>
            <a:r>
              <a:rPr kumimoji="0" lang="en-US" altLang="zh-CN" sz="1800" u="none" dirty="0">
                <a:solidFill>
                  <a:srgbClr val="FF3300"/>
                </a:solidFill>
                <a:ea typeface="宋体" pitchFamily="2" charset="-122"/>
              </a:rPr>
              <a:t> </a:t>
            </a:r>
          </a:p>
        </p:txBody>
      </p:sp>
      <p:sp>
        <p:nvSpPr>
          <p:cNvPr id="537611" name="Rectangle 11"/>
          <p:cNvSpPr>
            <a:spLocks noChangeArrowheads="1"/>
          </p:cNvSpPr>
          <p:nvPr/>
        </p:nvSpPr>
        <p:spPr bwMode="auto">
          <a:xfrm>
            <a:off x="7540625" y="1934384"/>
            <a:ext cx="8128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kumimoji="0" lang="en-US" altLang="zh-CN" sz="1800" b="1" u="none" dirty="0" smtClean="0">
                <a:solidFill>
                  <a:srgbClr val="FF3300"/>
                </a:solidFill>
                <a:ea typeface="宋体" pitchFamily="2" charset="-122"/>
              </a:rPr>
              <a:t>(</a:t>
            </a:r>
            <a:r>
              <a:rPr kumimoji="0" lang="en-US" altLang="zh-CN" sz="1800" b="1" u="none" dirty="0" smtClean="0">
                <a:solidFill>
                  <a:srgbClr val="FF3300"/>
                </a:solidFill>
              </a:rPr>
              <a:t>5-</a:t>
            </a:r>
            <a:r>
              <a:rPr kumimoji="0" lang="en-US" altLang="zh-CN" sz="1800" b="1" u="none" dirty="0" smtClean="0">
                <a:solidFill>
                  <a:srgbClr val="FF3300"/>
                </a:solidFill>
                <a:ea typeface="宋体" pitchFamily="2" charset="-122"/>
              </a:rPr>
              <a:t>18</a:t>
            </a:r>
            <a:r>
              <a:rPr kumimoji="0" lang="en-US" altLang="zh-CN" sz="1800" b="1" u="none" dirty="0">
                <a:solidFill>
                  <a:srgbClr val="FF3300"/>
                </a:solidFill>
                <a:ea typeface="宋体" pitchFamily="2" charset="-122"/>
              </a:rPr>
              <a:t>)</a:t>
            </a:r>
            <a:r>
              <a:rPr kumimoji="0" lang="en-US" altLang="zh-CN" sz="1800" u="none" dirty="0">
                <a:solidFill>
                  <a:srgbClr val="FF3300"/>
                </a:solidFill>
                <a:ea typeface="宋体" pitchFamily="2" charset="-122"/>
              </a:rPr>
              <a:t> </a:t>
            </a:r>
          </a:p>
        </p:txBody>
      </p:sp>
      <p:sp>
        <p:nvSpPr>
          <p:cNvPr id="537612" name="Rectangle 12"/>
          <p:cNvSpPr>
            <a:spLocks noChangeArrowheads="1"/>
          </p:cNvSpPr>
          <p:nvPr/>
        </p:nvSpPr>
        <p:spPr bwMode="auto">
          <a:xfrm>
            <a:off x="3919538" y="2586846"/>
            <a:ext cx="7556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0" lang="en-US" altLang="zh-CN" sz="1800" b="1" u="none" dirty="0" smtClean="0">
                <a:solidFill>
                  <a:srgbClr val="FF3300"/>
                </a:solidFill>
                <a:ea typeface="宋体" pitchFamily="2" charset="-122"/>
              </a:rPr>
              <a:t>(</a:t>
            </a:r>
            <a:r>
              <a:rPr kumimoji="0" lang="en-US" altLang="zh-CN" sz="1800" b="1" u="none" dirty="0" smtClean="0">
                <a:solidFill>
                  <a:srgbClr val="FF3300"/>
                </a:solidFill>
              </a:rPr>
              <a:t>5-</a:t>
            </a:r>
            <a:r>
              <a:rPr kumimoji="0" lang="en-US" altLang="zh-CN" sz="1800" b="1" u="none" dirty="0" smtClean="0">
                <a:solidFill>
                  <a:srgbClr val="FF3300"/>
                </a:solidFill>
                <a:ea typeface="宋体" pitchFamily="2" charset="-122"/>
              </a:rPr>
              <a:t>17</a:t>
            </a:r>
            <a:r>
              <a:rPr kumimoji="0" lang="en-US" altLang="zh-CN" sz="1800" b="1" u="none" dirty="0">
                <a:solidFill>
                  <a:srgbClr val="FF3300"/>
                </a:solidFill>
                <a:ea typeface="宋体" pitchFamily="2" charset="-122"/>
              </a:rPr>
              <a:t>)</a:t>
            </a:r>
          </a:p>
        </p:txBody>
      </p:sp>
      <p:sp>
        <p:nvSpPr>
          <p:cNvPr id="537614" name="Rectangle 14"/>
          <p:cNvSpPr>
            <a:spLocks noChangeArrowheads="1"/>
          </p:cNvSpPr>
          <p:nvPr/>
        </p:nvSpPr>
        <p:spPr bwMode="auto">
          <a:xfrm>
            <a:off x="3529013" y="6027222"/>
            <a:ext cx="2161169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kumimoji="0" lang="zh-CN" altLang="en-US" sz="1800" b="1" u="none" dirty="0">
                <a:solidFill>
                  <a:srgbClr val="FF3300"/>
                </a:solidFill>
                <a:latin typeface="黑体" pitchFamily="49" charset="-122"/>
                <a:ea typeface="黑体" pitchFamily="49" charset="-122"/>
              </a:rPr>
              <a:t>互相关函数的性质 </a:t>
            </a:r>
          </a:p>
        </p:txBody>
      </p:sp>
      <p:sp>
        <p:nvSpPr>
          <p:cNvPr id="537615" name="Line 15"/>
          <p:cNvSpPr>
            <a:spLocks noChangeShapeType="1"/>
          </p:cNvSpPr>
          <p:nvPr/>
        </p:nvSpPr>
        <p:spPr bwMode="auto">
          <a:xfrm flipV="1">
            <a:off x="6748463" y="3982053"/>
            <a:ext cx="0" cy="7112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37616" name="Line 16"/>
          <p:cNvSpPr>
            <a:spLocks noChangeShapeType="1"/>
          </p:cNvSpPr>
          <p:nvPr/>
        </p:nvSpPr>
        <p:spPr bwMode="auto">
          <a:xfrm flipV="1">
            <a:off x="2698750" y="4675791"/>
            <a:ext cx="0" cy="792162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37617" name="Line 17"/>
          <p:cNvSpPr>
            <a:spLocks noChangeShapeType="1"/>
          </p:cNvSpPr>
          <p:nvPr/>
        </p:nvSpPr>
        <p:spPr bwMode="auto">
          <a:xfrm flipH="1">
            <a:off x="4775200" y="2850371"/>
            <a:ext cx="558800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37619" name="Rectangle 19"/>
          <p:cNvSpPr>
            <a:spLocks noChangeArrowheads="1"/>
          </p:cNvSpPr>
          <p:nvPr/>
        </p:nvSpPr>
        <p:spPr bwMode="auto">
          <a:xfrm>
            <a:off x="452438" y="954973"/>
            <a:ext cx="3076575" cy="466725"/>
          </a:xfrm>
          <a:prstGeom prst="rect">
            <a:avLst/>
          </a:prstGeom>
          <a:solidFill>
            <a:srgbClr val="CC99FF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 u="none">
                <a:solidFill>
                  <a:srgbClr val="990000"/>
                </a:solidFill>
                <a:ea typeface="楷体_GB2312" pitchFamily="49" charset="-122"/>
              </a:rPr>
              <a:t>(1).</a:t>
            </a:r>
            <a:r>
              <a:rPr lang="zh-CN" altLang="en-US" sz="2400" b="1" u="none">
                <a:solidFill>
                  <a:srgbClr val="990000"/>
                </a:solidFill>
                <a:ea typeface="楷体_GB2312" pitchFamily="49" charset="-122"/>
              </a:rPr>
              <a:t>互相关函数的性质</a:t>
            </a:r>
          </a:p>
        </p:txBody>
      </p:sp>
      <p:sp>
        <p:nvSpPr>
          <p:cNvPr id="17" name="Rectangle 4"/>
          <p:cNvSpPr>
            <a:spLocks noChangeArrowheads="1"/>
          </p:cNvSpPr>
          <p:nvPr/>
        </p:nvSpPr>
        <p:spPr bwMode="auto">
          <a:xfrm>
            <a:off x="379413" y="300831"/>
            <a:ext cx="3738562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 b="1" u="none" dirty="0" smtClean="0">
                <a:solidFill>
                  <a:srgbClr val="800000"/>
                </a:solidFill>
                <a:ea typeface="宋体" pitchFamily="2" charset="-122"/>
              </a:rPr>
              <a:t>5.3 </a:t>
            </a:r>
            <a:r>
              <a:rPr lang="zh-CN" altLang="en-US" sz="3200" b="1" u="none" dirty="0">
                <a:solidFill>
                  <a:srgbClr val="800000"/>
                </a:solidFill>
                <a:ea typeface="宋体" pitchFamily="2" charset="-122"/>
              </a:rPr>
              <a:t>相关分析及应用</a:t>
            </a:r>
            <a:r>
              <a:rPr lang="zh-CN" altLang="en-US" b="1" u="none" dirty="0">
                <a:solidFill>
                  <a:srgbClr val="000066"/>
                </a:solidFill>
                <a:ea typeface="宋体" pitchFamily="2" charset="-122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376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376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376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376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376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376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5376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5376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5376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5376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376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376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5376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5376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5376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5376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7605" grpId="0" animBg="1"/>
      <p:bldP spid="537608" grpId="0"/>
      <p:bldP spid="537610" grpId="0"/>
      <p:bldP spid="537611" grpId="0"/>
      <p:bldP spid="537612" grpId="0"/>
      <p:bldP spid="537614" grpId="0"/>
      <p:bldP spid="537615" grpId="0" animBg="1"/>
      <p:bldP spid="537616" grpId="0" animBg="1"/>
      <p:bldP spid="537617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38628" name="Object 4"/>
          <p:cNvGraphicFramePr>
            <a:graphicFrameLocks noChangeAspect="1"/>
          </p:cNvGraphicFramePr>
          <p:nvPr/>
        </p:nvGraphicFramePr>
        <p:xfrm>
          <a:off x="1630363" y="3319463"/>
          <a:ext cx="3848100" cy="669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8956" name="公式" r:id="rId3" imgW="2260440" imgH="393480" progId="Equation.3">
                  <p:embed/>
                </p:oleObj>
              </mc:Choice>
              <mc:Fallback>
                <p:oleObj name="公式" r:id="rId3" imgW="2260440" imgH="39348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30363" y="3319463"/>
                        <a:ext cx="3848100" cy="669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8629" name="Object 5"/>
          <p:cNvGraphicFramePr>
            <a:graphicFrameLocks noChangeAspect="1"/>
          </p:cNvGraphicFramePr>
          <p:nvPr/>
        </p:nvGraphicFramePr>
        <p:xfrm>
          <a:off x="1616075" y="3967163"/>
          <a:ext cx="2638425" cy="669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8957" name="公式" r:id="rId5" imgW="1549080" imgH="393480" progId="Equation.3">
                  <p:embed/>
                </p:oleObj>
              </mc:Choice>
              <mc:Fallback>
                <p:oleObj name="公式" r:id="rId5" imgW="1549080" imgH="39348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6075" y="3967163"/>
                        <a:ext cx="2638425" cy="669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8630" name="Object 6"/>
          <p:cNvGraphicFramePr>
            <a:graphicFrameLocks noChangeAspect="1"/>
          </p:cNvGraphicFramePr>
          <p:nvPr/>
        </p:nvGraphicFramePr>
        <p:xfrm>
          <a:off x="1644650" y="4594225"/>
          <a:ext cx="2897188" cy="669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8958" name="公式" r:id="rId7" imgW="1701720" imgH="393480" progId="Equation.3">
                  <p:embed/>
                </p:oleObj>
              </mc:Choice>
              <mc:Fallback>
                <p:oleObj name="公式" r:id="rId7" imgW="1701720" imgH="39348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44650" y="4594225"/>
                        <a:ext cx="2897188" cy="669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8632" name="Rectangle 8"/>
          <p:cNvSpPr>
            <a:spLocks noChangeArrowheads="1"/>
          </p:cNvSpPr>
          <p:nvPr/>
        </p:nvSpPr>
        <p:spPr bwMode="auto">
          <a:xfrm>
            <a:off x="114300" y="14620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538633" name="Rectangle 9"/>
          <p:cNvSpPr>
            <a:spLocks noChangeArrowheads="1"/>
          </p:cNvSpPr>
          <p:nvPr/>
        </p:nvSpPr>
        <p:spPr bwMode="auto">
          <a:xfrm>
            <a:off x="509588" y="898949"/>
            <a:ext cx="51863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buClr>
                <a:schemeClr val="hlink"/>
              </a:buClr>
              <a:buFont typeface="Wingdings" pitchFamily="2" charset="2"/>
              <a:buNone/>
            </a:pPr>
            <a:r>
              <a:rPr kumimoji="0" lang="en-US" altLang="zh-CN" sz="2400" b="1" u="none">
                <a:solidFill>
                  <a:srgbClr val="FF3300"/>
                </a:solidFill>
              </a:rPr>
              <a:t>2)</a:t>
            </a:r>
            <a:r>
              <a:rPr kumimoji="0" lang="en-US" altLang="zh-CN" sz="2400" b="1" u="none">
                <a:solidFill>
                  <a:schemeClr val="tx1"/>
                </a:solidFill>
              </a:rPr>
              <a:t> </a:t>
            </a:r>
            <a:r>
              <a:rPr kumimoji="0" lang="zh-CN" altLang="en-US" sz="2400" b="1" u="none">
                <a:solidFill>
                  <a:schemeClr val="tx1"/>
                </a:solidFill>
              </a:rPr>
              <a:t>互相关函数是</a:t>
            </a:r>
            <a:r>
              <a:rPr kumimoji="0" lang="zh-CN" altLang="en-US" sz="2400" b="1" u="none">
                <a:solidFill>
                  <a:srgbClr val="FF3300"/>
                </a:solidFill>
              </a:rPr>
              <a:t>可正、可负的实函数</a:t>
            </a:r>
            <a:r>
              <a:rPr kumimoji="0" lang="zh-CN" altLang="en-US" sz="2400" b="1" u="none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538634" name="Rectangle 10"/>
          <p:cNvSpPr>
            <a:spLocks noChangeArrowheads="1"/>
          </p:cNvSpPr>
          <p:nvPr/>
        </p:nvSpPr>
        <p:spPr bwMode="auto">
          <a:xfrm>
            <a:off x="725488" y="1360895"/>
            <a:ext cx="8137525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kumimoji="0" lang="en-US" altLang="zh-CN" sz="2000" b="1" i="1" u="none" dirty="0">
                <a:solidFill>
                  <a:schemeClr val="tx1"/>
                </a:solidFill>
              </a:rPr>
              <a:t>x</a:t>
            </a:r>
            <a:r>
              <a:rPr kumimoji="0" lang="en-US" altLang="zh-CN" sz="2000" b="1" u="none" dirty="0">
                <a:solidFill>
                  <a:schemeClr val="tx1"/>
                </a:solidFill>
              </a:rPr>
              <a:t>(</a:t>
            </a:r>
            <a:r>
              <a:rPr kumimoji="0" lang="en-US" altLang="zh-CN" sz="2000" b="1" i="1" u="none" dirty="0">
                <a:solidFill>
                  <a:schemeClr val="tx1"/>
                </a:solidFill>
              </a:rPr>
              <a:t>t</a:t>
            </a:r>
            <a:r>
              <a:rPr kumimoji="0" lang="en-US" altLang="zh-CN" sz="2000" b="1" u="none" dirty="0">
                <a:solidFill>
                  <a:schemeClr val="tx1"/>
                </a:solidFill>
              </a:rPr>
              <a:t>)</a:t>
            </a:r>
            <a:r>
              <a:rPr kumimoji="0" lang="zh-CN" altLang="en-US" sz="2000" b="1" u="none" dirty="0">
                <a:solidFill>
                  <a:schemeClr val="tx1"/>
                </a:solidFill>
              </a:rPr>
              <a:t>和</a:t>
            </a:r>
            <a:r>
              <a:rPr kumimoji="0" lang="en-US" altLang="zh-CN" sz="2000" b="1" i="1" u="none" dirty="0">
                <a:solidFill>
                  <a:schemeClr val="tx1"/>
                </a:solidFill>
              </a:rPr>
              <a:t>y</a:t>
            </a:r>
            <a:r>
              <a:rPr kumimoji="0" lang="en-US" altLang="zh-CN" sz="2000" b="1" u="none" dirty="0">
                <a:solidFill>
                  <a:schemeClr val="tx1"/>
                </a:solidFill>
              </a:rPr>
              <a:t>(</a:t>
            </a:r>
            <a:r>
              <a:rPr kumimoji="0" lang="en-US" altLang="zh-CN" sz="2000" b="1" i="1" u="none" dirty="0">
                <a:solidFill>
                  <a:schemeClr val="tx1"/>
                </a:solidFill>
              </a:rPr>
              <a:t>t</a:t>
            </a:r>
            <a:r>
              <a:rPr kumimoji="0" lang="en-US" altLang="zh-CN" sz="2000" b="1" u="none" dirty="0">
                <a:solidFill>
                  <a:schemeClr val="tx1"/>
                </a:solidFill>
              </a:rPr>
              <a:t>)</a:t>
            </a:r>
            <a:r>
              <a:rPr kumimoji="0" lang="zh-CN" altLang="en-US" sz="2000" b="1" u="none" dirty="0">
                <a:solidFill>
                  <a:schemeClr val="tx1"/>
                </a:solidFill>
              </a:rPr>
              <a:t>均为实函数，</a:t>
            </a:r>
            <a:r>
              <a:rPr kumimoji="0" lang="en-US" altLang="zh-CN" sz="2000" b="1" i="1" u="none" dirty="0" err="1">
                <a:solidFill>
                  <a:schemeClr val="tx1"/>
                </a:solidFill>
              </a:rPr>
              <a:t>R</a:t>
            </a:r>
            <a:r>
              <a:rPr kumimoji="0" lang="en-US" altLang="zh-CN" sz="2000" b="1" i="1" u="none" baseline="-25000" dirty="0" err="1">
                <a:solidFill>
                  <a:schemeClr val="tx1"/>
                </a:solidFill>
              </a:rPr>
              <a:t>xy</a:t>
            </a:r>
            <a:r>
              <a:rPr kumimoji="0" lang="en-US" altLang="zh-CN" sz="2000" b="1" u="none" dirty="0">
                <a:solidFill>
                  <a:schemeClr val="tx1"/>
                </a:solidFill>
              </a:rPr>
              <a:t>(</a:t>
            </a:r>
            <a:r>
              <a:rPr kumimoji="0" lang="en-US" altLang="zh-CN" sz="2000" b="1" i="1" u="none" dirty="0">
                <a:solidFill>
                  <a:schemeClr val="tx1"/>
                </a:solidFill>
              </a:rPr>
              <a:t>τ</a:t>
            </a:r>
            <a:r>
              <a:rPr kumimoji="0" lang="en-US" altLang="zh-CN" sz="2000" b="1" u="none" dirty="0">
                <a:solidFill>
                  <a:schemeClr val="tx1"/>
                </a:solidFill>
              </a:rPr>
              <a:t>)</a:t>
            </a:r>
            <a:r>
              <a:rPr kumimoji="0" lang="zh-CN" altLang="en-US" sz="2000" b="1" u="none" dirty="0">
                <a:solidFill>
                  <a:schemeClr val="tx1"/>
                </a:solidFill>
              </a:rPr>
              <a:t>也应当为实函数。在</a:t>
            </a:r>
            <a:r>
              <a:rPr kumimoji="0" lang="en-US" altLang="zh-CN" sz="2000" b="1" i="1" u="none" dirty="0">
                <a:solidFill>
                  <a:schemeClr val="tx1"/>
                </a:solidFill>
              </a:rPr>
              <a:t>τ</a:t>
            </a:r>
            <a:r>
              <a:rPr kumimoji="0" lang="en-US" altLang="zh-CN" sz="2000" b="1" u="none" dirty="0">
                <a:solidFill>
                  <a:schemeClr val="tx1"/>
                </a:solidFill>
              </a:rPr>
              <a:t>=0</a:t>
            </a:r>
            <a:r>
              <a:rPr kumimoji="0" lang="zh-CN" altLang="en-US" sz="2000" b="1" u="none" dirty="0">
                <a:solidFill>
                  <a:schemeClr val="tx1"/>
                </a:solidFill>
              </a:rPr>
              <a:t>时，由于</a:t>
            </a:r>
            <a:r>
              <a:rPr kumimoji="0" lang="en-US" altLang="zh-CN" sz="2000" b="1" i="1" u="none" dirty="0">
                <a:solidFill>
                  <a:schemeClr val="tx1"/>
                </a:solidFill>
              </a:rPr>
              <a:t>x</a:t>
            </a:r>
            <a:r>
              <a:rPr kumimoji="0" lang="en-US" altLang="zh-CN" sz="2000" b="1" u="none" dirty="0">
                <a:solidFill>
                  <a:schemeClr val="tx1"/>
                </a:solidFill>
              </a:rPr>
              <a:t>(</a:t>
            </a:r>
            <a:r>
              <a:rPr kumimoji="0" lang="en-US" altLang="zh-CN" sz="2000" b="1" i="1" u="none" dirty="0">
                <a:solidFill>
                  <a:schemeClr val="tx1"/>
                </a:solidFill>
              </a:rPr>
              <a:t>t</a:t>
            </a:r>
            <a:r>
              <a:rPr kumimoji="0" lang="en-US" altLang="zh-CN" sz="2000" b="1" u="none" dirty="0">
                <a:solidFill>
                  <a:schemeClr val="tx1"/>
                </a:solidFill>
              </a:rPr>
              <a:t>)</a:t>
            </a:r>
            <a:r>
              <a:rPr kumimoji="0" lang="zh-CN" altLang="en-US" sz="2000" b="1" u="none" dirty="0">
                <a:solidFill>
                  <a:schemeClr val="tx1"/>
                </a:solidFill>
              </a:rPr>
              <a:t>和</a:t>
            </a:r>
            <a:r>
              <a:rPr kumimoji="0" lang="en-US" altLang="zh-CN" sz="2000" b="1" i="1" u="none" dirty="0">
                <a:solidFill>
                  <a:schemeClr val="tx1"/>
                </a:solidFill>
              </a:rPr>
              <a:t>y</a:t>
            </a:r>
            <a:r>
              <a:rPr kumimoji="0" lang="en-US" altLang="zh-CN" sz="2000" b="1" u="none" dirty="0">
                <a:solidFill>
                  <a:schemeClr val="tx1"/>
                </a:solidFill>
              </a:rPr>
              <a:t>(</a:t>
            </a:r>
            <a:r>
              <a:rPr kumimoji="0" lang="en-US" altLang="zh-CN" sz="2000" b="1" i="1" u="none" dirty="0">
                <a:solidFill>
                  <a:schemeClr val="tx1"/>
                </a:solidFill>
              </a:rPr>
              <a:t>t</a:t>
            </a:r>
            <a:r>
              <a:rPr kumimoji="0" lang="en-US" altLang="zh-CN" sz="2000" b="1" u="none" dirty="0">
                <a:solidFill>
                  <a:schemeClr val="tx1"/>
                </a:solidFill>
              </a:rPr>
              <a:t>)</a:t>
            </a:r>
            <a:r>
              <a:rPr kumimoji="0" lang="zh-CN" altLang="en-US" sz="2000" b="1" u="none" dirty="0">
                <a:solidFill>
                  <a:schemeClr val="tx1"/>
                </a:solidFill>
              </a:rPr>
              <a:t>可正、可负，故</a:t>
            </a:r>
            <a:r>
              <a:rPr kumimoji="0" lang="en-US" altLang="zh-CN" sz="2000" b="1" i="1" u="none" dirty="0" err="1">
                <a:solidFill>
                  <a:schemeClr val="tx1"/>
                </a:solidFill>
              </a:rPr>
              <a:t>R</a:t>
            </a:r>
            <a:r>
              <a:rPr kumimoji="0" lang="en-US" altLang="zh-CN" sz="2000" b="1" i="1" u="none" baseline="-25000" dirty="0" err="1">
                <a:solidFill>
                  <a:schemeClr val="tx1"/>
                </a:solidFill>
              </a:rPr>
              <a:t>xy</a:t>
            </a:r>
            <a:r>
              <a:rPr kumimoji="0" lang="en-US" altLang="zh-CN" sz="2000" b="1" u="none" dirty="0">
                <a:solidFill>
                  <a:schemeClr val="tx1"/>
                </a:solidFill>
              </a:rPr>
              <a:t>(</a:t>
            </a:r>
            <a:r>
              <a:rPr kumimoji="0" lang="en-US" altLang="zh-CN" sz="2000" b="1" i="1" u="none" dirty="0">
                <a:solidFill>
                  <a:schemeClr val="tx1"/>
                </a:solidFill>
              </a:rPr>
              <a:t>τ</a:t>
            </a:r>
            <a:r>
              <a:rPr kumimoji="0" lang="en-US" altLang="zh-CN" sz="2000" b="1" u="none" dirty="0">
                <a:solidFill>
                  <a:schemeClr val="tx1"/>
                </a:solidFill>
              </a:rPr>
              <a:t>)</a:t>
            </a:r>
            <a:r>
              <a:rPr kumimoji="0" lang="zh-CN" altLang="en-US" sz="2000" b="1" u="none" dirty="0">
                <a:solidFill>
                  <a:schemeClr val="tx1"/>
                </a:solidFill>
              </a:rPr>
              <a:t>的值可正、可负 </a:t>
            </a:r>
          </a:p>
        </p:txBody>
      </p:sp>
      <p:sp>
        <p:nvSpPr>
          <p:cNvPr id="538635" name="Rectangle 11"/>
          <p:cNvSpPr>
            <a:spLocks noChangeArrowheads="1"/>
          </p:cNvSpPr>
          <p:nvPr/>
        </p:nvSpPr>
        <p:spPr bwMode="auto">
          <a:xfrm>
            <a:off x="509588" y="2149475"/>
            <a:ext cx="79597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buClr>
                <a:schemeClr val="hlink"/>
              </a:buClr>
              <a:buFont typeface="Wingdings" pitchFamily="2" charset="2"/>
              <a:buNone/>
            </a:pPr>
            <a:r>
              <a:rPr kumimoji="0" lang="en-US" altLang="zh-CN" sz="2400" b="1" u="none" dirty="0">
                <a:solidFill>
                  <a:srgbClr val="FF3300"/>
                </a:solidFill>
              </a:rPr>
              <a:t>3)</a:t>
            </a:r>
            <a:r>
              <a:rPr kumimoji="0" lang="en-US" altLang="zh-CN" sz="2400" b="1" u="none" dirty="0">
                <a:solidFill>
                  <a:schemeClr val="tx1"/>
                </a:solidFill>
              </a:rPr>
              <a:t> </a:t>
            </a:r>
            <a:r>
              <a:rPr kumimoji="0" lang="zh-CN" altLang="en-US" sz="2400" b="1" u="none" dirty="0">
                <a:solidFill>
                  <a:schemeClr val="tx1"/>
                </a:solidFill>
              </a:rPr>
              <a:t>互相关函数</a:t>
            </a:r>
            <a:r>
              <a:rPr kumimoji="0" lang="zh-CN" altLang="en-US" sz="2400" b="1" u="none" dirty="0">
                <a:solidFill>
                  <a:srgbClr val="FF3300"/>
                </a:solidFill>
              </a:rPr>
              <a:t>非奇函数、非偶函数</a:t>
            </a:r>
            <a:r>
              <a:rPr kumimoji="0" lang="zh-CN" altLang="en-US" sz="2400" b="1" u="none" dirty="0">
                <a:solidFill>
                  <a:schemeClr val="tx1"/>
                </a:solidFill>
              </a:rPr>
              <a:t>，而是</a:t>
            </a:r>
            <a:r>
              <a:rPr kumimoji="0" lang="en-US" altLang="zh-CN" sz="2400" b="1" i="1" u="none" dirty="0" err="1">
                <a:solidFill>
                  <a:schemeClr val="tx1"/>
                </a:solidFill>
              </a:rPr>
              <a:t>R</a:t>
            </a:r>
            <a:r>
              <a:rPr kumimoji="0" lang="en-US" altLang="zh-CN" sz="2400" b="1" i="1" u="none" baseline="-25000" dirty="0" err="1">
                <a:solidFill>
                  <a:schemeClr val="tx1"/>
                </a:solidFill>
              </a:rPr>
              <a:t>xy</a:t>
            </a:r>
            <a:r>
              <a:rPr kumimoji="0" lang="en-US" altLang="zh-CN" sz="2400" b="1" u="none" dirty="0">
                <a:solidFill>
                  <a:schemeClr val="tx1"/>
                </a:solidFill>
              </a:rPr>
              <a:t>(</a:t>
            </a:r>
            <a:r>
              <a:rPr kumimoji="0" lang="en-US" altLang="zh-CN" sz="2400" b="1" i="1" u="none" dirty="0">
                <a:solidFill>
                  <a:schemeClr val="tx1"/>
                </a:solidFill>
              </a:rPr>
              <a:t>τ</a:t>
            </a:r>
            <a:r>
              <a:rPr kumimoji="0" lang="en-US" altLang="zh-CN" sz="2400" b="1" u="none" dirty="0">
                <a:solidFill>
                  <a:schemeClr val="tx1"/>
                </a:solidFill>
              </a:rPr>
              <a:t>)=</a:t>
            </a:r>
            <a:r>
              <a:rPr kumimoji="0" lang="en-US" altLang="zh-CN" sz="2400" b="1" i="1" u="none" dirty="0">
                <a:solidFill>
                  <a:schemeClr val="tx1"/>
                </a:solidFill>
              </a:rPr>
              <a:t> </a:t>
            </a:r>
            <a:r>
              <a:rPr kumimoji="0" lang="en-US" altLang="zh-CN" sz="2400" b="1" i="1" u="none" dirty="0" err="1">
                <a:solidFill>
                  <a:schemeClr val="tx1"/>
                </a:solidFill>
              </a:rPr>
              <a:t>R</a:t>
            </a:r>
            <a:r>
              <a:rPr kumimoji="0" lang="en-US" altLang="zh-CN" sz="2400" b="1" i="1" u="none" baseline="-25000" dirty="0" err="1">
                <a:solidFill>
                  <a:schemeClr val="tx1"/>
                </a:solidFill>
              </a:rPr>
              <a:t>yx</a:t>
            </a:r>
            <a:r>
              <a:rPr kumimoji="0" lang="en-US" altLang="zh-CN" sz="2400" b="1" u="none" dirty="0">
                <a:solidFill>
                  <a:schemeClr val="tx1"/>
                </a:solidFill>
              </a:rPr>
              <a:t>(-</a:t>
            </a:r>
            <a:r>
              <a:rPr kumimoji="0" lang="en-US" altLang="zh-CN" sz="2400" b="1" i="1" u="none" dirty="0">
                <a:solidFill>
                  <a:schemeClr val="tx1"/>
                </a:solidFill>
              </a:rPr>
              <a:t>τ</a:t>
            </a:r>
            <a:r>
              <a:rPr kumimoji="0" lang="en-US" altLang="zh-CN" sz="2400" b="1" u="none" dirty="0">
                <a:solidFill>
                  <a:schemeClr val="tx1"/>
                </a:solidFill>
              </a:rPr>
              <a:t>) </a:t>
            </a:r>
          </a:p>
        </p:txBody>
      </p:sp>
      <p:graphicFrame>
        <p:nvGraphicFramePr>
          <p:cNvPr id="538636" name="Object 12"/>
          <p:cNvGraphicFramePr>
            <a:graphicFrameLocks noChangeAspect="1"/>
          </p:cNvGraphicFramePr>
          <p:nvPr/>
        </p:nvGraphicFramePr>
        <p:xfrm>
          <a:off x="941388" y="2598738"/>
          <a:ext cx="3529012" cy="727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8959" name="公式" r:id="rId9" imgW="1917360" imgH="393480" progId="Equation.3">
                  <p:embed/>
                </p:oleObj>
              </mc:Choice>
              <mc:Fallback>
                <p:oleObj name="公式" r:id="rId9" imgW="1917360" imgH="39348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1388" y="2598738"/>
                        <a:ext cx="3529012" cy="7270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8637" name="Object 13"/>
          <p:cNvGraphicFramePr>
            <a:graphicFrameLocks noChangeAspect="1"/>
          </p:cNvGraphicFramePr>
          <p:nvPr/>
        </p:nvGraphicFramePr>
        <p:xfrm>
          <a:off x="1660525" y="5480050"/>
          <a:ext cx="1081088" cy="411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8960" name="公式" r:id="rId11" imgW="634680" imgH="241200" progId="Equation.3">
                  <p:embed/>
                </p:oleObj>
              </mc:Choice>
              <mc:Fallback>
                <p:oleObj name="公式" r:id="rId11" imgW="634680" imgH="24120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60525" y="5480050"/>
                        <a:ext cx="1081088" cy="411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8638" name="Rectangle 14"/>
          <p:cNvSpPr>
            <a:spLocks noChangeArrowheads="1"/>
          </p:cNvSpPr>
          <p:nvPr/>
        </p:nvSpPr>
        <p:spPr bwMode="auto">
          <a:xfrm>
            <a:off x="3563938" y="5454650"/>
            <a:ext cx="812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kumimoji="0" lang="en-US" altLang="zh-CN" sz="1800" b="1" u="none" dirty="0" smtClean="0">
                <a:solidFill>
                  <a:srgbClr val="FF3300"/>
                </a:solidFill>
                <a:ea typeface="宋体" pitchFamily="2" charset="-122"/>
              </a:rPr>
              <a:t>(</a:t>
            </a:r>
            <a:r>
              <a:rPr kumimoji="0" lang="en-US" altLang="zh-CN" sz="1800" b="1" u="none" dirty="0" smtClean="0">
                <a:solidFill>
                  <a:srgbClr val="FF3300"/>
                </a:solidFill>
              </a:rPr>
              <a:t>5-</a:t>
            </a:r>
            <a:r>
              <a:rPr kumimoji="0" lang="en-US" altLang="zh-CN" sz="1800" b="1" u="none" dirty="0" smtClean="0">
                <a:solidFill>
                  <a:srgbClr val="FF3300"/>
                </a:solidFill>
                <a:ea typeface="宋体" pitchFamily="2" charset="-122"/>
              </a:rPr>
              <a:t>19</a:t>
            </a:r>
            <a:r>
              <a:rPr kumimoji="0" lang="en-US" altLang="zh-CN" sz="1800" b="1" u="none" dirty="0">
                <a:solidFill>
                  <a:srgbClr val="FF3300"/>
                </a:solidFill>
                <a:ea typeface="宋体" pitchFamily="2" charset="-122"/>
              </a:rPr>
              <a:t>)</a:t>
            </a:r>
            <a:r>
              <a:rPr kumimoji="0" lang="en-US" altLang="zh-CN" sz="1800" u="none" dirty="0">
                <a:solidFill>
                  <a:srgbClr val="FF3300"/>
                </a:solidFill>
                <a:ea typeface="宋体" pitchFamily="2" charset="-122"/>
              </a:rPr>
              <a:t> </a:t>
            </a:r>
          </a:p>
        </p:txBody>
      </p:sp>
      <p:sp>
        <p:nvSpPr>
          <p:cNvPr id="538640" name="Rectangle 16"/>
          <p:cNvSpPr>
            <a:spLocks noChangeArrowheads="1"/>
          </p:cNvSpPr>
          <p:nvPr/>
        </p:nvSpPr>
        <p:spPr bwMode="auto">
          <a:xfrm>
            <a:off x="5549900" y="5864225"/>
            <a:ext cx="231298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kumimoji="0" lang="zh-CN" altLang="en-US" sz="1800" b="1" u="none">
                <a:solidFill>
                  <a:srgbClr val="FF3300"/>
                </a:solidFill>
                <a:ea typeface="宋体" pitchFamily="2" charset="-122"/>
              </a:rPr>
              <a:t>互相关函数的对称性 </a:t>
            </a:r>
          </a:p>
        </p:txBody>
      </p:sp>
      <p:graphicFrame>
        <p:nvGraphicFramePr>
          <p:cNvPr id="538641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66264881"/>
              </p:ext>
            </p:extLst>
          </p:nvPr>
        </p:nvGraphicFramePr>
        <p:xfrm>
          <a:off x="5054600" y="53975"/>
          <a:ext cx="3266470" cy="6241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8961" name="公式" r:id="rId13" imgW="1790700" imgH="342900" progId="Equation.3">
                  <p:embed/>
                </p:oleObj>
              </mc:Choice>
              <mc:Fallback>
                <p:oleObj name="公式" r:id="rId13" imgW="1790700" imgH="34290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54600" y="53975"/>
                        <a:ext cx="3266470" cy="624119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8644" name="Rectangle 20"/>
          <p:cNvSpPr>
            <a:spLocks noChangeArrowheads="1"/>
          </p:cNvSpPr>
          <p:nvPr/>
        </p:nvSpPr>
        <p:spPr bwMode="auto">
          <a:xfrm>
            <a:off x="5110163" y="2747963"/>
            <a:ext cx="14843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kumimoji="0" lang="zh-CN" altLang="en-US" sz="2400" b="1" u="none">
                <a:solidFill>
                  <a:srgbClr val="FF3300"/>
                </a:solidFill>
                <a:ea typeface="宋体" pitchFamily="2" charset="-122"/>
              </a:rPr>
              <a:t>令 </a:t>
            </a:r>
            <a:r>
              <a:rPr kumimoji="0" lang="en-US" altLang="zh-CN" sz="2400" b="1" u="none">
                <a:solidFill>
                  <a:srgbClr val="FF3300"/>
                </a:solidFill>
                <a:ea typeface="宋体" pitchFamily="2" charset="-122"/>
              </a:rPr>
              <a:t>t-τ</a:t>
            </a:r>
            <a:r>
              <a:rPr kumimoji="0" lang="en-US" altLang="zh-CN" sz="2400" b="1" u="none">
                <a:solidFill>
                  <a:srgbClr val="FF3300"/>
                </a:solidFill>
              </a:rPr>
              <a:t>←</a:t>
            </a:r>
            <a:r>
              <a:rPr kumimoji="0" lang="en-US" altLang="zh-CN" sz="2400" b="1" u="none">
                <a:solidFill>
                  <a:srgbClr val="FF3300"/>
                </a:solidFill>
                <a:ea typeface="宋体" pitchFamily="2" charset="-122"/>
              </a:rPr>
              <a:t>t</a:t>
            </a:r>
          </a:p>
        </p:txBody>
      </p:sp>
      <p:sp>
        <p:nvSpPr>
          <p:cNvPr id="538645" name="Line 21"/>
          <p:cNvSpPr>
            <a:spLocks noChangeShapeType="1"/>
          </p:cNvSpPr>
          <p:nvPr/>
        </p:nvSpPr>
        <p:spPr bwMode="auto">
          <a:xfrm flipH="1">
            <a:off x="4686300" y="2895600"/>
            <a:ext cx="455613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38647" name="Rectangle 23"/>
          <p:cNvSpPr>
            <a:spLocks noChangeArrowheads="1"/>
          </p:cNvSpPr>
          <p:nvPr/>
        </p:nvSpPr>
        <p:spPr bwMode="auto">
          <a:xfrm>
            <a:off x="5810250" y="3355975"/>
            <a:ext cx="17145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kumimoji="0" lang="en-US" altLang="zh-CN" sz="2400" b="1" u="none">
                <a:solidFill>
                  <a:srgbClr val="FF3300"/>
                </a:solidFill>
                <a:ea typeface="宋体" pitchFamily="2" charset="-122"/>
              </a:rPr>
              <a:t>d(t-τ)=</a:t>
            </a:r>
            <a:r>
              <a:rPr kumimoji="0" lang="en-US" altLang="zh-CN" sz="2400" b="1" u="none">
                <a:solidFill>
                  <a:srgbClr val="FF3300"/>
                </a:solidFill>
              </a:rPr>
              <a:t>d(</a:t>
            </a:r>
            <a:r>
              <a:rPr kumimoji="0" lang="en-US" altLang="zh-CN" sz="2400" b="1" u="none">
                <a:solidFill>
                  <a:srgbClr val="FF3300"/>
                </a:solidFill>
                <a:ea typeface="宋体" pitchFamily="2" charset="-122"/>
              </a:rPr>
              <a:t>t)</a:t>
            </a:r>
          </a:p>
        </p:txBody>
      </p:sp>
      <p:pic>
        <p:nvPicPr>
          <p:cNvPr id="538648" name="Picture 24"/>
          <p:cNvPicPr>
            <a:picLocks noGrp="1" noChangeAspect="1" noChangeArrowheads="1"/>
          </p:cNvPicPr>
          <p:nvPr>
            <p:ph/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68838" y="3844925"/>
            <a:ext cx="4135437" cy="2046288"/>
          </a:xfrm>
          <a:solidFill>
            <a:schemeClr val="bg1"/>
          </a:solidFill>
          <a:ln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Rectangle 4"/>
          <p:cNvSpPr>
            <a:spLocks noChangeArrowheads="1"/>
          </p:cNvSpPr>
          <p:nvPr/>
        </p:nvSpPr>
        <p:spPr bwMode="auto">
          <a:xfrm>
            <a:off x="379413" y="300831"/>
            <a:ext cx="3738562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 b="1" u="none" dirty="0" smtClean="0">
                <a:solidFill>
                  <a:srgbClr val="800000"/>
                </a:solidFill>
                <a:ea typeface="宋体" pitchFamily="2" charset="-122"/>
              </a:rPr>
              <a:t>5.3 </a:t>
            </a:r>
            <a:r>
              <a:rPr lang="zh-CN" altLang="en-US" sz="3200" b="1" u="none" dirty="0">
                <a:solidFill>
                  <a:srgbClr val="800000"/>
                </a:solidFill>
                <a:ea typeface="宋体" pitchFamily="2" charset="-122"/>
              </a:rPr>
              <a:t>相关分析及应用</a:t>
            </a:r>
            <a:r>
              <a:rPr lang="zh-CN" altLang="en-US" b="1" u="none" dirty="0">
                <a:solidFill>
                  <a:srgbClr val="000066"/>
                </a:solidFill>
                <a:ea typeface="宋体" pitchFamily="2" charset="-122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386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386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386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386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386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386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386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386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5386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5386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5386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5386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5386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5386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5386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5386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8635" grpId="0"/>
      <p:bldP spid="538638" grpId="0"/>
      <p:bldP spid="538640" grpId="0"/>
      <p:bldP spid="538644" grpId="0"/>
      <p:bldP spid="538645" grpId="0" animBg="1"/>
      <p:bldP spid="538647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578" name="Rectangle 2"/>
          <p:cNvSpPr>
            <a:spLocks noChangeArrowheads="1"/>
          </p:cNvSpPr>
          <p:nvPr/>
        </p:nvSpPr>
        <p:spPr bwMode="auto">
          <a:xfrm>
            <a:off x="581025" y="889329"/>
            <a:ext cx="8424863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>
              <a:buClr>
                <a:schemeClr val="hlink"/>
              </a:buClr>
              <a:buFont typeface="Wingdings" pitchFamily="2" charset="2"/>
              <a:buNone/>
            </a:pPr>
            <a:r>
              <a:rPr kumimoji="0" lang="en-US" altLang="zh-CN" sz="2400" b="1" u="none" dirty="0">
                <a:solidFill>
                  <a:srgbClr val="FF3300"/>
                </a:solidFill>
              </a:rPr>
              <a:t>4)</a:t>
            </a:r>
            <a:r>
              <a:rPr kumimoji="0" lang="en-US" altLang="zh-CN" sz="2400" b="1" u="none" dirty="0">
                <a:solidFill>
                  <a:schemeClr val="tx1"/>
                </a:solidFill>
              </a:rPr>
              <a:t> </a:t>
            </a:r>
            <a:r>
              <a:rPr kumimoji="0" lang="en-US" altLang="zh-CN" sz="2400" b="1" u="none" dirty="0" err="1">
                <a:solidFill>
                  <a:schemeClr val="tx1"/>
                </a:solidFill>
              </a:rPr>
              <a:t>R</a:t>
            </a:r>
            <a:r>
              <a:rPr kumimoji="0" lang="en-US" altLang="zh-CN" sz="2400" b="1" i="1" u="none" baseline="-25000" dirty="0" err="1">
                <a:solidFill>
                  <a:schemeClr val="tx1"/>
                </a:solidFill>
              </a:rPr>
              <a:t>xy</a:t>
            </a:r>
            <a:r>
              <a:rPr kumimoji="0" lang="en-US" altLang="zh-CN" sz="2400" b="1" u="none" dirty="0">
                <a:solidFill>
                  <a:schemeClr val="tx1"/>
                </a:solidFill>
              </a:rPr>
              <a:t>(τ)</a:t>
            </a:r>
            <a:r>
              <a:rPr kumimoji="0" lang="zh-CN" altLang="en-US" sz="2400" b="1" u="none" dirty="0">
                <a:solidFill>
                  <a:schemeClr val="tx1"/>
                </a:solidFill>
              </a:rPr>
              <a:t>的</a:t>
            </a:r>
            <a:r>
              <a:rPr kumimoji="0" lang="zh-CN" altLang="en-US" sz="2400" b="1" u="none" dirty="0">
                <a:solidFill>
                  <a:srgbClr val="FF3300"/>
                </a:solidFill>
              </a:rPr>
              <a:t>峰值</a:t>
            </a:r>
            <a:r>
              <a:rPr kumimoji="0" lang="zh-CN" altLang="en-US" sz="2400" b="1" u="none" dirty="0">
                <a:solidFill>
                  <a:schemeClr val="tx1"/>
                </a:solidFill>
              </a:rPr>
              <a:t>不在</a:t>
            </a:r>
            <a:r>
              <a:rPr kumimoji="0" lang="en-US" altLang="zh-CN" sz="2400" b="1" i="1" u="none" dirty="0">
                <a:solidFill>
                  <a:schemeClr val="tx1"/>
                </a:solidFill>
              </a:rPr>
              <a:t>τ</a:t>
            </a:r>
            <a:r>
              <a:rPr kumimoji="0" lang="en-US" altLang="zh-CN" sz="2400" b="1" u="none" dirty="0">
                <a:solidFill>
                  <a:schemeClr val="tx1"/>
                </a:solidFill>
              </a:rPr>
              <a:t>=0</a:t>
            </a:r>
            <a:r>
              <a:rPr kumimoji="0" lang="zh-CN" altLang="en-US" sz="2400" b="1" u="none" dirty="0">
                <a:solidFill>
                  <a:schemeClr val="tx1"/>
                </a:solidFill>
              </a:rPr>
              <a:t>处，其幅值</a:t>
            </a:r>
            <a:r>
              <a:rPr kumimoji="0" lang="zh-CN" altLang="en-US" sz="2400" b="1" u="none" dirty="0">
                <a:solidFill>
                  <a:srgbClr val="FF0000"/>
                </a:solidFill>
              </a:rPr>
              <a:t>偏离原点</a:t>
            </a:r>
            <a:r>
              <a:rPr kumimoji="0" lang="zh-CN" altLang="en-US" sz="2400" b="1" u="none" dirty="0">
                <a:solidFill>
                  <a:schemeClr val="tx1"/>
                </a:solidFill>
              </a:rPr>
              <a:t>的位置反映了两信号时移的大小，相关程度</a:t>
            </a:r>
            <a:r>
              <a:rPr kumimoji="0" lang="zh-CN" altLang="en-US" sz="2400" b="1" u="none" dirty="0" smtClean="0">
                <a:solidFill>
                  <a:schemeClr val="tx1"/>
                </a:solidFill>
              </a:rPr>
              <a:t>最高</a:t>
            </a:r>
            <a:r>
              <a:rPr kumimoji="0" lang="en-US" altLang="zh-CN" sz="2400" b="1" u="none" dirty="0" smtClean="0">
                <a:solidFill>
                  <a:schemeClr val="tx1"/>
                </a:solidFill>
              </a:rPr>
              <a:t>;</a:t>
            </a:r>
            <a:endParaRPr kumimoji="0" lang="zh-CN" altLang="en-US" sz="2400" b="1" u="none" dirty="0">
              <a:solidFill>
                <a:schemeClr val="tx1"/>
              </a:solidFill>
            </a:endParaRPr>
          </a:p>
        </p:txBody>
      </p:sp>
      <p:sp>
        <p:nvSpPr>
          <p:cNvPr id="536579" name="Rectangle 3"/>
          <p:cNvSpPr>
            <a:spLocks noChangeArrowheads="1"/>
          </p:cNvSpPr>
          <p:nvPr/>
        </p:nvSpPr>
        <p:spPr bwMode="auto">
          <a:xfrm>
            <a:off x="581025" y="1720326"/>
            <a:ext cx="8105775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kumimoji="0" lang="zh-CN" altLang="en-US" sz="2400" b="1" u="none" dirty="0">
                <a:solidFill>
                  <a:schemeClr val="tx1"/>
                </a:solidFill>
              </a:rPr>
              <a:t>在</a:t>
            </a:r>
            <a:r>
              <a:rPr kumimoji="0" lang="en-US" altLang="zh-CN" sz="2400" b="1" u="none" dirty="0">
                <a:solidFill>
                  <a:schemeClr val="tx1"/>
                </a:solidFill>
              </a:rPr>
              <a:t>τ</a:t>
            </a:r>
            <a:r>
              <a:rPr kumimoji="0" lang="en-US" altLang="zh-CN" sz="2400" b="1" u="none" baseline="-25000" dirty="0">
                <a:solidFill>
                  <a:schemeClr val="tx1"/>
                </a:solidFill>
              </a:rPr>
              <a:t>0</a:t>
            </a:r>
            <a:r>
              <a:rPr kumimoji="0" lang="zh-CN" altLang="en-US" sz="2400" b="1" u="none" dirty="0">
                <a:solidFill>
                  <a:schemeClr val="tx1"/>
                </a:solidFill>
              </a:rPr>
              <a:t>时，</a:t>
            </a:r>
            <a:r>
              <a:rPr kumimoji="0" lang="en-US" altLang="zh-CN" sz="2400" b="1" i="1" u="none" dirty="0" err="1">
                <a:solidFill>
                  <a:schemeClr val="tx1"/>
                </a:solidFill>
              </a:rPr>
              <a:t>R</a:t>
            </a:r>
            <a:r>
              <a:rPr kumimoji="0" lang="en-US" altLang="zh-CN" sz="2400" b="1" i="1" u="none" baseline="-25000" dirty="0" err="1">
                <a:solidFill>
                  <a:schemeClr val="tx1"/>
                </a:solidFill>
              </a:rPr>
              <a:t>xy</a:t>
            </a:r>
            <a:r>
              <a:rPr kumimoji="0" lang="en-US" altLang="zh-CN" sz="2400" b="1" u="none" dirty="0">
                <a:solidFill>
                  <a:schemeClr val="tx1"/>
                </a:solidFill>
              </a:rPr>
              <a:t>(</a:t>
            </a:r>
            <a:r>
              <a:rPr kumimoji="0" lang="en-US" altLang="zh-CN" sz="2400" b="1" i="1" u="none" dirty="0">
                <a:solidFill>
                  <a:schemeClr val="tx1"/>
                </a:solidFill>
              </a:rPr>
              <a:t>τ</a:t>
            </a:r>
            <a:r>
              <a:rPr kumimoji="0" lang="en-US" altLang="zh-CN" sz="2400" b="1" u="none" dirty="0">
                <a:solidFill>
                  <a:schemeClr val="tx1"/>
                </a:solidFill>
              </a:rPr>
              <a:t>)</a:t>
            </a:r>
            <a:r>
              <a:rPr kumimoji="0" lang="zh-CN" altLang="en-US" sz="2400" b="1" u="none" dirty="0">
                <a:solidFill>
                  <a:schemeClr val="tx1"/>
                </a:solidFill>
              </a:rPr>
              <a:t>出现最大值，它反映</a:t>
            </a:r>
            <a:r>
              <a:rPr kumimoji="0" lang="en-US" altLang="zh-CN" sz="2400" b="1" i="1" u="none" dirty="0">
                <a:solidFill>
                  <a:schemeClr val="tx1"/>
                </a:solidFill>
              </a:rPr>
              <a:t>x</a:t>
            </a:r>
            <a:r>
              <a:rPr kumimoji="0" lang="en-US" altLang="zh-CN" sz="2400" b="1" u="none" dirty="0">
                <a:solidFill>
                  <a:schemeClr val="tx1"/>
                </a:solidFill>
              </a:rPr>
              <a:t>(</a:t>
            </a:r>
            <a:r>
              <a:rPr kumimoji="0" lang="en-US" altLang="zh-CN" sz="2400" b="1" i="1" u="none" dirty="0">
                <a:solidFill>
                  <a:schemeClr val="tx1"/>
                </a:solidFill>
              </a:rPr>
              <a:t>t</a:t>
            </a:r>
            <a:r>
              <a:rPr kumimoji="0" lang="en-US" altLang="zh-CN" sz="2400" b="1" u="none" dirty="0">
                <a:solidFill>
                  <a:schemeClr val="tx1"/>
                </a:solidFill>
              </a:rPr>
              <a:t>)</a:t>
            </a:r>
            <a:r>
              <a:rPr kumimoji="0" lang="zh-CN" altLang="en-US" sz="2400" b="1" u="none" dirty="0">
                <a:solidFill>
                  <a:schemeClr val="tx1"/>
                </a:solidFill>
              </a:rPr>
              <a:t>、</a:t>
            </a:r>
            <a:r>
              <a:rPr kumimoji="0" lang="en-US" altLang="zh-CN" sz="2400" b="1" i="1" u="none" dirty="0">
                <a:solidFill>
                  <a:schemeClr val="tx1"/>
                </a:solidFill>
              </a:rPr>
              <a:t>y</a:t>
            </a:r>
            <a:r>
              <a:rPr kumimoji="0" lang="en-US" altLang="zh-CN" sz="2400" b="1" u="none" dirty="0">
                <a:solidFill>
                  <a:schemeClr val="tx1"/>
                </a:solidFill>
              </a:rPr>
              <a:t>(</a:t>
            </a:r>
            <a:r>
              <a:rPr kumimoji="0" lang="en-US" altLang="zh-CN" sz="2400" b="1" i="1" u="none" dirty="0">
                <a:solidFill>
                  <a:schemeClr val="tx1"/>
                </a:solidFill>
              </a:rPr>
              <a:t>t</a:t>
            </a:r>
            <a:r>
              <a:rPr kumimoji="0" lang="en-US" altLang="zh-CN" sz="2400" b="1" u="none" dirty="0">
                <a:solidFill>
                  <a:schemeClr val="tx1"/>
                </a:solidFill>
              </a:rPr>
              <a:t>)</a:t>
            </a:r>
            <a:r>
              <a:rPr kumimoji="0" lang="zh-CN" altLang="en-US" sz="2400" b="1" u="none" dirty="0">
                <a:solidFill>
                  <a:schemeClr val="tx1"/>
                </a:solidFill>
              </a:rPr>
              <a:t>之间主传输通道的</a:t>
            </a:r>
            <a:r>
              <a:rPr kumimoji="0" lang="zh-CN" altLang="en-US" sz="2400" b="1" u="none" dirty="0">
                <a:solidFill>
                  <a:srgbClr val="FF3300"/>
                </a:solidFill>
              </a:rPr>
              <a:t>滞后时间</a:t>
            </a:r>
            <a:r>
              <a:rPr kumimoji="0" lang="zh-CN" altLang="en-US" sz="2400" b="1" u="none" dirty="0">
                <a:solidFill>
                  <a:schemeClr val="tx1"/>
                </a:solidFill>
              </a:rPr>
              <a:t>。 </a:t>
            </a:r>
          </a:p>
        </p:txBody>
      </p:sp>
      <p:pic>
        <p:nvPicPr>
          <p:cNvPr id="536580" name="Picture 4" descr="y039"/>
          <p:cNvPicPr>
            <a:picLocks noGrp="1" noChangeAspect="1" noChangeArrowheads="1"/>
          </p:cNvPicPr>
          <p:nvPr>
            <p:ph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61" t="5055" b="2950"/>
          <a:stretch>
            <a:fillRect/>
          </a:stretch>
        </p:blipFill>
        <p:spPr>
          <a:xfrm>
            <a:off x="1200150" y="3032125"/>
            <a:ext cx="6899275" cy="2773363"/>
          </a:xfrm>
          <a:noFill/>
          <a:ln/>
        </p:spPr>
      </p:pic>
      <p:sp>
        <p:nvSpPr>
          <p:cNvPr id="536581" name="Rectangle 5"/>
          <p:cNvSpPr>
            <a:spLocks noChangeArrowheads="1"/>
          </p:cNvSpPr>
          <p:nvPr/>
        </p:nvSpPr>
        <p:spPr bwMode="auto">
          <a:xfrm>
            <a:off x="3556000" y="5843866"/>
            <a:ext cx="2161169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kumimoji="0" lang="zh-CN" altLang="en-US" sz="1800" b="1" u="none" dirty="0">
                <a:solidFill>
                  <a:srgbClr val="FF3300"/>
                </a:solidFill>
                <a:latin typeface="黑体" pitchFamily="49" charset="-122"/>
                <a:ea typeface="黑体" pitchFamily="49" charset="-122"/>
              </a:rPr>
              <a:t>互相关函数的性质 </a:t>
            </a:r>
          </a:p>
        </p:txBody>
      </p:sp>
      <p:sp>
        <p:nvSpPr>
          <p:cNvPr id="536582" name="Line 6"/>
          <p:cNvSpPr>
            <a:spLocks noChangeShapeType="1"/>
          </p:cNvSpPr>
          <p:nvPr/>
        </p:nvSpPr>
        <p:spPr bwMode="auto">
          <a:xfrm flipV="1">
            <a:off x="6215063" y="3756025"/>
            <a:ext cx="0" cy="7112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36583" name="Line 7"/>
          <p:cNvSpPr>
            <a:spLocks noChangeShapeType="1"/>
          </p:cNvSpPr>
          <p:nvPr/>
        </p:nvSpPr>
        <p:spPr bwMode="auto">
          <a:xfrm flipV="1">
            <a:off x="2165350" y="4449763"/>
            <a:ext cx="0" cy="792162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36584" name="AutoShape 8"/>
          <p:cNvSpPr>
            <a:spLocks noChangeArrowheads="1"/>
          </p:cNvSpPr>
          <p:nvPr/>
        </p:nvSpPr>
        <p:spPr bwMode="auto">
          <a:xfrm>
            <a:off x="5384800" y="2280863"/>
            <a:ext cx="2084512" cy="1006867"/>
          </a:xfrm>
          <a:prstGeom prst="cloudCallout">
            <a:avLst>
              <a:gd name="adj1" fmla="val -74032"/>
              <a:gd name="adj2" fmla="val 93394"/>
            </a:avLst>
          </a:prstGeom>
          <a:solidFill>
            <a:srgbClr val="CC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zh-CN" altLang="en-US" b="1" u="none" dirty="0">
                <a:ea typeface="华文新魏" pitchFamily="2" charset="-122"/>
              </a:rPr>
              <a:t>峰值点</a:t>
            </a:r>
          </a:p>
        </p:txBody>
      </p:sp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379413" y="300831"/>
            <a:ext cx="3738562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 b="1" u="none" dirty="0" smtClean="0">
                <a:solidFill>
                  <a:srgbClr val="800000"/>
                </a:solidFill>
                <a:ea typeface="宋体" pitchFamily="2" charset="-122"/>
              </a:rPr>
              <a:t>5.3 </a:t>
            </a:r>
            <a:r>
              <a:rPr lang="zh-CN" altLang="en-US" sz="3200" b="1" u="none" dirty="0">
                <a:solidFill>
                  <a:srgbClr val="800000"/>
                </a:solidFill>
                <a:ea typeface="宋体" pitchFamily="2" charset="-122"/>
              </a:rPr>
              <a:t>相关分析及应用</a:t>
            </a:r>
            <a:r>
              <a:rPr lang="zh-CN" altLang="en-US" b="1" u="none" dirty="0">
                <a:solidFill>
                  <a:srgbClr val="000066"/>
                </a:solidFill>
                <a:ea typeface="宋体" pitchFamily="2" charset="-122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"/>
                                        <p:tgtEl>
                                          <p:spTgt spid="53658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5365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00" fill="hold"/>
                                        <p:tgtEl>
                                          <p:spTgt spid="5365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365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365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6584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558" name="Rectangle 6"/>
          <p:cNvSpPr>
            <a:spLocks noChangeArrowheads="1"/>
          </p:cNvSpPr>
          <p:nvPr/>
        </p:nvSpPr>
        <p:spPr bwMode="auto">
          <a:xfrm>
            <a:off x="641350" y="924426"/>
            <a:ext cx="68468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kumimoji="0" lang="en-US" altLang="zh-CN" sz="2400" b="1" u="none" dirty="0">
                <a:solidFill>
                  <a:srgbClr val="FF3300"/>
                </a:solidFill>
              </a:rPr>
              <a:t>5</a:t>
            </a:r>
            <a:r>
              <a:rPr kumimoji="0" lang="zh-CN" altLang="en-US" sz="2400" b="1" u="none" dirty="0">
                <a:solidFill>
                  <a:srgbClr val="FF3300"/>
                </a:solidFill>
              </a:rPr>
              <a:t>）</a:t>
            </a:r>
            <a:r>
              <a:rPr kumimoji="0" lang="zh-CN" altLang="en-US" sz="2400" b="1" u="none" dirty="0">
                <a:solidFill>
                  <a:schemeClr val="tx1"/>
                </a:solidFill>
              </a:rPr>
              <a:t>两个</a:t>
            </a:r>
            <a:r>
              <a:rPr kumimoji="0" lang="zh-CN" altLang="en-US" sz="2400" b="1" u="none" dirty="0">
                <a:solidFill>
                  <a:srgbClr val="FF3300"/>
                </a:solidFill>
              </a:rPr>
              <a:t>不同频率</a:t>
            </a:r>
            <a:r>
              <a:rPr kumimoji="0" lang="zh-CN" altLang="en-US" sz="2400" b="1" u="none" dirty="0">
                <a:solidFill>
                  <a:schemeClr val="tx1"/>
                </a:solidFill>
              </a:rPr>
              <a:t>的周期信号，其互相关函数为</a:t>
            </a:r>
            <a:r>
              <a:rPr kumimoji="0" lang="zh-CN" altLang="en-US" sz="2400" b="1" u="none" dirty="0">
                <a:solidFill>
                  <a:srgbClr val="FF3300"/>
                </a:solidFill>
              </a:rPr>
              <a:t>零</a:t>
            </a:r>
            <a:r>
              <a:rPr kumimoji="0" lang="zh-CN" altLang="en-US" sz="2400" b="1" u="none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535559" name="Rectangle 7"/>
          <p:cNvSpPr>
            <a:spLocks noChangeArrowheads="1"/>
          </p:cNvSpPr>
          <p:nvPr/>
        </p:nvSpPr>
        <p:spPr bwMode="auto">
          <a:xfrm>
            <a:off x="641350" y="1381626"/>
            <a:ext cx="807304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kumimoji="0" lang="zh-CN" altLang="en-US" sz="2400" b="1" u="none" dirty="0">
                <a:solidFill>
                  <a:schemeClr val="tx1"/>
                </a:solidFill>
              </a:rPr>
              <a:t>设</a:t>
            </a:r>
            <a:r>
              <a:rPr kumimoji="0" lang="en-US" altLang="zh-CN" sz="2400" b="1" i="1" u="none" dirty="0" smtClean="0">
                <a:solidFill>
                  <a:schemeClr val="tx1"/>
                </a:solidFill>
              </a:rPr>
              <a:t>x</a:t>
            </a:r>
            <a:r>
              <a:rPr kumimoji="0" lang="en-US" altLang="zh-CN" sz="2400" b="1" u="none" dirty="0" smtClean="0">
                <a:solidFill>
                  <a:schemeClr val="tx1"/>
                </a:solidFill>
              </a:rPr>
              <a:t>(</a:t>
            </a:r>
            <a:r>
              <a:rPr kumimoji="0" lang="en-US" altLang="zh-CN" sz="2400" b="1" i="1" u="none" dirty="0" smtClean="0">
                <a:solidFill>
                  <a:schemeClr val="tx1"/>
                </a:solidFill>
              </a:rPr>
              <a:t>t</a:t>
            </a:r>
            <a:r>
              <a:rPr kumimoji="0" lang="en-US" altLang="zh-CN" sz="2400" b="1" u="none" dirty="0">
                <a:solidFill>
                  <a:schemeClr val="tx1"/>
                </a:solidFill>
              </a:rPr>
              <a:t>)</a:t>
            </a:r>
            <a:r>
              <a:rPr kumimoji="0" lang="zh-CN" altLang="en-US" sz="2400" b="1" u="none" dirty="0">
                <a:solidFill>
                  <a:schemeClr val="tx1"/>
                </a:solidFill>
              </a:rPr>
              <a:t>＝</a:t>
            </a:r>
            <a:r>
              <a:rPr kumimoji="0" lang="en-US" altLang="zh-CN" sz="2400" b="1" i="1" u="none" dirty="0">
                <a:solidFill>
                  <a:schemeClr val="tx1"/>
                </a:solidFill>
              </a:rPr>
              <a:t>x</a:t>
            </a:r>
            <a:r>
              <a:rPr kumimoji="0" lang="en-US" altLang="zh-CN" sz="2400" b="1" i="1" u="none" baseline="-25000" dirty="0">
                <a:solidFill>
                  <a:schemeClr val="tx1"/>
                </a:solidFill>
              </a:rPr>
              <a:t>0</a:t>
            </a:r>
            <a:r>
              <a:rPr kumimoji="0" lang="en-US" altLang="zh-CN" sz="2400" b="1" u="none" dirty="0">
                <a:solidFill>
                  <a:schemeClr val="tx1"/>
                </a:solidFill>
              </a:rPr>
              <a:t>Sin(ω</a:t>
            </a:r>
            <a:r>
              <a:rPr kumimoji="0" lang="en-US" altLang="zh-CN" sz="2400" b="1" u="none" baseline="-25000" dirty="0">
                <a:solidFill>
                  <a:schemeClr val="tx1"/>
                </a:solidFill>
              </a:rPr>
              <a:t>1</a:t>
            </a:r>
            <a:r>
              <a:rPr kumimoji="0" lang="en-US" altLang="zh-CN" sz="2400" b="1" i="1" u="none" dirty="0">
                <a:solidFill>
                  <a:schemeClr val="tx1"/>
                </a:solidFill>
              </a:rPr>
              <a:t>t</a:t>
            </a:r>
            <a:r>
              <a:rPr kumimoji="0" lang="en-US" altLang="zh-CN" sz="2400" b="1" u="none" dirty="0">
                <a:solidFill>
                  <a:schemeClr val="tx1"/>
                </a:solidFill>
              </a:rPr>
              <a:t>+</a:t>
            </a:r>
            <a:r>
              <a:rPr kumimoji="0" lang="en-US" altLang="zh-CN" sz="2400" b="1" i="1" u="none" dirty="0">
                <a:solidFill>
                  <a:schemeClr val="tx1"/>
                </a:solidFill>
              </a:rPr>
              <a:t>θ</a:t>
            </a:r>
            <a:r>
              <a:rPr kumimoji="0" lang="en-US" altLang="zh-CN" sz="2400" b="1" u="none" dirty="0">
                <a:solidFill>
                  <a:schemeClr val="tx1"/>
                </a:solidFill>
              </a:rPr>
              <a:t>)</a:t>
            </a:r>
            <a:r>
              <a:rPr kumimoji="0" lang="zh-CN" altLang="en-US" sz="2400" b="1" u="none" dirty="0">
                <a:solidFill>
                  <a:schemeClr val="tx1"/>
                </a:solidFill>
              </a:rPr>
              <a:t>，</a:t>
            </a:r>
            <a:r>
              <a:rPr kumimoji="0" lang="en-US" altLang="zh-CN" sz="2400" b="1" i="1" u="none" dirty="0">
                <a:solidFill>
                  <a:schemeClr val="tx1"/>
                </a:solidFill>
              </a:rPr>
              <a:t>y</a:t>
            </a:r>
            <a:r>
              <a:rPr kumimoji="0" lang="en-US" altLang="zh-CN" sz="2400" b="1" u="none" dirty="0">
                <a:solidFill>
                  <a:schemeClr val="tx1"/>
                </a:solidFill>
              </a:rPr>
              <a:t>(</a:t>
            </a:r>
            <a:r>
              <a:rPr kumimoji="0" lang="en-US" altLang="zh-CN" sz="2400" b="1" i="1" u="none" dirty="0">
                <a:solidFill>
                  <a:schemeClr val="tx1"/>
                </a:solidFill>
              </a:rPr>
              <a:t>t</a:t>
            </a:r>
            <a:r>
              <a:rPr kumimoji="0" lang="en-US" altLang="zh-CN" sz="2400" b="1" u="none" dirty="0">
                <a:solidFill>
                  <a:schemeClr val="tx1"/>
                </a:solidFill>
              </a:rPr>
              <a:t>)</a:t>
            </a:r>
            <a:r>
              <a:rPr kumimoji="0" lang="zh-CN" altLang="en-US" sz="2400" b="1" u="none" dirty="0">
                <a:solidFill>
                  <a:schemeClr val="tx1"/>
                </a:solidFill>
              </a:rPr>
              <a:t>＝</a:t>
            </a:r>
            <a:r>
              <a:rPr kumimoji="0" lang="en-US" altLang="zh-CN" sz="2400" b="1" i="1" u="none" dirty="0">
                <a:solidFill>
                  <a:schemeClr val="tx1"/>
                </a:solidFill>
              </a:rPr>
              <a:t>y</a:t>
            </a:r>
            <a:r>
              <a:rPr kumimoji="0" lang="en-US" altLang="zh-CN" sz="2400" b="1" i="1" u="none" baseline="-25000" dirty="0">
                <a:solidFill>
                  <a:schemeClr val="tx1"/>
                </a:solidFill>
              </a:rPr>
              <a:t>0</a:t>
            </a:r>
            <a:r>
              <a:rPr kumimoji="0" lang="en-US" altLang="zh-CN" sz="2400" b="1" u="none" dirty="0">
                <a:solidFill>
                  <a:schemeClr val="tx1"/>
                </a:solidFill>
              </a:rPr>
              <a:t>Sin(ω</a:t>
            </a:r>
            <a:r>
              <a:rPr kumimoji="0" lang="en-US" altLang="zh-CN" sz="2400" b="1" u="none" baseline="-25000" dirty="0">
                <a:solidFill>
                  <a:schemeClr val="tx1"/>
                </a:solidFill>
              </a:rPr>
              <a:t>2</a:t>
            </a:r>
            <a:r>
              <a:rPr kumimoji="0" lang="en-US" altLang="zh-CN" sz="2400" b="1" i="1" u="none" dirty="0">
                <a:solidFill>
                  <a:schemeClr val="tx1"/>
                </a:solidFill>
              </a:rPr>
              <a:t>t</a:t>
            </a:r>
            <a:r>
              <a:rPr kumimoji="0" lang="en-US" altLang="zh-CN" sz="2400" b="1" u="none" dirty="0">
                <a:solidFill>
                  <a:schemeClr val="tx1"/>
                </a:solidFill>
              </a:rPr>
              <a:t>+</a:t>
            </a:r>
            <a:r>
              <a:rPr kumimoji="0" lang="en-US" altLang="zh-CN" sz="2400" b="1" i="1" u="none" dirty="0">
                <a:solidFill>
                  <a:schemeClr val="tx1"/>
                </a:solidFill>
              </a:rPr>
              <a:t>θ-φ</a:t>
            </a:r>
            <a:r>
              <a:rPr kumimoji="0" lang="en-US" altLang="zh-CN" sz="2400" b="1" u="none" dirty="0">
                <a:solidFill>
                  <a:schemeClr val="tx1"/>
                </a:solidFill>
              </a:rPr>
              <a:t>) </a:t>
            </a:r>
            <a:r>
              <a:rPr kumimoji="0" lang="zh-CN" altLang="en-US" sz="2400" b="1" u="none" dirty="0" smtClean="0">
                <a:solidFill>
                  <a:schemeClr val="tx1"/>
                </a:solidFill>
              </a:rPr>
              <a:t>，求其相关函数</a:t>
            </a:r>
            <a:endParaRPr kumimoji="0" lang="en-US" altLang="zh-CN" sz="2400" b="1" u="none" dirty="0">
              <a:solidFill>
                <a:schemeClr val="tx1"/>
              </a:solidFill>
            </a:endParaRPr>
          </a:p>
        </p:txBody>
      </p:sp>
      <p:sp>
        <p:nvSpPr>
          <p:cNvPr id="535565" name="Text Box 13"/>
          <p:cNvSpPr txBox="1">
            <a:spLocks noChangeArrowheads="1"/>
          </p:cNvSpPr>
          <p:nvPr/>
        </p:nvSpPr>
        <p:spPr bwMode="auto">
          <a:xfrm>
            <a:off x="6013450" y="2073417"/>
            <a:ext cx="2949575" cy="519113"/>
          </a:xfrm>
          <a:prstGeom prst="rect">
            <a:avLst/>
          </a:prstGeom>
          <a:solidFill>
            <a:srgbClr val="FFCC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 u="none">
                <a:solidFill>
                  <a:srgbClr val="336600"/>
                </a:solidFill>
                <a:ea typeface="华文新魏" pitchFamily="2" charset="-122"/>
              </a:rPr>
              <a:t>不同频率不相关</a:t>
            </a:r>
          </a:p>
        </p:txBody>
      </p:sp>
      <p:sp>
        <p:nvSpPr>
          <p:cNvPr id="12" name="Rectangle 4"/>
          <p:cNvSpPr>
            <a:spLocks noChangeArrowheads="1"/>
          </p:cNvSpPr>
          <p:nvPr/>
        </p:nvSpPr>
        <p:spPr bwMode="auto">
          <a:xfrm>
            <a:off x="379413" y="300831"/>
            <a:ext cx="3738562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 b="1" u="none" dirty="0" smtClean="0">
                <a:solidFill>
                  <a:srgbClr val="800000"/>
                </a:solidFill>
                <a:ea typeface="宋体" pitchFamily="2" charset="-122"/>
              </a:rPr>
              <a:t>5.3 </a:t>
            </a:r>
            <a:r>
              <a:rPr lang="zh-CN" altLang="en-US" sz="3200" b="1" u="none" dirty="0">
                <a:solidFill>
                  <a:srgbClr val="800000"/>
                </a:solidFill>
                <a:ea typeface="宋体" pitchFamily="2" charset="-122"/>
              </a:rPr>
              <a:t>相关分析及应用</a:t>
            </a:r>
            <a:r>
              <a:rPr lang="zh-CN" altLang="en-US" b="1" u="none" dirty="0">
                <a:solidFill>
                  <a:srgbClr val="000066"/>
                </a:solidFill>
                <a:ea typeface="宋体" pitchFamily="2" charset="-122"/>
              </a:rPr>
              <a:t> </a:t>
            </a:r>
          </a:p>
        </p:txBody>
      </p:sp>
      <p:graphicFrame>
        <p:nvGraphicFramePr>
          <p:cNvPr id="13" name="Object 19"/>
          <p:cNvGraphicFramePr>
            <a:graphicFrameLocks noGrp="1" noChangeAspect="1"/>
          </p:cNvGraphicFramePr>
          <p:nvPr>
            <p:ph sz="quarter" idx="4294967295"/>
            <p:extLst>
              <p:ext uri="{D42A27DB-BD31-4B8C-83A1-F6EECF244321}">
                <p14:modId xmlns:p14="http://schemas.microsoft.com/office/powerpoint/2010/main" val="4160477075"/>
              </p:ext>
            </p:extLst>
          </p:nvPr>
        </p:nvGraphicFramePr>
        <p:xfrm>
          <a:off x="641350" y="1954598"/>
          <a:ext cx="2851150" cy="585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5829" name="公式" r:id="rId3" imgW="1917360" imgH="393480" progId="Equation.3">
                  <p:embed/>
                </p:oleObj>
              </mc:Choice>
              <mc:Fallback>
                <p:oleObj name="公式" r:id="rId3" imgW="191736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1350" y="1954598"/>
                        <a:ext cx="2851150" cy="585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20"/>
          <p:cNvGraphicFramePr>
            <a:graphicFrameLocks noGrp="1" noChangeAspect="1"/>
          </p:cNvGraphicFramePr>
          <p:nvPr>
            <p:ph sz="quarter" idx="4294967295"/>
            <p:extLst>
              <p:ext uri="{D42A27DB-BD31-4B8C-83A1-F6EECF244321}">
                <p14:modId xmlns:p14="http://schemas.microsoft.com/office/powerpoint/2010/main" val="2588020291"/>
              </p:ext>
            </p:extLst>
          </p:nvPr>
        </p:nvGraphicFramePr>
        <p:xfrm>
          <a:off x="1228725" y="3107123"/>
          <a:ext cx="4035425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5830" name="公式" r:id="rId5" imgW="2717640" imgH="419040" progId="Equation.3">
                  <p:embed/>
                </p:oleObj>
              </mc:Choice>
              <mc:Fallback>
                <p:oleObj name="公式" r:id="rId5" imgW="2717640" imgH="419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28725" y="3107123"/>
                        <a:ext cx="4035425" cy="622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0006092"/>
              </p:ext>
            </p:extLst>
          </p:nvPr>
        </p:nvGraphicFramePr>
        <p:xfrm>
          <a:off x="1220788" y="3754823"/>
          <a:ext cx="6332537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5831" name="公式" r:id="rId7" imgW="4825800" imgH="419040" progId="Equation.3">
                  <p:embed/>
                </p:oleObj>
              </mc:Choice>
              <mc:Fallback>
                <p:oleObj name="公式" r:id="rId7" imgW="4825800" imgH="419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20788" y="3754823"/>
                        <a:ext cx="6332537" cy="549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6696445"/>
              </p:ext>
            </p:extLst>
          </p:nvPr>
        </p:nvGraphicFramePr>
        <p:xfrm>
          <a:off x="1208088" y="2530860"/>
          <a:ext cx="4308475" cy="587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5832" name="公式" r:id="rId9" imgW="2895480" imgH="393480" progId="Equation.3">
                  <p:embed/>
                </p:oleObj>
              </mc:Choice>
              <mc:Fallback>
                <p:oleObj name="公式" r:id="rId9" imgW="289548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08088" y="2530860"/>
                        <a:ext cx="4308475" cy="5873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00650159"/>
              </p:ext>
            </p:extLst>
          </p:nvPr>
        </p:nvGraphicFramePr>
        <p:xfrm>
          <a:off x="1217613" y="4402523"/>
          <a:ext cx="6048375" cy="56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5833" name="Equation" r:id="rId11" imgW="4457520" imgH="419040" progId="Equation.DSMT4">
                  <p:embed/>
                </p:oleObj>
              </mc:Choice>
              <mc:Fallback>
                <p:oleObj name="Equation" r:id="rId11" imgW="445752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7613" y="4402523"/>
                        <a:ext cx="6048375" cy="568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39622449"/>
              </p:ext>
            </p:extLst>
          </p:nvPr>
        </p:nvGraphicFramePr>
        <p:xfrm>
          <a:off x="1217613" y="5050223"/>
          <a:ext cx="6354762" cy="803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5834" name="公式" r:id="rId13" imgW="4419360" imgH="558720" progId="Equation.3">
                  <p:embed/>
                </p:oleObj>
              </mc:Choice>
              <mc:Fallback>
                <p:oleObj name="公式" r:id="rId13" imgW="4419360" imgH="5587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7613" y="5050223"/>
                        <a:ext cx="6354762" cy="803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60109589"/>
              </p:ext>
            </p:extLst>
          </p:nvPr>
        </p:nvGraphicFramePr>
        <p:xfrm>
          <a:off x="1217613" y="5866198"/>
          <a:ext cx="358775" cy="265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5835" name="公式" r:id="rId15" imgW="241200" imgH="177480" progId="Equation.3">
                  <p:embed/>
                </p:oleObj>
              </mc:Choice>
              <mc:Fallback>
                <p:oleObj name="公式" r:id="rId15" imgW="241200" imgH="177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7613" y="5866198"/>
                        <a:ext cx="358775" cy="265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Rectangle 33"/>
          <p:cNvSpPr>
            <a:spLocks noChangeArrowheads="1"/>
          </p:cNvSpPr>
          <p:nvPr/>
        </p:nvSpPr>
        <p:spPr bwMode="auto">
          <a:xfrm>
            <a:off x="2357438" y="5839210"/>
            <a:ext cx="812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kumimoji="0" lang="en-US" altLang="zh-CN" sz="1800" b="1" u="none" dirty="0" smtClean="0">
                <a:solidFill>
                  <a:srgbClr val="FF3300"/>
                </a:solidFill>
                <a:ea typeface="宋体" pitchFamily="2" charset="-122"/>
              </a:rPr>
              <a:t>(</a:t>
            </a:r>
            <a:r>
              <a:rPr kumimoji="0" lang="en-US" altLang="zh-CN" sz="1800" b="1" u="none" dirty="0" smtClean="0">
                <a:solidFill>
                  <a:srgbClr val="FF3300"/>
                </a:solidFill>
              </a:rPr>
              <a:t>5-</a:t>
            </a:r>
            <a:r>
              <a:rPr kumimoji="0" lang="en-US" altLang="zh-CN" sz="1800" b="1" u="none" dirty="0" smtClean="0">
                <a:solidFill>
                  <a:srgbClr val="FF3300"/>
                </a:solidFill>
                <a:ea typeface="宋体" pitchFamily="2" charset="-122"/>
              </a:rPr>
              <a:t>20</a:t>
            </a:r>
            <a:r>
              <a:rPr kumimoji="0" lang="en-US" altLang="zh-CN" sz="1800" b="1" u="none" dirty="0">
                <a:solidFill>
                  <a:srgbClr val="FF3300"/>
                </a:solidFill>
                <a:ea typeface="宋体" pitchFamily="2" charset="-122"/>
              </a:rPr>
              <a:t>)</a:t>
            </a:r>
            <a:r>
              <a:rPr kumimoji="0" lang="en-US" altLang="zh-CN" sz="1800" u="none" dirty="0">
                <a:solidFill>
                  <a:srgbClr val="FF3300"/>
                </a:solidFill>
                <a:ea typeface="宋体" pitchFamily="2" charset="-122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35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40" dur="80"/>
                                        <p:tgtEl>
                                          <p:spTgt spid="53556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41" dur="80"/>
                                        <p:tgtEl>
                                          <p:spTgt spid="53556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2" dur="80"/>
                                        <p:tgtEl>
                                          <p:spTgt spid="53556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5559" grpId="0"/>
      <p:bldP spid="535565" grpId="0" animBg="1"/>
      <p:bldP spid="20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786" name="Rectangle 42"/>
          <p:cNvSpPr>
            <a:spLocks noChangeArrowheads="1"/>
          </p:cNvSpPr>
          <p:nvPr/>
        </p:nvSpPr>
        <p:spPr bwMode="auto">
          <a:xfrm>
            <a:off x="603250" y="1013619"/>
            <a:ext cx="660241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buClr>
                <a:srgbClr val="FF3300"/>
              </a:buClr>
              <a:buFont typeface="Wingdings" pitchFamily="2" charset="2"/>
              <a:buNone/>
            </a:pPr>
            <a:r>
              <a:rPr kumimoji="0" lang="en-US" altLang="zh-CN" b="1" u="none" dirty="0">
                <a:solidFill>
                  <a:srgbClr val="FF3300"/>
                </a:solidFill>
                <a:ea typeface="宋体" pitchFamily="2" charset="-122"/>
              </a:rPr>
              <a:t>6</a:t>
            </a:r>
            <a:r>
              <a:rPr kumimoji="0" lang="zh-CN" altLang="en-US" b="1" u="none" dirty="0">
                <a:solidFill>
                  <a:srgbClr val="FF3300"/>
                </a:solidFill>
                <a:ea typeface="宋体" pitchFamily="2" charset="-122"/>
              </a:rPr>
              <a:t>）</a:t>
            </a:r>
            <a:r>
              <a:rPr kumimoji="0" lang="zh-CN" altLang="en-US" sz="2400" b="1" u="none" dirty="0">
                <a:solidFill>
                  <a:schemeClr val="tx1"/>
                </a:solidFill>
              </a:rPr>
              <a:t>两个</a:t>
            </a:r>
            <a:r>
              <a:rPr kumimoji="0" lang="zh-CN" altLang="en-US" sz="2400" b="1" u="none" dirty="0">
                <a:solidFill>
                  <a:srgbClr val="FF3300"/>
                </a:solidFill>
              </a:rPr>
              <a:t>同频率</a:t>
            </a:r>
            <a:r>
              <a:rPr kumimoji="0" lang="zh-CN" altLang="en-US" sz="2400" b="1" u="none" dirty="0">
                <a:solidFill>
                  <a:schemeClr val="tx1"/>
                </a:solidFill>
              </a:rPr>
              <a:t>正弦函数的互相关函数</a:t>
            </a:r>
            <a:r>
              <a:rPr kumimoji="0" lang="en-US" altLang="zh-CN" sz="2400" b="1" i="1" u="none" dirty="0" err="1">
                <a:solidFill>
                  <a:schemeClr val="tx1"/>
                </a:solidFill>
              </a:rPr>
              <a:t>R</a:t>
            </a:r>
            <a:r>
              <a:rPr kumimoji="0" lang="en-US" altLang="zh-CN" sz="2400" b="1" i="1" u="none" baseline="-25000" dirty="0" err="1">
                <a:solidFill>
                  <a:schemeClr val="tx1"/>
                </a:solidFill>
              </a:rPr>
              <a:t>xy</a:t>
            </a:r>
            <a:r>
              <a:rPr kumimoji="0" lang="en-US" altLang="zh-CN" sz="2400" b="1" u="none" dirty="0">
                <a:solidFill>
                  <a:schemeClr val="tx1"/>
                </a:solidFill>
              </a:rPr>
              <a:t>(</a:t>
            </a:r>
            <a:r>
              <a:rPr kumimoji="0" lang="en-US" altLang="zh-CN" sz="2400" b="1" i="1" u="none" dirty="0">
                <a:solidFill>
                  <a:schemeClr val="tx1"/>
                </a:solidFill>
              </a:rPr>
              <a:t>τ</a:t>
            </a:r>
            <a:r>
              <a:rPr kumimoji="0" lang="en-US" altLang="zh-CN" sz="2400" b="1" u="none" dirty="0">
                <a:solidFill>
                  <a:schemeClr val="tx1"/>
                </a:solidFill>
              </a:rPr>
              <a:t>)</a:t>
            </a:r>
            <a:r>
              <a:rPr kumimoji="0" lang="en-US" altLang="zh-CN" sz="2400" u="none" dirty="0">
                <a:solidFill>
                  <a:schemeClr val="tx1"/>
                </a:solidFill>
              </a:rPr>
              <a:t> </a:t>
            </a:r>
            <a:r>
              <a:rPr kumimoji="0" lang="zh-CN" altLang="en-US" sz="2400" b="1" u="none" dirty="0">
                <a:solidFill>
                  <a:schemeClr val="tx1"/>
                </a:solidFill>
              </a:rPr>
              <a:t>：</a:t>
            </a:r>
          </a:p>
        </p:txBody>
      </p:sp>
      <p:sp>
        <p:nvSpPr>
          <p:cNvPr id="415787" name="Rectangle 43"/>
          <p:cNvSpPr>
            <a:spLocks noChangeArrowheads="1"/>
          </p:cNvSpPr>
          <p:nvPr/>
        </p:nvSpPr>
        <p:spPr bwMode="auto">
          <a:xfrm>
            <a:off x="649288" y="1346200"/>
            <a:ext cx="8004175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kumimoji="0" lang="zh-CN" altLang="en-US" sz="2400" b="1" u="none">
                <a:solidFill>
                  <a:schemeClr val="tx1"/>
                </a:solidFill>
              </a:rPr>
              <a:t>求</a:t>
            </a:r>
            <a:r>
              <a:rPr kumimoji="0" lang="en-US" altLang="zh-CN" sz="2400" b="1" i="1" u="none">
                <a:solidFill>
                  <a:schemeClr val="tx1"/>
                </a:solidFill>
              </a:rPr>
              <a:t>x</a:t>
            </a:r>
            <a:r>
              <a:rPr kumimoji="0" lang="en-US" altLang="zh-CN" sz="2400" b="1" u="none">
                <a:solidFill>
                  <a:schemeClr val="tx1"/>
                </a:solidFill>
              </a:rPr>
              <a:t>(</a:t>
            </a:r>
            <a:r>
              <a:rPr kumimoji="0" lang="en-US" altLang="zh-CN" sz="2400" b="1" i="1" u="none">
                <a:solidFill>
                  <a:schemeClr val="tx1"/>
                </a:solidFill>
              </a:rPr>
              <a:t>t</a:t>
            </a:r>
            <a:r>
              <a:rPr kumimoji="0" lang="en-US" altLang="zh-CN" sz="2400" b="1" u="none">
                <a:solidFill>
                  <a:schemeClr val="tx1"/>
                </a:solidFill>
              </a:rPr>
              <a:t>)=</a:t>
            </a:r>
            <a:r>
              <a:rPr kumimoji="0" lang="en-US" altLang="zh-CN" sz="2400" b="1" i="1" u="none">
                <a:solidFill>
                  <a:schemeClr val="tx1"/>
                </a:solidFill>
              </a:rPr>
              <a:t>x</a:t>
            </a:r>
            <a:r>
              <a:rPr kumimoji="0" lang="en-US" altLang="zh-CN" sz="2400" b="1" i="1" u="none" baseline="-25000">
                <a:solidFill>
                  <a:schemeClr val="tx1"/>
                </a:solidFill>
              </a:rPr>
              <a:t>0</a:t>
            </a:r>
            <a:r>
              <a:rPr kumimoji="0" lang="en-US" altLang="zh-CN" sz="2400" b="1" u="none">
                <a:solidFill>
                  <a:schemeClr val="tx1"/>
                </a:solidFill>
              </a:rPr>
              <a:t>Sin(ω</a:t>
            </a:r>
            <a:r>
              <a:rPr kumimoji="0" lang="en-US" altLang="zh-CN" sz="2400" b="1" i="1" u="none">
                <a:solidFill>
                  <a:schemeClr val="tx1"/>
                </a:solidFill>
              </a:rPr>
              <a:t>t+</a:t>
            </a:r>
            <a:r>
              <a:rPr kumimoji="0" lang="en-US" altLang="zh-CN" sz="2400" b="1" u="none">
                <a:solidFill>
                  <a:schemeClr val="tx1"/>
                </a:solidFill>
              </a:rPr>
              <a:t>θ)</a:t>
            </a:r>
            <a:r>
              <a:rPr kumimoji="0" lang="zh-CN" altLang="en-US" sz="2400" b="1" u="none">
                <a:solidFill>
                  <a:schemeClr val="tx1"/>
                </a:solidFill>
              </a:rPr>
              <a:t>，</a:t>
            </a:r>
            <a:r>
              <a:rPr kumimoji="0" lang="en-US" altLang="zh-CN" sz="2400" b="1" i="1" u="none">
                <a:solidFill>
                  <a:schemeClr val="tx1"/>
                </a:solidFill>
              </a:rPr>
              <a:t>y</a:t>
            </a:r>
            <a:r>
              <a:rPr kumimoji="0" lang="en-US" altLang="zh-CN" sz="2400" b="1" u="none">
                <a:solidFill>
                  <a:schemeClr val="tx1"/>
                </a:solidFill>
              </a:rPr>
              <a:t>(</a:t>
            </a:r>
            <a:r>
              <a:rPr kumimoji="0" lang="en-US" altLang="zh-CN" sz="2400" b="1" i="1" u="none">
                <a:solidFill>
                  <a:schemeClr val="tx1"/>
                </a:solidFill>
              </a:rPr>
              <a:t>t</a:t>
            </a:r>
            <a:r>
              <a:rPr kumimoji="0" lang="en-US" altLang="zh-CN" sz="2400" b="1" u="none">
                <a:solidFill>
                  <a:schemeClr val="tx1"/>
                </a:solidFill>
              </a:rPr>
              <a:t>)=</a:t>
            </a:r>
            <a:r>
              <a:rPr kumimoji="0" lang="en-US" altLang="zh-CN" sz="2400" b="1" i="1" u="none">
                <a:solidFill>
                  <a:schemeClr val="tx1"/>
                </a:solidFill>
              </a:rPr>
              <a:t>y</a:t>
            </a:r>
            <a:r>
              <a:rPr kumimoji="0" lang="en-US" altLang="zh-CN" sz="2400" b="1" i="1" u="none" baseline="-25000">
                <a:solidFill>
                  <a:schemeClr val="tx1"/>
                </a:solidFill>
              </a:rPr>
              <a:t>0</a:t>
            </a:r>
            <a:r>
              <a:rPr kumimoji="0" lang="en-US" altLang="zh-CN" sz="2400" b="1" u="none">
                <a:solidFill>
                  <a:schemeClr val="tx1"/>
                </a:solidFill>
              </a:rPr>
              <a:t>sin(ω</a:t>
            </a:r>
            <a:r>
              <a:rPr kumimoji="0" lang="en-US" altLang="zh-CN" sz="2400" b="1" i="1" u="none">
                <a:solidFill>
                  <a:schemeClr val="tx1"/>
                </a:solidFill>
              </a:rPr>
              <a:t>t+</a:t>
            </a:r>
            <a:r>
              <a:rPr kumimoji="0" lang="en-US" altLang="zh-CN" sz="2400" b="1" u="none">
                <a:solidFill>
                  <a:schemeClr val="tx1"/>
                </a:solidFill>
              </a:rPr>
              <a:t>θ-φ)</a:t>
            </a:r>
            <a:r>
              <a:rPr kumimoji="0" lang="zh-CN" altLang="en-US" sz="2400" b="1" u="none">
                <a:solidFill>
                  <a:schemeClr val="tx1"/>
                </a:solidFill>
              </a:rPr>
              <a:t>互相关函数</a:t>
            </a:r>
            <a:r>
              <a:rPr kumimoji="0" lang="en-US" altLang="zh-CN" sz="2400" b="1" i="1" u="none">
                <a:solidFill>
                  <a:schemeClr val="tx1"/>
                </a:solidFill>
              </a:rPr>
              <a:t>R</a:t>
            </a:r>
            <a:r>
              <a:rPr kumimoji="0" lang="en-US" altLang="zh-CN" sz="2400" b="1" i="1" u="none" baseline="-25000">
                <a:solidFill>
                  <a:schemeClr val="tx1"/>
                </a:solidFill>
              </a:rPr>
              <a:t>xy</a:t>
            </a:r>
            <a:r>
              <a:rPr kumimoji="0" lang="en-US" altLang="zh-CN" sz="2400" b="1" u="none">
                <a:solidFill>
                  <a:schemeClr val="tx1"/>
                </a:solidFill>
              </a:rPr>
              <a:t>(</a:t>
            </a:r>
            <a:r>
              <a:rPr kumimoji="0" lang="en-US" altLang="zh-CN" sz="2400" b="1" i="1" u="none">
                <a:solidFill>
                  <a:schemeClr val="tx1"/>
                </a:solidFill>
              </a:rPr>
              <a:t>τ</a:t>
            </a:r>
            <a:r>
              <a:rPr kumimoji="0" lang="en-US" altLang="zh-CN" sz="2400" b="1" u="none">
                <a:solidFill>
                  <a:schemeClr val="tx1"/>
                </a:solidFill>
              </a:rPr>
              <a:t>) </a:t>
            </a:r>
          </a:p>
        </p:txBody>
      </p:sp>
      <p:sp>
        <p:nvSpPr>
          <p:cNvPr id="415790" name="Rectangle 46"/>
          <p:cNvSpPr>
            <a:spLocks noChangeArrowheads="1"/>
          </p:cNvSpPr>
          <p:nvPr/>
        </p:nvSpPr>
        <p:spPr bwMode="auto">
          <a:xfrm>
            <a:off x="3773214" y="5083085"/>
            <a:ext cx="5294094" cy="1200329"/>
          </a:xfrm>
          <a:prstGeom prst="rect">
            <a:avLst/>
          </a:prstGeom>
          <a:solidFill>
            <a:srgbClr val="99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r>
              <a:rPr kumimoji="0" lang="zh-CN" altLang="en-US" sz="2400" b="1" u="none" dirty="0">
                <a:solidFill>
                  <a:schemeClr val="tx1"/>
                </a:solidFill>
              </a:rPr>
              <a:t>互相关函数不仅保留了两个信号的</a:t>
            </a:r>
            <a:r>
              <a:rPr kumimoji="0" lang="zh-CN" altLang="en-US" sz="2400" b="1" u="none" dirty="0">
                <a:solidFill>
                  <a:srgbClr val="FF0000"/>
                </a:solidFill>
              </a:rPr>
              <a:t>幅值</a:t>
            </a:r>
            <a:r>
              <a:rPr kumimoji="0" lang="en-US" altLang="zh-CN" sz="2400" b="1" i="1" u="none" dirty="0">
                <a:solidFill>
                  <a:srgbClr val="FF0000"/>
                </a:solidFill>
              </a:rPr>
              <a:t>x</a:t>
            </a:r>
            <a:r>
              <a:rPr kumimoji="0" lang="en-US" altLang="zh-CN" sz="2400" b="1" i="1" u="none" baseline="-25000" dirty="0">
                <a:solidFill>
                  <a:srgbClr val="FF0000"/>
                </a:solidFill>
              </a:rPr>
              <a:t>0</a:t>
            </a:r>
            <a:r>
              <a:rPr kumimoji="0" lang="zh-CN" altLang="en-US" sz="2400" b="1" u="none" dirty="0">
                <a:solidFill>
                  <a:srgbClr val="FF0000"/>
                </a:solidFill>
              </a:rPr>
              <a:t>、</a:t>
            </a:r>
            <a:r>
              <a:rPr kumimoji="0" lang="en-US" altLang="zh-CN" sz="2400" b="1" i="1" u="none" dirty="0">
                <a:solidFill>
                  <a:srgbClr val="FF0000"/>
                </a:solidFill>
              </a:rPr>
              <a:t>y</a:t>
            </a:r>
            <a:r>
              <a:rPr kumimoji="0" lang="en-US" altLang="zh-CN" sz="2400" b="1" i="1" u="none" baseline="-25000" dirty="0">
                <a:solidFill>
                  <a:srgbClr val="FF0000"/>
                </a:solidFill>
              </a:rPr>
              <a:t>0</a:t>
            </a:r>
            <a:r>
              <a:rPr kumimoji="0" lang="zh-CN" altLang="en-US" sz="2400" b="1" u="none" dirty="0">
                <a:solidFill>
                  <a:srgbClr val="FF0000"/>
                </a:solidFill>
              </a:rPr>
              <a:t>信息、频率</a:t>
            </a:r>
            <a:r>
              <a:rPr kumimoji="0" lang="en-US" altLang="zh-CN" sz="2400" b="1" u="none" dirty="0">
                <a:solidFill>
                  <a:srgbClr val="FF0000"/>
                </a:solidFill>
              </a:rPr>
              <a:t>ω</a:t>
            </a:r>
            <a:r>
              <a:rPr kumimoji="0" lang="zh-CN" altLang="en-US" sz="2400" b="1" u="none" dirty="0">
                <a:solidFill>
                  <a:srgbClr val="FF0000"/>
                </a:solidFill>
              </a:rPr>
              <a:t>信息</a:t>
            </a:r>
            <a:r>
              <a:rPr kumimoji="0" lang="zh-CN" altLang="en-US" sz="2400" b="1" u="none" dirty="0">
                <a:solidFill>
                  <a:schemeClr val="tx1"/>
                </a:solidFill>
              </a:rPr>
              <a:t>，而且还保留了两信号的</a:t>
            </a:r>
            <a:r>
              <a:rPr kumimoji="0" lang="zh-CN" altLang="en-US" sz="2400" b="1" u="none" dirty="0">
                <a:solidFill>
                  <a:srgbClr val="FF0000"/>
                </a:solidFill>
              </a:rPr>
              <a:t>相位差</a:t>
            </a:r>
            <a:r>
              <a:rPr kumimoji="0" lang="en-US" altLang="zh-CN" sz="2400" b="1" u="none" dirty="0">
                <a:solidFill>
                  <a:srgbClr val="FF0000"/>
                </a:solidFill>
              </a:rPr>
              <a:t>φ</a:t>
            </a:r>
            <a:r>
              <a:rPr kumimoji="0" lang="zh-CN" altLang="en-US" sz="2400" b="1" u="none" dirty="0">
                <a:solidFill>
                  <a:srgbClr val="FF0000"/>
                </a:solidFill>
              </a:rPr>
              <a:t>信息 </a:t>
            </a:r>
          </a:p>
        </p:txBody>
      </p:sp>
      <p:sp>
        <p:nvSpPr>
          <p:cNvPr id="415791" name="Text Box 47"/>
          <p:cNvSpPr txBox="1">
            <a:spLocks noChangeArrowheads="1"/>
          </p:cNvSpPr>
          <p:nvPr/>
        </p:nvSpPr>
        <p:spPr bwMode="auto">
          <a:xfrm>
            <a:off x="6200579" y="2168525"/>
            <a:ext cx="2681287" cy="519113"/>
          </a:xfrm>
          <a:prstGeom prst="rect">
            <a:avLst/>
          </a:prstGeom>
          <a:solidFill>
            <a:srgbClr val="FFCC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 u="none" dirty="0">
                <a:solidFill>
                  <a:srgbClr val="336600"/>
                </a:solidFill>
                <a:ea typeface="华文新魏" pitchFamily="2" charset="-122"/>
              </a:rPr>
              <a:t>同频率正弦相关</a:t>
            </a:r>
          </a:p>
        </p:txBody>
      </p:sp>
      <p:sp>
        <p:nvSpPr>
          <p:cNvPr id="11" name="Rectangle 4"/>
          <p:cNvSpPr>
            <a:spLocks noChangeArrowheads="1"/>
          </p:cNvSpPr>
          <p:nvPr/>
        </p:nvSpPr>
        <p:spPr bwMode="auto">
          <a:xfrm>
            <a:off x="379413" y="300831"/>
            <a:ext cx="3738562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 b="1" u="none" dirty="0" smtClean="0">
                <a:solidFill>
                  <a:srgbClr val="800000"/>
                </a:solidFill>
                <a:ea typeface="宋体" pitchFamily="2" charset="-122"/>
              </a:rPr>
              <a:t>5.3 </a:t>
            </a:r>
            <a:r>
              <a:rPr lang="zh-CN" altLang="en-US" sz="3200" b="1" u="none" dirty="0">
                <a:solidFill>
                  <a:srgbClr val="800000"/>
                </a:solidFill>
                <a:ea typeface="宋体" pitchFamily="2" charset="-122"/>
              </a:rPr>
              <a:t>相关分析及应用</a:t>
            </a:r>
            <a:r>
              <a:rPr lang="zh-CN" altLang="en-US" b="1" u="none" dirty="0">
                <a:solidFill>
                  <a:srgbClr val="000066"/>
                </a:solidFill>
                <a:ea typeface="宋体" pitchFamily="2" charset="-122"/>
              </a:rPr>
              <a:t> </a:t>
            </a:r>
          </a:p>
        </p:txBody>
      </p:sp>
      <p:graphicFrame>
        <p:nvGraphicFramePr>
          <p:cNvPr id="12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05335138"/>
              </p:ext>
            </p:extLst>
          </p:nvPr>
        </p:nvGraphicFramePr>
        <p:xfrm>
          <a:off x="481013" y="2098675"/>
          <a:ext cx="3092450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5980" name="公式" r:id="rId3" imgW="1917360" imgH="393480" progId="Equation.3">
                  <p:embed/>
                </p:oleObj>
              </mc:Choice>
              <mc:Fallback>
                <p:oleObj name="公式" r:id="rId3" imgW="191736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1013" y="2098675"/>
                        <a:ext cx="3092450" cy="635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19433020"/>
              </p:ext>
            </p:extLst>
          </p:nvPr>
        </p:nvGraphicFramePr>
        <p:xfrm>
          <a:off x="1128713" y="4462373"/>
          <a:ext cx="6884987" cy="620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5981" name="公式" r:id="rId5" imgW="4647960" imgH="419040" progId="Equation.3">
                  <p:embed/>
                </p:oleObj>
              </mc:Choice>
              <mc:Fallback>
                <p:oleObj name="公式" r:id="rId5" imgW="4647960" imgH="419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28713" y="4462373"/>
                        <a:ext cx="6884987" cy="620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98534105"/>
              </p:ext>
            </p:extLst>
          </p:nvPr>
        </p:nvGraphicFramePr>
        <p:xfrm>
          <a:off x="1106488" y="3614291"/>
          <a:ext cx="4918075" cy="676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5982" name="公式" r:id="rId7" imgW="3047760" imgH="419040" progId="Equation.3">
                  <p:embed/>
                </p:oleObj>
              </mc:Choice>
              <mc:Fallback>
                <p:oleObj name="公式" r:id="rId7" imgW="3047760" imgH="419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06488" y="3614291"/>
                        <a:ext cx="4918075" cy="676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44656789"/>
              </p:ext>
            </p:extLst>
          </p:nvPr>
        </p:nvGraphicFramePr>
        <p:xfrm>
          <a:off x="1119188" y="2832100"/>
          <a:ext cx="4445000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5983" name="公式" r:id="rId9" imgW="2755800" imgH="393480" progId="Equation.3">
                  <p:embed/>
                </p:oleObj>
              </mc:Choice>
              <mc:Fallback>
                <p:oleObj name="公式" r:id="rId9" imgW="275580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9188" y="2832100"/>
                        <a:ext cx="4445000" cy="635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5787735"/>
              </p:ext>
            </p:extLst>
          </p:nvPr>
        </p:nvGraphicFramePr>
        <p:xfrm>
          <a:off x="1125672" y="5213572"/>
          <a:ext cx="1944687" cy="676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5984" name="公式" r:id="rId11" imgW="1206360" imgH="419040" progId="Equation.3">
                  <p:embed/>
                </p:oleObj>
              </mc:Choice>
              <mc:Fallback>
                <p:oleObj name="公式" r:id="rId11" imgW="1206360" imgH="419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25672" y="5213572"/>
                        <a:ext cx="1944687" cy="676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157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157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157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157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5790" grpId="0" animBg="1"/>
      <p:bldP spid="415791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3" name="Rectangle 13"/>
          <p:cNvSpPr>
            <a:spLocks noChangeArrowheads="1"/>
          </p:cNvSpPr>
          <p:nvPr/>
        </p:nvSpPr>
        <p:spPr bwMode="auto">
          <a:xfrm>
            <a:off x="301625" y="1003300"/>
            <a:ext cx="5899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buClr>
                <a:schemeClr val="hlink"/>
              </a:buClr>
              <a:buFont typeface="Wingdings" pitchFamily="2" charset="2"/>
              <a:buNone/>
            </a:pPr>
            <a:r>
              <a:rPr kumimoji="0" lang="en-US" altLang="zh-CN" sz="2400" b="1" u="none" dirty="0">
                <a:solidFill>
                  <a:srgbClr val="FF3300"/>
                </a:solidFill>
              </a:rPr>
              <a:t>7</a:t>
            </a:r>
            <a:r>
              <a:rPr kumimoji="0" lang="zh-CN" altLang="en-US" sz="2400" b="1" u="none" dirty="0">
                <a:solidFill>
                  <a:srgbClr val="FF3300"/>
                </a:solidFill>
              </a:rPr>
              <a:t>）</a:t>
            </a:r>
            <a:r>
              <a:rPr kumimoji="0" lang="zh-CN" altLang="en-US" sz="2400" b="1" u="none" dirty="0">
                <a:solidFill>
                  <a:schemeClr val="tx1"/>
                </a:solidFill>
              </a:rPr>
              <a:t>周期信号与随机信号的互相关函数为</a:t>
            </a:r>
            <a:r>
              <a:rPr kumimoji="0" lang="zh-CN" altLang="en-US" sz="2400" b="1" u="none" dirty="0">
                <a:solidFill>
                  <a:srgbClr val="FF3300"/>
                </a:solidFill>
              </a:rPr>
              <a:t>零</a:t>
            </a:r>
            <a:r>
              <a:rPr kumimoji="0" lang="zh-CN" altLang="en-US" sz="2400" b="1" u="none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542734" name="Rectangle 14"/>
          <p:cNvSpPr>
            <a:spLocks noChangeArrowheads="1"/>
          </p:cNvSpPr>
          <p:nvPr/>
        </p:nvSpPr>
        <p:spPr bwMode="auto">
          <a:xfrm>
            <a:off x="546100" y="1643214"/>
            <a:ext cx="7748588" cy="1130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>
              <a:lnSpc>
                <a:spcPct val="150000"/>
              </a:lnSpc>
            </a:pPr>
            <a:r>
              <a:rPr kumimoji="0" lang="en-US" altLang="zh-CN" sz="2400" b="1" u="none" dirty="0">
                <a:solidFill>
                  <a:schemeClr val="tx1"/>
                </a:solidFill>
              </a:rPr>
              <a:t>      </a:t>
            </a:r>
            <a:r>
              <a:rPr kumimoji="0" lang="zh-CN" altLang="en-US" sz="2400" b="1" u="none" dirty="0">
                <a:solidFill>
                  <a:schemeClr val="tx1"/>
                </a:solidFill>
              </a:rPr>
              <a:t>由于随机信号</a:t>
            </a:r>
            <a:r>
              <a:rPr kumimoji="0" lang="en-US" altLang="zh-CN" sz="2400" b="1" i="1" u="none" dirty="0">
                <a:solidFill>
                  <a:schemeClr val="tx1"/>
                </a:solidFill>
              </a:rPr>
              <a:t>y</a:t>
            </a:r>
            <a:r>
              <a:rPr kumimoji="0" lang="en-US" altLang="zh-CN" sz="2400" b="1" u="none" dirty="0">
                <a:solidFill>
                  <a:schemeClr val="tx1"/>
                </a:solidFill>
              </a:rPr>
              <a:t>(</a:t>
            </a:r>
            <a:r>
              <a:rPr kumimoji="0" lang="en-US" altLang="zh-CN" sz="2400" b="1" i="1" u="none" dirty="0" err="1">
                <a:solidFill>
                  <a:schemeClr val="tx1"/>
                </a:solidFill>
              </a:rPr>
              <a:t>t</a:t>
            </a:r>
            <a:r>
              <a:rPr kumimoji="0" lang="en-US" altLang="zh-CN" sz="2400" b="1" u="none" dirty="0" err="1">
                <a:solidFill>
                  <a:schemeClr val="tx1"/>
                </a:solidFill>
              </a:rPr>
              <a:t>+τ</a:t>
            </a:r>
            <a:r>
              <a:rPr kumimoji="0" lang="en-US" altLang="zh-CN" sz="2400" b="1" u="none" dirty="0">
                <a:solidFill>
                  <a:schemeClr val="tx1"/>
                </a:solidFill>
              </a:rPr>
              <a:t>)</a:t>
            </a:r>
            <a:r>
              <a:rPr kumimoji="0" lang="zh-CN" altLang="en-US" sz="2400" b="1" u="none" dirty="0">
                <a:solidFill>
                  <a:schemeClr val="tx1"/>
                </a:solidFill>
              </a:rPr>
              <a:t>在时间</a:t>
            </a:r>
            <a:r>
              <a:rPr kumimoji="0" lang="en-US" altLang="zh-CN" sz="2400" b="1" i="1" u="none" dirty="0" err="1">
                <a:solidFill>
                  <a:schemeClr val="tx1"/>
                </a:solidFill>
              </a:rPr>
              <a:t>t</a:t>
            </a:r>
            <a:r>
              <a:rPr kumimoji="0" lang="en-US" altLang="zh-CN" sz="2400" b="1" u="none" dirty="0" err="1">
                <a:solidFill>
                  <a:schemeClr val="tx1"/>
                </a:solidFill>
              </a:rPr>
              <a:t>→</a:t>
            </a:r>
            <a:r>
              <a:rPr kumimoji="0" lang="en-US" altLang="zh-CN" sz="2400" b="1" i="1" u="none" dirty="0" err="1">
                <a:solidFill>
                  <a:schemeClr val="tx1"/>
                </a:solidFill>
              </a:rPr>
              <a:t>t</a:t>
            </a:r>
            <a:r>
              <a:rPr kumimoji="0" lang="en-US" altLang="zh-CN" sz="2400" b="1" u="none" dirty="0" err="1">
                <a:solidFill>
                  <a:schemeClr val="tx1"/>
                </a:solidFill>
              </a:rPr>
              <a:t>+τ</a:t>
            </a:r>
            <a:r>
              <a:rPr kumimoji="0" lang="zh-CN" altLang="en-US" sz="2400" b="1" u="none" dirty="0">
                <a:solidFill>
                  <a:schemeClr val="tx1"/>
                </a:solidFill>
              </a:rPr>
              <a:t>内并无确定的关系，它的取值显然与任何周期函数</a:t>
            </a:r>
            <a:r>
              <a:rPr kumimoji="0" lang="en-US" altLang="zh-CN" sz="2400" b="1" i="1" u="none" dirty="0">
                <a:solidFill>
                  <a:schemeClr val="tx1"/>
                </a:solidFill>
              </a:rPr>
              <a:t>x</a:t>
            </a:r>
            <a:r>
              <a:rPr kumimoji="0" lang="en-US" altLang="zh-CN" sz="2400" b="1" u="none" dirty="0">
                <a:solidFill>
                  <a:schemeClr val="tx1"/>
                </a:solidFill>
              </a:rPr>
              <a:t>(</a:t>
            </a:r>
            <a:r>
              <a:rPr kumimoji="0" lang="en-US" altLang="zh-CN" sz="2400" b="1" i="1" u="none" dirty="0">
                <a:solidFill>
                  <a:schemeClr val="tx1"/>
                </a:solidFill>
              </a:rPr>
              <a:t>t</a:t>
            </a:r>
            <a:r>
              <a:rPr kumimoji="0" lang="en-US" altLang="zh-CN" sz="2400" b="1" u="none" dirty="0">
                <a:solidFill>
                  <a:schemeClr val="tx1"/>
                </a:solidFill>
              </a:rPr>
              <a:t>)</a:t>
            </a:r>
            <a:r>
              <a:rPr kumimoji="0" lang="zh-CN" altLang="en-US" sz="2400" b="1" u="none" dirty="0">
                <a:solidFill>
                  <a:schemeClr val="tx1"/>
                </a:solidFill>
              </a:rPr>
              <a:t>无关，因此，</a:t>
            </a:r>
            <a:r>
              <a:rPr kumimoji="0" lang="en-US" altLang="zh-CN" sz="2400" b="1" i="1" u="none" dirty="0" err="1">
                <a:solidFill>
                  <a:schemeClr val="tx1"/>
                </a:solidFill>
              </a:rPr>
              <a:t>R</a:t>
            </a:r>
            <a:r>
              <a:rPr kumimoji="0" lang="en-US" altLang="zh-CN" sz="2400" b="1" i="1" u="none" baseline="-25000" dirty="0" err="1">
                <a:solidFill>
                  <a:schemeClr val="tx1"/>
                </a:solidFill>
              </a:rPr>
              <a:t>xy</a:t>
            </a:r>
            <a:r>
              <a:rPr kumimoji="0" lang="en-US" altLang="zh-CN" sz="2400" b="1" u="none" dirty="0">
                <a:solidFill>
                  <a:schemeClr val="tx1"/>
                </a:solidFill>
              </a:rPr>
              <a:t>(</a:t>
            </a:r>
            <a:r>
              <a:rPr kumimoji="0" lang="en-US" altLang="zh-CN" sz="2400" b="1" i="1" u="none" dirty="0">
                <a:solidFill>
                  <a:schemeClr val="tx1"/>
                </a:solidFill>
              </a:rPr>
              <a:t>τ</a:t>
            </a:r>
            <a:r>
              <a:rPr kumimoji="0" lang="en-US" altLang="zh-CN" sz="2400" b="1" u="none" dirty="0">
                <a:solidFill>
                  <a:schemeClr val="tx1"/>
                </a:solidFill>
              </a:rPr>
              <a:t>)=0</a:t>
            </a:r>
            <a:r>
              <a:rPr kumimoji="0" lang="zh-CN" altLang="en-US" sz="2400" b="1" u="none" dirty="0">
                <a:solidFill>
                  <a:schemeClr val="tx1"/>
                </a:solidFill>
              </a:rPr>
              <a:t>。 </a:t>
            </a:r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379413" y="300831"/>
            <a:ext cx="3738562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 b="1" u="none" dirty="0" smtClean="0">
                <a:solidFill>
                  <a:srgbClr val="800000"/>
                </a:solidFill>
                <a:ea typeface="宋体" pitchFamily="2" charset="-122"/>
              </a:rPr>
              <a:t>5.3 </a:t>
            </a:r>
            <a:r>
              <a:rPr lang="zh-CN" altLang="en-US" sz="3200" b="1" u="none" dirty="0">
                <a:solidFill>
                  <a:srgbClr val="800000"/>
                </a:solidFill>
                <a:ea typeface="宋体" pitchFamily="2" charset="-122"/>
              </a:rPr>
              <a:t>相关分析及应用</a:t>
            </a:r>
            <a:r>
              <a:rPr lang="zh-CN" altLang="en-US" b="1" u="none" dirty="0">
                <a:solidFill>
                  <a:srgbClr val="000066"/>
                </a:solidFill>
                <a:ea typeface="宋体" pitchFamily="2" charset="-122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427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427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427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427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2733" grpId="0"/>
      <p:bldP spid="542734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32142" name="Object 14"/>
          <p:cNvGraphicFramePr>
            <a:graphicFrameLocks noChangeAspect="1"/>
          </p:cNvGraphicFramePr>
          <p:nvPr/>
        </p:nvGraphicFramePr>
        <p:xfrm>
          <a:off x="1243013" y="3098800"/>
          <a:ext cx="4252912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2526" name="公式" r:id="rId3" imgW="2197080" imgH="393480" progId="Equation.3">
                  <p:embed/>
                </p:oleObj>
              </mc:Choice>
              <mc:Fallback>
                <p:oleObj name="公式" r:id="rId3" imgW="2197080" imgH="39348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43013" y="3098800"/>
                        <a:ext cx="4252912" cy="76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2143" name="Object 15"/>
          <p:cNvGraphicFramePr>
            <a:graphicFrameLocks noChangeAspect="1"/>
          </p:cNvGraphicFramePr>
          <p:nvPr/>
        </p:nvGraphicFramePr>
        <p:xfrm>
          <a:off x="1243013" y="3746500"/>
          <a:ext cx="5948362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2527" name="公式" r:id="rId5" imgW="3073320" imgH="393480" progId="Equation.3">
                  <p:embed/>
                </p:oleObj>
              </mc:Choice>
              <mc:Fallback>
                <p:oleObj name="公式" r:id="rId5" imgW="3073320" imgH="39348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43013" y="3746500"/>
                        <a:ext cx="5948362" cy="76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2144" name="Object 16"/>
          <p:cNvGraphicFramePr>
            <a:graphicFrameLocks noChangeAspect="1"/>
          </p:cNvGraphicFramePr>
          <p:nvPr/>
        </p:nvGraphicFramePr>
        <p:xfrm>
          <a:off x="635000" y="4498975"/>
          <a:ext cx="8255000" cy="712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2528" name="公式" r:id="rId7" imgW="4559040" imgH="393480" progId="Equation.3">
                  <p:embed/>
                </p:oleObj>
              </mc:Choice>
              <mc:Fallback>
                <p:oleObj name="公式" r:id="rId7" imgW="4559040" imgH="39348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5000" y="4498975"/>
                        <a:ext cx="8255000" cy="712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2145" name="Rectangle 17"/>
          <p:cNvSpPr>
            <a:spLocks noChangeArrowheads="1"/>
          </p:cNvSpPr>
          <p:nvPr/>
        </p:nvSpPr>
        <p:spPr bwMode="auto">
          <a:xfrm>
            <a:off x="496888" y="908661"/>
            <a:ext cx="798167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kumimoji="0" lang="en-US" altLang="zh-CN" sz="2400" b="1" u="none" dirty="0">
                <a:solidFill>
                  <a:srgbClr val="FF3300"/>
                </a:solidFill>
              </a:rPr>
              <a:t>8</a:t>
            </a:r>
            <a:r>
              <a:rPr kumimoji="0" lang="zh-CN" altLang="en-US" sz="2400" b="1" u="none" dirty="0">
                <a:solidFill>
                  <a:srgbClr val="FF3300"/>
                </a:solidFill>
              </a:rPr>
              <a:t>）</a:t>
            </a:r>
            <a:r>
              <a:rPr kumimoji="0" lang="zh-CN" altLang="en-US" sz="2400" b="1" u="none" dirty="0">
                <a:solidFill>
                  <a:schemeClr val="tx1"/>
                </a:solidFill>
              </a:rPr>
              <a:t>两个统计独立的随机信号，当</a:t>
            </a:r>
            <a:r>
              <a:rPr kumimoji="0" lang="zh-CN" altLang="en-US" sz="2400" b="1" u="none" dirty="0">
                <a:solidFill>
                  <a:srgbClr val="FF0000"/>
                </a:solidFill>
              </a:rPr>
              <a:t>均值为</a:t>
            </a:r>
            <a:r>
              <a:rPr kumimoji="0" lang="zh-CN" altLang="en-US" sz="2400" b="1" u="none" dirty="0" smtClean="0">
                <a:solidFill>
                  <a:srgbClr val="FF0000"/>
                </a:solidFill>
              </a:rPr>
              <a:t>零</a:t>
            </a:r>
            <a:r>
              <a:rPr kumimoji="0" lang="zh-CN" altLang="en-US" sz="2400" b="1" u="none" dirty="0" smtClean="0">
                <a:solidFill>
                  <a:schemeClr val="tx1"/>
                </a:solidFill>
              </a:rPr>
              <a:t>时，</a:t>
            </a:r>
            <a:r>
              <a:rPr kumimoji="0" lang="zh-CN" altLang="en-US" sz="2400" b="1" u="none" dirty="0">
                <a:solidFill>
                  <a:schemeClr val="tx1"/>
                </a:solidFill>
              </a:rPr>
              <a:t>则</a:t>
            </a:r>
            <a:r>
              <a:rPr kumimoji="0" lang="en-US" altLang="zh-CN" sz="2400" b="1" i="1" u="none" dirty="0" err="1">
                <a:solidFill>
                  <a:schemeClr val="tx1"/>
                </a:solidFill>
              </a:rPr>
              <a:t>R</a:t>
            </a:r>
            <a:r>
              <a:rPr kumimoji="0" lang="en-US" altLang="zh-CN" sz="2400" b="1" i="1" u="none" baseline="-25000" dirty="0" err="1">
                <a:solidFill>
                  <a:schemeClr val="tx1"/>
                </a:solidFill>
              </a:rPr>
              <a:t>xy</a:t>
            </a:r>
            <a:r>
              <a:rPr kumimoji="0" lang="en-US" altLang="zh-CN" sz="2400" b="1" u="none" dirty="0">
                <a:solidFill>
                  <a:schemeClr val="tx1"/>
                </a:solidFill>
              </a:rPr>
              <a:t>(</a:t>
            </a:r>
            <a:r>
              <a:rPr kumimoji="0" lang="en-US" altLang="zh-CN" sz="2400" b="1" i="1" u="none" dirty="0">
                <a:solidFill>
                  <a:schemeClr val="tx1"/>
                </a:solidFill>
              </a:rPr>
              <a:t>τ</a:t>
            </a:r>
            <a:r>
              <a:rPr kumimoji="0" lang="en-US" altLang="zh-CN" sz="2400" b="1" u="none" dirty="0">
                <a:solidFill>
                  <a:schemeClr val="tx1"/>
                </a:solidFill>
              </a:rPr>
              <a:t>)=0 </a:t>
            </a:r>
          </a:p>
        </p:txBody>
      </p:sp>
      <p:sp>
        <p:nvSpPr>
          <p:cNvPr id="432146" name="Rectangle 18"/>
          <p:cNvSpPr>
            <a:spLocks noChangeArrowheads="1"/>
          </p:cNvSpPr>
          <p:nvPr/>
        </p:nvSpPr>
        <p:spPr bwMode="auto">
          <a:xfrm>
            <a:off x="490538" y="1350193"/>
            <a:ext cx="8170862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kumimoji="0" lang="zh-CN" altLang="en-US" sz="2400" b="1" u="none" dirty="0">
                <a:solidFill>
                  <a:schemeClr val="tx1"/>
                </a:solidFill>
              </a:rPr>
              <a:t>将随机信号</a:t>
            </a:r>
            <a:r>
              <a:rPr kumimoji="0" lang="en-US" altLang="zh-CN" sz="2400" b="1" i="1" u="none" dirty="0">
                <a:solidFill>
                  <a:schemeClr val="tx1"/>
                </a:solidFill>
              </a:rPr>
              <a:t>x</a:t>
            </a:r>
            <a:r>
              <a:rPr kumimoji="0" lang="en-US" altLang="zh-CN" sz="2400" b="1" u="none" dirty="0">
                <a:solidFill>
                  <a:schemeClr val="tx1"/>
                </a:solidFill>
              </a:rPr>
              <a:t>(</a:t>
            </a:r>
            <a:r>
              <a:rPr kumimoji="0" lang="en-US" altLang="zh-CN" sz="2400" b="1" i="1" u="none" dirty="0">
                <a:solidFill>
                  <a:schemeClr val="tx1"/>
                </a:solidFill>
              </a:rPr>
              <a:t>t</a:t>
            </a:r>
            <a:r>
              <a:rPr kumimoji="0" lang="en-US" altLang="zh-CN" sz="2400" b="1" u="none" dirty="0">
                <a:solidFill>
                  <a:schemeClr val="tx1"/>
                </a:solidFill>
              </a:rPr>
              <a:t>)</a:t>
            </a:r>
            <a:r>
              <a:rPr kumimoji="0" lang="zh-CN" altLang="en-US" sz="2400" b="1" u="none" dirty="0">
                <a:solidFill>
                  <a:schemeClr val="tx1"/>
                </a:solidFill>
              </a:rPr>
              <a:t>和</a:t>
            </a:r>
            <a:r>
              <a:rPr kumimoji="0" lang="en-US" altLang="zh-CN" sz="2400" b="1" i="1" u="none" dirty="0">
                <a:solidFill>
                  <a:schemeClr val="tx1"/>
                </a:solidFill>
              </a:rPr>
              <a:t>y</a:t>
            </a:r>
            <a:r>
              <a:rPr kumimoji="0" lang="en-US" altLang="zh-CN" sz="2400" b="1" u="none" dirty="0">
                <a:solidFill>
                  <a:schemeClr val="tx1"/>
                </a:solidFill>
              </a:rPr>
              <a:t>(</a:t>
            </a:r>
            <a:r>
              <a:rPr kumimoji="0" lang="en-US" altLang="zh-CN" sz="2400" b="1" i="1" u="none" dirty="0">
                <a:solidFill>
                  <a:schemeClr val="tx1"/>
                </a:solidFill>
              </a:rPr>
              <a:t>t</a:t>
            </a:r>
            <a:r>
              <a:rPr kumimoji="0" lang="en-US" altLang="zh-CN" sz="2400" b="1" u="none" dirty="0">
                <a:solidFill>
                  <a:schemeClr val="tx1"/>
                </a:solidFill>
              </a:rPr>
              <a:t>)</a:t>
            </a:r>
            <a:r>
              <a:rPr kumimoji="0" lang="zh-CN" altLang="en-US" sz="2400" b="1" u="none" dirty="0">
                <a:solidFill>
                  <a:schemeClr val="tx1"/>
                </a:solidFill>
              </a:rPr>
              <a:t>表示为</a:t>
            </a:r>
            <a:r>
              <a:rPr kumimoji="0" lang="zh-CN" altLang="en-US" sz="2400" b="1" u="none" dirty="0">
                <a:solidFill>
                  <a:srgbClr val="FF0000"/>
                </a:solidFill>
              </a:rPr>
              <a:t>其均值和波动部分之和</a:t>
            </a:r>
            <a:r>
              <a:rPr kumimoji="0" lang="zh-CN" altLang="en-US" sz="2400" b="1" u="none" dirty="0">
                <a:solidFill>
                  <a:schemeClr val="tx1"/>
                </a:solidFill>
              </a:rPr>
              <a:t>的形式，即</a:t>
            </a:r>
          </a:p>
        </p:txBody>
      </p:sp>
      <p:graphicFrame>
        <p:nvGraphicFramePr>
          <p:cNvPr id="432147" name="Object 19"/>
          <p:cNvGraphicFramePr>
            <a:graphicFrameLocks noChangeAspect="1"/>
          </p:cNvGraphicFramePr>
          <p:nvPr/>
        </p:nvGraphicFramePr>
        <p:xfrm>
          <a:off x="2038350" y="1908175"/>
          <a:ext cx="1933575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2529" name="公式" r:id="rId9" imgW="1002865" imgH="241195" progId="Equation.3">
                  <p:embed/>
                </p:oleObj>
              </mc:Choice>
              <mc:Fallback>
                <p:oleObj name="公式" r:id="rId9" imgW="1002865" imgH="241195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38350" y="1908175"/>
                        <a:ext cx="1933575" cy="4603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2148" name="Object 20"/>
          <p:cNvGraphicFramePr>
            <a:graphicFrameLocks noChangeAspect="1"/>
          </p:cNvGraphicFramePr>
          <p:nvPr/>
        </p:nvGraphicFramePr>
        <p:xfrm>
          <a:off x="4643438" y="1857375"/>
          <a:ext cx="1987550" cy="496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2530" name="公式" r:id="rId11" imgW="1028254" imgH="253890" progId="Equation.3">
                  <p:embed/>
                </p:oleObj>
              </mc:Choice>
              <mc:Fallback>
                <p:oleObj name="公式" r:id="rId11" imgW="1028254" imgH="253890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3438" y="1857375"/>
                        <a:ext cx="1987550" cy="4968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2149" name="Object 21"/>
          <p:cNvGraphicFramePr>
            <a:graphicFrameLocks noChangeAspect="1"/>
          </p:cNvGraphicFramePr>
          <p:nvPr/>
        </p:nvGraphicFramePr>
        <p:xfrm>
          <a:off x="593725" y="2378075"/>
          <a:ext cx="3711575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2531" name="公式" r:id="rId13" imgW="1917360" imgH="393480" progId="Equation.3">
                  <p:embed/>
                </p:oleObj>
              </mc:Choice>
              <mc:Fallback>
                <p:oleObj name="公式" r:id="rId13" imgW="1917360" imgH="393480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3725" y="2378075"/>
                        <a:ext cx="3711575" cy="762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2150" name="Object 22"/>
          <p:cNvGraphicFramePr>
            <a:graphicFrameLocks noChangeAspect="1"/>
          </p:cNvGraphicFramePr>
          <p:nvPr/>
        </p:nvGraphicFramePr>
        <p:xfrm>
          <a:off x="704850" y="5319713"/>
          <a:ext cx="2089150" cy="515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2532" name="公式" r:id="rId15" imgW="1079280" imgH="266400" progId="Equation.3">
                  <p:embed/>
                </p:oleObj>
              </mc:Choice>
              <mc:Fallback>
                <p:oleObj name="公式" r:id="rId15" imgW="1079280" imgH="266400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4850" y="5319713"/>
                        <a:ext cx="2089150" cy="515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2151" name="Rectangle 23"/>
          <p:cNvSpPr>
            <a:spLocks noChangeArrowheads="1"/>
          </p:cNvSpPr>
          <p:nvPr/>
        </p:nvSpPr>
        <p:spPr bwMode="auto">
          <a:xfrm>
            <a:off x="2259013" y="5816600"/>
            <a:ext cx="37131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kumimoji="0" lang="zh-CN" altLang="en-US" sz="2400" b="1" u="none">
                <a:solidFill>
                  <a:srgbClr val="FF3300"/>
                </a:solidFill>
                <a:ea typeface="宋体" pitchFamily="2" charset="-122"/>
              </a:rPr>
              <a:t>当</a:t>
            </a:r>
            <a:r>
              <a:rPr kumimoji="0" lang="en-US" altLang="zh-CN" sz="2400" b="1" i="1" u="none">
                <a:solidFill>
                  <a:srgbClr val="FF3300"/>
                </a:solidFill>
                <a:ea typeface="宋体" pitchFamily="2" charset="-122"/>
              </a:rPr>
              <a:t>μ</a:t>
            </a:r>
            <a:r>
              <a:rPr kumimoji="0" lang="en-US" altLang="zh-CN" sz="2400" b="1" i="1" u="none" baseline="-25000">
                <a:solidFill>
                  <a:srgbClr val="FF3300"/>
                </a:solidFill>
                <a:ea typeface="宋体" pitchFamily="2" charset="-122"/>
              </a:rPr>
              <a:t>x</a:t>
            </a:r>
            <a:r>
              <a:rPr kumimoji="0" lang="en-US" altLang="zh-CN" sz="2400" b="1" i="1" u="none">
                <a:solidFill>
                  <a:srgbClr val="FF3300"/>
                </a:solidFill>
                <a:ea typeface="宋体" pitchFamily="2" charset="-122"/>
              </a:rPr>
              <a:t>=μ</a:t>
            </a:r>
            <a:r>
              <a:rPr kumimoji="0" lang="en-US" altLang="zh-CN" sz="2400" b="1" i="1" u="none" baseline="-25000">
                <a:solidFill>
                  <a:srgbClr val="FF3300"/>
                </a:solidFill>
                <a:ea typeface="宋体" pitchFamily="2" charset="-122"/>
              </a:rPr>
              <a:t>y</a:t>
            </a:r>
            <a:r>
              <a:rPr kumimoji="0" lang="en-US" altLang="zh-CN" sz="2400" b="1" i="1" u="none">
                <a:solidFill>
                  <a:srgbClr val="FF3300"/>
                </a:solidFill>
                <a:ea typeface="宋体" pitchFamily="2" charset="-122"/>
              </a:rPr>
              <a:t>=</a:t>
            </a:r>
            <a:r>
              <a:rPr kumimoji="0" lang="en-US" altLang="zh-CN" sz="2400" b="1" u="none">
                <a:solidFill>
                  <a:srgbClr val="FF3300"/>
                </a:solidFill>
                <a:ea typeface="宋体" pitchFamily="2" charset="-122"/>
              </a:rPr>
              <a:t>0</a:t>
            </a:r>
            <a:r>
              <a:rPr kumimoji="0" lang="zh-CN" altLang="en-US" sz="2400" b="1" u="none">
                <a:solidFill>
                  <a:srgbClr val="FF3300"/>
                </a:solidFill>
                <a:ea typeface="宋体" pitchFamily="2" charset="-122"/>
              </a:rPr>
              <a:t>时</a:t>
            </a:r>
            <a:r>
              <a:rPr kumimoji="0" lang="zh-CN" altLang="en-US" sz="2400" b="1" i="1" u="none">
                <a:solidFill>
                  <a:srgbClr val="FF3300"/>
                </a:solidFill>
                <a:ea typeface="宋体" pitchFamily="2" charset="-122"/>
              </a:rPr>
              <a:t>，</a:t>
            </a:r>
            <a:r>
              <a:rPr kumimoji="0" lang="en-US" altLang="zh-CN" sz="2400" b="1" i="1" u="none">
                <a:solidFill>
                  <a:srgbClr val="FF3300"/>
                </a:solidFill>
                <a:ea typeface="宋体" pitchFamily="2" charset="-122"/>
              </a:rPr>
              <a:t>R</a:t>
            </a:r>
            <a:r>
              <a:rPr kumimoji="0" lang="en-US" altLang="zh-CN" sz="2400" b="1" i="1" u="none" baseline="-25000">
                <a:solidFill>
                  <a:srgbClr val="FF3300"/>
                </a:solidFill>
                <a:ea typeface="宋体" pitchFamily="2" charset="-122"/>
              </a:rPr>
              <a:t>xy</a:t>
            </a:r>
            <a:r>
              <a:rPr kumimoji="0" lang="en-US" altLang="zh-CN" sz="2400" b="1" u="none">
                <a:solidFill>
                  <a:srgbClr val="FF3300"/>
                </a:solidFill>
                <a:ea typeface="宋体" pitchFamily="2" charset="-122"/>
              </a:rPr>
              <a:t>(</a:t>
            </a:r>
            <a:r>
              <a:rPr kumimoji="0" lang="en-US" altLang="zh-CN" sz="2400" b="1" i="1" u="none">
                <a:solidFill>
                  <a:srgbClr val="FF3300"/>
                </a:solidFill>
                <a:ea typeface="宋体" pitchFamily="2" charset="-122"/>
              </a:rPr>
              <a:t>τ</a:t>
            </a:r>
            <a:r>
              <a:rPr kumimoji="0" lang="en-US" altLang="zh-CN" sz="2400" b="1" u="none">
                <a:solidFill>
                  <a:srgbClr val="FF3300"/>
                </a:solidFill>
                <a:ea typeface="宋体" pitchFamily="2" charset="-122"/>
              </a:rPr>
              <a:t>)=0 </a:t>
            </a:r>
          </a:p>
        </p:txBody>
      </p:sp>
      <p:sp>
        <p:nvSpPr>
          <p:cNvPr id="432154" name="Rectangle 26"/>
          <p:cNvSpPr>
            <a:spLocks noChangeArrowheads="1"/>
          </p:cNvSpPr>
          <p:nvPr/>
        </p:nvSpPr>
        <p:spPr bwMode="auto">
          <a:xfrm>
            <a:off x="3259138" y="5327650"/>
            <a:ext cx="812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kumimoji="0" lang="en-US" altLang="zh-CN" sz="1800" b="1" u="none" dirty="0" smtClean="0">
                <a:solidFill>
                  <a:srgbClr val="FF3300"/>
                </a:solidFill>
                <a:ea typeface="宋体" pitchFamily="2" charset="-122"/>
              </a:rPr>
              <a:t>(</a:t>
            </a:r>
            <a:r>
              <a:rPr kumimoji="0" lang="en-US" altLang="zh-CN" sz="1800" b="1" u="none" dirty="0" smtClean="0">
                <a:solidFill>
                  <a:srgbClr val="FF3300"/>
                </a:solidFill>
              </a:rPr>
              <a:t>5-</a:t>
            </a:r>
            <a:r>
              <a:rPr kumimoji="0" lang="en-US" altLang="zh-CN" sz="1800" b="1" u="none" dirty="0" smtClean="0">
                <a:solidFill>
                  <a:srgbClr val="FF3300"/>
                </a:solidFill>
                <a:ea typeface="宋体" pitchFamily="2" charset="-122"/>
              </a:rPr>
              <a:t>23</a:t>
            </a:r>
            <a:r>
              <a:rPr kumimoji="0" lang="en-US" altLang="zh-CN" sz="1800" b="1" u="none" dirty="0">
                <a:solidFill>
                  <a:srgbClr val="FF3300"/>
                </a:solidFill>
                <a:ea typeface="宋体" pitchFamily="2" charset="-122"/>
              </a:rPr>
              <a:t>)</a:t>
            </a:r>
            <a:r>
              <a:rPr kumimoji="0" lang="en-US" altLang="zh-CN" sz="1800" u="none" dirty="0">
                <a:solidFill>
                  <a:srgbClr val="FF3300"/>
                </a:solidFill>
                <a:ea typeface="宋体" pitchFamily="2" charset="-122"/>
              </a:rPr>
              <a:t> </a:t>
            </a:r>
          </a:p>
        </p:txBody>
      </p:sp>
      <p:sp>
        <p:nvSpPr>
          <p:cNvPr id="14" name="Rectangle 4"/>
          <p:cNvSpPr>
            <a:spLocks noChangeArrowheads="1"/>
          </p:cNvSpPr>
          <p:nvPr/>
        </p:nvSpPr>
        <p:spPr bwMode="auto">
          <a:xfrm>
            <a:off x="379413" y="300831"/>
            <a:ext cx="3738562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 b="1" u="none" dirty="0" smtClean="0">
                <a:solidFill>
                  <a:srgbClr val="800000"/>
                </a:solidFill>
                <a:ea typeface="宋体" pitchFamily="2" charset="-122"/>
              </a:rPr>
              <a:t>5.3 </a:t>
            </a:r>
            <a:r>
              <a:rPr lang="zh-CN" altLang="en-US" sz="3200" b="1" u="none" dirty="0">
                <a:solidFill>
                  <a:srgbClr val="800000"/>
                </a:solidFill>
                <a:ea typeface="宋体" pitchFamily="2" charset="-122"/>
              </a:rPr>
              <a:t>相关分析及应用</a:t>
            </a:r>
            <a:r>
              <a:rPr lang="zh-CN" altLang="en-US" b="1" u="none" dirty="0">
                <a:solidFill>
                  <a:srgbClr val="000066"/>
                </a:solidFill>
                <a:ea typeface="宋体" pitchFamily="2" charset="-122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2154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746" name="Rectangle 2"/>
          <p:cNvSpPr>
            <a:spLocks noChangeArrowheads="1"/>
          </p:cNvSpPr>
          <p:nvPr/>
        </p:nvSpPr>
        <p:spPr bwMode="auto">
          <a:xfrm>
            <a:off x="563563" y="937207"/>
            <a:ext cx="289053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b="1" u="none" dirty="0">
                <a:solidFill>
                  <a:srgbClr val="000066"/>
                </a:solidFill>
                <a:latin typeface="黑体" pitchFamily="49" charset="-122"/>
                <a:ea typeface="黑体" pitchFamily="49" charset="-122"/>
              </a:rPr>
              <a:t>相关函数的性质</a:t>
            </a:r>
            <a:r>
              <a:rPr lang="zh-CN" altLang="en-US" b="1" u="none" dirty="0">
                <a:solidFill>
                  <a:srgbClr val="003399"/>
                </a:solidFill>
                <a:latin typeface="黑体" pitchFamily="49" charset="-122"/>
                <a:ea typeface="黑体" pitchFamily="49" charset="-122"/>
              </a:rPr>
              <a:t> </a:t>
            </a:r>
          </a:p>
        </p:txBody>
      </p:sp>
      <p:sp>
        <p:nvSpPr>
          <p:cNvPr id="543747" name="Rectangle 3"/>
          <p:cNvSpPr>
            <a:spLocks noChangeArrowheads="1"/>
          </p:cNvSpPr>
          <p:nvPr/>
        </p:nvSpPr>
        <p:spPr bwMode="auto">
          <a:xfrm>
            <a:off x="790575" y="1590675"/>
            <a:ext cx="7620000" cy="4246563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118800" rIns="92075" bIns="46038"/>
          <a:lstStyle/>
          <a:p>
            <a:pPr marL="342900" indent="-342900">
              <a:spcBef>
                <a:spcPct val="20000"/>
              </a:spcBef>
            </a:pPr>
            <a:r>
              <a:rPr lang="zh-CN" altLang="en-US" sz="2400" b="1" u="none" dirty="0">
                <a:solidFill>
                  <a:srgbClr val="000066"/>
                </a:solidFill>
                <a:ea typeface="黑体" pitchFamily="49" charset="-122"/>
                <a:cs typeface="Times New Roman" pitchFamily="18" charset="0"/>
              </a:rPr>
              <a:t>（</a:t>
            </a:r>
            <a:r>
              <a:rPr lang="en-US" altLang="zh-CN" sz="2400" b="1" u="none" dirty="0">
                <a:solidFill>
                  <a:srgbClr val="000066"/>
                </a:solidFill>
                <a:ea typeface="黑体" pitchFamily="49" charset="-122"/>
                <a:cs typeface="Times New Roman" pitchFamily="18" charset="0"/>
              </a:rPr>
              <a:t>1</a:t>
            </a:r>
            <a:r>
              <a:rPr lang="zh-CN" altLang="en-US" sz="2400" b="1" u="none" dirty="0">
                <a:solidFill>
                  <a:srgbClr val="000066"/>
                </a:solidFill>
                <a:ea typeface="黑体" pitchFamily="49" charset="-122"/>
                <a:cs typeface="Times New Roman" pitchFamily="18" charset="0"/>
              </a:rPr>
              <a:t>）自相关函数是 </a:t>
            </a:r>
            <a:r>
              <a:rPr lang="zh-CN" altLang="en-US" sz="2400" b="1" u="none" dirty="0">
                <a:solidFill>
                  <a:srgbClr val="000066"/>
                </a:solidFill>
                <a:ea typeface="黑体" pitchFamily="49" charset="-122"/>
                <a:cs typeface="Times New Roman" pitchFamily="18" charset="0"/>
                <a:sym typeface="Symbol" pitchFamily="18" charset="2"/>
              </a:rPr>
              <a:t> 的</a:t>
            </a:r>
            <a:r>
              <a:rPr lang="zh-CN" altLang="en-US" sz="2400" b="1" u="none" dirty="0">
                <a:solidFill>
                  <a:srgbClr val="FF0000"/>
                </a:solidFill>
                <a:ea typeface="黑体" pitchFamily="49" charset="-122"/>
                <a:cs typeface="Times New Roman" pitchFamily="18" charset="0"/>
                <a:sym typeface="Symbol" pitchFamily="18" charset="2"/>
              </a:rPr>
              <a:t>偶函数</a:t>
            </a:r>
            <a:r>
              <a:rPr lang="zh-CN" altLang="en-US" sz="2400" b="1" u="none" dirty="0">
                <a:solidFill>
                  <a:srgbClr val="000066"/>
                </a:solidFill>
                <a:ea typeface="黑体" pitchFamily="49" charset="-122"/>
                <a:cs typeface="Times New Roman" pitchFamily="18" charset="0"/>
                <a:sym typeface="Symbol" pitchFamily="18" charset="2"/>
              </a:rPr>
              <a:t>，</a:t>
            </a:r>
            <a:r>
              <a:rPr lang="en-US" altLang="zh-CN" sz="2400" b="1" u="none" dirty="0">
                <a:solidFill>
                  <a:srgbClr val="000066"/>
                </a:solidFill>
                <a:ea typeface="黑体" pitchFamily="49" charset="-122"/>
                <a:cs typeface="Times New Roman" pitchFamily="18" charset="0"/>
                <a:sym typeface="Symbol" pitchFamily="18" charset="2"/>
              </a:rPr>
              <a:t>R</a:t>
            </a:r>
            <a:r>
              <a:rPr lang="en-US" altLang="zh-CN" sz="2400" b="1" u="none" baseline="-30000" dirty="0">
                <a:solidFill>
                  <a:srgbClr val="000066"/>
                </a:solidFill>
                <a:ea typeface="黑体" pitchFamily="49" charset="-122"/>
                <a:cs typeface="Times New Roman" pitchFamily="18" charset="0"/>
                <a:sym typeface="Symbol" pitchFamily="18" charset="2"/>
              </a:rPr>
              <a:t>X</a:t>
            </a:r>
            <a:r>
              <a:rPr lang="en-US" altLang="zh-CN" sz="2400" b="1" u="none" dirty="0">
                <a:solidFill>
                  <a:srgbClr val="000066"/>
                </a:solidFill>
                <a:ea typeface="黑体" pitchFamily="49" charset="-122"/>
                <a:cs typeface="Times New Roman" pitchFamily="18" charset="0"/>
                <a:sym typeface="Symbol" pitchFamily="18" charset="2"/>
              </a:rPr>
              <a:t>()=R</a:t>
            </a:r>
            <a:r>
              <a:rPr lang="en-US" altLang="zh-CN" sz="2400" b="1" u="none" baseline="-30000" dirty="0">
                <a:solidFill>
                  <a:srgbClr val="000066"/>
                </a:solidFill>
                <a:ea typeface="黑体" pitchFamily="49" charset="-122"/>
                <a:cs typeface="Times New Roman" pitchFamily="18" charset="0"/>
                <a:sym typeface="Symbol" pitchFamily="18" charset="2"/>
              </a:rPr>
              <a:t>x</a:t>
            </a:r>
            <a:r>
              <a:rPr lang="en-US" altLang="zh-CN" sz="2400" b="1" u="none" dirty="0">
                <a:solidFill>
                  <a:srgbClr val="000066"/>
                </a:solidFill>
                <a:ea typeface="黑体" pitchFamily="49" charset="-122"/>
                <a:cs typeface="Times New Roman" pitchFamily="18" charset="0"/>
                <a:sym typeface="Symbol" pitchFamily="18" charset="2"/>
              </a:rPr>
              <a:t>(- )</a:t>
            </a:r>
            <a:r>
              <a:rPr lang="zh-CN" altLang="en-US" sz="2400" b="1" u="none" dirty="0">
                <a:solidFill>
                  <a:srgbClr val="000066"/>
                </a:solidFill>
                <a:ea typeface="黑体" pitchFamily="49" charset="-122"/>
                <a:cs typeface="Times New Roman" pitchFamily="18" charset="0"/>
                <a:sym typeface="Symbol" pitchFamily="18" charset="2"/>
              </a:rPr>
              <a:t>；          </a:t>
            </a:r>
          </a:p>
          <a:p>
            <a:pPr marL="342900" indent="-342900">
              <a:spcBef>
                <a:spcPct val="20000"/>
              </a:spcBef>
            </a:pPr>
            <a:r>
              <a:rPr lang="zh-CN" altLang="en-US" sz="2400" b="1" u="none" dirty="0">
                <a:solidFill>
                  <a:srgbClr val="000066"/>
                </a:solidFill>
                <a:ea typeface="黑体" pitchFamily="49" charset="-122"/>
                <a:cs typeface="Times New Roman" pitchFamily="18" charset="0"/>
                <a:sym typeface="Symbol" pitchFamily="18" charset="2"/>
              </a:rPr>
              <a:t>（</a:t>
            </a:r>
            <a:r>
              <a:rPr lang="en-US" altLang="zh-CN" sz="2400" b="1" u="none" dirty="0">
                <a:solidFill>
                  <a:srgbClr val="000066"/>
                </a:solidFill>
                <a:ea typeface="黑体" pitchFamily="49" charset="-122"/>
                <a:cs typeface="Times New Roman" pitchFamily="18" charset="0"/>
                <a:sym typeface="Symbol" pitchFamily="18" charset="2"/>
              </a:rPr>
              <a:t>2</a:t>
            </a:r>
            <a:r>
              <a:rPr lang="zh-CN" altLang="en-US" sz="2400" b="1" u="none" dirty="0">
                <a:solidFill>
                  <a:srgbClr val="000066"/>
                </a:solidFill>
                <a:ea typeface="黑体" pitchFamily="49" charset="-122"/>
                <a:cs typeface="Times New Roman" pitchFamily="18" charset="0"/>
                <a:sym typeface="Symbol" pitchFamily="18" charset="2"/>
              </a:rPr>
              <a:t>）</a:t>
            </a:r>
            <a:r>
              <a:rPr lang="zh-CN" altLang="en-US" sz="2400" b="1" u="none" dirty="0">
                <a:solidFill>
                  <a:srgbClr val="FF0000"/>
                </a:solidFill>
                <a:ea typeface="黑体" pitchFamily="49" charset="-122"/>
                <a:cs typeface="Times New Roman" pitchFamily="18" charset="0"/>
                <a:sym typeface="Symbol" pitchFamily="18" charset="2"/>
              </a:rPr>
              <a:t>当 </a:t>
            </a:r>
            <a:r>
              <a:rPr lang="en-US" altLang="zh-CN" sz="2400" b="1" u="none" dirty="0">
                <a:solidFill>
                  <a:srgbClr val="FF0000"/>
                </a:solidFill>
                <a:ea typeface="黑体" pitchFamily="49" charset="-122"/>
                <a:cs typeface="Times New Roman" pitchFamily="18" charset="0"/>
                <a:sym typeface="Symbol" pitchFamily="18" charset="2"/>
              </a:rPr>
              <a:t>=0 </a:t>
            </a:r>
            <a:r>
              <a:rPr lang="zh-CN" altLang="en-US" sz="2400" b="1" u="none" dirty="0">
                <a:solidFill>
                  <a:srgbClr val="FF0000"/>
                </a:solidFill>
                <a:ea typeface="黑体" pitchFamily="49" charset="-122"/>
                <a:cs typeface="Times New Roman" pitchFamily="18" charset="0"/>
                <a:sym typeface="Symbol" pitchFamily="18" charset="2"/>
              </a:rPr>
              <a:t>时</a:t>
            </a:r>
            <a:r>
              <a:rPr lang="zh-CN" altLang="en-US" sz="2400" b="1" u="none" dirty="0">
                <a:solidFill>
                  <a:srgbClr val="000066"/>
                </a:solidFill>
                <a:ea typeface="黑体" pitchFamily="49" charset="-122"/>
                <a:cs typeface="Times New Roman" pitchFamily="18" charset="0"/>
                <a:sym typeface="Symbol" pitchFamily="18" charset="2"/>
              </a:rPr>
              <a:t>，</a:t>
            </a:r>
            <a:r>
              <a:rPr lang="zh-CN" altLang="en-US" sz="2400" b="1" u="none" dirty="0">
                <a:solidFill>
                  <a:srgbClr val="000066"/>
                </a:solidFill>
                <a:ea typeface="黑体" pitchFamily="49" charset="-122"/>
                <a:cs typeface="Times New Roman" pitchFamily="18" charset="0"/>
              </a:rPr>
              <a:t>自相关函数具有</a:t>
            </a:r>
            <a:r>
              <a:rPr lang="zh-CN" altLang="en-US" sz="2400" b="1" u="none" dirty="0">
                <a:solidFill>
                  <a:srgbClr val="FF0000"/>
                </a:solidFill>
                <a:ea typeface="黑体" pitchFamily="49" charset="-122"/>
                <a:cs typeface="Times New Roman" pitchFamily="18" charset="0"/>
              </a:rPr>
              <a:t>最大值</a:t>
            </a:r>
            <a:r>
              <a:rPr lang="zh-CN" altLang="en-US" sz="2400" b="1" u="none" dirty="0">
                <a:solidFill>
                  <a:srgbClr val="000066"/>
                </a:solidFill>
                <a:ea typeface="黑体" pitchFamily="49" charset="-122"/>
                <a:cs typeface="Times New Roman" pitchFamily="18" charset="0"/>
              </a:rPr>
              <a:t>。</a:t>
            </a:r>
          </a:p>
          <a:p>
            <a:pPr marL="342900" indent="-342900">
              <a:spcBef>
                <a:spcPct val="20000"/>
              </a:spcBef>
            </a:pPr>
            <a:r>
              <a:rPr lang="zh-CN" altLang="en-US" sz="2400" b="1" u="none" dirty="0">
                <a:solidFill>
                  <a:srgbClr val="000066"/>
                </a:solidFill>
                <a:ea typeface="黑体" pitchFamily="49" charset="-122"/>
                <a:cs typeface="Times New Roman" pitchFamily="18" charset="0"/>
              </a:rPr>
              <a:t>（</a:t>
            </a:r>
            <a:r>
              <a:rPr lang="en-US" altLang="zh-CN" sz="2400" b="1" u="none" dirty="0">
                <a:solidFill>
                  <a:srgbClr val="000066"/>
                </a:solidFill>
                <a:ea typeface="黑体" pitchFamily="49" charset="-122"/>
                <a:cs typeface="Times New Roman" pitchFamily="18" charset="0"/>
              </a:rPr>
              <a:t>3</a:t>
            </a:r>
            <a:r>
              <a:rPr lang="zh-CN" altLang="en-US" sz="2400" b="1" u="none" dirty="0">
                <a:solidFill>
                  <a:srgbClr val="000066"/>
                </a:solidFill>
                <a:ea typeface="黑体" pitchFamily="49" charset="-122"/>
                <a:cs typeface="Times New Roman" pitchFamily="18" charset="0"/>
              </a:rPr>
              <a:t>）周期信号的自相关函数仍然是</a:t>
            </a:r>
            <a:r>
              <a:rPr lang="zh-CN" altLang="en-US" sz="2400" b="1" u="none" dirty="0">
                <a:solidFill>
                  <a:srgbClr val="FF0000"/>
                </a:solidFill>
                <a:ea typeface="黑体" pitchFamily="49" charset="-122"/>
                <a:cs typeface="Times New Roman" pitchFamily="18" charset="0"/>
              </a:rPr>
              <a:t>同频率</a:t>
            </a:r>
            <a:r>
              <a:rPr lang="zh-CN" altLang="en-US" sz="2400" b="1" u="none" dirty="0">
                <a:solidFill>
                  <a:srgbClr val="000066"/>
                </a:solidFill>
                <a:ea typeface="黑体" pitchFamily="49" charset="-122"/>
                <a:cs typeface="Times New Roman" pitchFamily="18" charset="0"/>
              </a:rPr>
              <a:t>的周期</a:t>
            </a:r>
            <a:r>
              <a:rPr lang="zh-CN" altLang="en-US" sz="2400" b="1" u="none" dirty="0" smtClean="0">
                <a:solidFill>
                  <a:srgbClr val="000066"/>
                </a:solidFill>
                <a:ea typeface="黑体" pitchFamily="49" charset="-122"/>
                <a:cs typeface="Times New Roman" pitchFamily="18" charset="0"/>
              </a:rPr>
              <a:t>信号，</a:t>
            </a:r>
            <a:endParaRPr lang="en-US" altLang="zh-CN" sz="2400" b="1" u="none" dirty="0" smtClean="0">
              <a:solidFill>
                <a:srgbClr val="000066"/>
              </a:solidFill>
              <a:ea typeface="黑体" pitchFamily="49" charset="-122"/>
              <a:cs typeface="Times New Roman" pitchFamily="18" charset="0"/>
            </a:endParaRPr>
          </a:p>
          <a:p>
            <a:pPr marL="342900" indent="-342900">
              <a:spcBef>
                <a:spcPct val="20000"/>
              </a:spcBef>
            </a:pPr>
            <a:r>
              <a:rPr lang="en-US" altLang="zh-CN" sz="2400" b="1" u="none" dirty="0">
                <a:solidFill>
                  <a:srgbClr val="000066"/>
                </a:solidFill>
                <a:ea typeface="黑体" pitchFamily="49" charset="-122"/>
                <a:cs typeface="Times New Roman" pitchFamily="18" charset="0"/>
              </a:rPr>
              <a:t> </a:t>
            </a:r>
            <a:r>
              <a:rPr lang="en-US" altLang="zh-CN" sz="2400" b="1" u="none" dirty="0" smtClean="0">
                <a:solidFill>
                  <a:srgbClr val="000066"/>
                </a:solidFill>
                <a:ea typeface="黑体" pitchFamily="49" charset="-122"/>
                <a:cs typeface="Times New Roman" pitchFamily="18" charset="0"/>
              </a:rPr>
              <a:t>     </a:t>
            </a:r>
            <a:r>
              <a:rPr lang="zh-CN" altLang="en-US" sz="2400" b="1" u="none" dirty="0" smtClean="0">
                <a:solidFill>
                  <a:srgbClr val="000066"/>
                </a:solidFill>
                <a:ea typeface="黑体" pitchFamily="49" charset="-122"/>
                <a:cs typeface="Times New Roman" pitchFamily="18" charset="0"/>
              </a:rPr>
              <a:t>   但</a:t>
            </a:r>
            <a:r>
              <a:rPr lang="zh-CN" altLang="en-US" sz="2400" b="1" u="none" dirty="0">
                <a:solidFill>
                  <a:srgbClr val="FF0000"/>
                </a:solidFill>
                <a:ea typeface="黑体" pitchFamily="49" charset="-122"/>
                <a:cs typeface="Times New Roman" pitchFamily="18" charset="0"/>
              </a:rPr>
              <a:t>不保留原信号的相位</a:t>
            </a:r>
            <a:r>
              <a:rPr lang="zh-CN" altLang="en-US" sz="2400" b="1" u="none" dirty="0">
                <a:solidFill>
                  <a:srgbClr val="000066"/>
                </a:solidFill>
                <a:ea typeface="黑体" pitchFamily="49" charset="-122"/>
                <a:cs typeface="Times New Roman" pitchFamily="18" charset="0"/>
              </a:rPr>
              <a:t>信息。</a:t>
            </a:r>
          </a:p>
          <a:p>
            <a:pPr marL="342900" indent="-342900">
              <a:spcBef>
                <a:spcPct val="20000"/>
              </a:spcBef>
            </a:pPr>
            <a:r>
              <a:rPr lang="zh-CN" altLang="en-US" sz="2400" b="1" u="none" dirty="0">
                <a:solidFill>
                  <a:srgbClr val="000066"/>
                </a:solidFill>
                <a:ea typeface="黑体" pitchFamily="49" charset="-122"/>
                <a:cs typeface="Times New Roman" pitchFamily="18" charset="0"/>
              </a:rPr>
              <a:t>（</a:t>
            </a:r>
            <a:r>
              <a:rPr lang="en-US" altLang="zh-CN" sz="2400" b="1" u="none" dirty="0">
                <a:solidFill>
                  <a:srgbClr val="000066"/>
                </a:solidFill>
                <a:ea typeface="黑体" pitchFamily="49" charset="-122"/>
                <a:cs typeface="Times New Roman" pitchFamily="18" charset="0"/>
              </a:rPr>
              <a:t>4</a:t>
            </a:r>
            <a:r>
              <a:rPr lang="zh-CN" altLang="en-US" sz="2400" b="1" u="none" dirty="0">
                <a:solidFill>
                  <a:srgbClr val="000066"/>
                </a:solidFill>
                <a:ea typeface="黑体" pitchFamily="49" charset="-122"/>
                <a:cs typeface="Times New Roman" pitchFamily="18" charset="0"/>
              </a:rPr>
              <a:t>）两周期信号的互相关函数仍然是</a:t>
            </a:r>
            <a:r>
              <a:rPr lang="zh-CN" altLang="en-US" sz="2400" b="1" u="none" dirty="0">
                <a:solidFill>
                  <a:srgbClr val="FF0000"/>
                </a:solidFill>
                <a:ea typeface="黑体" pitchFamily="49" charset="-122"/>
                <a:cs typeface="Times New Roman" pitchFamily="18" charset="0"/>
              </a:rPr>
              <a:t>同频率</a:t>
            </a:r>
            <a:r>
              <a:rPr lang="zh-CN" altLang="en-US" sz="2400" b="1" u="none" dirty="0">
                <a:solidFill>
                  <a:srgbClr val="000066"/>
                </a:solidFill>
                <a:ea typeface="黑体" pitchFamily="49" charset="-122"/>
                <a:cs typeface="Times New Roman" pitchFamily="18" charset="0"/>
              </a:rPr>
              <a:t>的周期信</a:t>
            </a:r>
          </a:p>
          <a:p>
            <a:pPr marL="342900" indent="-342900">
              <a:spcBef>
                <a:spcPct val="20000"/>
              </a:spcBef>
            </a:pPr>
            <a:r>
              <a:rPr lang="zh-CN" altLang="en-US" sz="2400" b="1" u="none" dirty="0">
                <a:solidFill>
                  <a:srgbClr val="000066"/>
                </a:solidFill>
                <a:ea typeface="黑体" pitchFamily="49" charset="-122"/>
                <a:cs typeface="Times New Roman" pitchFamily="18" charset="0"/>
              </a:rPr>
              <a:t>          号，且</a:t>
            </a:r>
            <a:r>
              <a:rPr lang="zh-CN" altLang="en-US" sz="2400" b="1" u="none" dirty="0">
                <a:solidFill>
                  <a:srgbClr val="FF0000"/>
                </a:solidFill>
                <a:ea typeface="黑体" pitchFamily="49" charset="-122"/>
                <a:cs typeface="Times New Roman" pitchFamily="18" charset="0"/>
              </a:rPr>
              <a:t>保留原了信号的相位差</a:t>
            </a:r>
            <a:r>
              <a:rPr lang="zh-CN" altLang="en-US" sz="2400" b="1" u="none" dirty="0">
                <a:solidFill>
                  <a:srgbClr val="000066"/>
                </a:solidFill>
                <a:ea typeface="黑体" pitchFamily="49" charset="-122"/>
                <a:cs typeface="Times New Roman" pitchFamily="18" charset="0"/>
              </a:rPr>
              <a:t>信息。</a:t>
            </a:r>
          </a:p>
          <a:p>
            <a:pPr marL="342900" indent="-342900">
              <a:spcBef>
                <a:spcPct val="20000"/>
              </a:spcBef>
            </a:pPr>
            <a:r>
              <a:rPr lang="zh-CN" altLang="en-US" sz="2400" b="1" u="none" dirty="0">
                <a:solidFill>
                  <a:srgbClr val="000066"/>
                </a:solidFill>
                <a:ea typeface="黑体" pitchFamily="49" charset="-122"/>
                <a:cs typeface="Times New Roman" pitchFamily="18" charset="0"/>
              </a:rPr>
              <a:t>（</a:t>
            </a:r>
            <a:r>
              <a:rPr lang="en-US" altLang="zh-CN" sz="2400" b="1" u="none" dirty="0">
                <a:solidFill>
                  <a:srgbClr val="000066"/>
                </a:solidFill>
                <a:ea typeface="黑体" pitchFamily="49" charset="-122"/>
                <a:cs typeface="Times New Roman" pitchFamily="18" charset="0"/>
              </a:rPr>
              <a:t>5</a:t>
            </a:r>
            <a:r>
              <a:rPr lang="zh-CN" altLang="en-US" sz="2400" b="1" u="none" dirty="0">
                <a:solidFill>
                  <a:srgbClr val="000066"/>
                </a:solidFill>
                <a:ea typeface="黑体" pitchFamily="49" charset="-122"/>
                <a:cs typeface="Times New Roman" pitchFamily="18" charset="0"/>
              </a:rPr>
              <a:t>）两个</a:t>
            </a:r>
            <a:r>
              <a:rPr lang="zh-CN" altLang="en-US" sz="2400" b="1" u="none" dirty="0">
                <a:solidFill>
                  <a:srgbClr val="FF0000"/>
                </a:solidFill>
                <a:ea typeface="黑体" pitchFamily="49" charset="-122"/>
                <a:cs typeface="Times New Roman" pitchFamily="18" charset="0"/>
              </a:rPr>
              <a:t>非同频率</a:t>
            </a:r>
            <a:r>
              <a:rPr lang="zh-CN" altLang="en-US" sz="2400" b="1" u="none" dirty="0">
                <a:solidFill>
                  <a:srgbClr val="000066"/>
                </a:solidFill>
                <a:ea typeface="黑体" pitchFamily="49" charset="-122"/>
                <a:cs typeface="Times New Roman" pitchFamily="18" charset="0"/>
              </a:rPr>
              <a:t>的周期信号</a:t>
            </a:r>
            <a:r>
              <a:rPr lang="zh-CN" altLang="en-US" sz="2400" b="1" u="none" dirty="0">
                <a:solidFill>
                  <a:srgbClr val="FF0000"/>
                </a:solidFill>
                <a:ea typeface="黑体" pitchFamily="49" charset="-122"/>
                <a:cs typeface="Times New Roman" pitchFamily="18" charset="0"/>
              </a:rPr>
              <a:t>互不相关</a:t>
            </a:r>
            <a:r>
              <a:rPr lang="zh-CN" altLang="en-US" sz="2400" b="1" u="none" dirty="0">
                <a:solidFill>
                  <a:srgbClr val="000066"/>
                </a:solidFill>
                <a:ea typeface="黑体" pitchFamily="49" charset="-122"/>
                <a:cs typeface="Times New Roman" pitchFamily="18" charset="0"/>
              </a:rPr>
              <a:t>。 </a:t>
            </a:r>
          </a:p>
          <a:p>
            <a:pPr marL="342900" indent="-342900">
              <a:spcBef>
                <a:spcPct val="20000"/>
              </a:spcBef>
            </a:pPr>
            <a:r>
              <a:rPr lang="zh-CN" altLang="en-US" sz="2400" b="1" u="none" dirty="0">
                <a:solidFill>
                  <a:srgbClr val="000066"/>
                </a:solidFill>
                <a:ea typeface="黑体" pitchFamily="49" charset="-122"/>
                <a:cs typeface="Times New Roman" pitchFamily="18" charset="0"/>
              </a:rPr>
              <a:t>（</a:t>
            </a:r>
            <a:r>
              <a:rPr lang="en-US" altLang="zh-CN" sz="2400" b="1" u="none" dirty="0">
                <a:solidFill>
                  <a:srgbClr val="000066"/>
                </a:solidFill>
                <a:ea typeface="黑体" pitchFamily="49" charset="-122"/>
                <a:cs typeface="Times New Roman" pitchFamily="18" charset="0"/>
              </a:rPr>
              <a:t>6</a:t>
            </a:r>
            <a:r>
              <a:rPr lang="zh-CN" altLang="en-US" sz="2400" b="1" u="none" dirty="0">
                <a:solidFill>
                  <a:srgbClr val="000066"/>
                </a:solidFill>
                <a:ea typeface="黑体" pitchFamily="49" charset="-122"/>
                <a:cs typeface="Times New Roman" pitchFamily="18" charset="0"/>
              </a:rPr>
              <a:t>）随机信号的</a:t>
            </a:r>
            <a:r>
              <a:rPr lang="zh-CN" altLang="en-US" sz="2400" b="1" u="none" dirty="0">
                <a:solidFill>
                  <a:srgbClr val="FF0000"/>
                </a:solidFill>
                <a:ea typeface="黑体" pitchFamily="49" charset="-122"/>
                <a:cs typeface="Times New Roman" pitchFamily="18" charset="0"/>
              </a:rPr>
              <a:t>自相关函数将随 </a:t>
            </a:r>
            <a:r>
              <a:rPr lang="zh-CN" altLang="en-US" sz="2400" b="1" u="none" dirty="0">
                <a:solidFill>
                  <a:srgbClr val="FF0000"/>
                </a:solidFill>
                <a:ea typeface="黑体" pitchFamily="49" charset="-122"/>
                <a:cs typeface="Times New Roman" pitchFamily="18" charset="0"/>
                <a:sym typeface="Symbol" pitchFamily="18" charset="2"/>
              </a:rPr>
              <a:t> 的增大快速衰减</a:t>
            </a:r>
            <a:r>
              <a:rPr lang="zh-CN" altLang="en-US" sz="2400" b="1" u="none" dirty="0">
                <a:solidFill>
                  <a:srgbClr val="000066"/>
                </a:solidFill>
                <a:ea typeface="黑体" pitchFamily="49" charset="-122"/>
                <a:cs typeface="Times New Roman" pitchFamily="18" charset="0"/>
                <a:sym typeface="Symbol" pitchFamily="18" charset="2"/>
              </a:rPr>
              <a:t>。</a:t>
            </a:r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379413" y="300831"/>
            <a:ext cx="3738562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 b="1" u="none" dirty="0" smtClean="0">
                <a:solidFill>
                  <a:srgbClr val="800000"/>
                </a:solidFill>
                <a:ea typeface="宋体" pitchFamily="2" charset="-122"/>
              </a:rPr>
              <a:t>5.3 </a:t>
            </a:r>
            <a:r>
              <a:rPr lang="zh-CN" altLang="en-US" sz="3200" b="1" u="none" dirty="0">
                <a:solidFill>
                  <a:srgbClr val="800000"/>
                </a:solidFill>
                <a:ea typeface="宋体" pitchFamily="2" charset="-122"/>
              </a:rPr>
              <a:t>相关分析及应用</a:t>
            </a:r>
            <a:r>
              <a:rPr lang="zh-CN" altLang="en-US" b="1" u="none" dirty="0">
                <a:solidFill>
                  <a:srgbClr val="000066"/>
                </a:solidFill>
                <a:ea typeface="宋体" pitchFamily="2" charset="-122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4203" name="Picture 27" descr="y03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61" t="5055" b="2950"/>
          <a:stretch>
            <a:fillRect/>
          </a:stretch>
        </p:blipFill>
        <p:spPr bwMode="auto">
          <a:xfrm>
            <a:off x="2940050" y="3800511"/>
            <a:ext cx="5540375" cy="2227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434205" name="Object 29"/>
          <p:cNvGraphicFramePr>
            <a:graphicFrameLocks noChangeAspect="1"/>
          </p:cNvGraphicFramePr>
          <p:nvPr/>
        </p:nvGraphicFramePr>
        <p:xfrm>
          <a:off x="560388" y="2552700"/>
          <a:ext cx="5570537" cy="1577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4257" name="Visio" r:id="rId4" imgW="3021482" imgH="854964" progId="Visio.Drawing.6">
                  <p:embed/>
                </p:oleObj>
              </mc:Choice>
              <mc:Fallback>
                <p:oleObj name="Visio" r:id="rId4" imgW="3021482" imgH="854964" progId="Visio.Drawing.6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0388" y="2552700"/>
                        <a:ext cx="5570537" cy="157797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4196" name="Rectangle 20"/>
          <p:cNvSpPr>
            <a:spLocks noChangeArrowheads="1"/>
          </p:cNvSpPr>
          <p:nvPr/>
        </p:nvSpPr>
        <p:spPr bwMode="auto">
          <a:xfrm>
            <a:off x="344488" y="943090"/>
            <a:ext cx="4594225" cy="466725"/>
          </a:xfrm>
          <a:prstGeom prst="rect">
            <a:avLst/>
          </a:prstGeom>
          <a:solidFill>
            <a:srgbClr val="CC99FF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 u="none">
                <a:solidFill>
                  <a:schemeClr val="tx1"/>
                </a:solidFill>
                <a:ea typeface="楷体_GB2312" pitchFamily="49" charset="-122"/>
              </a:rPr>
              <a:t>(2).</a:t>
            </a:r>
            <a:r>
              <a:rPr lang="zh-CN" altLang="en-US" sz="2400" b="1" u="none">
                <a:solidFill>
                  <a:schemeClr val="tx1"/>
                </a:solidFill>
                <a:ea typeface="楷体_GB2312" pitchFamily="49" charset="-122"/>
              </a:rPr>
              <a:t>互相关函数</a:t>
            </a:r>
            <a:r>
              <a:rPr lang="en-US" altLang="zh-CN" sz="2400" b="1" u="none">
                <a:solidFill>
                  <a:schemeClr val="tx1"/>
                </a:solidFill>
                <a:ea typeface="楷体_GB2312" pitchFamily="49" charset="-122"/>
              </a:rPr>
              <a:t>R</a:t>
            </a:r>
            <a:r>
              <a:rPr lang="en-US" altLang="zh-CN" sz="2400" b="1" i="1" u="none" baseline="-25000">
                <a:solidFill>
                  <a:schemeClr val="tx1"/>
                </a:solidFill>
                <a:ea typeface="楷体_GB2312" pitchFamily="49" charset="-122"/>
              </a:rPr>
              <a:t>xy</a:t>
            </a:r>
            <a:r>
              <a:rPr lang="en-US" altLang="zh-CN" sz="2400" b="1" u="none">
                <a:solidFill>
                  <a:schemeClr val="tx1"/>
                </a:solidFill>
                <a:ea typeface="楷体_GB2312" pitchFamily="49" charset="-122"/>
              </a:rPr>
              <a:t>(τ)</a:t>
            </a:r>
            <a:r>
              <a:rPr lang="zh-CN" altLang="en-US" sz="2400" b="1" u="none">
                <a:solidFill>
                  <a:schemeClr val="tx1"/>
                </a:solidFill>
                <a:ea typeface="楷体_GB2312" pitchFamily="49" charset="-122"/>
              </a:rPr>
              <a:t>的工程应用</a:t>
            </a:r>
          </a:p>
        </p:txBody>
      </p:sp>
      <p:sp>
        <p:nvSpPr>
          <p:cNvPr id="434197" name="Rectangle 21"/>
          <p:cNvSpPr>
            <a:spLocks noChangeArrowheads="1"/>
          </p:cNvSpPr>
          <p:nvPr/>
        </p:nvSpPr>
        <p:spPr bwMode="auto">
          <a:xfrm>
            <a:off x="641350" y="1337332"/>
            <a:ext cx="57991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kumimoji="0" lang="en-US" altLang="zh-CN" sz="2400" b="1" u="none" dirty="0">
                <a:solidFill>
                  <a:srgbClr val="FF3300"/>
                </a:solidFill>
              </a:rPr>
              <a:t>1)</a:t>
            </a:r>
            <a:r>
              <a:rPr kumimoji="0" lang="en-US" altLang="zh-CN" sz="2400" b="1" u="none" dirty="0">
                <a:solidFill>
                  <a:schemeClr val="tx1"/>
                </a:solidFill>
              </a:rPr>
              <a:t> </a:t>
            </a:r>
            <a:r>
              <a:rPr kumimoji="0" lang="zh-CN" altLang="en-US" sz="2400" b="1" u="none" dirty="0">
                <a:solidFill>
                  <a:schemeClr val="tx1"/>
                </a:solidFill>
              </a:rPr>
              <a:t>确定信号通过一给定系统所需要的</a:t>
            </a:r>
            <a:r>
              <a:rPr kumimoji="0" lang="zh-CN" altLang="en-US" sz="2400" b="1" u="none" dirty="0">
                <a:solidFill>
                  <a:srgbClr val="FF0000"/>
                </a:solidFill>
              </a:rPr>
              <a:t>时间 </a:t>
            </a:r>
          </a:p>
        </p:txBody>
      </p:sp>
      <p:sp>
        <p:nvSpPr>
          <p:cNvPr id="434199" name="Rectangle 23"/>
          <p:cNvSpPr>
            <a:spLocks noChangeArrowheads="1"/>
          </p:cNvSpPr>
          <p:nvPr/>
        </p:nvSpPr>
        <p:spPr bwMode="auto">
          <a:xfrm>
            <a:off x="655638" y="1727269"/>
            <a:ext cx="8029575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kumimoji="0" lang="en-US" altLang="zh-CN" sz="2000" b="1" u="none" dirty="0">
                <a:solidFill>
                  <a:schemeClr val="tx1"/>
                </a:solidFill>
              </a:rPr>
              <a:t>        </a:t>
            </a:r>
            <a:r>
              <a:rPr kumimoji="0" lang="zh-CN" altLang="en-US" sz="2000" b="1" u="none" dirty="0">
                <a:solidFill>
                  <a:schemeClr val="tx1"/>
                </a:solidFill>
              </a:rPr>
              <a:t>一个信号</a:t>
            </a:r>
            <a:r>
              <a:rPr kumimoji="0" lang="en-US" altLang="zh-CN" sz="2000" b="1" i="1" u="none" dirty="0">
                <a:solidFill>
                  <a:schemeClr val="tx1"/>
                </a:solidFill>
              </a:rPr>
              <a:t>x</a:t>
            </a:r>
            <a:r>
              <a:rPr kumimoji="0" lang="en-US" altLang="zh-CN" sz="2000" b="1" u="none" dirty="0">
                <a:solidFill>
                  <a:schemeClr val="tx1"/>
                </a:solidFill>
              </a:rPr>
              <a:t>(</a:t>
            </a:r>
            <a:r>
              <a:rPr kumimoji="0" lang="en-US" altLang="zh-CN" sz="2000" b="1" i="1" u="none" dirty="0">
                <a:solidFill>
                  <a:schemeClr val="tx1"/>
                </a:solidFill>
              </a:rPr>
              <a:t>t</a:t>
            </a:r>
            <a:r>
              <a:rPr kumimoji="0" lang="en-US" altLang="zh-CN" sz="2000" b="1" u="none" dirty="0">
                <a:solidFill>
                  <a:schemeClr val="tx1"/>
                </a:solidFill>
              </a:rPr>
              <a:t>)</a:t>
            </a:r>
            <a:r>
              <a:rPr kumimoji="0" lang="zh-CN" altLang="en-US" sz="2000" b="1" u="none" dirty="0">
                <a:solidFill>
                  <a:schemeClr val="tx1"/>
                </a:solidFill>
              </a:rPr>
              <a:t>经过测试系统后输出</a:t>
            </a:r>
            <a:r>
              <a:rPr kumimoji="0" lang="en-US" altLang="zh-CN" sz="2000" b="1" i="1" u="none" dirty="0">
                <a:solidFill>
                  <a:schemeClr val="tx1"/>
                </a:solidFill>
              </a:rPr>
              <a:t>y</a:t>
            </a:r>
            <a:r>
              <a:rPr kumimoji="0" lang="en-US" altLang="zh-CN" sz="2000" b="1" u="none" dirty="0">
                <a:solidFill>
                  <a:schemeClr val="tx1"/>
                </a:solidFill>
              </a:rPr>
              <a:t>(</a:t>
            </a:r>
            <a:r>
              <a:rPr kumimoji="0" lang="en-US" altLang="zh-CN" sz="2000" b="1" i="1" u="none" dirty="0">
                <a:solidFill>
                  <a:schemeClr val="tx1"/>
                </a:solidFill>
              </a:rPr>
              <a:t>t</a:t>
            </a:r>
            <a:r>
              <a:rPr kumimoji="0" lang="en-US" altLang="zh-CN" sz="2000" b="1" u="none" dirty="0">
                <a:solidFill>
                  <a:schemeClr val="tx1"/>
                </a:solidFill>
              </a:rPr>
              <a:t>)</a:t>
            </a:r>
            <a:r>
              <a:rPr kumimoji="0" lang="zh-CN" altLang="en-US" sz="2000" b="1" u="none" dirty="0">
                <a:solidFill>
                  <a:schemeClr val="tx1"/>
                </a:solidFill>
              </a:rPr>
              <a:t>的时间</a:t>
            </a:r>
            <a:r>
              <a:rPr kumimoji="0" lang="en-US" altLang="zh-CN" sz="2000" b="1" u="none" dirty="0">
                <a:solidFill>
                  <a:schemeClr val="tx1"/>
                </a:solidFill>
              </a:rPr>
              <a:t>τ</a:t>
            </a:r>
            <a:r>
              <a:rPr kumimoji="0" lang="en-US" altLang="zh-CN" sz="2000" b="1" u="none" baseline="-25000" dirty="0">
                <a:solidFill>
                  <a:schemeClr val="tx1"/>
                </a:solidFill>
              </a:rPr>
              <a:t>0</a:t>
            </a:r>
            <a:r>
              <a:rPr kumimoji="0" lang="zh-CN" altLang="en-US" sz="2000" b="1" u="none" dirty="0">
                <a:solidFill>
                  <a:schemeClr val="tx1"/>
                </a:solidFill>
              </a:rPr>
              <a:t>，这个时间就是由</a:t>
            </a:r>
            <a:r>
              <a:rPr kumimoji="0" lang="en-US" altLang="zh-CN" sz="2000" b="1" i="1" u="none" dirty="0" err="1">
                <a:solidFill>
                  <a:srgbClr val="FF0000"/>
                </a:solidFill>
              </a:rPr>
              <a:t>R</a:t>
            </a:r>
            <a:r>
              <a:rPr kumimoji="0" lang="en-US" altLang="zh-CN" sz="2000" b="1" i="1" u="none" baseline="-25000" dirty="0" err="1">
                <a:solidFill>
                  <a:srgbClr val="FF0000"/>
                </a:solidFill>
              </a:rPr>
              <a:t>xy</a:t>
            </a:r>
            <a:r>
              <a:rPr kumimoji="0" lang="en-US" altLang="zh-CN" sz="2000" b="1" u="none" dirty="0">
                <a:solidFill>
                  <a:srgbClr val="FF0000"/>
                </a:solidFill>
              </a:rPr>
              <a:t>(</a:t>
            </a:r>
            <a:r>
              <a:rPr kumimoji="0" lang="en-US" altLang="zh-CN" sz="2000" b="1" i="1" u="none" dirty="0">
                <a:solidFill>
                  <a:srgbClr val="FF0000"/>
                </a:solidFill>
              </a:rPr>
              <a:t>τ</a:t>
            </a:r>
            <a:r>
              <a:rPr kumimoji="0" lang="en-US" altLang="zh-CN" sz="2000" b="1" u="none" dirty="0">
                <a:solidFill>
                  <a:srgbClr val="FF0000"/>
                </a:solidFill>
              </a:rPr>
              <a:t>)</a:t>
            </a:r>
            <a:r>
              <a:rPr kumimoji="0" lang="zh-CN" altLang="en-US" sz="2000" b="1" u="none" dirty="0">
                <a:solidFill>
                  <a:srgbClr val="FF0000"/>
                </a:solidFill>
              </a:rPr>
              <a:t>的互相关图</a:t>
            </a:r>
            <a:r>
              <a:rPr kumimoji="0" lang="zh-CN" altLang="en-US" sz="2000" b="1" u="none" dirty="0">
                <a:solidFill>
                  <a:schemeClr val="tx1"/>
                </a:solidFill>
              </a:rPr>
              <a:t>中峰值的位置来确定 </a:t>
            </a:r>
          </a:p>
        </p:txBody>
      </p:sp>
      <p:sp>
        <p:nvSpPr>
          <p:cNvPr id="434202" name="Rectangle 26"/>
          <p:cNvSpPr>
            <a:spLocks noChangeArrowheads="1"/>
          </p:cNvSpPr>
          <p:nvPr/>
        </p:nvSpPr>
        <p:spPr bwMode="auto">
          <a:xfrm>
            <a:off x="6110288" y="3268662"/>
            <a:ext cx="2568575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kumimoji="0" lang="zh-CN" altLang="en-US" sz="2000" b="1" u="none" dirty="0">
                <a:solidFill>
                  <a:srgbClr val="FF3300"/>
                </a:solidFill>
                <a:latin typeface="黑体" pitchFamily="49" charset="-122"/>
                <a:ea typeface="黑体" pitchFamily="49" charset="-122"/>
              </a:rPr>
              <a:t>利用互相关分析确定信号通过系统的时间 </a:t>
            </a:r>
          </a:p>
        </p:txBody>
      </p:sp>
      <p:sp>
        <p:nvSpPr>
          <p:cNvPr id="434201" name="Rectangle 25"/>
          <p:cNvSpPr>
            <a:spLocks noChangeArrowheads="1"/>
          </p:cNvSpPr>
          <p:nvPr/>
        </p:nvSpPr>
        <p:spPr bwMode="auto">
          <a:xfrm>
            <a:off x="4117975" y="6026156"/>
            <a:ext cx="237917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kumimoji="0" lang="zh-CN" altLang="en-US" sz="2000" b="1" u="none" dirty="0">
                <a:solidFill>
                  <a:srgbClr val="FF3300"/>
                </a:solidFill>
                <a:latin typeface="黑体" pitchFamily="49" charset="-122"/>
                <a:ea typeface="黑体" pitchFamily="49" charset="-122"/>
              </a:rPr>
              <a:t>互相关函数的性质 </a:t>
            </a:r>
          </a:p>
        </p:txBody>
      </p:sp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379413" y="300831"/>
            <a:ext cx="3738562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 b="1" u="none" dirty="0" smtClean="0">
                <a:solidFill>
                  <a:srgbClr val="800000"/>
                </a:solidFill>
                <a:ea typeface="宋体" pitchFamily="2" charset="-122"/>
              </a:rPr>
              <a:t>5.3 </a:t>
            </a:r>
            <a:r>
              <a:rPr lang="zh-CN" altLang="en-US" sz="3200" b="1" u="none" dirty="0">
                <a:solidFill>
                  <a:srgbClr val="800000"/>
                </a:solidFill>
                <a:ea typeface="宋体" pitchFamily="2" charset="-122"/>
              </a:rPr>
              <a:t>相关分析及应用</a:t>
            </a:r>
            <a:r>
              <a:rPr lang="zh-CN" altLang="en-US" b="1" u="none" dirty="0">
                <a:solidFill>
                  <a:srgbClr val="000066"/>
                </a:solidFill>
                <a:ea typeface="宋体" pitchFamily="2" charset="-122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341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341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4199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430" name="Rectangle 14"/>
          <p:cNvSpPr>
            <a:spLocks noChangeArrowheads="1"/>
          </p:cNvSpPr>
          <p:nvPr/>
        </p:nvSpPr>
        <p:spPr bwMode="auto">
          <a:xfrm>
            <a:off x="615949" y="881721"/>
            <a:ext cx="47021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kumimoji="0" lang="en-US" altLang="zh-CN" sz="2400" b="1" u="none" dirty="0">
                <a:solidFill>
                  <a:srgbClr val="FF3300"/>
                </a:solidFill>
              </a:rPr>
              <a:t>2</a:t>
            </a:r>
            <a:r>
              <a:rPr kumimoji="0" lang="zh-CN" altLang="en-US" sz="2400" b="1" u="none" dirty="0">
                <a:solidFill>
                  <a:srgbClr val="FF3300"/>
                </a:solidFill>
              </a:rPr>
              <a:t>）</a:t>
            </a:r>
            <a:r>
              <a:rPr kumimoji="0" lang="zh-CN" altLang="en-US" sz="2400" b="1" u="none" dirty="0">
                <a:solidFill>
                  <a:schemeClr val="tx1"/>
                </a:solidFill>
              </a:rPr>
              <a:t>消除噪声影响，提取有用信息</a:t>
            </a:r>
            <a:r>
              <a:rPr kumimoji="0" lang="zh-CN" altLang="en-US" sz="2400" u="none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444432" name="Rectangle 16"/>
          <p:cNvSpPr>
            <a:spLocks noChangeArrowheads="1"/>
          </p:cNvSpPr>
          <p:nvPr/>
        </p:nvSpPr>
        <p:spPr bwMode="auto">
          <a:xfrm>
            <a:off x="1900238" y="3178175"/>
            <a:ext cx="48482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kumimoji="0" lang="zh-CN" altLang="en-US" sz="2000" b="1" u="none">
                <a:solidFill>
                  <a:srgbClr val="FF3300"/>
                </a:solidFill>
              </a:rPr>
              <a:t>利用互相关分析仪消除噪声的工作原理图 </a:t>
            </a:r>
          </a:p>
        </p:txBody>
      </p:sp>
      <p:sp>
        <p:nvSpPr>
          <p:cNvPr id="444433" name="Rectangle 17"/>
          <p:cNvSpPr>
            <a:spLocks noChangeArrowheads="1"/>
          </p:cNvSpPr>
          <p:nvPr/>
        </p:nvSpPr>
        <p:spPr bwMode="auto">
          <a:xfrm>
            <a:off x="895350" y="5848350"/>
            <a:ext cx="27336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kumimoji="0" lang="en-US" altLang="zh-CN" sz="1800" b="1" u="none">
                <a:solidFill>
                  <a:srgbClr val="FF3300"/>
                </a:solidFill>
                <a:ea typeface="宋体" pitchFamily="2" charset="-122"/>
              </a:rPr>
              <a:t>a)</a:t>
            </a:r>
            <a:r>
              <a:rPr kumimoji="0" lang="zh-CN" altLang="en-US" sz="1800" b="1" u="none">
                <a:solidFill>
                  <a:srgbClr val="FF3300"/>
                </a:solidFill>
                <a:ea typeface="宋体" pitchFamily="2" charset="-122"/>
              </a:rPr>
              <a:t>正弦波加随机噪声信号 </a:t>
            </a:r>
          </a:p>
        </p:txBody>
      </p:sp>
      <p:sp>
        <p:nvSpPr>
          <p:cNvPr id="444434" name="Rectangle 18"/>
          <p:cNvSpPr>
            <a:spLocks noChangeArrowheads="1"/>
          </p:cNvSpPr>
          <p:nvPr/>
        </p:nvSpPr>
        <p:spPr bwMode="auto">
          <a:xfrm>
            <a:off x="4335463" y="5822950"/>
            <a:ext cx="41275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kumimoji="0" lang="en-US" altLang="zh-CN" sz="1800" b="1" u="none">
                <a:solidFill>
                  <a:srgbClr val="FF3300"/>
                </a:solidFill>
                <a:ea typeface="宋体" pitchFamily="2" charset="-122"/>
              </a:rPr>
              <a:t>b)</a:t>
            </a:r>
            <a:r>
              <a:rPr kumimoji="0" lang="zh-CN" altLang="en-US" sz="1800" b="1" u="none">
                <a:solidFill>
                  <a:srgbClr val="FF3300"/>
                </a:solidFill>
                <a:ea typeface="宋体" pitchFamily="2" charset="-122"/>
              </a:rPr>
              <a:t>正弦波加随机噪声信号的自相关函数 </a:t>
            </a:r>
          </a:p>
        </p:txBody>
      </p:sp>
      <p:graphicFrame>
        <p:nvGraphicFramePr>
          <p:cNvPr id="444440" name="Object 24"/>
          <p:cNvGraphicFramePr>
            <a:graphicFrameLocks noChangeAspect="1"/>
          </p:cNvGraphicFramePr>
          <p:nvPr/>
        </p:nvGraphicFramePr>
        <p:xfrm>
          <a:off x="4011613" y="3619500"/>
          <a:ext cx="4919662" cy="2201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4543" name="Visio" r:id="rId3" imgW="2390242" imgH="1070458" progId="Visio.Drawing.6">
                  <p:embed/>
                </p:oleObj>
              </mc:Choice>
              <mc:Fallback>
                <p:oleObj name="Visio" r:id="rId3" imgW="2390242" imgH="1070458" progId="Visio.Drawing.6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11613" y="3619500"/>
                        <a:ext cx="4919662" cy="220186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4441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9257646"/>
              </p:ext>
            </p:extLst>
          </p:nvPr>
        </p:nvGraphicFramePr>
        <p:xfrm>
          <a:off x="1416205" y="1382750"/>
          <a:ext cx="6283170" cy="1844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4544" name="Visio" r:id="rId5" imgW="3380842" imgH="1066495" progId="Visio.Drawing.6">
                  <p:embed/>
                </p:oleObj>
              </mc:Choice>
              <mc:Fallback>
                <p:oleObj name="Visio" r:id="rId5" imgW="3380842" imgH="1066495" progId="Visio.Drawing.6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16205" y="1382750"/>
                        <a:ext cx="6283170" cy="1844637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44442" name="Picture 26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575" y="3619500"/>
            <a:ext cx="3482975" cy="219868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379413" y="300831"/>
            <a:ext cx="3738562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 b="1" u="none" dirty="0" smtClean="0">
                <a:solidFill>
                  <a:srgbClr val="800000"/>
                </a:solidFill>
                <a:ea typeface="宋体" pitchFamily="2" charset="-122"/>
              </a:rPr>
              <a:t>5.3 </a:t>
            </a:r>
            <a:r>
              <a:rPr lang="zh-CN" altLang="en-US" sz="3200" b="1" u="none" dirty="0">
                <a:solidFill>
                  <a:srgbClr val="800000"/>
                </a:solidFill>
                <a:ea typeface="宋体" pitchFamily="2" charset="-122"/>
              </a:rPr>
              <a:t>相关分析及应用</a:t>
            </a:r>
            <a:r>
              <a:rPr lang="zh-CN" altLang="en-US" b="1" u="none" dirty="0">
                <a:solidFill>
                  <a:srgbClr val="000066"/>
                </a:solidFill>
                <a:ea typeface="宋体" pitchFamily="2" charset="-122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42373" name="Object 5"/>
          <p:cNvGraphicFramePr>
            <a:graphicFrameLocks noChangeAspect="1"/>
          </p:cNvGraphicFramePr>
          <p:nvPr/>
        </p:nvGraphicFramePr>
        <p:xfrm>
          <a:off x="2908300" y="1981200"/>
          <a:ext cx="914400" cy="198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2596" name="Equation" r:id="rId3" imgW="914400" imgH="198720" progId="Equation.DSMT4">
                  <p:embed/>
                </p:oleObj>
              </mc:Choice>
              <mc:Fallback>
                <p:oleObj name="Equation" r:id="rId3" imgW="914400" imgH="19872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08300" y="1981200"/>
                        <a:ext cx="914400" cy="198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2380" name="Rectangle 12"/>
          <p:cNvSpPr>
            <a:spLocks noChangeArrowheads="1"/>
          </p:cNvSpPr>
          <p:nvPr/>
        </p:nvSpPr>
        <p:spPr bwMode="auto">
          <a:xfrm>
            <a:off x="446088" y="929423"/>
            <a:ext cx="416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kumimoji="0" lang="en-US" altLang="zh-CN" sz="2400" b="1" u="none" dirty="0" smtClean="0">
                <a:solidFill>
                  <a:srgbClr val="FF3300"/>
                </a:solidFill>
              </a:rPr>
              <a:t>5</a:t>
            </a:r>
            <a:r>
              <a:rPr kumimoji="0" lang="zh-CN" altLang="en-US" sz="2400" b="1" u="none" dirty="0" smtClean="0">
                <a:solidFill>
                  <a:srgbClr val="FF3300"/>
                </a:solidFill>
              </a:rPr>
              <a:t>）</a:t>
            </a:r>
            <a:r>
              <a:rPr kumimoji="0" lang="zh-CN" altLang="en-US" sz="2400" b="1" u="none" dirty="0">
                <a:solidFill>
                  <a:schemeClr val="tx1"/>
                </a:solidFill>
              </a:rPr>
              <a:t>对复杂信号进行频谱分析</a:t>
            </a:r>
            <a:r>
              <a:rPr kumimoji="0" lang="zh-CN" altLang="en-US" sz="2400" u="none" dirty="0">
                <a:solidFill>
                  <a:schemeClr val="tx1"/>
                </a:solidFill>
              </a:rPr>
              <a:t> </a:t>
            </a:r>
            <a:r>
              <a:rPr kumimoji="0" lang="zh-CN" altLang="en-US" sz="2400" b="1" u="none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442382" name="Rectangle 14"/>
          <p:cNvSpPr>
            <a:spLocks noChangeArrowheads="1"/>
          </p:cNvSpPr>
          <p:nvPr/>
        </p:nvSpPr>
        <p:spPr bwMode="auto">
          <a:xfrm>
            <a:off x="1857375" y="5928706"/>
            <a:ext cx="542448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kumimoji="0" lang="zh-CN" altLang="en-US" sz="2000" b="1" u="none" dirty="0">
                <a:solidFill>
                  <a:srgbClr val="FF3300"/>
                </a:solidFill>
                <a:latin typeface="黑体" pitchFamily="2" charset="-122"/>
              </a:rPr>
              <a:t>利用互相关分析仪分析信号频谱的工作原理图 </a:t>
            </a:r>
          </a:p>
        </p:txBody>
      </p:sp>
      <p:sp>
        <p:nvSpPr>
          <p:cNvPr id="442383" name="Rectangle 15"/>
          <p:cNvSpPr>
            <a:spLocks noChangeArrowheads="1"/>
          </p:cNvSpPr>
          <p:nvPr/>
        </p:nvSpPr>
        <p:spPr bwMode="auto">
          <a:xfrm>
            <a:off x="742950" y="1292006"/>
            <a:ext cx="708238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kumimoji="0" lang="en-US" altLang="zh-CN" sz="2400" b="1" i="1" u="none" dirty="0">
                <a:solidFill>
                  <a:schemeClr val="tx1"/>
                </a:solidFill>
              </a:rPr>
              <a:t>x</a:t>
            </a:r>
            <a:r>
              <a:rPr kumimoji="0" lang="en-US" altLang="zh-CN" sz="2400" b="1" u="none" dirty="0">
                <a:solidFill>
                  <a:schemeClr val="tx1"/>
                </a:solidFill>
              </a:rPr>
              <a:t>(</a:t>
            </a:r>
            <a:r>
              <a:rPr kumimoji="0" lang="en-US" altLang="zh-CN" sz="2400" b="1" i="1" u="none" dirty="0">
                <a:solidFill>
                  <a:schemeClr val="tx1"/>
                </a:solidFill>
              </a:rPr>
              <a:t>t</a:t>
            </a:r>
            <a:r>
              <a:rPr kumimoji="0" lang="en-US" altLang="zh-CN" sz="2400" b="1" u="none" dirty="0">
                <a:solidFill>
                  <a:schemeClr val="tx1"/>
                </a:solidFill>
              </a:rPr>
              <a:t>)</a:t>
            </a:r>
            <a:r>
              <a:rPr kumimoji="0" lang="zh-CN" altLang="en-US" sz="2400" b="1" u="none" dirty="0">
                <a:solidFill>
                  <a:schemeClr val="tx1"/>
                </a:solidFill>
              </a:rPr>
              <a:t>＝</a:t>
            </a:r>
            <a:r>
              <a:rPr kumimoji="0" lang="en-US" altLang="zh-CN" sz="2400" b="1" i="1" u="none" dirty="0" smtClean="0">
                <a:solidFill>
                  <a:schemeClr val="tx1"/>
                </a:solidFill>
              </a:rPr>
              <a:t>x</a:t>
            </a:r>
            <a:r>
              <a:rPr kumimoji="0" lang="en-US" altLang="zh-CN" sz="2400" b="1" i="1" u="none" baseline="-25000" dirty="0" smtClean="0">
                <a:solidFill>
                  <a:schemeClr val="tx1"/>
                </a:solidFill>
              </a:rPr>
              <a:t>0</a:t>
            </a:r>
            <a:r>
              <a:rPr kumimoji="0" lang="en-US" altLang="zh-CN" sz="2400" b="1" u="none" dirty="0" smtClean="0">
                <a:solidFill>
                  <a:schemeClr val="tx1"/>
                </a:solidFill>
              </a:rPr>
              <a:t>sin(</a:t>
            </a:r>
            <a:r>
              <a:rPr kumimoji="0" lang="en-US" altLang="zh-CN" sz="2400" b="1" u="none" dirty="0" err="1" smtClean="0">
                <a:solidFill>
                  <a:schemeClr val="tx1"/>
                </a:solidFill>
              </a:rPr>
              <a:t>ω</a:t>
            </a:r>
            <a:r>
              <a:rPr kumimoji="0" lang="en-US" altLang="zh-CN" sz="2400" b="1" i="1" u="none" dirty="0" err="1" smtClean="0">
                <a:solidFill>
                  <a:schemeClr val="tx1"/>
                </a:solidFill>
              </a:rPr>
              <a:t>t+</a:t>
            </a:r>
            <a:r>
              <a:rPr kumimoji="0" lang="en-US" altLang="zh-CN" sz="2400" b="1" u="none" dirty="0" err="1" smtClean="0">
                <a:solidFill>
                  <a:schemeClr val="tx1"/>
                </a:solidFill>
              </a:rPr>
              <a:t>θ</a:t>
            </a:r>
            <a:r>
              <a:rPr kumimoji="0" lang="en-US" altLang="zh-CN" sz="2400" b="1" u="none" dirty="0">
                <a:solidFill>
                  <a:schemeClr val="tx1"/>
                </a:solidFill>
              </a:rPr>
              <a:t>)</a:t>
            </a:r>
            <a:r>
              <a:rPr kumimoji="0" lang="zh-CN" altLang="en-US" sz="2400" b="1" u="none" dirty="0">
                <a:solidFill>
                  <a:schemeClr val="tx1"/>
                </a:solidFill>
              </a:rPr>
              <a:t>，</a:t>
            </a:r>
            <a:r>
              <a:rPr kumimoji="0" lang="en-US" altLang="zh-CN" sz="2400" b="1" i="1" u="none" dirty="0">
                <a:solidFill>
                  <a:schemeClr val="tx1"/>
                </a:solidFill>
              </a:rPr>
              <a:t>y</a:t>
            </a:r>
            <a:r>
              <a:rPr kumimoji="0" lang="en-US" altLang="zh-CN" sz="2400" b="1" u="none" dirty="0">
                <a:solidFill>
                  <a:schemeClr val="tx1"/>
                </a:solidFill>
              </a:rPr>
              <a:t>(</a:t>
            </a:r>
            <a:r>
              <a:rPr kumimoji="0" lang="en-US" altLang="zh-CN" sz="2400" b="1" i="1" u="none" dirty="0">
                <a:solidFill>
                  <a:schemeClr val="tx1"/>
                </a:solidFill>
              </a:rPr>
              <a:t>t</a:t>
            </a:r>
            <a:r>
              <a:rPr kumimoji="0" lang="en-US" altLang="zh-CN" sz="2400" b="1" u="none" dirty="0">
                <a:solidFill>
                  <a:schemeClr val="tx1"/>
                </a:solidFill>
              </a:rPr>
              <a:t>)</a:t>
            </a:r>
            <a:r>
              <a:rPr kumimoji="0" lang="zh-CN" altLang="en-US" sz="2400" b="1" u="none" dirty="0">
                <a:solidFill>
                  <a:schemeClr val="tx1"/>
                </a:solidFill>
              </a:rPr>
              <a:t>＝</a:t>
            </a:r>
            <a:r>
              <a:rPr kumimoji="0" lang="en-US" altLang="zh-CN" sz="2400" b="1" i="1" u="none" dirty="0">
                <a:solidFill>
                  <a:schemeClr val="tx1"/>
                </a:solidFill>
              </a:rPr>
              <a:t>y</a:t>
            </a:r>
            <a:r>
              <a:rPr kumimoji="0" lang="en-US" altLang="zh-CN" sz="2400" b="1" i="1" u="none" baseline="-25000" dirty="0">
                <a:solidFill>
                  <a:schemeClr val="tx1"/>
                </a:solidFill>
              </a:rPr>
              <a:t>0</a:t>
            </a:r>
            <a:r>
              <a:rPr kumimoji="0" lang="en-US" altLang="zh-CN" sz="2400" b="1" u="none" dirty="0">
                <a:solidFill>
                  <a:schemeClr val="tx1"/>
                </a:solidFill>
              </a:rPr>
              <a:t>sin(</a:t>
            </a:r>
            <a:r>
              <a:rPr kumimoji="0" lang="en-US" altLang="zh-CN" sz="2400" b="1" u="none" dirty="0" err="1">
                <a:solidFill>
                  <a:schemeClr val="tx1"/>
                </a:solidFill>
              </a:rPr>
              <a:t>ω</a:t>
            </a:r>
            <a:r>
              <a:rPr kumimoji="0" lang="en-US" altLang="zh-CN" sz="2400" b="1" i="1" u="none" dirty="0" err="1">
                <a:solidFill>
                  <a:schemeClr val="tx1"/>
                </a:solidFill>
              </a:rPr>
              <a:t>t+</a:t>
            </a:r>
            <a:r>
              <a:rPr kumimoji="0" lang="en-US" altLang="zh-CN" sz="2400" b="1" u="none" dirty="0" err="1">
                <a:solidFill>
                  <a:schemeClr val="tx1"/>
                </a:solidFill>
              </a:rPr>
              <a:t>θ-φ</a:t>
            </a:r>
            <a:r>
              <a:rPr kumimoji="0" lang="en-US" altLang="zh-CN" sz="2400" b="1" u="none" dirty="0">
                <a:solidFill>
                  <a:schemeClr val="tx1"/>
                </a:solidFill>
              </a:rPr>
              <a:t>)</a:t>
            </a:r>
            <a:r>
              <a:rPr kumimoji="0" lang="zh-CN" altLang="en-US" sz="2400" b="1" u="none" dirty="0">
                <a:solidFill>
                  <a:schemeClr val="tx1"/>
                </a:solidFill>
              </a:rPr>
              <a:t>的互相关函数</a:t>
            </a:r>
          </a:p>
        </p:txBody>
      </p:sp>
      <p:graphicFrame>
        <p:nvGraphicFramePr>
          <p:cNvPr id="442384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2200459"/>
              </p:ext>
            </p:extLst>
          </p:nvPr>
        </p:nvGraphicFramePr>
        <p:xfrm>
          <a:off x="2528888" y="1775061"/>
          <a:ext cx="3255962" cy="8395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2597" name="公式" r:id="rId5" imgW="1625400" imgH="419040" progId="Equation.3">
                  <p:embed/>
                </p:oleObj>
              </mc:Choice>
              <mc:Fallback>
                <p:oleObj name="公式" r:id="rId5" imgW="1625400" imgH="41904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28888" y="1775061"/>
                        <a:ext cx="3255962" cy="839552"/>
                      </a:xfrm>
                      <a:prstGeom prst="rect">
                        <a:avLst/>
                      </a:prstGeom>
                      <a:solidFill>
                        <a:srgbClr val="FFCC99"/>
                      </a:solidFill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2385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63898962"/>
              </p:ext>
            </p:extLst>
          </p:nvPr>
        </p:nvGraphicFramePr>
        <p:xfrm>
          <a:off x="2616093" y="3201987"/>
          <a:ext cx="1668051" cy="6213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2598" name="公式" r:id="rId7" imgW="647640" imgH="241200" progId="Equation.3">
                  <p:embed/>
                </p:oleObj>
              </mc:Choice>
              <mc:Fallback>
                <p:oleObj name="公式" r:id="rId7" imgW="647640" imgH="24120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16093" y="3201987"/>
                        <a:ext cx="1668051" cy="621333"/>
                      </a:xfrm>
                      <a:prstGeom prst="rect">
                        <a:avLst/>
                      </a:prstGeom>
                      <a:solidFill>
                        <a:srgbClr val="FFCC99"/>
                      </a:solidFill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2386" name="Rectangle 18"/>
          <p:cNvSpPr>
            <a:spLocks noChangeArrowheads="1"/>
          </p:cNvSpPr>
          <p:nvPr/>
        </p:nvSpPr>
        <p:spPr bwMode="auto">
          <a:xfrm>
            <a:off x="715963" y="2678113"/>
            <a:ext cx="7899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kumimoji="0" lang="en-US" altLang="zh-CN" sz="2400" b="1" i="1" u="none">
                <a:solidFill>
                  <a:schemeClr val="tx1"/>
                </a:solidFill>
              </a:rPr>
              <a:t>x</a:t>
            </a:r>
            <a:r>
              <a:rPr kumimoji="0" lang="en-US" altLang="zh-CN" sz="2400" b="1" u="none">
                <a:solidFill>
                  <a:schemeClr val="tx1"/>
                </a:solidFill>
              </a:rPr>
              <a:t>(</a:t>
            </a:r>
            <a:r>
              <a:rPr kumimoji="0" lang="en-US" altLang="zh-CN" sz="2400" b="1" i="1" u="none">
                <a:solidFill>
                  <a:schemeClr val="tx1"/>
                </a:solidFill>
              </a:rPr>
              <a:t>t</a:t>
            </a:r>
            <a:r>
              <a:rPr kumimoji="0" lang="en-US" altLang="zh-CN" sz="2400" b="1" u="none">
                <a:solidFill>
                  <a:schemeClr val="tx1"/>
                </a:solidFill>
              </a:rPr>
              <a:t>)</a:t>
            </a:r>
            <a:r>
              <a:rPr kumimoji="0" lang="zh-CN" altLang="en-US" sz="2400" b="1" u="none">
                <a:solidFill>
                  <a:schemeClr val="tx1"/>
                </a:solidFill>
              </a:rPr>
              <a:t>＝</a:t>
            </a:r>
            <a:r>
              <a:rPr kumimoji="0" lang="en-US" altLang="zh-CN" sz="2400" b="1" i="1" u="none">
                <a:solidFill>
                  <a:schemeClr val="tx1"/>
                </a:solidFill>
              </a:rPr>
              <a:t>x</a:t>
            </a:r>
            <a:r>
              <a:rPr kumimoji="0" lang="en-US" altLang="zh-CN" sz="2400" b="1" i="1" u="none" baseline="-25000">
                <a:solidFill>
                  <a:schemeClr val="tx1"/>
                </a:solidFill>
              </a:rPr>
              <a:t>0</a:t>
            </a:r>
            <a:r>
              <a:rPr kumimoji="0" lang="en-US" altLang="zh-CN" sz="2400" b="1" u="none">
                <a:solidFill>
                  <a:schemeClr val="tx1"/>
                </a:solidFill>
              </a:rPr>
              <a:t>Sin(ω</a:t>
            </a:r>
            <a:r>
              <a:rPr kumimoji="0" lang="en-US" altLang="zh-CN" sz="2400" b="1" u="none" baseline="-25000">
                <a:solidFill>
                  <a:schemeClr val="tx1"/>
                </a:solidFill>
              </a:rPr>
              <a:t>1</a:t>
            </a:r>
            <a:r>
              <a:rPr kumimoji="0" lang="en-US" altLang="zh-CN" sz="2400" b="1" i="1" u="none">
                <a:solidFill>
                  <a:schemeClr val="tx1"/>
                </a:solidFill>
              </a:rPr>
              <a:t>t</a:t>
            </a:r>
            <a:r>
              <a:rPr kumimoji="0" lang="en-US" altLang="zh-CN" sz="2400" b="1" u="none">
                <a:solidFill>
                  <a:schemeClr val="tx1"/>
                </a:solidFill>
              </a:rPr>
              <a:t>+</a:t>
            </a:r>
            <a:r>
              <a:rPr kumimoji="0" lang="en-US" altLang="zh-CN" sz="2400" b="1" i="1" u="none">
                <a:solidFill>
                  <a:schemeClr val="tx1"/>
                </a:solidFill>
              </a:rPr>
              <a:t>θ</a:t>
            </a:r>
            <a:r>
              <a:rPr kumimoji="0" lang="en-US" altLang="zh-CN" sz="2400" b="1" u="none">
                <a:solidFill>
                  <a:schemeClr val="tx1"/>
                </a:solidFill>
              </a:rPr>
              <a:t>)</a:t>
            </a:r>
            <a:r>
              <a:rPr kumimoji="0" lang="zh-CN" altLang="en-US" sz="2400" b="1" u="none">
                <a:solidFill>
                  <a:schemeClr val="tx1"/>
                </a:solidFill>
              </a:rPr>
              <a:t>，</a:t>
            </a:r>
            <a:r>
              <a:rPr kumimoji="0" lang="en-US" altLang="zh-CN" sz="2400" b="1" i="1" u="none">
                <a:solidFill>
                  <a:schemeClr val="tx1"/>
                </a:solidFill>
              </a:rPr>
              <a:t>y</a:t>
            </a:r>
            <a:r>
              <a:rPr kumimoji="0" lang="en-US" altLang="zh-CN" sz="2400" b="1" u="none">
                <a:solidFill>
                  <a:schemeClr val="tx1"/>
                </a:solidFill>
              </a:rPr>
              <a:t>(</a:t>
            </a:r>
            <a:r>
              <a:rPr kumimoji="0" lang="en-US" altLang="zh-CN" sz="2400" b="1" i="1" u="none">
                <a:solidFill>
                  <a:schemeClr val="tx1"/>
                </a:solidFill>
              </a:rPr>
              <a:t>t</a:t>
            </a:r>
            <a:r>
              <a:rPr kumimoji="0" lang="en-US" altLang="zh-CN" sz="2400" b="1" u="none">
                <a:solidFill>
                  <a:schemeClr val="tx1"/>
                </a:solidFill>
              </a:rPr>
              <a:t>)</a:t>
            </a:r>
            <a:r>
              <a:rPr kumimoji="0" lang="zh-CN" altLang="en-US" sz="2400" b="1" u="none">
                <a:solidFill>
                  <a:schemeClr val="tx1"/>
                </a:solidFill>
              </a:rPr>
              <a:t>＝</a:t>
            </a:r>
            <a:r>
              <a:rPr kumimoji="0" lang="en-US" altLang="zh-CN" sz="2400" b="1" i="1" u="none">
                <a:solidFill>
                  <a:schemeClr val="tx1"/>
                </a:solidFill>
              </a:rPr>
              <a:t>y</a:t>
            </a:r>
            <a:r>
              <a:rPr kumimoji="0" lang="en-US" altLang="zh-CN" sz="2400" b="1" i="1" u="none" baseline="-25000">
                <a:solidFill>
                  <a:schemeClr val="tx1"/>
                </a:solidFill>
              </a:rPr>
              <a:t>0</a:t>
            </a:r>
            <a:r>
              <a:rPr kumimoji="0" lang="en-US" altLang="zh-CN" sz="2400" b="1" u="none">
                <a:solidFill>
                  <a:schemeClr val="tx1"/>
                </a:solidFill>
              </a:rPr>
              <a:t>Sin(ω</a:t>
            </a:r>
            <a:r>
              <a:rPr kumimoji="0" lang="en-US" altLang="zh-CN" sz="2400" b="1" u="none" baseline="-25000">
                <a:solidFill>
                  <a:schemeClr val="tx1"/>
                </a:solidFill>
              </a:rPr>
              <a:t>2</a:t>
            </a:r>
            <a:r>
              <a:rPr kumimoji="0" lang="en-US" altLang="zh-CN" sz="2400" b="1" i="1" u="none">
                <a:solidFill>
                  <a:schemeClr val="tx1"/>
                </a:solidFill>
              </a:rPr>
              <a:t>t</a:t>
            </a:r>
            <a:r>
              <a:rPr kumimoji="0" lang="en-US" altLang="zh-CN" sz="2400" b="1" u="none">
                <a:solidFill>
                  <a:schemeClr val="tx1"/>
                </a:solidFill>
              </a:rPr>
              <a:t>+</a:t>
            </a:r>
            <a:r>
              <a:rPr kumimoji="0" lang="en-US" altLang="zh-CN" sz="2400" b="1" i="1" u="none">
                <a:solidFill>
                  <a:schemeClr val="tx1"/>
                </a:solidFill>
              </a:rPr>
              <a:t>θ-φ</a:t>
            </a:r>
            <a:r>
              <a:rPr kumimoji="0" lang="en-US" altLang="zh-CN" sz="2400" b="1" u="none">
                <a:solidFill>
                  <a:schemeClr val="tx1"/>
                </a:solidFill>
              </a:rPr>
              <a:t>)</a:t>
            </a:r>
            <a:r>
              <a:rPr kumimoji="0" lang="zh-CN" altLang="en-US" sz="2400" b="1" u="none">
                <a:solidFill>
                  <a:schemeClr val="tx1"/>
                </a:solidFill>
              </a:rPr>
              <a:t>的互相关函数</a:t>
            </a:r>
          </a:p>
        </p:txBody>
      </p:sp>
      <p:graphicFrame>
        <p:nvGraphicFramePr>
          <p:cNvPr id="442388" name="Object 20"/>
          <p:cNvGraphicFramePr>
            <a:graphicFrameLocks noGrp="1" noChangeAspect="1"/>
          </p:cNvGraphicFramePr>
          <p:nvPr>
            <p:ph/>
          </p:nvPr>
        </p:nvGraphicFramePr>
        <p:xfrm>
          <a:off x="436563" y="3997325"/>
          <a:ext cx="8123237" cy="173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2599" name="Visio" r:id="rId9" imgW="4215384" imgH="898855" progId="Visio.Drawing.6">
                  <p:embed/>
                </p:oleObj>
              </mc:Choice>
              <mc:Fallback>
                <p:oleObj name="Visio" r:id="rId9" imgW="4215384" imgH="898855" progId="Visio.Drawing.6">
                  <p:embed/>
                  <p:pic>
                    <p:nvPicPr>
                      <p:cNvPr id="0" name="Object 20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6563" y="3997325"/>
                        <a:ext cx="8123237" cy="173196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2390" name="Rectangle 22"/>
          <p:cNvSpPr>
            <a:spLocks noChangeArrowheads="1"/>
          </p:cNvSpPr>
          <p:nvPr/>
        </p:nvSpPr>
        <p:spPr bwMode="auto">
          <a:xfrm>
            <a:off x="6443663" y="1976438"/>
            <a:ext cx="8128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kumimoji="0" lang="en-US" altLang="zh-CN" sz="1800" b="1" u="none" dirty="0" smtClean="0">
                <a:solidFill>
                  <a:srgbClr val="FF3300"/>
                </a:solidFill>
                <a:ea typeface="宋体" pitchFamily="2" charset="-122"/>
              </a:rPr>
              <a:t>(</a:t>
            </a:r>
            <a:r>
              <a:rPr kumimoji="0" lang="en-US" altLang="zh-CN" sz="1800" b="1" u="none" dirty="0" smtClean="0">
                <a:solidFill>
                  <a:srgbClr val="FF3300"/>
                </a:solidFill>
              </a:rPr>
              <a:t>5-</a:t>
            </a:r>
            <a:r>
              <a:rPr kumimoji="0" lang="en-US" altLang="zh-CN" sz="1800" b="1" u="none" dirty="0" smtClean="0">
                <a:solidFill>
                  <a:srgbClr val="FF3300"/>
                </a:solidFill>
                <a:ea typeface="宋体" pitchFamily="2" charset="-122"/>
              </a:rPr>
              <a:t>21</a:t>
            </a:r>
            <a:r>
              <a:rPr kumimoji="0" lang="en-US" altLang="zh-CN" sz="1800" b="1" u="none" dirty="0">
                <a:solidFill>
                  <a:srgbClr val="FF3300"/>
                </a:solidFill>
                <a:ea typeface="宋体" pitchFamily="2" charset="-122"/>
              </a:rPr>
              <a:t>) </a:t>
            </a:r>
          </a:p>
        </p:txBody>
      </p:sp>
      <p:sp>
        <p:nvSpPr>
          <p:cNvPr id="442391" name="Rectangle 23"/>
          <p:cNvSpPr>
            <a:spLocks noChangeArrowheads="1"/>
          </p:cNvSpPr>
          <p:nvPr/>
        </p:nvSpPr>
        <p:spPr bwMode="auto">
          <a:xfrm>
            <a:off x="6469063" y="3424238"/>
            <a:ext cx="8128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kumimoji="0" lang="en-US" altLang="zh-CN" sz="1800" b="1" u="none" dirty="0" smtClean="0">
                <a:solidFill>
                  <a:srgbClr val="FF3300"/>
                </a:solidFill>
                <a:ea typeface="宋体" pitchFamily="2" charset="-122"/>
              </a:rPr>
              <a:t>(</a:t>
            </a:r>
            <a:r>
              <a:rPr kumimoji="0" lang="en-US" altLang="zh-CN" sz="1800" b="1" u="none" dirty="0" smtClean="0">
                <a:solidFill>
                  <a:srgbClr val="FF3300"/>
                </a:solidFill>
              </a:rPr>
              <a:t>5-</a:t>
            </a:r>
            <a:r>
              <a:rPr kumimoji="0" lang="en-US" altLang="zh-CN" sz="1800" b="1" u="none" dirty="0" smtClean="0">
                <a:solidFill>
                  <a:srgbClr val="FF3300"/>
                </a:solidFill>
                <a:ea typeface="宋体" pitchFamily="2" charset="-122"/>
              </a:rPr>
              <a:t>20</a:t>
            </a:r>
            <a:r>
              <a:rPr kumimoji="0" lang="en-US" altLang="zh-CN" sz="1800" b="1" u="none" dirty="0">
                <a:solidFill>
                  <a:srgbClr val="FF3300"/>
                </a:solidFill>
                <a:ea typeface="宋体" pitchFamily="2" charset="-122"/>
              </a:rPr>
              <a:t>) </a:t>
            </a:r>
          </a:p>
        </p:txBody>
      </p:sp>
      <p:sp>
        <p:nvSpPr>
          <p:cNvPr id="12" name="Rectangle 4"/>
          <p:cNvSpPr>
            <a:spLocks noChangeArrowheads="1"/>
          </p:cNvSpPr>
          <p:nvPr/>
        </p:nvSpPr>
        <p:spPr bwMode="auto">
          <a:xfrm>
            <a:off x="379413" y="300831"/>
            <a:ext cx="3738562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 b="1" u="none" dirty="0" smtClean="0">
                <a:solidFill>
                  <a:srgbClr val="800000"/>
                </a:solidFill>
                <a:ea typeface="宋体" pitchFamily="2" charset="-122"/>
              </a:rPr>
              <a:t>5.3 </a:t>
            </a:r>
            <a:r>
              <a:rPr lang="zh-CN" altLang="en-US" sz="3200" b="1" u="none" dirty="0">
                <a:solidFill>
                  <a:srgbClr val="800000"/>
                </a:solidFill>
                <a:ea typeface="宋体" pitchFamily="2" charset="-122"/>
              </a:rPr>
              <a:t>相关分析及应用</a:t>
            </a:r>
            <a:r>
              <a:rPr lang="zh-CN" altLang="en-US" b="1" u="none" dirty="0">
                <a:solidFill>
                  <a:srgbClr val="000066"/>
                </a:solidFill>
                <a:ea typeface="宋体" pitchFamily="2" charset="-122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867" name="Rectangle 3"/>
          <p:cNvSpPr>
            <a:spLocks noChangeArrowheads="1"/>
          </p:cNvSpPr>
          <p:nvPr/>
        </p:nvSpPr>
        <p:spPr bwMode="auto">
          <a:xfrm>
            <a:off x="450850" y="925512"/>
            <a:ext cx="6172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0" lang="en-US" altLang="zh-CN" b="1" u="none">
                <a:solidFill>
                  <a:srgbClr val="FF3300"/>
                </a:solidFill>
              </a:rPr>
              <a:t>4</a:t>
            </a:r>
            <a:r>
              <a:rPr kumimoji="0" lang="zh-CN" altLang="en-US" b="1" u="none">
                <a:solidFill>
                  <a:srgbClr val="FF3300"/>
                </a:solidFill>
              </a:rPr>
              <a:t>）</a:t>
            </a:r>
            <a:r>
              <a:rPr kumimoji="0" lang="zh-CN" altLang="en-US" sz="2400" b="1" u="none">
                <a:solidFill>
                  <a:schemeClr val="tx1"/>
                </a:solidFill>
              </a:rPr>
              <a:t>地下输油管道漏损位置的探测</a:t>
            </a:r>
            <a:r>
              <a:rPr lang="zh-CN" altLang="en-US" b="1" u="none">
                <a:solidFill>
                  <a:srgbClr val="000066"/>
                </a:solidFill>
                <a:ea typeface="宋体" pitchFamily="2" charset="-122"/>
              </a:rPr>
              <a:t> </a:t>
            </a:r>
          </a:p>
        </p:txBody>
      </p:sp>
      <p:pic>
        <p:nvPicPr>
          <p:cNvPr id="420868" name="Picture 4"/>
          <p:cNvPicPr>
            <a:picLocks noChangeAspect="1" noChangeArrowheads="1"/>
          </p:cNvPicPr>
          <p:nvPr/>
        </p:nvPicPr>
        <p:blipFill>
          <a:blip r:embed="rId3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150" y="2647950"/>
            <a:ext cx="7467600" cy="3030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420877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112714"/>
              </p:ext>
            </p:extLst>
          </p:nvPr>
        </p:nvGraphicFramePr>
        <p:xfrm>
          <a:off x="5853112" y="1609060"/>
          <a:ext cx="1539875" cy="9413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940" name="公式" r:id="rId4" imgW="634725" imgH="393529" progId="Equation.3">
                  <p:embed/>
                </p:oleObj>
              </mc:Choice>
              <mc:Fallback>
                <p:oleObj name="公式" r:id="rId4" imgW="634725" imgH="393529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53112" y="1609060"/>
                        <a:ext cx="1539875" cy="941332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0878" name="Rectangle 14"/>
          <p:cNvSpPr>
            <a:spLocks noChangeArrowheads="1"/>
          </p:cNvSpPr>
          <p:nvPr/>
        </p:nvSpPr>
        <p:spPr bwMode="auto">
          <a:xfrm>
            <a:off x="2784326" y="2082729"/>
            <a:ext cx="16891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0" lang="en-US" altLang="zh-CN" sz="2400" b="1" u="none" dirty="0">
                <a:solidFill>
                  <a:schemeClr val="tx1"/>
                </a:solidFill>
                <a:ea typeface="宋体" pitchFamily="2" charset="-122"/>
              </a:rPr>
              <a:t>S1-S2=</a:t>
            </a:r>
            <a:r>
              <a:rPr kumimoji="0" lang="en-US" altLang="zh-CN" sz="2400" b="1" i="1" u="none" dirty="0" err="1">
                <a:solidFill>
                  <a:schemeClr val="tx1"/>
                </a:solidFill>
                <a:ea typeface="宋体" pitchFamily="2" charset="-122"/>
              </a:rPr>
              <a:t>v</a:t>
            </a:r>
            <a:r>
              <a:rPr kumimoji="0" lang="en-US" altLang="zh-CN" sz="2400" i="1" u="none" dirty="0" err="1">
                <a:solidFill>
                  <a:schemeClr val="tx1"/>
                </a:solidFill>
                <a:ea typeface="宋体" pitchFamily="2" charset="-122"/>
              </a:rPr>
              <a:t>τ</a:t>
            </a:r>
            <a:r>
              <a:rPr kumimoji="0" lang="en-US" altLang="zh-CN" sz="2400" i="1" u="none" baseline="-25000" dirty="0" err="1">
                <a:solidFill>
                  <a:schemeClr val="tx1"/>
                </a:solidFill>
                <a:ea typeface="宋体" pitchFamily="2" charset="-122"/>
              </a:rPr>
              <a:t>m</a:t>
            </a:r>
            <a:endParaRPr kumimoji="0" lang="en-US" altLang="zh-CN" sz="2400" i="1" u="none" baseline="-25000" dirty="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420879" name="Rectangle 15"/>
          <p:cNvSpPr>
            <a:spLocks noChangeArrowheads="1"/>
          </p:cNvSpPr>
          <p:nvPr/>
        </p:nvSpPr>
        <p:spPr bwMode="auto">
          <a:xfrm>
            <a:off x="1110970" y="1609060"/>
            <a:ext cx="311495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0" lang="en-US" altLang="zh-CN" sz="2400" b="1" u="none" dirty="0" smtClean="0">
                <a:solidFill>
                  <a:schemeClr val="tx1"/>
                </a:solidFill>
                <a:ea typeface="宋体" pitchFamily="2" charset="-122"/>
              </a:rPr>
              <a:t>S1-S=S2+S   S1-S2=2S</a:t>
            </a:r>
            <a:endParaRPr kumimoji="0" lang="en-US" altLang="zh-CN" sz="2400" b="1" u="none" dirty="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420880" name="Line 16"/>
          <p:cNvSpPr>
            <a:spLocks noChangeShapeType="1"/>
          </p:cNvSpPr>
          <p:nvPr/>
        </p:nvSpPr>
        <p:spPr bwMode="auto">
          <a:xfrm>
            <a:off x="4768850" y="2070725"/>
            <a:ext cx="936625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0881" name="Line 17"/>
          <p:cNvSpPr>
            <a:spLocks noChangeShapeType="1"/>
          </p:cNvSpPr>
          <p:nvPr/>
        </p:nvSpPr>
        <p:spPr bwMode="auto">
          <a:xfrm flipH="1">
            <a:off x="1976438" y="4530725"/>
            <a:ext cx="25400" cy="15875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0882" name="Line 18"/>
          <p:cNvSpPr>
            <a:spLocks noChangeShapeType="1"/>
          </p:cNvSpPr>
          <p:nvPr/>
        </p:nvSpPr>
        <p:spPr bwMode="auto">
          <a:xfrm>
            <a:off x="5237163" y="4551363"/>
            <a:ext cx="0" cy="1609725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0883" name="Line 19"/>
          <p:cNvSpPr>
            <a:spLocks noChangeShapeType="1"/>
          </p:cNvSpPr>
          <p:nvPr/>
        </p:nvSpPr>
        <p:spPr bwMode="auto">
          <a:xfrm>
            <a:off x="1978025" y="5473262"/>
            <a:ext cx="1231900" cy="127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 type="stealth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0884" name="Line 20"/>
          <p:cNvSpPr>
            <a:spLocks noChangeShapeType="1"/>
          </p:cNvSpPr>
          <p:nvPr/>
        </p:nvSpPr>
        <p:spPr bwMode="auto">
          <a:xfrm flipV="1">
            <a:off x="3317875" y="5451733"/>
            <a:ext cx="1919288" cy="127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 type="stealth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0885" name="Rectangle 21"/>
          <p:cNvSpPr>
            <a:spLocks noChangeArrowheads="1"/>
          </p:cNvSpPr>
          <p:nvPr/>
        </p:nvSpPr>
        <p:spPr bwMode="auto">
          <a:xfrm>
            <a:off x="1679575" y="5143500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0" lang="en-US" altLang="zh-CN" sz="1800" b="1" u="none">
                <a:solidFill>
                  <a:srgbClr val="FF3300"/>
                </a:solidFill>
                <a:ea typeface="宋体" pitchFamily="2" charset="-122"/>
              </a:rPr>
              <a:t>1</a:t>
            </a:r>
          </a:p>
        </p:txBody>
      </p:sp>
      <p:sp>
        <p:nvSpPr>
          <p:cNvPr id="420886" name="Rectangle 22"/>
          <p:cNvSpPr>
            <a:spLocks noChangeArrowheads="1"/>
          </p:cNvSpPr>
          <p:nvPr/>
        </p:nvSpPr>
        <p:spPr bwMode="auto">
          <a:xfrm>
            <a:off x="5262563" y="5127625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0" lang="en-US" altLang="zh-CN" sz="1800" b="1" u="none">
                <a:solidFill>
                  <a:srgbClr val="FF3300"/>
                </a:solidFill>
                <a:ea typeface="宋体" pitchFamily="2" charset="-122"/>
              </a:rPr>
              <a:t>2</a:t>
            </a:r>
          </a:p>
        </p:txBody>
      </p:sp>
      <p:sp>
        <p:nvSpPr>
          <p:cNvPr id="420887" name="Rectangle 23"/>
          <p:cNvSpPr>
            <a:spLocks noChangeArrowheads="1"/>
          </p:cNvSpPr>
          <p:nvPr/>
        </p:nvSpPr>
        <p:spPr bwMode="auto">
          <a:xfrm>
            <a:off x="4013200" y="5486944"/>
            <a:ext cx="425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0" lang="en-US" altLang="zh-CN" sz="1800" b="1" u="none" dirty="0">
                <a:solidFill>
                  <a:srgbClr val="FF3300"/>
                </a:solidFill>
                <a:ea typeface="宋体" pitchFamily="2" charset="-122"/>
              </a:rPr>
              <a:t>S1</a:t>
            </a:r>
          </a:p>
        </p:txBody>
      </p:sp>
      <p:sp>
        <p:nvSpPr>
          <p:cNvPr id="420888" name="Rectangle 24"/>
          <p:cNvSpPr>
            <a:spLocks noChangeArrowheads="1"/>
          </p:cNvSpPr>
          <p:nvPr/>
        </p:nvSpPr>
        <p:spPr bwMode="auto">
          <a:xfrm>
            <a:off x="2392363" y="5486943"/>
            <a:ext cx="425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0" lang="en-US" altLang="zh-CN" sz="1800" b="1" u="none" dirty="0">
                <a:solidFill>
                  <a:srgbClr val="FF3300"/>
                </a:solidFill>
                <a:ea typeface="宋体" pitchFamily="2" charset="-122"/>
              </a:rPr>
              <a:t>S2</a:t>
            </a:r>
          </a:p>
        </p:txBody>
      </p:sp>
      <p:sp>
        <p:nvSpPr>
          <p:cNvPr id="16" name="Rectangle 4"/>
          <p:cNvSpPr>
            <a:spLocks noChangeArrowheads="1"/>
          </p:cNvSpPr>
          <p:nvPr/>
        </p:nvSpPr>
        <p:spPr bwMode="auto">
          <a:xfrm>
            <a:off x="379413" y="300831"/>
            <a:ext cx="3738562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 b="1" u="none" dirty="0" smtClean="0">
                <a:solidFill>
                  <a:srgbClr val="800000"/>
                </a:solidFill>
                <a:ea typeface="宋体" pitchFamily="2" charset="-122"/>
              </a:rPr>
              <a:t>5.3 </a:t>
            </a:r>
            <a:r>
              <a:rPr lang="zh-CN" altLang="en-US" sz="3200" b="1" u="none" dirty="0">
                <a:solidFill>
                  <a:srgbClr val="800000"/>
                </a:solidFill>
                <a:ea typeface="宋体" pitchFamily="2" charset="-122"/>
              </a:rPr>
              <a:t>相关分析及应用</a:t>
            </a:r>
            <a:r>
              <a:rPr lang="zh-CN" altLang="en-US" b="1" u="none" dirty="0">
                <a:solidFill>
                  <a:srgbClr val="000066"/>
                </a:solidFill>
                <a:ea typeface="宋体" pitchFamily="2" charset="-122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208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208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208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208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208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208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208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208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208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208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208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208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208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208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4208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208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0878" grpId="0"/>
      <p:bldP spid="420879" grpId="0"/>
      <p:bldP spid="420880" grpId="0" animBg="1"/>
      <p:bldP spid="420881" grpId="0" animBg="1"/>
      <p:bldP spid="420882" grpId="0" animBg="1"/>
      <p:bldP spid="420883" grpId="0" animBg="1"/>
      <p:bldP spid="420884" grpId="0" animBg="1"/>
      <p:bldP spid="420885" grpId="0"/>
      <p:bldP spid="420886" grpId="0"/>
      <p:bldP spid="420887" grpId="0"/>
      <p:bldP spid="420888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3330" name="Picture 2" descr="y045"/>
          <p:cNvPicPr>
            <a:picLocks noGrp="1" noChangeAspect="1" noChangeArrowheads="1"/>
          </p:cNvPicPr>
          <p:nvPr>
            <p:ph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765104" y="1670799"/>
            <a:ext cx="6639156" cy="4723846"/>
          </a:xfrm>
          <a:noFill/>
          <a:ln/>
        </p:spPr>
      </p:pic>
      <p:sp>
        <p:nvSpPr>
          <p:cNvPr id="483332" name="Text Box 4"/>
          <p:cNvSpPr txBox="1">
            <a:spLocks noChangeArrowheads="1"/>
          </p:cNvSpPr>
          <p:nvPr/>
        </p:nvSpPr>
        <p:spPr bwMode="auto">
          <a:xfrm>
            <a:off x="426244" y="1824154"/>
            <a:ext cx="2325687" cy="519112"/>
          </a:xfrm>
          <a:prstGeom prst="rect">
            <a:avLst/>
          </a:prstGeom>
          <a:solidFill>
            <a:srgbClr val="CC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 u="none" dirty="0">
                <a:solidFill>
                  <a:srgbClr val="800000"/>
                </a:solidFill>
                <a:ea typeface="华文新魏" pitchFamily="2" charset="-122"/>
              </a:rPr>
              <a:t>传输通路分析</a:t>
            </a:r>
          </a:p>
        </p:txBody>
      </p:sp>
      <p:sp>
        <p:nvSpPr>
          <p:cNvPr id="483336" name="Rectangle 8"/>
          <p:cNvSpPr>
            <a:spLocks noChangeArrowheads="1"/>
          </p:cNvSpPr>
          <p:nvPr/>
        </p:nvSpPr>
        <p:spPr bwMode="auto">
          <a:xfrm>
            <a:off x="569912" y="1068079"/>
            <a:ext cx="37290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kumimoji="0" lang="en-US" altLang="zh-CN" sz="2400" b="1" u="none">
                <a:solidFill>
                  <a:srgbClr val="FF3300"/>
                </a:solidFill>
              </a:rPr>
              <a:t>5)</a:t>
            </a:r>
            <a:r>
              <a:rPr kumimoji="0" lang="en-US" altLang="zh-CN" sz="2400" b="1" u="none">
                <a:solidFill>
                  <a:schemeClr val="tx1"/>
                </a:solidFill>
              </a:rPr>
              <a:t> </a:t>
            </a:r>
            <a:r>
              <a:rPr kumimoji="0" lang="zh-CN" altLang="en-US" sz="2400" b="1" u="none">
                <a:solidFill>
                  <a:schemeClr val="tx1"/>
                </a:solidFill>
              </a:rPr>
              <a:t>寻找振源</a:t>
            </a:r>
            <a:r>
              <a:rPr kumimoji="0" lang="en-US" altLang="zh-CN" sz="2400" b="1" u="none">
                <a:solidFill>
                  <a:schemeClr val="tx1"/>
                </a:solidFill>
              </a:rPr>
              <a:t>——</a:t>
            </a:r>
            <a:r>
              <a:rPr kumimoji="0" lang="zh-CN" altLang="en-US" sz="2400" b="1" u="none">
                <a:solidFill>
                  <a:schemeClr val="tx1"/>
                </a:solidFill>
              </a:rPr>
              <a:t>故障诊断</a:t>
            </a:r>
            <a:r>
              <a:rPr kumimoji="0" lang="zh-CN" altLang="en-US" sz="2400" b="1" u="none">
                <a:solidFill>
                  <a:schemeClr val="tx1"/>
                </a:solidFill>
                <a:latin typeface="黑体" pitchFamily="2" charset="-122"/>
              </a:rPr>
              <a:t> </a:t>
            </a: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379413" y="300831"/>
            <a:ext cx="3738562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 b="1" u="none" dirty="0" smtClean="0">
                <a:solidFill>
                  <a:srgbClr val="800000"/>
                </a:solidFill>
                <a:ea typeface="宋体" pitchFamily="2" charset="-122"/>
              </a:rPr>
              <a:t>5.3 </a:t>
            </a:r>
            <a:r>
              <a:rPr lang="zh-CN" altLang="en-US" sz="3200" b="1" u="none" dirty="0">
                <a:solidFill>
                  <a:srgbClr val="800000"/>
                </a:solidFill>
                <a:ea typeface="宋体" pitchFamily="2" charset="-122"/>
              </a:rPr>
              <a:t>相关分析及应用</a:t>
            </a:r>
            <a:r>
              <a:rPr lang="zh-CN" altLang="en-US" b="1" u="none" dirty="0">
                <a:solidFill>
                  <a:srgbClr val="000066"/>
                </a:solidFill>
                <a:ea typeface="宋体" pitchFamily="2" charset="-122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4" name="Rectangle 14"/>
          <p:cNvSpPr>
            <a:spLocks noChangeArrowheads="1"/>
          </p:cNvSpPr>
          <p:nvPr/>
        </p:nvSpPr>
        <p:spPr bwMode="auto">
          <a:xfrm>
            <a:off x="566738" y="1400175"/>
            <a:ext cx="423068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buClr>
                <a:srgbClr val="FF3300"/>
              </a:buClr>
              <a:buFont typeface="Wingdings" pitchFamily="2" charset="2"/>
              <a:buNone/>
            </a:pPr>
            <a:r>
              <a:rPr lang="en-US" altLang="zh-CN" b="1" u="none">
                <a:solidFill>
                  <a:srgbClr val="000066"/>
                </a:solidFill>
              </a:rPr>
              <a:t>1. </a:t>
            </a:r>
            <a:r>
              <a:rPr lang="zh-CN" altLang="en-US" b="1" u="none">
                <a:solidFill>
                  <a:srgbClr val="000066"/>
                </a:solidFill>
              </a:rPr>
              <a:t>巴塞伐尔</a:t>
            </a:r>
            <a:r>
              <a:rPr lang="en-US" altLang="zh-CN" b="1" u="none">
                <a:solidFill>
                  <a:srgbClr val="000066"/>
                </a:solidFill>
              </a:rPr>
              <a:t>(Paseval) </a:t>
            </a:r>
            <a:r>
              <a:rPr lang="zh-CN" altLang="en-US" b="1" u="none">
                <a:solidFill>
                  <a:srgbClr val="000066"/>
                </a:solidFill>
              </a:rPr>
              <a:t>定理</a:t>
            </a:r>
            <a:r>
              <a:rPr kumimoji="0" lang="zh-CN" altLang="en-US" sz="2400" b="1" u="none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440335" name="Rectangle 15"/>
          <p:cNvSpPr>
            <a:spLocks noChangeArrowheads="1"/>
          </p:cNvSpPr>
          <p:nvPr/>
        </p:nvSpPr>
        <p:spPr bwMode="auto">
          <a:xfrm>
            <a:off x="788988" y="2120900"/>
            <a:ext cx="763270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kumimoji="0" lang="en-US" altLang="zh-CN" sz="2400" b="1" u="none">
                <a:solidFill>
                  <a:schemeClr val="tx1"/>
                </a:solidFill>
              </a:rPr>
              <a:t>       </a:t>
            </a:r>
            <a:r>
              <a:rPr kumimoji="0" lang="zh-CN" altLang="en-US" sz="2400" b="1" u="none">
                <a:solidFill>
                  <a:schemeClr val="tx1"/>
                </a:solidFill>
              </a:rPr>
              <a:t>在</a:t>
            </a:r>
            <a:r>
              <a:rPr kumimoji="0" lang="zh-CN" altLang="en-US" sz="2400" b="1" u="none">
                <a:solidFill>
                  <a:srgbClr val="FF3300"/>
                </a:solidFill>
              </a:rPr>
              <a:t>时域</a:t>
            </a:r>
            <a:r>
              <a:rPr kumimoji="0" lang="zh-CN" altLang="en-US" sz="2400" b="1" u="none">
                <a:solidFill>
                  <a:schemeClr val="tx1"/>
                </a:solidFill>
              </a:rPr>
              <a:t>中计算的信号总能量，等于在</a:t>
            </a:r>
            <a:r>
              <a:rPr kumimoji="0" lang="zh-CN" altLang="en-US" sz="2400" b="1" u="none">
                <a:solidFill>
                  <a:srgbClr val="FF3300"/>
                </a:solidFill>
              </a:rPr>
              <a:t>频域</a:t>
            </a:r>
            <a:r>
              <a:rPr kumimoji="0" lang="zh-CN" altLang="en-US" sz="2400" b="1" u="none">
                <a:solidFill>
                  <a:schemeClr val="tx1"/>
                </a:solidFill>
              </a:rPr>
              <a:t>中计算的信号总能量， </a:t>
            </a:r>
          </a:p>
        </p:txBody>
      </p:sp>
      <p:graphicFrame>
        <p:nvGraphicFramePr>
          <p:cNvPr id="440336" name="Object 16"/>
          <p:cNvGraphicFramePr>
            <a:graphicFrameLocks noChangeAspect="1"/>
          </p:cNvGraphicFramePr>
          <p:nvPr/>
        </p:nvGraphicFramePr>
        <p:xfrm>
          <a:off x="1476375" y="3208338"/>
          <a:ext cx="4846638" cy="968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443" name="公式" r:id="rId3" imgW="1663700" imgH="330200" progId="Equation.3">
                  <p:embed/>
                </p:oleObj>
              </mc:Choice>
              <mc:Fallback>
                <p:oleObj name="公式" r:id="rId3" imgW="1663700" imgH="33020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6375" y="3208338"/>
                        <a:ext cx="4846638" cy="9683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337" name="Rectangle 17"/>
          <p:cNvSpPr>
            <a:spLocks noChangeArrowheads="1"/>
          </p:cNvSpPr>
          <p:nvPr/>
        </p:nvSpPr>
        <p:spPr bwMode="auto">
          <a:xfrm>
            <a:off x="6723063" y="3500438"/>
            <a:ext cx="8128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kumimoji="0" lang="en-US" altLang="zh-CN" sz="1800" b="1" u="none" dirty="0" smtClean="0">
                <a:solidFill>
                  <a:srgbClr val="FF3300"/>
                </a:solidFill>
                <a:ea typeface="宋体" pitchFamily="2" charset="-122"/>
              </a:rPr>
              <a:t>(</a:t>
            </a:r>
            <a:r>
              <a:rPr kumimoji="0" lang="en-US" altLang="zh-CN" sz="1800" b="1" u="none" dirty="0" smtClean="0">
                <a:solidFill>
                  <a:srgbClr val="FF3300"/>
                </a:solidFill>
              </a:rPr>
              <a:t>5-</a:t>
            </a:r>
            <a:r>
              <a:rPr kumimoji="0" lang="en-US" altLang="zh-CN" sz="1800" b="1" u="none" dirty="0" smtClean="0">
                <a:solidFill>
                  <a:srgbClr val="FF3300"/>
                </a:solidFill>
                <a:ea typeface="宋体" pitchFamily="2" charset="-122"/>
              </a:rPr>
              <a:t>24</a:t>
            </a:r>
            <a:r>
              <a:rPr kumimoji="0" lang="en-US" altLang="zh-CN" sz="1800" b="1" u="none" dirty="0">
                <a:solidFill>
                  <a:srgbClr val="FF3300"/>
                </a:solidFill>
                <a:ea typeface="宋体" pitchFamily="2" charset="-122"/>
              </a:rPr>
              <a:t>) </a:t>
            </a:r>
          </a:p>
        </p:txBody>
      </p:sp>
      <p:sp>
        <p:nvSpPr>
          <p:cNvPr id="440338" name="Rectangle 18"/>
          <p:cNvSpPr>
            <a:spLocks noChangeArrowheads="1"/>
          </p:cNvSpPr>
          <p:nvPr/>
        </p:nvSpPr>
        <p:spPr bwMode="auto">
          <a:xfrm>
            <a:off x="269876" y="263642"/>
            <a:ext cx="4335462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sz="3200" b="1" u="none" dirty="0" smtClean="0">
                <a:solidFill>
                  <a:srgbClr val="800000"/>
                </a:solidFill>
              </a:rPr>
              <a:t>5.4 </a:t>
            </a:r>
            <a:r>
              <a:rPr lang="zh-CN" altLang="en-US" sz="3200" b="1" u="none" dirty="0">
                <a:solidFill>
                  <a:srgbClr val="800000"/>
                </a:solidFill>
              </a:rPr>
              <a:t>功率谱分析及应用</a:t>
            </a:r>
          </a:p>
        </p:txBody>
      </p:sp>
      <p:graphicFrame>
        <p:nvGraphicFramePr>
          <p:cNvPr id="440340" name="Object 20"/>
          <p:cNvGraphicFramePr>
            <a:graphicFrameLocks noGrp="1" noChangeAspect="1"/>
          </p:cNvGraphicFramePr>
          <p:nvPr>
            <p:ph/>
          </p:nvPr>
        </p:nvGraphicFramePr>
        <p:xfrm>
          <a:off x="939800" y="4613275"/>
          <a:ext cx="1419225" cy="59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444" name="公式" r:id="rId5" imgW="545760" imgH="228600" progId="Equation.3">
                  <p:embed/>
                </p:oleObj>
              </mc:Choice>
              <mc:Fallback>
                <p:oleObj name="公式" r:id="rId5" imgW="545760" imgH="228600" progId="Equation.3">
                  <p:embed/>
                  <p:pic>
                    <p:nvPicPr>
                      <p:cNvPr id="0" name="Object 20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9800" y="4613275"/>
                        <a:ext cx="1419225" cy="593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342" name="Rectangle 22"/>
          <p:cNvSpPr>
            <a:spLocks noChangeArrowheads="1"/>
          </p:cNvSpPr>
          <p:nvPr/>
        </p:nvSpPr>
        <p:spPr bwMode="auto">
          <a:xfrm>
            <a:off x="2506663" y="4740275"/>
            <a:ext cx="54149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kumimoji="0" lang="zh-CN" altLang="en-US" sz="2400" b="1" u="none">
                <a:solidFill>
                  <a:schemeClr val="tx1"/>
                </a:solidFill>
              </a:rPr>
              <a:t>沿频率轴的能量分布密度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589" name="Text Box 5"/>
          <p:cNvSpPr txBox="1">
            <a:spLocks noChangeArrowheads="1"/>
          </p:cNvSpPr>
          <p:nvPr/>
        </p:nvSpPr>
        <p:spPr bwMode="auto">
          <a:xfrm>
            <a:off x="398463" y="881643"/>
            <a:ext cx="246221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 u="none" dirty="0">
                <a:solidFill>
                  <a:srgbClr val="000066"/>
                </a:solidFill>
              </a:rPr>
              <a:t>2.</a:t>
            </a:r>
            <a:r>
              <a:rPr lang="zh-CN" altLang="en-US" b="1" u="none" dirty="0">
                <a:solidFill>
                  <a:srgbClr val="000066"/>
                </a:solidFill>
              </a:rPr>
              <a:t>自谱和互谱</a:t>
            </a:r>
          </a:p>
        </p:txBody>
      </p:sp>
      <p:graphicFrame>
        <p:nvGraphicFramePr>
          <p:cNvPr id="451590" name="Object 6"/>
          <p:cNvGraphicFramePr>
            <a:graphicFrameLocks noChangeAspect="1"/>
          </p:cNvGraphicFramePr>
          <p:nvPr/>
        </p:nvGraphicFramePr>
        <p:xfrm>
          <a:off x="3314700" y="1498600"/>
          <a:ext cx="914400" cy="198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1777" name="Equation" r:id="rId3" imgW="914400" imgH="198720" progId="Equation.DSMT4">
                  <p:embed/>
                </p:oleObj>
              </mc:Choice>
              <mc:Fallback>
                <p:oleObj name="Equation" r:id="rId3" imgW="914400" imgH="19872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14700" y="1498600"/>
                        <a:ext cx="914400" cy="198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1592" name="Text Box 8"/>
          <p:cNvSpPr txBox="1">
            <a:spLocks noChangeArrowheads="1"/>
          </p:cNvSpPr>
          <p:nvPr/>
        </p:nvSpPr>
        <p:spPr bwMode="auto">
          <a:xfrm>
            <a:off x="609600" y="1554163"/>
            <a:ext cx="1938338" cy="466725"/>
          </a:xfrm>
          <a:prstGeom prst="rect">
            <a:avLst/>
          </a:prstGeom>
          <a:solidFill>
            <a:srgbClr val="CC99FF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u="none">
                <a:solidFill>
                  <a:srgbClr val="990000"/>
                </a:solidFill>
                <a:ea typeface="楷体_GB2312" pitchFamily="49" charset="-122"/>
              </a:rPr>
              <a:t>(1).</a:t>
            </a:r>
            <a:r>
              <a:rPr lang="zh-CN" altLang="en-US" sz="2400" b="1" u="none">
                <a:solidFill>
                  <a:srgbClr val="990000"/>
                </a:solidFill>
                <a:ea typeface="楷体_GB2312" pitchFamily="49" charset="-122"/>
              </a:rPr>
              <a:t>自谱定义</a:t>
            </a:r>
          </a:p>
        </p:txBody>
      </p:sp>
      <p:sp>
        <p:nvSpPr>
          <p:cNvPr id="451596" name="Rectangle 12"/>
          <p:cNvSpPr>
            <a:spLocks noChangeArrowheads="1"/>
          </p:cNvSpPr>
          <p:nvPr/>
        </p:nvSpPr>
        <p:spPr bwMode="auto">
          <a:xfrm>
            <a:off x="1001713" y="2789149"/>
            <a:ext cx="38860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buClr>
                <a:srgbClr val="FF3300"/>
              </a:buClr>
              <a:buFont typeface="Wingdings" pitchFamily="2" charset="2"/>
              <a:buChar char="ü"/>
            </a:pPr>
            <a:r>
              <a:rPr kumimoji="0" lang="en-US" altLang="zh-CN" sz="2000" b="1" u="none" dirty="0" err="1">
                <a:solidFill>
                  <a:schemeClr val="tx1"/>
                </a:solidFill>
              </a:rPr>
              <a:t>S</a:t>
            </a:r>
            <a:r>
              <a:rPr kumimoji="0" lang="en-US" altLang="zh-CN" sz="2000" b="1" i="1" u="none" baseline="-25000" dirty="0" err="1">
                <a:solidFill>
                  <a:schemeClr val="tx1"/>
                </a:solidFill>
              </a:rPr>
              <a:t>x</a:t>
            </a:r>
            <a:r>
              <a:rPr kumimoji="0" lang="en-US" altLang="zh-CN" sz="2000" b="1" u="none" dirty="0">
                <a:solidFill>
                  <a:schemeClr val="tx1"/>
                </a:solidFill>
              </a:rPr>
              <a:t>(</a:t>
            </a:r>
            <a:r>
              <a:rPr kumimoji="0" lang="en-US" altLang="zh-CN" sz="2000" b="1" u="none" dirty="0" err="1">
                <a:solidFill>
                  <a:schemeClr val="tx1"/>
                </a:solidFill>
              </a:rPr>
              <a:t>j</a:t>
            </a:r>
            <a:r>
              <a:rPr kumimoji="0" lang="en-US" altLang="zh-CN" sz="2000" b="1" i="1" u="none" dirty="0" err="1">
                <a:solidFill>
                  <a:schemeClr val="tx1"/>
                </a:solidFill>
              </a:rPr>
              <a:t>f</a:t>
            </a:r>
            <a:r>
              <a:rPr kumimoji="0" lang="en-US" altLang="zh-CN" sz="2000" b="1" u="none" dirty="0">
                <a:solidFill>
                  <a:schemeClr val="tx1"/>
                </a:solidFill>
              </a:rPr>
              <a:t>)</a:t>
            </a:r>
            <a:r>
              <a:rPr kumimoji="0" lang="zh-CN" altLang="en-US" sz="2000" b="1" u="none" dirty="0">
                <a:solidFill>
                  <a:schemeClr val="tx1"/>
                </a:solidFill>
              </a:rPr>
              <a:t>包含着</a:t>
            </a:r>
            <a:r>
              <a:rPr kumimoji="0" lang="en-US" altLang="zh-CN" sz="2000" b="1" i="1" u="none" dirty="0">
                <a:solidFill>
                  <a:schemeClr val="tx1"/>
                </a:solidFill>
              </a:rPr>
              <a:t>R</a:t>
            </a:r>
            <a:r>
              <a:rPr kumimoji="0" lang="en-US" altLang="zh-CN" sz="2000" b="1" i="1" u="none" baseline="-25000" dirty="0">
                <a:solidFill>
                  <a:schemeClr val="tx1"/>
                </a:solidFill>
              </a:rPr>
              <a:t>x</a:t>
            </a:r>
            <a:r>
              <a:rPr kumimoji="0" lang="en-US" altLang="zh-CN" sz="2000" b="1" u="none" dirty="0">
                <a:solidFill>
                  <a:schemeClr val="tx1"/>
                </a:solidFill>
              </a:rPr>
              <a:t>(τ)</a:t>
            </a:r>
            <a:r>
              <a:rPr kumimoji="0" lang="zh-CN" altLang="en-US" sz="2000" b="1" u="none" dirty="0">
                <a:solidFill>
                  <a:schemeClr val="tx1"/>
                </a:solidFill>
              </a:rPr>
              <a:t>的全部信息。 </a:t>
            </a:r>
          </a:p>
        </p:txBody>
      </p:sp>
      <p:sp>
        <p:nvSpPr>
          <p:cNvPr id="451597" name="Rectangle 13"/>
          <p:cNvSpPr>
            <a:spLocks noChangeArrowheads="1"/>
          </p:cNvSpPr>
          <p:nvPr/>
        </p:nvSpPr>
        <p:spPr bwMode="auto">
          <a:xfrm>
            <a:off x="1023938" y="3225707"/>
            <a:ext cx="4903907" cy="40011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buClr>
                <a:srgbClr val="FF3300"/>
              </a:buClr>
              <a:buFont typeface="Wingdings" pitchFamily="2" charset="2"/>
              <a:buChar char="ü"/>
            </a:pPr>
            <a:r>
              <a:rPr kumimoji="0" lang="en-US" altLang="zh-CN" sz="2000" b="1" i="1" u="none">
                <a:solidFill>
                  <a:schemeClr val="tx1"/>
                </a:solidFill>
              </a:rPr>
              <a:t>R</a:t>
            </a:r>
            <a:r>
              <a:rPr kumimoji="0" lang="en-US" altLang="zh-CN" sz="2000" b="1" i="1" u="none" baseline="-25000">
                <a:solidFill>
                  <a:schemeClr val="tx1"/>
                </a:solidFill>
              </a:rPr>
              <a:t>x</a:t>
            </a:r>
            <a:r>
              <a:rPr kumimoji="0" lang="en-US" altLang="zh-CN" sz="2000" b="1" u="none">
                <a:solidFill>
                  <a:schemeClr val="tx1"/>
                </a:solidFill>
              </a:rPr>
              <a:t>(τ)</a:t>
            </a:r>
            <a:r>
              <a:rPr kumimoji="0" lang="zh-CN" altLang="en-US" sz="2000" b="1" u="none">
                <a:solidFill>
                  <a:schemeClr val="tx1"/>
                </a:solidFill>
              </a:rPr>
              <a:t>为实偶函数，</a:t>
            </a:r>
            <a:r>
              <a:rPr kumimoji="0" lang="en-US" altLang="zh-CN" sz="2000" b="1" u="none">
                <a:solidFill>
                  <a:schemeClr val="tx1"/>
                </a:solidFill>
              </a:rPr>
              <a:t>S</a:t>
            </a:r>
            <a:r>
              <a:rPr kumimoji="0" lang="en-US" altLang="zh-CN" sz="2000" b="1" i="1" u="none" baseline="-25000">
                <a:solidFill>
                  <a:schemeClr val="tx1"/>
                </a:solidFill>
              </a:rPr>
              <a:t>x</a:t>
            </a:r>
            <a:r>
              <a:rPr kumimoji="0" lang="en-US" altLang="zh-CN" sz="2000" b="1" u="none">
                <a:solidFill>
                  <a:schemeClr val="tx1"/>
                </a:solidFill>
              </a:rPr>
              <a:t>(</a:t>
            </a:r>
            <a:r>
              <a:rPr kumimoji="0" lang="en-US" altLang="zh-CN" sz="2000" b="1" i="1" u="none">
                <a:solidFill>
                  <a:schemeClr val="tx1"/>
                </a:solidFill>
              </a:rPr>
              <a:t>jf</a:t>
            </a:r>
            <a:r>
              <a:rPr kumimoji="0" lang="en-US" altLang="zh-CN" sz="2000" b="1" u="none">
                <a:solidFill>
                  <a:schemeClr val="tx1"/>
                </a:solidFill>
              </a:rPr>
              <a:t>)</a:t>
            </a:r>
            <a:r>
              <a:rPr kumimoji="0" lang="zh-CN" altLang="en-US" sz="2000" b="1" u="none">
                <a:solidFill>
                  <a:schemeClr val="tx1"/>
                </a:solidFill>
              </a:rPr>
              <a:t>也为实偶函数。 </a:t>
            </a:r>
          </a:p>
        </p:txBody>
      </p:sp>
      <p:graphicFrame>
        <p:nvGraphicFramePr>
          <p:cNvPr id="451598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04815796"/>
              </p:ext>
            </p:extLst>
          </p:nvPr>
        </p:nvGraphicFramePr>
        <p:xfrm>
          <a:off x="2862263" y="1411289"/>
          <a:ext cx="3462337" cy="690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1778" name="公式" r:id="rId5" imgW="1663560" imgH="330120" progId="Equation.3">
                  <p:embed/>
                </p:oleObj>
              </mc:Choice>
              <mc:Fallback>
                <p:oleObj name="公式" r:id="rId5" imgW="1663560" imgH="33012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62263" y="1411289"/>
                        <a:ext cx="3462337" cy="690938"/>
                      </a:xfrm>
                      <a:prstGeom prst="rect">
                        <a:avLst/>
                      </a:prstGeom>
                      <a:solidFill>
                        <a:srgbClr val="FFCC99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1599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66472910"/>
              </p:ext>
            </p:extLst>
          </p:nvPr>
        </p:nvGraphicFramePr>
        <p:xfrm>
          <a:off x="2871523" y="2125133"/>
          <a:ext cx="3467629" cy="6976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1779" name="公式" r:id="rId7" imgW="1587240" imgH="330120" progId="Equation.3">
                  <p:embed/>
                </p:oleObj>
              </mc:Choice>
              <mc:Fallback>
                <p:oleObj name="公式" r:id="rId7" imgW="1587240" imgH="33012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71523" y="2125133"/>
                        <a:ext cx="3467629" cy="697630"/>
                      </a:xfrm>
                      <a:prstGeom prst="rect">
                        <a:avLst/>
                      </a:prstGeom>
                      <a:solidFill>
                        <a:srgbClr val="FFCC99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1600" name="Rectangle 16"/>
          <p:cNvSpPr>
            <a:spLocks noChangeArrowheads="1"/>
          </p:cNvSpPr>
          <p:nvPr/>
        </p:nvSpPr>
        <p:spPr bwMode="auto">
          <a:xfrm>
            <a:off x="6553200" y="1604169"/>
            <a:ext cx="8128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kumimoji="0" lang="en-US" altLang="zh-CN" sz="1800" b="1" u="none" dirty="0" smtClean="0">
                <a:solidFill>
                  <a:srgbClr val="FF3300"/>
                </a:solidFill>
                <a:ea typeface="宋体" pitchFamily="2" charset="-122"/>
              </a:rPr>
              <a:t>(</a:t>
            </a:r>
            <a:r>
              <a:rPr kumimoji="0" lang="en-US" altLang="zh-CN" sz="1800" b="1" u="none" dirty="0" smtClean="0">
                <a:solidFill>
                  <a:srgbClr val="FF3300"/>
                </a:solidFill>
              </a:rPr>
              <a:t>5-</a:t>
            </a:r>
            <a:r>
              <a:rPr kumimoji="0" lang="en-US" altLang="zh-CN" sz="1800" b="1" u="none" dirty="0" smtClean="0">
                <a:solidFill>
                  <a:srgbClr val="FF3300"/>
                </a:solidFill>
                <a:ea typeface="宋体" pitchFamily="2" charset="-122"/>
              </a:rPr>
              <a:t>25</a:t>
            </a:r>
            <a:r>
              <a:rPr kumimoji="0" lang="en-US" altLang="zh-CN" sz="1800" b="1" u="none" dirty="0">
                <a:solidFill>
                  <a:srgbClr val="FF3300"/>
                </a:solidFill>
                <a:ea typeface="宋体" pitchFamily="2" charset="-122"/>
              </a:rPr>
              <a:t>) </a:t>
            </a:r>
          </a:p>
        </p:txBody>
      </p:sp>
      <p:sp>
        <p:nvSpPr>
          <p:cNvPr id="451601" name="Rectangle 17"/>
          <p:cNvSpPr>
            <a:spLocks noChangeArrowheads="1"/>
          </p:cNvSpPr>
          <p:nvPr/>
        </p:nvSpPr>
        <p:spPr bwMode="auto">
          <a:xfrm>
            <a:off x="6508750" y="2204243"/>
            <a:ext cx="812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kumimoji="0" lang="en-US" altLang="zh-CN" sz="1800" b="1" u="none" dirty="0" smtClean="0">
                <a:solidFill>
                  <a:srgbClr val="FF3300"/>
                </a:solidFill>
                <a:ea typeface="宋体" pitchFamily="2" charset="-122"/>
              </a:rPr>
              <a:t>(</a:t>
            </a:r>
            <a:r>
              <a:rPr kumimoji="0" lang="en-US" altLang="zh-CN" sz="1800" b="1" u="none" dirty="0" smtClean="0">
                <a:solidFill>
                  <a:srgbClr val="FF3300"/>
                </a:solidFill>
              </a:rPr>
              <a:t>5-</a:t>
            </a:r>
            <a:r>
              <a:rPr kumimoji="0" lang="en-US" altLang="zh-CN" sz="1800" b="1" u="none" dirty="0" smtClean="0">
                <a:solidFill>
                  <a:srgbClr val="FF3300"/>
                </a:solidFill>
                <a:ea typeface="宋体" pitchFamily="2" charset="-122"/>
              </a:rPr>
              <a:t>26</a:t>
            </a:r>
            <a:r>
              <a:rPr kumimoji="0" lang="en-US" altLang="zh-CN" sz="1800" b="1" u="none" dirty="0">
                <a:solidFill>
                  <a:srgbClr val="FF3300"/>
                </a:solidFill>
                <a:ea typeface="宋体" pitchFamily="2" charset="-122"/>
              </a:rPr>
              <a:t>) </a:t>
            </a:r>
          </a:p>
        </p:txBody>
      </p:sp>
      <p:sp>
        <p:nvSpPr>
          <p:cNvPr id="12" name="Rectangle 18"/>
          <p:cNvSpPr>
            <a:spLocks noChangeArrowheads="1"/>
          </p:cNvSpPr>
          <p:nvPr/>
        </p:nvSpPr>
        <p:spPr bwMode="auto">
          <a:xfrm>
            <a:off x="269876" y="263642"/>
            <a:ext cx="4335462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sz="3200" b="1" u="none" dirty="0" smtClean="0">
                <a:solidFill>
                  <a:srgbClr val="800000"/>
                </a:solidFill>
              </a:rPr>
              <a:t>5.4 </a:t>
            </a:r>
            <a:r>
              <a:rPr lang="zh-CN" altLang="en-US" sz="3200" b="1" u="none" dirty="0">
                <a:solidFill>
                  <a:srgbClr val="800000"/>
                </a:solidFill>
              </a:rPr>
              <a:t>功率谱分析及应用</a:t>
            </a:r>
          </a:p>
        </p:txBody>
      </p:sp>
      <p:sp>
        <p:nvSpPr>
          <p:cNvPr id="14" name="Text Box 32"/>
          <p:cNvSpPr txBox="1">
            <a:spLocks noChangeArrowheads="1"/>
          </p:cNvSpPr>
          <p:nvPr/>
        </p:nvSpPr>
        <p:spPr bwMode="auto">
          <a:xfrm>
            <a:off x="651669" y="3706315"/>
            <a:ext cx="1955800" cy="466725"/>
          </a:xfrm>
          <a:prstGeom prst="rect">
            <a:avLst/>
          </a:prstGeom>
          <a:solidFill>
            <a:srgbClr val="CC99FF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u="none">
                <a:solidFill>
                  <a:srgbClr val="990000"/>
                </a:solidFill>
                <a:ea typeface="楷体_GB2312" pitchFamily="49" charset="-122"/>
              </a:rPr>
              <a:t>(2).</a:t>
            </a:r>
            <a:r>
              <a:rPr lang="zh-CN" altLang="en-US" sz="2400" b="1" u="none">
                <a:solidFill>
                  <a:srgbClr val="990000"/>
                </a:solidFill>
                <a:ea typeface="楷体_GB2312" pitchFamily="49" charset="-122"/>
              </a:rPr>
              <a:t>互谱定义</a:t>
            </a:r>
          </a:p>
        </p:txBody>
      </p:sp>
      <p:graphicFrame>
        <p:nvGraphicFramePr>
          <p:cNvPr id="15" name="Object 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24786094"/>
              </p:ext>
            </p:extLst>
          </p:nvPr>
        </p:nvGraphicFramePr>
        <p:xfrm>
          <a:off x="2977621" y="3856601"/>
          <a:ext cx="3255433" cy="6328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1780" name="公式" r:id="rId9" imgW="1714500" imgH="330200" progId="Equation.3">
                  <p:embed/>
                </p:oleObj>
              </mc:Choice>
              <mc:Fallback>
                <p:oleObj name="公式" r:id="rId9" imgW="1714500" imgH="330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7621" y="3856601"/>
                        <a:ext cx="3255433" cy="632877"/>
                      </a:xfrm>
                      <a:prstGeom prst="rect">
                        <a:avLst/>
                      </a:prstGeom>
                      <a:solidFill>
                        <a:srgbClr val="FFCC99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3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53531307"/>
              </p:ext>
            </p:extLst>
          </p:nvPr>
        </p:nvGraphicFramePr>
        <p:xfrm>
          <a:off x="2944714" y="4525777"/>
          <a:ext cx="3295220" cy="6565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1781" name="公式" r:id="rId11" imgW="1676160" imgH="330120" progId="Equation.3">
                  <p:embed/>
                </p:oleObj>
              </mc:Choice>
              <mc:Fallback>
                <p:oleObj name="公式" r:id="rId11" imgW="1676160" imgH="3301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44714" y="4525777"/>
                        <a:ext cx="3295220" cy="656510"/>
                      </a:xfrm>
                      <a:prstGeom prst="rect">
                        <a:avLst/>
                      </a:prstGeom>
                      <a:solidFill>
                        <a:srgbClr val="FFCC99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Rectangle 35"/>
          <p:cNvSpPr>
            <a:spLocks noChangeArrowheads="1"/>
          </p:cNvSpPr>
          <p:nvPr/>
        </p:nvSpPr>
        <p:spPr bwMode="auto">
          <a:xfrm>
            <a:off x="883179" y="5251989"/>
            <a:ext cx="401744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buClr>
                <a:srgbClr val="FF3300"/>
              </a:buClr>
              <a:buFont typeface="Wingdings" pitchFamily="2" charset="2"/>
              <a:buChar char="ü"/>
            </a:pPr>
            <a:r>
              <a:rPr kumimoji="0" lang="en-US" altLang="zh-CN" sz="2000" b="1" u="none" dirty="0" err="1">
                <a:solidFill>
                  <a:schemeClr val="tx1"/>
                </a:solidFill>
              </a:rPr>
              <a:t>S</a:t>
            </a:r>
            <a:r>
              <a:rPr kumimoji="0" lang="en-US" altLang="zh-CN" sz="2000" b="1" i="1" u="none" baseline="-25000" dirty="0" err="1">
                <a:solidFill>
                  <a:schemeClr val="tx1"/>
                </a:solidFill>
              </a:rPr>
              <a:t>xy</a:t>
            </a:r>
            <a:r>
              <a:rPr kumimoji="0" lang="en-US" altLang="zh-CN" sz="2000" b="1" u="none" dirty="0">
                <a:solidFill>
                  <a:schemeClr val="tx1"/>
                </a:solidFill>
              </a:rPr>
              <a:t>(</a:t>
            </a:r>
            <a:r>
              <a:rPr kumimoji="0" lang="en-US" altLang="zh-CN" sz="2000" b="1" i="1" u="none" dirty="0" err="1">
                <a:solidFill>
                  <a:schemeClr val="tx1"/>
                </a:solidFill>
              </a:rPr>
              <a:t>jf</a:t>
            </a:r>
            <a:r>
              <a:rPr kumimoji="0" lang="en-US" altLang="zh-CN" sz="2000" b="1" u="none" dirty="0">
                <a:solidFill>
                  <a:schemeClr val="tx1"/>
                </a:solidFill>
              </a:rPr>
              <a:t>)</a:t>
            </a:r>
            <a:r>
              <a:rPr kumimoji="0" lang="zh-CN" altLang="en-US" sz="2000" b="1" u="none" dirty="0">
                <a:solidFill>
                  <a:schemeClr val="tx1"/>
                </a:solidFill>
              </a:rPr>
              <a:t>保留了</a:t>
            </a:r>
            <a:r>
              <a:rPr kumimoji="0" lang="en-US" altLang="zh-CN" sz="2000" b="1" i="1" u="none" dirty="0" err="1">
                <a:solidFill>
                  <a:schemeClr val="tx1"/>
                </a:solidFill>
              </a:rPr>
              <a:t>R</a:t>
            </a:r>
            <a:r>
              <a:rPr kumimoji="0" lang="en-US" altLang="zh-CN" sz="2000" b="1" i="1" u="none" baseline="-25000" dirty="0" err="1">
                <a:solidFill>
                  <a:schemeClr val="tx1"/>
                </a:solidFill>
              </a:rPr>
              <a:t>xy</a:t>
            </a:r>
            <a:r>
              <a:rPr kumimoji="0" lang="en-US" altLang="zh-CN" sz="2000" b="1" u="none" dirty="0">
                <a:solidFill>
                  <a:schemeClr val="tx1"/>
                </a:solidFill>
              </a:rPr>
              <a:t>(</a:t>
            </a:r>
            <a:r>
              <a:rPr kumimoji="0" lang="en-US" altLang="zh-CN" sz="2000" b="1" i="1" u="none" dirty="0">
                <a:solidFill>
                  <a:schemeClr val="tx1"/>
                </a:solidFill>
              </a:rPr>
              <a:t>τ</a:t>
            </a:r>
            <a:r>
              <a:rPr kumimoji="0" lang="en-US" altLang="zh-CN" sz="2000" b="1" u="none" dirty="0">
                <a:solidFill>
                  <a:schemeClr val="tx1"/>
                </a:solidFill>
              </a:rPr>
              <a:t>)</a:t>
            </a:r>
            <a:r>
              <a:rPr kumimoji="0" lang="zh-CN" altLang="en-US" sz="2000" b="1" u="none" dirty="0">
                <a:solidFill>
                  <a:schemeClr val="tx1"/>
                </a:solidFill>
              </a:rPr>
              <a:t>的全部</a:t>
            </a:r>
            <a:r>
              <a:rPr kumimoji="0" lang="zh-CN" altLang="en-US" sz="2000" b="1" u="none" dirty="0" smtClean="0">
                <a:solidFill>
                  <a:schemeClr val="tx1"/>
                </a:solidFill>
              </a:rPr>
              <a:t>信息。 </a:t>
            </a:r>
            <a:endParaRPr kumimoji="0" lang="zh-CN" altLang="en-US" sz="2000" b="1" u="none" dirty="0">
              <a:solidFill>
                <a:schemeClr val="tx1"/>
              </a:solidFill>
            </a:endParaRPr>
          </a:p>
        </p:txBody>
      </p:sp>
      <p:sp>
        <p:nvSpPr>
          <p:cNvPr id="18" name="Rectangle 36"/>
          <p:cNvSpPr>
            <a:spLocks noChangeArrowheads="1"/>
          </p:cNvSpPr>
          <p:nvPr/>
        </p:nvSpPr>
        <p:spPr bwMode="auto">
          <a:xfrm>
            <a:off x="846141" y="5772689"/>
            <a:ext cx="6598281" cy="40011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buClr>
                <a:srgbClr val="FF3300"/>
              </a:buClr>
              <a:buFont typeface="Wingdings" pitchFamily="2" charset="2"/>
              <a:buChar char="ü"/>
            </a:pPr>
            <a:r>
              <a:rPr kumimoji="0" lang="en-US" altLang="zh-CN" sz="2000" b="1" i="1" u="none" dirty="0" err="1">
                <a:solidFill>
                  <a:schemeClr val="tx1"/>
                </a:solidFill>
              </a:rPr>
              <a:t>R</a:t>
            </a:r>
            <a:r>
              <a:rPr kumimoji="0" lang="en-US" altLang="zh-CN" sz="2000" b="1" i="1" u="none" baseline="-25000" dirty="0" err="1">
                <a:solidFill>
                  <a:schemeClr val="tx1"/>
                </a:solidFill>
              </a:rPr>
              <a:t>xy</a:t>
            </a:r>
            <a:r>
              <a:rPr kumimoji="0" lang="en-US" altLang="zh-CN" sz="2000" b="1" u="none" dirty="0">
                <a:solidFill>
                  <a:schemeClr val="tx1"/>
                </a:solidFill>
              </a:rPr>
              <a:t>(</a:t>
            </a:r>
            <a:r>
              <a:rPr kumimoji="0" lang="en-US" altLang="zh-CN" sz="2000" b="1" i="1" u="none" dirty="0">
                <a:solidFill>
                  <a:schemeClr val="tx1"/>
                </a:solidFill>
              </a:rPr>
              <a:t>τ</a:t>
            </a:r>
            <a:r>
              <a:rPr kumimoji="0" lang="en-US" altLang="zh-CN" sz="2000" b="1" u="none" dirty="0">
                <a:solidFill>
                  <a:schemeClr val="tx1"/>
                </a:solidFill>
              </a:rPr>
              <a:t>)</a:t>
            </a:r>
            <a:r>
              <a:rPr kumimoji="0" lang="zh-CN" altLang="en-US" sz="2000" b="1" u="none" dirty="0">
                <a:solidFill>
                  <a:schemeClr val="tx1"/>
                </a:solidFill>
              </a:rPr>
              <a:t>为非奇非偶函数，因此</a:t>
            </a:r>
            <a:r>
              <a:rPr kumimoji="0" lang="en-US" altLang="zh-CN" sz="2000" b="1" u="none" dirty="0" err="1">
                <a:solidFill>
                  <a:schemeClr val="tx1"/>
                </a:solidFill>
              </a:rPr>
              <a:t>S</a:t>
            </a:r>
            <a:r>
              <a:rPr kumimoji="0" lang="en-US" altLang="zh-CN" sz="2000" b="1" i="1" u="none" baseline="-25000" dirty="0" err="1">
                <a:solidFill>
                  <a:schemeClr val="tx1"/>
                </a:solidFill>
              </a:rPr>
              <a:t>xy</a:t>
            </a:r>
            <a:r>
              <a:rPr kumimoji="0" lang="en-US" altLang="zh-CN" sz="2000" b="1" u="none" dirty="0">
                <a:solidFill>
                  <a:schemeClr val="tx1"/>
                </a:solidFill>
              </a:rPr>
              <a:t>(</a:t>
            </a:r>
            <a:r>
              <a:rPr kumimoji="0" lang="en-US" altLang="zh-CN" sz="2000" b="1" i="1" u="none" dirty="0" err="1">
                <a:solidFill>
                  <a:schemeClr val="tx1"/>
                </a:solidFill>
              </a:rPr>
              <a:t>jf</a:t>
            </a:r>
            <a:r>
              <a:rPr kumimoji="0" lang="en-US" altLang="zh-CN" sz="2000" b="1" u="none" dirty="0">
                <a:solidFill>
                  <a:schemeClr val="tx1"/>
                </a:solidFill>
              </a:rPr>
              <a:t>)</a:t>
            </a:r>
            <a:r>
              <a:rPr kumimoji="0" lang="zh-CN" altLang="en-US" sz="2000" b="1" u="none" dirty="0">
                <a:solidFill>
                  <a:schemeClr val="tx1"/>
                </a:solidFill>
              </a:rPr>
              <a:t>具有虚、实两</a:t>
            </a:r>
            <a:r>
              <a:rPr kumimoji="0" lang="zh-CN" altLang="en-US" sz="2000" b="1" u="none" dirty="0" smtClean="0">
                <a:solidFill>
                  <a:schemeClr val="tx1"/>
                </a:solidFill>
              </a:rPr>
              <a:t>部分。 </a:t>
            </a:r>
            <a:endParaRPr kumimoji="0" lang="zh-CN" altLang="en-US" sz="2000" b="1" u="none" dirty="0">
              <a:solidFill>
                <a:schemeClr val="tx1"/>
              </a:solidFill>
            </a:endParaRPr>
          </a:p>
        </p:txBody>
      </p:sp>
      <p:sp>
        <p:nvSpPr>
          <p:cNvPr id="19" name="Rectangle 37"/>
          <p:cNvSpPr>
            <a:spLocks noChangeArrowheads="1"/>
          </p:cNvSpPr>
          <p:nvPr/>
        </p:nvSpPr>
        <p:spPr bwMode="auto">
          <a:xfrm>
            <a:off x="6314016" y="3989684"/>
            <a:ext cx="8128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kumimoji="0" lang="en-US" altLang="zh-CN" sz="1800" b="1" u="none" dirty="0" smtClean="0">
                <a:solidFill>
                  <a:srgbClr val="FF3300"/>
                </a:solidFill>
                <a:ea typeface="宋体" pitchFamily="2" charset="-122"/>
              </a:rPr>
              <a:t>(</a:t>
            </a:r>
            <a:r>
              <a:rPr kumimoji="0" lang="en-US" altLang="zh-CN" sz="1800" b="1" u="none" dirty="0" smtClean="0">
                <a:solidFill>
                  <a:srgbClr val="FF3300"/>
                </a:solidFill>
              </a:rPr>
              <a:t>5-</a:t>
            </a:r>
            <a:r>
              <a:rPr kumimoji="0" lang="en-US" altLang="zh-CN" sz="1800" b="1" u="none" dirty="0" smtClean="0">
                <a:solidFill>
                  <a:srgbClr val="FF3300"/>
                </a:solidFill>
                <a:ea typeface="宋体" pitchFamily="2" charset="-122"/>
              </a:rPr>
              <a:t>27</a:t>
            </a:r>
            <a:r>
              <a:rPr kumimoji="0" lang="en-US" altLang="zh-CN" sz="1800" b="1" u="none" dirty="0">
                <a:solidFill>
                  <a:srgbClr val="FF3300"/>
                </a:solidFill>
                <a:ea typeface="宋体" pitchFamily="2" charset="-122"/>
              </a:rPr>
              <a:t>) </a:t>
            </a:r>
          </a:p>
        </p:txBody>
      </p:sp>
      <p:sp>
        <p:nvSpPr>
          <p:cNvPr id="20" name="Rectangle 38"/>
          <p:cNvSpPr>
            <a:spLocks noChangeArrowheads="1"/>
          </p:cNvSpPr>
          <p:nvPr/>
        </p:nvSpPr>
        <p:spPr bwMode="auto">
          <a:xfrm>
            <a:off x="6398683" y="4660940"/>
            <a:ext cx="812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kumimoji="0" lang="en-US" altLang="zh-CN" sz="1800" b="1" u="none" dirty="0" smtClean="0">
                <a:solidFill>
                  <a:srgbClr val="FF3300"/>
                </a:solidFill>
                <a:ea typeface="宋体" pitchFamily="2" charset="-122"/>
              </a:rPr>
              <a:t>(</a:t>
            </a:r>
            <a:r>
              <a:rPr kumimoji="0" lang="en-US" altLang="zh-CN" sz="1800" b="1" u="none" dirty="0" smtClean="0">
                <a:solidFill>
                  <a:srgbClr val="FF3300"/>
                </a:solidFill>
              </a:rPr>
              <a:t>5-</a:t>
            </a:r>
            <a:r>
              <a:rPr kumimoji="0" lang="en-US" altLang="zh-CN" sz="1800" b="1" u="none" dirty="0" smtClean="0">
                <a:solidFill>
                  <a:srgbClr val="FF3300"/>
                </a:solidFill>
                <a:ea typeface="宋体" pitchFamily="2" charset="-122"/>
              </a:rPr>
              <a:t>28</a:t>
            </a:r>
            <a:r>
              <a:rPr kumimoji="0" lang="en-US" altLang="zh-CN" sz="1800" b="1" u="none" dirty="0">
                <a:solidFill>
                  <a:srgbClr val="FF3300"/>
                </a:solidFill>
                <a:ea typeface="宋体" pitchFamily="2" charset="-122"/>
              </a:rPr>
              <a:t>)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515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515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515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515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1596" grpId="0"/>
      <p:bldP spid="451597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5296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47694137"/>
              </p:ext>
            </p:extLst>
          </p:nvPr>
        </p:nvGraphicFramePr>
        <p:xfrm>
          <a:off x="4961216" y="1831445"/>
          <a:ext cx="1758950" cy="715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322" name="公式" r:id="rId3" imgW="1028520" imgH="419040" progId="Equation.3">
                  <p:embed/>
                </p:oleObj>
              </mc:Choice>
              <mc:Fallback>
                <p:oleObj name="公式" r:id="rId3" imgW="1028520" imgH="41904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61216" y="1831445"/>
                        <a:ext cx="1758950" cy="715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2969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27758047"/>
              </p:ext>
            </p:extLst>
          </p:nvPr>
        </p:nvGraphicFramePr>
        <p:xfrm>
          <a:off x="6026335" y="307602"/>
          <a:ext cx="2188633" cy="4597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323" name="公式" r:id="rId5" imgW="1587240" imgH="330120" progId="Equation.3">
                  <p:embed/>
                </p:oleObj>
              </mc:Choice>
              <mc:Fallback>
                <p:oleObj name="公式" r:id="rId5" imgW="1587240" imgH="33012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26335" y="307602"/>
                        <a:ext cx="2188633" cy="459706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2971" name="Rectangle 11"/>
          <p:cNvSpPr>
            <a:spLocks noChangeArrowheads="1"/>
          </p:cNvSpPr>
          <p:nvPr/>
        </p:nvSpPr>
        <p:spPr bwMode="auto">
          <a:xfrm>
            <a:off x="0" y="32623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552972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26486555"/>
              </p:ext>
            </p:extLst>
          </p:nvPr>
        </p:nvGraphicFramePr>
        <p:xfrm>
          <a:off x="1163638" y="1307874"/>
          <a:ext cx="2841625" cy="625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324" name="公式" r:id="rId7" imgW="1511300" imgH="330200" progId="Equation.3">
                  <p:embed/>
                </p:oleObj>
              </mc:Choice>
              <mc:Fallback>
                <p:oleObj name="公式" r:id="rId7" imgW="1511300" imgH="3302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63638" y="1307874"/>
                        <a:ext cx="2841625" cy="6254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2973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12767382"/>
              </p:ext>
            </p:extLst>
          </p:nvPr>
        </p:nvGraphicFramePr>
        <p:xfrm>
          <a:off x="1039813" y="1851327"/>
          <a:ext cx="3903662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325" name="公式" r:id="rId9" imgW="2095200" imgH="393480" progId="Equation.3">
                  <p:embed/>
                </p:oleObj>
              </mc:Choice>
              <mc:Fallback>
                <p:oleObj name="公式" r:id="rId9" imgW="2095200" imgH="39348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39813" y="1851327"/>
                        <a:ext cx="3903662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2974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79525428"/>
              </p:ext>
            </p:extLst>
          </p:nvPr>
        </p:nvGraphicFramePr>
        <p:xfrm>
          <a:off x="1377421" y="2563479"/>
          <a:ext cx="2973387" cy="695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326" name="公式" r:id="rId11" imgW="1790700" imgH="419100" progId="Equation.3">
                  <p:embed/>
                </p:oleObj>
              </mc:Choice>
              <mc:Fallback>
                <p:oleObj name="公式" r:id="rId11" imgW="1790700" imgH="41910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7421" y="2563479"/>
                        <a:ext cx="2973387" cy="695325"/>
                      </a:xfrm>
                      <a:prstGeom prst="rect">
                        <a:avLst/>
                      </a:prstGeom>
                      <a:solidFill>
                        <a:srgbClr val="99CCFF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2975" name="Rectangle 15"/>
          <p:cNvSpPr>
            <a:spLocks noChangeArrowheads="1"/>
          </p:cNvSpPr>
          <p:nvPr/>
        </p:nvSpPr>
        <p:spPr bwMode="auto">
          <a:xfrm>
            <a:off x="6871758" y="1436934"/>
            <a:ext cx="8128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kumimoji="0" lang="en-US" altLang="zh-CN" sz="1800" b="1" u="none" dirty="0" smtClean="0">
                <a:solidFill>
                  <a:srgbClr val="FF3300"/>
                </a:solidFill>
                <a:ea typeface="宋体" pitchFamily="2" charset="-122"/>
              </a:rPr>
              <a:t>(</a:t>
            </a:r>
            <a:r>
              <a:rPr kumimoji="0" lang="en-US" altLang="zh-CN" sz="1800" b="1" u="none" dirty="0" smtClean="0">
                <a:solidFill>
                  <a:srgbClr val="FF3300"/>
                </a:solidFill>
              </a:rPr>
              <a:t>5-</a:t>
            </a:r>
            <a:r>
              <a:rPr kumimoji="0" lang="en-US" altLang="zh-CN" sz="1800" b="1" u="none" dirty="0" smtClean="0">
                <a:solidFill>
                  <a:srgbClr val="FF3300"/>
                </a:solidFill>
                <a:ea typeface="宋体" pitchFamily="2" charset="-122"/>
              </a:rPr>
              <a:t>29</a:t>
            </a:r>
            <a:r>
              <a:rPr kumimoji="0" lang="en-US" altLang="zh-CN" sz="1800" b="1" u="none" dirty="0">
                <a:solidFill>
                  <a:srgbClr val="FF3300"/>
                </a:solidFill>
                <a:ea typeface="宋体" pitchFamily="2" charset="-122"/>
              </a:rPr>
              <a:t>)</a:t>
            </a:r>
            <a:r>
              <a:rPr kumimoji="0" lang="en-US" altLang="zh-CN" sz="1800" u="none" dirty="0">
                <a:solidFill>
                  <a:srgbClr val="FF3300"/>
                </a:solidFill>
                <a:ea typeface="宋体" pitchFamily="2" charset="-122"/>
              </a:rPr>
              <a:t> </a:t>
            </a:r>
          </a:p>
        </p:txBody>
      </p:sp>
      <p:sp>
        <p:nvSpPr>
          <p:cNvPr id="552976" name="Rectangle 16"/>
          <p:cNvSpPr>
            <a:spLocks noChangeArrowheads="1"/>
          </p:cNvSpPr>
          <p:nvPr/>
        </p:nvSpPr>
        <p:spPr bwMode="auto">
          <a:xfrm>
            <a:off x="511439" y="2681172"/>
            <a:ext cx="126829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kumimoji="0" lang="zh-CN" altLang="en-US" sz="2400" b="1" u="none" dirty="0" smtClean="0">
                <a:solidFill>
                  <a:schemeClr val="tx1"/>
                </a:solidFill>
                <a:latin typeface="黑体" pitchFamily="2" charset="-122"/>
              </a:rPr>
              <a:t>所以： </a:t>
            </a:r>
            <a:endParaRPr kumimoji="0" lang="zh-CN" altLang="en-US" sz="2400" b="1" u="none" dirty="0">
              <a:solidFill>
                <a:schemeClr val="tx1"/>
              </a:solidFill>
              <a:latin typeface="黑体" pitchFamily="2" charset="-122"/>
            </a:endParaRPr>
          </a:p>
        </p:txBody>
      </p:sp>
      <p:sp>
        <p:nvSpPr>
          <p:cNvPr id="552977" name="Rectangle 17"/>
          <p:cNvSpPr>
            <a:spLocks noChangeArrowheads="1"/>
          </p:cNvSpPr>
          <p:nvPr/>
        </p:nvSpPr>
        <p:spPr bwMode="auto">
          <a:xfrm>
            <a:off x="3327769" y="3568680"/>
            <a:ext cx="173797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kumimoji="0" lang="zh-CN" altLang="en-US" sz="1800" b="1" u="none" dirty="0">
                <a:solidFill>
                  <a:srgbClr val="FF3300"/>
                </a:solidFill>
                <a:ea typeface="黑体" pitchFamily="49" charset="-122"/>
                <a:cs typeface="Times New Roman" pitchFamily="18" charset="0"/>
              </a:rPr>
              <a:t>信号</a:t>
            </a:r>
            <a:r>
              <a:rPr kumimoji="0" lang="en-US" altLang="zh-CN" sz="1800" b="1" i="1" u="none" dirty="0">
                <a:solidFill>
                  <a:srgbClr val="FF3300"/>
                </a:solidFill>
                <a:ea typeface="黑体" pitchFamily="49" charset="-122"/>
                <a:cs typeface="Times New Roman" pitchFamily="18" charset="0"/>
              </a:rPr>
              <a:t>x</a:t>
            </a:r>
            <a:r>
              <a:rPr kumimoji="0" lang="en-US" altLang="zh-CN" sz="1800" b="1" u="none" dirty="0">
                <a:solidFill>
                  <a:srgbClr val="FF3300"/>
                </a:solidFill>
                <a:ea typeface="黑体" pitchFamily="49" charset="-122"/>
                <a:cs typeface="Times New Roman" pitchFamily="18" charset="0"/>
              </a:rPr>
              <a:t>(</a:t>
            </a:r>
            <a:r>
              <a:rPr kumimoji="0" lang="en-US" altLang="zh-CN" sz="1800" b="1" i="1" u="none" dirty="0">
                <a:solidFill>
                  <a:srgbClr val="FF3300"/>
                </a:solidFill>
                <a:ea typeface="黑体" pitchFamily="49" charset="-122"/>
                <a:cs typeface="Times New Roman" pitchFamily="18" charset="0"/>
              </a:rPr>
              <a:t>t</a:t>
            </a:r>
            <a:r>
              <a:rPr kumimoji="0" lang="en-US" altLang="zh-CN" sz="1800" b="1" u="none" dirty="0">
                <a:solidFill>
                  <a:srgbClr val="FF3300"/>
                </a:solidFill>
                <a:ea typeface="黑体" pitchFamily="49" charset="-122"/>
                <a:cs typeface="Times New Roman" pitchFamily="18" charset="0"/>
              </a:rPr>
              <a:t>)</a:t>
            </a:r>
            <a:r>
              <a:rPr kumimoji="0" lang="zh-CN" altLang="en-US" sz="1800" b="1" u="none" dirty="0">
                <a:solidFill>
                  <a:srgbClr val="FF3300"/>
                </a:solidFill>
                <a:ea typeface="黑体" pitchFamily="49" charset="-122"/>
                <a:cs typeface="Times New Roman" pitchFamily="18" charset="0"/>
              </a:rPr>
              <a:t>的功率 </a:t>
            </a:r>
          </a:p>
        </p:txBody>
      </p:sp>
      <p:sp>
        <p:nvSpPr>
          <p:cNvPr id="552978" name="Line 18"/>
          <p:cNvSpPr>
            <a:spLocks noChangeShapeType="1"/>
          </p:cNvSpPr>
          <p:nvPr/>
        </p:nvSpPr>
        <p:spPr bwMode="auto">
          <a:xfrm flipH="1" flipV="1">
            <a:off x="3979333" y="3135033"/>
            <a:ext cx="121972" cy="429677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52979" name="Rectangle 19"/>
          <p:cNvSpPr>
            <a:spLocks noChangeArrowheads="1"/>
          </p:cNvSpPr>
          <p:nvPr/>
        </p:nvSpPr>
        <p:spPr bwMode="auto">
          <a:xfrm>
            <a:off x="6871758" y="2006071"/>
            <a:ext cx="8128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kumimoji="0" lang="en-US" altLang="zh-CN" sz="1800" b="1" u="none" dirty="0" smtClean="0">
                <a:solidFill>
                  <a:srgbClr val="FF3300"/>
                </a:solidFill>
                <a:ea typeface="宋体" pitchFamily="2" charset="-122"/>
              </a:rPr>
              <a:t>(</a:t>
            </a:r>
            <a:r>
              <a:rPr kumimoji="0" lang="en-US" altLang="zh-CN" sz="1800" b="1" u="none" dirty="0" smtClean="0">
                <a:solidFill>
                  <a:srgbClr val="FF3300"/>
                </a:solidFill>
              </a:rPr>
              <a:t>5-</a:t>
            </a:r>
            <a:r>
              <a:rPr kumimoji="0" lang="en-US" altLang="zh-CN" sz="1800" b="1" u="none" dirty="0" smtClean="0">
                <a:solidFill>
                  <a:srgbClr val="FF3300"/>
                </a:solidFill>
                <a:ea typeface="宋体" pitchFamily="2" charset="-122"/>
              </a:rPr>
              <a:t>30</a:t>
            </a:r>
            <a:r>
              <a:rPr kumimoji="0" lang="en-US" altLang="zh-CN" sz="1800" b="1" u="none" dirty="0">
                <a:solidFill>
                  <a:srgbClr val="FF3300"/>
                </a:solidFill>
                <a:ea typeface="宋体" pitchFamily="2" charset="-122"/>
              </a:rPr>
              <a:t>)</a:t>
            </a:r>
            <a:r>
              <a:rPr kumimoji="0" lang="en-US" altLang="zh-CN" sz="1800" u="none" dirty="0">
                <a:solidFill>
                  <a:srgbClr val="FF3300"/>
                </a:solidFill>
                <a:ea typeface="宋体" pitchFamily="2" charset="-122"/>
              </a:rPr>
              <a:t> </a:t>
            </a:r>
          </a:p>
        </p:txBody>
      </p:sp>
      <p:sp>
        <p:nvSpPr>
          <p:cNvPr id="552981" name="Line 21"/>
          <p:cNvSpPr>
            <a:spLocks noChangeShapeType="1"/>
          </p:cNvSpPr>
          <p:nvPr/>
        </p:nvSpPr>
        <p:spPr bwMode="auto">
          <a:xfrm flipV="1">
            <a:off x="1585032" y="3135034"/>
            <a:ext cx="514699" cy="433646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52982" name="Rectangle 22"/>
          <p:cNvSpPr>
            <a:spLocks noChangeArrowheads="1"/>
          </p:cNvSpPr>
          <p:nvPr/>
        </p:nvSpPr>
        <p:spPr bwMode="auto">
          <a:xfrm>
            <a:off x="446741" y="3564711"/>
            <a:ext cx="227658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kumimoji="0" lang="zh-CN" altLang="en-US" sz="1800" b="1" u="none" dirty="0" smtClean="0">
                <a:solidFill>
                  <a:srgbClr val="FF3300"/>
                </a:solidFill>
                <a:latin typeface="黑体" pitchFamily="49" charset="-122"/>
                <a:ea typeface="黑体" pitchFamily="49" charset="-122"/>
              </a:rPr>
              <a:t>不同</a:t>
            </a:r>
            <a:r>
              <a:rPr kumimoji="0" lang="zh-CN" altLang="en-US" sz="1800" b="1" u="none" dirty="0">
                <a:solidFill>
                  <a:srgbClr val="FF3300"/>
                </a:solidFill>
                <a:latin typeface="黑体" pitchFamily="49" charset="-122"/>
                <a:ea typeface="黑体" pitchFamily="49" charset="-122"/>
              </a:rPr>
              <a:t>频率上的</a:t>
            </a:r>
            <a:r>
              <a:rPr kumimoji="0" lang="zh-CN" altLang="en-US" sz="1800" b="1" u="none" dirty="0" smtClean="0">
                <a:solidFill>
                  <a:srgbClr val="FF3300"/>
                </a:solidFill>
                <a:latin typeface="黑体" pitchFamily="49" charset="-122"/>
                <a:ea typeface="黑体" pitchFamily="49" charset="-122"/>
              </a:rPr>
              <a:t>功率元</a:t>
            </a:r>
            <a:endParaRPr kumimoji="0" lang="zh-CN" altLang="en-US" sz="1800" b="1" u="none" dirty="0">
              <a:solidFill>
                <a:srgbClr val="FF3300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552983" name="Rectangle 23"/>
          <p:cNvSpPr>
            <a:spLocks noChangeArrowheads="1"/>
          </p:cNvSpPr>
          <p:nvPr/>
        </p:nvSpPr>
        <p:spPr bwMode="auto">
          <a:xfrm>
            <a:off x="747713" y="1406648"/>
            <a:ext cx="56673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0" lang="en-US" altLang="zh-CN" sz="2000" b="1" u="none" dirty="0">
                <a:solidFill>
                  <a:srgbClr val="FF3300"/>
                </a:solidFill>
                <a:ea typeface="宋体" pitchFamily="2" charset="-122"/>
              </a:rPr>
              <a:t>1</a:t>
            </a:r>
            <a:r>
              <a:rPr kumimoji="0" lang="zh-CN" altLang="en-US" sz="2000" b="1" u="none" dirty="0">
                <a:solidFill>
                  <a:srgbClr val="FF3300"/>
                </a:solidFill>
                <a:ea typeface="宋体" pitchFamily="2" charset="-122"/>
              </a:rPr>
              <a:t>）</a:t>
            </a:r>
          </a:p>
        </p:txBody>
      </p:sp>
      <p:sp>
        <p:nvSpPr>
          <p:cNvPr id="552984" name="Rectangle 24"/>
          <p:cNvSpPr>
            <a:spLocks noChangeArrowheads="1"/>
          </p:cNvSpPr>
          <p:nvPr/>
        </p:nvSpPr>
        <p:spPr bwMode="auto">
          <a:xfrm>
            <a:off x="4487702" y="2860012"/>
            <a:ext cx="812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kumimoji="0" lang="en-US" altLang="zh-CN" sz="1800" b="1" u="none" dirty="0" smtClean="0">
                <a:solidFill>
                  <a:srgbClr val="FF3300"/>
                </a:solidFill>
                <a:ea typeface="宋体" pitchFamily="2" charset="-122"/>
              </a:rPr>
              <a:t>(</a:t>
            </a:r>
            <a:r>
              <a:rPr kumimoji="0" lang="en-US" altLang="zh-CN" sz="1800" b="1" u="none" dirty="0" smtClean="0">
                <a:solidFill>
                  <a:srgbClr val="FF3300"/>
                </a:solidFill>
              </a:rPr>
              <a:t>5-</a:t>
            </a:r>
            <a:r>
              <a:rPr kumimoji="0" lang="en-US" altLang="zh-CN" sz="1800" b="1" u="none" dirty="0" smtClean="0">
                <a:solidFill>
                  <a:srgbClr val="FF3300"/>
                </a:solidFill>
                <a:ea typeface="宋体" pitchFamily="2" charset="-122"/>
              </a:rPr>
              <a:t>31</a:t>
            </a:r>
            <a:r>
              <a:rPr kumimoji="0" lang="en-US" altLang="zh-CN" sz="1800" b="1" u="none" dirty="0">
                <a:solidFill>
                  <a:srgbClr val="FF3300"/>
                </a:solidFill>
                <a:ea typeface="宋体" pitchFamily="2" charset="-122"/>
              </a:rPr>
              <a:t>)</a:t>
            </a:r>
            <a:r>
              <a:rPr kumimoji="0" lang="en-US" altLang="zh-CN" sz="1800" u="none" dirty="0">
                <a:solidFill>
                  <a:srgbClr val="FF3300"/>
                </a:solidFill>
                <a:ea typeface="宋体" pitchFamily="2" charset="-122"/>
              </a:rPr>
              <a:t> </a:t>
            </a:r>
          </a:p>
        </p:txBody>
      </p:sp>
      <p:graphicFrame>
        <p:nvGraphicFramePr>
          <p:cNvPr id="552986" name="Object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95554255"/>
              </p:ext>
            </p:extLst>
          </p:nvPr>
        </p:nvGraphicFramePr>
        <p:xfrm>
          <a:off x="5985463" y="843079"/>
          <a:ext cx="2232261" cy="466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327" name="公式" r:id="rId13" imgW="1879560" imgH="393480" progId="Equation.3">
                  <p:embed/>
                </p:oleObj>
              </mc:Choice>
              <mc:Fallback>
                <p:oleObj name="公式" r:id="rId13" imgW="1879560" imgH="393480" progId="Equation.3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85463" y="843079"/>
                        <a:ext cx="2232261" cy="466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2988" name="Rectangle 28"/>
          <p:cNvSpPr>
            <a:spLocks noChangeArrowheads="1"/>
          </p:cNvSpPr>
          <p:nvPr/>
        </p:nvSpPr>
        <p:spPr bwMode="auto">
          <a:xfrm>
            <a:off x="302593" y="933751"/>
            <a:ext cx="2770188" cy="466725"/>
          </a:xfrm>
          <a:prstGeom prst="rect">
            <a:avLst/>
          </a:prstGeom>
          <a:solidFill>
            <a:srgbClr val="CC99FF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 u="none" dirty="0">
                <a:solidFill>
                  <a:srgbClr val="990000"/>
                </a:solidFill>
                <a:ea typeface="楷体_GB2312" pitchFamily="49" charset="-122"/>
              </a:rPr>
              <a:t>(3).</a:t>
            </a:r>
            <a:r>
              <a:rPr lang="zh-CN" altLang="en-US" sz="2400" b="1" u="none" dirty="0">
                <a:solidFill>
                  <a:srgbClr val="990000"/>
                </a:solidFill>
                <a:ea typeface="楷体_GB2312" pitchFamily="49" charset="-122"/>
              </a:rPr>
              <a:t>自谱的物理意义</a:t>
            </a:r>
          </a:p>
        </p:txBody>
      </p:sp>
      <p:pic>
        <p:nvPicPr>
          <p:cNvPr id="552989" name="Picture 29" descr="y040"/>
          <p:cNvPicPr>
            <a:picLocks noGrp="1" noChangeAspect="1" noChangeArrowheads="1"/>
          </p:cNvPicPr>
          <p:nvPr>
            <p:ph/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25149" y="4334933"/>
            <a:ext cx="5378553" cy="1854200"/>
          </a:xfrm>
          <a:noFill/>
          <a:ln/>
        </p:spPr>
      </p:pic>
      <p:sp>
        <p:nvSpPr>
          <p:cNvPr id="28" name="Rectangle 18"/>
          <p:cNvSpPr>
            <a:spLocks noChangeArrowheads="1"/>
          </p:cNvSpPr>
          <p:nvPr/>
        </p:nvSpPr>
        <p:spPr bwMode="auto">
          <a:xfrm>
            <a:off x="269876" y="263642"/>
            <a:ext cx="4335462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sz="3200" b="1" u="none" dirty="0" smtClean="0">
                <a:solidFill>
                  <a:srgbClr val="800000"/>
                </a:solidFill>
              </a:rPr>
              <a:t>5.4 </a:t>
            </a:r>
            <a:r>
              <a:rPr lang="zh-CN" altLang="en-US" sz="3200" b="1" u="none" dirty="0">
                <a:solidFill>
                  <a:srgbClr val="800000"/>
                </a:solidFill>
              </a:rPr>
              <a:t>功率谱分析及应用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5503702" y="2759423"/>
            <a:ext cx="3640298" cy="30008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1800" b="1" i="1" u="none" dirty="0" err="1" smtClean="0">
                <a:solidFill>
                  <a:schemeClr val="tx1"/>
                </a:solidFill>
              </a:rPr>
              <a:t>S</a:t>
            </a:r>
            <a:r>
              <a:rPr lang="en-US" altLang="zh-CN" sz="1800" b="1" i="1" u="none" baseline="-25000" dirty="0" err="1" smtClean="0">
                <a:solidFill>
                  <a:schemeClr val="tx1"/>
                </a:solidFill>
              </a:rPr>
              <a:t>x</a:t>
            </a:r>
            <a:r>
              <a:rPr lang="en-US" altLang="zh-CN" sz="1800" b="1" i="1" u="none" dirty="0" smtClean="0">
                <a:solidFill>
                  <a:schemeClr val="tx1"/>
                </a:solidFill>
              </a:rPr>
              <a:t>(f)</a:t>
            </a:r>
            <a:r>
              <a:rPr lang="zh-CN" altLang="en-US" sz="1800" b="1" u="none" dirty="0" smtClean="0">
                <a:solidFill>
                  <a:schemeClr val="tx1"/>
                </a:solidFill>
              </a:rPr>
              <a:t>曲线下的总面积与</a:t>
            </a:r>
            <a:r>
              <a:rPr lang="en-US" altLang="zh-CN" sz="1800" b="1" i="1" u="none" dirty="0" smtClean="0">
                <a:solidFill>
                  <a:schemeClr val="tx1"/>
                </a:solidFill>
              </a:rPr>
              <a:t>x</a:t>
            </a:r>
            <a:r>
              <a:rPr lang="en-US" altLang="zh-CN" sz="1800" b="1" i="1" u="none" baseline="30000" dirty="0" smtClean="0">
                <a:solidFill>
                  <a:schemeClr val="tx1"/>
                </a:solidFill>
              </a:rPr>
              <a:t>2</a:t>
            </a:r>
            <a:r>
              <a:rPr lang="en-US" altLang="zh-CN" sz="1800" b="1" u="none" dirty="0" smtClean="0">
                <a:solidFill>
                  <a:schemeClr val="tx1"/>
                </a:solidFill>
              </a:rPr>
              <a:t>(</a:t>
            </a:r>
            <a:r>
              <a:rPr lang="en-US" altLang="zh-CN" sz="1800" b="1" i="1" u="none" dirty="0" smtClean="0">
                <a:solidFill>
                  <a:schemeClr val="tx1"/>
                </a:solidFill>
              </a:rPr>
              <a:t>f</a:t>
            </a:r>
            <a:r>
              <a:rPr lang="en-US" altLang="zh-CN" sz="1800" b="1" u="none" dirty="0" smtClean="0">
                <a:solidFill>
                  <a:schemeClr val="tx1"/>
                </a:solidFill>
              </a:rPr>
              <a:t>)/</a:t>
            </a:r>
            <a:r>
              <a:rPr lang="en-US" altLang="zh-CN" sz="1800" b="1" i="1" u="none" dirty="0" smtClean="0">
                <a:solidFill>
                  <a:schemeClr val="tx1"/>
                </a:solidFill>
              </a:rPr>
              <a:t>T</a:t>
            </a:r>
            <a:r>
              <a:rPr lang="zh-CN" altLang="en-US" sz="1800" b="1" u="none" dirty="0" smtClean="0">
                <a:solidFill>
                  <a:schemeClr val="tx1"/>
                </a:solidFill>
              </a:rPr>
              <a:t>曲线下的总面积</a:t>
            </a:r>
            <a:r>
              <a:rPr lang="zh-CN" altLang="en-US" sz="1800" b="1" u="none" dirty="0" smtClean="0">
                <a:solidFill>
                  <a:srgbClr val="FF0000"/>
                </a:solidFill>
              </a:rPr>
              <a:t>相同</a:t>
            </a:r>
            <a:r>
              <a:rPr lang="zh-CN" altLang="en-US" sz="1800" b="1" u="none" dirty="0" smtClean="0">
                <a:solidFill>
                  <a:schemeClr val="tx1"/>
                </a:solidFill>
              </a:rPr>
              <a:t>；</a:t>
            </a:r>
            <a:endParaRPr lang="en-US" altLang="zh-CN" sz="1800" b="1" u="none" dirty="0" smtClean="0">
              <a:solidFill>
                <a:schemeClr val="tx1"/>
              </a:solidFill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1800" b="1" i="1" u="none" dirty="0" err="1">
                <a:solidFill>
                  <a:schemeClr val="tx1"/>
                </a:solidFill>
              </a:rPr>
              <a:t>S</a:t>
            </a:r>
            <a:r>
              <a:rPr lang="en-US" altLang="zh-CN" sz="1800" b="1" i="1" u="none" baseline="-25000" dirty="0" err="1">
                <a:solidFill>
                  <a:schemeClr val="tx1"/>
                </a:solidFill>
              </a:rPr>
              <a:t>x</a:t>
            </a:r>
            <a:r>
              <a:rPr lang="en-US" altLang="zh-CN" sz="1800" b="1" u="none" dirty="0">
                <a:solidFill>
                  <a:schemeClr val="tx1"/>
                </a:solidFill>
              </a:rPr>
              <a:t>(</a:t>
            </a:r>
            <a:r>
              <a:rPr lang="en-US" altLang="zh-CN" sz="1800" b="1" i="1" u="none" dirty="0">
                <a:solidFill>
                  <a:schemeClr val="tx1"/>
                </a:solidFill>
              </a:rPr>
              <a:t>f</a:t>
            </a:r>
            <a:r>
              <a:rPr lang="en-US" altLang="zh-CN" sz="1800" b="1" u="none" dirty="0">
                <a:solidFill>
                  <a:schemeClr val="tx1"/>
                </a:solidFill>
              </a:rPr>
              <a:t>)</a:t>
            </a:r>
            <a:r>
              <a:rPr lang="zh-CN" altLang="en-US" sz="1800" b="1" u="none" dirty="0">
                <a:solidFill>
                  <a:schemeClr val="tx1"/>
                </a:solidFill>
              </a:rPr>
              <a:t>曲线下的</a:t>
            </a:r>
            <a:r>
              <a:rPr lang="zh-CN" altLang="en-US" sz="1800" b="1" u="none" dirty="0" smtClean="0">
                <a:solidFill>
                  <a:schemeClr val="tx1"/>
                </a:solidFill>
              </a:rPr>
              <a:t>总面积为总功率；</a:t>
            </a:r>
            <a:endParaRPr lang="en-US" altLang="zh-CN" sz="1800" b="1" u="none" dirty="0" smtClean="0">
              <a:solidFill>
                <a:schemeClr val="tx1"/>
              </a:solidFill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800" b="1" u="none" dirty="0">
                <a:solidFill>
                  <a:schemeClr val="tx1"/>
                </a:solidFill>
              </a:rPr>
              <a:t>总</a:t>
            </a:r>
            <a:r>
              <a:rPr lang="zh-CN" altLang="en-US" sz="1800" b="1" u="none" dirty="0" smtClean="0">
                <a:solidFill>
                  <a:schemeClr val="tx1"/>
                </a:solidFill>
              </a:rPr>
              <a:t>功率由</a:t>
            </a:r>
            <a:r>
              <a:rPr lang="zh-CN" altLang="en-US" sz="1800" b="1" u="none" dirty="0" smtClean="0">
                <a:solidFill>
                  <a:srgbClr val="FF0000"/>
                </a:solidFill>
              </a:rPr>
              <a:t>不同频率下的功率元</a:t>
            </a:r>
            <a:r>
              <a:rPr lang="en-US" altLang="zh-CN" sz="1800" b="1" i="1" u="none" dirty="0" err="1" smtClean="0">
                <a:solidFill>
                  <a:srgbClr val="FF0000"/>
                </a:solidFill>
              </a:rPr>
              <a:t>S</a:t>
            </a:r>
            <a:r>
              <a:rPr lang="en-US" altLang="zh-CN" sz="1800" b="1" i="1" u="none" baseline="-25000" dirty="0" err="1" smtClean="0">
                <a:solidFill>
                  <a:srgbClr val="FF0000"/>
                </a:solidFill>
              </a:rPr>
              <a:t>x</a:t>
            </a:r>
            <a:r>
              <a:rPr lang="en-US" altLang="zh-CN" sz="1800" b="1" i="1" u="none" dirty="0" smtClean="0">
                <a:solidFill>
                  <a:srgbClr val="FF0000"/>
                </a:solidFill>
              </a:rPr>
              <a:t>(f)</a:t>
            </a:r>
            <a:r>
              <a:rPr lang="en-US" altLang="zh-CN" sz="1800" b="1" i="1" u="none" dirty="0" err="1" smtClean="0">
                <a:solidFill>
                  <a:srgbClr val="FF0000"/>
                </a:solidFill>
              </a:rPr>
              <a:t>df</a:t>
            </a:r>
            <a:r>
              <a:rPr lang="zh-CN" altLang="en-US" sz="1800" b="1" u="none" dirty="0" smtClean="0">
                <a:solidFill>
                  <a:schemeClr val="tx1"/>
                </a:solidFill>
              </a:rPr>
              <a:t>组成；</a:t>
            </a:r>
            <a:endParaRPr lang="en-US" altLang="zh-CN" sz="1800" b="1" u="none" dirty="0" smtClean="0">
              <a:solidFill>
                <a:schemeClr val="tx1"/>
              </a:solidFill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1800" b="1" i="1" u="none" dirty="0" err="1">
                <a:solidFill>
                  <a:schemeClr val="tx1"/>
                </a:solidFill>
              </a:rPr>
              <a:t>S</a:t>
            </a:r>
            <a:r>
              <a:rPr lang="en-US" altLang="zh-CN" sz="1800" b="1" i="1" u="none" baseline="-25000" dirty="0" err="1">
                <a:solidFill>
                  <a:schemeClr val="tx1"/>
                </a:solidFill>
              </a:rPr>
              <a:t>x</a:t>
            </a:r>
            <a:r>
              <a:rPr lang="en-US" altLang="zh-CN" sz="1800" b="1" u="none" dirty="0">
                <a:solidFill>
                  <a:schemeClr val="tx1"/>
                </a:solidFill>
              </a:rPr>
              <a:t>(</a:t>
            </a:r>
            <a:r>
              <a:rPr lang="en-US" altLang="zh-CN" sz="1800" b="1" i="1" u="none" dirty="0">
                <a:solidFill>
                  <a:schemeClr val="tx1"/>
                </a:solidFill>
              </a:rPr>
              <a:t>f</a:t>
            </a:r>
            <a:r>
              <a:rPr lang="en-US" altLang="zh-CN" sz="1800" b="1" u="none" dirty="0" smtClean="0">
                <a:solidFill>
                  <a:schemeClr val="tx1"/>
                </a:solidFill>
              </a:rPr>
              <a:t>)</a:t>
            </a:r>
            <a:r>
              <a:rPr lang="zh-CN" altLang="en-US" sz="1800" b="1" u="none" dirty="0" smtClean="0">
                <a:solidFill>
                  <a:schemeClr val="tx1"/>
                </a:solidFill>
              </a:rPr>
              <a:t>表示</a:t>
            </a:r>
            <a:r>
              <a:rPr lang="zh-CN" altLang="en-US" sz="1800" b="1" u="none" dirty="0" smtClean="0">
                <a:solidFill>
                  <a:srgbClr val="FF0000"/>
                </a:solidFill>
              </a:rPr>
              <a:t>信号的功率密度沿着频率轴的</a:t>
            </a:r>
            <a:r>
              <a:rPr lang="zh-CN" altLang="en-US" sz="1800" b="1" u="none" dirty="0" smtClean="0">
                <a:solidFill>
                  <a:srgbClr val="FF0000"/>
                </a:solidFill>
              </a:rPr>
              <a:t>分布</a:t>
            </a:r>
            <a:r>
              <a:rPr lang="en-US" altLang="zh-CN" sz="1800" b="1" u="none" dirty="0" smtClean="0">
                <a:solidFill>
                  <a:srgbClr val="FF0000"/>
                </a:solidFill>
              </a:rPr>
              <a:t>.</a:t>
            </a:r>
            <a:endParaRPr lang="zh-CN" altLang="en-US" sz="1800" b="1" u="none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529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529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529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529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529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529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529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529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5529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5529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529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529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5529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5529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5529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5529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5529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5529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5529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5529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5529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5529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55298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5529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5529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2975" grpId="0"/>
      <p:bldP spid="552976" grpId="0"/>
      <p:bldP spid="552977" grpId="0"/>
      <p:bldP spid="552978" grpId="0" animBg="1"/>
      <p:bldP spid="552979" grpId="0"/>
      <p:bldP spid="552981" grpId="0" animBg="1"/>
      <p:bldP spid="552982" grpId="0"/>
      <p:bldP spid="552983" grpId="0"/>
      <p:bldP spid="552984" grpId="0"/>
      <p:bldP spid="2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5398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88592757"/>
              </p:ext>
            </p:extLst>
          </p:nvPr>
        </p:nvGraphicFramePr>
        <p:xfrm>
          <a:off x="5174272" y="92680"/>
          <a:ext cx="2973404" cy="5931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4102" name="公式" r:id="rId3" imgW="1663560" imgH="330120" progId="Equation.3">
                  <p:embed/>
                </p:oleObj>
              </mc:Choice>
              <mc:Fallback>
                <p:oleObj name="公式" r:id="rId3" imgW="1663560" imgH="33012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74272" y="92680"/>
                        <a:ext cx="2973404" cy="59312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3988" name="Rectangle 4"/>
          <p:cNvSpPr>
            <a:spLocks noChangeArrowheads="1"/>
          </p:cNvSpPr>
          <p:nvPr/>
        </p:nvSpPr>
        <p:spPr bwMode="auto">
          <a:xfrm>
            <a:off x="712788" y="1225977"/>
            <a:ext cx="7970837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>
              <a:buClr>
                <a:srgbClr val="FF3300"/>
              </a:buClr>
              <a:buFont typeface="Wingdings" pitchFamily="2" charset="2"/>
              <a:buChar char="Ø"/>
            </a:pPr>
            <a:r>
              <a:rPr kumimoji="0" lang="zh-CN" altLang="en-US" sz="2400" b="1" u="none" dirty="0">
                <a:solidFill>
                  <a:schemeClr val="tx1"/>
                </a:solidFill>
              </a:rPr>
              <a:t>自功率谱密度</a:t>
            </a:r>
            <a:r>
              <a:rPr kumimoji="0" lang="zh-CN" altLang="en-US" sz="2400" b="1" u="none" dirty="0" smtClean="0">
                <a:solidFill>
                  <a:schemeClr val="tx1"/>
                </a:solidFill>
              </a:rPr>
              <a:t>函数</a:t>
            </a:r>
            <a:r>
              <a:rPr kumimoji="0" lang="en-US" altLang="zh-CN" sz="2400" b="1" i="1" u="none" dirty="0" err="1" smtClean="0">
                <a:solidFill>
                  <a:schemeClr val="tx1"/>
                </a:solidFill>
              </a:rPr>
              <a:t>S</a:t>
            </a:r>
            <a:r>
              <a:rPr kumimoji="0" lang="en-US" altLang="zh-CN" sz="2400" b="1" i="1" u="none" baseline="-25000" dirty="0" err="1" smtClean="0">
                <a:solidFill>
                  <a:schemeClr val="tx1"/>
                </a:solidFill>
              </a:rPr>
              <a:t>x</a:t>
            </a:r>
            <a:r>
              <a:rPr kumimoji="0" lang="en-US" altLang="zh-CN" sz="2400" b="1" u="none" dirty="0" smtClean="0">
                <a:solidFill>
                  <a:schemeClr val="tx1"/>
                </a:solidFill>
              </a:rPr>
              <a:t>(</a:t>
            </a:r>
            <a:r>
              <a:rPr kumimoji="0" lang="en-US" altLang="zh-CN" sz="2400" b="1" i="1" u="none" dirty="0" smtClean="0">
                <a:solidFill>
                  <a:schemeClr val="tx1"/>
                </a:solidFill>
              </a:rPr>
              <a:t>f</a:t>
            </a:r>
            <a:r>
              <a:rPr kumimoji="0" lang="en-US" altLang="zh-CN" sz="2400" b="1" u="none" dirty="0" smtClean="0">
                <a:solidFill>
                  <a:schemeClr val="tx1"/>
                </a:solidFill>
              </a:rPr>
              <a:t>)</a:t>
            </a:r>
            <a:r>
              <a:rPr kumimoji="0" lang="zh-CN" altLang="en-US" sz="2400" b="1" u="none" dirty="0" smtClean="0">
                <a:solidFill>
                  <a:schemeClr val="tx1"/>
                </a:solidFill>
              </a:rPr>
              <a:t>是</a:t>
            </a:r>
            <a:r>
              <a:rPr kumimoji="0" lang="zh-CN" altLang="en-US" sz="2400" b="1" u="none" dirty="0">
                <a:solidFill>
                  <a:srgbClr val="FF3300"/>
                </a:solidFill>
              </a:rPr>
              <a:t>偶函数</a:t>
            </a:r>
            <a:r>
              <a:rPr kumimoji="0" lang="zh-CN" altLang="en-US" sz="2400" b="1" u="none" dirty="0">
                <a:solidFill>
                  <a:schemeClr val="tx1"/>
                </a:solidFill>
              </a:rPr>
              <a:t>，它的频率范围是</a:t>
            </a:r>
            <a:r>
              <a:rPr kumimoji="0" lang="en-US" altLang="zh-CN" sz="2400" b="1" u="none" dirty="0">
                <a:solidFill>
                  <a:schemeClr val="tx1"/>
                </a:solidFill>
              </a:rPr>
              <a:t>(-∞, </a:t>
            </a:r>
            <a:endParaRPr kumimoji="0" lang="en-US" altLang="zh-CN" sz="2400" b="1" u="none" dirty="0" smtClean="0">
              <a:solidFill>
                <a:schemeClr val="tx1"/>
              </a:solidFill>
            </a:endParaRPr>
          </a:p>
          <a:p>
            <a:pPr>
              <a:buClr>
                <a:srgbClr val="FF3300"/>
              </a:buClr>
            </a:pPr>
            <a:r>
              <a:rPr kumimoji="0" lang="en-US" altLang="zh-CN" sz="2400" b="1" u="none" dirty="0">
                <a:solidFill>
                  <a:schemeClr val="tx1"/>
                </a:solidFill>
              </a:rPr>
              <a:t> </a:t>
            </a:r>
            <a:r>
              <a:rPr kumimoji="0" lang="en-US" altLang="zh-CN" sz="2400" b="1" u="none" dirty="0" smtClean="0">
                <a:solidFill>
                  <a:schemeClr val="tx1"/>
                </a:solidFill>
              </a:rPr>
              <a:t>   ∞</a:t>
            </a:r>
            <a:r>
              <a:rPr kumimoji="0" lang="en-US" altLang="zh-CN" sz="2400" b="1" u="none" dirty="0">
                <a:solidFill>
                  <a:schemeClr val="tx1"/>
                </a:solidFill>
              </a:rPr>
              <a:t>)</a:t>
            </a:r>
            <a:r>
              <a:rPr kumimoji="0" lang="zh-CN" altLang="en-US" sz="2400" b="1" u="none" dirty="0" smtClean="0">
                <a:solidFill>
                  <a:schemeClr val="tx1"/>
                </a:solidFill>
              </a:rPr>
              <a:t>，又</a:t>
            </a:r>
            <a:r>
              <a:rPr kumimoji="0" lang="zh-CN" altLang="en-US" sz="2400" b="1" u="none" dirty="0">
                <a:solidFill>
                  <a:schemeClr val="tx1"/>
                </a:solidFill>
              </a:rPr>
              <a:t>称为</a:t>
            </a:r>
            <a:r>
              <a:rPr kumimoji="0" lang="zh-CN" altLang="en-US" sz="2400" b="1" u="none" dirty="0">
                <a:solidFill>
                  <a:srgbClr val="FF3300"/>
                </a:solidFill>
              </a:rPr>
              <a:t>双边</a:t>
            </a:r>
            <a:r>
              <a:rPr kumimoji="0" lang="zh-CN" altLang="en-US" sz="2400" b="1" u="none" dirty="0">
                <a:solidFill>
                  <a:schemeClr val="tx1"/>
                </a:solidFill>
              </a:rPr>
              <a:t>功率谱密度函数。 </a:t>
            </a:r>
          </a:p>
        </p:txBody>
      </p:sp>
      <p:sp>
        <p:nvSpPr>
          <p:cNvPr id="553989" name="Rectangle 5"/>
          <p:cNvSpPr>
            <a:spLocks noChangeArrowheads="1"/>
          </p:cNvSpPr>
          <p:nvPr/>
        </p:nvSpPr>
        <p:spPr bwMode="auto">
          <a:xfrm>
            <a:off x="3556000" y="5928668"/>
            <a:ext cx="250581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kumimoji="0" lang="zh-CN" altLang="en-US" sz="2400" b="1" u="none" dirty="0">
                <a:solidFill>
                  <a:srgbClr val="FF3300"/>
                </a:solidFill>
                <a:latin typeface="黑体" pitchFamily="49" charset="-122"/>
                <a:ea typeface="黑体" pitchFamily="49" charset="-122"/>
              </a:rPr>
              <a:t>单边谱和双边谱 </a:t>
            </a:r>
          </a:p>
        </p:txBody>
      </p:sp>
      <p:sp>
        <p:nvSpPr>
          <p:cNvPr id="553990" name="Rectangle 6"/>
          <p:cNvSpPr>
            <a:spLocks noChangeArrowheads="1"/>
          </p:cNvSpPr>
          <p:nvPr/>
        </p:nvSpPr>
        <p:spPr bwMode="auto">
          <a:xfrm>
            <a:off x="674688" y="2137202"/>
            <a:ext cx="8113712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>
              <a:buClr>
                <a:srgbClr val="FF3300"/>
              </a:buClr>
              <a:buFont typeface="Wingdings" pitchFamily="2" charset="2"/>
              <a:buChar char="Ø"/>
            </a:pPr>
            <a:r>
              <a:rPr kumimoji="0" lang="zh-CN" altLang="en-US" sz="2400" b="1" u="none" dirty="0">
                <a:solidFill>
                  <a:schemeClr val="tx1"/>
                </a:solidFill>
              </a:rPr>
              <a:t>可用在</a:t>
            </a:r>
            <a:r>
              <a:rPr kumimoji="0" lang="en-US" altLang="zh-CN" sz="2400" b="1" u="none" dirty="0">
                <a:solidFill>
                  <a:schemeClr val="tx1"/>
                </a:solidFill>
              </a:rPr>
              <a:t>(0, ∞)</a:t>
            </a:r>
            <a:r>
              <a:rPr kumimoji="0" lang="zh-CN" altLang="en-US" sz="2400" b="1" u="none" dirty="0">
                <a:solidFill>
                  <a:schemeClr val="tx1"/>
                </a:solidFill>
              </a:rPr>
              <a:t>频率范围内的</a:t>
            </a:r>
            <a:r>
              <a:rPr kumimoji="0" lang="zh-CN" altLang="en-US" sz="2400" b="1" u="none" dirty="0">
                <a:solidFill>
                  <a:srgbClr val="FF3300"/>
                </a:solidFill>
              </a:rPr>
              <a:t>单边</a:t>
            </a:r>
            <a:r>
              <a:rPr kumimoji="0" lang="zh-CN" altLang="en-US" sz="2400" b="1" u="none" dirty="0">
                <a:solidFill>
                  <a:schemeClr val="tx1"/>
                </a:solidFill>
              </a:rPr>
              <a:t>功率谱密度</a:t>
            </a:r>
            <a:r>
              <a:rPr kumimoji="0" lang="zh-CN" altLang="en-US" sz="2400" b="1" u="none" dirty="0" smtClean="0">
                <a:solidFill>
                  <a:schemeClr val="tx1"/>
                </a:solidFill>
              </a:rPr>
              <a:t>函数</a:t>
            </a:r>
            <a:r>
              <a:rPr kumimoji="0" lang="en-US" altLang="zh-CN" sz="2400" b="1" i="1" u="none" dirty="0" err="1" smtClean="0">
                <a:solidFill>
                  <a:schemeClr val="tx1"/>
                </a:solidFill>
              </a:rPr>
              <a:t>G</a:t>
            </a:r>
            <a:r>
              <a:rPr kumimoji="0" lang="en-US" altLang="zh-CN" sz="2400" b="1" i="1" u="none" baseline="-25000" dirty="0" err="1" smtClean="0">
                <a:solidFill>
                  <a:schemeClr val="tx1"/>
                </a:solidFill>
              </a:rPr>
              <a:t>x</a:t>
            </a:r>
            <a:r>
              <a:rPr kumimoji="0" lang="en-US" altLang="zh-CN" sz="2400" b="1" u="none" dirty="0" smtClean="0">
                <a:solidFill>
                  <a:schemeClr val="tx1"/>
                </a:solidFill>
              </a:rPr>
              <a:t>(</a:t>
            </a:r>
            <a:r>
              <a:rPr kumimoji="0" lang="en-US" altLang="zh-CN" sz="2400" b="1" i="1" u="none" dirty="0" smtClean="0">
                <a:solidFill>
                  <a:schemeClr val="tx1"/>
                </a:solidFill>
              </a:rPr>
              <a:t>f</a:t>
            </a:r>
            <a:r>
              <a:rPr kumimoji="0" lang="en-US" altLang="zh-CN" sz="2400" b="1" u="none" dirty="0" smtClean="0">
                <a:solidFill>
                  <a:schemeClr val="tx1"/>
                </a:solidFill>
              </a:rPr>
              <a:t>)</a:t>
            </a:r>
            <a:r>
              <a:rPr kumimoji="0" lang="zh-CN" altLang="en-US" sz="2400" b="1" u="none" dirty="0" smtClean="0">
                <a:solidFill>
                  <a:schemeClr val="tx1"/>
                </a:solidFill>
              </a:rPr>
              <a:t>来表</a:t>
            </a:r>
            <a:endParaRPr kumimoji="0" lang="en-US" altLang="zh-CN" sz="2400" b="1" u="none" dirty="0" smtClean="0">
              <a:solidFill>
                <a:schemeClr val="tx1"/>
              </a:solidFill>
            </a:endParaRPr>
          </a:p>
          <a:p>
            <a:pPr>
              <a:buClr>
                <a:srgbClr val="FF3300"/>
              </a:buClr>
            </a:pPr>
            <a:r>
              <a:rPr kumimoji="0" lang="en-US" altLang="zh-CN" sz="2400" b="1" u="none" dirty="0">
                <a:solidFill>
                  <a:schemeClr val="tx1"/>
                </a:solidFill>
              </a:rPr>
              <a:t> </a:t>
            </a:r>
            <a:r>
              <a:rPr kumimoji="0" lang="en-US" altLang="zh-CN" sz="2400" b="1" u="none" dirty="0" smtClean="0">
                <a:solidFill>
                  <a:schemeClr val="tx1"/>
                </a:solidFill>
              </a:rPr>
              <a:t>  </a:t>
            </a:r>
            <a:r>
              <a:rPr kumimoji="0" lang="zh-CN" altLang="en-US" sz="2400" b="1" u="none" dirty="0" smtClean="0">
                <a:solidFill>
                  <a:schemeClr val="tx1"/>
                </a:solidFill>
              </a:rPr>
              <a:t>示信号</a:t>
            </a:r>
            <a:r>
              <a:rPr kumimoji="0" lang="zh-CN" altLang="en-US" sz="2400" b="1" u="none" dirty="0">
                <a:solidFill>
                  <a:schemeClr val="tx1"/>
                </a:solidFill>
              </a:rPr>
              <a:t>的全部功率谱，即 </a:t>
            </a:r>
          </a:p>
        </p:txBody>
      </p:sp>
      <p:graphicFrame>
        <p:nvGraphicFramePr>
          <p:cNvPr id="553991" name="Object 7"/>
          <p:cNvGraphicFramePr>
            <a:graphicFrameLocks noChangeAspect="1"/>
          </p:cNvGraphicFramePr>
          <p:nvPr/>
        </p:nvGraphicFramePr>
        <p:xfrm>
          <a:off x="2733675" y="3048000"/>
          <a:ext cx="3128963" cy="642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4103" name="公式" r:id="rId5" imgW="1117600" imgH="228600" progId="Equation.3">
                  <p:embed/>
                </p:oleObj>
              </mc:Choice>
              <mc:Fallback>
                <p:oleObj name="公式" r:id="rId5" imgW="1117600" imgH="2286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33675" y="3048000"/>
                        <a:ext cx="3128963" cy="642938"/>
                      </a:xfrm>
                      <a:prstGeom prst="rect">
                        <a:avLst/>
                      </a:prstGeom>
                      <a:solidFill>
                        <a:srgbClr val="FFCC99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3992" name="Rectangle 8"/>
          <p:cNvSpPr>
            <a:spLocks noChangeArrowheads="1"/>
          </p:cNvSpPr>
          <p:nvPr/>
        </p:nvSpPr>
        <p:spPr bwMode="auto">
          <a:xfrm>
            <a:off x="6138863" y="3094038"/>
            <a:ext cx="8128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kumimoji="0" lang="en-US" altLang="zh-CN" sz="1800" b="1" u="none" dirty="0" smtClean="0">
                <a:solidFill>
                  <a:srgbClr val="FF3300"/>
                </a:solidFill>
                <a:ea typeface="宋体" pitchFamily="2" charset="-122"/>
              </a:rPr>
              <a:t>(5-32</a:t>
            </a:r>
            <a:r>
              <a:rPr kumimoji="0" lang="en-US" altLang="zh-CN" sz="1800" b="1" u="none" dirty="0">
                <a:solidFill>
                  <a:srgbClr val="FF3300"/>
                </a:solidFill>
                <a:ea typeface="宋体" pitchFamily="2" charset="-122"/>
              </a:rPr>
              <a:t>) </a:t>
            </a:r>
          </a:p>
        </p:txBody>
      </p:sp>
      <p:sp>
        <p:nvSpPr>
          <p:cNvPr id="553993" name="Rectangle 9"/>
          <p:cNvSpPr>
            <a:spLocks noChangeArrowheads="1"/>
          </p:cNvSpPr>
          <p:nvPr/>
        </p:nvSpPr>
        <p:spPr bwMode="auto">
          <a:xfrm>
            <a:off x="391319" y="912668"/>
            <a:ext cx="6429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0" lang="en-US" altLang="zh-CN" sz="2400" b="1" u="none" dirty="0">
                <a:solidFill>
                  <a:srgbClr val="FF3300"/>
                </a:solidFill>
              </a:rPr>
              <a:t>2</a:t>
            </a:r>
            <a:r>
              <a:rPr kumimoji="0" lang="zh-CN" altLang="en-US" sz="2400" b="1" u="none" dirty="0">
                <a:solidFill>
                  <a:srgbClr val="FF3300"/>
                </a:solidFill>
              </a:rPr>
              <a:t>）</a:t>
            </a:r>
          </a:p>
        </p:txBody>
      </p:sp>
      <p:pic>
        <p:nvPicPr>
          <p:cNvPr id="553994" name="Picture 10" descr="y041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1500" y="3621088"/>
            <a:ext cx="5416550" cy="2368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Rectangle 18"/>
          <p:cNvSpPr>
            <a:spLocks noChangeArrowheads="1"/>
          </p:cNvSpPr>
          <p:nvPr/>
        </p:nvSpPr>
        <p:spPr bwMode="auto">
          <a:xfrm>
            <a:off x="269876" y="263642"/>
            <a:ext cx="4335462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sz="3200" b="1" u="none" dirty="0" smtClean="0">
                <a:solidFill>
                  <a:srgbClr val="800000"/>
                </a:solidFill>
              </a:rPr>
              <a:t>5.4 </a:t>
            </a:r>
            <a:r>
              <a:rPr lang="zh-CN" altLang="en-US" sz="3200" b="1" u="none" dirty="0">
                <a:solidFill>
                  <a:srgbClr val="800000"/>
                </a:solidFill>
              </a:rPr>
              <a:t>功率谱分析及应用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539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539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5539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539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539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5539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539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539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539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5539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3989" grpId="0"/>
      <p:bldP spid="553990" grpId="0"/>
      <p:bldP spid="553992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644" name="Rectangle 12"/>
          <p:cNvSpPr>
            <a:spLocks noChangeArrowheads="1"/>
          </p:cNvSpPr>
          <p:nvPr/>
        </p:nvSpPr>
        <p:spPr bwMode="auto">
          <a:xfrm>
            <a:off x="481013" y="912286"/>
            <a:ext cx="63627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kumimoji="0" lang="en-US" altLang="zh-CN" sz="2400" b="1" u="none" dirty="0">
                <a:solidFill>
                  <a:srgbClr val="FF3300"/>
                </a:solidFill>
              </a:rPr>
              <a:t>3)</a:t>
            </a:r>
            <a:r>
              <a:rPr kumimoji="0" lang="zh-CN" altLang="en-US" sz="2400" b="1" u="none" dirty="0">
                <a:solidFill>
                  <a:schemeClr val="tx1"/>
                </a:solidFill>
              </a:rPr>
              <a:t>自功率谱密度函数</a:t>
            </a:r>
            <a:r>
              <a:rPr kumimoji="0" lang="en-US" altLang="zh-CN" sz="2400" b="1" u="none" dirty="0" err="1">
                <a:solidFill>
                  <a:schemeClr val="tx1"/>
                </a:solidFill>
              </a:rPr>
              <a:t>S</a:t>
            </a:r>
            <a:r>
              <a:rPr kumimoji="0" lang="en-US" altLang="zh-CN" sz="2400" b="1" i="1" u="none" baseline="-25000" dirty="0" err="1">
                <a:solidFill>
                  <a:schemeClr val="tx1"/>
                </a:solidFill>
              </a:rPr>
              <a:t>x</a:t>
            </a:r>
            <a:r>
              <a:rPr kumimoji="0" lang="en-US" altLang="zh-CN" sz="2400" b="1" u="none" dirty="0">
                <a:solidFill>
                  <a:schemeClr val="tx1"/>
                </a:solidFill>
              </a:rPr>
              <a:t>(</a:t>
            </a:r>
            <a:r>
              <a:rPr kumimoji="0" lang="en-US" altLang="zh-CN" sz="2400" b="1" i="1" u="none" dirty="0" err="1">
                <a:solidFill>
                  <a:schemeClr val="tx1"/>
                </a:solidFill>
              </a:rPr>
              <a:t>jf</a:t>
            </a:r>
            <a:r>
              <a:rPr kumimoji="0" lang="en-US" altLang="zh-CN" sz="2400" b="1" u="none" dirty="0">
                <a:solidFill>
                  <a:schemeClr val="tx1"/>
                </a:solidFill>
              </a:rPr>
              <a:t>)</a:t>
            </a:r>
            <a:r>
              <a:rPr kumimoji="0" lang="zh-CN" altLang="en-US" sz="2400" b="1" u="none" dirty="0">
                <a:solidFill>
                  <a:schemeClr val="tx1"/>
                </a:solidFill>
              </a:rPr>
              <a:t>和幅值谱</a:t>
            </a:r>
            <a:r>
              <a:rPr kumimoji="0" lang="en-US" altLang="zh-CN" sz="2400" b="1" i="1" u="none" dirty="0">
                <a:solidFill>
                  <a:schemeClr val="tx1"/>
                </a:solidFill>
              </a:rPr>
              <a:t>X</a:t>
            </a:r>
            <a:r>
              <a:rPr kumimoji="0" lang="en-US" altLang="zh-CN" sz="2400" b="1" u="none" dirty="0">
                <a:solidFill>
                  <a:schemeClr val="tx1"/>
                </a:solidFill>
              </a:rPr>
              <a:t>(</a:t>
            </a:r>
            <a:r>
              <a:rPr kumimoji="0" lang="en-US" altLang="zh-CN" sz="2400" b="1" i="1" u="none" dirty="0" err="1">
                <a:solidFill>
                  <a:schemeClr val="tx1"/>
                </a:solidFill>
              </a:rPr>
              <a:t>jf</a:t>
            </a:r>
            <a:r>
              <a:rPr kumimoji="0" lang="en-US" altLang="zh-CN" sz="2400" b="1" u="none" dirty="0">
                <a:solidFill>
                  <a:schemeClr val="tx1"/>
                </a:solidFill>
              </a:rPr>
              <a:t>)</a:t>
            </a:r>
            <a:r>
              <a:rPr kumimoji="0" lang="zh-CN" altLang="en-US" sz="2400" b="1" u="none" dirty="0">
                <a:solidFill>
                  <a:schemeClr val="tx1"/>
                </a:solidFill>
              </a:rPr>
              <a:t>的关系</a:t>
            </a:r>
            <a:r>
              <a:rPr kumimoji="0" lang="zh-CN" altLang="en-US" sz="2400" u="none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453645" name="Rectangle 13"/>
          <p:cNvSpPr>
            <a:spLocks noChangeArrowheads="1"/>
          </p:cNvSpPr>
          <p:nvPr/>
        </p:nvSpPr>
        <p:spPr bwMode="auto">
          <a:xfrm>
            <a:off x="623888" y="1477963"/>
            <a:ext cx="24050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kumimoji="0" lang="zh-CN" altLang="en-US" sz="2400" b="1" u="none">
                <a:solidFill>
                  <a:schemeClr val="tx1"/>
                </a:solidFill>
              </a:rPr>
              <a:t>信号的平均功率 </a:t>
            </a:r>
          </a:p>
        </p:txBody>
      </p:sp>
      <p:graphicFrame>
        <p:nvGraphicFramePr>
          <p:cNvPr id="453646" name="Object 14"/>
          <p:cNvGraphicFramePr>
            <a:graphicFrameLocks noChangeAspect="1"/>
          </p:cNvGraphicFramePr>
          <p:nvPr/>
        </p:nvGraphicFramePr>
        <p:xfrm>
          <a:off x="731838" y="1917700"/>
          <a:ext cx="5051425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3997" name="公式" r:id="rId3" imgW="3111480" imgH="393480" progId="Equation.3">
                  <p:embed/>
                </p:oleObj>
              </mc:Choice>
              <mc:Fallback>
                <p:oleObj name="公式" r:id="rId3" imgW="3111480" imgH="39348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1838" y="1917700"/>
                        <a:ext cx="5051425" cy="635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3647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63622466"/>
              </p:ext>
            </p:extLst>
          </p:nvPr>
        </p:nvGraphicFramePr>
        <p:xfrm>
          <a:off x="5822950" y="1481138"/>
          <a:ext cx="2673350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3998" name="Equation" r:id="rId5" imgW="1726920" imgH="330120" progId="Equation.DSMT4">
                  <p:embed/>
                </p:oleObj>
              </mc:Choice>
              <mc:Fallback>
                <p:oleObj name="Equation" r:id="rId5" imgW="1726920" imgH="330120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22950" y="1481138"/>
                        <a:ext cx="2673350" cy="5143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3648" name="Rectangle 16"/>
          <p:cNvSpPr>
            <a:spLocks noChangeArrowheads="1"/>
          </p:cNvSpPr>
          <p:nvPr/>
        </p:nvSpPr>
        <p:spPr bwMode="auto">
          <a:xfrm>
            <a:off x="8331200" y="1560513"/>
            <a:ext cx="8128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kumimoji="0" lang="en-US" altLang="zh-CN" sz="1800" b="1" u="none" dirty="0" smtClean="0">
                <a:solidFill>
                  <a:srgbClr val="FF3300"/>
                </a:solidFill>
              </a:rPr>
              <a:t>(5-24</a:t>
            </a:r>
            <a:r>
              <a:rPr kumimoji="0" lang="en-US" altLang="zh-CN" sz="1800" b="1" u="none" dirty="0">
                <a:solidFill>
                  <a:srgbClr val="FF3300"/>
                </a:solidFill>
              </a:rPr>
              <a:t>) </a:t>
            </a:r>
          </a:p>
        </p:txBody>
      </p:sp>
      <p:graphicFrame>
        <p:nvGraphicFramePr>
          <p:cNvPr id="453649" name="Object 17"/>
          <p:cNvGraphicFramePr>
            <a:graphicFrameLocks noChangeAspect="1"/>
          </p:cNvGraphicFramePr>
          <p:nvPr/>
        </p:nvGraphicFramePr>
        <p:xfrm>
          <a:off x="5872163" y="2200275"/>
          <a:ext cx="2443162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3999" name="公式" r:id="rId7" imgW="1790700" imgH="419100" progId="Equation.3">
                  <p:embed/>
                </p:oleObj>
              </mc:Choice>
              <mc:Fallback>
                <p:oleObj name="公式" r:id="rId7" imgW="1790700" imgH="41910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72163" y="2200275"/>
                        <a:ext cx="2443162" cy="571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3650" name="Rectangle 18"/>
          <p:cNvSpPr>
            <a:spLocks noChangeArrowheads="1"/>
          </p:cNvSpPr>
          <p:nvPr/>
        </p:nvSpPr>
        <p:spPr bwMode="auto">
          <a:xfrm>
            <a:off x="8331200" y="2273300"/>
            <a:ext cx="812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kumimoji="0" lang="en-US" altLang="zh-CN" sz="1800" b="1" u="none" dirty="0" smtClean="0">
                <a:solidFill>
                  <a:srgbClr val="FF3300"/>
                </a:solidFill>
              </a:rPr>
              <a:t>(5-31</a:t>
            </a:r>
            <a:r>
              <a:rPr kumimoji="0" lang="en-US" altLang="zh-CN" sz="1800" b="1" u="none" dirty="0">
                <a:solidFill>
                  <a:srgbClr val="FF3300"/>
                </a:solidFill>
              </a:rPr>
              <a:t>)</a:t>
            </a:r>
            <a:r>
              <a:rPr kumimoji="0" lang="en-US" altLang="zh-CN" sz="1800" u="none" dirty="0">
                <a:solidFill>
                  <a:srgbClr val="FF3300"/>
                </a:solidFill>
              </a:rPr>
              <a:t> </a:t>
            </a:r>
          </a:p>
        </p:txBody>
      </p:sp>
      <p:graphicFrame>
        <p:nvGraphicFramePr>
          <p:cNvPr id="453651" name="Object 19"/>
          <p:cNvGraphicFramePr>
            <a:graphicFrameLocks noChangeAspect="1"/>
          </p:cNvGraphicFramePr>
          <p:nvPr/>
        </p:nvGraphicFramePr>
        <p:xfrm>
          <a:off x="5872163" y="2992438"/>
          <a:ext cx="1957387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4000" name="公式" r:id="rId9" imgW="1117600" imgH="228600" progId="Equation.3">
                  <p:embed/>
                </p:oleObj>
              </mc:Choice>
              <mc:Fallback>
                <p:oleObj name="公式" r:id="rId9" imgW="1117600" imgH="228600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72163" y="2992438"/>
                        <a:ext cx="1957387" cy="4032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3652" name="Rectangle 20"/>
          <p:cNvSpPr>
            <a:spLocks noChangeArrowheads="1"/>
          </p:cNvSpPr>
          <p:nvPr/>
        </p:nvSpPr>
        <p:spPr bwMode="auto">
          <a:xfrm>
            <a:off x="8331200" y="2997994"/>
            <a:ext cx="812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kumimoji="0" lang="en-US" altLang="zh-CN" sz="1800" b="1" u="none" dirty="0" smtClean="0">
                <a:solidFill>
                  <a:srgbClr val="FF3300"/>
                </a:solidFill>
              </a:rPr>
              <a:t>(5-32</a:t>
            </a:r>
            <a:r>
              <a:rPr kumimoji="0" lang="en-US" altLang="zh-CN" sz="1800" b="1" u="none" dirty="0">
                <a:solidFill>
                  <a:srgbClr val="FF3300"/>
                </a:solidFill>
              </a:rPr>
              <a:t>) </a:t>
            </a:r>
          </a:p>
        </p:txBody>
      </p:sp>
      <p:graphicFrame>
        <p:nvGraphicFramePr>
          <p:cNvPr id="453653" name="Object 21"/>
          <p:cNvGraphicFramePr>
            <a:graphicFrameLocks noChangeAspect="1"/>
          </p:cNvGraphicFramePr>
          <p:nvPr/>
        </p:nvGraphicFramePr>
        <p:xfrm>
          <a:off x="1160463" y="2603500"/>
          <a:ext cx="3703637" cy="674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4001" name="公式" r:id="rId11" imgW="1803240" imgH="330120" progId="Equation.3">
                  <p:embed/>
                </p:oleObj>
              </mc:Choice>
              <mc:Fallback>
                <p:oleObj name="公式" r:id="rId11" imgW="1803240" imgH="330120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60463" y="2603500"/>
                        <a:ext cx="3703637" cy="6746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3654" name="Rectangle 22"/>
          <p:cNvSpPr>
            <a:spLocks noChangeArrowheads="1"/>
          </p:cNvSpPr>
          <p:nvPr/>
        </p:nvSpPr>
        <p:spPr bwMode="auto">
          <a:xfrm>
            <a:off x="5013325" y="2814638"/>
            <a:ext cx="8128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kumimoji="0" lang="en-US" altLang="zh-CN" sz="1800" b="1" u="none" dirty="0" smtClean="0">
                <a:solidFill>
                  <a:srgbClr val="FF3300"/>
                </a:solidFill>
              </a:rPr>
              <a:t>(5-33</a:t>
            </a:r>
            <a:r>
              <a:rPr kumimoji="0" lang="en-US" altLang="zh-CN" sz="1800" b="1" u="none" dirty="0">
                <a:solidFill>
                  <a:srgbClr val="FF3300"/>
                </a:solidFill>
              </a:rPr>
              <a:t>) </a:t>
            </a:r>
          </a:p>
        </p:txBody>
      </p:sp>
      <p:graphicFrame>
        <p:nvGraphicFramePr>
          <p:cNvPr id="453656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29454886"/>
              </p:ext>
            </p:extLst>
          </p:nvPr>
        </p:nvGraphicFramePr>
        <p:xfrm>
          <a:off x="1086511" y="3490912"/>
          <a:ext cx="3624262" cy="938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4002" name="Equation" r:id="rId13" imgW="1358640" imgH="355320" progId="Equation.DSMT4">
                  <p:embed/>
                </p:oleObj>
              </mc:Choice>
              <mc:Fallback>
                <p:oleObj name="Equation" r:id="rId13" imgW="1358640" imgH="355320" progId="Equation.DSMT4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86511" y="3490912"/>
                        <a:ext cx="3624262" cy="938213"/>
                      </a:xfrm>
                      <a:prstGeom prst="rect">
                        <a:avLst/>
                      </a:prstGeom>
                      <a:solidFill>
                        <a:srgbClr val="CC99FF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3658" name="Rectangle 26"/>
          <p:cNvSpPr>
            <a:spLocks noChangeArrowheads="1"/>
          </p:cNvSpPr>
          <p:nvPr/>
        </p:nvSpPr>
        <p:spPr bwMode="auto">
          <a:xfrm>
            <a:off x="5016500" y="3831432"/>
            <a:ext cx="8128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kumimoji="0" lang="en-US" altLang="zh-CN" sz="1800" b="1" u="none" dirty="0" smtClean="0">
                <a:solidFill>
                  <a:srgbClr val="FF3300"/>
                </a:solidFill>
              </a:rPr>
              <a:t>(5-34</a:t>
            </a:r>
            <a:r>
              <a:rPr kumimoji="0" lang="en-US" altLang="zh-CN" sz="1800" b="1" u="none" dirty="0">
                <a:solidFill>
                  <a:srgbClr val="FF3300"/>
                </a:solidFill>
              </a:rPr>
              <a:t>) </a:t>
            </a:r>
          </a:p>
        </p:txBody>
      </p:sp>
      <p:sp>
        <p:nvSpPr>
          <p:cNvPr id="453659" name="Rectangle 27"/>
          <p:cNvSpPr>
            <a:spLocks noChangeArrowheads="1"/>
          </p:cNvSpPr>
          <p:nvPr/>
        </p:nvSpPr>
        <p:spPr bwMode="auto">
          <a:xfrm>
            <a:off x="677863" y="5747071"/>
            <a:ext cx="63214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buClr>
                <a:srgbClr val="FF3300"/>
              </a:buClr>
              <a:buFont typeface="Wingdings" pitchFamily="2" charset="2"/>
              <a:buChar char="ü"/>
            </a:pPr>
            <a:r>
              <a:rPr kumimoji="0" lang="zh-CN" altLang="en-US" sz="2400" b="1" u="none" dirty="0">
                <a:solidFill>
                  <a:schemeClr val="tx1"/>
                </a:solidFill>
              </a:rPr>
              <a:t>直接对</a:t>
            </a:r>
            <a:r>
              <a:rPr kumimoji="0" lang="zh-CN" altLang="en-US" sz="2400" b="1" u="none" dirty="0">
                <a:solidFill>
                  <a:srgbClr val="FF0000"/>
                </a:solidFill>
              </a:rPr>
              <a:t>时域信号作傅立叶变换来计算功率谱 </a:t>
            </a:r>
          </a:p>
        </p:txBody>
      </p:sp>
      <p:sp>
        <p:nvSpPr>
          <p:cNvPr id="453660" name="Line 28"/>
          <p:cNvSpPr>
            <a:spLocks noChangeShapeType="1"/>
          </p:cNvSpPr>
          <p:nvPr/>
        </p:nvSpPr>
        <p:spPr bwMode="auto">
          <a:xfrm>
            <a:off x="5826125" y="1477963"/>
            <a:ext cx="7938" cy="4269108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" name="Rectangle 18"/>
          <p:cNvSpPr>
            <a:spLocks noChangeArrowheads="1"/>
          </p:cNvSpPr>
          <p:nvPr/>
        </p:nvSpPr>
        <p:spPr bwMode="auto">
          <a:xfrm>
            <a:off x="269876" y="263642"/>
            <a:ext cx="4335462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sz="3200" b="1" u="none" dirty="0" smtClean="0">
                <a:solidFill>
                  <a:srgbClr val="800000"/>
                </a:solidFill>
              </a:rPr>
              <a:t>5.4 </a:t>
            </a:r>
            <a:r>
              <a:rPr lang="zh-CN" altLang="en-US" sz="3200" b="1" u="none" dirty="0">
                <a:solidFill>
                  <a:srgbClr val="800000"/>
                </a:solidFill>
              </a:rPr>
              <a:t>功率谱分析及应用</a:t>
            </a: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9703777"/>
              </p:ext>
            </p:extLst>
          </p:nvPr>
        </p:nvGraphicFramePr>
        <p:xfrm>
          <a:off x="1071563" y="4608513"/>
          <a:ext cx="3589337" cy="938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4003" name="Equation" r:id="rId15" imgW="1346040" imgH="355320" progId="Equation.DSMT4">
                  <p:embed/>
                </p:oleObj>
              </mc:Choice>
              <mc:Fallback>
                <p:oleObj name="Equation" r:id="rId15" imgW="1346040" imgH="355320" progId="Equation.DSMT4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1563" y="4608513"/>
                        <a:ext cx="3589337" cy="938212"/>
                      </a:xfrm>
                      <a:prstGeom prst="rect">
                        <a:avLst/>
                      </a:prstGeom>
                      <a:solidFill>
                        <a:srgbClr val="CC99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536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536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536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536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536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536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536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536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536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536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536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536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4536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4536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3645" grpId="0"/>
      <p:bldP spid="453650" grpId="0"/>
      <p:bldP spid="453652" grpId="0"/>
      <p:bldP spid="453654" grpId="0"/>
      <p:bldP spid="453658" grpId="0"/>
      <p:bldP spid="453659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678" name="Rectangle 22"/>
          <p:cNvSpPr>
            <a:spLocks noChangeArrowheads="1"/>
          </p:cNvSpPr>
          <p:nvPr/>
        </p:nvSpPr>
        <p:spPr bwMode="auto">
          <a:xfrm>
            <a:off x="304800" y="2424440"/>
            <a:ext cx="18473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>
              <a:ea typeface="黑体" pitchFamily="49" charset="-122"/>
              <a:cs typeface="Times New Roman" pitchFamily="18" charset="0"/>
            </a:endParaRPr>
          </a:p>
        </p:txBody>
      </p:sp>
      <p:sp>
        <p:nvSpPr>
          <p:cNvPr id="454679" name="Rectangle 23"/>
          <p:cNvSpPr>
            <a:spLocks noChangeArrowheads="1"/>
          </p:cNvSpPr>
          <p:nvPr/>
        </p:nvSpPr>
        <p:spPr bwMode="auto">
          <a:xfrm>
            <a:off x="456406" y="1318395"/>
            <a:ext cx="352692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buClr>
                <a:schemeClr val="hlink"/>
              </a:buClr>
              <a:buFont typeface="Wingdings" pitchFamily="2" charset="2"/>
              <a:buNone/>
            </a:pPr>
            <a:r>
              <a:rPr kumimoji="0" lang="en-US" altLang="zh-CN" sz="2400" b="1" u="none" dirty="0">
                <a:solidFill>
                  <a:srgbClr val="FF3300"/>
                </a:solidFill>
                <a:ea typeface="黑体" pitchFamily="49" charset="-122"/>
                <a:cs typeface="Times New Roman" pitchFamily="18" charset="0"/>
              </a:rPr>
              <a:t>1)</a:t>
            </a:r>
            <a:r>
              <a:rPr kumimoji="0" lang="en-US" altLang="zh-CN" sz="2400" b="1" u="none" dirty="0">
                <a:solidFill>
                  <a:schemeClr val="hlink"/>
                </a:solidFill>
                <a:ea typeface="黑体" pitchFamily="49" charset="-122"/>
                <a:cs typeface="Times New Roman" pitchFamily="18" charset="0"/>
              </a:rPr>
              <a:t> </a:t>
            </a:r>
            <a:r>
              <a:rPr kumimoji="0" lang="zh-CN" altLang="en-US" sz="2400" b="1" u="none" dirty="0">
                <a:solidFill>
                  <a:schemeClr val="tx1"/>
                </a:solidFill>
                <a:ea typeface="黑体" pitchFamily="49" charset="-122"/>
                <a:cs typeface="Times New Roman" pitchFamily="18" charset="0"/>
              </a:rPr>
              <a:t>求系统幅频特性</a:t>
            </a:r>
            <a:r>
              <a:rPr kumimoji="0" lang="en-US" altLang="zh-CN" sz="2400" b="1" u="none" dirty="0">
                <a:solidFill>
                  <a:schemeClr val="tx1"/>
                </a:solidFill>
                <a:ea typeface="黑体" pitchFamily="49" charset="-122"/>
                <a:cs typeface="Times New Roman" pitchFamily="18" charset="0"/>
              </a:rPr>
              <a:t>|</a:t>
            </a:r>
            <a:r>
              <a:rPr kumimoji="0" lang="en-US" altLang="zh-CN" sz="2400" b="1" i="1" u="none" dirty="0">
                <a:solidFill>
                  <a:schemeClr val="tx1"/>
                </a:solidFill>
                <a:ea typeface="黑体" pitchFamily="49" charset="-122"/>
                <a:cs typeface="Times New Roman" pitchFamily="18" charset="0"/>
              </a:rPr>
              <a:t>H</a:t>
            </a:r>
            <a:r>
              <a:rPr kumimoji="0" lang="en-US" altLang="zh-CN" sz="2400" b="1" u="none" dirty="0">
                <a:solidFill>
                  <a:schemeClr val="tx1"/>
                </a:solidFill>
                <a:ea typeface="黑体" pitchFamily="49" charset="-122"/>
                <a:cs typeface="Times New Roman" pitchFamily="18" charset="0"/>
              </a:rPr>
              <a:t>(</a:t>
            </a:r>
            <a:r>
              <a:rPr kumimoji="0" lang="en-US" altLang="zh-CN" sz="2400" b="1" i="1" u="none" dirty="0" err="1">
                <a:solidFill>
                  <a:schemeClr val="tx1"/>
                </a:solidFill>
                <a:ea typeface="黑体" pitchFamily="49" charset="-122"/>
                <a:cs typeface="Times New Roman" pitchFamily="18" charset="0"/>
              </a:rPr>
              <a:t>jf</a:t>
            </a:r>
            <a:r>
              <a:rPr kumimoji="0" lang="en-US" altLang="zh-CN" sz="2400" b="1" u="none" dirty="0">
                <a:solidFill>
                  <a:schemeClr val="tx1"/>
                </a:solidFill>
                <a:ea typeface="黑体" pitchFamily="49" charset="-122"/>
                <a:cs typeface="Times New Roman" pitchFamily="18" charset="0"/>
              </a:rPr>
              <a:t>)|</a:t>
            </a:r>
            <a:r>
              <a:rPr kumimoji="0" lang="en-US" altLang="zh-CN" sz="2400" u="none" dirty="0">
                <a:solidFill>
                  <a:schemeClr val="tx1"/>
                </a:solidFill>
                <a:ea typeface="黑体" pitchFamily="49" charset="-122"/>
                <a:cs typeface="Times New Roman" pitchFamily="18" charset="0"/>
              </a:rPr>
              <a:t> </a:t>
            </a:r>
            <a:endParaRPr kumimoji="0" lang="en-US" altLang="zh-CN" sz="2400" b="1" u="none" dirty="0">
              <a:solidFill>
                <a:schemeClr val="tx1"/>
              </a:solidFill>
              <a:ea typeface="黑体" pitchFamily="49" charset="-122"/>
              <a:cs typeface="Times New Roman" pitchFamily="18" charset="0"/>
            </a:endParaRPr>
          </a:p>
        </p:txBody>
      </p:sp>
      <p:graphicFrame>
        <p:nvGraphicFramePr>
          <p:cNvPr id="454684" name="Object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31144352"/>
              </p:ext>
            </p:extLst>
          </p:nvPr>
        </p:nvGraphicFramePr>
        <p:xfrm>
          <a:off x="5286339" y="914877"/>
          <a:ext cx="3810000" cy="908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4807" name="Visio" r:id="rId3" imgW="1941795" imgH="510474" progId="Visio.Drawing.6">
                  <p:embed/>
                </p:oleObj>
              </mc:Choice>
              <mc:Fallback>
                <p:oleObj name="Visio" r:id="rId3" imgW="1941795" imgH="510474" progId="Visio.Drawing.6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86339" y="914877"/>
                        <a:ext cx="3810000" cy="9080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4685" name="Rectangle 29"/>
          <p:cNvSpPr>
            <a:spLocks noChangeArrowheads="1"/>
          </p:cNvSpPr>
          <p:nvPr/>
        </p:nvSpPr>
        <p:spPr bwMode="auto">
          <a:xfrm>
            <a:off x="6241230" y="1858874"/>
            <a:ext cx="262604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kumimoji="0" lang="zh-CN" altLang="en-US" sz="1800" b="1" u="none" dirty="0">
                <a:solidFill>
                  <a:schemeClr val="tx1"/>
                </a:solidFill>
                <a:ea typeface="黑体" pitchFamily="49" charset="-122"/>
                <a:cs typeface="Times New Roman" pitchFamily="18" charset="0"/>
              </a:rPr>
              <a:t>理想单输入、输出系统 </a:t>
            </a:r>
          </a:p>
        </p:txBody>
      </p:sp>
      <p:sp>
        <p:nvSpPr>
          <p:cNvPr id="454686" name="Rectangle 30"/>
          <p:cNvSpPr>
            <a:spLocks noChangeArrowheads="1"/>
          </p:cNvSpPr>
          <p:nvPr/>
        </p:nvSpPr>
        <p:spPr bwMode="auto">
          <a:xfrm>
            <a:off x="1870075" y="1726144"/>
            <a:ext cx="242566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kumimoji="0" lang="en-US" altLang="zh-CN" sz="2400" b="1" i="1" u="none" dirty="0">
                <a:solidFill>
                  <a:schemeClr val="tx1"/>
                </a:solidFill>
                <a:ea typeface="黑体" pitchFamily="49" charset="-122"/>
                <a:cs typeface="Times New Roman" pitchFamily="18" charset="0"/>
              </a:rPr>
              <a:t>Y</a:t>
            </a:r>
            <a:r>
              <a:rPr kumimoji="0" lang="en-US" altLang="zh-CN" sz="2400" b="1" u="none" dirty="0">
                <a:solidFill>
                  <a:schemeClr val="tx1"/>
                </a:solidFill>
                <a:ea typeface="黑体" pitchFamily="49" charset="-122"/>
                <a:cs typeface="Times New Roman" pitchFamily="18" charset="0"/>
              </a:rPr>
              <a:t>(</a:t>
            </a:r>
            <a:r>
              <a:rPr kumimoji="0" lang="en-US" altLang="zh-CN" sz="2400" b="1" i="1" u="none" dirty="0" err="1">
                <a:solidFill>
                  <a:schemeClr val="tx1"/>
                </a:solidFill>
                <a:ea typeface="黑体" pitchFamily="49" charset="-122"/>
                <a:cs typeface="Times New Roman" pitchFamily="18" charset="0"/>
              </a:rPr>
              <a:t>jf</a:t>
            </a:r>
            <a:r>
              <a:rPr kumimoji="0" lang="en-US" altLang="zh-CN" sz="2400" b="1" u="none" dirty="0">
                <a:solidFill>
                  <a:schemeClr val="tx1"/>
                </a:solidFill>
                <a:ea typeface="黑体" pitchFamily="49" charset="-122"/>
                <a:cs typeface="Times New Roman" pitchFamily="18" charset="0"/>
              </a:rPr>
              <a:t>)=</a:t>
            </a:r>
            <a:r>
              <a:rPr kumimoji="0" lang="en-US" altLang="zh-CN" sz="2400" b="1" i="1" u="none" dirty="0">
                <a:solidFill>
                  <a:schemeClr val="tx1"/>
                </a:solidFill>
                <a:ea typeface="黑体" pitchFamily="49" charset="-122"/>
                <a:cs typeface="Times New Roman" pitchFamily="18" charset="0"/>
              </a:rPr>
              <a:t>H</a:t>
            </a:r>
            <a:r>
              <a:rPr kumimoji="0" lang="en-US" altLang="zh-CN" sz="2400" b="1" u="none" dirty="0">
                <a:solidFill>
                  <a:schemeClr val="tx1"/>
                </a:solidFill>
                <a:ea typeface="黑体" pitchFamily="49" charset="-122"/>
                <a:cs typeface="Times New Roman" pitchFamily="18" charset="0"/>
              </a:rPr>
              <a:t>(</a:t>
            </a:r>
            <a:r>
              <a:rPr kumimoji="0" lang="en-US" altLang="zh-CN" sz="2400" b="1" i="1" u="none" dirty="0" err="1">
                <a:solidFill>
                  <a:schemeClr val="tx1"/>
                </a:solidFill>
                <a:ea typeface="黑体" pitchFamily="49" charset="-122"/>
                <a:cs typeface="Times New Roman" pitchFamily="18" charset="0"/>
              </a:rPr>
              <a:t>jf</a:t>
            </a:r>
            <a:r>
              <a:rPr kumimoji="0" lang="en-US" altLang="zh-CN" sz="2400" b="1" u="none" dirty="0">
                <a:solidFill>
                  <a:schemeClr val="tx1"/>
                </a:solidFill>
                <a:ea typeface="黑体" pitchFamily="49" charset="-122"/>
                <a:cs typeface="Times New Roman" pitchFamily="18" charset="0"/>
              </a:rPr>
              <a:t>) ·</a:t>
            </a:r>
            <a:r>
              <a:rPr kumimoji="0" lang="en-US" altLang="zh-CN" sz="2400" b="1" i="1" u="none" dirty="0">
                <a:solidFill>
                  <a:schemeClr val="tx1"/>
                </a:solidFill>
                <a:ea typeface="黑体" pitchFamily="49" charset="-122"/>
                <a:cs typeface="Times New Roman" pitchFamily="18" charset="0"/>
              </a:rPr>
              <a:t>X</a:t>
            </a:r>
            <a:r>
              <a:rPr kumimoji="0" lang="en-US" altLang="zh-CN" sz="2400" b="1" u="none" dirty="0">
                <a:solidFill>
                  <a:schemeClr val="tx1"/>
                </a:solidFill>
                <a:ea typeface="黑体" pitchFamily="49" charset="-122"/>
                <a:cs typeface="Times New Roman" pitchFamily="18" charset="0"/>
              </a:rPr>
              <a:t>(</a:t>
            </a:r>
            <a:r>
              <a:rPr kumimoji="0" lang="en-US" altLang="zh-CN" sz="2400" b="1" i="1" u="none" dirty="0" err="1">
                <a:solidFill>
                  <a:schemeClr val="tx1"/>
                </a:solidFill>
                <a:ea typeface="黑体" pitchFamily="49" charset="-122"/>
                <a:cs typeface="Times New Roman" pitchFamily="18" charset="0"/>
              </a:rPr>
              <a:t>jf</a:t>
            </a:r>
            <a:r>
              <a:rPr kumimoji="0" lang="en-US" altLang="zh-CN" sz="2400" b="1" u="none" dirty="0">
                <a:solidFill>
                  <a:schemeClr val="tx1"/>
                </a:solidFill>
                <a:ea typeface="黑体" pitchFamily="49" charset="-122"/>
                <a:cs typeface="Times New Roman" pitchFamily="18" charset="0"/>
              </a:rPr>
              <a:t>) </a:t>
            </a:r>
          </a:p>
        </p:txBody>
      </p:sp>
      <p:sp>
        <p:nvSpPr>
          <p:cNvPr id="454687" name="Rectangle 31"/>
          <p:cNvSpPr>
            <a:spLocks noChangeArrowheads="1"/>
          </p:cNvSpPr>
          <p:nvPr/>
        </p:nvSpPr>
        <p:spPr bwMode="auto">
          <a:xfrm>
            <a:off x="722079" y="4889137"/>
            <a:ext cx="288412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kumimoji="0" lang="en-US" altLang="zh-CN" sz="2400" b="1" u="none" dirty="0" err="1">
                <a:solidFill>
                  <a:schemeClr val="tx1"/>
                </a:solidFill>
                <a:ea typeface="黑体" pitchFamily="49" charset="-122"/>
                <a:cs typeface="Times New Roman" pitchFamily="18" charset="0"/>
              </a:rPr>
              <a:t>S</a:t>
            </a:r>
            <a:r>
              <a:rPr kumimoji="0" lang="en-US" altLang="zh-CN" sz="2400" b="1" i="1" u="none" baseline="-25000" dirty="0" err="1">
                <a:solidFill>
                  <a:schemeClr val="tx1"/>
                </a:solidFill>
                <a:ea typeface="黑体" pitchFamily="49" charset="-122"/>
                <a:cs typeface="Times New Roman" pitchFamily="18" charset="0"/>
              </a:rPr>
              <a:t>y</a:t>
            </a:r>
            <a:r>
              <a:rPr kumimoji="0" lang="en-US" altLang="zh-CN" sz="2400" b="1" u="none" dirty="0">
                <a:solidFill>
                  <a:schemeClr val="tx1"/>
                </a:solidFill>
                <a:ea typeface="黑体" pitchFamily="49" charset="-122"/>
                <a:cs typeface="Times New Roman" pitchFamily="18" charset="0"/>
              </a:rPr>
              <a:t>(</a:t>
            </a:r>
            <a:r>
              <a:rPr kumimoji="0" lang="en-US" altLang="zh-CN" sz="2400" b="1" i="1" u="none" dirty="0" err="1">
                <a:solidFill>
                  <a:schemeClr val="tx1"/>
                </a:solidFill>
                <a:ea typeface="黑体" pitchFamily="49" charset="-122"/>
                <a:cs typeface="Times New Roman" pitchFamily="18" charset="0"/>
              </a:rPr>
              <a:t>jf</a:t>
            </a:r>
            <a:r>
              <a:rPr kumimoji="0" lang="en-US" altLang="zh-CN" sz="2400" b="1" u="none" dirty="0">
                <a:solidFill>
                  <a:schemeClr val="tx1"/>
                </a:solidFill>
                <a:ea typeface="黑体" pitchFamily="49" charset="-122"/>
                <a:cs typeface="Times New Roman" pitchFamily="18" charset="0"/>
              </a:rPr>
              <a:t>)=|</a:t>
            </a:r>
            <a:r>
              <a:rPr kumimoji="0" lang="en-US" altLang="zh-CN" sz="2400" b="1" i="1" u="none" dirty="0">
                <a:solidFill>
                  <a:schemeClr val="tx1"/>
                </a:solidFill>
                <a:ea typeface="黑体" pitchFamily="49" charset="-122"/>
                <a:cs typeface="Times New Roman" pitchFamily="18" charset="0"/>
              </a:rPr>
              <a:t>H</a:t>
            </a:r>
            <a:r>
              <a:rPr kumimoji="0" lang="en-US" altLang="zh-CN" sz="2400" b="1" u="none" dirty="0">
                <a:solidFill>
                  <a:schemeClr val="tx1"/>
                </a:solidFill>
                <a:ea typeface="黑体" pitchFamily="49" charset="-122"/>
                <a:cs typeface="Times New Roman" pitchFamily="18" charset="0"/>
              </a:rPr>
              <a:t>(</a:t>
            </a:r>
            <a:r>
              <a:rPr kumimoji="0" lang="en-US" altLang="zh-CN" sz="2400" b="1" i="1" u="none" dirty="0" err="1">
                <a:solidFill>
                  <a:schemeClr val="tx1"/>
                </a:solidFill>
                <a:ea typeface="黑体" pitchFamily="49" charset="-122"/>
                <a:cs typeface="Times New Roman" pitchFamily="18" charset="0"/>
              </a:rPr>
              <a:t>jf</a:t>
            </a:r>
            <a:r>
              <a:rPr kumimoji="0" lang="en-US" altLang="zh-CN" sz="2400" b="1" u="none" dirty="0">
                <a:solidFill>
                  <a:schemeClr val="tx1"/>
                </a:solidFill>
                <a:ea typeface="黑体" pitchFamily="49" charset="-122"/>
                <a:cs typeface="Times New Roman" pitchFamily="18" charset="0"/>
              </a:rPr>
              <a:t>) |</a:t>
            </a:r>
            <a:r>
              <a:rPr kumimoji="0" lang="en-US" altLang="zh-CN" sz="2400" b="1" u="none" baseline="30000" dirty="0">
                <a:solidFill>
                  <a:schemeClr val="tx1"/>
                </a:solidFill>
                <a:ea typeface="黑体" pitchFamily="49" charset="-122"/>
                <a:cs typeface="Times New Roman" pitchFamily="18" charset="0"/>
              </a:rPr>
              <a:t>2</a:t>
            </a:r>
            <a:r>
              <a:rPr kumimoji="0" lang="en-US" altLang="zh-CN" sz="2400" b="1" u="none" dirty="0">
                <a:solidFill>
                  <a:schemeClr val="tx1"/>
                </a:solidFill>
                <a:ea typeface="黑体" pitchFamily="49" charset="-122"/>
                <a:cs typeface="Times New Roman" pitchFamily="18" charset="0"/>
              </a:rPr>
              <a:t> ·</a:t>
            </a:r>
            <a:r>
              <a:rPr kumimoji="0" lang="en-US" altLang="zh-CN" sz="2400" b="1" u="none" dirty="0" err="1">
                <a:solidFill>
                  <a:schemeClr val="tx1"/>
                </a:solidFill>
                <a:ea typeface="黑体" pitchFamily="49" charset="-122"/>
                <a:cs typeface="Times New Roman" pitchFamily="18" charset="0"/>
              </a:rPr>
              <a:t>S</a:t>
            </a:r>
            <a:r>
              <a:rPr kumimoji="0" lang="en-US" altLang="zh-CN" sz="2400" b="1" i="1" u="none" baseline="-25000" dirty="0" err="1">
                <a:solidFill>
                  <a:schemeClr val="tx1"/>
                </a:solidFill>
                <a:ea typeface="黑体" pitchFamily="49" charset="-122"/>
                <a:cs typeface="Times New Roman" pitchFamily="18" charset="0"/>
              </a:rPr>
              <a:t>x</a:t>
            </a:r>
            <a:r>
              <a:rPr kumimoji="0" lang="en-US" altLang="zh-CN" sz="2400" b="1" u="none" dirty="0">
                <a:solidFill>
                  <a:schemeClr val="tx1"/>
                </a:solidFill>
                <a:ea typeface="黑体" pitchFamily="49" charset="-122"/>
                <a:cs typeface="Times New Roman" pitchFamily="18" charset="0"/>
              </a:rPr>
              <a:t>(</a:t>
            </a:r>
            <a:r>
              <a:rPr kumimoji="0" lang="en-US" altLang="zh-CN" sz="2400" b="1" i="1" u="none" dirty="0" err="1">
                <a:solidFill>
                  <a:schemeClr val="tx1"/>
                </a:solidFill>
                <a:ea typeface="黑体" pitchFamily="49" charset="-122"/>
                <a:cs typeface="Times New Roman" pitchFamily="18" charset="0"/>
              </a:rPr>
              <a:t>jf</a:t>
            </a:r>
            <a:r>
              <a:rPr kumimoji="0" lang="en-US" altLang="zh-CN" sz="2400" b="1" u="none" dirty="0">
                <a:solidFill>
                  <a:schemeClr val="tx1"/>
                </a:solidFill>
                <a:ea typeface="黑体" pitchFamily="49" charset="-122"/>
                <a:cs typeface="Times New Roman" pitchFamily="18" charset="0"/>
              </a:rPr>
              <a:t>) </a:t>
            </a:r>
          </a:p>
        </p:txBody>
      </p:sp>
      <p:sp>
        <p:nvSpPr>
          <p:cNvPr id="454688" name="Rectangle 32"/>
          <p:cNvSpPr>
            <a:spLocks noChangeArrowheads="1"/>
          </p:cNvSpPr>
          <p:nvPr/>
        </p:nvSpPr>
        <p:spPr bwMode="auto">
          <a:xfrm>
            <a:off x="666574" y="5561806"/>
            <a:ext cx="301877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kumimoji="0" lang="en-US" altLang="zh-CN" sz="2400" b="1" u="none" dirty="0" err="1">
                <a:solidFill>
                  <a:schemeClr val="tx1"/>
                </a:solidFill>
                <a:ea typeface="黑体" pitchFamily="49" charset="-122"/>
                <a:cs typeface="Times New Roman" pitchFamily="18" charset="0"/>
              </a:rPr>
              <a:t>G</a:t>
            </a:r>
            <a:r>
              <a:rPr kumimoji="0" lang="en-US" altLang="zh-CN" sz="2400" b="1" i="1" u="none" baseline="-25000" dirty="0" err="1">
                <a:solidFill>
                  <a:schemeClr val="tx1"/>
                </a:solidFill>
                <a:ea typeface="黑体" pitchFamily="49" charset="-122"/>
                <a:cs typeface="Times New Roman" pitchFamily="18" charset="0"/>
              </a:rPr>
              <a:t>y</a:t>
            </a:r>
            <a:r>
              <a:rPr kumimoji="0" lang="en-US" altLang="zh-CN" sz="2400" b="1" u="none" dirty="0">
                <a:solidFill>
                  <a:schemeClr val="tx1"/>
                </a:solidFill>
                <a:ea typeface="黑体" pitchFamily="49" charset="-122"/>
                <a:cs typeface="Times New Roman" pitchFamily="18" charset="0"/>
              </a:rPr>
              <a:t>(</a:t>
            </a:r>
            <a:r>
              <a:rPr kumimoji="0" lang="en-US" altLang="zh-CN" sz="2400" b="1" i="1" u="none" dirty="0" err="1">
                <a:solidFill>
                  <a:schemeClr val="tx1"/>
                </a:solidFill>
                <a:ea typeface="黑体" pitchFamily="49" charset="-122"/>
                <a:cs typeface="Times New Roman" pitchFamily="18" charset="0"/>
              </a:rPr>
              <a:t>jf</a:t>
            </a:r>
            <a:r>
              <a:rPr kumimoji="0" lang="en-US" altLang="zh-CN" sz="2400" b="1" u="none" dirty="0">
                <a:solidFill>
                  <a:schemeClr val="tx1"/>
                </a:solidFill>
                <a:ea typeface="黑体" pitchFamily="49" charset="-122"/>
                <a:cs typeface="Times New Roman" pitchFamily="18" charset="0"/>
              </a:rPr>
              <a:t>)=|</a:t>
            </a:r>
            <a:r>
              <a:rPr kumimoji="0" lang="en-US" altLang="zh-CN" sz="2400" b="1" i="1" u="none" dirty="0">
                <a:solidFill>
                  <a:schemeClr val="tx1"/>
                </a:solidFill>
                <a:ea typeface="黑体" pitchFamily="49" charset="-122"/>
                <a:cs typeface="Times New Roman" pitchFamily="18" charset="0"/>
              </a:rPr>
              <a:t>H</a:t>
            </a:r>
            <a:r>
              <a:rPr kumimoji="0" lang="en-US" altLang="zh-CN" sz="2400" b="1" u="none" dirty="0">
                <a:solidFill>
                  <a:schemeClr val="tx1"/>
                </a:solidFill>
                <a:ea typeface="黑体" pitchFamily="49" charset="-122"/>
                <a:cs typeface="Times New Roman" pitchFamily="18" charset="0"/>
              </a:rPr>
              <a:t>(</a:t>
            </a:r>
            <a:r>
              <a:rPr kumimoji="0" lang="en-US" altLang="zh-CN" sz="2400" b="1" i="1" u="none" dirty="0" err="1">
                <a:solidFill>
                  <a:schemeClr val="tx1"/>
                </a:solidFill>
                <a:ea typeface="黑体" pitchFamily="49" charset="-122"/>
                <a:cs typeface="Times New Roman" pitchFamily="18" charset="0"/>
              </a:rPr>
              <a:t>jf</a:t>
            </a:r>
            <a:r>
              <a:rPr kumimoji="0" lang="en-US" altLang="zh-CN" sz="2400" b="1" u="none" dirty="0">
                <a:solidFill>
                  <a:schemeClr val="tx1"/>
                </a:solidFill>
                <a:ea typeface="黑体" pitchFamily="49" charset="-122"/>
                <a:cs typeface="Times New Roman" pitchFamily="18" charset="0"/>
              </a:rPr>
              <a:t>) |</a:t>
            </a:r>
            <a:r>
              <a:rPr kumimoji="0" lang="en-US" altLang="zh-CN" sz="2400" b="1" u="none" baseline="30000" dirty="0">
                <a:solidFill>
                  <a:schemeClr val="tx1"/>
                </a:solidFill>
                <a:ea typeface="黑体" pitchFamily="49" charset="-122"/>
                <a:cs typeface="Times New Roman" pitchFamily="18" charset="0"/>
              </a:rPr>
              <a:t>2</a:t>
            </a:r>
            <a:r>
              <a:rPr kumimoji="0" lang="en-US" altLang="zh-CN" sz="2400" b="1" u="none" dirty="0">
                <a:solidFill>
                  <a:schemeClr val="tx1"/>
                </a:solidFill>
                <a:ea typeface="黑体" pitchFamily="49" charset="-122"/>
                <a:cs typeface="Times New Roman" pitchFamily="18" charset="0"/>
              </a:rPr>
              <a:t> ·</a:t>
            </a:r>
            <a:r>
              <a:rPr kumimoji="0" lang="en-US" altLang="zh-CN" sz="2400" b="1" u="none" dirty="0" err="1">
                <a:solidFill>
                  <a:schemeClr val="tx1"/>
                </a:solidFill>
                <a:ea typeface="黑体" pitchFamily="49" charset="-122"/>
                <a:cs typeface="Times New Roman" pitchFamily="18" charset="0"/>
              </a:rPr>
              <a:t>G</a:t>
            </a:r>
            <a:r>
              <a:rPr kumimoji="0" lang="en-US" altLang="zh-CN" sz="2400" b="1" i="1" u="none" baseline="-25000" dirty="0" err="1">
                <a:solidFill>
                  <a:schemeClr val="tx1"/>
                </a:solidFill>
                <a:ea typeface="黑体" pitchFamily="49" charset="-122"/>
                <a:cs typeface="Times New Roman" pitchFamily="18" charset="0"/>
              </a:rPr>
              <a:t>x</a:t>
            </a:r>
            <a:r>
              <a:rPr kumimoji="0" lang="en-US" altLang="zh-CN" sz="2400" b="1" u="none" dirty="0">
                <a:solidFill>
                  <a:schemeClr val="tx1"/>
                </a:solidFill>
                <a:ea typeface="黑体" pitchFamily="49" charset="-122"/>
                <a:cs typeface="Times New Roman" pitchFamily="18" charset="0"/>
              </a:rPr>
              <a:t>(</a:t>
            </a:r>
            <a:r>
              <a:rPr kumimoji="0" lang="en-US" altLang="zh-CN" sz="2400" b="1" i="1" u="none" dirty="0" err="1">
                <a:solidFill>
                  <a:schemeClr val="tx1"/>
                </a:solidFill>
                <a:ea typeface="黑体" pitchFamily="49" charset="-122"/>
                <a:cs typeface="Times New Roman" pitchFamily="18" charset="0"/>
              </a:rPr>
              <a:t>jf</a:t>
            </a:r>
            <a:r>
              <a:rPr kumimoji="0" lang="en-US" altLang="zh-CN" sz="2400" b="1" u="none" dirty="0">
                <a:solidFill>
                  <a:schemeClr val="tx1"/>
                </a:solidFill>
                <a:ea typeface="黑体" pitchFamily="49" charset="-122"/>
                <a:cs typeface="Times New Roman" pitchFamily="18" charset="0"/>
              </a:rPr>
              <a:t>) </a:t>
            </a:r>
          </a:p>
        </p:txBody>
      </p:sp>
      <p:sp>
        <p:nvSpPr>
          <p:cNvPr id="454689" name="Rectangle 33"/>
          <p:cNvSpPr>
            <a:spLocks noChangeArrowheads="1"/>
          </p:cNvSpPr>
          <p:nvPr/>
        </p:nvSpPr>
        <p:spPr bwMode="auto">
          <a:xfrm>
            <a:off x="749931" y="3503492"/>
            <a:ext cx="285206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kumimoji="0" lang="en-US" altLang="zh-CN" sz="2400" b="1" u="none" dirty="0" err="1">
                <a:solidFill>
                  <a:schemeClr val="tx1"/>
                </a:solidFill>
                <a:ea typeface="黑体" pitchFamily="49" charset="-122"/>
                <a:cs typeface="Times New Roman" pitchFamily="18" charset="0"/>
              </a:rPr>
              <a:t>S</a:t>
            </a:r>
            <a:r>
              <a:rPr kumimoji="0" lang="en-US" altLang="zh-CN" sz="2400" b="1" i="1" u="none" baseline="-25000" dirty="0" err="1">
                <a:solidFill>
                  <a:schemeClr val="tx1"/>
                </a:solidFill>
                <a:ea typeface="黑体" pitchFamily="49" charset="-122"/>
                <a:cs typeface="Times New Roman" pitchFamily="18" charset="0"/>
              </a:rPr>
              <a:t>xy</a:t>
            </a:r>
            <a:r>
              <a:rPr kumimoji="0" lang="en-US" altLang="zh-CN" sz="2400" b="1" u="none" dirty="0">
                <a:solidFill>
                  <a:schemeClr val="tx1"/>
                </a:solidFill>
                <a:ea typeface="黑体" pitchFamily="49" charset="-122"/>
                <a:cs typeface="Times New Roman" pitchFamily="18" charset="0"/>
              </a:rPr>
              <a:t> (</a:t>
            </a:r>
            <a:r>
              <a:rPr kumimoji="0" lang="en-US" altLang="zh-CN" sz="2400" b="1" i="1" u="none" dirty="0" err="1">
                <a:solidFill>
                  <a:schemeClr val="tx1"/>
                </a:solidFill>
                <a:ea typeface="黑体" pitchFamily="49" charset="-122"/>
                <a:cs typeface="Times New Roman" pitchFamily="18" charset="0"/>
              </a:rPr>
              <a:t>jf</a:t>
            </a:r>
            <a:r>
              <a:rPr kumimoji="0" lang="en-US" altLang="zh-CN" sz="2400" b="1" u="none" dirty="0">
                <a:solidFill>
                  <a:schemeClr val="tx1"/>
                </a:solidFill>
                <a:ea typeface="黑体" pitchFamily="49" charset="-122"/>
                <a:cs typeface="Times New Roman" pitchFamily="18" charset="0"/>
              </a:rPr>
              <a:t>)=</a:t>
            </a:r>
            <a:r>
              <a:rPr kumimoji="0" lang="en-US" altLang="zh-CN" sz="2400" b="1" i="1" u="none" dirty="0">
                <a:solidFill>
                  <a:schemeClr val="tx1"/>
                </a:solidFill>
                <a:ea typeface="黑体" pitchFamily="49" charset="-122"/>
                <a:cs typeface="Times New Roman" pitchFamily="18" charset="0"/>
              </a:rPr>
              <a:t>H</a:t>
            </a:r>
            <a:r>
              <a:rPr kumimoji="0" lang="en-US" altLang="zh-CN" sz="2400" b="1" u="none" dirty="0">
                <a:solidFill>
                  <a:schemeClr val="tx1"/>
                </a:solidFill>
                <a:ea typeface="黑体" pitchFamily="49" charset="-122"/>
                <a:cs typeface="Times New Roman" pitchFamily="18" charset="0"/>
              </a:rPr>
              <a:t>(</a:t>
            </a:r>
            <a:r>
              <a:rPr kumimoji="0" lang="en-US" altLang="zh-CN" sz="2400" b="1" i="1" u="none" dirty="0" err="1">
                <a:solidFill>
                  <a:schemeClr val="tx1"/>
                </a:solidFill>
                <a:ea typeface="黑体" pitchFamily="49" charset="-122"/>
                <a:cs typeface="Times New Roman" pitchFamily="18" charset="0"/>
              </a:rPr>
              <a:t>jf</a:t>
            </a:r>
            <a:r>
              <a:rPr kumimoji="0" lang="en-US" altLang="zh-CN" sz="2400" b="1" u="none" dirty="0">
                <a:solidFill>
                  <a:schemeClr val="tx1"/>
                </a:solidFill>
                <a:ea typeface="黑体" pitchFamily="49" charset="-122"/>
                <a:cs typeface="Times New Roman" pitchFamily="18" charset="0"/>
              </a:rPr>
              <a:t>) ·</a:t>
            </a:r>
            <a:r>
              <a:rPr kumimoji="0" lang="en-US" altLang="zh-CN" sz="2400" b="1" u="none" dirty="0" err="1" smtClean="0">
                <a:solidFill>
                  <a:schemeClr val="tx1"/>
                </a:solidFill>
                <a:ea typeface="黑体" pitchFamily="49" charset="-122"/>
                <a:cs typeface="Times New Roman" pitchFamily="18" charset="0"/>
              </a:rPr>
              <a:t>S</a:t>
            </a:r>
            <a:r>
              <a:rPr kumimoji="0" lang="en-US" altLang="zh-CN" sz="2400" b="1" i="1" u="none" baseline="-25000" dirty="0" err="1" smtClean="0">
                <a:solidFill>
                  <a:schemeClr val="tx1"/>
                </a:solidFill>
                <a:ea typeface="黑体" pitchFamily="49" charset="-122"/>
                <a:cs typeface="Times New Roman" pitchFamily="18" charset="0"/>
              </a:rPr>
              <a:t>xx</a:t>
            </a:r>
            <a:r>
              <a:rPr kumimoji="0" lang="en-US" altLang="zh-CN" sz="2400" b="1" u="none" dirty="0" smtClean="0">
                <a:solidFill>
                  <a:schemeClr val="tx1"/>
                </a:solidFill>
                <a:ea typeface="黑体" pitchFamily="49" charset="-122"/>
                <a:cs typeface="Times New Roman" pitchFamily="18" charset="0"/>
              </a:rPr>
              <a:t>(</a:t>
            </a:r>
            <a:r>
              <a:rPr kumimoji="0" lang="en-US" altLang="zh-CN" sz="2400" b="1" i="1" u="none" dirty="0" err="1" smtClean="0">
                <a:solidFill>
                  <a:schemeClr val="tx1"/>
                </a:solidFill>
                <a:ea typeface="黑体" pitchFamily="49" charset="-122"/>
                <a:cs typeface="Times New Roman" pitchFamily="18" charset="0"/>
              </a:rPr>
              <a:t>jf</a:t>
            </a:r>
            <a:r>
              <a:rPr kumimoji="0" lang="en-US" altLang="zh-CN" sz="2400" b="1" u="none" dirty="0">
                <a:solidFill>
                  <a:schemeClr val="tx1"/>
                </a:solidFill>
                <a:ea typeface="黑体" pitchFamily="49" charset="-122"/>
                <a:cs typeface="Times New Roman" pitchFamily="18" charset="0"/>
              </a:rPr>
              <a:t>) </a:t>
            </a:r>
          </a:p>
        </p:txBody>
      </p:sp>
      <p:sp>
        <p:nvSpPr>
          <p:cNvPr id="454690" name="Rectangle 34"/>
          <p:cNvSpPr>
            <a:spLocks noChangeArrowheads="1"/>
          </p:cNvSpPr>
          <p:nvPr/>
        </p:nvSpPr>
        <p:spPr bwMode="auto">
          <a:xfrm>
            <a:off x="585693" y="4319406"/>
            <a:ext cx="184377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buClr>
                <a:srgbClr val="FF3300"/>
              </a:buClr>
              <a:buFont typeface="Wingdings" pitchFamily="2" charset="2"/>
              <a:buChar char="ü"/>
            </a:pPr>
            <a:r>
              <a:rPr kumimoji="0" lang="zh-CN" altLang="en-US" sz="2400" b="1" u="none" dirty="0">
                <a:solidFill>
                  <a:schemeClr val="tx1"/>
                </a:solidFill>
                <a:ea typeface="黑体" pitchFamily="49" charset="-122"/>
                <a:cs typeface="Times New Roman" pitchFamily="18" charset="0"/>
              </a:rPr>
              <a:t>可以</a:t>
            </a:r>
            <a:r>
              <a:rPr kumimoji="0" lang="zh-CN" altLang="en-US" sz="2400" b="1" u="none" dirty="0" smtClean="0">
                <a:solidFill>
                  <a:schemeClr val="tx1"/>
                </a:solidFill>
                <a:ea typeface="黑体" pitchFamily="49" charset="-122"/>
                <a:cs typeface="Times New Roman" pitchFamily="18" charset="0"/>
              </a:rPr>
              <a:t>证明</a:t>
            </a:r>
            <a:r>
              <a:rPr kumimoji="0" lang="en-US" altLang="zh-CN" sz="2400" b="1" u="none" dirty="0">
                <a:solidFill>
                  <a:schemeClr val="tx1"/>
                </a:solidFill>
                <a:ea typeface="黑体" pitchFamily="49" charset="-122"/>
                <a:cs typeface="Times New Roman" pitchFamily="18" charset="0"/>
              </a:rPr>
              <a:t>:</a:t>
            </a:r>
            <a:r>
              <a:rPr kumimoji="0" lang="zh-CN" altLang="en-US" sz="2400" b="1" u="none" dirty="0" smtClean="0">
                <a:solidFill>
                  <a:schemeClr val="tx1"/>
                </a:solidFill>
                <a:ea typeface="黑体" pitchFamily="49" charset="-122"/>
                <a:cs typeface="Times New Roman" pitchFamily="18" charset="0"/>
              </a:rPr>
              <a:t> </a:t>
            </a:r>
            <a:endParaRPr kumimoji="0" lang="zh-CN" altLang="en-US" sz="2400" b="1" u="none" dirty="0">
              <a:solidFill>
                <a:schemeClr val="tx1"/>
              </a:solidFill>
              <a:ea typeface="黑体" pitchFamily="49" charset="-122"/>
              <a:cs typeface="Times New Roman" pitchFamily="18" charset="0"/>
            </a:endParaRPr>
          </a:p>
        </p:txBody>
      </p:sp>
      <p:sp>
        <p:nvSpPr>
          <p:cNvPr id="454695" name="Rectangle 39"/>
          <p:cNvSpPr>
            <a:spLocks noChangeArrowheads="1"/>
          </p:cNvSpPr>
          <p:nvPr/>
        </p:nvSpPr>
        <p:spPr bwMode="auto">
          <a:xfrm>
            <a:off x="4634004" y="5313095"/>
            <a:ext cx="4146550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marL="342900" indent="-342900">
              <a:buFont typeface="Wingdings" panose="05000000000000000000" pitchFamily="2" charset="2"/>
              <a:buChar char="p"/>
            </a:pPr>
            <a:r>
              <a:rPr kumimoji="0" lang="zh-CN" altLang="en-US" sz="2000" b="1" u="none" dirty="0">
                <a:solidFill>
                  <a:schemeClr val="tx1"/>
                </a:solidFill>
                <a:ea typeface="黑体" pitchFamily="49" charset="-122"/>
                <a:cs typeface="Times New Roman" pitchFamily="18" charset="0"/>
              </a:rPr>
              <a:t>通过输入、输出的</a:t>
            </a:r>
            <a:r>
              <a:rPr kumimoji="0" lang="zh-CN" altLang="en-US" sz="2000" b="1" u="none" dirty="0">
                <a:solidFill>
                  <a:srgbClr val="FF3300"/>
                </a:solidFill>
                <a:ea typeface="黑体" pitchFamily="49" charset="-122"/>
                <a:cs typeface="Times New Roman" pitchFamily="18" charset="0"/>
              </a:rPr>
              <a:t>自谱</a:t>
            </a:r>
            <a:r>
              <a:rPr kumimoji="0" lang="zh-CN" altLang="en-US" sz="2000" b="1" u="none" dirty="0">
                <a:solidFill>
                  <a:schemeClr val="tx1"/>
                </a:solidFill>
                <a:ea typeface="黑体" pitchFamily="49" charset="-122"/>
                <a:cs typeface="Times New Roman" pitchFamily="18" charset="0"/>
              </a:rPr>
              <a:t>分析，就能得出系统的</a:t>
            </a:r>
            <a:r>
              <a:rPr kumimoji="0" lang="zh-CN" altLang="en-US" sz="2000" b="1" u="none" dirty="0">
                <a:solidFill>
                  <a:srgbClr val="FF0000"/>
                </a:solidFill>
                <a:ea typeface="黑体" pitchFamily="49" charset="-122"/>
                <a:cs typeface="Times New Roman" pitchFamily="18" charset="0"/>
              </a:rPr>
              <a:t>幅频特性</a:t>
            </a:r>
            <a:r>
              <a:rPr kumimoji="0" lang="zh-CN" altLang="en-US" sz="2000" b="1" u="none" dirty="0">
                <a:solidFill>
                  <a:schemeClr val="tx1"/>
                </a:solidFill>
                <a:ea typeface="黑体" pitchFamily="49" charset="-122"/>
                <a:cs typeface="Times New Roman" pitchFamily="18" charset="0"/>
              </a:rPr>
              <a:t>，不能得到系统的</a:t>
            </a:r>
            <a:r>
              <a:rPr kumimoji="0" lang="zh-CN" altLang="en-US" sz="2000" b="1" u="none" dirty="0" smtClean="0">
                <a:solidFill>
                  <a:schemeClr val="tx1"/>
                </a:solidFill>
                <a:ea typeface="黑体" pitchFamily="49" charset="-122"/>
                <a:cs typeface="Times New Roman" pitchFamily="18" charset="0"/>
              </a:rPr>
              <a:t>相频特性。</a:t>
            </a:r>
            <a:endParaRPr kumimoji="0" lang="zh-CN" altLang="en-US" sz="2000" u="none" dirty="0">
              <a:ea typeface="黑体" pitchFamily="49" charset="-122"/>
              <a:cs typeface="Times New Roman" pitchFamily="18" charset="0"/>
            </a:endParaRPr>
          </a:p>
        </p:txBody>
      </p:sp>
      <p:sp>
        <p:nvSpPr>
          <p:cNvPr id="454698" name="Rectangle 42"/>
          <p:cNvSpPr>
            <a:spLocks noChangeArrowheads="1"/>
          </p:cNvSpPr>
          <p:nvPr/>
        </p:nvSpPr>
        <p:spPr bwMode="auto">
          <a:xfrm>
            <a:off x="4634004" y="3758823"/>
            <a:ext cx="4142317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marL="342900" indent="-342900">
              <a:buFont typeface="Wingdings" panose="05000000000000000000" pitchFamily="2" charset="2"/>
              <a:buChar char="p"/>
            </a:pPr>
            <a:r>
              <a:rPr kumimoji="0" lang="zh-CN" altLang="en-US" sz="2000" b="1" u="none" dirty="0">
                <a:solidFill>
                  <a:schemeClr val="tx1"/>
                </a:solidFill>
                <a:ea typeface="黑体" pitchFamily="49" charset="-122"/>
                <a:cs typeface="Times New Roman" pitchFamily="18" charset="0"/>
              </a:rPr>
              <a:t>从输入的自谱和输入、输出的</a:t>
            </a:r>
            <a:r>
              <a:rPr kumimoji="0" lang="zh-CN" altLang="en-US" sz="2000" b="1" u="none" dirty="0">
                <a:solidFill>
                  <a:srgbClr val="FF3300"/>
                </a:solidFill>
                <a:ea typeface="黑体" pitchFamily="49" charset="-122"/>
                <a:cs typeface="Times New Roman" pitchFamily="18" charset="0"/>
              </a:rPr>
              <a:t>互谱</a:t>
            </a:r>
            <a:r>
              <a:rPr kumimoji="0" lang="zh-CN" altLang="en-US" sz="2000" b="1" u="none" dirty="0">
                <a:solidFill>
                  <a:schemeClr val="tx1"/>
                </a:solidFill>
                <a:ea typeface="黑体" pitchFamily="49" charset="-122"/>
                <a:cs typeface="Times New Roman" pitchFamily="18" charset="0"/>
              </a:rPr>
              <a:t>就可以得到系统的</a:t>
            </a:r>
            <a:r>
              <a:rPr kumimoji="0" lang="zh-CN" altLang="en-US" sz="2000" b="1" u="none" dirty="0" smtClean="0">
                <a:solidFill>
                  <a:srgbClr val="FF0000"/>
                </a:solidFill>
                <a:ea typeface="黑体" pitchFamily="49" charset="-122"/>
                <a:cs typeface="Times New Roman" pitchFamily="18" charset="0"/>
              </a:rPr>
              <a:t>频率响应函数</a:t>
            </a:r>
            <a:r>
              <a:rPr kumimoji="0" lang="zh-CN" altLang="en-US" sz="2000" b="1" u="none" dirty="0">
                <a:solidFill>
                  <a:srgbClr val="FF0000"/>
                </a:solidFill>
                <a:ea typeface="黑体" pitchFamily="49" charset="-122"/>
                <a:cs typeface="Times New Roman" pitchFamily="18" charset="0"/>
              </a:rPr>
              <a:t>，</a:t>
            </a:r>
            <a:r>
              <a:rPr kumimoji="0" lang="zh-CN" altLang="en-US" sz="2000" b="1" u="none" dirty="0" smtClean="0">
                <a:solidFill>
                  <a:schemeClr val="tx1"/>
                </a:solidFill>
                <a:ea typeface="黑体" pitchFamily="49" charset="-122"/>
                <a:cs typeface="Times New Roman" pitchFamily="18" charset="0"/>
              </a:rPr>
              <a:t>所得</a:t>
            </a:r>
            <a:r>
              <a:rPr kumimoji="0" lang="zh-CN" altLang="en-US" sz="2000" b="1" u="none" dirty="0">
                <a:solidFill>
                  <a:schemeClr val="tx1"/>
                </a:solidFill>
                <a:ea typeface="黑体" pitchFamily="49" charset="-122"/>
                <a:cs typeface="Times New Roman" pitchFamily="18" charset="0"/>
              </a:rPr>
              <a:t>到的</a:t>
            </a:r>
            <a:r>
              <a:rPr kumimoji="0" lang="en-US" altLang="zh-CN" sz="2000" b="1" i="1" u="none" dirty="0">
                <a:solidFill>
                  <a:schemeClr val="tx1"/>
                </a:solidFill>
                <a:ea typeface="黑体" pitchFamily="49" charset="-122"/>
                <a:cs typeface="Times New Roman" pitchFamily="18" charset="0"/>
              </a:rPr>
              <a:t>H</a:t>
            </a:r>
            <a:r>
              <a:rPr kumimoji="0" lang="en-US" altLang="zh-CN" sz="2000" b="1" u="none" dirty="0">
                <a:solidFill>
                  <a:schemeClr val="tx1"/>
                </a:solidFill>
                <a:ea typeface="黑体" pitchFamily="49" charset="-122"/>
                <a:cs typeface="Times New Roman" pitchFamily="18" charset="0"/>
              </a:rPr>
              <a:t>(</a:t>
            </a:r>
            <a:r>
              <a:rPr kumimoji="0" lang="en-US" altLang="zh-CN" sz="2000" b="1" i="1" u="none" dirty="0" err="1">
                <a:solidFill>
                  <a:schemeClr val="tx1"/>
                </a:solidFill>
                <a:ea typeface="黑体" pitchFamily="49" charset="-122"/>
                <a:cs typeface="Times New Roman" pitchFamily="18" charset="0"/>
              </a:rPr>
              <a:t>jf</a:t>
            </a:r>
            <a:r>
              <a:rPr kumimoji="0" lang="en-US" altLang="zh-CN" sz="2000" b="1" u="none" dirty="0">
                <a:solidFill>
                  <a:schemeClr val="tx1"/>
                </a:solidFill>
                <a:ea typeface="黑体" pitchFamily="49" charset="-122"/>
                <a:cs typeface="Times New Roman" pitchFamily="18" charset="0"/>
              </a:rPr>
              <a:t>)</a:t>
            </a:r>
            <a:r>
              <a:rPr kumimoji="0" lang="zh-CN" altLang="en-US" sz="2000" b="1" u="none" dirty="0">
                <a:solidFill>
                  <a:schemeClr val="tx1"/>
                </a:solidFill>
                <a:ea typeface="黑体" pitchFamily="49" charset="-122"/>
                <a:cs typeface="Times New Roman" pitchFamily="18" charset="0"/>
              </a:rPr>
              <a:t>不仅含有</a:t>
            </a:r>
            <a:r>
              <a:rPr kumimoji="0" lang="zh-CN" altLang="en-US" sz="2000" b="1" u="none" dirty="0">
                <a:solidFill>
                  <a:srgbClr val="FF3300"/>
                </a:solidFill>
                <a:ea typeface="黑体" pitchFamily="49" charset="-122"/>
                <a:cs typeface="Times New Roman" pitchFamily="18" charset="0"/>
              </a:rPr>
              <a:t>幅频特性</a:t>
            </a:r>
            <a:r>
              <a:rPr kumimoji="0" lang="zh-CN" altLang="en-US" sz="2000" b="1" u="none" dirty="0">
                <a:solidFill>
                  <a:schemeClr val="tx1"/>
                </a:solidFill>
                <a:ea typeface="黑体" pitchFamily="49" charset="-122"/>
                <a:cs typeface="Times New Roman" pitchFamily="18" charset="0"/>
              </a:rPr>
              <a:t>而且含有</a:t>
            </a:r>
            <a:r>
              <a:rPr kumimoji="0" lang="zh-CN" altLang="en-US" sz="2000" b="1" u="none" dirty="0" smtClean="0">
                <a:solidFill>
                  <a:srgbClr val="FF3300"/>
                </a:solidFill>
                <a:ea typeface="黑体" pitchFamily="49" charset="-122"/>
                <a:cs typeface="Times New Roman" pitchFamily="18" charset="0"/>
              </a:rPr>
              <a:t>相频特性；</a:t>
            </a:r>
            <a:endParaRPr kumimoji="0" lang="zh-CN" altLang="en-US" sz="2000" b="1" u="none" dirty="0">
              <a:solidFill>
                <a:schemeClr val="tx1"/>
              </a:solidFill>
              <a:ea typeface="黑体" pitchFamily="49" charset="-122"/>
              <a:cs typeface="Times New Roman" pitchFamily="18" charset="0"/>
            </a:endParaRPr>
          </a:p>
        </p:txBody>
      </p:sp>
      <p:sp>
        <p:nvSpPr>
          <p:cNvPr id="454700" name="Rectangle 44"/>
          <p:cNvSpPr>
            <a:spLocks noChangeArrowheads="1"/>
          </p:cNvSpPr>
          <p:nvPr/>
        </p:nvSpPr>
        <p:spPr bwMode="auto">
          <a:xfrm>
            <a:off x="333375" y="907237"/>
            <a:ext cx="2476960" cy="461665"/>
          </a:xfrm>
          <a:prstGeom prst="rect">
            <a:avLst/>
          </a:prstGeom>
          <a:solidFill>
            <a:srgbClr val="CC99FF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 u="none" dirty="0">
                <a:solidFill>
                  <a:srgbClr val="990000"/>
                </a:solidFill>
                <a:ea typeface="黑体" pitchFamily="49" charset="-122"/>
                <a:cs typeface="Times New Roman" pitchFamily="18" charset="0"/>
              </a:rPr>
              <a:t>(3).</a:t>
            </a:r>
            <a:r>
              <a:rPr lang="zh-CN" altLang="en-US" sz="2400" b="1" u="none" dirty="0">
                <a:solidFill>
                  <a:srgbClr val="990000"/>
                </a:solidFill>
                <a:ea typeface="黑体" pitchFamily="49" charset="-122"/>
                <a:cs typeface="Times New Roman" pitchFamily="18" charset="0"/>
              </a:rPr>
              <a:t>功率谱的应用</a:t>
            </a:r>
          </a:p>
        </p:txBody>
      </p:sp>
      <p:sp>
        <p:nvSpPr>
          <p:cNvPr id="22" name="Rectangle 18"/>
          <p:cNvSpPr>
            <a:spLocks noChangeArrowheads="1"/>
          </p:cNvSpPr>
          <p:nvPr/>
        </p:nvSpPr>
        <p:spPr bwMode="auto">
          <a:xfrm>
            <a:off x="269876" y="263642"/>
            <a:ext cx="4335462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sz="3200" b="1" u="none" dirty="0" smtClean="0">
                <a:solidFill>
                  <a:srgbClr val="800000"/>
                </a:solidFill>
                <a:ea typeface="黑体" pitchFamily="49" charset="-122"/>
                <a:cs typeface="Times New Roman" pitchFamily="18" charset="0"/>
              </a:rPr>
              <a:t>5.4 </a:t>
            </a:r>
            <a:r>
              <a:rPr lang="zh-CN" altLang="en-US" sz="3200" b="1" u="none" dirty="0">
                <a:solidFill>
                  <a:srgbClr val="800000"/>
                </a:solidFill>
                <a:ea typeface="黑体" pitchFamily="49" charset="-122"/>
                <a:cs typeface="Times New Roman" pitchFamily="18" charset="0"/>
              </a:rPr>
              <a:t>功率谱分析及应用</a:t>
            </a: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7075154"/>
              </p:ext>
            </p:extLst>
          </p:nvPr>
        </p:nvGraphicFramePr>
        <p:xfrm>
          <a:off x="4367351" y="221101"/>
          <a:ext cx="1990047" cy="5201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4808" name="Equation" r:id="rId5" imgW="1346040" imgH="355320" progId="Equation.DSMT4">
                  <p:embed/>
                </p:oleObj>
              </mc:Choice>
              <mc:Fallback>
                <p:oleObj name="Equation" r:id="rId5" imgW="1346040" imgH="355320" progId="Equation.DSMT4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67351" y="221101"/>
                        <a:ext cx="1990047" cy="520176"/>
                      </a:xfrm>
                      <a:prstGeom prst="rect">
                        <a:avLst/>
                      </a:prstGeom>
                      <a:solidFill>
                        <a:srgbClr val="CC99FF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34448454"/>
              </p:ext>
            </p:extLst>
          </p:nvPr>
        </p:nvGraphicFramePr>
        <p:xfrm>
          <a:off x="6393015" y="184936"/>
          <a:ext cx="1899778" cy="5705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4809" name="Equation" r:id="rId7" imgW="1358310" imgH="355446" progId="Equation.DSMT4">
                  <p:embed/>
                </p:oleObj>
              </mc:Choice>
              <mc:Fallback>
                <p:oleObj name="Equation" r:id="rId7" imgW="1358310" imgH="355446" progId="Equation.DSMT4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93015" y="184936"/>
                        <a:ext cx="1899778" cy="570502"/>
                      </a:xfrm>
                      <a:prstGeom prst="rect">
                        <a:avLst/>
                      </a:prstGeom>
                      <a:solidFill>
                        <a:srgbClr val="CC99FF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54303052"/>
              </p:ext>
            </p:extLst>
          </p:nvPr>
        </p:nvGraphicFramePr>
        <p:xfrm>
          <a:off x="735806" y="2322840"/>
          <a:ext cx="7739063" cy="11738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4810" name="Equation" r:id="rId9" imgW="4927320" imgH="685800" progId="Equation.DSMT4">
                  <p:embed/>
                </p:oleObj>
              </mc:Choice>
              <mc:Fallback>
                <p:oleObj name="Equation" r:id="rId9" imgW="4927320" imgH="685800" progId="Equation.DSMT4">
                  <p:embed/>
                  <p:pic>
                    <p:nvPicPr>
                      <p:cNvPr id="0" name="对象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5806" y="2322840"/>
                        <a:ext cx="7739063" cy="117389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546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546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4686" grpId="0"/>
      <p:bldP spid="454687" grpId="0"/>
      <p:bldP spid="454688" grpId="0"/>
      <p:bldP spid="454689" grpId="0"/>
      <p:bldP spid="454690" grpId="0"/>
      <p:bldP spid="454695" grpId="0"/>
      <p:bldP spid="454698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2" name="Rectangle 12"/>
          <p:cNvSpPr>
            <a:spLocks noChangeArrowheads="1"/>
          </p:cNvSpPr>
          <p:nvPr/>
        </p:nvSpPr>
        <p:spPr bwMode="auto">
          <a:xfrm>
            <a:off x="177800" y="26733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60813" name="Rectangle 13"/>
          <p:cNvSpPr>
            <a:spLocks noChangeArrowheads="1"/>
          </p:cNvSpPr>
          <p:nvPr/>
        </p:nvSpPr>
        <p:spPr bwMode="auto">
          <a:xfrm>
            <a:off x="269876" y="998189"/>
            <a:ext cx="30416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kumimoji="0" lang="en-US" altLang="zh-CN" sz="2400" b="1" u="none" dirty="0">
                <a:solidFill>
                  <a:srgbClr val="FF3300"/>
                </a:solidFill>
              </a:rPr>
              <a:t>2)</a:t>
            </a:r>
            <a:r>
              <a:rPr kumimoji="0" lang="en-US" altLang="zh-CN" sz="2400" b="1" u="none" dirty="0">
                <a:solidFill>
                  <a:schemeClr val="tx1"/>
                </a:solidFill>
              </a:rPr>
              <a:t> </a:t>
            </a:r>
            <a:r>
              <a:rPr kumimoji="0" lang="zh-CN" altLang="en-US" sz="2400" b="1" u="none" dirty="0">
                <a:solidFill>
                  <a:schemeClr val="tx1"/>
                </a:solidFill>
              </a:rPr>
              <a:t>互谱排除噪声影响 </a:t>
            </a:r>
          </a:p>
        </p:txBody>
      </p:sp>
      <p:sp>
        <p:nvSpPr>
          <p:cNvPr id="460814" name="Rectangle 14"/>
          <p:cNvSpPr>
            <a:spLocks noChangeArrowheads="1"/>
          </p:cNvSpPr>
          <p:nvPr/>
        </p:nvSpPr>
        <p:spPr bwMode="auto">
          <a:xfrm>
            <a:off x="177800" y="2692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460815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23752397"/>
              </p:ext>
            </p:extLst>
          </p:nvPr>
        </p:nvGraphicFramePr>
        <p:xfrm>
          <a:off x="4515908" y="955469"/>
          <a:ext cx="4603750" cy="12368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258" name="Visio" r:id="rId3" imgW="3631144" imgH="1047664" progId="Visio.Drawing.6">
                  <p:embed/>
                </p:oleObj>
              </mc:Choice>
              <mc:Fallback>
                <p:oleObj name="Visio" r:id="rId3" imgW="3631144" imgH="1047664" progId="Visio.Drawing.6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5908" y="955469"/>
                        <a:ext cx="4603750" cy="1236869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0816" name="Rectangle 16"/>
          <p:cNvSpPr>
            <a:spLocks noChangeArrowheads="1"/>
          </p:cNvSpPr>
          <p:nvPr/>
        </p:nvSpPr>
        <p:spPr bwMode="auto">
          <a:xfrm>
            <a:off x="6231440" y="2125941"/>
            <a:ext cx="2161169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kumimoji="0" lang="zh-CN" altLang="en-US" sz="1800" b="1" u="none" dirty="0">
                <a:solidFill>
                  <a:srgbClr val="FF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受外界干扰的系统 </a:t>
            </a:r>
          </a:p>
        </p:txBody>
      </p:sp>
      <p:sp>
        <p:nvSpPr>
          <p:cNvPr id="460817" name="Rectangle 17"/>
          <p:cNvSpPr>
            <a:spLocks noChangeArrowheads="1"/>
          </p:cNvSpPr>
          <p:nvPr/>
        </p:nvSpPr>
        <p:spPr bwMode="auto">
          <a:xfrm>
            <a:off x="692150" y="1463675"/>
            <a:ext cx="27606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buClr>
                <a:srgbClr val="FF3300"/>
              </a:buClr>
              <a:buFont typeface="Wingdings" pitchFamily="2" charset="2"/>
              <a:buChar char="ü"/>
            </a:pPr>
            <a:r>
              <a:rPr kumimoji="0" lang="zh-CN" altLang="en-US" sz="2400" b="1" u="none">
                <a:solidFill>
                  <a:schemeClr val="tx1"/>
                </a:solidFill>
              </a:rPr>
              <a:t>系统的输出</a:t>
            </a:r>
            <a:r>
              <a:rPr kumimoji="0" lang="en-US" altLang="zh-CN" sz="2400" b="1" i="1" u="none">
                <a:solidFill>
                  <a:schemeClr val="tx1"/>
                </a:solidFill>
              </a:rPr>
              <a:t>y</a:t>
            </a:r>
            <a:r>
              <a:rPr kumimoji="0" lang="en-US" altLang="zh-CN" sz="2400" b="1" u="none">
                <a:solidFill>
                  <a:schemeClr val="tx1"/>
                </a:solidFill>
              </a:rPr>
              <a:t>(</a:t>
            </a:r>
            <a:r>
              <a:rPr kumimoji="0" lang="en-US" altLang="zh-CN" sz="2400" b="1" i="1" u="none">
                <a:solidFill>
                  <a:schemeClr val="tx1"/>
                </a:solidFill>
              </a:rPr>
              <a:t>t</a:t>
            </a:r>
            <a:r>
              <a:rPr kumimoji="0" lang="en-US" altLang="zh-CN" sz="2400" b="1" u="none">
                <a:solidFill>
                  <a:schemeClr val="tx1"/>
                </a:solidFill>
              </a:rPr>
              <a:t>)</a:t>
            </a:r>
            <a:r>
              <a:rPr kumimoji="0" lang="zh-CN" altLang="en-US" sz="2400" b="1" u="none">
                <a:solidFill>
                  <a:schemeClr val="tx1"/>
                </a:solidFill>
              </a:rPr>
              <a:t>为 </a:t>
            </a:r>
          </a:p>
        </p:txBody>
      </p:sp>
      <p:sp>
        <p:nvSpPr>
          <p:cNvPr id="460818" name="Rectangle 18"/>
          <p:cNvSpPr>
            <a:spLocks noChangeArrowheads="1"/>
          </p:cNvSpPr>
          <p:nvPr/>
        </p:nvSpPr>
        <p:spPr bwMode="auto">
          <a:xfrm>
            <a:off x="177800" y="31067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460819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42906813"/>
              </p:ext>
            </p:extLst>
          </p:nvPr>
        </p:nvGraphicFramePr>
        <p:xfrm>
          <a:off x="730250" y="2072998"/>
          <a:ext cx="3730625" cy="42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259" name="公式" r:id="rId5" imgW="1765080" imgH="203040" progId="Equation.3">
                  <p:embed/>
                </p:oleObj>
              </mc:Choice>
              <mc:Fallback>
                <p:oleObj name="公式" r:id="rId5" imgW="1765080" imgH="203040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0250" y="2072998"/>
                        <a:ext cx="3730625" cy="422275"/>
                      </a:xfrm>
                      <a:prstGeom prst="rect">
                        <a:avLst/>
                      </a:prstGeom>
                      <a:solidFill>
                        <a:srgbClr val="FFCC99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0820" name="Rectangle 20"/>
          <p:cNvSpPr>
            <a:spLocks noChangeArrowheads="1"/>
          </p:cNvSpPr>
          <p:nvPr/>
        </p:nvSpPr>
        <p:spPr bwMode="auto">
          <a:xfrm>
            <a:off x="698500" y="3679825"/>
            <a:ext cx="72771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>
              <a:buClr>
                <a:srgbClr val="FF3300"/>
              </a:buClr>
              <a:buFont typeface="Wingdings" pitchFamily="2" charset="2"/>
              <a:buChar char="ü"/>
            </a:pPr>
            <a:r>
              <a:rPr kumimoji="0" lang="zh-CN" altLang="en-US" sz="2400" b="1" u="none" dirty="0">
                <a:solidFill>
                  <a:schemeClr val="tx1"/>
                </a:solidFill>
              </a:rPr>
              <a:t>输入</a:t>
            </a:r>
            <a:r>
              <a:rPr kumimoji="0" lang="en-US" altLang="zh-CN" sz="2400" b="1" i="1" u="none" dirty="0">
                <a:solidFill>
                  <a:schemeClr val="tx1"/>
                </a:solidFill>
              </a:rPr>
              <a:t>x</a:t>
            </a:r>
            <a:r>
              <a:rPr kumimoji="0" lang="en-US" altLang="zh-CN" sz="2400" b="1" u="none" dirty="0">
                <a:solidFill>
                  <a:schemeClr val="tx1"/>
                </a:solidFill>
              </a:rPr>
              <a:t>(t)</a:t>
            </a:r>
            <a:r>
              <a:rPr kumimoji="0" lang="zh-CN" altLang="en-US" sz="2400" b="1" u="none" dirty="0">
                <a:solidFill>
                  <a:schemeClr val="tx1"/>
                </a:solidFill>
              </a:rPr>
              <a:t>和噪声</a:t>
            </a:r>
            <a:r>
              <a:rPr kumimoji="0" lang="en-US" altLang="zh-CN" sz="2400" b="1" i="1" u="none" dirty="0">
                <a:solidFill>
                  <a:schemeClr val="tx1"/>
                </a:solidFill>
              </a:rPr>
              <a:t>n’</a:t>
            </a:r>
            <a:r>
              <a:rPr kumimoji="0" lang="en-US" altLang="zh-CN" sz="2400" b="1" u="none" baseline="-25000" dirty="0">
                <a:solidFill>
                  <a:schemeClr val="tx1"/>
                </a:solidFill>
              </a:rPr>
              <a:t>1</a:t>
            </a:r>
            <a:r>
              <a:rPr kumimoji="0" lang="en-US" altLang="zh-CN" sz="2400" b="1" u="none" dirty="0">
                <a:solidFill>
                  <a:schemeClr val="tx1"/>
                </a:solidFill>
              </a:rPr>
              <a:t>(t)</a:t>
            </a:r>
            <a:r>
              <a:rPr kumimoji="0" lang="zh-CN" altLang="en-US" sz="2400" b="1" u="none" dirty="0">
                <a:solidFill>
                  <a:schemeClr val="tx1"/>
                </a:solidFill>
              </a:rPr>
              <a:t>、</a:t>
            </a:r>
            <a:r>
              <a:rPr kumimoji="0" lang="en-US" altLang="zh-CN" sz="2400" b="1" i="1" u="none" dirty="0">
                <a:solidFill>
                  <a:schemeClr val="tx1"/>
                </a:solidFill>
              </a:rPr>
              <a:t>n’</a:t>
            </a:r>
            <a:r>
              <a:rPr kumimoji="0" lang="en-US" altLang="zh-CN" sz="2400" b="1" u="none" baseline="-25000" dirty="0">
                <a:solidFill>
                  <a:schemeClr val="tx1"/>
                </a:solidFill>
              </a:rPr>
              <a:t>2</a:t>
            </a:r>
            <a:r>
              <a:rPr kumimoji="0" lang="en-US" altLang="zh-CN" sz="2400" b="1" u="none" dirty="0">
                <a:solidFill>
                  <a:schemeClr val="tx1"/>
                </a:solidFill>
              </a:rPr>
              <a:t>(t)</a:t>
            </a:r>
            <a:r>
              <a:rPr kumimoji="0" lang="zh-CN" altLang="en-US" sz="2400" b="1" u="none" dirty="0">
                <a:solidFill>
                  <a:schemeClr val="tx1"/>
                </a:solidFill>
              </a:rPr>
              <a:t>和</a:t>
            </a:r>
            <a:r>
              <a:rPr kumimoji="0" lang="en-US" altLang="zh-CN" sz="2400" b="1" i="1" u="none" dirty="0">
                <a:solidFill>
                  <a:schemeClr val="tx1"/>
                </a:solidFill>
              </a:rPr>
              <a:t>n</a:t>
            </a:r>
            <a:r>
              <a:rPr kumimoji="0" lang="en-US" altLang="zh-CN" sz="2400" b="1" u="none" baseline="-25000" dirty="0">
                <a:solidFill>
                  <a:schemeClr val="tx1"/>
                </a:solidFill>
              </a:rPr>
              <a:t>3</a:t>
            </a:r>
            <a:r>
              <a:rPr kumimoji="0" lang="en-US" altLang="zh-CN" sz="2400" b="1" u="none" dirty="0">
                <a:solidFill>
                  <a:schemeClr val="tx1"/>
                </a:solidFill>
              </a:rPr>
              <a:t>(t)</a:t>
            </a:r>
            <a:r>
              <a:rPr kumimoji="0" lang="zh-CN" altLang="en-US" sz="2400" b="1" u="none" dirty="0">
                <a:solidFill>
                  <a:schemeClr val="tx1"/>
                </a:solidFill>
              </a:rPr>
              <a:t>是独立无关的 </a:t>
            </a:r>
          </a:p>
        </p:txBody>
      </p:sp>
      <p:sp>
        <p:nvSpPr>
          <p:cNvPr id="460821" name="Rectangle 21"/>
          <p:cNvSpPr>
            <a:spLocks noChangeArrowheads="1"/>
          </p:cNvSpPr>
          <p:nvPr/>
        </p:nvSpPr>
        <p:spPr bwMode="auto">
          <a:xfrm>
            <a:off x="177800" y="30924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460822" name="Object 22"/>
          <p:cNvGraphicFramePr>
            <a:graphicFrameLocks noChangeAspect="1"/>
          </p:cNvGraphicFramePr>
          <p:nvPr/>
        </p:nvGraphicFramePr>
        <p:xfrm>
          <a:off x="2390775" y="4203700"/>
          <a:ext cx="987425" cy="576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260" name="公式" r:id="rId7" imgW="457002" imgH="266584" progId="Equation.3">
                  <p:embed/>
                </p:oleObj>
              </mc:Choice>
              <mc:Fallback>
                <p:oleObj name="公式" r:id="rId7" imgW="457002" imgH="266584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90775" y="4203700"/>
                        <a:ext cx="987425" cy="5762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0823" name="Rectangle 23"/>
          <p:cNvSpPr>
            <a:spLocks noChangeArrowheads="1"/>
          </p:cNvSpPr>
          <p:nvPr/>
        </p:nvSpPr>
        <p:spPr bwMode="auto">
          <a:xfrm>
            <a:off x="177800" y="30924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460824" name="Object 24"/>
          <p:cNvGraphicFramePr>
            <a:graphicFrameLocks noChangeAspect="1"/>
          </p:cNvGraphicFramePr>
          <p:nvPr/>
        </p:nvGraphicFramePr>
        <p:xfrm>
          <a:off x="3719513" y="4216400"/>
          <a:ext cx="1008062" cy="576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261" name="公式" r:id="rId9" imgW="469696" imgH="266584" progId="Equation.3">
                  <p:embed/>
                </p:oleObj>
              </mc:Choice>
              <mc:Fallback>
                <p:oleObj name="公式" r:id="rId9" imgW="469696" imgH="266584" progId="Equation.3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19513" y="4216400"/>
                        <a:ext cx="1008062" cy="5762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0825" name="Rectangle 25"/>
          <p:cNvSpPr>
            <a:spLocks noChangeArrowheads="1"/>
          </p:cNvSpPr>
          <p:nvPr/>
        </p:nvSpPr>
        <p:spPr bwMode="auto">
          <a:xfrm>
            <a:off x="177800" y="30924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460826" name="Object 26"/>
          <p:cNvGraphicFramePr>
            <a:graphicFrameLocks noChangeAspect="1"/>
          </p:cNvGraphicFramePr>
          <p:nvPr/>
        </p:nvGraphicFramePr>
        <p:xfrm>
          <a:off x="5216525" y="4192588"/>
          <a:ext cx="871538" cy="522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262" name="公式" r:id="rId11" imgW="406080" imgH="241200" progId="Equation.3">
                  <p:embed/>
                </p:oleObj>
              </mc:Choice>
              <mc:Fallback>
                <p:oleObj name="公式" r:id="rId11" imgW="406080" imgH="241200" progId="Equation.3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16525" y="4192588"/>
                        <a:ext cx="871538" cy="5222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0827" name="Rectangle 27"/>
          <p:cNvSpPr>
            <a:spLocks noChangeArrowheads="1"/>
          </p:cNvSpPr>
          <p:nvPr/>
        </p:nvSpPr>
        <p:spPr bwMode="auto">
          <a:xfrm>
            <a:off x="768350" y="4195763"/>
            <a:ext cx="7118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kumimoji="0" lang="zh-CN" altLang="en-US" sz="2400" b="1" u="none">
                <a:solidFill>
                  <a:schemeClr val="tx1"/>
                </a:solidFill>
              </a:rPr>
              <a:t>互相关函数               、             和              均为</a:t>
            </a:r>
            <a:r>
              <a:rPr kumimoji="0" lang="zh-CN" altLang="en-US" sz="2400" b="1" u="none">
                <a:solidFill>
                  <a:srgbClr val="FF3300"/>
                </a:solidFill>
              </a:rPr>
              <a:t>零</a:t>
            </a:r>
            <a:r>
              <a:rPr kumimoji="0" lang="zh-CN" altLang="en-US" sz="2400" u="none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460828" name="Rectangle 28"/>
          <p:cNvSpPr>
            <a:spLocks noChangeArrowheads="1"/>
          </p:cNvSpPr>
          <p:nvPr/>
        </p:nvSpPr>
        <p:spPr bwMode="auto">
          <a:xfrm>
            <a:off x="177800" y="31067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460829" name="Object 29"/>
          <p:cNvGraphicFramePr>
            <a:graphicFrameLocks noChangeAspect="1"/>
          </p:cNvGraphicFramePr>
          <p:nvPr/>
        </p:nvGraphicFramePr>
        <p:xfrm>
          <a:off x="2146300" y="4803775"/>
          <a:ext cx="2232025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263" name="公式" r:id="rId13" imgW="990170" imgH="241195" progId="Equation.3">
                  <p:embed/>
                </p:oleObj>
              </mc:Choice>
              <mc:Fallback>
                <p:oleObj name="公式" r:id="rId13" imgW="990170" imgH="241195" progId="Equation.3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6300" y="4803775"/>
                        <a:ext cx="2232025" cy="536575"/>
                      </a:xfrm>
                      <a:prstGeom prst="rect">
                        <a:avLst/>
                      </a:prstGeom>
                      <a:solidFill>
                        <a:srgbClr val="CC99FF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0830" name="Rectangle 30"/>
          <p:cNvSpPr>
            <a:spLocks noChangeArrowheads="1"/>
          </p:cNvSpPr>
          <p:nvPr/>
        </p:nvSpPr>
        <p:spPr bwMode="auto">
          <a:xfrm>
            <a:off x="177800" y="31067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460831" name="Object 31"/>
          <p:cNvGraphicFramePr>
            <a:graphicFrameLocks noChangeAspect="1"/>
          </p:cNvGraphicFramePr>
          <p:nvPr/>
        </p:nvGraphicFramePr>
        <p:xfrm>
          <a:off x="2170113" y="5338763"/>
          <a:ext cx="4102100" cy="468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264" name="公式" r:id="rId15" imgW="2082600" imgH="241200" progId="Equation.3">
                  <p:embed/>
                </p:oleObj>
              </mc:Choice>
              <mc:Fallback>
                <p:oleObj name="公式" r:id="rId15" imgW="2082600" imgH="241200" progId="Equation.3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0113" y="5338763"/>
                        <a:ext cx="4102100" cy="468312"/>
                      </a:xfrm>
                      <a:prstGeom prst="rect">
                        <a:avLst/>
                      </a:prstGeom>
                      <a:solidFill>
                        <a:srgbClr val="CC99FF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0832" name="Rectangle 32"/>
          <p:cNvSpPr>
            <a:spLocks noChangeArrowheads="1"/>
          </p:cNvSpPr>
          <p:nvPr/>
        </p:nvSpPr>
        <p:spPr bwMode="auto">
          <a:xfrm>
            <a:off x="730250" y="4745038"/>
            <a:ext cx="11128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buClr>
                <a:srgbClr val="FF3300"/>
              </a:buClr>
              <a:buFont typeface="Wingdings" pitchFamily="2" charset="2"/>
              <a:buChar char="ü"/>
            </a:pPr>
            <a:r>
              <a:rPr kumimoji="0" lang="zh-CN" altLang="en-US" sz="2400" b="1" u="none">
                <a:solidFill>
                  <a:schemeClr val="tx1"/>
                </a:solidFill>
              </a:rPr>
              <a:t>所以 </a:t>
            </a:r>
          </a:p>
        </p:txBody>
      </p:sp>
      <p:sp>
        <p:nvSpPr>
          <p:cNvPr id="460833" name="Rectangle 33"/>
          <p:cNvSpPr>
            <a:spLocks noChangeArrowheads="1"/>
          </p:cNvSpPr>
          <p:nvPr/>
        </p:nvSpPr>
        <p:spPr bwMode="auto">
          <a:xfrm>
            <a:off x="676275" y="5741988"/>
            <a:ext cx="36607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kumimoji="0" lang="zh-CN" altLang="en-US" sz="2400" b="1" u="none">
                <a:solidFill>
                  <a:schemeClr val="tx1"/>
                </a:solidFill>
              </a:rPr>
              <a:t>式中，</a:t>
            </a:r>
            <a:r>
              <a:rPr kumimoji="0" lang="en-US" altLang="zh-CN" sz="2400" b="1" i="1" u="none">
                <a:solidFill>
                  <a:schemeClr val="tx1"/>
                </a:solidFill>
              </a:rPr>
              <a:t>H</a:t>
            </a:r>
            <a:r>
              <a:rPr kumimoji="0" lang="en-US" altLang="zh-CN" sz="2400" b="1" u="none">
                <a:solidFill>
                  <a:schemeClr val="tx1"/>
                </a:solidFill>
              </a:rPr>
              <a:t>(</a:t>
            </a:r>
            <a:r>
              <a:rPr kumimoji="0" lang="en-US" altLang="zh-CN" sz="2400" b="1" i="1" u="none">
                <a:solidFill>
                  <a:schemeClr val="tx1"/>
                </a:solidFill>
              </a:rPr>
              <a:t>jf</a:t>
            </a:r>
            <a:r>
              <a:rPr kumimoji="0" lang="en-US" altLang="zh-CN" sz="2400" b="1" u="none">
                <a:solidFill>
                  <a:schemeClr val="tx1"/>
                </a:solidFill>
              </a:rPr>
              <a:t>)=</a:t>
            </a:r>
            <a:r>
              <a:rPr kumimoji="0" lang="en-US" altLang="zh-CN" sz="2400" b="1" i="1" u="none">
                <a:solidFill>
                  <a:schemeClr val="tx1"/>
                </a:solidFill>
              </a:rPr>
              <a:t> H</a:t>
            </a:r>
            <a:r>
              <a:rPr kumimoji="0" lang="en-US" altLang="zh-CN" sz="2400" b="1" i="1" u="none" baseline="-25000">
                <a:solidFill>
                  <a:schemeClr val="tx1"/>
                </a:solidFill>
              </a:rPr>
              <a:t>1</a:t>
            </a:r>
            <a:r>
              <a:rPr kumimoji="0" lang="en-US" altLang="zh-CN" sz="2400" b="1" u="none">
                <a:solidFill>
                  <a:schemeClr val="tx1"/>
                </a:solidFill>
              </a:rPr>
              <a:t>(</a:t>
            </a:r>
            <a:r>
              <a:rPr kumimoji="0" lang="en-US" altLang="zh-CN" sz="2400" b="1" i="1" u="none">
                <a:solidFill>
                  <a:schemeClr val="tx1"/>
                </a:solidFill>
              </a:rPr>
              <a:t>jf</a:t>
            </a:r>
            <a:r>
              <a:rPr kumimoji="0" lang="en-US" altLang="zh-CN" sz="2400" b="1" u="none">
                <a:solidFill>
                  <a:schemeClr val="tx1"/>
                </a:solidFill>
              </a:rPr>
              <a:t>)</a:t>
            </a:r>
            <a:r>
              <a:rPr kumimoji="0" lang="en-US" altLang="zh-CN" sz="2400" b="1" i="1" u="none">
                <a:solidFill>
                  <a:schemeClr val="tx1"/>
                </a:solidFill>
              </a:rPr>
              <a:t> </a:t>
            </a:r>
            <a:r>
              <a:rPr kumimoji="0" lang="en-US" altLang="zh-CN" sz="2400" b="1" u="none">
                <a:solidFill>
                  <a:schemeClr val="tx1"/>
                </a:solidFill>
              </a:rPr>
              <a:t>·</a:t>
            </a:r>
            <a:r>
              <a:rPr kumimoji="0" lang="en-US" altLang="zh-CN" sz="2400" b="1" i="1" u="none">
                <a:solidFill>
                  <a:schemeClr val="tx1"/>
                </a:solidFill>
              </a:rPr>
              <a:t>H</a:t>
            </a:r>
            <a:r>
              <a:rPr kumimoji="0" lang="en-US" altLang="zh-CN" sz="2400" b="1" i="1" u="none" baseline="-25000">
                <a:solidFill>
                  <a:schemeClr val="tx1"/>
                </a:solidFill>
              </a:rPr>
              <a:t>2</a:t>
            </a:r>
            <a:r>
              <a:rPr kumimoji="0" lang="en-US" altLang="zh-CN" sz="2400" b="1" u="none">
                <a:solidFill>
                  <a:schemeClr val="tx1"/>
                </a:solidFill>
              </a:rPr>
              <a:t>(</a:t>
            </a:r>
            <a:r>
              <a:rPr kumimoji="0" lang="en-US" altLang="zh-CN" sz="2400" b="1" i="1" u="none">
                <a:solidFill>
                  <a:schemeClr val="tx1"/>
                </a:solidFill>
              </a:rPr>
              <a:t>jf</a:t>
            </a:r>
            <a:r>
              <a:rPr kumimoji="0" lang="en-US" altLang="zh-CN" sz="2400" b="1" u="none">
                <a:solidFill>
                  <a:schemeClr val="tx1"/>
                </a:solidFill>
              </a:rPr>
              <a:t>) </a:t>
            </a:r>
          </a:p>
        </p:txBody>
      </p:sp>
      <p:sp>
        <p:nvSpPr>
          <p:cNvPr id="460834" name="Rectangle 34"/>
          <p:cNvSpPr>
            <a:spLocks noChangeArrowheads="1"/>
          </p:cNvSpPr>
          <p:nvPr/>
        </p:nvSpPr>
        <p:spPr bwMode="auto">
          <a:xfrm>
            <a:off x="4660901" y="2113744"/>
            <a:ext cx="8128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kumimoji="0" lang="en-US" altLang="zh-CN" sz="1800" b="1" u="none" dirty="0" smtClean="0">
                <a:solidFill>
                  <a:srgbClr val="FF3300"/>
                </a:solidFill>
                <a:ea typeface="宋体" pitchFamily="2" charset="-122"/>
              </a:rPr>
              <a:t>(</a:t>
            </a:r>
            <a:r>
              <a:rPr kumimoji="0" lang="en-US" altLang="zh-CN" sz="1800" b="1" u="none" dirty="0" smtClean="0">
                <a:solidFill>
                  <a:srgbClr val="FF3300"/>
                </a:solidFill>
              </a:rPr>
              <a:t>5-</a:t>
            </a:r>
            <a:r>
              <a:rPr kumimoji="0" lang="en-US" altLang="zh-CN" sz="1800" b="1" u="none" dirty="0" smtClean="0">
                <a:solidFill>
                  <a:srgbClr val="FF3300"/>
                </a:solidFill>
                <a:ea typeface="宋体" pitchFamily="2" charset="-122"/>
              </a:rPr>
              <a:t>38</a:t>
            </a:r>
            <a:r>
              <a:rPr kumimoji="0" lang="en-US" altLang="zh-CN" sz="1800" b="1" u="none" dirty="0">
                <a:solidFill>
                  <a:srgbClr val="FF3300"/>
                </a:solidFill>
                <a:ea typeface="宋体" pitchFamily="2" charset="-122"/>
              </a:rPr>
              <a:t>) </a:t>
            </a:r>
          </a:p>
        </p:txBody>
      </p:sp>
      <p:sp>
        <p:nvSpPr>
          <p:cNvPr id="460835" name="Rectangle 35"/>
          <p:cNvSpPr>
            <a:spLocks noChangeArrowheads="1"/>
          </p:cNvSpPr>
          <p:nvPr/>
        </p:nvSpPr>
        <p:spPr bwMode="auto">
          <a:xfrm>
            <a:off x="649288" y="2625725"/>
            <a:ext cx="50561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buClr>
                <a:srgbClr val="FF3300"/>
              </a:buClr>
              <a:buFont typeface="Wingdings" pitchFamily="2" charset="2"/>
              <a:buChar char="ü"/>
            </a:pPr>
            <a:r>
              <a:rPr kumimoji="0" lang="zh-CN" altLang="en-US" sz="2400" b="1" u="none">
                <a:solidFill>
                  <a:schemeClr val="tx1"/>
                </a:solidFill>
              </a:rPr>
              <a:t>输入</a:t>
            </a:r>
            <a:r>
              <a:rPr kumimoji="0" lang="en-US" altLang="zh-CN" sz="2400" b="1" i="1" u="none">
                <a:solidFill>
                  <a:schemeClr val="tx1"/>
                </a:solidFill>
              </a:rPr>
              <a:t>x</a:t>
            </a:r>
            <a:r>
              <a:rPr kumimoji="0" lang="en-US" altLang="zh-CN" sz="2400" b="1" u="none">
                <a:solidFill>
                  <a:schemeClr val="tx1"/>
                </a:solidFill>
              </a:rPr>
              <a:t>(t)</a:t>
            </a:r>
            <a:r>
              <a:rPr kumimoji="0" lang="zh-CN" altLang="en-US" sz="2400" b="1" u="none">
                <a:solidFill>
                  <a:schemeClr val="tx1"/>
                </a:solidFill>
              </a:rPr>
              <a:t>和输出</a:t>
            </a:r>
            <a:r>
              <a:rPr kumimoji="0" lang="en-US" altLang="zh-CN" sz="2400" b="1" i="1" u="none">
                <a:solidFill>
                  <a:schemeClr val="tx1"/>
                </a:solidFill>
              </a:rPr>
              <a:t>y</a:t>
            </a:r>
            <a:r>
              <a:rPr kumimoji="0" lang="en-US" altLang="zh-CN" sz="2400" b="1" u="none">
                <a:solidFill>
                  <a:schemeClr val="tx1"/>
                </a:solidFill>
              </a:rPr>
              <a:t>(</a:t>
            </a:r>
            <a:r>
              <a:rPr kumimoji="0" lang="en-US" altLang="zh-CN" sz="2400" b="1" i="1" u="none">
                <a:solidFill>
                  <a:schemeClr val="tx1"/>
                </a:solidFill>
              </a:rPr>
              <a:t>t</a:t>
            </a:r>
            <a:r>
              <a:rPr kumimoji="0" lang="en-US" altLang="zh-CN" sz="2400" b="1" u="none">
                <a:solidFill>
                  <a:schemeClr val="tx1"/>
                </a:solidFill>
              </a:rPr>
              <a:t>)</a:t>
            </a:r>
            <a:r>
              <a:rPr kumimoji="0" lang="zh-CN" altLang="en-US" sz="2400" b="1" u="none">
                <a:solidFill>
                  <a:schemeClr val="tx1"/>
                </a:solidFill>
              </a:rPr>
              <a:t>的互相关函数为 </a:t>
            </a:r>
          </a:p>
        </p:txBody>
      </p:sp>
      <p:sp>
        <p:nvSpPr>
          <p:cNvPr id="460836" name="Rectangle 36"/>
          <p:cNvSpPr>
            <a:spLocks noChangeArrowheads="1"/>
          </p:cNvSpPr>
          <p:nvPr/>
        </p:nvSpPr>
        <p:spPr bwMode="auto">
          <a:xfrm>
            <a:off x="177800" y="30924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460837" name="Object 3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34211129"/>
              </p:ext>
            </p:extLst>
          </p:nvPr>
        </p:nvGraphicFramePr>
        <p:xfrm>
          <a:off x="759619" y="3113087"/>
          <a:ext cx="5103813" cy="541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265" name="公式" r:id="rId17" imgW="2273040" imgH="241200" progId="Equation.3">
                  <p:embed/>
                </p:oleObj>
              </mc:Choice>
              <mc:Fallback>
                <p:oleObj name="公式" r:id="rId17" imgW="2273040" imgH="241200" progId="Equation.3">
                  <p:embed/>
                  <p:pic>
                    <p:nvPicPr>
                      <p:cNvPr id="0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9619" y="3113087"/>
                        <a:ext cx="5103813" cy="541337"/>
                      </a:xfrm>
                      <a:prstGeom prst="rect">
                        <a:avLst/>
                      </a:prstGeom>
                      <a:solidFill>
                        <a:srgbClr val="99CCFF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0838" name="Rectangle 38"/>
          <p:cNvSpPr>
            <a:spLocks noChangeArrowheads="1"/>
          </p:cNvSpPr>
          <p:nvPr/>
        </p:nvSpPr>
        <p:spPr bwMode="auto">
          <a:xfrm>
            <a:off x="6092825" y="3200400"/>
            <a:ext cx="812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kumimoji="0" lang="en-US" altLang="zh-CN" sz="1800" b="1" u="none" dirty="0" smtClean="0">
                <a:solidFill>
                  <a:srgbClr val="FF3300"/>
                </a:solidFill>
                <a:ea typeface="宋体" pitchFamily="2" charset="-122"/>
              </a:rPr>
              <a:t>(</a:t>
            </a:r>
            <a:r>
              <a:rPr kumimoji="0" lang="en-US" altLang="zh-CN" sz="1800" b="1" u="none" dirty="0" smtClean="0">
                <a:solidFill>
                  <a:srgbClr val="FF3300"/>
                </a:solidFill>
              </a:rPr>
              <a:t>5-</a:t>
            </a:r>
            <a:r>
              <a:rPr kumimoji="0" lang="en-US" altLang="zh-CN" sz="1800" b="1" u="none" dirty="0" smtClean="0">
                <a:solidFill>
                  <a:srgbClr val="FF3300"/>
                </a:solidFill>
                <a:ea typeface="宋体" pitchFamily="2" charset="-122"/>
              </a:rPr>
              <a:t>39</a:t>
            </a:r>
            <a:r>
              <a:rPr kumimoji="0" lang="en-US" altLang="zh-CN" sz="1800" b="1" u="none" dirty="0">
                <a:solidFill>
                  <a:srgbClr val="FF3300"/>
                </a:solidFill>
                <a:ea typeface="宋体" pitchFamily="2" charset="-122"/>
              </a:rPr>
              <a:t>) </a:t>
            </a:r>
          </a:p>
        </p:txBody>
      </p:sp>
      <p:sp>
        <p:nvSpPr>
          <p:cNvPr id="460839" name="Rectangle 39"/>
          <p:cNvSpPr>
            <a:spLocks noChangeArrowheads="1"/>
          </p:cNvSpPr>
          <p:nvPr/>
        </p:nvSpPr>
        <p:spPr bwMode="auto">
          <a:xfrm>
            <a:off x="6918325" y="4830763"/>
            <a:ext cx="8128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kumimoji="0" lang="en-US" altLang="zh-CN" sz="1800" b="1" u="none" dirty="0" smtClean="0">
                <a:solidFill>
                  <a:srgbClr val="FF3300"/>
                </a:solidFill>
                <a:ea typeface="宋体" pitchFamily="2" charset="-122"/>
              </a:rPr>
              <a:t>(</a:t>
            </a:r>
            <a:r>
              <a:rPr kumimoji="0" lang="en-US" altLang="zh-CN" sz="1800" b="1" u="none" dirty="0" smtClean="0">
                <a:solidFill>
                  <a:srgbClr val="FF3300"/>
                </a:solidFill>
              </a:rPr>
              <a:t>5-</a:t>
            </a:r>
            <a:r>
              <a:rPr kumimoji="0" lang="en-US" altLang="zh-CN" sz="1800" b="1" u="none" dirty="0" smtClean="0">
                <a:solidFill>
                  <a:srgbClr val="FF3300"/>
                </a:solidFill>
                <a:ea typeface="宋体" pitchFamily="2" charset="-122"/>
              </a:rPr>
              <a:t>40</a:t>
            </a:r>
            <a:r>
              <a:rPr kumimoji="0" lang="en-US" altLang="zh-CN" sz="1800" b="1" u="none" dirty="0">
                <a:solidFill>
                  <a:srgbClr val="FF3300"/>
                </a:solidFill>
                <a:ea typeface="宋体" pitchFamily="2" charset="-122"/>
              </a:rPr>
              <a:t>) </a:t>
            </a:r>
          </a:p>
        </p:txBody>
      </p:sp>
      <p:sp>
        <p:nvSpPr>
          <p:cNvPr id="460840" name="Rectangle 40"/>
          <p:cNvSpPr>
            <a:spLocks noChangeArrowheads="1"/>
          </p:cNvSpPr>
          <p:nvPr/>
        </p:nvSpPr>
        <p:spPr bwMode="auto">
          <a:xfrm>
            <a:off x="6905625" y="5241925"/>
            <a:ext cx="812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kumimoji="0" lang="en-US" altLang="zh-CN" sz="1800" b="1" u="none" dirty="0" smtClean="0">
                <a:solidFill>
                  <a:srgbClr val="FF3300"/>
                </a:solidFill>
                <a:ea typeface="宋体" pitchFamily="2" charset="-122"/>
              </a:rPr>
              <a:t>(</a:t>
            </a:r>
            <a:r>
              <a:rPr kumimoji="0" lang="en-US" altLang="zh-CN" sz="1800" b="1" u="none" dirty="0" smtClean="0">
                <a:solidFill>
                  <a:srgbClr val="FF3300"/>
                </a:solidFill>
              </a:rPr>
              <a:t>5-</a:t>
            </a:r>
            <a:r>
              <a:rPr kumimoji="0" lang="en-US" altLang="zh-CN" sz="1800" b="1" u="none" dirty="0" smtClean="0">
                <a:solidFill>
                  <a:srgbClr val="FF3300"/>
                </a:solidFill>
                <a:ea typeface="宋体" pitchFamily="2" charset="-122"/>
              </a:rPr>
              <a:t>41</a:t>
            </a:r>
            <a:r>
              <a:rPr kumimoji="0" lang="en-US" altLang="zh-CN" sz="1800" b="1" u="none" dirty="0">
                <a:solidFill>
                  <a:srgbClr val="FF3300"/>
                </a:solidFill>
                <a:ea typeface="宋体" pitchFamily="2" charset="-122"/>
              </a:rPr>
              <a:t>) </a:t>
            </a:r>
          </a:p>
        </p:txBody>
      </p:sp>
      <p:sp>
        <p:nvSpPr>
          <p:cNvPr id="31" name="Rectangle 18"/>
          <p:cNvSpPr>
            <a:spLocks noChangeArrowheads="1"/>
          </p:cNvSpPr>
          <p:nvPr/>
        </p:nvSpPr>
        <p:spPr bwMode="auto">
          <a:xfrm>
            <a:off x="269876" y="263642"/>
            <a:ext cx="4335462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sz="3200" b="1" u="none" dirty="0" smtClean="0">
                <a:solidFill>
                  <a:srgbClr val="800000"/>
                </a:solidFill>
              </a:rPr>
              <a:t>5.4 </a:t>
            </a:r>
            <a:r>
              <a:rPr lang="zh-CN" altLang="en-US" sz="3200" b="1" u="none" dirty="0">
                <a:solidFill>
                  <a:srgbClr val="800000"/>
                </a:solidFill>
              </a:rPr>
              <a:t>功率谱分析及应用</a:t>
            </a:r>
          </a:p>
        </p:txBody>
      </p:sp>
      <p:sp>
        <p:nvSpPr>
          <p:cNvPr id="32" name="Rectangle 33"/>
          <p:cNvSpPr>
            <a:spLocks noChangeArrowheads="1"/>
          </p:cNvSpPr>
          <p:nvPr/>
        </p:nvSpPr>
        <p:spPr bwMode="auto">
          <a:xfrm>
            <a:off x="5462057" y="259490"/>
            <a:ext cx="285206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kumimoji="0" lang="en-US" altLang="zh-CN" sz="2400" u="none" dirty="0" err="1">
                <a:solidFill>
                  <a:schemeClr val="tx1"/>
                </a:solidFill>
                <a:ea typeface="黑体" pitchFamily="49" charset="-122"/>
                <a:cs typeface="Times New Roman" pitchFamily="18" charset="0"/>
              </a:rPr>
              <a:t>S</a:t>
            </a:r>
            <a:r>
              <a:rPr kumimoji="0" lang="en-US" altLang="zh-CN" sz="2400" i="1" u="none" baseline="-25000" dirty="0" err="1">
                <a:solidFill>
                  <a:schemeClr val="tx1"/>
                </a:solidFill>
                <a:ea typeface="黑体" pitchFamily="49" charset="-122"/>
                <a:cs typeface="Times New Roman" pitchFamily="18" charset="0"/>
              </a:rPr>
              <a:t>xy</a:t>
            </a:r>
            <a:r>
              <a:rPr kumimoji="0" lang="en-US" altLang="zh-CN" sz="2400" u="none" dirty="0">
                <a:solidFill>
                  <a:schemeClr val="tx1"/>
                </a:solidFill>
                <a:ea typeface="黑体" pitchFamily="49" charset="-122"/>
                <a:cs typeface="Times New Roman" pitchFamily="18" charset="0"/>
              </a:rPr>
              <a:t> (</a:t>
            </a:r>
            <a:r>
              <a:rPr kumimoji="0" lang="en-US" altLang="zh-CN" sz="2400" i="1" u="none" dirty="0" err="1">
                <a:solidFill>
                  <a:schemeClr val="tx1"/>
                </a:solidFill>
                <a:ea typeface="黑体" pitchFamily="49" charset="-122"/>
                <a:cs typeface="Times New Roman" pitchFamily="18" charset="0"/>
              </a:rPr>
              <a:t>jf</a:t>
            </a:r>
            <a:r>
              <a:rPr kumimoji="0" lang="en-US" altLang="zh-CN" sz="2400" u="none" dirty="0">
                <a:solidFill>
                  <a:schemeClr val="tx1"/>
                </a:solidFill>
                <a:ea typeface="黑体" pitchFamily="49" charset="-122"/>
                <a:cs typeface="Times New Roman" pitchFamily="18" charset="0"/>
              </a:rPr>
              <a:t>)=</a:t>
            </a:r>
            <a:r>
              <a:rPr kumimoji="0" lang="en-US" altLang="zh-CN" sz="2400" i="1" u="none" dirty="0">
                <a:solidFill>
                  <a:schemeClr val="tx1"/>
                </a:solidFill>
                <a:ea typeface="黑体" pitchFamily="49" charset="-122"/>
                <a:cs typeface="Times New Roman" pitchFamily="18" charset="0"/>
              </a:rPr>
              <a:t>H</a:t>
            </a:r>
            <a:r>
              <a:rPr kumimoji="0" lang="en-US" altLang="zh-CN" sz="2400" u="none" dirty="0">
                <a:solidFill>
                  <a:schemeClr val="tx1"/>
                </a:solidFill>
                <a:ea typeface="黑体" pitchFamily="49" charset="-122"/>
                <a:cs typeface="Times New Roman" pitchFamily="18" charset="0"/>
              </a:rPr>
              <a:t>(</a:t>
            </a:r>
            <a:r>
              <a:rPr kumimoji="0" lang="en-US" altLang="zh-CN" sz="2400" i="1" u="none" dirty="0" err="1">
                <a:solidFill>
                  <a:schemeClr val="tx1"/>
                </a:solidFill>
                <a:ea typeface="黑体" pitchFamily="49" charset="-122"/>
                <a:cs typeface="Times New Roman" pitchFamily="18" charset="0"/>
              </a:rPr>
              <a:t>jf</a:t>
            </a:r>
            <a:r>
              <a:rPr kumimoji="0" lang="en-US" altLang="zh-CN" sz="2400" u="none" dirty="0">
                <a:solidFill>
                  <a:schemeClr val="tx1"/>
                </a:solidFill>
                <a:ea typeface="黑体" pitchFamily="49" charset="-122"/>
                <a:cs typeface="Times New Roman" pitchFamily="18" charset="0"/>
              </a:rPr>
              <a:t>) ·</a:t>
            </a:r>
            <a:r>
              <a:rPr kumimoji="0" lang="en-US" altLang="zh-CN" sz="2400" u="none" dirty="0" err="1" smtClean="0">
                <a:solidFill>
                  <a:schemeClr val="tx1"/>
                </a:solidFill>
                <a:ea typeface="黑体" pitchFamily="49" charset="-122"/>
                <a:cs typeface="Times New Roman" pitchFamily="18" charset="0"/>
              </a:rPr>
              <a:t>S</a:t>
            </a:r>
            <a:r>
              <a:rPr kumimoji="0" lang="en-US" altLang="zh-CN" sz="2400" i="1" u="none" baseline="-25000" dirty="0" err="1" smtClean="0">
                <a:solidFill>
                  <a:schemeClr val="tx1"/>
                </a:solidFill>
                <a:ea typeface="黑体" pitchFamily="49" charset="-122"/>
                <a:cs typeface="Times New Roman" pitchFamily="18" charset="0"/>
              </a:rPr>
              <a:t>xx</a:t>
            </a:r>
            <a:r>
              <a:rPr kumimoji="0" lang="en-US" altLang="zh-CN" sz="2400" u="none" dirty="0" smtClean="0">
                <a:solidFill>
                  <a:schemeClr val="tx1"/>
                </a:solidFill>
                <a:ea typeface="黑体" pitchFamily="49" charset="-122"/>
                <a:cs typeface="Times New Roman" pitchFamily="18" charset="0"/>
              </a:rPr>
              <a:t>(</a:t>
            </a:r>
            <a:r>
              <a:rPr kumimoji="0" lang="en-US" altLang="zh-CN" sz="2400" i="1" u="none" dirty="0" err="1" smtClean="0">
                <a:solidFill>
                  <a:schemeClr val="tx1"/>
                </a:solidFill>
                <a:ea typeface="黑体" pitchFamily="49" charset="-122"/>
                <a:cs typeface="Times New Roman" pitchFamily="18" charset="0"/>
              </a:rPr>
              <a:t>jf</a:t>
            </a:r>
            <a:r>
              <a:rPr kumimoji="0" lang="en-US" altLang="zh-CN" sz="2400" u="none" dirty="0">
                <a:solidFill>
                  <a:schemeClr val="tx1"/>
                </a:solidFill>
                <a:ea typeface="黑体" pitchFamily="49" charset="-122"/>
                <a:cs typeface="Times New Roman" pitchFamily="18" charset="0"/>
              </a:rPr>
              <a:t>)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608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608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608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608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608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608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608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608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608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4608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4608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4608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608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608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4608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4608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4608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4608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608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4608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4608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4608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0817" grpId="0"/>
      <p:bldP spid="460820" grpId="0"/>
      <p:bldP spid="460827" grpId="0"/>
      <p:bldP spid="460832" grpId="0"/>
      <p:bldP spid="460833" grpId="0"/>
      <p:bldP spid="460834" grpId="0"/>
      <p:bldP spid="460835" grpId="0"/>
      <p:bldP spid="460838" grpId="0"/>
      <p:bldP spid="460839" grpId="0"/>
      <p:bldP spid="460840" grpId="0"/>
      <p:bldP spid="32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718" name="Rectangle 14"/>
          <p:cNvSpPr>
            <a:spLocks noChangeArrowheads="1"/>
          </p:cNvSpPr>
          <p:nvPr/>
        </p:nvSpPr>
        <p:spPr bwMode="auto">
          <a:xfrm>
            <a:off x="177800" y="23383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56719" name="Rectangle 15"/>
          <p:cNvSpPr>
            <a:spLocks noChangeArrowheads="1"/>
          </p:cNvSpPr>
          <p:nvPr/>
        </p:nvSpPr>
        <p:spPr bwMode="auto">
          <a:xfrm>
            <a:off x="709613" y="1380346"/>
            <a:ext cx="7856537" cy="4572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buClr>
                <a:srgbClr val="FF3300"/>
              </a:buClr>
              <a:buFont typeface="Wingdings" pitchFamily="2" charset="2"/>
              <a:buChar char="Ø"/>
            </a:pPr>
            <a:r>
              <a:rPr kumimoji="0" lang="zh-CN" altLang="en-US" sz="2400" b="1" u="none" dirty="0">
                <a:solidFill>
                  <a:schemeClr val="tx1"/>
                </a:solidFill>
              </a:rPr>
              <a:t>评价测试系统的输入信号与输出信号之间的</a:t>
            </a:r>
            <a:r>
              <a:rPr kumimoji="0" lang="zh-CN" altLang="en-US" sz="2400" b="1" u="none" dirty="0">
                <a:solidFill>
                  <a:srgbClr val="FF0000"/>
                </a:solidFill>
              </a:rPr>
              <a:t>因果关系</a:t>
            </a:r>
            <a:r>
              <a:rPr kumimoji="0" lang="zh-CN" altLang="en-US" sz="2400" b="1" u="none" dirty="0">
                <a:solidFill>
                  <a:schemeClr val="tx1"/>
                </a:solidFill>
              </a:rPr>
              <a:t>， </a:t>
            </a:r>
          </a:p>
        </p:txBody>
      </p:sp>
      <p:sp>
        <p:nvSpPr>
          <p:cNvPr id="456720" name="Rectangle 16"/>
          <p:cNvSpPr>
            <a:spLocks noChangeArrowheads="1"/>
          </p:cNvSpPr>
          <p:nvPr/>
        </p:nvSpPr>
        <p:spPr bwMode="auto">
          <a:xfrm>
            <a:off x="885825" y="1856627"/>
            <a:ext cx="7686675" cy="70788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kumimoji="0" lang="en-US" altLang="zh-CN" sz="2000" b="1" u="none" dirty="0">
                <a:solidFill>
                  <a:schemeClr val="tx1"/>
                </a:solidFill>
              </a:rPr>
              <a:t>        </a:t>
            </a:r>
            <a:r>
              <a:rPr kumimoji="0" lang="zh-CN" altLang="en-US" sz="2000" b="1" u="none" dirty="0">
                <a:solidFill>
                  <a:schemeClr val="tx1"/>
                </a:solidFill>
              </a:rPr>
              <a:t>判断系统中输出信号的</a:t>
            </a:r>
            <a:r>
              <a:rPr kumimoji="0" lang="zh-CN" altLang="en-US" sz="2000" b="1" u="none" dirty="0">
                <a:solidFill>
                  <a:srgbClr val="FF3300"/>
                </a:solidFill>
              </a:rPr>
              <a:t>功率谱</a:t>
            </a:r>
            <a:r>
              <a:rPr kumimoji="0" lang="zh-CN" altLang="en-US" sz="2000" b="1" u="none" dirty="0">
                <a:solidFill>
                  <a:schemeClr val="tx1"/>
                </a:solidFill>
              </a:rPr>
              <a:t>中有多少是所测输入信号所引起的响应 </a:t>
            </a:r>
          </a:p>
        </p:txBody>
      </p:sp>
      <p:sp>
        <p:nvSpPr>
          <p:cNvPr id="456721" name="Rectangle 17"/>
          <p:cNvSpPr>
            <a:spLocks noChangeArrowheads="1"/>
          </p:cNvSpPr>
          <p:nvPr/>
        </p:nvSpPr>
        <p:spPr bwMode="auto">
          <a:xfrm>
            <a:off x="633413" y="2511733"/>
            <a:ext cx="2647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buClr>
                <a:srgbClr val="FF3300"/>
              </a:buClr>
              <a:buFont typeface="Wingdings" pitchFamily="2" charset="2"/>
              <a:buChar char="Ø"/>
            </a:pPr>
            <a:r>
              <a:rPr kumimoji="0" lang="zh-CN" altLang="en-US" sz="2400" b="1" u="none" dirty="0">
                <a:solidFill>
                  <a:schemeClr val="tx1"/>
                </a:solidFill>
              </a:rPr>
              <a:t>用相干函数表示 </a:t>
            </a:r>
          </a:p>
        </p:txBody>
      </p:sp>
      <p:graphicFrame>
        <p:nvGraphicFramePr>
          <p:cNvPr id="456724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58023092"/>
              </p:ext>
            </p:extLst>
          </p:nvPr>
        </p:nvGraphicFramePr>
        <p:xfrm>
          <a:off x="2408662" y="2927230"/>
          <a:ext cx="4455687" cy="8208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6784" name="公式" r:id="rId3" imgW="2641600" imgH="482600" progId="Equation.3">
                  <p:embed/>
                </p:oleObj>
              </mc:Choice>
              <mc:Fallback>
                <p:oleObj name="公式" r:id="rId3" imgW="2641600" imgH="482600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08662" y="2927230"/>
                        <a:ext cx="4455687" cy="820858"/>
                      </a:xfrm>
                      <a:prstGeom prst="rect">
                        <a:avLst/>
                      </a:prstGeom>
                      <a:solidFill>
                        <a:srgbClr val="FFCC99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6725" name="Rectangle 21"/>
          <p:cNvSpPr>
            <a:spLocks noChangeArrowheads="1"/>
          </p:cNvSpPr>
          <p:nvPr/>
        </p:nvSpPr>
        <p:spPr bwMode="auto">
          <a:xfrm>
            <a:off x="6986588" y="3125788"/>
            <a:ext cx="8128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kumimoji="0" lang="en-US" altLang="zh-CN" sz="1800" b="1" u="none" dirty="0" smtClean="0">
                <a:solidFill>
                  <a:srgbClr val="FF3300"/>
                </a:solidFill>
                <a:ea typeface="宋体" pitchFamily="2" charset="-122"/>
              </a:rPr>
              <a:t>(</a:t>
            </a:r>
            <a:r>
              <a:rPr kumimoji="0" lang="en-US" altLang="zh-CN" sz="1800" b="1" u="none" dirty="0" smtClean="0">
                <a:solidFill>
                  <a:srgbClr val="FF3300"/>
                </a:solidFill>
              </a:rPr>
              <a:t>5-</a:t>
            </a:r>
            <a:r>
              <a:rPr kumimoji="0" lang="en-US" altLang="zh-CN" sz="1800" b="1" u="none" dirty="0" smtClean="0">
                <a:solidFill>
                  <a:srgbClr val="FF3300"/>
                </a:solidFill>
                <a:ea typeface="宋体" pitchFamily="2" charset="-122"/>
              </a:rPr>
              <a:t>42</a:t>
            </a:r>
            <a:r>
              <a:rPr kumimoji="0" lang="en-US" altLang="zh-CN" sz="1800" b="1" u="none" dirty="0">
                <a:solidFill>
                  <a:srgbClr val="FF3300"/>
                </a:solidFill>
                <a:ea typeface="宋体" pitchFamily="2" charset="-122"/>
              </a:rPr>
              <a:t>) </a:t>
            </a:r>
          </a:p>
        </p:txBody>
      </p:sp>
      <p:sp>
        <p:nvSpPr>
          <p:cNvPr id="456726" name="Rectangle 22"/>
          <p:cNvSpPr>
            <a:spLocks noChangeArrowheads="1"/>
          </p:cNvSpPr>
          <p:nvPr/>
        </p:nvSpPr>
        <p:spPr bwMode="auto">
          <a:xfrm>
            <a:off x="717550" y="3744913"/>
            <a:ext cx="53879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buClr>
                <a:srgbClr val="FF3300"/>
              </a:buClr>
              <a:buFont typeface="Wingdings" pitchFamily="2" charset="2"/>
              <a:buChar char="ü"/>
            </a:pPr>
            <a:r>
              <a:rPr kumimoji="0" lang="en-US" altLang="zh-CN" sz="2400" b="1" u="none">
                <a:solidFill>
                  <a:schemeClr val="tx1"/>
                </a:solidFill>
              </a:rPr>
              <a:t>γ</a:t>
            </a:r>
            <a:r>
              <a:rPr kumimoji="0" lang="en-US" altLang="zh-CN" sz="2400" b="1" u="none" baseline="30000">
                <a:solidFill>
                  <a:schemeClr val="tx1"/>
                </a:solidFill>
              </a:rPr>
              <a:t>2</a:t>
            </a:r>
            <a:r>
              <a:rPr kumimoji="0" lang="en-US" altLang="zh-CN" sz="2400" b="1" i="1" u="none" baseline="-25000">
                <a:solidFill>
                  <a:schemeClr val="tx1"/>
                </a:solidFill>
              </a:rPr>
              <a:t>xy</a:t>
            </a:r>
            <a:r>
              <a:rPr kumimoji="0" lang="en-US" altLang="zh-CN" sz="2400" b="1" u="none">
                <a:solidFill>
                  <a:schemeClr val="tx1"/>
                </a:solidFill>
              </a:rPr>
              <a:t> (</a:t>
            </a:r>
            <a:r>
              <a:rPr kumimoji="0" lang="en-US" altLang="zh-CN" sz="2400" b="1" i="1" u="none">
                <a:solidFill>
                  <a:schemeClr val="tx1"/>
                </a:solidFill>
              </a:rPr>
              <a:t>j</a:t>
            </a:r>
            <a:r>
              <a:rPr kumimoji="0" lang="en-US" altLang="zh-CN" sz="2400" b="1" u="none">
                <a:solidFill>
                  <a:schemeClr val="tx1"/>
                </a:solidFill>
              </a:rPr>
              <a:t>ƒ)=0</a:t>
            </a:r>
            <a:r>
              <a:rPr kumimoji="0" lang="zh-CN" altLang="en-US" sz="2400" b="1" u="none">
                <a:solidFill>
                  <a:schemeClr val="tx1"/>
                </a:solidFill>
              </a:rPr>
              <a:t>：输出、输入信号不相干  </a:t>
            </a:r>
          </a:p>
        </p:txBody>
      </p:sp>
      <p:sp>
        <p:nvSpPr>
          <p:cNvPr id="456727" name="Rectangle 23"/>
          <p:cNvSpPr>
            <a:spLocks noChangeArrowheads="1"/>
          </p:cNvSpPr>
          <p:nvPr/>
        </p:nvSpPr>
        <p:spPr bwMode="auto">
          <a:xfrm>
            <a:off x="717550" y="4230043"/>
            <a:ext cx="5660524" cy="461665"/>
          </a:xfrm>
          <a:prstGeom prst="rect">
            <a:avLst/>
          </a:prstGeom>
          <a:solidFill>
            <a:srgbClr val="FFCC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buClr>
                <a:srgbClr val="FF3300"/>
              </a:buClr>
              <a:buFont typeface="Wingdings" pitchFamily="2" charset="2"/>
              <a:buChar char="ü"/>
            </a:pPr>
            <a:r>
              <a:rPr kumimoji="0" lang="en-US" altLang="zh-CN" sz="2400" b="1" u="none" dirty="0">
                <a:solidFill>
                  <a:schemeClr val="tx1"/>
                </a:solidFill>
              </a:rPr>
              <a:t>γ</a:t>
            </a:r>
            <a:r>
              <a:rPr kumimoji="0" lang="en-US" altLang="zh-CN" sz="2400" b="1" u="none" baseline="30000" dirty="0">
                <a:solidFill>
                  <a:schemeClr val="tx1"/>
                </a:solidFill>
              </a:rPr>
              <a:t>2</a:t>
            </a:r>
            <a:r>
              <a:rPr kumimoji="0" lang="en-US" altLang="zh-CN" sz="2400" b="1" i="1" u="none" baseline="-25000" dirty="0">
                <a:solidFill>
                  <a:schemeClr val="tx1"/>
                </a:solidFill>
              </a:rPr>
              <a:t>xy</a:t>
            </a:r>
            <a:r>
              <a:rPr kumimoji="0" lang="en-US" altLang="zh-CN" sz="2400" b="1" u="none" dirty="0">
                <a:solidFill>
                  <a:schemeClr val="tx1"/>
                </a:solidFill>
              </a:rPr>
              <a:t> (</a:t>
            </a:r>
            <a:r>
              <a:rPr kumimoji="0" lang="en-US" altLang="zh-CN" sz="2400" b="1" i="1" u="none" dirty="0" err="1">
                <a:solidFill>
                  <a:schemeClr val="tx1"/>
                </a:solidFill>
              </a:rPr>
              <a:t>j</a:t>
            </a:r>
            <a:r>
              <a:rPr kumimoji="0" lang="en-US" altLang="zh-CN" sz="2400" b="1" u="none" dirty="0" err="1">
                <a:solidFill>
                  <a:schemeClr val="tx1"/>
                </a:solidFill>
              </a:rPr>
              <a:t>ƒ</a:t>
            </a:r>
            <a:r>
              <a:rPr kumimoji="0" lang="en-US" altLang="zh-CN" sz="2400" b="1" u="none" dirty="0">
                <a:solidFill>
                  <a:schemeClr val="tx1"/>
                </a:solidFill>
              </a:rPr>
              <a:t>)=1</a:t>
            </a:r>
            <a:r>
              <a:rPr kumimoji="0" lang="zh-CN" altLang="en-US" sz="2400" b="1" u="none" dirty="0">
                <a:solidFill>
                  <a:schemeClr val="tx1"/>
                </a:solidFill>
              </a:rPr>
              <a:t>：输出、输入信号完全</a:t>
            </a:r>
            <a:r>
              <a:rPr kumimoji="0" lang="zh-CN" altLang="en-US" sz="2400" b="1" u="none" dirty="0" smtClean="0">
                <a:solidFill>
                  <a:schemeClr val="tx1"/>
                </a:solidFill>
              </a:rPr>
              <a:t>相干</a:t>
            </a:r>
            <a:r>
              <a:rPr kumimoji="0" lang="zh-CN" altLang="en-US" sz="2400" u="none" dirty="0" smtClean="0">
                <a:solidFill>
                  <a:schemeClr val="tx1"/>
                </a:solidFill>
              </a:rPr>
              <a:t> </a:t>
            </a:r>
            <a:r>
              <a:rPr kumimoji="0" lang="zh-CN" altLang="en-US" sz="2400" b="1" u="none" dirty="0" smtClean="0">
                <a:solidFill>
                  <a:schemeClr val="tx1"/>
                </a:solidFill>
              </a:rPr>
              <a:t>  </a:t>
            </a:r>
            <a:endParaRPr kumimoji="0" lang="zh-CN" altLang="en-US" sz="2400" b="1" u="none" dirty="0">
              <a:solidFill>
                <a:schemeClr val="tx1"/>
              </a:solidFill>
            </a:endParaRPr>
          </a:p>
        </p:txBody>
      </p:sp>
      <p:sp>
        <p:nvSpPr>
          <p:cNvPr id="456728" name="Rectangle 24"/>
          <p:cNvSpPr>
            <a:spLocks noChangeArrowheads="1"/>
          </p:cNvSpPr>
          <p:nvPr/>
        </p:nvSpPr>
        <p:spPr bwMode="auto">
          <a:xfrm>
            <a:off x="717550" y="4719638"/>
            <a:ext cx="53387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buClr>
                <a:srgbClr val="FF3300"/>
              </a:buClr>
              <a:buFont typeface="Wingdings" pitchFamily="2" charset="2"/>
              <a:buChar char="ü"/>
            </a:pPr>
            <a:r>
              <a:rPr kumimoji="0" lang="en-US" altLang="zh-CN" sz="2400" b="1" u="none">
                <a:solidFill>
                  <a:schemeClr val="tx1"/>
                </a:solidFill>
              </a:rPr>
              <a:t>γ</a:t>
            </a:r>
            <a:r>
              <a:rPr kumimoji="0" lang="en-US" altLang="zh-CN" sz="2400" b="1" u="none" baseline="30000">
                <a:solidFill>
                  <a:schemeClr val="tx1"/>
                </a:solidFill>
              </a:rPr>
              <a:t>2</a:t>
            </a:r>
            <a:r>
              <a:rPr kumimoji="0" lang="en-US" altLang="zh-CN" sz="2400" b="1" i="1" u="none" baseline="-25000">
                <a:solidFill>
                  <a:schemeClr val="tx1"/>
                </a:solidFill>
              </a:rPr>
              <a:t>xy</a:t>
            </a:r>
            <a:r>
              <a:rPr kumimoji="0" lang="en-US" altLang="zh-CN" sz="2400" b="1" u="none">
                <a:solidFill>
                  <a:schemeClr val="tx1"/>
                </a:solidFill>
              </a:rPr>
              <a:t> (</a:t>
            </a:r>
            <a:r>
              <a:rPr kumimoji="0" lang="en-US" altLang="zh-CN" sz="2400" b="1" i="1" u="none">
                <a:solidFill>
                  <a:schemeClr val="tx1"/>
                </a:solidFill>
              </a:rPr>
              <a:t>j</a:t>
            </a:r>
            <a:r>
              <a:rPr kumimoji="0" lang="en-US" altLang="zh-CN" sz="2400" b="1" u="none">
                <a:solidFill>
                  <a:schemeClr val="tx1"/>
                </a:solidFill>
              </a:rPr>
              <a:t>ƒ) ∈</a:t>
            </a:r>
            <a:r>
              <a:rPr kumimoji="0" lang="en-US" altLang="zh-CN" sz="2400" u="none">
                <a:solidFill>
                  <a:schemeClr val="tx1"/>
                </a:solidFill>
              </a:rPr>
              <a:t> [0</a:t>
            </a:r>
            <a:r>
              <a:rPr kumimoji="0" lang="zh-CN" altLang="en-US" sz="2400" u="none">
                <a:solidFill>
                  <a:schemeClr val="tx1"/>
                </a:solidFill>
              </a:rPr>
              <a:t>，</a:t>
            </a:r>
            <a:r>
              <a:rPr kumimoji="0" lang="en-US" altLang="zh-CN" sz="2400" u="none">
                <a:solidFill>
                  <a:schemeClr val="tx1"/>
                </a:solidFill>
              </a:rPr>
              <a:t>1]</a:t>
            </a:r>
            <a:r>
              <a:rPr kumimoji="0" lang="zh-CN" altLang="en-US" sz="2400" b="1" u="none">
                <a:solidFill>
                  <a:schemeClr val="tx1"/>
                </a:solidFill>
              </a:rPr>
              <a:t>：有如下三种可能</a:t>
            </a:r>
            <a:r>
              <a:rPr kumimoji="0" lang="zh-CN" altLang="en-US" sz="2400" u="none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456729" name="Rectangle 25"/>
          <p:cNvSpPr>
            <a:spLocks noChangeArrowheads="1"/>
          </p:cNvSpPr>
          <p:nvPr/>
        </p:nvSpPr>
        <p:spPr bwMode="auto">
          <a:xfrm>
            <a:off x="2124075" y="5151438"/>
            <a:ext cx="42433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kumimoji="0" lang="en-US" altLang="zh-CN" sz="2400" b="1" u="none" dirty="0">
                <a:solidFill>
                  <a:schemeClr val="tx1"/>
                </a:solidFill>
              </a:rPr>
              <a:t>①</a:t>
            </a:r>
            <a:r>
              <a:rPr kumimoji="0" lang="zh-CN" altLang="en-US" sz="2400" b="1" u="none" dirty="0">
                <a:solidFill>
                  <a:schemeClr val="tx1"/>
                </a:solidFill>
              </a:rPr>
              <a:t>测试系统</a:t>
            </a:r>
            <a:r>
              <a:rPr kumimoji="0" lang="zh-CN" altLang="en-US" sz="2400" b="1" u="none" dirty="0">
                <a:solidFill>
                  <a:srgbClr val="FF0000"/>
                </a:solidFill>
              </a:rPr>
              <a:t>有外界噪声干扰</a:t>
            </a:r>
            <a:r>
              <a:rPr kumimoji="0" lang="zh-CN" altLang="en-US" sz="2400" b="1" u="none" dirty="0">
                <a:solidFill>
                  <a:schemeClr val="tx1"/>
                </a:solidFill>
              </a:rPr>
              <a:t>； </a:t>
            </a:r>
          </a:p>
        </p:txBody>
      </p:sp>
      <p:sp>
        <p:nvSpPr>
          <p:cNvPr id="456730" name="Rectangle 26"/>
          <p:cNvSpPr>
            <a:spLocks noChangeArrowheads="1"/>
          </p:cNvSpPr>
          <p:nvPr/>
        </p:nvSpPr>
        <p:spPr bwMode="auto">
          <a:xfrm>
            <a:off x="2124075" y="5511800"/>
            <a:ext cx="6330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kumimoji="0" lang="en-US" altLang="zh-CN" sz="2400" b="1" u="none" dirty="0">
                <a:solidFill>
                  <a:schemeClr val="tx1"/>
                </a:solidFill>
              </a:rPr>
              <a:t>②</a:t>
            </a:r>
            <a:r>
              <a:rPr kumimoji="0" lang="zh-CN" altLang="en-US" sz="2400" b="1" u="none" dirty="0">
                <a:solidFill>
                  <a:schemeClr val="tx1"/>
                </a:solidFill>
              </a:rPr>
              <a:t>输出</a:t>
            </a:r>
            <a:r>
              <a:rPr kumimoji="0" lang="en-US" altLang="zh-CN" sz="2400" b="1" i="1" u="none" dirty="0">
                <a:solidFill>
                  <a:schemeClr val="tx1"/>
                </a:solidFill>
              </a:rPr>
              <a:t>y</a:t>
            </a:r>
            <a:r>
              <a:rPr kumimoji="0" lang="en-US" altLang="zh-CN" sz="2400" b="1" u="none" dirty="0">
                <a:solidFill>
                  <a:schemeClr val="tx1"/>
                </a:solidFill>
              </a:rPr>
              <a:t>(</a:t>
            </a:r>
            <a:r>
              <a:rPr kumimoji="0" lang="en-US" altLang="zh-CN" sz="2400" b="1" i="1" u="none" dirty="0">
                <a:solidFill>
                  <a:schemeClr val="tx1"/>
                </a:solidFill>
              </a:rPr>
              <a:t>t</a:t>
            </a:r>
            <a:r>
              <a:rPr kumimoji="0" lang="en-US" altLang="zh-CN" sz="2400" b="1" u="none" dirty="0">
                <a:solidFill>
                  <a:schemeClr val="tx1"/>
                </a:solidFill>
              </a:rPr>
              <a:t>)</a:t>
            </a:r>
            <a:r>
              <a:rPr kumimoji="0" lang="zh-CN" altLang="en-US" sz="2400" b="1" u="none" dirty="0">
                <a:solidFill>
                  <a:schemeClr val="tx1"/>
                </a:solidFill>
              </a:rPr>
              <a:t>是输入</a:t>
            </a:r>
            <a:r>
              <a:rPr kumimoji="0" lang="en-US" altLang="zh-CN" sz="2400" b="1" i="1" u="none" dirty="0">
                <a:solidFill>
                  <a:schemeClr val="tx1"/>
                </a:solidFill>
              </a:rPr>
              <a:t>x</a:t>
            </a:r>
            <a:r>
              <a:rPr kumimoji="0" lang="en-US" altLang="zh-CN" sz="2400" b="1" u="none" dirty="0">
                <a:solidFill>
                  <a:schemeClr val="tx1"/>
                </a:solidFill>
              </a:rPr>
              <a:t>(</a:t>
            </a:r>
            <a:r>
              <a:rPr kumimoji="0" lang="en-US" altLang="zh-CN" sz="2400" b="1" i="1" u="none" dirty="0">
                <a:solidFill>
                  <a:schemeClr val="tx1"/>
                </a:solidFill>
              </a:rPr>
              <a:t>t</a:t>
            </a:r>
            <a:r>
              <a:rPr kumimoji="0" lang="en-US" altLang="zh-CN" sz="2400" b="1" u="none" dirty="0">
                <a:solidFill>
                  <a:schemeClr val="tx1"/>
                </a:solidFill>
              </a:rPr>
              <a:t>)</a:t>
            </a:r>
            <a:r>
              <a:rPr kumimoji="0" lang="zh-CN" altLang="en-US" sz="2400" b="1" u="none" dirty="0">
                <a:solidFill>
                  <a:schemeClr val="tx1"/>
                </a:solidFill>
              </a:rPr>
              <a:t>和其它输入的</a:t>
            </a:r>
            <a:r>
              <a:rPr kumimoji="0" lang="zh-CN" altLang="en-US" sz="2400" b="1" u="none" dirty="0">
                <a:solidFill>
                  <a:srgbClr val="FF0000"/>
                </a:solidFill>
              </a:rPr>
              <a:t>综合输出</a:t>
            </a:r>
            <a:r>
              <a:rPr kumimoji="0" lang="zh-CN" altLang="en-US" sz="2400" b="1" u="none" dirty="0">
                <a:solidFill>
                  <a:schemeClr val="tx1"/>
                </a:solidFill>
              </a:rPr>
              <a:t>； </a:t>
            </a:r>
          </a:p>
        </p:txBody>
      </p:sp>
      <p:sp>
        <p:nvSpPr>
          <p:cNvPr id="456731" name="Rectangle 27"/>
          <p:cNvSpPr>
            <a:spLocks noChangeArrowheads="1"/>
          </p:cNvSpPr>
          <p:nvPr/>
        </p:nvSpPr>
        <p:spPr bwMode="auto">
          <a:xfrm>
            <a:off x="2124075" y="5870575"/>
            <a:ext cx="5181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kumimoji="0" lang="en-US" altLang="zh-CN" sz="2400" b="1" u="none" dirty="0">
                <a:solidFill>
                  <a:schemeClr val="tx1"/>
                </a:solidFill>
              </a:rPr>
              <a:t>③</a:t>
            </a:r>
            <a:r>
              <a:rPr kumimoji="0" lang="zh-CN" altLang="en-US" sz="2400" b="1" u="none" dirty="0">
                <a:solidFill>
                  <a:schemeClr val="tx1"/>
                </a:solidFill>
              </a:rPr>
              <a:t>联系</a:t>
            </a:r>
            <a:r>
              <a:rPr kumimoji="0" lang="en-US" altLang="zh-CN" sz="2400" b="1" i="1" u="none" dirty="0">
                <a:solidFill>
                  <a:schemeClr val="tx1"/>
                </a:solidFill>
              </a:rPr>
              <a:t>x</a:t>
            </a:r>
            <a:r>
              <a:rPr kumimoji="0" lang="en-US" altLang="zh-CN" sz="2400" b="1" u="none" dirty="0">
                <a:solidFill>
                  <a:schemeClr val="tx1"/>
                </a:solidFill>
              </a:rPr>
              <a:t>(</a:t>
            </a:r>
            <a:r>
              <a:rPr kumimoji="0" lang="en-US" altLang="zh-CN" sz="2400" b="1" i="1" u="none" dirty="0">
                <a:solidFill>
                  <a:schemeClr val="tx1"/>
                </a:solidFill>
              </a:rPr>
              <a:t>t</a:t>
            </a:r>
            <a:r>
              <a:rPr kumimoji="0" lang="en-US" altLang="zh-CN" sz="2400" b="1" u="none" dirty="0">
                <a:solidFill>
                  <a:schemeClr val="tx1"/>
                </a:solidFill>
              </a:rPr>
              <a:t>)</a:t>
            </a:r>
            <a:r>
              <a:rPr kumimoji="0" lang="zh-CN" altLang="en-US" sz="2400" b="1" u="none" dirty="0">
                <a:solidFill>
                  <a:schemeClr val="tx1"/>
                </a:solidFill>
              </a:rPr>
              <a:t>和</a:t>
            </a:r>
            <a:r>
              <a:rPr kumimoji="0" lang="en-US" altLang="zh-CN" sz="2400" b="1" i="1" u="none" dirty="0">
                <a:solidFill>
                  <a:schemeClr val="tx1"/>
                </a:solidFill>
              </a:rPr>
              <a:t>y</a:t>
            </a:r>
            <a:r>
              <a:rPr kumimoji="0" lang="en-US" altLang="zh-CN" sz="2400" b="1" u="none" dirty="0">
                <a:solidFill>
                  <a:schemeClr val="tx1"/>
                </a:solidFill>
              </a:rPr>
              <a:t>(</a:t>
            </a:r>
            <a:r>
              <a:rPr kumimoji="0" lang="en-US" altLang="zh-CN" sz="2400" b="1" i="1" u="none" dirty="0">
                <a:solidFill>
                  <a:schemeClr val="tx1"/>
                </a:solidFill>
              </a:rPr>
              <a:t>t</a:t>
            </a:r>
            <a:r>
              <a:rPr kumimoji="0" lang="en-US" altLang="zh-CN" sz="2400" b="1" u="none" dirty="0">
                <a:solidFill>
                  <a:schemeClr val="tx1"/>
                </a:solidFill>
              </a:rPr>
              <a:t>)</a:t>
            </a:r>
            <a:r>
              <a:rPr kumimoji="0" lang="zh-CN" altLang="en-US" sz="2400" b="1" u="none" dirty="0">
                <a:solidFill>
                  <a:schemeClr val="tx1"/>
                </a:solidFill>
              </a:rPr>
              <a:t>线性系统是</a:t>
            </a:r>
            <a:r>
              <a:rPr kumimoji="0" lang="zh-CN" altLang="en-US" sz="2400" b="1" u="none" dirty="0">
                <a:solidFill>
                  <a:srgbClr val="FF0000"/>
                </a:solidFill>
              </a:rPr>
              <a:t>非线性</a:t>
            </a:r>
            <a:r>
              <a:rPr kumimoji="0" lang="zh-CN" altLang="en-US" sz="2400" b="1" u="none" dirty="0">
                <a:solidFill>
                  <a:schemeClr val="tx1"/>
                </a:solidFill>
              </a:rPr>
              <a:t>的</a:t>
            </a:r>
            <a:r>
              <a:rPr kumimoji="0" lang="en-US" altLang="zh-CN" sz="2400" b="1" u="none" dirty="0">
                <a:solidFill>
                  <a:schemeClr val="tx1"/>
                </a:solidFill>
              </a:rPr>
              <a:t>. </a:t>
            </a:r>
          </a:p>
        </p:txBody>
      </p:sp>
      <p:sp>
        <p:nvSpPr>
          <p:cNvPr id="456732" name="Rectangle 28"/>
          <p:cNvSpPr>
            <a:spLocks noChangeArrowheads="1"/>
          </p:cNvSpPr>
          <p:nvPr/>
        </p:nvSpPr>
        <p:spPr bwMode="auto">
          <a:xfrm>
            <a:off x="442913" y="861234"/>
            <a:ext cx="1879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b="1" u="none" dirty="0">
                <a:solidFill>
                  <a:srgbClr val="000066"/>
                </a:solidFill>
              </a:rPr>
              <a:t>3.</a:t>
            </a:r>
            <a:r>
              <a:rPr lang="zh-CN" altLang="en-US" b="1" u="none" dirty="0">
                <a:solidFill>
                  <a:srgbClr val="000066"/>
                </a:solidFill>
              </a:rPr>
              <a:t>相干函数</a:t>
            </a:r>
          </a:p>
        </p:txBody>
      </p:sp>
      <p:sp>
        <p:nvSpPr>
          <p:cNvPr id="15" name="Rectangle 18"/>
          <p:cNvSpPr>
            <a:spLocks noChangeArrowheads="1"/>
          </p:cNvSpPr>
          <p:nvPr/>
        </p:nvSpPr>
        <p:spPr bwMode="auto">
          <a:xfrm>
            <a:off x="269876" y="263642"/>
            <a:ext cx="4335462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sz="3200" b="1" u="none" dirty="0" smtClean="0">
                <a:solidFill>
                  <a:srgbClr val="800000"/>
                </a:solidFill>
              </a:rPr>
              <a:t>5.4 </a:t>
            </a:r>
            <a:r>
              <a:rPr lang="zh-CN" altLang="en-US" sz="3200" b="1" u="none" dirty="0">
                <a:solidFill>
                  <a:srgbClr val="800000"/>
                </a:solidFill>
              </a:rPr>
              <a:t>功率谱分析及应用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567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567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567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567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567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567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567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567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567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567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567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567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4567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567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6721" grpId="0"/>
      <p:bldP spid="456725" grpId="0"/>
      <p:bldP spid="456726" grpId="0"/>
      <p:bldP spid="456727" grpId="0" animBg="1"/>
      <p:bldP spid="456728" grpId="0"/>
      <p:bldP spid="456729" grpId="0"/>
      <p:bldP spid="456730" grpId="0"/>
      <p:bldP spid="456731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49891" name="Object 3"/>
          <p:cNvGraphicFramePr>
            <a:graphicFrameLocks noChangeAspect="1"/>
          </p:cNvGraphicFramePr>
          <p:nvPr/>
        </p:nvGraphicFramePr>
        <p:xfrm>
          <a:off x="1954213" y="3328988"/>
          <a:ext cx="2463800" cy="1001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0168" name="公式" r:id="rId3" imgW="1155600" imgH="469800" progId="Equation.3">
                  <p:embed/>
                </p:oleObj>
              </mc:Choice>
              <mc:Fallback>
                <p:oleObj name="公式" r:id="rId3" imgW="1155600" imgH="4698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54213" y="3328988"/>
                        <a:ext cx="2463800" cy="1001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9894" name="Rectangle 6"/>
          <p:cNvSpPr>
            <a:spLocks noChangeArrowheads="1"/>
          </p:cNvSpPr>
          <p:nvPr/>
        </p:nvSpPr>
        <p:spPr bwMode="auto">
          <a:xfrm>
            <a:off x="177800" y="28765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549895" name="Rectangle 7"/>
          <p:cNvSpPr>
            <a:spLocks noChangeArrowheads="1"/>
          </p:cNvSpPr>
          <p:nvPr/>
        </p:nvSpPr>
        <p:spPr bwMode="auto">
          <a:xfrm>
            <a:off x="560388" y="1835150"/>
            <a:ext cx="29543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buClr>
                <a:srgbClr val="FF3300"/>
              </a:buClr>
              <a:buFont typeface="Wingdings" pitchFamily="2" charset="2"/>
              <a:buChar char="Ø"/>
            </a:pPr>
            <a:r>
              <a:rPr kumimoji="0" lang="zh-CN" altLang="en-US" sz="2400" b="1" u="none" dirty="0">
                <a:solidFill>
                  <a:schemeClr val="tx1"/>
                </a:solidFill>
              </a:rPr>
              <a:t>若系统为</a:t>
            </a:r>
            <a:r>
              <a:rPr kumimoji="0" lang="zh-CN" altLang="en-US" sz="2400" b="1" u="none" dirty="0">
                <a:solidFill>
                  <a:srgbClr val="FF0000"/>
                </a:solidFill>
              </a:rPr>
              <a:t>线性系统</a:t>
            </a:r>
            <a:r>
              <a:rPr kumimoji="0" lang="zh-CN" altLang="en-US" sz="2400" b="1" u="none" dirty="0">
                <a:solidFill>
                  <a:schemeClr val="tx1"/>
                </a:solidFill>
              </a:rPr>
              <a:t> </a:t>
            </a:r>
          </a:p>
        </p:txBody>
      </p:sp>
      <p:graphicFrame>
        <p:nvGraphicFramePr>
          <p:cNvPr id="549896" name="Object 8"/>
          <p:cNvGraphicFramePr>
            <a:graphicFrameLocks noChangeAspect="1"/>
          </p:cNvGraphicFramePr>
          <p:nvPr/>
        </p:nvGraphicFramePr>
        <p:xfrm>
          <a:off x="5688013" y="1443038"/>
          <a:ext cx="2252662" cy="369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0169" name="Equation" r:id="rId5" imgW="1447560" imgH="241200" progId="Equation.DSMT4">
                  <p:embed/>
                </p:oleObj>
              </mc:Choice>
              <mc:Fallback>
                <p:oleObj name="Equation" r:id="rId5" imgW="1447560" imgH="2412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88013" y="1443038"/>
                        <a:ext cx="2252662" cy="3698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9897" name="Rectangle 9"/>
          <p:cNvSpPr>
            <a:spLocks noChangeArrowheads="1"/>
          </p:cNvSpPr>
          <p:nvPr/>
        </p:nvSpPr>
        <p:spPr bwMode="auto">
          <a:xfrm>
            <a:off x="8123238" y="1406525"/>
            <a:ext cx="8128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kumimoji="0" lang="en-US" altLang="zh-CN" sz="1800" b="1" u="none" dirty="0" smtClean="0">
                <a:solidFill>
                  <a:srgbClr val="FF3300"/>
                </a:solidFill>
                <a:ea typeface="宋体" pitchFamily="2" charset="-122"/>
              </a:rPr>
              <a:t>(</a:t>
            </a:r>
            <a:r>
              <a:rPr kumimoji="0" lang="en-US" altLang="zh-CN" sz="1800" b="1" u="none" dirty="0" smtClean="0">
                <a:solidFill>
                  <a:srgbClr val="FF3300"/>
                </a:solidFill>
              </a:rPr>
              <a:t>5-</a:t>
            </a:r>
            <a:r>
              <a:rPr kumimoji="0" lang="en-US" altLang="zh-CN" sz="1800" b="1" u="none" dirty="0" smtClean="0">
                <a:solidFill>
                  <a:srgbClr val="FF3300"/>
                </a:solidFill>
                <a:ea typeface="宋体" pitchFamily="2" charset="-122"/>
              </a:rPr>
              <a:t>41</a:t>
            </a:r>
            <a:r>
              <a:rPr kumimoji="0" lang="en-US" altLang="zh-CN" sz="1800" b="1" u="none" dirty="0">
                <a:solidFill>
                  <a:srgbClr val="FF3300"/>
                </a:solidFill>
                <a:ea typeface="宋体" pitchFamily="2" charset="-122"/>
              </a:rPr>
              <a:t>) </a:t>
            </a:r>
          </a:p>
        </p:txBody>
      </p:sp>
      <p:sp>
        <p:nvSpPr>
          <p:cNvPr id="549898" name="Rectangle 10"/>
          <p:cNvSpPr>
            <a:spLocks noChangeArrowheads="1"/>
          </p:cNvSpPr>
          <p:nvPr/>
        </p:nvSpPr>
        <p:spPr bwMode="auto">
          <a:xfrm>
            <a:off x="5657356" y="865188"/>
            <a:ext cx="23780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kumimoji="0" lang="en-US" altLang="zh-CN" sz="2000" u="none" dirty="0" err="1">
                <a:solidFill>
                  <a:schemeClr val="tx1"/>
                </a:solidFill>
                <a:ea typeface="宋体" pitchFamily="2" charset="-122"/>
              </a:rPr>
              <a:t>S</a:t>
            </a:r>
            <a:r>
              <a:rPr kumimoji="0" lang="en-US" altLang="zh-CN" sz="2000" i="1" u="none" baseline="-25000" dirty="0" err="1">
                <a:solidFill>
                  <a:schemeClr val="tx1"/>
                </a:solidFill>
                <a:ea typeface="宋体" pitchFamily="2" charset="-122"/>
              </a:rPr>
              <a:t>y</a:t>
            </a:r>
            <a:r>
              <a:rPr kumimoji="0" lang="en-US" altLang="zh-CN" sz="2000" u="none" dirty="0">
                <a:solidFill>
                  <a:schemeClr val="tx1"/>
                </a:solidFill>
                <a:ea typeface="宋体" pitchFamily="2" charset="-122"/>
              </a:rPr>
              <a:t>(</a:t>
            </a:r>
            <a:r>
              <a:rPr kumimoji="0" lang="en-US" altLang="zh-CN" sz="2000" i="1" u="none" dirty="0" err="1">
                <a:solidFill>
                  <a:schemeClr val="tx1"/>
                </a:solidFill>
                <a:ea typeface="宋体" pitchFamily="2" charset="-122"/>
              </a:rPr>
              <a:t>jf</a:t>
            </a:r>
            <a:r>
              <a:rPr kumimoji="0" lang="en-US" altLang="zh-CN" sz="2000" u="none" dirty="0">
                <a:solidFill>
                  <a:schemeClr val="tx1"/>
                </a:solidFill>
                <a:ea typeface="宋体" pitchFamily="2" charset="-122"/>
              </a:rPr>
              <a:t>)=|</a:t>
            </a:r>
            <a:r>
              <a:rPr kumimoji="0" lang="en-US" altLang="zh-CN" sz="2000" i="1" u="none" dirty="0">
                <a:solidFill>
                  <a:schemeClr val="tx1"/>
                </a:solidFill>
                <a:ea typeface="宋体" pitchFamily="2" charset="-122"/>
              </a:rPr>
              <a:t>H</a:t>
            </a:r>
            <a:r>
              <a:rPr kumimoji="0" lang="en-US" altLang="zh-CN" sz="2000" u="none" dirty="0">
                <a:solidFill>
                  <a:schemeClr val="tx1"/>
                </a:solidFill>
                <a:ea typeface="宋体" pitchFamily="2" charset="-122"/>
              </a:rPr>
              <a:t>(</a:t>
            </a:r>
            <a:r>
              <a:rPr kumimoji="0" lang="en-US" altLang="zh-CN" sz="2000" i="1" u="none" dirty="0" err="1">
                <a:solidFill>
                  <a:schemeClr val="tx1"/>
                </a:solidFill>
                <a:ea typeface="宋体" pitchFamily="2" charset="-122"/>
              </a:rPr>
              <a:t>jf</a:t>
            </a:r>
            <a:r>
              <a:rPr kumimoji="0" lang="en-US" altLang="zh-CN" sz="2000" u="none" dirty="0">
                <a:solidFill>
                  <a:schemeClr val="tx1"/>
                </a:solidFill>
                <a:ea typeface="宋体" pitchFamily="2" charset="-122"/>
              </a:rPr>
              <a:t>) |</a:t>
            </a:r>
            <a:r>
              <a:rPr kumimoji="0" lang="en-US" altLang="zh-CN" sz="2000" u="none" baseline="30000" dirty="0">
                <a:solidFill>
                  <a:schemeClr val="tx1"/>
                </a:solidFill>
                <a:ea typeface="宋体" pitchFamily="2" charset="-122"/>
              </a:rPr>
              <a:t>2</a:t>
            </a:r>
            <a:r>
              <a:rPr kumimoji="0" lang="en-US" altLang="zh-CN" sz="2000" u="none" dirty="0">
                <a:solidFill>
                  <a:schemeClr val="tx1"/>
                </a:solidFill>
                <a:ea typeface="宋体" pitchFamily="2" charset="-122"/>
              </a:rPr>
              <a:t> ·</a:t>
            </a:r>
            <a:r>
              <a:rPr kumimoji="0" lang="en-US" altLang="zh-CN" sz="2000" u="none" dirty="0" err="1">
                <a:solidFill>
                  <a:schemeClr val="tx1"/>
                </a:solidFill>
                <a:ea typeface="宋体" pitchFamily="2" charset="-122"/>
              </a:rPr>
              <a:t>S</a:t>
            </a:r>
            <a:r>
              <a:rPr kumimoji="0" lang="en-US" altLang="zh-CN" sz="2000" i="1" u="none" baseline="-25000" dirty="0" err="1">
                <a:solidFill>
                  <a:schemeClr val="tx1"/>
                </a:solidFill>
                <a:ea typeface="宋体" pitchFamily="2" charset="-122"/>
              </a:rPr>
              <a:t>x</a:t>
            </a:r>
            <a:r>
              <a:rPr kumimoji="0" lang="en-US" altLang="zh-CN" sz="2000" u="none" dirty="0">
                <a:solidFill>
                  <a:schemeClr val="tx1"/>
                </a:solidFill>
                <a:ea typeface="宋体" pitchFamily="2" charset="-122"/>
              </a:rPr>
              <a:t>(</a:t>
            </a:r>
            <a:r>
              <a:rPr kumimoji="0" lang="en-US" altLang="zh-CN" sz="2000" i="1" u="none" dirty="0" err="1">
                <a:solidFill>
                  <a:schemeClr val="tx1"/>
                </a:solidFill>
                <a:ea typeface="宋体" pitchFamily="2" charset="-122"/>
              </a:rPr>
              <a:t>jf</a:t>
            </a:r>
            <a:r>
              <a:rPr kumimoji="0" lang="en-US" altLang="zh-CN" sz="2000" u="none" dirty="0">
                <a:solidFill>
                  <a:schemeClr val="tx1"/>
                </a:solidFill>
                <a:ea typeface="宋体" pitchFamily="2" charset="-122"/>
              </a:rPr>
              <a:t>) </a:t>
            </a:r>
          </a:p>
        </p:txBody>
      </p:sp>
      <p:sp>
        <p:nvSpPr>
          <p:cNvPr id="549899" name="Rectangle 11"/>
          <p:cNvSpPr>
            <a:spLocks noChangeArrowheads="1"/>
          </p:cNvSpPr>
          <p:nvPr/>
        </p:nvSpPr>
        <p:spPr bwMode="auto">
          <a:xfrm>
            <a:off x="8147050" y="854075"/>
            <a:ext cx="812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kumimoji="0" lang="en-US" altLang="zh-CN" sz="1800" b="1" u="none" dirty="0" smtClean="0">
                <a:solidFill>
                  <a:srgbClr val="FF3300"/>
                </a:solidFill>
                <a:ea typeface="宋体" pitchFamily="2" charset="-122"/>
              </a:rPr>
              <a:t>(</a:t>
            </a:r>
            <a:r>
              <a:rPr kumimoji="0" lang="en-US" altLang="zh-CN" sz="1800" b="1" u="none" dirty="0" smtClean="0">
                <a:solidFill>
                  <a:srgbClr val="FF3300"/>
                </a:solidFill>
              </a:rPr>
              <a:t>5-</a:t>
            </a:r>
            <a:r>
              <a:rPr kumimoji="0" lang="en-US" altLang="zh-CN" sz="1800" b="1" u="none" dirty="0" smtClean="0">
                <a:solidFill>
                  <a:srgbClr val="FF3300"/>
                </a:solidFill>
                <a:ea typeface="宋体" pitchFamily="2" charset="-122"/>
              </a:rPr>
              <a:t>35</a:t>
            </a:r>
            <a:r>
              <a:rPr kumimoji="0" lang="en-US" altLang="zh-CN" sz="1800" b="1" u="none" dirty="0">
                <a:solidFill>
                  <a:srgbClr val="FF3300"/>
                </a:solidFill>
                <a:ea typeface="宋体" pitchFamily="2" charset="-122"/>
              </a:rPr>
              <a:t>) </a:t>
            </a:r>
          </a:p>
        </p:txBody>
      </p:sp>
      <p:graphicFrame>
        <p:nvGraphicFramePr>
          <p:cNvPr id="549900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75560864"/>
              </p:ext>
            </p:extLst>
          </p:nvPr>
        </p:nvGraphicFramePr>
        <p:xfrm>
          <a:off x="615950" y="981075"/>
          <a:ext cx="3989388" cy="735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0170" name="公式" r:id="rId7" imgW="2641600" imgH="482600" progId="Equation.3">
                  <p:embed/>
                </p:oleObj>
              </mc:Choice>
              <mc:Fallback>
                <p:oleObj name="公式" r:id="rId7" imgW="2641600" imgH="4826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5950" y="981075"/>
                        <a:ext cx="3989388" cy="735012"/>
                      </a:xfrm>
                      <a:prstGeom prst="rect">
                        <a:avLst/>
                      </a:prstGeom>
                      <a:solidFill>
                        <a:srgbClr val="FFCC99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9901" name="Rectangle 13"/>
          <p:cNvSpPr>
            <a:spLocks noChangeArrowheads="1"/>
          </p:cNvSpPr>
          <p:nvPr/>
        </p:nvSpPr>
        <p:spPr bwMode="auto">
          <a:xfrm>
            <a:off x="4699000" y="887413"/>
            <a:ext cx="85566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kumimoji="0" lang="en-US" altLang="zh-CN" sz="1800" b="1" u="none" dirty="0" smtClean="0">
                <a:solidFill>
                  <a:srgbClr val="FF3300"/>
                </a:solidFill>
                <a:ea typeface="宋体" pitchFamily="2" charset="-122"/>
              </a:rPr>
              <a:t>(</a:t>
            </a:r>
            <a:r>
              <a:rPr kumimoji="0" lang="en-US" altLang="zh-CN" sz="1800" b="1" u="none" dirty="0" smtClean="0">
                <a:solidFill>
                  <a:srgbClr val="FF3300"/>
                </a:solidFill>
              </a:rPr>
              <a:t>5</a:t>
            </a:r>
            <a:r>
              <a:rPr kumimoji="0" lang="en-US" altLang="zh-CN" b="1" u="none" dirty="0" smtClean="0">
                <a:solidFill>
                  <a:srgbClr val="FF3300"/>
                </a:solidFill>
              </a:rPr>
              <a:t>-</a:t>
            </a:r>
            <a:r>
              <a:rPr kumimoji="0" lang="en-US" altLang="zh-CN" sz="1800" b="1" u="none" dirty="0" smtClean="0">
                <a:solidFill>
                  <a:srgbClr val="FF3300"/>
                </a:solidFill>
                <a:ea typeface="宋体" pitchFamily="2" charset="-122"/>
              </a:rPr>
              <a:t>42</a:t>
            </a:r>
            <a:r>
              <a:rPr kumimoji="0" lang="en-US" altLang="zh-CN" sz="1800" b="1" u="none" dirty="0">
                <a:solidFill>
                  <a:srgbClr val="FF3300"/>
                </a:solidFill>
                <a:ea typeface="宋体" pitchFamily="2" charset="-122"/>
              </a:rPr>
              <a:t>) </a:t>
            </a:r>
          </a:p>
        </p:txBody>
      </p:sp>
      <p:graphicFrame>
        <p:nvGraphicFramePr>
          <p:cNvPr id="549903" name="Object 15"/>
          <p:cNvGraphicFramePr>
            <a:graphicFrameLocks noChangeAspect="1"/>
          </p:cNvGraphicFramePr>
          <p:nvPr/>
        </p:nvGraphicFramePr>
        <p:xfrm>
          <a:off x="1027113" y="2314575"/>
          <a:ext cx="3051175" cy="996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0171" name="公式" r:id="rId9" imgW="1485720" imgH="482400" progId="Equation.3">
                  <p:embed/>
                </p:oleObj>
              </mc:Choice>
              <mc:Fallback>
                <p:oleObj name="公式" r:id="rId9" imgW="1485720" imgH="48240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27113" y="2314575"/>
                        <a:ext cx="3051175" cy="996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9904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44537663"/>
              </p:ext>
            </p:extLst>
          </p:nvPr>
        </p:nvGraphicFramePr>
        <p:xfrm>
          <a:off x="1908176" y="4449233"/>
          <a:ext cx="2732087" cy="1100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0172" name="Equation" r:id="rId11" imgW="1168200" imgH="469800" progId="Equation.DSMT4">
                  <p:embed/>
                </p:oleObj>
              </mc:Choice>
              <mc:Fallback>
                <p:oleObj name="Equation" r:id="rId11" imgW="1168200" imgH="469800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8176" y="4449233"/>
                        <a:ext cx="2732087" cy="1100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9905" name="Rectangle 17"/>
          <p:cNvSpPr>
            <a:spLocks noChangeArrowheads="1"/>
          </p:cNvSpPr>
          <p:nvPr/>
        </p:nvSpPr>
        <p:spPr bwMode="auto">
          <a:xfrm>
            <a:off x="573088" y="5629275"/>
            <a:ext cx="7550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buClr>
                <a:srgbClr val="FF3300"/>
              </a:buClr>
              <a:buFont typeface="Wingdings" pitchFamily="2" charset="2"/>
              <a:buChar char="Ø"/>
            </a:pPr>
            <a:r>
              <a:rPr kumimoji="0" lang="zh-CN" altLang="en-US" sz="2400" b="1" u="none" dirty="0">
                <a:solidFill>
                  <a:schemeClr val="tx1"/>
                </a:solidFill>
              </a:rPr>
              <a:t>表明：对于线性系统，</a:t>
            </a:r>
            <a:r>
              <a:rPr kumimoji="0" lang="zh-CN" altLang="en-US" sz="2400" b="1" u="none" dirty="0">
                <a:solidFill>
                  <a:srgbClr val="FF0000"/>
                </a:solidFill>
              </a:rPr>
              <a:t>输出完全是由输入引起的响应 </a:t>
            </a:r>
          </a:p>
        </p:txBody>
      </p:sp>
      <p:sp>
        <p:nvSpPr>
          <p:cNvPr id="549906" name="Line 18"/>
          <p:cNvSpPr>
            <a:spLocks noChangeShapeType="1"/>
          </p:cNvSpPr>
          <p:nvPr/>
        </p:nvSpPr>
        <p:spPr bwMode="auto">
          <a:xfrm>
            <a:off x="5427663" y="981075"/>
            <a:ext cx="0" cy="338455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" name="Rectangle 18"/>
          <p:cNvSpPr>
            <a:spLocks noChangeArrowheads="1"/>
          </p:cNvSpPr>
          <p:nvPr/>
        </p:nvSpPr>
        <p:spPr bwMode="auto">
          <a:xfrm>
            <a:off x="269876" y="263642"/>
            <a:ext cx="4335462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sz="3200" b="1" u="none" dirty="0" smtClean="0">
                <a:solidFill>
                  <a:srgbClr val="800000"/>
                </a:solidFill>
              </a:rPr>
              <a:t>5.4 </a:t>
            </a:r>
            <a:r>
              <a:rPr lang="zh-CN" altLang="en-US" sz="3200" b="1" u="none" dirty="0">
                <a:solidFill>
                  <a:srgbClr val="800000"/>
                </a:solidFill>
              </a:rPr>
              <a:t>功率谱分析及应用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498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498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498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498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498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498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498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498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498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498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499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499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9895" grpId="0"/>
      <p:bldP spid="549897" grpId="0"/>
      <p:bldP spid="549898" grpId="0"/>
      <p:bldP spid="549899" grpId="0"/>
      <p:bldP spid="549905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6169" name="Picture 9" descr="y043"/>
          <p:cNvPicPr>
            <a:picLocks noGrp="1" noChangeAspect="1" noChangeArrowheads="1"/>
          </p:cNvPicPr>
          <p:nvPr>
            <p:ph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441450" y="993776"/>
            <a:ext cx="5886450" cy="5389440"/>
          </a:xfrm>
          <a:ln/>
        </p:spPr>
      </p:pic>
      <p:sp>
        <p:nvSpPr>
          <p:cNvPr id="476172" name="Text Box 12"/>
          <p:cNvSpPr txBox="1">
            <a:spLocks noChangeArrowheads="1"/>
          </p:cNvSpPr>
          <p:nvPr/>
        </p:nvSpPr>
        <p:spPr bwMode="auto">
          <a:xfrm>
            <a:off x="6524625" y="931010"/>
            <a:ext cx="2619375" cy="1015663"/>
          </a:xfrm>
          <a:prstGeom prst="rect">
            <a:avLst/>
          </a:prstGeom>
          <a:solidFill>
            <a:srgbClr val="99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000" b="1" u="none">
                <a:solidFill>
                  <a:srgbClr val="336600"/>
                </a:solidFill>
                <a:ea typeface="华文新魏" pitchFamily="2" charset="-122"/>
              </a:rPr>
              <a:t>船用柴油机润滑油泵压油管振动和压力脉动间的相干分析</a:t>
            </a:r>
          </a:p>
        </p:txBody>
      </p:sp>
      <p:sp>
        <p:nvSpPr>
          <p:cNvPr id="476173" name="Text Box 13"/>
          <p:cNvSpPr txBox="1">
            <a:spLocks noChangeArrowheads="1"/>
          </p:cNvSpPr>
          <p:nvPr/>
        </p:nvSpPr>
        <p:spPr bwMode="auto">
          <a:xfrm>
            <a:off x="3586163" y="990600"/>
            <a:ext cx="2416175" cy="519113"/>
          </a:xfrm>
          <a:prstGeom prst="rect">
            <a:avLst/>
          </a:prstGeom>
          <a:solidFill>
            <a:srgbClr val="CC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 u="none">
                <a:solidFill>
                  <a:srgbClr val="FF0000"/>
                </a:solidFill>
                <a:ea typeface="华文楷体" pitchFamily="2" charset="-122"/>
              </a:rPr>
              <a:t>油压脉动自谱</a:t>
            </a:r>
          </a:p>
        </p:txBody>
      </p:sp>
      <p:sp>
        <p:nvSpPr>
          <p:cNvPr id="476174" name="Text Box 14"/>
          <p:cNvSpPr txBox="1">
            <a:spLocks noChangeArrowheads="1"/>
          </p:cNvSpPr>
          <p:nvPr/>
        </p:nvSpPr>
        <p:spPr bwMode="auto">
          <a:xfrm>
            <a:off x="3721100" y="3455988"/>
            <a:ext cx="2338388" cy="519112"/>
          </a:xfrm>
          <a:prstGeom prst="rect">
            <a:avLst/>
          </a:prstGeom>
          <a:solidFill>
            <a:srgbClr val="CC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 u="none">
                <a:ea typeface="华文楷体" pitchFamily="2" charset="-122"/>
              </a:rPr>
              <a:t>油管振动自谱</a:t>
            </a:r>
          </a:p>
        </p:txBody>
      </p:sp>
      <p:sp>
        <p:nvSpPr>
          <p:cNvPr id="8" name="Rectangle 18"/>
          <p:cNvSpPr>
            <a:spLocks noChangeArrowheads="1"/>
          </p:cNvSpPr>
          <p:nvPr/>
        </p:nvSpPr>
        <p:spPr bwMode="auto">
          <a:xfrm>
            <a:off x="269876" y="263642"/>
            <a:ext cx="4335462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sz="3200" b="1" u="none" dirty="0" smtClean="0">
                <a:solidFill>
                  <a:srgbClr val="800000"/>
                </a:solidFill>
              </a:rPr>
              <a:t>5.4 </a:t>
            </a:r>
            <a:r>
              <a:rPr lang="zh-CN" altLang="en-US" sz="3200" b="1" u="none" dirty="0">
                <a:solidFill>
                  <a:srgbClr val="800000"/>
                </a:solidFill>
              </a:rPr>
              <a:t>功率谱分析及应用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http://img12.360buyimg.com/popWaterMark/jfs/t1420/324/266426672/115705/f6946188/556b19d7Nd5d7e33e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167" b="5833"/>
          <a:stretch>
            <a:fillRect/>
          </a:stretch>
        </p:blipFill>
        <p:spPr bwMode="auto">
          <a:xfrm>
            <a:off x="1691680" y="961365"/>
            <a:ext cx="7315200" cy="534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493211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默认设计模板">
  <a:themeElements>
    <a:clrScheme name="1_默认设计模板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1_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800" b="0" i="0" u="sng" strike="noStrike" cap="none" normalizeH="0" baseline="0" smtClean="0">
            <a:ln>
              <a:noFill/>
            </a:ln>
            <a:solidFill>
              <a:srgbClr val="993300"/>
            </a:solidFill>
            <a:effectLst/>
            <a:latin typeface="Times New Roman" pitchFamily="18" charset="0"/>
            <a:ea typeface="黑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800" b="0" i="0" u="sng" strike="noStrike" cap="none" normalizeH="0" baseline="0" smtClean="0">
            <a:ln>
              <a:noFill/>
            </a:ln>
            <a:solidFill>
              <a:srgbClr val="993300"/>
            </a:solidFill>
            <a:effectLst/>
            <a:latin typeface="Times New Roman" pitchFamily="18" charset="0"/>
            <a:ea typeface="黑体" pitchFamily="2" charset="-122"/>
          </a:defRPr>
        </a:defPPr>
      </a:lstStyle>
    </a:lnDef>
  </a:objectDefaults>
  <a:extraClrSchemeLst>
    <a:extraClrScheme>
      <a:clrScheme name="1_默认设计模板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whc">
  <a:themeElements>
    <a:clrScheme name="whc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whc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800" b="0" i="0" u="sng" strike="noStrike" cap="none" normalizeH="0" baseline="0" smtClean="0">
            <a:ln>
              <a:noFill/>
            </a:ln>
            <a:solidFill>
              <a:srgbClr val="993300"/>
            </a:solidFill>
            <a:effectLst/>
            <a:latin typeface="Times New Roman" pitchFamily="18" charset="0"/>
            <a:ea typeface="黑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800" b="0" i="0" u="sng" strike="noStrike" cap="none" normalizeH="0" baseline="0" smtClean="0">
            <a:ln>
              <a:noFill/>
            </a:ln>
            <a:solidFill>
              <a:srgbClr val="993300"/>
            </a:solidFill>
            <a:effectLst/>
            <a:latin typeface="Times New Roman" pitchFamily="18" charset="0"/>
            <a:ea typeface="黑体" pitchFamily="2" charset="-122"/>
          </a:defRPr>
        </a:defPPr>
      </a:lstStyle>
    </a:lnDef>
  </a:objectDefaults>
  <a:extraClrSchemeLst>
    <a:extraClrScheme>
      <a:clrScheme name="whc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hc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hc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hc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hc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hc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hc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hc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hc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hc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hc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hc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10036</TotalTime>
  <Words>3030</Words>
  <Application>Microsoft Office PowerPoint</Application>
  <PresentationFormat>全屏显示(4:3)</PresentationFormat>
  <Paragraphs>416</Paragraphs>
  <Slides>53</Slides>
  <Notes>0</Notes>
  <HiddenSlides>0</HiddenSlides>
  <MMClips>0</MMClips>
  <ScaleCrop>false</ScaleCrop>
  <HeadingPairs>
    <vt:vector size="6" baseType="variant">
      <vt:variant>
        <vt:lpstr>主题</vt:lpstr>
      </vt:variant>
      <vt:variant>
        <vt:i4>2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53</vt:i4>
      </vt:variant>
    </vt:vector>
  </HeadingPairs>
  <TitlesOfParts>
    <vt:vector size="58" baseType="lpstr">
      <vt:lpstr>1_默认设计模板</vt:lpstr>
      <vt:lpstr>whc</vt:lpstr>
      <vt:lpstr>Equation</vt:lpstr>
      <vt:lpstr>公式</vt:lpstr>
      <vt:lpstr>Visio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2.相关函数和相关系数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hust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windows</dc:creator>
  <cp:lastModifiedBy>ykq</cp:lastModifiedBy>
  <cp:revision>753</cp:revision>
  <dcterms:created xsi:type="dcterms:W3CDTF">2003-03-01T13:55:00Z</dcterms:created>
  <dcterms:modified xsi:type="dcterms:W3CDTF">2016-10-25T14:44:19Z</dcterms:modified>
</cp:coreProperties>
</file>