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8" r:id="rId3"/>
    <p:sldId id="263" r:id="rId4"/>
    <p:sldId id="264" r:id="rId5"/>
    <p:sldId id="265" r:id="rId6"/>
    <p:sldId id="302" r:id="rId7"/>
    <p:sldId id="303" r:id="rId8"/>
    <p:sldId id="259" r:id="rId9"/>
    <p:sldId id="304" r:id="rId10"/>
    <p:sldId id="298" r:id="rId11"/>
    <p:sldId id="270" r:id="rId12"/>
    <p:sldId id="305" r:id="rId13"/>
    <p:sldId id="269" r:id="rId14"/>
    <p:sldId id="273" r:id="rId15"/>
    <p:sldId id="274" r:id="rId16"/>
    <p:sldId id="275" r:id="rId17"/>
    <p:sldId id="276" r:id="rId18"/>
    <p:sldId id="277" r:id="rId19"/>
    <p:sldId id="299" r:id="rId20"/>
    <p:sldId id="300" r:id="rId21"/>
    <p:sldId id="301" r:id="rId22"/>
    <p:sldId id="306" r:id="rId23"/>
    <p:sldId id="279" r:id="rId24"/>
    <p:sldId id="307" r:id="rId25"/>
    <p:sldId id="281" r:id="rId26"/>
    <p:sldId id="282" r:id="rId27"/>
    <p:sldId id="308" r:id="rId28"/>
    <p:sldId id="309" r:id="rId29"/>
    <p:sldId id="261" r:id="rId30"/>
    <p:sldId id="285" r:id="rId31"/>
    <p:sldId id="310" r:id="rId32"/>
    <p:sldId id="288" r:id="rId33"/>
    <p:sldId id="289" r:id="rId34"/>
    <p:sldId id="311" r:id="rId35"/>
    <p:sldId id="262" r:id="rId36"/>
    <p:sldId id="315" r:id="rId37"/>
    <p:sldId id="293" r:id="rId38"/>
    <p:sldId id="295" r:id="rId39"/>
    <p:sldId id="296" r:id="rId40"/>
    <p:sldId id="317" r:id="rId41"/>
  </p:sldIdLst>
  <p:sldSz cx="9144000" cy="6858000" type="screen4x3"/>
  <p:notesSz cx="6858000" cy="9144000"/>
  <p:defaultTextStyle>
    <a:defPPr>
      <a:defRPr lang="zh-CN"/>
    </a:defPPr>
    <a:lvl1pPr algn="ctr" rtl="0" fontAlgn="base">
      <a:spcBef>
        <a:spcPct val="0"/>
      </a:spcBef>
      <a:spcAft>
        <a:spcPct val="0"/>
      </a:spcAft>
      <a:defRPr kern="1200">
        <a:solidFill>
          <a:schemeClr val="tx1"/>
        </a:solidFill>
        <a:latin typeface="Arial" charset="0"/>
        <a:ea typeface="宋体" pitchFamily="2" charset="-122"/>
        <a:cs typeface="+mn-cs"/>
      </a:defRPr>
    </a:lvl1pPr>
    <a:lvl2pPr marL="457200" algn="ctr" rtl="0" fontAlgn="base">
      <a:spcBef>
        <a:spcPct val="0"/>
      </a:spcBef>
      <a:spcAft>
        <a:spcPct val="0"/>
      </a:spcAft>
      <a:defRPr kern="1200">
        <a:solidFill>
          <a:schemeClr val="tx1"/>
        </a:solidFill>
        <a:latin typeface="Arial" charset="0"/>
        <a:ea typeface="宋体" pitchFamily="2" charset="-122"/>
        <a:cs typeface="+mn-cs"/>
      </a:defRPr>
    </a:lvl2pPr>
    <a:lvl3pPr marL="914400" algn="ctr" rtl="0" fontAlgn="base">
      <a:spcBef>
        <a:spcPct val="0"/>
      </a:spcBef>
      <a:spcAft>
        <a:spcPct val="0"/>
      </a:spcAft>
      <a:defRPr kern="1200">
        <a:solidFill>
          <a:schemeClr val="tx1"/>
        </a:solidFill>
        <a:latin typeface="Arial" charset="0"/>
        <a:ea typeface="宋体" pitchFamily="2" charset="-122"/>
        <a:cs typeface="+mn-cs"/>
      </a:defRPr>
    </a:lvl3pPr>
    <a:lvl4pPr marL="1371600" algn="ctr" rtl="0" fontAlgn="base">
      <a:spcBef>
        <a:spcPct val="0"/>
      </a:spcBef>
      <a:spcAft>
        <a:spcPct val="0"/>
      </a:spcAft>
      <a:defRPr kern="1200">
        <a:solidFill>
          <a:schemeClr val="tx1"/>
        </a:solidFill>
        <a:latin typeface="Arial" charset="0"/>
        <a:ea typeface="宋体" pitchFamily="2" charset="-122"/>
        <a:cs typeface="+mn-cs"/>
      </a:defRPr>
    </a:lvl4pPr>
    <a:lvl5pPr marL="1828800" algn="ctr"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FF0000"/>
    <a:srgbClr val="008000"/>
    <a:srgbClr val="FF9900"/>
    <a:srgbClr val="9900CC"/>
    <a:srgbClr val="FF6600"/>
    <a:srgbClr val="CC0000"/>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8" d="100"/>
          <a:sy n="108" d="100"/>
        </p:scale>
        <p:origin x="-1692"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image" Target="../media/image11.emf"/><Relationship Id="rId7" Type="http://schemas.openxmlformats.org/officeDocument/2006/relationships/image" Target="../media/image15.emf"/><Relationship Id="rId2" Type="http://schemas.openxmlformats.org/officeDocument/2006/relationships/image" Target="../media/image10.emf"/><Relationship Id="rId1" Type="http://schemas.openxmlformats.org/officeDocument/2006/relationships/image" Target="../media/image9.emf"/><Relationship Id="rId6" Type="http://schemas.openxmlformats.org/officeDocument/2006/relationships/image" Target="../media/image14.emf"/><Relationship Id="rId5" Type="http://schemas.openxmlformats.org/officeDocument/2006/relationships/image" Target="../media/image13.emf"/><Relationship Id="rId10" Type="http://schemas.openxmlformats.org/officeDocument/2006/relationships/image" Target="../media/image18.emf"/><Relationship Id="rId4" Type="http://schemas.openxmlformats.org/officeDocument/2006/relationships/image" Target="../media/image12.emf"/><Relationship Id="rId9"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7.emf"/><Relationship Id="rId13" Type="http://schemas.openxmlformats.org/officeDocument/2006/relationships/image" Target="../media/image32.emf"/><Relationship Id="rId3" Type="http://schemas.openxmlformats.org/officeDocument/2006/relationships/image" Target="../media/image22.emf"/><Relationship Id="rId7" Type="http://schemas.openxmlformats.org/officeDocument/2006/relationships/image" Target="../media/image26.emf"/><Relationship Id="rId12" Type="http://schemas.openxmlformats.org/officeDocument/2006/relationships/image" Target="../media/image31.emf"/><Relationship Id="rId2" Type="http://schemas.openxmlformats.org/officeDocument/2006/relationships/image" Target="../media/image21.emf"/><Relationship Id="rId16" Type="http://schemas.openxmlformats.org/officeDocument/2006/relationships/image" Target="../media/image35.emf"/><Relationship Id="rId1" Type="http://schemas.openxmlformats.org/officeDocument/2006/relationships/image" Target="../media/image20.emf"/><Relationship Id="rId6" Type="http://schemas.openxmlformats.org/officeDocument/2006/relationships/image" Target="../media/image25.emf"/><Relationship Id="rId11" Type="http://schemas.openxmlformats.org/officeDocument/2006/relationships/image" Target="../media/image30.emf"/><Relationship Id="rId5" Type="http://schemas.openxmlformats.org/officeDocument/2006/relationships/image" Target="../media/image24.emf"/><Relationship Id="rId15" Type="http://schemas.openxmlformats.org/officeDocument/2006/relationships/image" Target="../media/image34.emf"/><Relationship Id="rId10" Type="http://schemas.openxmlformats.org/officeDocument/2006/relationships/image" Target="../media/image29.emf"/><Relationship Id="rId4" Type="http://schemas.openxmlformats.org/officeDocument/2006/relationships/image" Target="../media/image23.emf"/><Relationship Id="rId9" Type="http://schemas.openxmlformats.org/officeDocument/2006/relationships/image" Target="../media/image28.emf"/><Relationship Id="rId14" Type="http://schemas.openxmlformats.org/officeDocument/2006/relationships/image" Target="../media/image33.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image" Target="../media/image36.emf"/><Relationship Id="rId5" Type="http://schemas.openxmlformats.org/officeDocument/2006/relationships/image" Target="../media/image40.emf"/><Relationship Id="rId4" Type="http://schemas.openxmlformats.org/officeDocument/2006/relationships/image" Target="../media/image39.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image" Target="../media/image53.emf"/><Relationship Id="rId3" Type="http://schemas.openxmlformats.org/officeDocument/2006/relationships/image" Target="../media/image43.emf"/><Relationship Id="rId7" Type="http://schemas.openxmlformats.org/officeDocument/2006/relationships/image" Target="../media/image47.emf"/><Relationship Id="rId12" Type="http://schemas.openxmlformats.org/officeDocument/2006/relationships/image" Target="../media/image52.emf"/><Relationship Id="rId2" Type="http://schemas.openxmlformats.org/officeDocument/2006/relationships/image" Target="../media/image42.emf"/><Relationship Id="rId1" Type="http://schemas.openxmlformats.org/officeDocument/2006/relationships/image" Target="../media/image41.emf"/><Relationship Id="rId6" Type="http://schemas.openxmlformats.org/officeDocument/2006/relationships/image" Target="../media/image46.emf"/><Relationship Id="rId11" Type="http://schemas.openxmlformats.org/officeDocument/2006/relationships/image" Target="../media/image51.emf"/><Relationship Id="rId5" Type="http://schemas.openxmlformats.org/officeDocument/2006/relationships/image" Target="../media/image45.emf"/><Relationship Id="rId15" Type="http://schemas.openxmlformats.org/officeDocument/2006/relationships/image" Target="../media/image55.emf"/><Relationship Id="rId10" Type="http://schemas.openxmlformats.org/officeDocument/2006/relationships/image" Target="../media/image50.emf"/><Relationship Id="rId4" Type="http://schemas.openxmlformats.org/officeDocument/2006/relationships/image" Target="../media/image44.emf"/><Relationship Id="rId9" Type="http://schemas.openxmlformats.org/officeDocument/2006/relationships/image" Target="../media/image49.emf"/><Relationship Id="rId14" Type="http://schemas.openxmlformats.org/officeDocument/2006/relationships/image" Target="../media/image54.e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image" Target="../media/image58.emf"/><Relationship Id="rId7" Type="http://schemas.openxmlformats.org/officeDocument/2006/relationships/image" Target="../media/image62.emf"/><Relationship Id="rId2" Type="http://schemas.openxmlformats.org/officeDocument/2006/relationships/image" Target="../media/image57.emf"/><Relationship Id="rId1" Type="http://schemas.openxmlformats.org/officeDocument/2006/relationships/image" Target="../media/image56.emf"/><Relationship Id="rId6" Type="http://schemas.openxmlformats.org/officeDocument/2006/relationships/image" Target="../media/image61.emf"/><Relationship Id="rId5" Type="http://schemas.openxmlformats.org/officeDocument/2006/relationships/image" Target="../media/image60.emf"/><Relationship Id="rId4" Type="http://schemas.openxmlformats.org/officeDocument/2006/relationships/image" Target="../media/image59.emf"/><Relationship Id="rId9" Type="http://schemas.openxmlformats.org/officeDocument/2006/relationships/image" Target="../media/image64.e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74.emf"/><Relationship Id="rId3" Type="http://schemas.openxmlformats.org/officeDocument/2006/relationships/image" Target="../media/image69.emf"/><Relationship Id="rId7" Type="http://schemas.openxmlformats.org/officeDocument/2006/relationships/image" Target="../media/image73.emf"/><Relationship Id="rId2" Type="http://schemas.openxmlformats.org/officeDocument/2006/relationships/image" Target="../media/image68.emf"/><Relationship Id="rId1" Type="http://schemas.openxmlformats.org/officeDocument/2006/relationships/image" Target="../media/image67.emf"/><Relationship Id="rId6" Type="http://schemas.openxmlformats.org/officeDocument/2006/relationships/image" Target="../media/image72.emf"/><Relationship Id="rId5" Type="http://schemas.openxmlformats.org/officeDocument/2006/relationships/image" Target="../media/image71.emf"/><Relationship Id="rId4" Type="http://schemas.openxmlformats.org/officeDocument/2006/relationships/image" Target="../media/image70.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82.emf"/><Relationship Id="rId13" Type="http://schemas.openxmlformats.org/officeDocument/2006/relationships/image" Target="../media/image87.emf"/><Relationship Id="rId18" Type="http://schemas.openxmlformats.org/officeDocument/2006/relationships/image" Target="../media/image92.emf"/><Relationship Id="rId3" Type="http://schemas.openxmlformats.org/officeDocument/2006/relationships/image" Target="../media/image77.emf"/><Relationship Id="rId7" Type="http://schemas.openxmlformats.org/officeDocument/2006/relationships/image" Target="../media/image81.emf"/><Relationship Id="rId12" Type="http://schemas.openxmlformats.org/officeDocument/2006/relationships/image" Target="../media/image86.emf"/><Relationship Id="rId17" Type="http://schemas.openxmlformats.org/officeDocument/2006/relationships/image" Target="../media/image91.emf"/><Relationship Id="rId2" Type="http://schemas.openxmlformats.org/officeDocument/2006/relationships/image" Target="../media/image76.emf"/><Relationship Id="rId16" Type="http://schemas.openxmlformats.org/officeDocument/2006/relationships/image" Target="../media/image90.emf"/><Relationship Id="rId20" Type="http://schemas.openxmlformats.org/officeDocument/2006/relationships/image" Target="../media/image94.emf"/><Relationship Id="rId1" Type="http://schemas.openxmlformats.org/officeDocument/2006/relationships/image" Target="../media/image75.emf"/><Relationship Id="rId6" Type="http://schemas.openxmlformats.org/officeDocument/2006/relationships/image" Target="../media/image80.emf"/><Relationship Id="rId11" Type="http://schemas.openxmlformats.org/officeDocument/2006/relationships/image" Target="../media/image85.emf"/><Relationship Id="rId5" Type="http://schemas.openxmlformats.org/officeDocument/2006/relationships/image" Target="../media/image79.emf"/><Relationship Id="rId15" Type="http://schemas.openxmlformats.org/officeDocument/2006/relationships/image" Target="../media/image89.emf"/><Relationship Id="rId10" Type="http://schemas.openxmlformats.org/officeDocument/2006/relationships/image" Target="../media/image84.emf"/><Relationship Id="rId19" Type="http://schemas.openxmlformats.org/officeDocument/2006/relationships/image" Target="../media/image93.emf"/><Relationship Id="rId4" Type="http://schemas.openxmlformats.org/officeDocument/2006/relationships/image" Target="../media/image78.emf"/><Relationship Id="rId9" Type="http://schemas.openxmlformats.org/officeDocument/2006/relationships/image" Target="../media/image83.emf"/><Relationship Id="rId14" Type="http://schemas.openxmlformats.org/officeDocument/2006/relationships/image" Target="../media/image88.e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102.emf"/><Relationship Id="rId13" Type="http://schemas.openxmlformats.org/officeDocument/2006/relationships/image" Target="../media/image107.emf"/><Relationship Id="rId3" Type="http://schemas.openxmlformats.org/officeDocument/2006/relationships/image" Target="../media/image97.emf"/><Relationship Id="rId7" Type="http://schemas.openxmlformats.org/officeDocument/2006/relationships/image" Target="../media/image101.emf"/><Relationship Id="rId12" Type="http://schemas.openxmlformats.org/officeDocument/2006/relationships/image" Target="../media/image106.emf"/><Relationship Id="rId2" Type="http://schemas.openxmlformats.org/officeDocument/2006/relationships/image" Target="../media/image96.emf"/><Relationship Id="rId1" Type="http://schemas.openxmlformats.org/officeDocument/2006/relationships/image" Target="../media/image95.emf"/><Relationship Id="rId6" Type="http://schemas.openxmlformats.org/officeDocument/2006/relationships/image" Target="../media/image100.emf"/><Relationship Id="rId11" Type="http://schemas.openxmlformats.org/officeDocument/2006/relationships/image" Target="../media/image105.emf"/><Relationship Id="rId5" Type="http://schemas.openxmlformats.org/officeDocument/2006/relationships/image" Target="../media/image99.emf"/><Relationship Id="rId15" Type="http://schemas.openxmlformats.org/officeDocument/2006/relationships/image" Target="../media/image109.emf"/><Relationship Id="rId10" Type="http://schemas.openxmlformats.org/officeDocument/2006/relationships/image" Target="../media/image104.emf"/><Relationship Id="rId4" Type="http://schemas.openxmlformats.org/officeDocument/2006/relationships/image" Target="../media/image98.emf"/><Relationship Id="rId9" Type="http://schemas.openxmlformats.org/officeDocument/2006/relationships/image" Target="../media/image103.emf"/><Relationship Id="rId14" Type="http://schemas.openxmlformats.org/officeDocument/2006/relationships/image" Target="../media/image108.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112.emf"/><Relationship Id="rId2" Type="http://schemas.openxmlformats.org/officeDocument/2006/relationships/image" Target="../media/image111.emf"/><Relationship Id="rId1" Type="http://schemas.openxmlformats.org/officeDocument/2006/relationships/image" Target="../media/image110.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115.emf"/><Relationship Id="rId2" Type="http://schemas.openxmlformats.org/officeDocument/2006/relationships/image" Target="../media/image114.emf"/><Relationship Id="rId1" Type="http://schemas.openxmlformats.org/officeDocument/2006/relationships/image" Target="../media/image113.emf"/><Relationship Id="rId4" Type="http://schemas.openxmlformats.org/officeDocument/2006/relationships/image" Target="../media/image116.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image" Target="../media/image118.emf"/><Relationship Id="rId1" Type="http://schemas.openxmlformats.org/officeDocument/2006/relationships/image" Target="../media/image117.emf"/><Relationship Id="rId5" Type="http://schemas.openxmlformats.org/officeDocument/2006/relationships/image" Target="../media/image121.emf"/><Relationship Id="rId4" Type="http://schemas.openxmlformats.org/officeDocument/2006/relationships/image" Target="../media/image120.e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29.emf"/><Relationship Id="rId13" Type="http://schemas.openxmlformats.org/officeDocument/2006/relationships/image" Target="../media/image134.emf"/><Relationship Id="rId3" Type="http://schemas.openxmlformats.org/officeDocument/2006/relationships/image" Target="../media/image124.emf"/><Relationship Id="rId7" Type="http://schemas.openxmlformats.org/officeDocument/2006/relationships/image" Target="../media/image128.emf"/><Relationship Id="rId12" Type="http://schemas.openxmlformats.org/officeDocument/2006/relationships/image" Target="../media/image133.emf"/><Relationship Id="rId2" Type="http://schemas.openxmlformats.org/officeDocument/2006/relationships/image" Target="../media/image123.emf"/><Relationship Id="rId1" Type="http://schemas.openxmlformats.org/officeDocument/2006/relationships/image" Target="../media/image122.emf"/><Relationship Id="rId6" Type="http://schemas.openxmlformats.org/officeDocument/2006/relationships/image" Target="../media/image127.emf"/><Relationship Id="rId11" Type="http://schemas.openxmlformats.org/officeDocument/2006/relationships/image" Target="../media/image132.emf"/><Relationship Id="rId5" Type="http://schemas.openxmlformats.org/officeDocument/2006/relationships/image" Target="../media/image126.emf"/><Relationship Id="rId15" Type="http://schemas.openxmlformats.org/officeDocument/2006/relationships/image" Target="../media/image136.emf"/><Relationship Id="rId10" Type="http://schemas.openxmlformats.org/officeDocument/2006/relationships/image" Target="../media/image131.emf"/><Relationship Id="rId4" Type="http://schemas.openxmlformats.org/officeDocument/2006/relationships/image" Target="../media/image125.emf"/><Relationship Id="rId9" Type="http://schemas.openxmlformats.org/officeDocument/2006/relationships/image" Target="../media/image130.emf"/><Relationship Id="rId14" Type="http://schemas.openxmlformats.org/officeDocument/2006/relationships/image" Target="../media/image135.e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44.emf"/><Relationship Id="rId3" Type="http://schemas.openxmlformats.org/officeDocument/2006/relationships/image" Target="../media/image139.emf"/><Relationship Id="rId7" Type="http://schemas.openxmlformats.org/officeDocument/2006/relationships/image" Target="../media/image143.emf"/><Relationship Id="rId12" Type="http://schemas.openxmlformats.org/officeDocument/2006/relationships/image" Target="../media/image148.emf"/><Relationship Id="rId2" Type="http://schemas.openxmlformats.org/officeDocument/2006/relationships/image" Target="../media/image138.emf"/><Relationship Id="rId1" Type="http://schemas.openxmlformats.org/officeDocument/2006/relationships/image" Target="../media/image137.emf"/><Relationship Id="rId6" Type="http://schemas.openxmlformats.org/officeDocument/2006/relationships/image" Target="../media/image142.emf"/><Relationship Id="rId11" Type="http://schemas.openxmlformats.org/officeDocument/2006/relationships/image" Target="../media/image147.emf"/><Relationship Id="rId5" Type="http://schemas.openxmlformats.org/officeDocument/2006/relationships/image" Target="../media/image141.emf"/><Relationship Id="rId10" Type="http://schemas.openxmlformats.org/officeDocument/2006/relationships/image" Target="../media/image146.emf"/><Relationship Id="rId4" Type="http://schemas.openxmlformats.org/officeDocument/2006/relationships/image" Target="../media/image140.emf"/><Relationship Id="rId9" Type="http://schemas.openxmlformats.org/officeDocument/2006/relationships/image" Target="../media/image145.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56.emf"/><Relationship Id="rId3" Type="http://schemas.openxmlformats.org/officeDocument/2006/relationships/image" Target="../media/image151.emf"/><Relationship Id="rId7" Type="http://schemas.openxmlformats.org/officeDocument/2006/relationships/image" Target="../media/image155.emf"/><Relationship Id="rId2" Type="http://schemas.openxmlformats.org/officeDocument/2006/relationships/image" Target="../media/image150.emf"/><Relationship Id="rId1" Type="http://schemas.openxmlformats.org/officeDocument/2006/relationships/image" Target="../media/image149.emf"/><Relationship Id="rId6" Type="http://schemas.openxmlformats.org/officeDocument/2006/relationships/image" Target="../media/image154.emf"/><Relationship Id="rId11" Type="http://schemas.openxmlformats.org/officeDocument/2006/relationships/image" Target="../media/image159.emf"/><Relationship Id="rId5" Type="http://schemas.openxmlformats.org/officeDocument/2006/relationships/image" Target="../media/image153.emf"/><Relationship Id="rId10" Type="http://schemas.openxmlformats.org/officeDocument/2006/relationships/image" Target="../media/image158.emf"/><Relationship Id="rId4" Type="http://schemas.openxmlformats.org/officeDocument/2006/relationships/image" Target="../media/image152.emf"/><Relationship Id="rId9" Type="http://schemas.openxmlformats.org/officeDocument/2006/relationships/image" Target="../media/image15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69.emf"/><Relationship Id="rId3" Type="http://schemas.openxmlformats.org/officeDocument/2006/relationships/image" Target="../media/image164.emf"/><Relationship Id="rId7" Type="http://schemas.openxmlformats.org/officeDocument/2006/relationships/image" Target="../media/image168.emf"/><Relationship Id="rId2" Type="http://schemas.openxmlformats.org/officeDocument/2006/relationships/image" Target="../media/image163.emf"/><Relationship Id="rId1" Type="http://schemas.openxmlformats.org/officeDocument/2006/relationships/image" Target="../media/image162.emf"/><Relationship Id="rId6" Type="http://schemas.openxmlformats.org/officeDocument/2006/relationships/image" Target="../media/image167.emf"/><Relationship Id="rId5" Type="http://schemas.openxmlformats.org/officeDocument/2006/relationships/image" Target="../media/image166.emf"/><Relationship Id="rId4" Type="http://schemas.openxmlformats.org/officeDocument/2006/relationships/image" Target="../media/image165.emf"/><Relationship Id="rId9" Type="http://schemas.openxmlformats.org/officeDocument/2006/relationships/image" Target="../media/image170.e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172.emf"/><Relationship Id="rId1" Type="http://schemas.openxmlformats.org/officeDocument/2006/relationships/image" Target="../media/image171.e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80.emf"/><Relationship Id="rId13" Type="http://schemas.openxmlformats.org/officeDocument/2006/relationships/image" Target="../media/image185.emf"/><Relationship Id="rId3" Type="http://schemas.openxmlformats.org/officeDocument/2006/relationships/image" Target="../media/image175.emf"/><Relationship Id="rId7" Type="http://schemas.openxmlformats.org/officeDocument/2006/relationships/image" Target="../media/image179.emf"/><Relationship Id="rId12" Type="http://schemas.openxmlformats.org/officeDocument/2006/relationships/image" Target="../media/image184.emf"/><Relationship Id="rId17" Type="http://schemas.openxmlformats.org/officeDocument/2006/relationships/image" Target="../media/image189.emf"/><Relationship Id="rId2" Type="http://schemas.openxmlformats.org/officeDocument/2006/relationships/image" Target="../media/image174.emf"/><Relationship Id="rId16" Type="http://schemas.openxmlformats.org/officeDocument/2006/relationships/image" Target="../media/image188.emf"/><Relationship Id="rId1" Type="http://schemas.openxmlformats.org/officeDocument/2006/relationships/image" Target="../media/image173.emf"/><Relationship Id="rId6" Type="http://schemas.openxmlformats.org/officeDocument/2006/relationships/image" Target="../media/image178.emf"/><Relationship Id="rId11" Type="http://schemas.openxmlformats.org/officeDocument/2006/relationships/image" Target="../media/image183.emf"/><Relationship Id="rId5" Type="http://schemas.openxmlformats.org/officeDocument/2006/relationships/image" Target="../media/image177.emf"/><Relationship Id="rId15" Type="http://schemas.openxmlformats.org/officeDocument/2006/relationships/image" Target="../media/image187.emf"/><Relationship Id="rId10" Type="http://schemas.openxmlformats.org/officeDocument/2006/relationships/image" Target="../media/image182.emf"/><Relationship Id="rId4" Type="http://schemas.openxmlformats.org/officeDocument/2006/relationships/image" Target="../media/image176.emf"/><Relationship Id="rId9" Type="http://schemas.openxmlformats.org/officeDocument/2006/relationships/image" Target="../media/image181.emf"/><Relationship Id="rId14" Type="http://schemas.openxmlformats.org/officeDocument/2006/relationships/image" Target="../media/image186.e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97.emf"/><Relationship Id="rId3" Type="http://schemas.openxmlformats.org/officeDocument/2006/relationships/image" Target="../media/image192.emf"/><Relationship Id="rId7" Type="http://schemas.openxmlformats.org/officeDocument/2006/relationships/image" Target="../media/image196.emf"/><Relationship Id="rId2" Type="http://schemas.openxmlformats.org/officeDocument/2006/relationships/image" Target="../media/image191.emf"/><Relationship Id="rId1" Type="http://schemas.openxmlformats.org/officeDocument/2006/relationships/image" Target="../media/image190.emf"/><Relationship Id="rId6" Type="http://schemas.openxmlformats.org/officeDocument/2006/relationships/image" Target="../media/image195.emf"/><Relationship Id="rId5" Type="http://schemas.openxmlformats.org/officeDocument/2006/relationships/image" Target="../media/image194.emf"/><Relationship Id="rId4" Type="http://schemas.openxmlformats.org/officeDocument/2006/relationships/image" Target="../media/image193.emf"/><Relationship Id="rId9" Type="http://schemas.openxmlformats.org/officeDocument/2006/relationships/image" Target="../media/image198.e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201.emf"/><Relationship Id="rId2" Type="http://schemas.openxmlformats.org/officeDocument/2006/relationships/image" Target="../media/image200.emf"/><Relationship Id="rId1" Type="http://schemas.openxmlformats.org/officeDocument/2006/relationships/image" Target="../media/image199.emf"/><Relationship Id="rId5" Type="http://schemas.openxmlformats.org/officeDocument/2006/relationships/image" Target="../media/image203.emf"/><Relationship Id="rId4" Type="http://schemas.openxmlformats.org/officeDocument/2006/relationships/image" Target="../media/image202.e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211.emf"/><Relationship Id="rId13" Type="http://schemas.openxmlformats.org/officeDocument/2006/relationships/image" Target="../media/image216.emf"/><Relationship Id="rId3" Type="http://schemas.openxmlformats.org/officeDocument/2006/relationships/image" Target="../media/image206.emf"/><Relationship Id="rId7" Type="http://schemas.openxmlformats.org/officeDocument/2006/relationships/image" Target="../media/image210.emf"/><Relationship Id="rId12" Type="http://schemas.openxmlformats.org/officeDocument/2006/relationships/image" Target="../media/image215.emf"/><Relationship Id="rId2" Type="http://schemas.openxmlformats.org/officeDocument/2006/relationships/image" Target="../media/image205.emf"/><Relationship Id="rId16" Type="http://schemas.openxmlformats.org/officeDocument/2006/relationships/image" Target="../media/image219.emf"/><Relationship Id="rId1" Type="http://schemas.openxmlformats.org/officeDocument/2006/relationships/image" Target="../media/image204.emf"/><Relationship Id="rId6" Type="http://schemas.openxmlformats.org/officeDocument/2006/relationships/image" Target="../media/image209.emf"/><Relationship Id="rId11" Type="http://schemas.openxmlformats.org/officeDocument/2006/relationships/image" Target="../media/image214.emf"/><Relationship Id="rId5" Type="http://schemas.openxmlformats.org/officeDocument/2006/relationships/image" Target="../media/image208.emf"/><Relationship Id="rId15" Type="http://schemas.openxmlformats.org/officeDocument/2006/relationships/image" Target="../media/image218.emf"/><Relationship Id="rId10" Type="http://schemas.openxmlformats.org/officeDocument/2006/relationships/image" Target="../media/image213.emf"/><Relationship Id="rId4" Type="http://schemas.openxmlformats.org/officeDocument/2006/relationships/image" Target="../media/image207.emf"/><Relationship Id="rId9" Type="http://schemas.openxmlformats.org/officeDocument/2006/relationships/image" Target="../media/image212.emf"/><Relationship Id="rId14" Type="http://schemas.openxmlformats.org/officeDocument/2006/relationships/image" Target="../media/image217.e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227.emf"/><Relationship Id="rId3" Type="http://schemas.openxmlformats.org/officeDocument/2006/relationships/image" Target="../media/image222.emf"/><Relationship Id="rId7" Type="http://schemas.openxmlformats.org/officeDocument/2006/relationships/image" Target="../media/image226.emf"/><Relationship Id="rId2" Type="http://schemas.openxmlformats.org/officeDocument/2006/relationships/image" Target="../media/image221.emf"/><Relationship Id="rId1" Type="http://schemas.openxmlformats.org/officeDocument/2006/relationships/image" Target="../media/image220.emf"/><Relationship Id="rId6" Type="http://schemas.openxmlformats.org/officeDocument/2006/relationships/image" Target="../media/image225.emf"/><Relationship Id="rId11" Type="http://schemas.openxmlformats.org/officeDocument/2006/relationships/image" Target="../media/image230.emf"/><Relationship Id="rId5" Type="http://schemas.openxmlformats.org/officeDocument/2006/relationships/image" Target="../media/image224.emf"/><Relationship Id="rId10" Type="http://schemas.openxmlformats.org/officeDocument/2006/relationships/image" Target="../media/image229.emf"/><Relationship Id="rId4" Type="http://schemas.openxmlformats.org/officeDocument/2006/relationships/image" Target="../media/image223.emf"/><Relationship Id="rId9" Type="http://schemas.openxmlformats.org/officeDocument/2006/relationships/image" Target="../media/image228.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233.emf"/><Relationship Id="rId2" Type="http://schemas.openxmlformats.org/officeDocument/2006/relationships/image" Target="../media/image232.emf"/><Relationship Id="rId1" Type="http://schemas.openxmlformats.org/officeDocument/2006/relationships/image" Target="../media/image231.emf"/><Relationship Id="rId4" Type="http://schemas.openxmlformats.org/officeDocument/2006/relationships/image" Target="../media/image234.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37.emf"/><Relationship Id="rId7" Type="http://schemas.openxmlformats.org/officeDocument/2006/relationships/image" Target="../media/image241.emf"/><Relationship Id="rId2" Type="http://schemas.openxmlformats.org/officeDocument/2006/relationships/image" Target="../media/image236.emf"/><Relationship Id="rId1" Type="http://schemas.openxmlformats.org/officeDocument/2006/relationships/image" Target="../media/image235.emf"/><Relationship Id="rId6" Type="http://schemas.openxmlformats.org/officeDocument/2006/relationships/image" Target="../media/image240.emf"/><Relationship Id="rId5" Type="http://schemas.openxmlformats.org/officeDocument/2006/relationships/image" Target="../media/image239.emf"/><Relationship Id="rId4" Type="http://schemas.openxmlformats.org/officeDocument/2006/relationships/image" Target="../media/image238.e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243.emf"/><Relationship Id="rId1" Type="http://schemas.openxmlformats.org/officeDocument/2006/relationships/image" Target="../media/image242.emf"/></Relationships>
</file>

<file path=ppt/drawings/_rels/vmlDrawing27.vml.rels><?xml version="1.0" encoding="UTF-8" standalone="yes"?>
<Relationships xmlns="http://schemas.openxmlformats.org/package/2006/relationships"><Relationship Id="rId8" Type="http://schemas.openxmlformats.org/officeDocument/2006/relationships/image" Target="../media/image251.emf"/><Relationship Id="rId3" Type="http://schemas.openxmlformats.org/officeDocument/2006/relationships/image" Target="../media/image246.emf"/><Relationship Id="rId7" Type="http://schemas.openxmlformats.org/officeDocument/2006/relationships/image" Target="../media/image250.emf"/><Relationship Id="rId2" Type="http://schemas.openxmlformats.org/officeDocument/2006/relationships/image" Target="../media/image245.emf"/><Relationship Id="rId1" Type="http://schemas.openxmlformats.org/officeDocument/2006/relationships/image" Target="../media/image244.emf"/><Relationship Id="rId6" Type="http://schemas.openxmlformats.org/officeDocument/2006/relationships/image" Target="../media/image249.emf"/><Relationship Id="rId11" Type="http://schemas.openxmlformats.org/officeDocument/2006/relationships/image" Target="../media/image254.emf"/><Relationship Id="rId5" Type="http://schemas.openxmlformats.org/officeDocument/2006/relationships/image" Target="../media/image248.emf"/><Relationship Id="rId10" Type="http://schemas.openxmlformats.org/officeDocument/2006/relationships/image" Target="../media/image253.emf"/><Relationship Id="rId4" Type="http://schemas.openxmlformats.org/officeDocument/2006/relationships/image" Target="../media/image247.emf"/><Relationship Id="rId9" Type="http://schemas.openxmlformats.org/officeDocument/2006/relationships/image" Target="../media/image252.e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257.emf"/><Relationship Id="rId2" Type="http://schemas.openxmlformats.org/officeDocument/2006/relationships/image" Target="../media/image256.emf"/><Relationship Id="rId1" Type="http://schemas.openxmlformats.org/officeDocument/2006/relationships/image" Target="../media/image255.emf"/><Relationship Id="rId4" Type="http://schemas.openxmlformats.org/officeDocument/2006/relationships/image" Target="../media/image258.e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66.emf"/><Relationship Id="rId13" Type="http://schemas.openxmlformats.org/officeDocument/2006/relationships/image" Target="../media/image271.emf"/><Relationship Id="rId3" Type="http://schemas.openxmlformats.org/officeDocument/2006/relationships/image" Target="../media/image261.emf"/><Relationship Id="rId7" Type="http://schemas.openxmlformats.org/officeDocument/2006/relationships/image" Target="../media/image265.emf"/><Relationship Id="rId12" Type="http://schemas.openxmlformats.org/officeDocument/2006/relationships/image" Target="../media/image270.emf"/><Relationship Id="rId2" Type="http://schemas.openxmlformats.org/officeDocument/2006/relationships/image" Target="../media/image260.emf"/><Relationship Id="rId1" Type="http://schemas.openxmlformats.org/officeDocument/2006/relationships/image" Target="../media/image259.emf"/><Relationship Id="rId6" Type="http://schemas.openxmlformats.org/officeDocument/2006/relationships/image" Target="../media/image264.emf"/><Relationship Id="rId11" Type="http://schemas.openxmlformats.org/officeDocument/2006/relationships/image" Target="../media/image269.emf"/><Relationship Id="rId5" Type="http://schemas.openxmlformats.org/officeDocument/2006/relationships/image" Target="../media/image263.emf"/><Relationship Id="rId10" Type="http://schemas.openxmlformats.org/officeDocument/2006/relationships/image" Target="../media/image268.emf"/><Relationship Id="rId4" Type="http://schemas.openxmlformats.org/officeDocument/2006/relationships/image" Target="../media/image262.emf"/><Relationship Id="rId9" Type="http://schemas.openxmlformats.org/officeDocument/2006/relationships/image" Target="../media/image267.emf"/></Relationships>
</file>

<file path=ppt/drawings/_rels/vmlDrawing30.vml.rels><?xml version="1.0" encoding="UTF-8" standalone="yes"?>
<Relationships xmlns="http://schemas.openxmlformats.org/package/2006/relationships"><Relationship Id="rId8" Type="http://schemas.openxmlformats.org/officeDocument/2006/relationships/image" Target="../media/image279.emf"/><Relationship Id="rId13" Type="http://schemas.openxmlformats.org/officeDocument/2006/relationships/image" Target="../media/image284.emf"/><Relationship Id="rId3" Type="http://schemas.openxmlformats.org/officeDocument/2006/relationships/image" Target="../media/image274.emf"/><Relationship Id="rId7" Type="http://schemas.openxmlformats.org/officeDocument/2006/relationships/image" Target="../media/image278.emf"/><Relationship Id="rId12" Type="http://schemas.openxmlformats.org/officeDocument/2006/relationships/image" Target="../media/image283.emf"/><Relationship Id="rId2" Type="http://schemas.openxmlformats.org/officeDocument/2006/relationships/image" Target="../media/image273.emf"/><Relationship Id="rId1" Type="http://schemas.openxmlformats.org/officeDocument/2006/relationships/image" Target="../media/image272.emf"/><Relationship Id="rId6" Type="http://schemas.openxmlformats.org/officeDocument/2006/relationships/image" Target="../media/image277.emf"/><Relationship Id="rId11" Type="http://schemas.openxmlformats.org/officeDocument/2006/relationships/image" Target="../media/image282.emf"/><Relationship Id="rId5" Type="http://schemas.openxmlformats.org/officeDocument/2006/relationships/image" Target="../media/image276.emf"/><Relationship Id="rId10" Type="http://schemas.openxmlformats.org/officeDocument/2006/relationships/image" Target="../media/image281.emf"/><Relationship Id="rId4" Type="http://schemas.openxmlformats.org/officeDocument/2006/relationships/image" Target="../media/image275.emf"/><Relationship Id="rId9" Type="http://schemas.openxmlformats.org/officeDocument/2006/relationships/image" Target="../media/image280.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292.emf"/><Relationship Id="rId13" Type="http://schemas.openxmlformats.org/officeDocument/2006/relationships/image" Target="../media/image297.emf"/><Relationship Id="rId3" Type="http://schemas.openxmlformats.org/officeDocument/2006/relationships/image" Target="../media/image287.emf"/><Relationship Id="rId7" Type="http://schemas.openxmlformats.org/officeDocument/2006/relationships/image" Target="../media/image291.emf"/><Relationship Id="rId12" Type="http://schemas.openxmlformats.org/officeDocument/2006/relationships/image" Target="../media/image296.emf"/><Relationship Id="rId2" Type="http://schemas.openxmlformats.org/officeDocument/2006/relationships/image" Target="../media/image286.emf"/><Relationship Id="rId16" Type="http://schemas.openxmlformats.org/officeDocument/2006/relationships/image" Target="../media/image300.emf"/><Relationship Id="rId1" Type="http://schemas.openxmlformats.org/officeDocument/2006/relationships/image" Target="../media/image285.emf"/><Relationship Id="rId6" Type="http://schemas.openxmlformats.org/officeDocument/2006/relationships/image" Target="../media/image290.emf"/><Relationship Id="rId11" Type="http://schemas.openxmlformats.org/officeDocument/2006/relationships/image" Target="../media/image295.emf"/><Relationship Id="rId5" Type="http://schemas.openxmlformats.org/officeDocument/2006/relationships/image" Target="../media/image289.emf"/><Relationship Id="rId15" Type="http://schemas.openxmlformats.org/officeDocument/2006/relationships/image" Target="../media/image299.emf"/><Relationship Id="rId10" Type="http://schemas.openxmlformats.org/officeDocument/2006/relationships/image" Target="../media/image294.emf"/><Relationship Id="rId4" Type="http://schemas.openxmlformats.org/officeDocument/2006/relationships/image" Target="../media/image288.emf"/><Relationship Id="rId9" Type="http://schemas.openxmlformats.org/officeDocument/2006/relationships/image" Target="../media/image293.emf"/><Relationship Id="rId14" Type="http://schemas.openxmlformats.org/officeDocument/2006/relationships/image" Target="../media/image298.emf"/></Relationships>
</file>

<file path=ppt/drawings/_rels/vmlDrawing32.vml.rels><?xml version="1.0" encoding="UTF-8" standalone="yes"?>
<Relationships xmlns="http://schemas.openxmlformats.org/package/2006/relationships"><Relationship Id="rId8" Type="http://schemas.openxmlformats.org/officeDocument/2006/relationships/image" Target="../media/image308.emf"/><Relationship Id="rId3" Type="http://schemas.openxmlformats.org/officeDocument/2006/relationships/image" Target="../media/image303.emf"/><Relationship Id="rId7" Type="http://schemas.openxmlformats.org/officeDocument/2006/relationships/image" Target="../media/image307.emf"/><Relationship Id="rId2" Type="http://schemas.openxmlformats.org/officeDocument/2006/relationships/image" Target="../media/image302.emf"/><Relationship Id="rId1" Type="http://schemas.openxmlformats.org/officeDocument/2006/relationships/image" Target="../media/image301.emf"/><Relationship Id="rId6" Type="http://schemas.openxmlformats.org/officeDocument/2006/relationships/image" Target="../media/image306.emf"/><Relationship Id="rId5" Type="http://schemas.openxmlformats.org/officeDocument/2006/relationships/image" Target="../media/image305.emf"/><Relationship Id="rId4" Type="http://schemas.openxmlformats.org/officeDocument/2006/relationships/image" Target="../media/image304.emf"/><Relationship Id="rId9" Type="http://schemas.openxmlformats.org/officeDocument/2006/relationships/image" Target="../media/image309.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311.emf"/><Relationship Id="rId1" Type="http://schemas.openxmlformats.org/officeDocument/2006/relationships/image" Target="../media/image310.e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319.emf"/><Relationship Id="rId3" Type="http://schemas.openxmlformats.org/officeDocument/2006/relationships/image" Target="../media/image314.emf"/><Relationship Id="rId7" Type="http://schemas.openxmlformats.org/officeDocument/2006/relationships/image" Target="../media/image318.emf"/><Relationship Id="rId2" Type="http://schemas.openxmlformats.org/officeDocument/2006/relationships/image" Target="../media/image313.emf"/><Relationship Id="rId1" Type="http://schemas.openxmlformats.org/officeDocument/2006/relationships/image" Target="../media/image312.emf"/><Relationship Id="rId6" Type="http://schemas.openxmlformats.org/officeDocument/2006/relationships/image" Target="../media/image317.emf"/><Relationship Id="rId5" Type="http://schemas.openxmlformats.org/officeDocument/2006/relationships/image" Target="../media/image316.emf"/><Relationship Id="rId10" Type="http://schemas.openxmlformats.org/officeDocument/2006/relationships/image" Target="../media/image321.emf"/><Relationship Id="rId4" Type="http://schemas.openxmlformats.org/officeDocument/2006/relationships/image" Target="../media/image315.emf"/><Relationship Id="rId9" Type="http://schemas.openxmlformats.org/officeDocument/2006/relationships/image" Target="../media/image320.e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329.emf"/><Relationship Id="rId3" Type="http://schemas.openxmlformats.org/officeDocument/2006/relationships/image" Target="../media/image324.emf"/><Relationship Id="rId7" Type="http://schemas.openxmlformats.org/officeDocument/2006/relationships/image" Target="../media/image328.emf"/><Relationship Id="rId2" Type="http://schemas.openxmlformats.org/officeDocument/2006/relationships/image" Target="../media/image323.emf"/><Relationship Id="rId1" Type="http://schemas.openxmlformats.org/officeDocument/2006/relationships/image" Target="../media/image322.emf"/><Relationship Id="rId6" Type="http://schemas.openxmlformats.org/officeDocument/2006/relationships/image" Target="../media/image327.emf"/><Relationship Id="rId5" Type="http://schemas.openxmlformats.org/officeDocument/2006/relationships/image" Target="../media/image326.emf"/><Relationship Id="rId10" Type="http://schemas.openxmlformats.org/officeDocument/2006/relationships/image" Target="../media/image331.emf"/><Relationship Id="rId4" Type="http://schemas.openxmlformats.org/officeDocument/2006/relationships/image" Target="../media/image325.emf"/><Relationship Id="rId9" Type="http://schemas.openxmlformats.org/officeDocument/2006/relationships/image" Target="../media/image33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ltLang="zh-CN"/>
          </a:p>
        </p:txBody>
      </p:sp>
      <p:sp>
        <p:nvSpPr>
          <p:cNvPr id="5325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43012"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325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325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ltLang="zh-CN"/>
          </a:p>
        </p:txBody>
      </p:sp>
      <p:sp>
        <p:nvSpPr>
          <p:cNvPr id="5325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b" anchorCtr="0" compatLnSpc="1">
            <a:prstTxWarp prst="textNoShape">
              <a:avLst/>
            </a:prstTxWarp>
          </a:bodyPr>
          <a:lstStyle>
            <a:lvl1pPr algn="r">
              <a:defRPr sz="1200"/>
            </a:lvl1pPr>
          </a:lstStyle>
          <a:p>
            <a:pPr>
              <a:defRPr/>
            </a:pPr>
            <a:fld id="{3CAB4D3A-B944-4AEE-8881-6474E9699DF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miter lim="800000"/>
            <a:headEnd/>
            <a:tailEnd/>
          </a:ln>
        </p:spPr>
        <p:txBody>
          <a:bodyPr/>
          <a:lstStyle/>
          <a:p>
            <a:fld id="{D4E98F81-690E-4039-B022-A544B3DB719F}" type="slidenum">
              <a:rPr lang="en-US" altLang="zh-CN" smtClean="0"/>
              <a:pPr/>
              <a:t>4</a:t>
            </a:fld>
            <a:endParaRPr lang="en-US" altLang="zh-CN" smtClean="0"/>
          </a:p>
        </p:txBody>
      </p:sp>
      <p:sp>
        <p:nvSpPr>
          <p:cNvPr id="44035" name="Rectangle 2"/>
          <p:cNvSpPr>
            <a:spLocks noRot="1" noChangeArrowheads="1" noTextEdit="1"/>
          </p:cNvSpPr>
          <p:nvPr>
            <p:ph type="sldImg"/>
          </p:nvPr>
        </p:nvSpPr>
        <p:spPr>
          <a:ln/>
        </p:spPr>
      </p:sp>
      <p:sp>
        <p:nvSpPr>
          <p:cNvPr id="44036" name="Rectangle 3"/>
          <p:cNvSpPr>
            <a:spLocks noGrp="1" noChangeArrowheads="1"/>
          </p:cNvSpPr>
          <p:nvPr>
            <p:ph type="body" idx="1"/>
          </p:nvPr>
        </p:nvSpPr>
        <p:spPr>
          <a:noFill/>
        </p:spPr>
        <p:txBody>
          <a:bodyPr/>
          <a:lstStyle/>
          <a:p>
            <a:pPr eaLnBrk="1" hangingPunct="1"/>
            <a:r>
              <a:rPr kumimoji="1" lang="zh-CN" altLang="en-US" b="1" smtClean="0"/>
              <a:t>感应电流的方向总是使它自身产生的磁通量反抗引起感应电流的磁通量的变化</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miter lim="800000"/>
            <a:headEnd/>
            <a:tailEnd/>
          </a:ln>
        </p:spPr>
        <p:txBody>
          <a:bodyPr/>
          <a:lstStyle/>
          <a:p>
            <a:fld id="{D19C0DCC-E996-47C4-BDF5-4D1BA65DCBE8}" type="slidenum">
              <a:rPr lang="en-US" altLang="zh-CN" smtClean="0"/>
              <a:pPr/>
              <a:t>9</a:t>
            </a:fld>
            <a:endParaRPr lang="en-US" altLang="zh-CN" smtClean="0"/>
          </a:p>
        </p:txBody>
      </p:sp>
      <p:sp>
        <p:nvSpPr>
          <p:cNvPr id="45059" name="Rectangle 2"/>
          <p:cNvSpPr>
            <a:spLocks noRot="1" noChangeArrowheads="1" noTextEdit="1"/>
          </p:cNvSpPr>
          <p:nvPr>
            <p:ph type="sldImg"/>
          </p:nvPr>
        </p:nvSpPr>
        <p:spPr>
          <a:ln/>
        </p:spPr>
      </p:sp>
      <p:sp>
        <p:nvSpPr>
          <p:cNvPr id="65539" name="Rectangle 3"/>
          <p:cNvSpPr>
            <a:spLocks noGrp="1" noChangeArrowheads="1"/>
          </p:cNvSpPr>
          <p:nvPr>
            <p:ph type="body" idx="1"/>
          </p:nvPr>
        </p:nvSpPr>
        <p:spPr/>
        <p:txBody>
          <a:bodyPr/>
          <a:lstStyle/>
          <a:p>
            <a:pPr eaLnBrk="1" hangingPunct="1">
              <a:spcBef>
                <a:spcPct val="0"/>
              </a:spcBef>
              <a:defRPr/>
            </a:pPr>
            <a:r>
              <a:rPr kumimoji="1" lang="zh-CN" altLang="en-US" b="1" smtClean="0">
                <a:solidFill>
                  <a:schemeClr val="bg1"/>
                </a:solidFill>
              </a:rPr>
              <a:t>动生电动势的产生中，</a:t>
            </a:r>
            <a:r>
              <a:rPr kumimoji="1" lang="zh-CN" altLang="en-US" b="1" smtClean="0">
                <a:solidFill>
                  <a:srgbClr val="008000"/>
                </a:solidFill>
                <a:effectLst>
                  <a:outerShdw blurRad="38100" dist="38100" dir="2700000" algn="tl">
                    <a:srgbClr val="C0C0C0"/>
                  </a:outerShdw>
                </a:effectLst>
              </a:rPr>
              <a:t>谁</a:t>
            </a:r>
            <a:r>
              <a:rPr kumimoji="1" lang="zh-CN" altLang="en-US" b="1" smtClean="0">
                <a:solidFill>
                  <a:srgbClr val="008000"/>
                </a:solidFill>
              </a:rPr>
              <a:t>充当非静电力</a:t>
            </a:r>
            <a:r>
              <a:rPr kumimoji="1" lang="en-US" altLang="zh-CN" b="1" smtClean="0">
                <a:solidFill>
                  <a:srgbClr val="008000"/>
                </a:solidFill>
              </a:rPr>
              <a:t>?  </a:t>
            </a:r>
            <a:r>
              <a:rPr kumimoji="1" lang="zh-CN" altLang="en-US" b="1" smtClean="0"/>
              <a:t>洛伦兹力 </a:t>
            </a:r>
            <a:r>
              <a:rPr kumimoji="1" lang="en-US" altLang="zh-CN" b="1" smtClean="0"/>
              <a:t>—— </a:t>
            </a:r>
            <a:r>
              <a:rPr kumimoji="1" lang="zh-CN" altLang="en-US" b="1" smtClean="0">
                <a:solidFill>
                  <a:srgbClr val="FF0000"/>
                </a:solidFill>
              </a:rPr>
              <a:t>非静电力</a:t>
            </a:r>
            <a:r>
              <a:rPr kumimoji="1" lang="zh-CN" altLang="en-US" b="1" smtClean="0"/>
              <a:t>，充当搬运电荷的力，产生了电场</a:t>
            </a:r>
          </a:p>
          <a:p>
            <a:pPr eaLnBrk="1" hangingPunct="1">
              <a:spcBef>
                <a:spcPct val="0"/>
              </a:spcBef>
              <a:defRPr/>
            </a:pPr>
            <a:endParaRPr kumimoji="1" lang="zh-CN" altLang="en-US" b="1" smtClean="0">
              <a:solidFill>
                <a:srgbClr val="008000"/>
              </a:solidFill>
            </a:endParaRPr>
          </a:p>
          <a:p>
            <a:pPr eaLnBrk="1" hangingPunct="1">
              <a:defRPr/>
            </a:pPr>
            <a:endParaRPr lang="en-US"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miter lim="800000"/>
            <a:headEnd/>
            <a:tailEnd/>
          </a:ln>
        </p:spPr>
        <p:txBody>
          <a:bodyPr/>
          <a:lstStyle/>
          <a:p>
            <a:fld id="{64984777-DE18-47EF-903B-01B14D24012F}" type="slidenum">
              <a:rPr lang="en-US" altLang="zh-CN" smtClean="0"/>
              <a:pPr/>
              <a:t>19</a:t>
            </a:fld>
            <a:endParaRPr lang="en-US" altLang="zh-CN" smtClean="0"/>
          </a:p>
        </p:txBody>
      </p:sp>
      <p:sp>
        <p:nvSpPr>
          <p:cNvPr id="46083" name="Rectangle 2"/>
          <p:cNvSpPr>
            <a:spLocks noRot="1" noChangeArrowheads="1" noTextEdit="1"/>
          </p:cNvSpPr>
          <p:nvPr>
            <p:ph type="sldImg"/>
          </p:nvPr>
        </p:nvSpPr>
        <p:spPr>
          <a:ln/>
        </p:spPr>
      </p:sp>
      <p:sp>
        <p:nvSpPr>
          <p:cNvPr id="46084" name="Rectangle 3"/>
          <p:cNvSpPr>
            <a:spLocks noGrp="1" noChangeArrowheads="1"/>
          </p:cNvSpPr>
          <p:nvPr>
            <p:ph type="body" idx="1"/>
          </p:nvPr>
        </p:nvSpPr>
        <p:spPr>
          <a:noFill/>
        </p:spPr>
        <p:txBody>
          <a:bodyPr/>
          <a:lstStyle/>
          <a:p>
            <a:pPr eaLnBrk="1" hangingPunct="1">
              <a:lnSpc>
                <a:spcPct val="120000"/>
              </a:lnSpc>
              <a:spcBef>
                <a:spcPct val="50000"/>
              </a:spcBef>
            </a:pPr>
            <a:r>
              <a:rPr kumimoji="1" lang="zh-CN" altLang="en-US" b="1" smtClean="0"/>
              <a:t>电子感应加速器是利用感生电场来加速电子的一种装置。在电磁铁的两极间有一环形真空室，电磁铁受交变电流激发，在两极间产生一个由中心向外逐渐减弱、并具有对称分布的交变磁场，这个交变磁场又在真空室内激发感生电场，其电场线是一系列绕磁感应线的同心圆，这时，若用电子枪把电子沿切线方向射入环形真空室，电子将受到环形真空室中的感生电场</a:t>
            </a:r>
            <a:r>
              <a:rPr kumimoji="1" lang="en-US" altLang="zh-CN" b="1" smtClean="0"/>
              <a:t>E</a:t>
            </a:r>
            <a:r>
              <a:rPr kumimoji="1" lang="zh-CN" altLang="en-US" b="1" smtClean="0"/>
              <a:t>的作用而被加速，同时，电子还受到真空室所在处磁场的洛伦兹力的作用，使电子在半径为</a:t>
            </a:r>
            <a:r>
              <a:rPr kumimoji="1" lang="en-US" altLang="zh-CN" b="1" smtClean="0"/>
              <a:t>R</a:t>
            </a:r>
            <a:r>
              <a:rPr kumimoji="1" lang="zh-CN" altLang="en-US" b="1" smtClean="0"/>
              <a:t>的圆形轨道上运动。小型电子感应加速器可把电子加速到</a:t>
            </a:r>
            <a:r>
              <a:rPr kumimoji="1" lang="en-US" altLang="zh-CN" b="1" smtClean="0">
                <a:solidFill>
                  <a:srgbClr val="FF0000"/>
                </a:solidFill>
              </a:rPr>
              <a:t>0.1</a:t>
            </a:r>
            <a:r>
              <a:rPr kumimoji="1" lang="zh-CN" altLang="en-US" b="1" smtClean="0">
                <a:solidFill>
                  <a:srgbClr val="FF0000"/>
                </a:solidFill>
              </a:rPr>
              <a:t>～</a:t>
            </a:r>
            <a:r>
              <a:rPr kumimoji="1" lang="en-US" altLang="zh-CN" b="1" smtClean="0">
                <a:solidFill>
                  <a:srgbClr val="FF0000"/>
                </a:solidFill>
              </a:rPr>
              <a:t>1MeV</a:t>
            </a:r>
            <a:r>
              <a:rPr kumimoji="1" lang="en-US" altLang="zh-CN" b="1" smtClean="0"/>
              <a:t>,</a:t>
            </a:r>
            <a:r>
              <a:rPr kumimoji="1" lang="zh-CN" altLang="en-US" b="1" smtClean="0"/>
              <a:t>用来产生</a:t>
            </a:r>
            <a:r>
              <a:rPr kumimoji="1" lang="en-US" altLang="zh-CN" b="1" smtClean="0"/>
              <a:t>x</a:t>
            </a:r>
            <a:r>
              <a:rPr kumimoji="1" lang="zh-CN" altLang="en-US" b="1" smtClean="0"/>
              <a:t>射线。大型的加速器可使电子能量达</a:t>
            </a:r>
            <a:r>
              <a:rPr kumimoji="1" lang="zh-CN" altLang="en-US" b="1" smtClean="0">
                <a:solidFill>
                  <a:srgbClr val="FF0000"/>
                </a:solidFill>
              </a:rPr>
              <a:t>数百</a:t>
            </a:r>
            <a:r>
              <a:rPr kumimoji="1" lang="en-US" altLang="zh-CN" b="1" smtClean="0">
                <a:solidFill>
                  <a:srgbClr val="FF0000"/>
                </a:solidFill>
              </a:rPr>
              <a:t>MeV</a:t>
            </a:r>
            <a:r>
              <a:rPr kumimoji="1" lang="zh-CN" altLang="en-US" b="1" smtClean="0"/>
              <a:t>，即可把电子加速到</a:t>
            </a:r>
            <a:r>
              <a:rPr kumimoji="1" lang="en-US" altLang="zh-CN" b="1" smtClean="0">
                <a:solidFill>
                  <a:srgbClr val="FF0000"/>
                </a:solidFill>
              </a:rPr>
              <a:t>0.99998c</a:t>
            </a:r>
            <a:r>
              <a:rPr kumimoji="1" lang="zh-CN" altLang="en-US" b="1" smtClean="0"/>
              <a:t>，百分之几秒时间内电子在加速器内的行程达几千米。用于科学研究。</a:t>
            </a:r>
          </a:p>
          <a:p>
            <a:pPr eaLnBrk="1" hangingPunct="1"/>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miter lim="800000"/>
            <a:headEnd/>
            <a:tailEnd/>
          </a:ln>
        </p:spPr>
        <p:txBody>
          <a:bodyPr/>
          <a:lstStyle/>
          <a:p>
            <a:fld id="{88FE8714-C0A1-455F-B7EE-E264F5FF2C40}" type="slidenum">
              <a:rPr lang="en-US" altLang="zh-CN" smtClean="0"/>
              <a:pPr/>
              <a:t>36</a:t>
            </a:fld>
            <a:endParaRPr lang="en-US" altLang="zh-CN" smtClean="0"/>
          </a:p>
        </p:txBody>
      </p:sp>
      <p:sp>
        <p:nvSpPr>
          <p:cNvPr id="47107" name="Rectangle 2"/>
          <p:cNvSpPr>
            <a:spLocks noRot="1" noChangeArrowheads="1" noTextEdit="1"/>
          </p:cNvSpPr>
          <p:nvPr>
            <p:ph type="sldImg"/>
          </p:nvPr>
        </p:nvSpPr>
        <p:spPr>
          <a:ln/>
        </p:spPr>
      </p:sp>
      <p:sp>
        <p:nvSpPr>
          <p:cNvPr id="47108" name="Rectangle 3"/>
          <p:cNvSpPr>
            <a:spLocks noGrp="1" noChangeArrowheads="1"/>
          </p:cNvSpPr>
          <p:nvPr>
            <p:ph type="body" idx="1"/>
          </p:nvPr>
        </p:nvSpPr>
        <p:spPr>
          <a:noFill/>
        </p:spPr>
        <p:txBody>
          <a:bodyPr/>
          <a:lstStyle/>
          <a:p>
            <a:pPr eaLnBrk="1" hangingPunct="1">
              <a:spcBef>
                <a:spcPct val="0"/>
              </a:spcBef>
            </a:pPr>
            <a:r>
              <a:rPr kumimoji="1" lang="zh-CN" altLang="en-US" b="1" smtClean="0">
                <a:solidFill>
                  <a:srgbClr val="008000"/>
                </a:solidFill>
              </a:rPr>
              <a:t>极板上电荷的时间变化率等于传导电流</a:t>
            </a:r>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838C35D-61EE-40AC-A8E5-ED57E0C51107}"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9C4CB02-6986-415A-88D7-290AAC65603A}"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D6DDC51-FB72-4723-A812-4002142B3E8B}"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7CDFBFA5-4655-495D-8FDE-63373C8A6E8E}"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E2E96E46-4A44-4918-BDD7-AB940DD19C1D}"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AA6DB36B-7ADB-46F6-B2C9-18DA2296775B}"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0EDAEA99-DE46-43F1-8A96-6A86647788AE}"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9DD760F-0302-47C5-86D7-E9403E5CA0B5}"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06688FA-A983-4BE4-80D2-D80E497BCA19}"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53F46F9-5DE2-4B2D-8BC6-BD4C1A0762BA}"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3743C79-FD57-4DA3-BD55-0842CB8F6532}"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3686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l">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400"/>
            </a:lvl1pPr>
          </a:lstStyle>
          <a:p>
            <a:pPr>
              <a:defRPr/>
            </a:pPr>
            <a:fld id="{1A46AFEB-FCC3-4E8C-9037-A57D445D4439}"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35.xml"/><Relationship Id="rId5" Type="http://schemas.openxmlformats.org/officeDocument/2006/relationships/slide" Target="slide29.xml"/><Relationship Id="rId4" Type="http://schemas.openxmlformats.org/officeDocument/2006/relationships/slide" Target="slide2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 Id="rId9" Type="http://schemas.openxmlformats.org/officeDocument/2006/relationships/hyperlink" Target="../ch11-1.ppt" TargetMode="Externa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oleObject" Target="../embeddings/oleObject15.bin"/><Relationship Id="rId3" Type="http://schemas.openxmlformats.org/officeDocument/2006/relationships/notesSlide" Target="../notesSlides/notesSlide1.xml"/><Relationship Id="rId7" Type="http://schemas.openxmlformats.org/officeDocument/2006/relationships/oleObject" Target="../embeddings/oleObject9.bin"/><Relationship Id="rId12"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9.png"/><Relationship Id="rId11" Type="http://schemas.openxmlformats.org/officeDocument/2006/relationships/oleObject" Target="../embeddings/oleObject13.bin"/><Relationship Id="rId5" Type="http://schemas.openxmlformats.org/officeDocument/2006/relationships/oleObject" Target="../embeddings/oleObject8.bin"/><Relationship Id="rId10" Type="http://schemas.openxmlformats.org/officeDocument/2006/relationships/oleObject" Target="../embeddings/oleObject12.bin"/><Relationship Id="rId4" Type="http://schemas.openxmlformats.org/officeDocument/2006/relationships/oleObject" Target="../embeddings/oleObject7.bin"/><Relationship Id="rId9" Type="http://schemas.openxmlformats.org/officeDocument/2006/relationships/oleObject" Target="../embeddings/oleObject11.bin"/><Relationship Id="rId14" Type="http://schemas.openxmlformats.org/officeDocument/2006/relationships/oleObject" Target="../embeddings/oleObject16.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oleObject" Target="../embeddings/oleObject27.bin"/><Relationship Id="rId18" Type="http://schemas.openxmlformats.org/officeDocument/2006/relationships/oleObject" Target="../embeddings/oleObject32.bin"/><Relationship Id="rId3" Type="http://schemas.openxmlformats.org/officeDocument/2006/relationships/oleObject" Target="../embeddings/oleObject17.bin"/><Relationship Id="rId7" Type="http://schemas.openxmlformats.org/officeDocument/2006/relationships/oleObject" Target="../embeddings/oleObject21.bin"/><Relationship Id="rId12" Type="http://schemas.openxmlformats.org/officeDocument/2006/relationships/oleObject" Target="../embeddings/oleObject26.bin"/><Relationship Id="rId17" Type="http://schemas.openxmlformats.org/officeDocument/2006/relationships/oleObject" Target="../embeddings/oleObject31.bin"/><Relationship Id="rId2" Type="http://schemas.openxmlformats.org/officeDocument/2006/relationships/slideLayout" Target="../slideLayouts/slideLayout7.xml"/><Relationship Id="rId16" Type="http://schemas.openxmlformats.org/officeDocument/2006/relationships/oleObject" Target="../embeddings/oleObject30.bin"/><Relationship Id="rId1" Type="http://schemas.openxmlformats.org/officeDocument/2006/relationships/vmlDrawing" Target="../drawings/vmlDrawing3.vml"/><Relationship Id="rId6" Type="http://schemas.openxmlformats.org/officeDocument/2006/relationships/oleObject" Target="../embeddings/oleObject20.bin"/><Relationship Id="rId11" Type="http://schemas.openxmlformats.org/officeDocument/2006/relationships/oleObject" Target="../embeddings/oleObject25.bin"/><Relationship Id="rId5" Type="http://schemas.openxmlformats.org/officeDocument/2006/relationships/oleObject" Target="../embeddings/oleObject19.bin"/><Relationship Id="rId15" Type="http://schemas.openxmlformats.org/officeDocument/2006/relationships/oleObject" Target="../embeddings/oleObject29.bin"/><Relationship Id="rId10" Type="http://schemas.openxmlformats.org/officeDocument/2006/relationships/oleObject" Target="../embeddings/oleObject24.bin"/><Relationship Id="rId4" Type="http://schemas.openxmlformats.org/officeDocument/2006/relationships/oleObject" Target="../embeddings/oleObject18.bin"/><Relationship Id="rId9" Type="http://schemas.openxmlformats.org/officeDocument/2006/relationships/oleObject" Target="../embeddings/oleObject23.bin"/><Relationship Id="rId14" Type="http://schemas.openxmlformats.org/officeDocument/2006/relationships/oleObject" Target="../embeddings/oleObject28.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33.bin"/><Relationship Id="rId7" Type="http://schemas.openxmlformats.org/officeDocument/2006/relationships/oleObject" Target="../embeddings/oleObject37.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36.bin"/><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oleObject" Target="../embeddings/oleObject48.bin"/><Relationship Id="rId18" Type="http://schemas.openxmlformats.org/officeDocument/2006/relationships/slide" Target="slide2.xml"/><Relationship Id="rId3" Type="http://schemas.openxmlformats.org/officeDocument/2006/relationships/oleObject" Target="../embeddings/oleObject38.bin"/><Relationship Id="rId7" Type="http://schemas.openxmlformats.org/officeDocument/2006/relationships/oleObject" Target="../embeddings/oleObject42.bin"/><Relationship Id="rId12" Type="http://schemas.openxmlformats.org/officeDocument/2006/relationships/oleObject" Target="../embeddings/oleObject47.bin"/><Relationship Id="rId17" Type="http://schemas.openxmlformats.org/officeDocument/2006/relationships/oleObject" Target="../embeddings/oleObject52.bin"/><Relationship Id="rId2" Type="http://schemas.openxmlformats.org/officeDocument/2006/relationships/slideLayout" Target="../slideLayouts/slideLayout7.xml"/><Relationship Id="rId16" Type="http://schemas.openxmlformats.org/officeDocument/2006/relationships/oleObject" Target="../embeddings/oleObject51.bin"/><Relationship Id="rId1" Type="http://schemas.openxmlformats.org/officeDocument/2006/relationships/vmlDrawing" Target="../drawings/vmlDrawing5.vml"/><Relationship Id="rId6" Type="http://schemas.openxmlformats.org/officeDocument/2006/relationships/oleObject" Target="../embeddings/oleObject41.bin"/><Relationship Id="rId11" Type="http://schemas.openxmlformats.org/officeDocument/2006/relationships/oleObject" Target="../embeddings/oleObject46.bin"/><Relationship Id="rId5" Type="http://schemas.openxmlformats.org/officeDocument/2006/relationships/oleObject" Target="../embeddings/oleObject40.bin"/><Relationship Id="rId15" Type="http://schemas.openxmlformats.org/officeDocument/2006/relationships/oleObject" Target="../embeddings/oleObject50.bin"/><Relationship Id="rId10" Type="http://schemas.openxmlformats.org/officeDocument/2006/relationships/oleObject" Target="../embeddings/oleObject45.bin"/><Relationship Id="rId4" Type="http://schemas.openxmlformats.org/officeDocument/2006/relationships/oleObject" Target="../embeddings/oleObject39.bin"/><Relationship Id="rId9" Type="http://schemas.openxmlformats.org/officeDocument/2006/relationships/oleObject" Target="../embeddings/oleObject44.bin"/><Relationship Id="rId14" Type="http://schemas.openxmlformats.org/officeDocument/2006/relationships/oleObject" Target="../embeddings/oleObject49.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5.bin"/><Relationship Id="rId13" Type="http://schemas.openxmlformats.org/officeDocument/2006/relationships/oleObject" Target="../embeddings/oleObject60.bin"/><Relationship Id="rId3" Type="http://schemas.openxmlformats.org/officeDocument/2006/relationships/hyperlink" Target="../ch11-2.ppt" TargetMode="External"/><Relationship Id="rId7" Type="http://schemas.openxmlformats.org/officeDocument/2006/relationships/image" Target="../media/image66.wmf"/><Relationship Id="rId12" Type="http://schemas.openxmlformats.org/officeDocument/2006/relationships/oleObject" Target="../embeddings/oleObject59.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54.bin"/><Relationship Id="rId11" Type="http://schemas.openxmlformats.org/officeDocument/2006/relationships/oleObject" Target="../embeddings/oleObject58.bin"/><Relationship Id="rId5" Type="http://schemas.openxmlformats.org/officeDocument/2006/relationships/image" Target="../media/image65.emf"/><Relationship Id="rId10" Type="http://schemas.openxmlformats.org/officeDocument/2006/relationships/oleObject" Target="../embeddings/oleObject57.bin"/><Relationship Id="rId4" Type="http://schemas.openxmlformats.org/officeDocument/2006/relationships/oleObject" Target="../embeddings/oleObject53.bin"/><Relationship Id="rId9" Type="http://schemas.openxmlformats.org/officeDocument/2006/relationships/oleObject" Target="../embeddings/oleObject56.bin"/><Relationship Id="rId14" Type="http://schemas.openxmlformats.org/officeDocument/2006/relationships/oleObject" Target="../embeddings/oleObject61.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6.bin"/><Relationship Id="rId3" Type="http://schemas.openxmlformats.org/officeDocument/2006/relationships/notesSlide" Target="../notesSlides/notesSlide2.xml"/><Relationship Id="rId7" Type="http://schemas.openxmlformats.org/officeDocument/2006/relationships/oleObject" Target="../embeddings/oleObject65.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64.bin"/><Relationship Id="rId11" Type="http://schemas.openxmlformats.org/officeDocument/2006/relationships/oleObject" Target="../embeddings/oleObject69.bin"/><Relationship Id="rId5" Type="http://schemas.openxmlformats.org/officeDocument/2006/relationships/oleObject" Target="../embeddings/oleObject63.bin"/><Relationship Id="rId10" Type="http://schemas.openxmlformats.org/officeDocument/2006/relationships/oleObject" Target="../embeddings/oleObject68.bin"/><Relationship Id="rId4" Type="http://schemas.openxmlformats.org/officeDocument/2006/relationships/oleObject" Target="../embeddings/oleObject62.bin"/><Relationship Id="rId9" Type="http://schemas.openxmlformats.org/officeDocument/2006/relationships/oleObject" Target="../embeddings/oleObject67.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75.bin"/><Relationship Id="rId13" Type="http://schemas.openxmlformats.org/officeDocument/2006/relationships/oleObject" Target="../embeddings/oleObject80.bin"/><Relationship Id="rId18" Type="http://schemas.openxmlformats.org/officeDocument/2006/relationships/oleObject" Target="../embeddings/oleObject85.bin"/><Relationship Id="rId3" Type="http://schemas.openxmlformats.org/officeDocument/2006/relationships/oleObject" Target="../embeddings/oleObject70.bin"/><Relationship Id="rId21" Type="http://schemas.openxmlformats.org/officeDocument/2006/relationships/oleObject" Target="../embeddings/oleObject88.bin"/><Relationship Id="rId7" Type="http://schemas.openxmlformats.org/officeDocument/2006/relationships/oleObject" Target="../embeddings/oleObject74.bin"/><Relationship Id="rId12" Type="http://schemas.openxmlformats.org/officeDocument/2006/relationships/oleObject" Target="../embeddings/oleObject79.bin"/><Relationship Id="rId17" Type="http://schemas.openxmlformats.org/officeDocument/2006/relationships/oleObject" Target="../embeddings/oleObject84.bin"/><Relationship Id="rId2" Type="http://schemas.openxmlformats.org/officeDocument/2006/relationships/slideLayout" Target="../slideLayouts/slideLayout7.xml"/><Relationship Id="rId16" Type="http://schemas.openxmlformats.org/officeDocument/2006/relationships/oleObject" Target="../embeddings/oleObject83.bin"/><Relationship Id="rId20" Type="http://schemas.openxmlformats.org/officeDocument/2006/relationships/oleObject" Target="../embeddings/oleObject87.bin"/><Relationship Id="rId1" Type="http://schemas.openxmlformats.org/officeDocument/2006/relationships/vmlDrawing" Target="../drawings/vmlDrawing8.vml"/><Relationship Id="rId6" Type="http://schemas.openxmlformats.org/officeDocument/2006/relationships/oleObject" Target="../embeddings/oleObject73.bin"/><Relationship Id="rId11" Type="http://schemas.openxmlformats.org/officeDocument/2006/relationships/oleObject" Target="../embeddings/oleObject78.bin"/><Relationship Id="rId5" Type="http://schemas.openxmlformats.org/officeDocument/2006/relationships/oleObject" Target="../embeddings/oleObject72.bin"/><Relationship Id="rId15" Type="http://schemas.openxmlformats.org/officeDocument/2006/relationships/oleObject" Target="../embeddings/oleObject82.bin"/><Relationship Id="rId10" Type="http://schemas.openxmlformats.org/officeDocument/2006/relationships/oleObject" Target="../embeddings/oleObject77.bin"/><Relationship Id="rId19" Type="http://schemas.openxmlformats.org/officeDocument/2006/relationships/oleObject" Target="../embeddings/oleObject86.bin"/><Relationship Id="rId4" Type="http://schemas.openxmlformats.org/officeDocument/2006/relationships/oleObject" Target="../embeddings/oleObject71.bin"/><Relationship Id="rId9" Type="http://schemas.openxmlformats.org/officeDocument/2006/relationships/oleObject" Target="../embeddings/oleObject76.bin"/><Relationship Id="rId14" Type="http://schemas.openxmlformats.org/officeDocument/2006/relationships/oleObject" Target="../embeddings/oleObject81.bin"/><Relationship Id="rId22" Type="http://schemas.openxmlformats.org/officeDocument/2006/relationships/oleObject" Target="../embeddings/oleObject89.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5.bin"/><Relationship Id="rId13" Type="http://schemas.openxmlformats.org/officeDocument/2006/relationships/oleObject" Target="../embeddings/oleObject100.bin"/><Relationship Id="rId3" Type="http://schemas.openxmlformats.org/officeDocument/2006/relationships/oleObject" Target="../embeddings/oleObject90.bin"/><Relationship Id="rId7" Type="http://schemas.openxmlformats.org/officeDocument/2006/relationships/oleObject" Target="../embeddings/oleObject94.bin"/><Relationship Id="rId12" Type="http://schemas.openxmlformats.org/officeDocument/2006/relationships/oleObject" Target="../embeddings/oleObject99.bin"/><Relationship Id="rId17" Type="http://schemas.openxmlformats.org/officeDocument/2006/relationships/oleObject" Target="../embeddings/oleObject104.bin"/><Relationship Id="rId2" Type="http://schemas.openxmlformats.org/officeDocument/2006/relationships/slideLayout" Target="../slideLayouts/slideLayout7.xml"/><Relationship Id="rId16" Type="http://schemas.openxmlformats.org/officeDocument/2006/relationships/oleObject" Target="../embeddings/oleObject103.bin"/><Relationship Id="rId1" Type="http://schemas.openxmlformats.org/officeDocument/2006/relationships/vmlDrawing" Target="../drawings/vmlDrawing9.vml"/><Relationship Id="rId6" Type="http://schemas.openxmlformats.org/officeDocument/2006/relationships/oleObject" Target="../embeddings/oleObject93.bin"/><Relationship Id="rId11" Type="http://schemas.openxmlformats.org/officeDocument/2006/relationships/oleObject" Target="../embeddings/oleObject98.bin"/><Relationship Id="rId5" Type="http://schemas.openxmlformats.org/officeDocument/2006/relationships/oleObject" Target="../embeddings/oleObject92.bin"/><Relationship Id="rId15" Type="http://schemas.openxmlformats.org/officeDocument/2006/relationships/oleObject" Target="../embeddings/oleObject102.bin"/><Relationship Id="rId10" Type="http://schemas.openxmlformats.org/officeDocument/2006/relationships/oleObject" Target="../embeddings/oleObject97.bin"/><Relationship Id="rId4" Type="http://schemas.openxmlformats.org/officeDocument/2006/relationships/oleObject" Target="../embeddings/oleObject91.bin"/><Relationship Id="rId9" Type="http://schemas.openxmlformats.org/officeDocument/2006/relationships/oleObject" Target="../embeddings/oleObject96.bin"/><Relationship Id="rId14" Type="http://schemas.openxmlformats.org/officeDocument/2006/relationships/oleObject" Target="../embeddings/oleObject101.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oleObject" Target="../embeddings/oleObject107.bin"/><Relationship Id="rId4" Type="http://schemas.openxmlformats.org/officeDocument/2006/relationships/oleObject" Target="../embeddings/oleObject106.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111.bin"/><Relationship Id="rId5" Type="http://schemas.openxmlformats.org/officeDocument/2006/relationships/oleObject" Target="../embeddings/oleObject110.bin"/><Relationship Id="rId4" Type="http://schemas.openxmlformats.org/officeDocument/2006/relationships/oleObject" Target="../embeddings/oleObject109.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12.bin"/><Relationship Id="rId7" Type="http://schemas.openxmlformats.org/officeDocument/2006/relationships/oleObject" Target="../embeddings/oleObject116.bin"/><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oleObject" Target="../embeddings/oleObject115.bin"/><Relationship Id="rId5" Type="http://schemas.openxmlformats.org/officeDocument/2006/relationships/oleObject" Target="../embeddings/oleObject114.bin"/><Relationship Id="rId4" Type="http://schemas.openxmlformats.org/officeDocument/2006/relationships/oleObject" Target="../embeddings/oleObject113.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22.bin"/><Relationship Id="rId13" Type="http://schemas.openxmlformats.org/officeDocument/2006/relationships/oleObject" Target="../embeddings/oleObject127.bin"/><Relationship Id="rId3" Type="http://schemas.openxmlformats.org/officeDocument/2006/relationships/oleObject" Target="../embeddings/oleObject117.bin"/><Relationship Id="rId7" Type="http://schemas.openxmlformats.org/officeDocument/2006/relationships/oleObject" Target="../embeddings/oleObject121.bin"/><Relationship Id="rId12" Type="http://schemas.openxmlformats.org/officeDocument/2006/relationships/oleObject" Target="../embeddings/oleObject126.bin"/><Relationship Id="rId17" Type="http://schemas.openxmlformats.org/officeDocument/2006/relationships/oleObject" Target="../embeddings/oleObject131.bin"/><Relationship Id="rId2" Type="http://schemas.openxmlformats.org/officeDocument/2006/relationships/slideLayout" Target="../slideLayouts/slideLayout7.xml"/><Relationship Id="rId16" Type="http://schemas.openxmlformats.org/officeDocument/2006/relationships/oleObject" Target="../embeddings/oleObject130.bin"/><Relationship Id="rId1" Type="http://schemas.openxmlformats.org/officeDocument/2006/relationships/vmlDrawing" Target="../drawings/vmlDrawing13.vml"/><Relationship Id="rId6" Type="http://schemas.openxmlformats.org/officeDocument/2006/relationships/oleObject" Target="../embeddings/oleObject120.bin"/><Relationship Id="rId11" Type="http://schemas.openxmlformats.org/officeDocument/2006/relationships/oleObject" Target="../embeddings/oleObject125.bin"/><Relationship Id="rId5" Type="http://schemas.openxmlformats.org/officeDocument/2006/relationships/oleObject" Target="../embeddings/oleObject119.bin"/><Relationship Id="rId15" Type="http://schemas.openxmlformats.org/officeDocument/2006/relationships/oleObject" Target="../embeddings/oleObject129.bin"/><Relationship Id="rId10" Type="http://schemas.openxmlformats.org/officeDocument/2006/relationships/oleObject" Target="../embeddings/oleObject124.bin"/><Relationship Id="rId4" Type="http://schemas.openxmlformats.org/officeDocument/2006/relationships/oleObject" Target="../embeddings/oleObject118.bin"/><Relationship Id="rId9" Type="http://schemas.openxmlformats.org/officeDocument/2006/relationships/oleObject" Target="../embeddings/oleObject123.bin"/><Relationship Id="rId14" Type="http://schemas.openxmlformats.org/officeDocument/2006/relationships/oleObject" Target="../embeddings/oleObject128.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37.bin"/><Relationship Id="rId13" Type="http://schemas.openxmlformats.org/officeDocument/2006/relationships/oleObject" Target="../embeddings/oleObject142.bin"/><Relationship Id="rId3" Type="http://schemas.openxmlformats.org/officeDocument/2006/relationships/oleObject" Target="../embeddings/oleObject132.bin"/><Relationship Id="rId7" Type="http://schemas.openxmlformats.org/officeDocument/2006/relationships/oleObject" Target="../embeddings/oleObject136.bin"/><Relationship Id="rId12" Type="http://schemas.openxmlformats.org/officeDocument/2006/relationships/oleObject" Target="../embeddings/oleObject141.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oleObject" Target="../embeddings/oleObject135.bin"/><Relationship Id="rId11" Type="http://schemas.openxmlformats.org/officeDocument/2006/relationships/oleObject" Target="../embeddings/oleObject140.bin"/><Relationship Id="rId5" Type="http://schemas.openxmlformats.org/officeDocument/2006/relationships/oleObject" Target="../embeddings/oleObject134.bin"/><Relationship Id="rId10" Type="http://schemas.openxmlformats.org/officeDocument/2006/relationships/oleObject" Target="../embeddings/oleObject139.bin"/><Relationship Id="rId4" Type="http://schemas.openxmlformats.org/officeDocument/2006/relationships/oleObject" Target="../embeddings/oleObject133.bin"/><Relationship Id="rId9" Type="http://schemas.openxmlformats.org/officeDocument/2006/relationships/oleObject" Target="../embeddings/oleObject138.bin"/><Relationship Id="rId14" Type="http://schemas.openxmlformats.org/officeDocument/2006/relationships/oleObject" Target="../embeddings/oleObject143.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49.bin"/><Relationship Id="rId13" Type="http://schemas.openxmlformats.org/officeDocument/2006/relationships/oleObject" Target="../embeddings/oleObject154.bin"/><Relationship Id="rId3" Type="http://schemas.openxmlformats.org/officeDocument/2006/relationships/oleObject" Target="../embeddings/oleObject144.bin"/><Relationship Id="rId7" Type="http://schemas.openxmlformats.org/officeDocument/2006/relationships/oleObject" Target="../embeddings/oleObject148.bin"/><Relationship Id="rId12" Type="http://schemas.openxmlformats.org/officeDocument/2006/relationships/oleObject" Target="../embeddings/oleObject153.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147.bin"/><Relationship Id="rId11" Type="http://schemas.openxmlformats.org/officeDocument/2006/relationships/oleObject" Target="../embeddings/oleObject152.bin"/><Relationship Id="rId5" Type="http://schemas.openxmlformats.org/officeDocument/2006/relationships/oleObject" Target="../embeddings/oleObject146.bin"/><Relationship Id="rId10" Type="http://schemas.openxmlformats.org/officeDocument/2006/relationships/oleObject" Target="../embeddings/oleObject151.bin"/><Relationship Id="rId4" Type="http://schemas.openxmlformats.org/officeDocument/2006/relationships/oleObject" Target="../embeddings/oleObject145.bin"/><Relationship Id="rId9" Type="http://schemas.openxmlformats.org/officeDocument/2006/relationships/oleObject" Target="../embeddings/oleObject150.bin"/></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file:///F:\PPT&#30005;&#23376;&#25945;&#26696;\&#30005;&#23376;&#25945;&#26696;\&#22823;&#23398;&#29289;&#29702;&#23398;&#31532;&#20108;&#29256;&#65288;&#36213;&#36817;&#33459;&#65289;\&#22823;&#23398;&#29289;&#29702;&#65288;&#36213;&#65289;&#19979;&#20876;\&#30005;&#30913;&#23398;3\GO8.AVI" TargetMode="External"/><Relationship Id="rId1" Type="http://schemas.openxmlformats.org/officeDocument/2006/relationships/vmlDrawing" Target="../drawings/vmlDrawing16.vml"/><Relationship Id="rId6" Type="http://schemas.openxmlformats.org/officeDocument/2006/relationships/image" Target="../media/image161.png"/><Relationship Id="rId5" Type="http://schemas.openxmlformats.org/officeDocument/2006/relationships/oleObject" Target="../embeddings/oleObject155.bin"/><Relationship Id="rId4" Type="http://schemas.openxmlformats.org/officeDocument/2006/relationships/notesSlide" Target="../notesSlides/notesSlide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60.bin"/><Relationship Id="rId3" Type="http://schemas.openxmlformats.org/officeDocument/2006/relationships/hyperlink" Target="../ch11-3.ppt" TargetMode="External"/><Relationship Id="rId7" Type="http://schemas.openxmlformats.org/officeDocument/2006/relationships/oleObject" Target="../embeddings/oleObject159.bin"/><Relationship Id="rId12" Type="http://schemas.openxmlformats.org/officeDocument/2006/relationships/oleObject" Target="../embeddings/oleObject164.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158.bin"/><Relationship Id="rId11" Type="http://schemas.openxmlformats.org/officeDocument/2006/relationships/oleObject" Target="../embeddings/oleObject163.bin"/><Relationship Id="rId5" Type="http://schemas.openxmlformats.org/officeDocument/2006/relationships/oleObject" Target="../embeddings/oleObject157.bin"/><Relationship Id="rId10" Type="http://schemas.openxmlformats.org/officeDocument/2006/relationships/oleObject" Target="../embeddings/oleObject162.bin"/><Relationship Id="rId4" Type="http://schemas.openxmlformats.org/officeDocument/2006/relationships/oleObject" Target="../embeddings/oleObject156.bin"/><Relationship Id="rId9" Type="http://schemas.openxmlformats.org/officeDocument/2006/relationships/oleObject" Target="../embeddings/oleObject161.bin"/></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65.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oleObject" Target="../embeddings/oleObject166.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72.bin"/><Relationship Id="rId13" Type="http://schemas.openxmlformats.org/officeDocument/2006/relationships/oleObject" Target="../embeddings/oleObject177.bin"/><Relationship Id="rId18" Type="http://schemas.openxmlformats.org/officeDocument/2006/relationships/oleObject" Target="../embeddings/oleObject182.bin"/><Relationship Id="rId3" Type="http://schemas.openxmlformats.org/officeDocument/2006/relationships/oleObject" Target="../embeddings/oleObject167.bin"/><Relationship Id="rId7" Type="http://schemas.openxmlformats.org/officeDocument/2006/relationships/oleObject" Target="../embeddings/oleObject171.bin"/><Relationship Id="rId12" Type="http://schemas.openxmlformats.org/officeDocument/2006/relationships/oleObject" Target="../embeddings/oleObject176.bin"/><Relationship Id="rId17" Type="http://schemas.openxmlformats.org/officeDocument/2006/relationships/oleObject" Target="../embeddings/oleObject181.bin"/><Relationship Id="rId2" Type="http://schemas.openxmlformats.org/officeDocument/2006/relationships/slideLayout" Target="../slideLayouts/slideLayout7.xml"/><Relationship Id="rId16" Type="http://schemas.openxmlformats.org/officeDocument/2006/relationships/oleObject" Target="../embeddings/oleObject180.bin"/><Relationship Id="rId1" Type="http://schemas.openxmlformats.org/officeDocument/2006/relationships/vmlDrawing" Target="../drawings/vmlDrawing19.vml"/><Relationship Id="rId6" Type="http://schemas.openxmlformats.org/officeDocument/2006/relationships/oleObject" Target="../embeddings/oleObject170.bin"/><Relationship Id="rId11" Type="http://schemas.openxmlformats.org/officeDocument/2006/relationships/oleObject" Target="../embeddings/oleObject175.bin"/><Relationship Id="rId5" Type="http://schemas.openxmlformats.org/officeDocument/2006/relationships/oleObject" Target="../embeddings/oleObject169.bin"/><Relationship Id="rId15" Type="http://schemas.openxmlformats.org/officeDocument/2006/relationships/oleObject" Target="../embeddings/oleObject179.bin"/><Relationship Id="rId10" Type="http://schemas.openxmlformats.org/officeDocument/2006/relationships/oleObject" Target="../embeddings/oleObject174.bin"/><Relationship Id="rId19" Type="http://schemas.openxmlformats.org/officeDocument/2006/relationships/oleObject" Target="../embeddings/oleObject183.bin"/><Relationship Id="rId4" Type="http://schemas.openxmlformats.org/officeDocument/2006/relationships/oleObject" Target="../embeddings/oleObject168.bin"/><Relationship Id="rId9" Type="http://schemas.openxmlformats.org/officeDocument/2006/relationships/oleObject" Target="../embeddings/oleObject173.bin"/><Relationship Id="rId14" Type="http://schemas.openxmlformats.org/officeDocument/2006/relationships/oleObject" Target="../embeddings/oleObject178.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89.bin"/><Relationship Id="rId3" Type="http://schemas.openxmlformats.org/officeDocument/2006/relationships/oleObject" Target="../embeddings/oleObject184.bin"/><Relationship Id="rId7" Type="http://schemas.openxmlformats.org/officeDocument/2006/relationships/oleObject" Target="../embeddings/oleObject188.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187.bin"/><Relationship Id="rId11" Type="http://schemas.openxmlformats.org/officeDocument/2006/relationships/oleObject" Target="../embeddings/oleObject192.bin"/><Relationship Id="rId5" Type="http://schemas.openxmlformats.org/officeDocument/2006/relationships/oleObject" Target="../embeddings/oleObject186.bin"/><Relationship Id="rId10" Type="http://schemas.openxmlformats.org/officeDocument/2006/relationships/oleObject" Target="../embeddings/oleObject191.bin"/><Relationship Id="rId4" Type="http://schemas.openxmlformats.org/officeDocument/2006/relationships/oleObject" Target="../embeddings/oleObject185.bin"/><Relationship Id="rId9" Type="http://schemas.openxmlformats.org/officeDocument/2006/relationships/oleObject" Target="../embeddings/oleObject190.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93.bin"/><Relationship Id="rId7" Type="http://schemas.openxmlformats.org/officeDocument/2006/relationships/oleObject" Target="../embeddings/oleObject197.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96.bin"/><Relationship Id="rId5" Type="http://schemas.openxmlformats.org/officeDocument/2006/relationships/oleObject" Target="../embeddings/oleObject195.bin"/><Relationship Id="rId4" Type="http://schemas.openxmlformats.org/officeDocument/2006/relationships/oleObject" Target="../embeddings/oleObject194.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03.bin"/><Relationship Id="rId13" Type="http://schemas.openxmlformats.org/officeDocument/2006/relationships/oleObject" Target="../embeddings/oleObject208.bin"/><Relationship Id="rId18" Type="http://schemas.openxmlformats.org/officeDocument/2006/relationships/oleObject" Target="../embeddings/oleObject213.bin"/><Relationship Id="rId3" Type="http://schemas.openxmlformats.org/officeDocument/2006/relationships/oleObject" Target="../embeddings/oleObject198.bin"/><Relationship Id="rId7" Type="http://schemas.openxmlformats.org/officeDocument/2006/relationships/oleObject" Target="../embeddings/oleObject202.bin"/><Relationship Id="rId12" Type="http://schemas.openxmlformats.org/officeDocument/2006/relationships/oleObject" Target="../embeddings/oleObject207.bin"/><Relationship Id="rId17" Type="http://schemas.openxmlformats.org/officeDocument/2006/relationships/oleObject" Target="../embeddings/oleObject212.bin"/><Relationship Id="rId2" Type="http://schemas.openxmlformats.org/officeDocument/2006/relationships/slideLayout" Target="../slideLayouts/slideLayout7.xml"/><Relationship Id="rId16" Type="http://schemas.openxmlformats.org/officeDocument/2006/relationships/oleObject" Target="../embeddings/oleObject211.bin"/><Relationship Id="rId1" Type="http://schemas.openxmlformats.org/officeDocument/2006/relationships/vmlDrawing" Target="../drawings/vmlDrawing22.vml"/><Relationship Id="rId6" Type="http://schemas.openxmlformats.org/officeDocument/2006/relationships/oleObject" Target="../embeddings/oleObject201.bin"/><Relationship Id="rId11" Type="http://schemas.openxmlformats.org/officeDocument/2006/relationships/oleObject" Target="../embeddings/oleObject206.bin"/><Relationship Id="rId5" Type="http://schemas.openxmlformats.org/officeDocument/2006/relationships/oleObject" Target="../embeddings/oleObject200.bin"/><Relationship Id="rId15" Type="http://schemas.openxmlformats.org/officeDocument/2006/relationships/oleObject" Target="../embeddings/oleObject210.bin"/><Relationship Id="rId10" Type="http://schemas.openxmlformats.org/officeDocument/2006/relationships/oleObject" Target="../embeddings/oleObject205.bin"/><Relationship Id="rId4" Type="http://schemas.openxmlformats.org/officeDocument/2006/relationships/oleObject" Target="../embeddings/oleObject199.bin"/><Relationship Id="rId9" Type="http://schemas.openxmlformats.org/officeDocument/2006/relationships/oleObject" Target="../embeddings/oleObject204.bin"/><Relationship Id="rId14" Type="http://schemas.openxmlformats.org/officeDocument/2006/relationships/oleObject" Target="../embeddings/oleObject209.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219.bin"/><Relationship Id="rId13" Type="http://schemas.openxmlformats.org/officeDocument/2006/relationships/oleObject" Target="../embeddings/oleObject224.bin"/><Relationship Id="rId3" Type="http://schemas.openxmlformats.org/officeDocument/2006/relationships/oleObject" Target="../embeddings/oleObject214.bin"/><Relationship Id="rId7" Type="http://schemas.openxmlformats.org/officeDocument/2006/relationships/oleObject" Target="../embeddings/oleObject218.bin"/><Relationship Id="rId12" Type="http://schemas.openxmlformats.org/officeDocument/2006/relationships/oleObject" Target="../embeddings/oleObject223.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217.bin"/><Relationship Id="rId11" Type="http://schemas.openxmlformats.org/officeDocument/2006/relationships/oleObject" Target="../embeddings/oleObject222.bin"/><Relationship Id="rId5" Type="http://schemas.openxmlformats.org/officeDocument/2006/relationships/oleObject" Target="../embeddings/oleObject216.bin"/><Relationship Id="rId10" Type="http://schemas.openxmlformats.org/officeDocument/2006/relationships/oleObject" Target="../embeddings/oleObject221.bin"/><Relationship Id="rId4" Type="http://schemas.openxmlformats.org/officeDocument/2006/relationships/oleObject" Target="../embeddings/oleObject215.bin"/><Relationship Id="rId9" Type="http://schemas.openxmlformats.org/officeDocument/2006/relationships/oleObject" Target="../embeddings/oleObject220.bin"/><Relationship Id="rId1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hyperlink" Target="../ch11-4.ppt" TargetMode="External"/><Relationship Id="rId7" Type="http://schemas.openxmlformats.org/officeDocument/2006/relationships/oleObject" Target="../embeddings/oleObject228.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227.bin"/><Relationship Id="rId5" Type="http://schemas.openxmlformats.org/officeDocument/2006/relationships/oleObject" Target="../embeddings/oleObject226.bin"/><Relationship Id="rId4" Type="http://schemas.openxmlformats.org/officeDocument/2006/relationships/oleObject" Target="../embeddings/oleObject225.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34.bin"/><Relationship Id="rId3" Type="http://schemas.openxmlformats.org/officeDocument/2006/relationships/oleObject" Target="../embeddings/oleObject229.bin"/><Relationship Id="rId7" Type="http://schemas.openxmlformats.org/officeDocument/2006/relationships/oleObject" Target="../embeddings/oleObject233.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232.bin"/><Relationship Id="rId5" Type="http://schemas.openxmlformats.org/officeDocument/2006/relationships/oleObject" Target="../embeddings/oleObject231.bin"/><Relationship Id="rId4" Type="http://schemas.openxmlformats.org/officeDocument/2006/relationships/oleObject" Target="../embeddings/oleObject230.bin"/><Relationship Id="rId9" Type="http://schemas.openxmlformats.org/officeDocument/2006/relationships/oleObject" Target="../embeddings/oleObject235.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36.bin"/><Relationship Id="rId2" Type="http://schemas.openxmlformats.org/officeDocument/2006/relationships/slideLayout" Target="../slideLayouts/slideLayout7.xml"/><Relationship Id="rId1" Type="http://schemas.openxmlformats.org/officeDocument/2006/relationships/vmlDrawing" Target="../drawings/vmlDrawing26.vml"/><Relationship Id="rId4" Type="http://schemas.openxmlformats.org/officeDocument/2006/relationships/oleObject" Target="../embeddings/oleObject237.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243.bin"/><Relationship Id="rId13" Type="http://schemas.openxmlformats.org/officeDocument/2006/relationships/oleObject" Target="../embeddings/oleObject248.bin"/><Relationship Id="rId3" Type="http://schemas.openxmlformats.org/officeDocument/2006/relationships/oleObject" Target="../embeddings/oleObject238.bin"/><Relationship Id="rId7" Type="http://schemas.openxmlformats.org/officeDocument/2006/relationships/oleObject" Target="../embeddings/oleObject242.bin"/><Relationship Id="rId12" Type="http://schemas.openxmlformats.org/officeDocument/2006/relationships/oleObject" Target="../embeddings/oleObject247.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241.bin"/><Relationship Id="rId11" Type="http://schemas.openxmlformats.org/officeDocument/2006/relationships/oleObject" Target="../embeddings/oleObject246.bin"/><Relationship Id="rId5" Type="http://schemas.openxmlformats.org/officeDocument/2006/relationships/oleObject" Target="../embeddings/oleObject240.bin"/><Relationship Id="rId10" Type="http://schemas.openxmlformats.org/officeDocument/2006/relationships/oleObject" Target="../embeddings/oleObject245.bin"/><Relationship Id="rId4" Type="http://schemas.openxmlformats.org/officeDocument/2006/relationships/oleObject" Target="../embeddings/oleObject239.bin"/><Relationship Id="rId9" Type="http://schemas.openxmlformats.org/officeDocument/2006/relationships/oleObject" Target="../embeddings/oleObject244.bin"/></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49.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252.bin"/><Relationship Id="rId5" Type="http://schemas.openxmlformats.org/officeDocument/2006/relationships/oleObject" Target="../embeddings/oleObject251.bin"/><Relationship Id="rId4" Type="http://schemas.openxmlformats.org/officeDocument/2006/relationships/oleObject" Target="../embeddings/oleObject250.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58.bin"/><Relationship Id="rId13" Type="http://schemas.openxmlformats.org/officeDocument/2006/relationships/oleObject" Target="../embeddings/oleObject263.bin"/><Relationship Id="rId3" Type="http://schemas.openxmlformats.org/officeDocument/2006/relationships/oleObject" Target="../embeddings/oleObject253.bin"/><Relationship Id="rId7" Type="http://schemas.openxmlformats.org/officeDocument/2006/relationships/oleObject" Target="../embeddings/oleObject257.bin"/><Relationship Id="rId12" Type="http://schemas.openxmlformats.org/officeDocument/2006/relationships/oleObject" Target="../embeddings/oleObject262.bin"/><Relationship Id="rId2" Type="http://schemas.openxmlformats.org/officeDocument/2006/relationships/slideLayout" Target="../slideLayouts/slideLayout7.xml"/><Relationship Id="rId16" Type="http://schemas.openxmlformats.org/officeDocument/2006/relationships/slide" Target="slide2.xml"/><Relationship Id="rId1" Type="http://schemas.openxmlformats.org/officeDocument/2006/relationships/vmlDrawing" Target="../drawings/vmlDrawing29.vml"/><Relationship Id="rId6" Type="http://schemas.openxmlformats.org/officeDocument/2006/relationships/oleObject" Target="../embeddings/oleObject256.bin"/><Relationship Id="rId11" Type="http://schemas.openxmlformats.org/officeDocument/2006/relationships/oleObject" Target="../embeddings/oleObject261.bin"/><Relationship Id="rId5" Type="http://schemas.openxmlformats.org/officeDocument/2006/relationships/oleObject" Target="../embeddings/oleObject255.bin"/><Relationship Id="rId15" Type="http://schemas.openxmlformats.org/officeDocument/2006/relationships/oleObject" Target="../embeddings/oleObject265.bin"/><Relationship Id="rId10" Type="http://schemas.openxmlformats.org/officeDocument/2006/relationships/oleObject" Target="../embeddings/oleObject260.bin"/><Relationship Id="rId4" Type="http://schemas.openxmlformats.org/officeDocument/2006/relationships/oleObject" Target="../embeddings/oleObject254.bin"/><Relationship Id="rId9" Type="http://schemas.openxmlformats.org/officeDocument/2006/relationships/oleObject" Target="../embeddings/oleObject259.bin"/><Relationship Id="rId14" Type="http://schemas.openxmlformats.org/officeDocument/2006/relationships/oleObject" Target="../embeddings/oleObject264.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70.bin"/><Relationship Id="rId13" Type="http://schemas.openxmlformats.org/officeDocument/2006/relationships/oleObject" Target="../embeddings/oleObject275.bin"/><Relationship Id="rId3" Type="http://schemas.openxmlformats.org/officeDocument/2006/relationships/hyperlink" Target="../ch11-5.ppt" TargetMode="External"/><Relationship Id="rId7" Type="http://schemas.openxmlformats.org/officeDocument/2006/relationships/oleObject" Target="../embeddings/oleObject269.bin"/><Relationship Id="rId12" Type="http://schemas.openxmlformats.org/officeDocument/2006/relationships/oleObject" Target="../embeddings/oleObject274.bin"/><Relationship Id="rId2" Type="http://schemas.openxmlformats.org/officeDocument/2006/relationships/slideLayout" Target="../slideLayouts/slideLayout7.xml"/><Relationship Id="rId16" Type="http://schemas.openxmlformats.org/officeDocument/2006/relationships/oleObject" Target="../embeddings/oleObject278.bin"/><Relationship Id="rId1" Type="http://schemas.openxmlformats.org/officeDocument/2006/relationships/vmlDrawing" Target="../drawings/vmlDrawing30.vml"/><Relationship Id="rId6" Type="http://schemas.openxmlformats.org/officeDocument/2006/relationships/oleObject" Target="../embeddings/oleObject268.bin"/><Relationship Id="rId11" Type="http://schemas.openxmlformats.org/officeDocument/2006/relationships/oleObject" Target="../embeddings/oleObject273.bin"/><Relationship Id="rId5" Type="http://schemas.openxmlformats.org/officeDocument/2006/relationships/oleObject" Target="../embeddings/oleObject267.bin"/><Relationship Id="rId15" Type="http://schemas.openxmlformats.org/officeDocument/2006/relationships/oleObject" Target="../embeddings/oleObject277.bin"/><Relationship Id="rId10" Type="http://schemas.openxmlformats.org/officeDocument/2006/relationships/oleObject" Target="../embeddings/oleObject272.bin"/><Relationship Id="rId4" Type="http://schemas.openxmlformats.org/officeDocument/2006/relationships/oleObject" Target="../embeddings/oleObject266.bin"/><Relationship Id="rId9" Type="http://schemas.openxmlformats.org/officeDocument/2006/relationships/oleObject" Target="../embeddings/oleObject271.bin"/><Relationship Id="rId14" Type="http://schemas.openxmlformats.org/officeDocument/2006/relationships/oleObject" Target="../embeddings/oleObject276.bin"/></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283.bin"/><Relationship Id="rId13" Type="http://schemas.openxmlformats.org/officeDocument/2006/relationships/oleObject" Target="../embeddings/oleObject288.bin"/><Relationship Id="rId18" Type="http://schemas.openxmlformats.org/officeDocument/2006/relationships/oleObject" Target="../embeddings/oleObject293.bin"/><Relationship Id="rId3" Type="http://schemas.openxmlformats.org/officeDocument/2006/relationships/notesSlide" Target="../notesSlides/notesSlide4.xml"/><Relationship Id="rId7" Type="http://schemas.openxmlformats.org/officeDocument/2006/relationships/oleObject" Target="../embeddings/oleObject282.bin"/><Relationship Id="rId12" Type="http://schemas.openxmlformats.org/officeDocument/2006/relationships/oleObject" Target="../embeddings/oleObject287.bin"/><Relationship Id="rId17" Type="http://schemas.openxmlformats.org/officeDocument/2006/relationships/oleObject" Target="../embeddings/oleObject292.bin"/><Relationship Id="rId2" Type="http://schemas.openxmlformats.org/officeDocument/2006/relationships/slideLayout" Target="../slideLayouts/slideLayout7.xml"/><Relationship Id="rId16" Type="http://schemas.openxmlformats.org/officeDocument/2006/relationships/oleObject" Target="../embeddings/oleObject291.bin"/><Relationship Id="rId1" Type="http://schemas.openxmlformats.org/officeDocument/2006/relationships/vmlDrawing" Target="../drawings/vmlDrawing31.vml"/><Relationship Id="rId6" Type="http://schemas.openxmlformats.org/officeDocument/2006/relationships/oleObject" Target="../embeddings/oleObject281.bin"/><Relationship Id="rId11" Type="http://schemas.openxmlformats.org/officeDocument/2006/relationships/oleObject" Target="../embeddings/oleObject286.bin"/><Relationship Id="rId5" Type="http://schemas.openxmlformats.org/officeDocument/2006/relationships/oleObject" Target="../embeddings/oleObject280.bin"/><Relationship Id="rId15" Type="http://schemas.openxmlformats.org/officeDocument/2006/relationships/oleObject" Target="../embeddings/oleObject290.bin"/><Relationship Id="rId10" Type="http://schemas.openxmlformats.org/officeDocument/2006/relationships/oleObject" Target="../embeddings/oleObject285.bin"/><Relationship Id="rId19" Type="http://schemas.openxmlformats.org/officeDocument/2006/relationships/oleObject" Target="../embeddings/oleObject294.bin"/><Relationship Id="rId4" Type="http://schemas.openxmlformats.org/officeDocument/2006/relationships/oleObject" Target="../embeddings/oleObject279.bin"/><Relationship Id="rId9" Type="http://schemas.openxmlformats.org/officeDocument/2006/relationships/oleObject" Target="../embeddings/oleObject284.bin"/><Relationship Id="rId14" Type="http://schemas.openxmlformats.org/officeDocument/2006/relationships/oleObject" Target="../embeddings/oleObject289.bin"/></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300.bin"/><Relationship Id="rId3" Type="http://schemas.openxmlformats.org/officeDocument/2006/relationships/oleObject" Target="../embeddings/oleObject295.bin"/><Relationship Id="rId7" Type="http://schemas.openxmlformats.org/officeDocument/2006/relationships/oleObject" Target="../embeddings/oleObject299.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298.bin"/><Relationship Id="rId11" Type="http://schemas.openxmlformats.org/officeDocument/2006/relationships/oleObject" Target="../embeddings/oleObject303.bin"/><Relationship Id="rId5" Type="http://schemas.openxmlformats.org/officeDocument/2006/relationships/oleObject" Target="../embeddings/oleObject297.bin"/><Relationship Id="rId10" Type="http://schemas.openxmlformats.org/officeDocument/2006/relationships/oleObject" Target="../embeddings/oleObject302.bin"/><Relationship Id="rId4" Type="http://schemas.openxmlformats.org/officeDocument/2006/relationships/oleObject" Target="../embeddings/oleObject296.bin"/><Relationship Id="rId9" Type="http://schemas.openxmlformats.org/officeDocument/2006/relationships/oleObject" Target="../embeddings/oleObject301.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04.bin"/><Relationship Id="rId2" Type="http://schemas.openxmlformats.org/officeDocument/2006/relationships/slideLayout" Target="../slideLayouts/slideLayout7.xml"/><Relationship Id="rId1" Type="http://schemas.openxmlformats.org/officeDocument/2006/relationships/vmlDrawing" Target="../drawings/vmlDrawing33.vml"/><Relationship Id="rId4" Type="http://schemas.openxmlformats.org/officeDocument/2006/relationships/oleObject" Target="../embeddings/oleObject305.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11.bin"/><Relationship Id="rId3" Type="http://schemas.openxmlformats.org/officeDocument/2006/relationships/oleObject" Target="../embeddings/oleObject306.bin"/><Relationship Id="rId7" Type="http://schemas.openxmlformats.org/officeDocument/2006/relationships/oleObject" Target="../embeddings/oleObject310.bin"/><Relationship Id="rId12" Type="http://schemas.openxmlformats.org/officeDocument/2006/relationships/oleObject" Target="../embeddings/oleObject315.bin"/><Relationship Id="rId2" Type="http://schemas.openxmlformats.org/officeDocument/2006/relationships/slideLayout" Target="../slideLayouts/slideLayout7.xml"/><Relationship Id="rId1" Type="http://schemas.openxmlformats.org/officeDocument/2006/relationships/vmlDrawing" Target="../drawings/vmlDrawing34.vml"/><Relationship Id="rId6" Type="http://schemas.openxmlformats.org/officeDocument/2006/relationships/oleObject" Target="../embeddings/oleObject309.bin"/><Relationship Id="rId11" Type="http://schemas.openxmlformats.org/officeDocument/2006/relationships/oleObject" Target="../embeddings/oleObject314.bin"/><Relationship Id="rId5" Type="http://schemas.openxmlformats.org/officeDocument/2006/relationships/oleObject" Target="../embeddings/oleObject308.bin"/><Relationship Id="rId10" Type="http://schemas.openxmlformats.org/officeDocument/2006/relationships/oleObject" Target="../embeddings/oleObject313.bin"/><Relationship Id="rId4" Type="http://schemas.openxmlformats.org/officeDocument/2006/relationships/oleObject" Target="../embeddings/oleObject307.bin"/><Relationship Id="rId9" Type="http://schemas.openxmlformats.org/officeDocument/2006/relationships/oleObject" Target="../embeddings/oleObject312.bin"/></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321.bin"/><Relationship Id="rId13" Type="http://schemas.openxmlformats.org/officeDocument/2006/relationships/slide" Target="slide2.xml"/><Relationship Id="rId3" Type="http://schemas.openxmlformats.org/officeDocument/2006/relationships/oleObject" Target="../embeddings/oleObject316.bin"/><Relationship Id="rId7" Type="http://schemas.openxmlformats.org/officeDocument/2006/relationships/oleObject" Target="../embeddings/oleObject320.bin"/><Relationship Id="rId12" Type="http://schemas.openxmlformats.org/officeDocument/2006/relationships/oleObject" Target="../embeddings/oleObject325.bin"/><Relationship Id="rId2" Type="http://schemas.openxmlformats.org/officeDocument/2006/relationships/slideLayout" Target="../slideLayouts/slideLayout7.xml"/><Relationship Id="rId1" Type="http://schemas.openxmlformats.org/officeDocument/2006/relationships/vmlDrawing" Target="../drawings/vmlDrawing35.vml"/><Relationship Id="rId6" Type="http://schemas.openxmlformats.org/officeDocument/2006/relationships/oleObject" Target="../embeddings/oleObject319.bin"/><Relationship Id="rId11" Type="http://schemas.openxmlformats.org/officeDocument/2006/relationships/oleObject" Target="../embeddings/oleObject324.bin"/><Relationship Id="rId5" Type="http://schemas.openxmlformats.org/officeDocument/2006/relationships/oleObject" Target="../embeddings/oleObject318.bin"/><Relationship Id="rId10" Type="http://schemas.openxmlformats.org/officeDocument/2006/relationships/oleObject" Target="../embeddings/oleObject323.bin"/><Relationship Id="rId4" Type="http://schemas.openxmlformats.org/officeDocument/2006/relationships/oleObject" Target="../embeddings/oleObject317.bin"/><Relationship Id="rId9" Type="http://schemas.openxmlformats.org/officeDocument/2006/relationships/oleObject" Target="../embeddings/oleObject32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500063"/>
            <a:ext cx="7772400" cy="1470025"/>
          </a:xfrm>
        </p:spPr>
        <p:txBody>
          <a:bodyPr/>
          <a:lstStyle/>
          <a:p>
            <a:pPr eaLnBrk="1" hangingPunct="1">
              <a:defRPr/>
            </a:pPr>
            <a:r>
              <a:rPr lang="zh-CN" altLang="en-US" sz="5400" b="1" dirty="0" smtClean="0">
                <a:solidFill>
                  <a:srgbClr val="FF0000"/>
                </a:solidFill>
                <a:effectLst>
                  <a:outerShdw blurRad="38100" dist="38100" dir="2700000" algn="tl">
                    <a:srgbClr val="C0C0C0"/>
                  </a:outerShdw>
                </a:effectLst>
                <a:latin typeface="隶书" pitchFamily="49" charset="-122"/>
                <a:ea typeface="隶书" pitchFamily="49" charset="-122"/>
              </a:rPr>
              <a:t>第</a:t>
            </a:r>
            <a:r>
              <a:rPr lang="en-US" altLang="zh-CN" sz="5400" b="1" dirty="0" smtClean="0">
                <a:solidFill>
                  <a:srgbClr val="FF0000"/>
                </a:solidFill>
                <a:effectLst>
                  <a:outerShdw blurRad="38100" dist="38100" dir="2700000" algn="tl">
                    <a:srgbClr val="C0C0C0"/>
                  </a:outerShdw>
                </a:effectLst>
                <a:latin typeface="Times New Roman" pitchFamily="18" charset="0"/>
                <a:ea typeface="隶书" pitchFamily="49" charset="-122"/>
                <a:cs typeface="Times New Roman" pitchFamily="18" charset="0"/>
              </a:rPr>
              <a:t>11</a:t>
            </a:r>
            <a:r>
              <a:rPr lang="zh-CN" altLang="en-US" sz="5400" b="1" dirty="0" smtClean="0">
                <a:solidFill>
                  <a:srgbClr val="FF0000"/>
                </a:solidFill>
                <a:effectLst>
                  <a:outerShdw blurRad="38100" dist="38100" dir="2700000" algn="tl">
                    <a:srgbClr val="C0C0C0"/>
                  </a:outerShdw>
                </a:effectLst>
                <a:latin typeface="隶书" pitchFamily="49" charset="-122"/>
                <a:ea typeface="隶书" pitchFamily="49" charset="-122"/>
              </a:rPr>
              <a:t>章 电磁感应</a:t>
            </a:r>
          </a:p>
        </p:txBody>
      </p:sp>
      <p:pic>
        <p:nvPicPr>
          <p:cNvPr id="37891" name="图片 2" descr="图片1.jpg"/>
          <p:cNvPicPr>
            <a:picLocks noChangeAspect="1"/>
          </p:cNvPicPr>
          <p:nvPr/>
        </p:nvPicPr>
        <p:blipFill>
          <a:blip r:embed="rId2"/>
          <a:srcRect/>
          <a:stretch>
            <a:fillRect/>
          </a:stretch>
        </p:blipFill>
        <p:spPr bwMode="auto">
          <a:xfrm>
            <a:off x="1857375" y="1785938"/>
            <a:ext cx="5572125" cy="4457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250825" y="1557338"/>
            <a:ext cx="2736850" cy="519112"/>
          </a:xfrm>
          <a:prstGeom prst="rect">
            <a:avLst/>
          </a:prstGeom>
          <a:noFill/>
          <a:ln w="9525">
            <a:noFill/>
            <a:miter lim="800000"/>
            <a:headEnd/>
            <a:tailEnd/>
          </a:ln>
        </p:spPr>
        <p:txBody>
          <a:bodyPr>
            <a:spAutoFit/>
          </a:bodyPr>
          <a:lstStyle/>
          <a:p>
            <a:pPr algn="l"/>
            <a:r>
              <a:rPr kumimoji="1" lang="zh-CN" altLang="en-US" sz="2800" b="1">
                <a:solidFill>
                  <a:srgbClr val="0000FF"/>
                </a:solidFill>
                <a:latin typeface="宋体" pitchFamily="2" charset="-122"/>
              </a:rPr>
              <a:t>本章内容</a:t>
            </a:r>
            <a:r>
              <a:rPr kumimoji="1" lang="en-US" altLang="zh-CN" sz="2800" b="1">
                <a:solidFill>
                  <a:srgbClr val="0000FF"/>
                </a:solidFill>
                <a:latin typeface="宋体" pitchFamily="2" charset="-122"/>
              </a:rPr>
              <a:t>:</a:t>
            </a:r>
          </a:p>
        </p:txBody>
      </p:sp>
      <p:sp>
        <p:nvSpPr>
          <p:cNvPr id="4099" name="Rectangle 3"/>
          <p:cNvSpPr>
            <a:spLocks noChangeArrowheads="1"/>
          </p:cNvSpPr>
          <p:nvPr/>
        </p:nvSpPr>
        <p:spPr bwMode="auto">
          <a:xfrm>
            <a:off x="34925" y="431800"/>
            <a:ext cx="8820150" cy="769938"/>
          </a:xfrm>
          <a:prstGeom prst="rect">
            <a:avLst/>
          </a:prstGeom>
          <a:noFill/>
          <a:ln>
            <a:noFill/>
          </a:ln>
          <a:effectLst/>
          <a:extLst>
            <a:ext uri="{909E8E84-426E-40DD-AFC4-6F175D3DCCD1}"/>
            <a:ext uri="{91240B29-F687-4F45-9708-019B960494DF}"/>
            <a:ext uri="{AF507438-7753-43E0-B8FC-AC1667EBCBE1}"/>
          </a:extLst>
        </p:spPr>
        <p:txBody>
          <a:bodyPr anchor="ctr">
            <a:spAutoFit/>
          </a:bodyPr>
          <a:lstStyle/>
          <a:p>
            <a:pPr>
              <a:defRPr/>
            </a:pPr>
            <a:r>
              <a:rPr kumimoji="1" lang="zh-CN" altLang="en-US" sz="4400" b="1" dirty="0">
                <a:solidFill>
                  <a:srgbClr val="FF3300"/>
                </a:solidFill>
                <a:effectLst>
                  <a:outerShdw blurRad="38100" dist="38100" dir="2700000" algn="tl">
                    <a:srgbClr val="C0C0C0"/>
                  </a:outerShdw>
                </a:effectLst>
                <a:latin typeface="隶书" panose="02010509060101010101" pitchFamily="49" charset="-122"/>
                <a:ea typeface="隶书" panose="02010509060101010101" pitchFamily="49" charset="-122"/>
                <a:cs typeface="Times New Roman" pitchFamily="18" charset="0"/>
              </a:rPr>
              <a:t>第</a:t>
            </a:r>
            <a:r>
              <a:rPr kumimoji="1" lang="en-US" altLang="zh-CN" sz="4400" b="1" dirty="0">
                <a:solidFill>
                  <a:srgbClr val="FF3300"/>
                </a:solidFill>
                <a:effectLst>
                  <a:outerShdw blurRad="38100" dist="38100" dir="2700000" algn="tl">
                    <a:srgbClr val="C0C0C0"/>
                  </a:outerShdw>
                </a:effectLst>
                <a:latin typeface="Times New Roman" pitchFamily="18" charset="0"/>
                <a:ea typeface="隶书" panose="02010509060101010101" pitchFamily="49" charset="-122"/>
                <a:cs typeface="Times New Roman" pitchFamily="18" charset="0"/>
              </a:rPr>
              <a:t>11</a:t>
            </a:r>
            <a:r>
              <a:rPr kumimoji="1" lang="zh-CN" altLang="en-US" sz="4400" b="1" dirty="0">
                <a:solidFill>
                  <a:srgbClr val="FF3300"/>
                </a:solidFill>
                <a:effectLst>
                  <a:outerShdw blurRad="38100" dist="38100" dir="2700000" algn="tl">
                    <a:srgbClr val="C0C0C0"/>
                  </a:outerShdw>
                </a:effectLst>
                <a:latin typeface="隶书" panose="02010509060101010101" pitchFamily="49" charset="-122"/>
                <a:ea typeface="隶书" panose="02010509060101010101" pitchFamily="49" charset="-122"/>
                <a:cs typeface="Times New Roman" pitchFamily="18" charset="0"/>
              </a:rPr>
              <a:t>章 电磁感应 </a:t>
            </a:r>
          </a:p>
        </p:txBody>
      </p:sp>
      <p:sp>
        <p:nvSpPr>
          <p:cNvPr id="4100" name="Line 4"/>
          <p:cNvSpPr>
            <a:spLocks noChangeShapeType="1"/>
          </p:cNvSpPr>
          <p:nvPr/>
        </p:nvSpPr>
        <p:spPr bwMode="auto">
          <a:xfrm>
            <a:off x="65088" y="1387475"/>
            <a:ext cx="9043987" cy="0"/>
          </a:xfrm>
          <a:prstGeom prst="line">
            <a:avLst/>
          </a:prstGeom>
          <a:noFill/>
          <a:ln w="28575">
            <a:solidFill>
              <a:srgbClr val="0062E1">
                <a:alpha val="70195"/>
              </a:srgbClr>
            </a:solidFill>
            <a:round/>
            <a:headEnd/>
            <a:tailEnd/>
          </a:ln>
        </p:spPr>
        <p:txBody>
          <a:bodyPr/>
          <a:lstStyle/>
          <a:p>
            <a:endParaRPr lang="zh-CN" altLang="en-US"/>
          </a:p>
        </p:txBody>
      </p:sp>
      <p:sp>
        <p:nvSpPr>
          <p:cNvPr id="4101" name="Line 5"/>
          <p:cNvSpPr>
            <a:spLocks noChangeShapeType="1"/>
          </p:cNvSpPr>
          <p:nvPr/>
        </p:nvSpPr>
        <p:spPr bwMode="auto">
          <a:xfrm>
            <a:off x="100013" y="5805488"/>
            <a:ext cx="9043987" cy="0"/>
          </a:xfrm>
          <a:prstGeom prst="line">
            <a:avLst/>
          </a:prstGeom>
          <a:noFill/>
          <a:ln w="76200">
            <a:solidFill>
              <a:srgbClr val="0062E1">
                <a:alpha val="70195"/>
              </a:srgbClr>
            </a:solidFill>
            <a:round/>
            <a:headEnd/>
            <a:tailEnd/>
          </a:ln>
        </p:spPr>
        <p:txBody>
          <a:bodyPr/>
          <a:lstStyle/>
          <a:p>
            <a:endParaRPr lang="zh-CN" altLang="en-US"/>
          </a:p>
        </p:txBody>
      </p:sp>
      <p:sp>
        <p:nvSpPr>
          <p:cNvPr id="4109" name="Text Box 13">
            <a:hlinkClick r:id="rId2" action="ppaction://hlinksldjump"/>
          </p:cNvPr>
          <p:cNvSpPr txBox="1">
            <a:spLocks noChangeArrowheads="1"/>
          </p:cNvSpPr>
          <p:nvPr/>
        </p:nvSpPr>
        <p:spPr bwMode="auto">
          <a:xfrm>
            <a:off x="1116013" y="2262188"/>
            <a:ext cx="6335712" cy="461962"/>
          </a:xfrm>
          <a:prstGeom prst="rect">
            <a:avLst/>
          </a:prstGeom>
          <a:noFill/>
          <a:ln w="9525">
            <a:noFill/>
            <a:miter lim="800000"/>
            <a:headEnd/>
            <a:tailEnd/>
          </a:ln>
        </p:spPr>
        <p:txBody>
          <a:bodyPr>
            <a:spAutoFit/>
          </a:bodyPr>
          <a:lstStyle/>
          <a:p>
            <a:pPr algn="l"/>
            <a:r>
              <a:rPr lang="en-US" altLang="zh-CN" sz="2400" b="1">
                <a:solidFill>
                  <a:srgbClr val="0000FF"/>
                </a:solidFill>
                <a:latin typeface="Times New Roman" pitchFamily="18" charset="0"/>
              </a:rPr>
              <a:t>§11.1   </a:t>
            </a:r>
            <a:r>
              <a:rPr lang="zh-CN" altLang="en-US" sz="2400" b="1">
                <a:solidFill>
                  <a:srgbClr val="0000FF"/>
                </a:solidFill>
                <a:latin typeface="Times New Roman" pitchFamily="18" charset="0"/>
              </a:rPr>
              <a:t>电磁感应基本定律</a:t>
            </a:r>
          </a:p>
        </p:txBody>
      </p:sp>
      <p:sp>
        <p:nvSpPr>
          <p:cNvPr id="4110" name="Text Box 14">
            <a:hlinkClick r:id="rId3" action="ppaction://hlinksldjump"/>
          </p:cNvPr>
          <p:cNvSpPr txBox="1">
            <a:spLocks noChangeArrowheads="1"/>
          </p:cNvSpPr>
          <p:nvPr/>
        </p:nvSpPr>
        <p:spPr bwMode="auto">
          <a:xfrm>
            <a:off x="1116013" y="2982913"/>
            <a:ext cx="5832475" cy="461962"/>
          </a:xfrm>
          <a:prstGeom prst="rect">
            <a:avLst/>
          </a:prstGeom>
          <a:noFill/>
          <a:ln w="9525">
            <a:noFill/>
            <a:miter lim="800000"/>
            <a:headEnd/>
            <a:tailEnd/>
          </a:ln>
        </p:spPr>
        <p:txBody>
          <a:bodyPr>
            <a:spAutoFit/>
          </a:bodyPr>
          <a:lstStyle/>
          <a:p>
            <a:pPr algn="l"/>
            <a:r>
              <a:rPr lang="en-US" altLang="zh-CN" sz="2400" b="1">
                <a:solidFill>
                  <a:srgbClr val="0000FF"/>
                </a:solidFill>
                <a:latin typeface="Times New Roman" pitchFamily="18" charset="0"/>
              </a:rPr>
              <a:t>§11.2   </a:t>
            </a:r>
            <a:r>
              <a:rPr lang="zh-CN" altLang="en-US" sz="2400" b="1">
                <a:solidFill>
                  <a:srgbClr val="0000FF"/>
                </a:solidFill>
                <a:latin typeface="Times New Roman" pitchFamily="18" charset="0"/>
              </a:rPr>
              <a:t>动生电动势  感生电动势</a:t>
            </a:r>
          </a:p>
        </p:txBody>
      </p:sp>
      <p:sp>
        <p:nvSpPr>
          <p:cNvPr id="4111" name="Text Box 15">
            <a:hlinkClick r:id="rId4" action="ppaction://hlinksldjump"/>
          </p:cNvPr>
          <p:cNvSpPr txBox="1">
            <a:spLocks noChangeArrowheads="1"/>
          </p:cNvSpPr>
          <p:nvPr/>
        </p:nvSpPr>
        <p:spPr bwMode="auto">
          <a:xfrm>
            <a:off x="1116013" y="3702050"/>
            <a:ext cx="5113337" cy="461963"/>
          </a:xfrm>
          <a:prstGeom prst="rect">
            <a:avLst/>
          </a:prstGeom>
          <a:noFill/>
          <a:ln w="9525">
            <a:noFill/>
            <a:miter lim="800000"/>
            <a:headEnd/>
            <a:tailEnd/>
          </a:ln>
        </p:spPr>
        <p:txBody>
          <a:bodyPr>
            <a:spAutoFit/>
          </a:bodyPr>
          <a:lstStyle/>
          <a:p>
            <a:pPr algn="l"/>
            <a:r>
              <a:rPr lang="en-US" altLang="zh-CN" sz="2400" b="1">
                <a:solidFill>
                  <a:srgbClr val="0000FF"/>
                </a:solidFill>
                <a:latin typeface="Times New Roman" pitchFamily="18" charset="0"/>
              </a:rPr>
              <a:t>§11.3   </a:t>
            </a:r>
            <a:r>
              <a:rPr lang="zh-CN" altLang="en-US" sz="2400" b="1">
                <a:solidFill>
                  <a:srgbClr val="0000FF"/>
                </a:solidFill>
                <a:latin typeface="Times New Roman" pitchFamily="18" charset="0"/>
              </a:rPr>
              <a:t>自感和互感</a:t>
            </a:r>
          </a:p>
        </p:txBody>
      </p:sp>
      <p:sp>
        <p:nvSpPr>
          <p:cNvPr id="4112" name="Text Box 16">
            <a:hlinkClick r:id="rId5" action="ppaction://hlinksldjump"/>
          </p:cNvPr>
          <p:cNvSpPr txBox="1">
            <a:spLocks noChangeArrowheads="1"/>
          </p:cNvSpPr>
          <p:nvPr/>
        </p:nvSpPr>
        <p:spPr bwMode="auto">
          <a:xfrm>
            <a:off x="1116013" y="4349750"/>
            <a:ext cx="6192837" cy="461963"/>
          </a:xfrm>
          <a:prstGeom prst="rect">
            <a:avLst/>
          </a:prstGeom>
          <a:noFill/>
          <a:ln w="9525">
            <a:noFill/>
            <a:miter lim="800000"/>
            <a:headEnd/>
            <a:tailEnd/>
          </a:ln>
        </p:spPr>
        <p:txBody>
          <a:bodyPr>
            <a:spAutoFit/>
          </a:bodyPr>
          <a:lstStyle/>
          <a:p>
            <a:pPr algn="l"/>
            <a:r>
              <a:rPr lang="en-US" altLang="zh-CN" sz="2400" b="1">
                <a:solidFill>
                  <a:srgbClr val="0000FF"/>
                </a:solidFill>
                <a:latin typeface="Times New Roman" pitchFamily="18" charset="0"/>
              </a:rPr>
              <a:t>§11.4    </a:t>
            </a:r>
            <a:r>
              <a:rPr lang="zh-CN" altLang="en-US" sz="2400" b="1">
                <a:solidFill>
                  <a:srgbClr val="0000FF"/>
                </a:solidFill>
                <a:latin typeface="Times New Roman" pitchFamily="18" charset="0"/>
              </a:rPr>
              <a:t>磁场的能量</a:t>
            </a:r>
          </a:p>
        </p:txBody>
      </p:sp>
      <p:sp>
        <p:nvSpPr>
          <p:cNvPr id="4113" name="Text Box 17">
            <a:hlinkClick r:id="rId6" action="ppaction://hlinksldjump"/>
          </p:cNvPr>
          <p:cNvSpPr txBox="1">
            <a:spLocks noChangeArrowheads="1"/>
          </p:cNvSpPr>
          <p:nvPr/>
        </p:nvSpPr>
        <p:spPr bwMode="auto">
          <a:xfrm>
            <a:off x="1116013" y="5070475"/>
            <a:ext cx="5903912" cy="461963"/>
          </a:xfrm>
          <a:prstGeom prst="rect">
            <a:avLst/>
          </a:prstGeom>
          <a:noFill/>
          <a:ln w="9525">
            <a:noFill/>
            <a:miter lim="800000"/>
            <a:headEnd/>
            <a:tailEnd/>
          </a:ln>
        </p:spPr>
        <p:txBody>
          <a:bodyPr>
            <a:spAutoFit/>
          </a:bodyPr>
          <a:lstStyle/>
          <a:p>
            <a:pPr algn="l"/>
            <a:r>
              <a:rPr lang="en-US" altLang="zh-CN" sz="2400" b="1">
                <a:solidFill>
                  <a:srgbClr val="0000FF"/>
                </a:solidFill>
                <a:latin typeface="Times New Roman" pitchFamily="18" charset="0"/>
              </a:rPr>
              <a:t>§11.5    </a:t>
            </a:r>
            <a:r>
              <a:rPr lang="zh-CN" altLang="en-US" sz="2400" b="1">
                <a:solidFill>
                  <a:srgbClr val="0000FF"/>
                </a:solidFill>
                <a:latin typeface="Times New Roman" pitchFamily="18" charset="0"/>
              </a:rPr>
              <a:t>麦克斯韦电磁场理论简介</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wipe(left)">
                                      <p:cBhvr>
                                        <p:cTn id="7" dur="500"/>
                                        <p:tgtEl>
                                          <p:spTgt spid="41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098"/>
                                        </p:tgtEl>
                                        <p:attrNameLst>
                                          <p:attrName>style.visibility</p:attrName>
                                        </p:attrNameLst>
                                      </p:cBhvr>
                                      <p:to>
                                        <p:strVal val="visible"/>
                                      </p:to>
                                    </p:set>
                                    <p:anim calcmode="lin" valueType="num">
                                      <p:cBhvr additive="base">
                                        <p:cTn id="12" dur="500" fill="hold"/>
                                        <p:tgtEl>
                                          <p:spTgt spid="4098"/>
                                        </p:tgtEl>
                                        <p:attrNameLst>
                                          <p:attrName>ppt_x</p:attrName>
                                        </p:attrNameLst>
                                      </p:cBhvr>
                                      <p:tavLst>
                                        <p:tav tm="0">
                                          <p:val>
                                            <p:strVal val="0-#ppt_w/2"/>
                                          </p:val>
                                        </p:tav>
                                        <p:tav tm="100000">
                                          <p:val>
                                            <p:strVal val="#ppt_x"/>
                                          </p:val>
                                        </p:tav>
                                      </p:tavLst>
                                    </p:anim>
                                    <p:anim calcmode="lin" valueType="num">
                                      <p:cBhvr additive="base">
                                        <p:cTn id="13" dur="500" fill="hold"/>
                                        <p:tgtEl>
                                          <p:spTgt spid="4098"/>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4109"/>
                                        </p:tgtEl>
                                        <p:attrNameLst>
                                          <p:attrName>style.visibility</p:attrName>
                                        </p:attrNameLst>
                                      </p:cBhvr>
                                      <p:to>
                                        <p:strVal val="visible"/>
                                      </p:to>
                                    </p:set>
                                    <p:animEffect transition="in" filter="wipe(left)">
                                      <p:cBhvr>
                                        <p:cTn id="18" dur="500"/>
                                        <p:tgtEl>
                                          <p:spTgt spid="4109"/>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110"/>
                                        </p:tgtEl>
                                        <p:attrNameLst>
                                          <p:attrName>style.visibility</p:attrName>
                                        </p:attrNameLst>
                                      </p:cBhvr>
                                      <p:to>
                                        <p:strVal val="visible"/>
                                      </p:to>
                                    </p:set>
                                    <p:animEffect transition="in" filter="wipe(left)">
                                      <p:cBhvr>
                                        <p:cTn id="21" dur="500"/>
                                        <p:tgtEl>
                                          <p:spTgt spid="411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4111"/>
                                        </p:tgtEl>
                                        <p:attrNameLst>
                                          <p:attrName>style.visibility</p:attrName>
                                        </p:attrNameLst>
                                      </p:cBhvr>
                                      <p:to>
                                        <p:strVal val="visible"/>
                                      </p:to>
                                    </p:set>
                                    <p:animEffect transition="in" filter="wipe(left)">
                                      <p:cBhvr>
                                        <p:cTn id="24" dur="500"/>
                                        <p:tgtEl>
                                          <p:spTgt spid="411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4112"/>
                                        </p:tgtEl>
                                        <p:attrNameLst>
                                          <p:attrName>style.visibility</p:attrName>
                                        </p:attrNameLst>
                                      </p:cBhvr>
                                      <p:to>
                                        <p:strVal val="visible"/>
                                      </p:to>
                                    </p:set>
                                    <p:animEffect transition="in" filter="wipe(left)">
                                      <p:cBhvr>
                                        <p:cTn id="27" dur="500"/>
                                        <p:tgtEl>
                                          <p:spTgt spid="411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4113"/>
                                        </p:tgtEl>
                                        <p:attrNameLst>
                                          <p:attrName>style.visibility</p:attrName>
                                        </p:attrNameLst>
                                      </p:cBhvr>
                                      <p:to>
                                        <p:strVal val="visible"/>
                                      </p:to>
                                    </p:set>
                                    <p:animEffect transition="in" filter="wipe(left)">
                                      <p:cBhvr>
                                        <p:cTn id="30" dur="500"/>
                                        <p:tgtEl>
                                          <p:spTgt spid="411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4101"/>
                                        </p:tgtEl>
                                        <p:attrNameLst>
                                          <p:attrName>style.visibility</p:attrName>
                                        </p:attrNameLst>
                                      </p:cBhvr>
                                      <p:to>
                                        <p:strVal val="visible"/>
                                      </p:to>
                                    </p:set>
                                    <p:animEffect transition="in" filter="wipe(down)">
                                      <p:cBhvr>
                                        <p:cTn id="35" dur="500"/>
                                        <p:tgtEl>
                                          <p:spTgt spid="4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P spid="4100" grpId="0" animBg="1"/>
      <p:bldP spid="4101" grpId="0" animBg="1"/>
      <p:bldP spid="4109" grpId="0"/>
      <p:bldP spid="4110" grpId="0"/>
      <p:bldP spid="4111" grpId="0"/>
      <p:bldP spid="4112" grpId="0"/>
      <p:bldP spid="41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425450" y="1154113"/>
            <a:ext cx="453707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静电场、稳恒电流的磁场</a:t>
            </a:r>
          </a:p>
        </p:txBody>
      </p:sp>
      <p:sp>
        <p:nvSpPr>
          <p:cNvPr id="9220" name="Rectangle 4"/>
          <p:cNvSpPr>
            <a:spLocks noChangeArrowheads="1"/>
          </p:cNvSpPr>
          <p:nvPr/>
        </p:nvSpPr>
        <p:spPr bwMode="auto">
          <a:xfrm>
            <a:off x="4916488" y="1131888"/>
            <a:ext cx="3384550"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不随时间而变化</a:t>
            </a:r>
          </a:p>
        </p:txBody>
      </p:sp>
      <p:sp>
        <p:nvSpPr>
          <p:cNvPr id="9221" name="Text Box 5"/>
          <p:cNvSpPr txBox="1">
            <a:spLocks noChangeArrowheads="1"/>
          </p:cNvSpPr>
          <p:nvPr/>
        </p:nvSpPr>
        <p:spPr bwMode="auto">
          <a:xfrm>
            <a:off x="4962525" y="1722438"/>
            <a:ext cx="387667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如果</a:t>
            </a:r>
            <a:r>
              <a:rPr kumimoji="1" lang="zh-CN" altLang="en-US" sz="2400" b="1">
                <a:solidFill>
                  <a:srgbClr val="FF0000"/>
                </a:solidFill>
                <a:latin typeface="Times New Roman" pitchFamily="18" charset="0"/>
                <a:ea typeface="楷体_GB2312" pitchFamily="49" charset="-122"/>
              </a:rPr>
              <a:t>磁场</a:t>
            </a:r>
            <a:r>
              <a:rPr kumimoji="1" lang="zh-CN" altLang="en-US" sz="2400" b="1">
                <a:latin typeface="Times New Roman" pitchFamily="18" charset="0"/>
                <a:ea typeface="楷体_GB2312" pitchFamily="49" charset="-122"/>
              </a:rPr>
              <a:t>随时间而变化</a:t>
            </a:r>
          </a:p>
        </p:txBody>
      </p:sp>
      <p:sp>
        <p:nvSpPr>
          <p:cNvPr id="9222" name="Text Box 6"/>
          <p:cNvSpPr txBox="1">
            <a:spLocks noChangeArrowheads="1"/>
          </p:cNvSpPr>
          <p:nvPr/>
        </p:nvSpPr>
        <p:spPr bwMode="auto">
          <a:xfrm>
            <a:off x="525463" y="1760538"/>
            <a:ext cx="443547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什么现象？什么规律？</a:t>
            </a:r>
          </a:p>
        </p:txBody>
      </p:sp>
      <p:sp>
        <p:nvSpPr>
          <p:cNvPr id="9223" name="AutoShape 7"/>
          <p:cNvSpPr>
            <a:spLocks noChangeArrowheads="1"/>
          </p:cNvSpPr>
          <p:nvPr/>
        </p:nvSpPr>
        <p:spPr bwMode="auto">
          <a:xfrm>
            <a:off x="4111625" y="1322388"/>
            <a:ext cx="739775" cy="169862"/>
          </a:xfrm>
          <a:prstGeom prst="rightArrow">
            <a:avLst>
              <a:gd name="adj1" fmla="val 50000"/>
              <a:gd name="adj2" fmla="val 108879"/>
            </a:avLst>
          </a:prstGeom>
          <a:solidFill>
            <a:srgbClr val="0000FF"/>
          </a:solidFill>
          <a:ln w="9525" algn="ctr">
            <a:solidFill>
              <a:schemeClr val="tx1"/>
            </a:solidFill>
            <a:miter lim="800000"/>
            <a:headEnd/>
            <a:tailEnd/>
          </a:ln>
        </p:spPr>
        <p:txBody>
          <a:bodyPr anchor="ctr">
            <a:spAutoFit/>
          </a:bodyPr>
          <a:lstStyle/>
          <a:p>
            <a:endParaRPr lang="zh-CN" altLang="en-US"/>
          </a:p>
        </p:txBody>
      </p:sp>
      <p:sp>
        <p:nvSpPr>
          <p:cNvPr id="9224" name="AutoShape 8"/>
          <p:cNvSpPr>
            <a:spLocks noChangeArrowheads="1"/>
          </p:cNvSpPr>
          <p:nvPr/>
        </p:nvSpPr>
        <p:spPr bwMode="auto">
          <a:xfrm>
            <a:off x="4084638" y="1865313"/>
            <a:ext cx="792162" cy="169862"/>
          </a:xfrm>
          <a:prstGeom prst="leftArrow">
            <a:avLst>
              <a:gd name="adj1" fmla="val 50000"/>
              <a:gd name="adj2" fmla="val 116589"/>
            </a:avLst>
          </a:prstGeom>
          <a:solidFill>
            <a:srgbClr val="0000FF"/>
          </a:solidFill>
          <a:ln w="9525" algn="ctr">
            <a:solidFill>
              <a:schemeClr val="tx1"/>
            </a:solidFill>
            <a:miter lim="800000"/>
            <a:headEnd/>
            <a:tailEnd/>
          </a:ln>
        </p:spPr>
        <p:txBody>
          <a:bodyPr anchor="ctr">
            <a:spAutoFit/>
          </a:bodyPr>
          <a:lstStyle/>
          <a:p>
            <a:endParaRPr lang="zh-CN" altLang="en-US"/>
          </a:p>
        </p:txBody>
      </p:sp>
      <p:sp>
        <p:nvSpPr>
          <p:cNvPr id="9225" name="Text Box 9"/>
          <p:cNvSpPr txBox="1">
            <a:spLocks noChangeArrowheads="1"/>
          </p:cNvSpPr>
          <p:nvPr/>
        </p:nvSpPr>
        <p:spPr bwMode="auto">
          <a:xfrm>
            <a:off x="323850" y="2846388"/>
            <a:ext cx="449263" cy="831850"/>
          </a:xfrm>
          <a:prstGeom prst="rect">
            <a:avLst/>
          </a:prstGeom>
          <a:solidFill>
            <a:srgbClr val="CCFFFF"/>
          </a:solidFill>
          <a:ln w="9525">
            <a:solidFill>
              <a:srgbClr val="00FFFF"/>
            </a:solidFill>
            <a:miter lim="800000"/>
            <a:headEnd/>
            <a:tailEnd/>
          </a:ln>
          <a:effectLst/>
          <a:extLst>
            <a:ext uri="{AF507438-7753-43E0-B8FC-AC1667EBCBE1}"/>
          </a:extLst>
        </p:spPr>
        <p:txBody>
          <a:bodyPr>
            <a:spAutoFit/>
          </a:bodyPr>
          <a:lstStyle/>
          <a:p>
            <a:pPr algn="l">
              <a:buClr>
                <a:srgbClr val="00FFFF"/>
              </a:buClr>
              <a:buSzPts val="2400"/>
              <a:buFont typeface="Wingdings" pitchFamily="2" charset="2"/>
              <a:buNone/>
              <a:defRPr/>
            </a:pPr>
            <a:r>
              <a:rPr lang="zh-CN" altLang="en-US" sz="2400" b="1">
                <a:latin typeface="宋体" pitchFamily="2" charset="-122"/>
                <a:ea typeface="楷体_GB2312" pitchFamily="49" charset="-122"/>
              </a:rPr>
              <a:t>实验</a:t>
            </a:r>
            <a:endParaRPr lang="zh-CN" altLang="en-US" sz="2400">
              <a:solidFill>
                <a:srgbClr val="CCFFFF"/>
              </a:solidFill>
              <a:effectDag name="">
                <a:cont type="tree" name="">
                  <a:effect ref="fillLine"/>
                  <a:outerShdw dist="38100" dir="13500000" algn="br">
                    <a:srgbClr val="DDFFFF"/>
                  </a:outerShdw>
                </a:cont>
                <a:cont type="tree" name="">
                  <a:effect ref="fillLine"/>
                  <a:outerShdw dist="38100" dir="2700000" algn="tl">
                    <a:srgbClr val="7A9999"/>
                  </a:outerShdw>
                </a:cont>
                <a:effect ref="fillLine"/>
              </a:effectDag>
              <a:latin typeface="Times New Roman" pitchFamily="18" charset="0"/>
              <a:ea typeface="楷体_GB2312" pitchFamily="49" charset="-122"/>
            </a:endParaRPr>
          </a:p>
        </p:txBody>
      </p:sp>
      <p:sp>
        <p:nvSpPr>
          <p:cNvPr id="9226" name="Text Box 10"/>
          <p:cNvSpPr txBox="1">
            <a:spLocks noChangeArrowheads="1"/>
          </p:cNvSpPr>
          <p:nvPr/>
        </p:nvSpPr>
        <p:spPr bwMode="auto">
          <a:xfrm>
            <a:off x="1120775" y="2581275"/>
            <a:ext cx="5845175" cy="457200"/>
          </a:xfrm>
          <a:prstGeom prst="rect">
            <a:avLst/>
          </a:prstGeom>
          <a:noFill/>
          <a:ln w="9525">
            <a:noFill/>
            <a:miter lim="800000"/>
            <a:headEnd/>
            <a:tailEnd/>
          </a:ln>
        </p:spPr>
        <p:txBody>
          <a:bodyPr>
            <a:spAutoFit/>
          </a:bodyPr>
          <a:lstStyle/>
          <a:p>
            <a:pPr algn="l">
              <a:buClr>
                <a:srgbClr val="FF0000"/>
              </a:buClr>
              <a:buFont typeface="Wingdings" pitchFamily="2" charset="2"/>
              <a:buNone/>
            </a:pPr>
            <a:r>
              <a:rPr kumimoji="1" lang="zh-CN" altLang="en-US" sz="2400" b="1">
                <a:latin typeface="楷体_GB2312" pitchFamily="49" charset="-122"/>
                <a:ea typeface="楷体_GB2312" pitchFamily="49" charset="-122"/>
              </a:rPr>
              <a:t>磁铁与线圈有相对运动，线圈中产生电流</a:t>
            </a:r>
          </a:p>
        </p:txBody>
      </p:sp>
      <p:sp>
        <p:nvSpPr>
          <p:cNvPr id="9227" name="Text Box 11"/>
          <p:cNvSpPr txBox="1">
            <a:spLocks noChangeArrowheads="1"/>
          </p:cNvSpPr>
          <p:nvPr/>
        </p:nvSpPr>
        <p:spPr bwMode="auto">
          <a:xfrm>
            <a:off x="1042988" y="3517900"/>
            <a:ext cx="6481762" cy="457200"/>
          </a:xfrm>
          <a:prstGeom prst="rect">
            <a:avLst/>
          </a:prstGeom>
          <a:noFill/>
          <a:ln w="9525">
            <a:noFill/>
            <a:miter lim="800000"/>
            <a:headEnd/>
            <a:tailEnd/>
          </a:ln>
        </p:spPr>
        <p:txBody>
          <a:bodyPr>
            <a:spAutoFit/>
          </a:bodyPr>
          <a:lstStyle/>
          <a:p>
            <a:pPr algn="l">
              <a:buClr>
                <a:srgbClr val="FF0000"/>
              </a:buClr>
              <a:buFont typeface="Wingdings" pitchFamily="2" charset="2"/>
              <a:buNone/>
            </a:pPr>
            <a:r>
              <a:rPr kumimoji="1" lang="zh-CN" altLang="en-US" sz="2400" b="1">
                <a:latin typeface="楷体_GB2312" pitchFamily="49" charset="-122"/>
                <a:ea typeface="楷体_GB2312" pitchFamily="49" charset="-122"/>
                <a:cs typeface="Times New Roman" pitchFamily="18" charset="0"/>
              </a:rPr>
              <a:t>一线圈电流变化，在附近其它线圈中产生电流</a:t>
            </a:r>
          </a:p>
        </p:txBody>
      </p:sp>
      <p:grpSp>
        <p:nvGrpSpPr>
          <p:cNvPr id="2" name="Group 12"/>
          <p:cNvGrpSpPr>
            <a:grpSpLocks/>
          </p:cNvGrpSpPr>
          <p:nvPr/>
        </p:nvGrpSpPr>
        <p:grpSpPr bwMode="auto">
          <a:xfrm>
            <a:off x="7539038" y="2525713"/>
            <a:ext cx="1281112" cy="1450975"/>
            <a:chOff x="4696" y="1480"/>
            <a:chExt cx="807" cy="914"/>
          </a:xfrm>
        </p:grpSpPr>
        <p:sp>
          <p:nvSpPr>
            <p:cNvPr id="1054" name="AutoShape 13"/>
            <p:cNvSpPr>
              <a:spLocks noChangeArrowheads="1"/>
            </p:cNvSpPr>
            <p:nvPr/>
          </p:nvSpPr>
          <p:spPr bwMode="auto">
            <a:xfrm>
              <a:off x="4920" y="1480"/>
              <a:ext cx="182" cy="579"/>
            </a:xfrm>
            <a:prstGeom prst="cube">
              <a:avLst>
                <a:gd name="adj" fmla="val 25000"/>
              </a:avLst>
            </a:prstGeom>
            <a:gradFill rotWithShape="1">
              <a:gsLst>
                <a:gs pos="0">
                  <a:srgbClr val="FF3300"/>
                </a:gs>
                <a:gs pos="50000">
                  <a:srgbClr val="761800"/>
                </a:gs>
                <a:gs pos="100000">
                  <a:srgbClr val="FF3300"/>
                </a:gs>
              </a:gsLst>
              <a:lin ang="0" scaled="1"/>
            </a:gradFill>
            <a:ln w="9525">
              <a:noFill/>
              <a:miter lim="800000"/>
              <a:headEnd/>
              <a:tailEnd/>
            </a:ln>
          </p:spPr>
          <p:txBody>
            <a:bodyPr anchor="ctr">
              <a:spAutoFit/>
            </a:bodyPr>
            <a:lstStyle/>
            <a:p>
              <a:endParaRPr lang="zh-CN" altLang="en-US"/>
            </a:p>
          </p:txBody>
        </p:sp>
        <p:sp>
          <p:nvSpPr>
            <p:cNvPr id="1055" name="AutoShape 14"/>
            <p:cNvSpPr>
              <a:spLocks noChangeArrowheads="1"/>
            </p:cNvSpPr>
            <p:nvPr/>
          </p:nvSpPr>
          <p:spPr bwMode="auto">
            <a:xfrm>
              <a:off x="4920" y="1955"/>
              <a:ext cx="182" cy="433"/>
            </a:xfrm>
            <a:prstGeom prst="cube">
              <a:avLst>
                <a:gd name="adj" fmla="val 25000"/>
              </a:avLst>
            </a:prstGeom>
            <a:gradFill rotWithShape="1">
              <a:gsLst>
                <a:gs pos="0">
                  <a:srgbClr val="66FFFF"/>
                </a:gs>
                <a:gs pos="50000">
                  <a:srgbClr val="2F7676"/>
                </a:gs>
                <a:gs pos="100000">
                  <a:srgbClr val="66FFFF"/>
                </a:gs>
              </a:gsLst>
              <a:lin ang="0" scaled="1"/>
            </a:gradFill>
            <a:ln w="9525">
              <a:noFill/>
              <a:miter lim="800000"/>
              <a:headEnd/>
              <a:tailEnd/>
            </a:ln>
          </p:spPr>
          <p:txBody>
            <a:bodyPr anchor="ctr">
              <a:spAutoFit/>
            </a:bodyPr>
            <a:lstStyle/>
            <a:p>
              <a:endParaRPr lang="zh-CN" altLang="en-US"/>
            </a:p>
          </p:txBody>
        </p:sp>
        <p:sp>
          <p:nvSpPr>
            <p:cNvPr id="1056" name="Arc 15"/>
            <p:cNvSpPr>
              <a:spLocks/>
            </p:cNvSpPr>
            <p:nvPr/>
          </p:nvSpPr>
          <p:spPr bwMode="auto">
            <a:xfrm>
              <a:off x="4696" y="1798"/>
              <a:ext cx="635" cy="291"/>
            </a:xfrm>
            <a:custGeom>
              <a:avLst/>
              <a:gdLst>
                <a:gd name="T0" fmla="*/ 0 w 43200"/>
                <a:gd name="T1" fmla="*/ 0 h 42309"/>
                <a:gd name="T2" fmla="*/ 0 w 43200"/>
                <a:gd name="T3" fmla="*/ 0 h 42309"/>
                <a:gd name="T4" fmla="*/ 0 w 43200"/>
                <a:gd name="T5" fmla="*/ 0 h 42309"/>
                <a:gd name="T6" fmla="*/ 0 60000 65536"/>
                <a:gd name="T7" fmla="*/ 0 60000 65536"/>
                <a:gd name="T8" fmla="*/ 0 60000 65536"/>
                <a:gd name="T9" fmla="*/ 0 w 43200"/>
                <a:gd name="T10" fmla="*/ 0 h 42309"/>
                <a:gd name="T11" fmla="*/ 43200 w 43200"/>
                <a:gd name="T12" fmla="*/ 42309 h 42309"/>
              </a:gdLst>
              <a:ahLst/>
              <a:cxnLst>
                <a:cxn ang="T6">
                  <a:pos x="T0" y="T1"/>
                </a:cxn>
                <a:cxn ang="T7">
                  <a:pos x="T2" y="T3"/>
                </a:cxn>
                <a:cxn ang="T8">
                  <a:pos x="T4" y="T5"/>
                </a:cxn>
              </a:cxnLst>
              <a:rect l="T9" t="T10" r="T11" b="T12"/>
              <a:pathLst>
                <a:path w="43200" h="42309" fill="none" extrusionOk="0">
                  <a:moveTo>
                    <a:pt x="27739" y="-1"/>
                  </a:moveTo>
                  <a:cubicBezTo>
                    <a:pt x="36909" y="2718"/>
                    <a:pt x="43200" y="11144"/>
                    <a:pt x="43200" y="20709"/>
                  </a:cubicBezTo>
                  <a:cubicBezTo>
                    <a:pt x="43200" y="32638"/>
                    <a:pt x="33529" y="42309"/>
                    <a:pt x="21600" y="42309"/>
                  </a:cubicBezTo>
                  <a:cubicBezTo>
                    <a:pt x="9670" y="42309"/>
                    <a:pt x="0" y="32638"/>
                    <a:pt x="0" y="20709"/>
                  </a:cubicBezTo>
                  <a:cubicBezTo>
                    <a:pt x="-1" y="11230"/>
                    <a:pt x="6179" y="2858"/>
                    <a:pt x="15238" y="67"/>
                  </a:cubicBezTo>
                </a:path>
                <a:path w="43200" h="42309" stroke="0" extrusionOk="0">
                  <a:moveTo>
                    <a:pt x="27739" y="-1"/>
                  </a:moveTo>
                  <a:cubicBezTo>
                    <a:pt x="36909" y="2718"/>
                    <a:pt x="43200" y="11144"/>
                    <a:pt x="43200" y="20709"/>
                  </a:cubicBezTo>
                  <a:cubicBezTo>
                    <a:pt x="43200" y="32638"/>
                    <a:pt x="33529" y="42309"/>
                    <a:pt x="21600" y="42309"/>
                  </a:cubicBezTo>
                  <a:cubicBezTo>
                    <a:pt x="9670" y="42309"/>
                    <a:pt x="0" y="32638"/>
                    <a:pt x="0" y="20709"/>
                  </a:cubicBezTo>
                  <a:cubicBezTo>
                    <a:pt x="-1" y="11230"/>
                    <a:pt x="6179" y="2858"/>
                    <a:pt x="15238" y="67"/>
                  </a:cubicBezTo>
                  <a:lnTo>
                    <a:pt x="21600" y="20709"/>
                  </a:lnTo>
                  <a:lnTo>
                    <a:pt x="27739" y="-1"/>
                  </a:lnTo>
                  <a:close/>
                </a:path>
              </a:pathLst>
            </a:custGeom>
            <a:noFill/>
            <a:ln w="57150">
              <a:solidFill>
                <a:srgbClr val="FF9900"/>
              </a:solidFill>
              <a:round/>
              <a:headEnd/>
              <a:tailEnd/>
            </a:ln>
          </p:spPr>
          <p:txBody>
            <a:bodyPr anchor="ctr">
              <a:spAutoFit/>
            </a:bodyPr>
            <a:lstStyle/>
            <a:p>
              <a:endParaRPr lang="zh-CN" altLang="en-US"/>
            </a:p>
          </p:txBody>
        </p:sp>
        <p:graphicFrame>
          <p:nvGraphicFramePr>
            <p:cNvPr id="1028" name="Object 16"/>
            <p:cNvGraphicFramePr>
              <a:graphicFrameLocks noChangeAspect="1"/>
            </p:cNvGraphicFramePr>
            <p:nvPr/>
          </p:nvGraphicFramePr>
          <p:xfrm>
            <a:off x="5159" y="1530"/>
            <a:ext cx="183" cy="184"/>
          </p:xfrm>
          <a:graphic>
            <a:graphicData uri="http://schemas.openxmlformats.org/presentationml/2006/ole">
              <p:oleObj spid="_x0000_s1028" name="公式" r:id="rId3" imgW="257167" imgH="257310" progId="Equation.3">
                <p:embed/>
              </p:oleObj>
            </a:graphicData>
          </a:graphic>
        </p:graphicFrame>
        <p:graphicFrame>
          <p:nvGraphicFramePr>
            <p:cNvPr id="1029" name="Object 17"/>
            <p:cNvGraphicFramePr>
              <a:graphicFrameLocks noChangeAspect="1"/>
            </p:cNvGraphicFramePr>
            <p:nvPr/>
          </p:nvGraphicFramePr>
          <p:xfrm>
            <a:off x="5168" y="2210"/>
            <a:ext cx="120" cy="184"/>
          </p:xfrm>
          <a:graphic>
            <a:graphicData uri="http://schemas.openxmlformats.org/presentationml/2006/ole">
              <p:oleObj spid="_x0000_s1029" name="公式" r:id="rId4" imgW="152355" imgH="257310" progId="Equation.3">
                <p:embed/>
              </p:oleObj>
            </a:graphicData>
          </a:graphic>
        </p:graphicFrame>
        <p:graphicFrame>
          <p:nvGraphicFramePr>
            <p:cNvPr id="1030" name="Object 18"/>
            <p:cNvGraphicFramePr>
              <a:graphicFrameLocks noChangeAspect="1"/>
            </p:cNvGraphicFramePr>
            <p:nvPr/>
          </p:nvGraphicFramePr>
          <p:xfrm>
            <a:off x="5375" y="1842"/>
            <a:ext cx="128" cy="184"/>
          </p:xfrm>
          <a:graphic>
            <a:graphicData uri="http://schemas.openxmlformats.org/presentationml/2006/ole">
              <p:oleObj spid="_x0000_s1030" name="公式" r:id="rId5" imgW="161810" imgH="257310" progId="Equation.3">
                <p:embed/>
              </p:oleObj>
            </a:graphicData>
          </a:graphic>
        </p:graphicFrame>
        <p:sp>
          <p:nvSpPr>
            <p:cNvPr id="1057" name="Line 19"/>
            <p:cNvSpPr>
              <a:spLocks noChangeShapeType="1"/>
            </p:cNvSpPr>
            <p:nvPr/>
          </p:nvSpPr>
          <p:spPr bwMode="auto">
            <a:xfrm flipV="1">
              <a:off x="4830" y="1707"/>
              <a:ext cx="0" cy="272"/>
            </a:xfrm>
            <a:prstGeom prst="line">
              <a:avLst/>
            </a:prstGeom>
            <a:noFill/>
            <a:ln w="28575">
              <a:solidFill>
                <a:srgbClr val="0000FF"/>
              </a:solidFill>
              <a:round/>
              <a:headEnd/>
              <a:tailEnd type="triangle" w="med" len="med"/>
            </a:ln>
          </p:spPr>
          <p:txBody>
            <a:bodyPr wrap="none">
              <a:spAutoFit/>
            </a:bodyPr>
            <a:lstStyle/>
            <a:p>
              <a:endParaRPr lang="zh-CN" altLang="en-US"/>
            </a:p>
          </p:txBody>
        </p:sp>
        <p:graphicFrame>
          <p:nvGraphicFramePr>
            <p:cNvPr id="1031" name="Object 20"/>
            <p:cNvGraphicFramePr>
              <a:graphicFrameLocks/>
            </p:cNvGraphicFramePr>
            <p:nvPr/>
          </p:nvGraphicFramePr>
          <p:xfrm>
            <a:off x="4756" y="1500"/>
            <a:ext cx="145" cy="193"/>
          </p:xfrm>
          <a:graphic>
            <a:graphicData uri="http://schemas.openxmlformats.org/presentationml/2006/ole">
              <p:oleObj spid="_x0000_s1031" name="公式" r:id="rId6" imgW="190444" imgH="266760" progId="Equation.3">
                <p:embed/>
              </p:oleObj>
            </a:graphicData>
          </a:graphic>
        </p:graphicFrame>
      </p:grpSp>
      <p:grpSp>
        <p:nvGrpSpPr>
          <p:cNvPr id="3" name="Group 21"/>
          <p:cNvGrpSpPr>
            <a:grpSpLocks/>
          </p:cNvGrpSpPr>
          <p:nvPr/>
        </p:nvGrpSpPr>
        <p:grpSpPr bwMode="auto">
          <a:xfrm>
            <a:off x="7275513" y="4940300"/>
            <a:ext cx="1638300" cy="1152525"/>
            <a:chOff x="4583" y="2931"/>
            <a:chExt cx="1032" cy="726"/>
          </a:xfrm>
        </p:grpSpPr>
        <p:sp>
          <p:nvSpPr>
            <p:cNvPr id="1052" name="Oval 22"/>
            <p:cNvSpPr>
              <a:spLocks noChangeArrowheads="1"/>
            </p:cNvSpPr>
            <p:nvPr/>
          </p:nvSpPr>
          <p:spPr bwMode="auto">
            <a:xfrm>
              <a:off x="4730" y="2931"/>
              <a:ext cx="376" cy="726"/>
            </a:xfrm>
            <a:prstGeom prst="ellipse">
              <a:avLst/>
            </a:prstGeom>
            <a:solidFill>
              <a:srgbClr val="FF99CC">
                <a:alpha val="21960"/>
              </a:srgbClr>
            </a:solidFill>
            <a:ln w="38100">
              <a:solidFill>
                <a:srgbClr val="FF0000"/>
              </a:solidFill>
              <a:round/>
              <a:headEnd/>
              <a:tailEnd/>
            </a:ln>
          </p:spPr>
          <p:txBody>
            <a:bodyPr wrap="none" anchor="ctr"/>
            <a:lstStyle/>
            <a:p>
              <a:endParaRPr lang="zh-CN" altLang="en-US"/>
            </a:p>
          </p:txBody>
        </p:sp>
        <p:sp>
          <p:nvSpPr>
            <p:cNvPr id="1053" name="Oval 23"/>
            <p:cNvSpPr>
              <a:spLocks noChangeArrowheads="1"/>
            </p:cNvSpPr>
            <p:nvPr/>
          </p:nvSpPr>
          <p:spPr bwMode="auto">
            <a:xfrm>
              <a:off x="4921" y="2931"/>
              <a:ext cx="343" cy="722"/>
            </a:xfrm>
            <a:prstGeom prst="ellipse">
              <a:avLst/>
            </a:prstGeom>
            <a:gradFill rotWithShape="1">
              <a:gsLst>
                <a:gs pos="0">
                  <a:srgbClr val="66FFFF">
                    <a:alpha val="20000"/>
                  </a:srgbClr>
                </a:gs>
                <a:gs pos="100000">
                  <a:srgbClr val="44AAAA">
                    <a:alpha val="20000"/>
                  </a:srgbClr>
                </a:gs>
              </a:gsLst>
              <a:path path="shape">
                <a:fillToRect l="50000" t="50000" r="50000" b="50000"/>
              </a:path>
            </a:gradFill>
            <a:ln w="38100">
              <a:solidFill>
                <a:srgbClr val="0000FF"/>
              </a:solidFill>
              <a:round/>
              <a:headEnd/>
              <a:tailEnd/>
            </a:ln>
          </p:spPr>
          <p:txBody>
            <a:bodyPr wrap="none" anchor="ctr"/>
            <a:lstStyle/>
            <a:p>
              <a:endParaRPr lang="zh-CN" altLang="en-US"/>
            </a:p>
          </p:txBody>
        </p:sp>
        <p:graphicFrame>
          <p:nvGraphicFramePr>
            <p:cNvPr id="1026" name="Object 24"/>
            <p:cNvGraphicFramePr>
              <a:graphicFrameLocks/>
            </p:cNvGraphicFramePr>
            <p:nvPr/>
          </p:nvGraphicFramePr>
          <p:xfrm>
            <a:off x="5255" y="2955"/>
            <a:ext cx="360" cy="247"/>
          </p:xfrm>
          <a:graphic>
            <a:graphicData uri="http://schemas.openxmlformats.org/presentationml/2006/ole">
              <p:oleObj spid="_x0000_s1026" name="公式" r:id="rId7" imgW="533513" imgH="352350" progId="Equation.3">
                <p:embed/>
              </p:oleObj>
            </a:graphicData>
          </a:graphic>
        </p:graphicFrame>
        <p:graphicFrame>
          <p:nvGraphicFramePr>
            <p:cNvPr id="1027" name="Object 25"/>
            <p:cNvGraphicFramePr>
              <a:graphicFrameLocks/>
            </p:cNvGraphicFramePr>
            <p:nvPr/>
          </p:nvGraphicFramePr>
          <p:xfrm>
            <a:off x="4583" y="2976"/>
            <a:ext cx="177" cy="193"/>
          </p:xfrm>
          <a:graphic>
            <a:graphicData uri="http://schemas.openxmlformats.org/presentationml/2006/ole">
              <p:oleObj spid="_x0000_s1027" name="公式" r:id="rId8" imgW="238257" imgH="266760" progId="Equation.3">
                <p:embed/>
              </p:oleObj>
            </a:graphicData>
          </a:graphic>
        </p:graphicFrame>
      </p:grpSp>
      <p:sp>
        <p:nvSpPr>
          <p:cNvPr id="9242" name="Text Box 26"/>
          <p:cNvSpPr txBox="1">
            <a:spLocks noChangeArrowheads="1"/>
          </p:cNvSpPr>
          <p:nvPr/>
        </p:nvSpPr>
        <p:spPr bwMode="auto">
          <a:xfrm>
            <a:off x="503238" y="5229225"/>
            <a:ext cx="6408737" cy="979488"/>
          </a:xfrm>
          <a:prstGeom prst="rect">
            <a:avLst/>
          </a:prstGeom>
          <a:noFill/>
          <a:ln w="9525">
            <a:noFill/>
            <a:miter lim="800000"/>
            <a:headEnd/>
            <a:tailEnd/>
          </a:ln>
        </p:spPr>
        <p:txBody>
          <a:bodyPr>
            <a:spAutoFit/>
          </a:bodyPr>
          <a:lstStyle/>
          <a:p>
            <a:pPr algn="l">
              <a:lnSpc>
                <a:spcPct val="120000"/>
              </a:lnSpc>
            </a:pPr>
            <a:r>
              <a:rPr kumimoji="1" lang="zh-CN" altLang="en-US" sz="2400" b="1">
                <a:latin typeface="楷体_GB2312" pitchFamily="49" charset="-122"/>
                <a:ea typeface="楷体_GB2312" pitchFamily="49" charset="-122"/>
              </a:rPr>
              <a:t>不论用什么方法，只要使穿过闭合导体回路的磁通量发生变化，此回路中就会有电流产生。</a:t>
            </a:r>
          </a:p>
        </p:txBody>
      </p:sp>
      <p:sp>
        <p:nvSpPr>
          <p:cNvPr id="9243" name="Rectangle 27"/>
          <p:cNvSpPr>
            <a:spLocks noChangeArrowheads="1"/>
          </p:cNvSpPr>
          <p:nvPr/>
        </p:nvSpPr>
        <p:spPr bwMode="auto">
          <a:xfrm>
            <a:off x="2544763" y="6137275"/>
            <a:ext cx="4572000" cy="457200"/>
          </a:xfrm>
          <a:prstGeom prst="rect">
            <a:avLst/>
          </a:prstGeom>
          <a:noFill/>
          <a:ln w="9525">
            <a:noFill/>
            <a:miter lim="800000"/>
            <a:headEnd/>
            <a:tailEnd/>
          </a:ln>
        </p:spPr>
        <p:txBody>
          <a:bodyPr>
            <a:spAutoFit/>
          </a:bodyPr>
          <a:lstStyle/>
          <a:p>
            <a:pPr algn="l"/>
            <a:r>
              <a:rPr kumimoji="1" lang="en-US" altLang="zh-CN" sz="2400" b="1">
                <a:solidFill>
                  <a:srgbClr val="FF0000"/>
                </a:solidFill>
                <a:latin typeface="楷体_GB2312" pitchFamily="49" charset="-122"/>
                <a:ea typeface="楷体_GB2312" pitchFamily="49" charset="-122"/>
              </a:rPr>
              <a:t>----</a:t>
            </a:r>
            <a:r>
              <a:rPr kumimoji="1" lang="zh-CN" altLang="en-US" sz="2400" b="1">
                <a:solidFill>
                  <a:srgbClr val="FF0000"/>
                </a:solidFill>
                <a:latin typeface="楷体_GB2312" pitchFamily="49" charset="-122"/>
                <a:ea typeface="楷体_GB2312" pitchFamily="49" charset="-122"/>
              </a:rPr>
              <a:t>电磁感应现象</a:t>
            </a:r>
          </a:p>
        </p:txBody>
      </p:sp>
      <p:sp>
        <p:nvSpPr>
          <p:cNvPr id="9247" name="Text Box 31"/>
          <p:cNvSpPr txBox="1">
            <a:spLocks noChangeArrowheads="1"/>
          </p:cNvSpPr>
          <p:nvPr/>
        </p:nvSpPr>
        <p:spPr bwMode="auto">
          <a:xfrm>
            <a:off x="468313" y="4772025"/>
            <a:ext cx="1274762" cy="457200"/>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buClr>
                <a:srgbClr val="00FFFF"/>
              </a:buClr>
              <a:buSzPts val="2400"/>
              <a:buFont typeface="Wingdings" pitchFamily="2" charset="2"/>
              <a:buNone/>
              <a:defRPr/>
            </a:pPr>
            <a:r>
              <a:rPr lang="zh-CN" altLang="en-US" sz="2400" b="1" dirty="0">
                <a:solidFill>
                  <a:srgbClr val="FF6600"/>
                </a:solidFill>
                <a:latin typeface="宋体" pitchFamily="2" charset="-122"/>
              </a:rPr>
              <a:t>结论</a:t>
            </a:r>
            <a:endParaRPr lang="zh-CN" altLang="en-US" sz="3200"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sp>
        <p:nvSpPr>
          <p:cNvPr id="9249" name="AutoShape 33"/>
          <p:cNvSpPr>
            <a:spLocks noChangeArrowheads="1"/>
          </p:cNvSpPr>
          <p:nvPr/>
        </p:nvSpPr>
        <p:spPr bwMode="auto">
          <a:xfrm>
            <a:off x="103188" y="4711700"/>
            <a:ext cx="360362"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1047" name="Text Box 34">
            <a:hlinkClick r:id="rId9"/>
          </p:cNvPr>
          <p:cNvSpPr txBox="1">
            <a:spLocks noChangeArrowheads="1"/>
          </p:cNvSpPr>
          <p:nvPr/>
        </p:nvSpPr>
        <p:spPr bwMode="auto">
          <a:xfrm>
            <a:off x="1846263" y="487363"/>
            <a:ext cx="4824412" cy="604837"/>
          </a:xfrm>
          <a:prstGeom prst="rect">
            <a:avLst/>
          </a:prstGeom>
          <a:noFill/>
          <a:ln w="9525">
            <a:noFill/>
            <a:miter lim="800000"/>
            <a:headEnd/>
            <a:tailEnd/>
          </a:ln>
        </p:spPr>
        <p:txBody>
          <a:bodyPr>
            <a:spAutoFit/>
          </a:bodyPr>
          <a:lstStyle/>
          <a:p>
            <a:pPr algn="l">
              <a:lnSpc>
                <a:spcPct val="120000"/>
              </a:lnSpc>
            </a:pPr>
            <a:r>
              <a:rPr lang="en-US" altLang="zh-CN" sz="2800" b="1">
                <a:solidFill>
                  <a:schemeClr val="accent2"/>
                </a:solidFill>
                <a:latin typeface="Times New Roman" pitchFamily="18" charset="0"/>
              </a:rPr>
              <a:t>§11.1    </a:t>
            </a:r>
            <a:r>
              <a:rPr lang="zh-CN" altLang="en-US" sz="2800" b="1">
                <a:solidFill>
                  <a:schemeClr val="accent2"/>
                </a:solidFill>
                <a:latin typeface="黑体" pitchFamily="49" charset="-122"/>
                <a:ea typeface="黑体" pitchFamily="49" charset="-122"/>
              </a:rPr>
              <a:t>电磁感应基本定律</a:t>
            </a:r>
          </a:p>
        </p:txBody>
      </p:sp>
      <p:sp>
        <p:nvSpPr>
          <p:cNvPr id="9251" name="Text Box 35"/>
          <p:cNvSpPr txBox="1">
            <a:spLocks noChangeArrowheads="1"/>
          </p:cNvSpPr>
          <p:nvPr/>
        </p:nvSpPr>
        <p:spPr bwMode="auto">
          <a:xfrm>
            <a:off x="4259263" y="3068638"/>
            <a:ext cx="3121025" cy="461962"/>
          </a:xfrm>
          <a:prstGeom prst="rect">
            <a:avLst/>
          </a:prstGeom>
          <a:noFill/>
          <a:ln w="9525">
            <a:noFill/>
            <a:miter lim="800000"/>
            <a:headEnd/>
            <a:tailEnd/>
          </a:ln>
        </p:spPr>
        <p:txBody>
          <a:bodyPr>
            <a:spAutoFit/>
          </a:bodyPr>
          <a:lstStyle/>
          <a:p>
            <a:pPr algn="l">
              <a:buClr>
                <a:srgbClr val="FF0000"/>
              </a:buClr>
              <a:buFont typeface="Wingdings" pitchFamily="2" charset="2"/>
              <a:buNone/>
            </a:pPr>
            <a:r>
              <a:rPr kumimoji="1" lang="zh-CN" altLang="en-US" sz="2400" b="1">
                <a:solidFill>
                  <a:srgbClr val="008000"/>
                </a:solidFill>
                <a:latin typeface="Times New Roman" pitchFamily="18" charset="0"/>
                <a:ea typeface="楷体_GB2312" pitchFamily="49" charset="-122"/>
                <a:cs typeface="Times New Roman" pitchFamily="18" charset="0"/>
              </a:rPr>
              <a:t>（</a:t>
            </a:r>
            <a:r>
              <a:rPr kumimoji="1" lang="en-US" altLang="zh-CN" sz="2400" b="1">
                <a:solidFill>
                  <a:srgbClr val="008000"/>
                </a:solidFill>
                <a:latin typeface="Times New Roman" pitchFamily="18" charset="0"/>
                <a:ea typeface="楷体_GB2312" pitchFamily="49" charset="-122"/>
                <a:cs typeface="Times New Roman" pitchFamily="18" charset="0"/>
              </a:rPr>
              <a:t>1831</a:t>
            </a:r>
            <a:r>
              <a:rPr kumimoji="1" lang="zh-CN" altLang="en-US" sz="2400" b="1">
                <a:solidFill>
                  <a:srgbClr val="008000"/>
                </a:solidFill>
                <a:latin typeface="Times New Roman" pitchFamily="18" charset="0"/>
                <a:ea typeface="楷体_GB2312" pitchFamily="49" charset="-122"/>
                <a:cs typeface="Times New Roman" pitchFamily="18" charset="0"/>
              </a:rPr>
              <a:t>年，法拉第）</a:t>
            </a:r>
          </a:p>
        </p:txBody>
      </p:sp>
      <p:sp>
        <p:nvSpPr>
          <p:cNvPr id="9252" name="AutoShape 36"/>
          <p:cNvSpPr>
            <a:spLocks/>
          </p:cNvSpPr>
          <p:nvPr/>
        </p:nvSpPr>
        <p:spPr bwMode="auto">
          <a:xfrm>
            <a:off x="900113" y="2720975"/>
            <a:ext cx="142875" cy="1081088"/>
          </a:xfrm>
          <a:prstGeom prst="leftBrace">
            <a:avLst>
              <a:gd name="adj1" fmla="val 63056"/>
              <a:gd name="adj2" fmla="val 50000"/>
            </a:avLst>
          </a:prstGeom>
          <a:noFill/>
          <a:ln w="25400">
            <a:solidFill>
              <a:srgbClr val="FF0000"/>
            </a:solidFill>
            <a:round/>
            <a:headEnd/>
            <a:tailEnd/>
          </a:ln>
        </p:spPr>
        <p:txBody>
          <a:bodyPr wrap="none" anchor="ctr"/>
          <a:lstStyle/>
          <a:p>
            <a:endParaRPr lang="zh-CN" altLang="en-US"/>
          </a:p>
        </p:txBody>
      </p:sp>
      <p:sp>
        <p:nvSpPr>
          <p:cNvPr id="9253" name="Text Box 37"/>
          <p:cNvSpPr txBox="1">
            <a:spLocks noChangeArrowheads="1"/>
          </p:cNvSpPr>
          <p:nvPr/>
        </p:nvSpPr>
        <p:spPr bwMode="auto">
          <a:xfrm>
            <a:off x="179388" y="4192588"/>
            <a:ext cx="2016125" cy="534987"/>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lnSpc>
                <a:spcPct val="120000"/>
              </a:lnSpc>
              <a:buClr>
                <a:srgbClr val="00FFFF"/>
              </a:buClr>
              <a:buSzPts val="2400"/>
              <a:buFont typeface="Wingdings" pitchFamily="2" charset="2"/>
              <a:buNone/>
              <a:defRPr/>
            </a:pPr>
            <a:r>
              <a:rPr lang="zh-CN" altLang="en-US" sz="2400" b="1" dirty="0">
                <a:solidFill>
                  <a:srgbClr val="0000FF"/>
                </a:solidFill>
                <a:effectLst>
                  <a:outerShdw blurRad="38100" dist="38100" dir="2700000" algn="tl">
                    <a:srgbClr val="C0C0C0"/>
                  </a:outerShdw>
                </a:effectLst>
                <a:latin typeface="宋体" pitchFamily="2" charset="-122"/>
              </a:rPr>
              <a:t>关键：</a:t>
            </a:r>
            <a:endParaRPr lang="zh-CN" altLang="en-US" sz="2400" dirty="0">
              <a:solidFill>
                <a:srgbClr val="0000FF"/>
              </a:solidFill>
              <a:effectLst>
                <a:outerShdw blurRad="38100" dist="38100" dir="2700000" algn="tl">
                  <a:srgbClr val="C0C0C0"/>
                </a:outerShdw>
              </a:effectLst>
              <a:latin typeface="Times New Roman" pitchFamily="18" charset="0"/>
            </a:endParaRPr>
          </a:p>
        </p:txBody>
      </p:sp>
      <p:sp>
        <p:nvSpPr>
          <p:cNvPr id="9254" name="Text Box 38"/>
          <p:cNvSpPr txBox="1">
            <a:spLocks noChangeArrowheads="1"/>
          </p:cNvSpPr>
          <p:nvPr/>
        </p:nvSpPr>
        <p:spPr bwMode="auto">
          <a:xfrm>
            <a:off x="1042988" y="4192588"/>
            <a:ext cx="7632700" cy="534987"/>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lnSpc>
                <a:spcPct val="120000"/>
              </a:lnSpc>
              <a:buClr>
                <a:srgbClr val="00FFFF"/>
              </a:buClr>
              <a:buSzPts val="2400"/>
              <a:buFont typeface="Wingdings" pitchFamily="2" charset="2"/>
              <a:buNone/>
              <a:defRPr/>
            </a:pPr>
            <a:r>
              <a:rPr kumimoji="1" lang="zh-CN" altLang="en-US" sz="2400" b="1" dirty="0">
                <a:solidFill>
                  <a:srgbClr val="FF0000"/>
                </a:solidFill>
                <a:effectLst>
                  <a:outerShdw blurRad="38100" dist="38100" dir="2700000" algn="tl">
                    <a:srgbClr val="C0C0C0"/>
                  </a:outerShdw>
                </a:effectLst>
              </a:rPr>
              <a:t>磁通量发生变化是引起闭合导体中产生电流的必要条件。</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8"/>
                                        </p:tgtEl>
                                        <p:attrNameLst>
                                          <p:attrName>style.visibility</p:attrName>
                                        </p:attrNameLst>
                                      </p:cBhvr>
                                      <p:to>
                                        <p:strVal val="visible"/>
                                      </p:to>
                                    </p:set>
                                    <p:animEffect transition="in" filter="wipe(left)">
                                      <p:cBhvr>
                                        <p:cTn id="7" dur="2000"/>
                                        <p:tgtEl>
                                          <p:spTgt spid="92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23"/>
                                        </p:tgtEl>
                                        <p:attrNameLst>
                                          <p:attrName>style.visibility</p:attrName>
                                        </p:attrNameLst>
                                      </p:cBhvr>
                                      <p:to>
                                        <p:strVal val="visible"/>
                                      </p:to>
                                    </p:set>
                                    <p:animEffect transition="in" filter="wipe(left)">
                                      <p:cBhvr>
                                        <p:cTn id="12" dur="500"/>
                                        <p:tgtEl>
                                          <p:spTgt spid="9223"/>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9220"/>
                                        </p:tgtEl>
                                        <p:attrNameLst>
                                          <p:attrName>style.visibility</p:attrName>
                                        </p:attrNameLst>
                                      </p:cBhvr>
                                      <p:to>
                                        <p:strVal val="visible"/>
                                      </p:to>
                                    </p:set>
                                    <p:animEffect transition="in" filter="wipe(left)">
                                      <p:cBhvr>
                                        <p:cTn id="16" dur="2000"/>
                                        <p:tgtEl>
                                          <p:spTgt spid="9220"/>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221"/>
                                        </p:tgtEl>
                                        <p:attrNameLst>
                                          <p:attrName>style.visibility</p:attrName>
                                        </p:attrNameLst>
                                      </p:cBhvr>
                                      <p:to>
                                        <p:strVal val="visible"/>
                                      </p:to>
                                    </p:set>
                                  </p:childTnLst>
                                </p:cTn>
                              </p:par>
                            </p:childTnLst>
                          </p:cTn>
                        </p:par>
                        <p:par>
                          <p:cTn id="21" fill="hold" nodeType="afterGroup">
                            <p:stCondLst>
                              <p:cond delay="500"/>
                            </p:stCondLst>
                            <p:childTnLst>
                              <p:par>
                                <p:cTn id="22" presetID="22" presetClass="entr" presetSubtype="2" fill="hold" grpId="0" nodeType="afterEffect">
                                  <p:stCondLst>
                                    <p:cond delay="0"/>
                                  </p:stCondLst>
                                  <p:childTnLst>
                                    <p:set>
                                      <p:cBhvr>
                                        <p:cTn id="23" dur="1" fill="hold">
                                          <p:stCondLst>
                                            <p:cond delay="0"/>
                                          </p:stCondLst>
                                        </p:cTn>
                                        <p:tgtEl>
                                          <p:spTgt spid="9224"/>
                                        </p:tgtEl>
                                        <p:attrNameLst>
                                          <p:attrName>style.visibility</p:attrName>
                                        </p:attrNameLst>
                                      </p:cBhvr>
                                      <p:to>
                                        <p:strVal val="visible"/>
                                      </p:to>
                                    </p:set>
                                    <p:animEffect transition="in" filter="wipe(right)">
                                      <p:cBhvr>
                                        <p:cTn id="24" dur="500"/>
                                        <p:tgtEl>
                                          <p:spTgt spid="922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9222"/>
                                        </p:tgtEl>
                                        <p:attrNameLst>
                                          <p:attrName>style.visibility</p:attrName>
                                        </p:attrNameLst>
                                      </p:cBhvr>
                                      <p:to>
                                        <p:strVal val="visible"/>
                                      </p:to>
                                    </p:set>
                                    <p:animEffect transition="in" filter="wipe(right)">
                                      <p:cBhvr>
                                        <p:cTn id="29" dur="2000"/>
                                        <p:tgtEl>
                                          <p:spTgt spid="922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9225"/>
                                        </p:tgtEl>
                                        <p:attrNameLst>
                                          <p:attrName>style.visibility</p:attrName>
                                        </p:attrNameLst>
                                      </p:cBhvr>
                                      <p:to>
                                        <p:strVal val="visible"/>
                                      </p:to>
                                    </p:set>
                                    <p:animEffect transition="in" filter="wipe(left)">
                                      <p:cBhvr>
                                        <p:cTn id="34" dur="500"/>
                                        <p:tgtEl>
                                          <p:spTgt spid="922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9252"/>
                                        </p:tgtEl>
                                        <p:attrNameLst>
                                          <p:attrName>style.visibility</p:attrName>
                                        </p:attrNameLst>
                                      </p:cBhvr>
                                      <p:to>
                                        <p:strVal val="visible"/>
                                      </p:to>
                                    </p:set>
                                    <p:animEffect transition="in" filter="wipe(up)">
                                      <p:cBhvr>
                                        <p:cTn id="39" dur="500"/>
                                        <p:tgtEl>
                                          <p:spTgt spid="925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blinds(horizontal)">
                                      <p:cBhvr>
                                        <p:cTn id="44" dur="500"/>
                                        <p:tgtEl>
                                          <p:spTgt spid="2"/>
                                        </p:tgtEl>
                                      </p:cBhvr>
                                    </p:animEffect>
                                  </p:childTnLst>
                                </p:cTn>
                              </p:par>
                            </p:childTnLst>
                          </p:cTn>
                        </p:par>
                        <p:par>
                          <p:cTn id="45" fill="hold" nodeType="afterGroup">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9226"/>
                                        </p:tgtEl>
                                        <p:attrNameLst>
                                          <p:attrName>style.visibility</p:attrName>
                                        </p:attrNameLst>
                                      </p:cBhvr>
                                      <p:to>
                                        <p:strVal val="visible"/>
                                      </p:to>
                                    </p:set>
                                    <p:animEffect transition="in" filter="wipe(left)">
                                      <p:cBhvr>
                                        <p:cTn id="48" dur="500"/>
                                        <p:tgtEl>
                                          <p:spTgt spid="922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251"/>
                                        </p:tgtEl>
                                        <p:attrNameLst>
                                          <p:attrName>style.visibility</p:attrName>
                                        </p:attrNameLst>
                                      </p:cBhvr>
                                      <p:to>
                                        <p:strVal val="visible"/>
                                      </p:to>
                                    </p:set>
                                    <p:animEffect transition="in" filter="wipe(left)">
                                      <p:cBhvr>
                                        <p:cTn id="53" dur="500"/>
                                        <p:tgtEl>
                                          <p:spTgt spid="9251"/>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blinds(horizontal)">
                                      <p:cBhvr>
                                        <p:cTn id="58" dur="500"/>
                                        <p:tgtEl>
                                          <p:spTgt spid="3"/>
                                        </p:tgtEl>
                                      </p:cBhvr>
                                    </p:animEffect>
                                  </p:childTnLst>
                                </p:cTn>
                              </p:par>
                            </p:childTnLst>
                          </p:cTn>
                        </p:par>
                        <p:par>
                          <p:cTn id="59" fill="hold" nodeType="afterGroup">
                            <p:stCondLst>
                              <p:cond delay="500"/>
                            </p:stCondLst>
                            <p:childTnLst>
                              <p:par>
                                <p:cTn id="60" presetID="22" presetClass="entr" presetSubtype="8" fill="hold" grpId="0" nodeType="afterEffect">
                                  <p:stCondLst>
                                    <p:cond delay="0"/>
                                  </p:stCondLst>
                                  <p:childTnLst>
                                    <p:set>
                                      <p:cBhvr>
                                        <p:cTn id="61" dur="1" fill="hold">
                                          <p:stCondLst>
                                            <p:cond delay="0"/>
                                          </p:stCondLst>
                                        </p:cTn>
                                        <p:tgtEl>
                                          <p:spTgt spid="9227"/>
                                        </p:tgtEl>
                                        <p:attrNameLst>
                                          <p:attrName>style.visibility</p:attrName>
                                        </p:attrNameLst>
                                      </p:cBhvr>
                                      <p:to>
                                        <p:strVal val="visible"/>
                                      </p:to>
                                    </p:set>
                                    <p:animEffect transition="in" filter="wipe(left)">
                                      <p:cBhvr>
                                        <p:cTn id="62" dur="500"/>
                                        <p:tgtEl>
                                          <p:spTgt spid="922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9253"/>
                                        </p:tgtEl>
                                        <p:attrNameLst>
                                          <p:attrName>style.visibility</p:attrName>
                                        </p:attrNameLst>
                                      </p:cBhvr>
                                      <p:to>
                                        <p:strVal val="visible"/>
                                      </p:to>
                                    </p:set>
                                    <p:animEffect transition="in" filter="wipe(left)">
                                      <p:cBhvr>
                                        <p:cTn id="67" dur="500"/>
                                        <p:tgtEl>
                                          <p:spTgt spid="9253"/>
                                        </p:tgtEl>
                                      </p:cBhvr>
                                    </p:animEffect>
                                  </p:childTnLst>
                                </p:cTn>
                              </p:par>
                            </p:childTnLst>
                          </p:cTn>
                        </p:par>
                        <p:par>
                          <p:cTn id="68" fill="hold" nodeType="afterGroup">
                            <p:stCondLst>
                              <p:cond delay="500"/>
                            </p:stCondLst>
                            <p:childTnLst>
                              <p:par>
                                <p:cTn id="69" presetID="22" presetClass="entr" presetSubtype="8" fill="hold" grpId="0" nodeType="afterEffect">
                                  <p:stCondLst>
                                    <p:cond delay="0"/>
                                  </p:stCondLst>
                                  <p:childTnLst>
                                    <p:set>
                                      <p:cBhvr>
                                        <p:cTn id="70" dur="1" fill="hold">
                                          <p:stCondLst>
                                            <p:cond delay="0"/>
                                          </p:stCondLst>
                                        </p:cTn>
                                        <p:tgtEl>
                                          <p:spTgt spid="9254"/>
                                        </p:tgtEl>
                                        <p:attrNameLst>
                                          <p:attrName>style.visibility</p:attrName>
                                        </p:attrNameLst>
                                      </p:cBhvr>
                                      <p:to>
                                        <p:strVal val="visible"/>
                                      </p:to>
                                    </p:set>
                                    <p:animEffect transition="in" filter="wipe(left)">
                                      <p:cBhvr>
                                        <p:cTn id="71" dur="500"/>
                                        <p:tgtEl>
                                          <p:spTgt spid="9254"/>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9" presetClass="entr" presetSubtype="0" fill="hold" grpId="0" nodeType="clickEffect">
                                  <p:stCondLst>
                                    <p:cond delay="0"/>
                                  </p:stCondLst>
                                  <p:childTnLst>
                                    <p:set>
                                      <p:cBhvr>
                                        <p:cTn id="75" dur="1" fill="hold">
                                          <p:stCondLst>
                                            <p:cond delay="0"/>
                                          </p:stCondLst>
                                        </p:cTn>
                                        <p:tgtEl>
                                          <p:spTgt spid="9249"/>
                                        </p:tgtEl>
                                        <p:attrNameLst>
                                          <p:attrName>style.visibility</p:attrName>
                                        </p:attrNameLst>
                                      </p:cBhvr>
                                      <p:to>
                                        <p:strVal val="visible"/>
                                      </p:to>
                                    </p:set>
                                    <p:animEffect transition="in" filter="dissolve">
                                      <p:cBhvr>
                                        <p:cTn id="76" dur="1000"/>
                                        <p:tgtEl>
                                          <p:spTgt spid="9249"/>
                                        </p:tgtEl>
                                      </p:cBhvr>
                                    </p:animEffect>
                                  </p:childTnLst>
                                </p:cTn>
                              </p:par>
                            </p:childTnLst>
                          </p:cTn>
                        </p:par>
                        <p:par>
                          <p:cTn id="77" fill="hold" nodeType="afterGroup">
                            <p:stCondLst>
                              <p:cond delay="1000"/>
                            </p:stCondLst>
                            <p:childTnLst>
                              <p:par>
                                <p:cTn id="78" presetID="22" presetClass="entr" presetSubtype="8" fill="hold" grpId="0" nodeType="afterEffect">
                                  <p:stCondLst>
                                    <p:cond delay="0"/>
                                  </p:stCondLst>
                                  <p:childTnLst>
                                    <p:set>
                                      <p:cBhvr>
                                        <p:cTn id="79" dur="1" fill="hold">
                                          <p:stCondLst>
                                            <p:cond delay="0"/>
                                          </p:stCondLst>
                                        </p:cTn>
                                        <p:tgtEl>
                                          <p:spTgt spid="9247"/>
                                        </p:tgtEl>
                                        <p:attrNameLst>
                                          <p:attrName>style.visibility</p:attrName>
                                        </p:attrNameLst>
                                      </p:cBhvr>
                                      <p:to>
                                        <p:strVal val="visible"/>
                                      </p:to>
                                    </p:set>
                                    <p:animEffect transition="in" filter="wipe(left)">
                                      <p:cBhvr>
                                        <p:cTn id="80" dur="500"/>
                                        <p:tgtEl>
                                          <p:spTgt spid="924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iterate type="wd">
                                    <p:tmPct val="40000"/>
                                  </p:iterate>
                                  <p:childTnLst>
                                    <p:set>
                                      <p:cBhvr>
                                        <p:cTn id="84" dur="1" fill="hold">
                                          <p:stCondLst>
                                            <p:cond delay="0"/>
                                          </p:stCondLst>
                                        </p:cTn>
                                        <p:tgtEl>
                                          <p:spTgt spid="9242"/>
                                        </p:tgtEl>
                                        <p:attrNameLst>
                                          <p:attrName>style.visibility</p:attrName>
                                        </p:attrNameLst>
                                      </p:cBhvr>
                                      <p:to>
                                        <p:strVal val="visible"/>
                                      </p:to>
                                    </p:set>
                                    <p:animEffect transition="in" filter="wipe(left)">
                                      <p:cBhvr>
                                        <p:cTn id="85" dur="500"/>
                                        <p:tgtEl>
                                          <p:spTgt spid="924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9243"/>
                                        </p:tgtEl>
                                        <p:attrNameLst>
                                          <p:attrName>style.visibility</p:attrName>
                                        </p:attrNameLst>
                                      </p:cBhvr>
                                      <p:to>
                                        <p:strVal val="visible"/>
                                      </p:to>
                                    </p:set>
                                    <p:animEffect transition="in" filter="wipe(left)">
                                      <p:cBhvr>
                                        <p:cTn id="90" dur="2000"/>
                                        <p:tgtEl>
                                          <p:spTgt spid="92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20" grpId="0"/>
      <p:bldP spid="9221" grpId="0" autoUpdateAnimBg="0"/>
      <p:bldP spid="9222" grpId="0"/>
      <p:bldP spid="9223" grpId="0" animBg="1"/>
      <p:bldP spid="9224" grpId="0" animBg="1"/>
      <p:bldP spid="9225" grpId="0" animBg="1" autoUpdateAnimBg="0"/>
      <p:bldP spid="9226" grpId="0" autoUpdateAnimBg="0"/>
      <p:bldP spid="9227" grpId="0" autoUpdateAnimBg="0"/>
      <p:bldP spid="9242" grpId="0" autoUpdateAnimBg="0"/>
      <p:bldP spid="9243" grpId="0"/>
      <p:bldP spid="9247" grpId="0" autoUpdateAnimBg="0"/>
      <p:bldP spid="9249" grpId="0" animBg="1"/>
      <p:bldP spid="9251" grpId="0" autoUpdateAnimBg="0"/>
      <p:bldP spid="9252" grpId="0" animBg="1"/>
      <p:bldP spid="9253" grpId="0" autoUpdateAnimBg="0"/>
      <p:bldP spid="9254"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Text Box 4"/>
          <p:cNvSpPr txBox="1">
            <a:spLocks noChangeArrowheads="1"/>
          </p:cNvSpPr>
          <p:nvPr/>
        </p:nvSpPr>
        <p:spPr bwMode="auto">
          <a:xfrm>
            <a:off x="133350" y="450850"/>
            <a:ext cx="5788025" cy="493713"/>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0000FF"/>
                </a:solidFill>
                <a:latin typeface="Times New Roman" pitchFamily="18" charset="0"/>
              </a:rPr>
              <a:t> 法拉第电磁感应定律</a:t>
            </a:r>
          </a:p>
        </p:txBody>
      </p:sp>
      <p:sp>
        <p:nvSpPr>
          <p:cNvPr id="10245" name="AutoShape 5"/>
          <p:cNvSpPr>
            <a:spLocks noChangeArrowheads="1"/>
          </p:cNvSpPr>
          <p:nvPr/>
        </p:nvSpPr>
        <p:spPr bwMode="auto">
          <a:xfrm>
            <a:off x="4881563" y="1973263"/>
            <a:ext cx="1395412" cy="892175"/>
          </a:xfrm>
          <a:prstGeom prst="bevel">
            <a:avLst>
              <a:gd name="adj" fmla="val 4847"/>
            </a:avLst>
          </a:prstGeom>
          <a:solidFill>
            <a:srgbClr val="CCFFCC"/>
          </a:solidFill>
          <a:ln w="9525">
            <a:solidFill>
              <a:srgbClr val="00FF00"/>
            </a:solidFill>
            <a:miter lim="800000"/>
            <a:headEnd/>
            <a:tailEnd/>
          </a:ln>
        </p:spPr>
        <p:txBody>
          <a:bodyPr wrap="none" anchor="ctr"/>
          <a:lstStyle/>
          <a:p>
            <a:endParaRPr lang="zh-CN" altLang="en-US"/>
          </a:p>
        </p:txBody>
      </p:sp>
      <p:graphicFrame>
        <p:nvGraphicFramePr>
          <p:cNvPr id="10246" name="Object 6"/>
          <p:cNvGraphicFramePr>
            <a:graphicFrameLocks noChangeAspect="1"/>
          </p:cNvGraphicFramePr>
          <p:nvPr/>
        </p:nvGraphicFramePr>
        <p:xfrm>
          <a:off x="4641850" y="2060575"/>
          <a:ext cx="1252538" cy="727075"/>
        </p:xfrm>
        <a:graphic>
          <a:graphicData uri="http://schemas.openxmlformats.org/presentationml/2006/ole">
            <p:oleObj spid="_x0000_s2050" name="公式" r:id="rId4" imgW="657233" imgH="371520" progId="Equation.3">
              <p:embed/>
            </p:oleObj>
          </a:graphicData>
        </a:graphic>
      </p:graphicFrame>
      <p:graphicFrame>
        <p:nvGraphicFramePr>
          <p:cNvPr id="10247" name="Object 7"/>
          <p:cNvGraphicFramePr>
            <a:graphicFrameLocks noChangeAspect="1"/>
          </p:cNvGraphicFramePr>
          <p:nvPr/>
        </p:nvGraphicFramePr>
        <p:xfrm>
          <a:off x="903288" y="2052638"/>
          <a:ext cx="1147762" cy="728662"/>
        </p:xfrm>
        <a:graphic>
          <a:graphicData uri="http://schemas.openxmlformats.org/presentationml/2006/ole">
            <p:oleObj spid="_x0000_s2051" name="公式" r:id="rId5" imgW="599965" imgH="371520" progId="Equation.3">
              <p:embed/>
            </p:oleObj>
          </a:graphicData>
        </a:graphic>
      </p:graphicFrame>
      <p:sp>
        <p:nvSpPr>
          <p:cNvPr id="10248" name="Line 8"/>
          <p:cNvSpPr>
            <a:spLocks noChangeShapeType="1"/>
          </p:cNvSpPr>
          <p:nvPr/>
        </p:nvSpPr>
        <p:spPr bwMode="auto">
          <a:xfrm>
            <a:off x="2271713" y="2439988"/>
            <a:ext cx="2255837" cy="1587"/>
          </a:xfrm>
          <a:prstGeom prst="line">
            <a:avLst/>
          </a:prstGeom>
          <a:noFill/>
          <a:ln w="76200">
            <a:solidFill>
              <a:srgbClr val="800000"/>
            </a:solidFill>
            <a:round/>
            <a:headEnd/>
            <a:tailEnd type="triangle" w="sm" len="lg"/>
          </a:ln>
        </p:spPr>
        <p:txBody>
          <a:bodyPr/>
          <a:lstStyle/>
          <a:p>
            <a:endParaRPr lang="zh-CN" altLang="en-US"/>
          </a:p>
        </p:txBody>
      </p:sp>
      <p:sp>
        <p:nvSpPr>
          <p:cNvPr id="10249" name="Text Box 9"/>
          <p:cNvSpPr txBox="1">
            <a:spLocks noChangeArrowheads="1"/>
          </p:cNvSpPr>
          <p:nvPr/>
        </p:nvSpPr>
        <p:spPr bwMode="auto">
          <a:xfrm>
            <a:off x="2336800" y="1989138"/>
            <a:ext cx="2514600" cy="430212"/>
          </a:xfrm>
          <a:prstGeom prst="rect">
            <a:avLst/>
          </a:prstGeom>
          <a:noFill/>
          <a:ln w="9525">
            <a:noFill/>
            <a:miter lim="800000"/>
            <a:headEnd/>
            <a:tailEnd/>
          </a:ln>
        </p:spPr>
        <p:txBody>
          <a:bodyPr>
            <a:spAutoFit/>
          </a:bodyPr>
          <a:lstStyle/>
          <a:p>
            <a:pPr algn="l"/>
            <a:r>
              <a:rPr kumimoji="1" lang="zh-CN" altLang="en-US" sz="2200" b="1">
                <a:solidFill>
                  <a:srgbClr val="800000"/>
                </a:solidFill>
                <a:latin typeface="Times New Roman" pitchFamily="18" charset="0"/>
                <a:ea typeface="楷体_GB2312" pitchFamily="49" charset="-122"/>
              </a:rPr>
              <a:t>在国际单位制中</a:t>
            </a:r>
          </a:p>
        </p:txBody>
      </p:sp>
      <p:sp>
        <p:nvSpPr>
          <p:cNvPr id="10250" name="Rectangle 10"/>
          <p:cNvSpPr>
            <a:spLocks noChangeArrowheads="1"/>
          </p:cNvSpPr>
          <p:nvPr/>
        </p:nvSpPr>
        <p:spPr bwMode="auto">
          <a:xfrm>
            <a:off x="323850" y="981075"/>
            <a:ext cx="6480175" cy="979488"/>
          </a:xfrm>
          <a:prstGeom prst="rect">
            <a:avLst/>
          </a:prstGeom>
          <a:noFill/>
          <a:ln w="9525">
            <a:noFill/>
            <a:miter lim="800000"/>
            <a:headEnd/>
            <a:tailEnd/>
          </a:ln>
        </p:spPr>
        <p:txBody>
          <a:bodyPr>
            <a:spAutoFit/>
          </a:bodyPr>
          <a:lstStyle/>
          <a:p>
            <a:pPr algn="l">
              <a:lnSpc>
                <a:spcPct val="120000"/>
              </a:lnSpc>
            </a:pPr>
            <a:r>
              <a:rPr kumimoji="1" lang="en-US" altLang="zh-CN" sz="2400" b="1">
                <a:latin typeface="楷体_GB2312" pitchFamily="49" charset="-122"/>
                <a:ea typeface="楷体_GB2312" pitchFamily="49" charset="-122"/>
              </a:rPr>
              <a:t>    </a:t>
            </a:r>
            <a:r>
              <a:rPr kumimoji="1" lang="zh-CN" altLang="en-US" sz="2400" b="1">
                <a:solidFill>
                  <a:srgbClr val="FF6600"/>
                </a:solidFill>
                <a:latin typeface="楷体_GB2312" pitchFamily="49" charset="-122"/>
                <a:ea typeface="楷体_GB2312" pitchFamily="49" charset="-122"/>
              </a:rPr>
              <a:t>感应电动势</a:t>
            </a:r>
            <a:r>
              <a:rPr kumimoji="1" lang="zh-CN" altLang="en-US" sz="2400" b="1">
                <a:latin typeface="楷体_GB2312" pitchFamily="49" charset="-122"/>
                <a:ea typeface="楷体_GB2312" pitchFamily="49" charset="-122"/>
              </a:rPr>
              <a:t>的大小与通过导体回路的</a:t>
            </a:r>
            <a:r>
              <a:rPr kumimoji="1" lang="zh-CN" altLang="en-US" sz="2400" b="1">
                <a:solidFill>
                  <a:srgbClr val="FF6600"/>
                </a:solidFill>
                <a:latin typeface="楷体_GB2312" pitchFamily="49" charset="-122"/>
                <a:ea typeface="楷体_GB2312" pitchFamily="49" charset="-122"/>
              </a:rPr>
              <a:t>磁通量的变化率</a:t>
            </a:r>
            <a:r>
              <a:rPr kumimoji="1" lang="zh-CN" altLang="en-US" sz="2400" b="1">
                <a:latin typeface="楷体_GB2312" pitchFamily="49" charset="-122"/>
                <a:ea typeface="楷体_GB2312" pitchFamily="49" charset="-122"/>
              </a:rPr>
              <a:t>成正比。</a:t>
            </a:r>
          </a:p>
        </p:txBody>
      </p:sp>
      <p:sp>
        <p:nvSpPr>
          <p:cNvPr id="10251" name="Rectangle 11"/>
          <p:cNvSpPr>
            <a:spLocks noChangeArrowheads="1"/>
          </p:cNvSpPr>
          <p:nvPr/>
        </p:nvSpPr>
        <p:spPr bwMode="auto">
          <a:xfrm>
            <a:off x="107950" y="5470525"/>
            <a:ext cx="8785225" cy="979488"/>
          </a:xfrm>
          <a:prstGeom prst="rect">
            <a:avLst/>
          </a:prstGeom>
          <a:noFill/>
          <a:ln w="9525">
            <a:noFill/>
            <a:miter lim="800000"/>
            <a:headEnd/>
            <a:tailEnd/>
          </a:ln>
        </p:spPr>
        <p:txBody>
          <a:bodyPr>
            <a:spAutoFit/>
          </a:bodyPr>
          <a:lstStyle/>
          <a:p>
            <a:pPr marL="342900" indent="-342900" algn="l">
              <a:lnSpc>
                <a:spcPct val="120000"/>
              </a:lnSpc>
              <a:buFontTx/>
              <a:buAutoNum type="arabicParenBoth" startAt="3"/>
            </a:pPr>
            <a:r>
              <a:rPr kumimoji="1" lang="en-US" altLang="zh-CN" sz="2400" b="1">
                <a:latin typeface="Times New Roman" pitchFamily="18" charset="0"/>
                <a:ea typeface="楷体_GB2312" pitchFamily="49" charset="-122"/>
              </a:rPr>
              <a:t>  </a:t>
            </a:r>
            <a:r>
              <a:rPr kumimoji="1" lang="zh-CN" altLang="en-US" sz="2400" b="1">
                <a:solidFill>
                  <a:srgbClr val="FF6600"/>
                </a:solidFill>
                <a:latin typeface="Times New Roman" pitchFamily="18" charset="0"/>
                <a:ea typeface="楷体_GB2312" pitchFamily="49" charset="-122"/>
              </a:rPr>
              <a:t>负号“－”</a:t>
            </a:r>
            <a:r>
              <a:rPr kumimoji="1" lang="zh-CN" altLang="en-US" sz="2400" b="1">
                <a:latin typeface="Times New Roman" pitchFamily="18" charset="0"/>
                <a:ea typeface="楷体_GB2312" pitchFamily="49" charset="-122"/>
              </a:rPr>
              <a:t> 表示感应电流的效果总是反抗引起感应电流的原因      </a:t>
            </a:r>
            <a:r>
              <a:rPr kumimoji="1" lang="en-US" altLang="zh-CN" sz="2400" b="1">
                <a:latin typeface="Times New Roman" pitchFamily="18" charset="0"/>
                <a:ea typeface="楷体_GB2312" pitchFamily="49" charset="-122"/>
              </a:rPr>
              <a:t>—— </a:t>
            </a:r>
            <a:r>
              <a:rPr kumimoji="1" lang="zh-CN" altLang="en-US" sz="2400" b="1">
                <a:solidFill>
                  <a:srgbClr val="006600"/>
                </a:solidFill>
                <a:latin typeface="Times New Roman" pitchFamily="18" charset="0"/>
                <a:ea typeface="楷体_GB2312" pitchFamily="49" charset="-122"/>
              </a:rPr>
              <a:t>楞次定律</a:t>
            </a:r>
          </a:p>
        </p:txBody>
      </p:sp>
      <p:pic>
        <p:nvPicPr>
          <p:cNvPr id="10281" name="Picture 41" descr="WLFABU"/>
          <p:cNvPicPr>
            <a:picLocks noChangeAspect="1" noChangeArrowheads="1"/>
          </p:cNvPicPr>
          <p:nvPr/>
        </p:nvPicPr>
        <p:blipFill>
          <a:blip r:embed="rId6"/>
          <a:srcRect/>
          <a:stretch>
            <a:fillRect/>
          </a:stretch>
        </p:blipFill>
        <p:spPr bwMode="auto">
          <a:xfrm>
            <a:off x="7019925" y="765175"/>
            <a:ext cx="1436688" cy="2133600"/>
          </a:xfrm>
          <a:prstGeom prst="rect">
            <a:avLst/>
          </a:prstGeom>
          <a:noFill/>
          <a:ln w="76200">
            <a:noFill/>
            <a:miter lim="800000"/>
            <a:headEnd/>
            <a:tailEnd/>
          </a:ln>
        </p:spPr>
      </p:pic>
      <p:sp>
        <p:nvSpPr>
          <p:cNvPr id="10284" name="Text Box 44"/>
          <p:cNvSpPr txBox="1">
            <a:spLocks noChangeArrowheads="1"/>
          </p:cNvSpPr>
          <p:nvPr/>
        </p:nvSpPr>
        <p:spPr bwMode="auto">
          <a:xfrm>
            <a:off x="107950" y="3271838"/>
            <a:ext cx="5888038"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rPr>
              <a:t>(1)  </a:t>
            </a:r>
            <a:r>
              <a:rPr kumimoji="1" lang="zh-CN" altLang="en-US" sz="2400" b="1">
                <a:latin typeface="楷体_GB2312" pitchFamily="49" charset="-122"/>
                <a:ea typeface="楷体_GB2312" pitchFamily="49" charset="-122"/>
                <a:cs typeface="Times New Roman" pitchFamily="18" charset="0"/>
              </a:rPr>
              <a:t>若回路是</a:t>
            </a:r>
            <a:r>
              <a:rPr kumimoji="1" lang="zh-CN" altLang="en-US" sz="2400" b="1">
                <a:latin typeface="华文楷体" pitchFamily="2" charset="-122"/>
                <a:ea typeface="华文楷体" pitchFamily="2" charset="-122"/>
                <a:cs typeface="Times New Roman" pitchFamily="18" charset="0"/>
              </a:rPr>
              <a:t> </a:t>
            </a:r>
            <a:r>
              <a:rPr kumimoji="1" lang="en-US" altLang="zh-CN" sz="2400" b="1" i="1">
                <a:solidFill>
                  <a:srgbClr val="FF6600"/>
                </a:solidFill>
                <a:latin typeface="Times New Roman" pitchFamily="18" charset="0"/>
                <a:ea typeface="华文楷体" pitchFamily="2" charset="-122"/>
                <a:cs typeface="Times New Roman" pitchFamily="18" charset="0"/>
              </a:rPr>
              <a:t>N</a:t>
            </a:r>
            <a:r>
              <a:rPr kumimoji="1" lang="en-US" altLang="zh-CN" sz="2400" b="1" i="1">
                <a:solidFill>
                  <a:srgbClr val="FF6600"/>
                </a:solidFill>
                <a:latin typeface="华文楷体" pitchFamily="2" charset="-122"/>
                <a:ea typeface="华文楷体" pitchFamily="2" charset="-122"/>
                <a:cs typeface="Times New Roman" pitchFamily="18" charset="0"/>
              </a:rPr>
              <a:t> </a:t>
            </a:r>
            <a:r>
              <a:rPr kumimoji="1" lang="zh-CN" altLang="en-US" sz="2400" b="1">
                <a:solidFill>
                  <a:srgbClr val="FF6600"/>
                </a:solidFill>
                <a:latin typeface="楷体_GB2312" pitchFamily="49" charset="-122"/>
                <a:ea typeface="楷体_GB2312" pitchFamily="49" charset="-122"/>
                <a:cs typeface="Times New Roman" pitchFamily="18" charset="0"/>
              </a:rPr>
              <a:t>匝</a:t>
            </a:r>
            <a:r>
              <a:rPr kumimoji="1" lang="zh-CN" altLang="en-US" sz="2400" b="1">
                <a:latin typeface="楷体_GB2312" pitchFamily="49" charset="-122"/>
                <a:ea typeface="楷体_GB2312" pitchFamily="49" charset="-122"/>
                <a:cs typeface="Times New Roman" pitchFamily="18" charset="0"/>
              </a:rPr>
              <a:t>密绕线圈</a:t>
            </a:r>
          </a:p>
        </p:txBody>
      </p:sp>
      <p:graphicFrame>
        <p:nvGraphicFramePr>
          <p:cNvPr id="10285" name="Object 45"/>
          <p:cNvGraphicFramePr>
            <a:graphicFrameLocks noChangeAspect="1"/>
          </p:cNvGraphicFramePr>
          <p:nvPr/>
        </p:nvGraphicFramePr>
        <p:xfrm>
          <a:off x="4256088" y="3217863"/>
          <a:ext cx="1508125" cy="730250"/>
        </p:xfrm>
        <a:graphic>
          <a:graphicData uri="http://schemas.openxmlformats.org/presentationml/2006/ole">
            <p:oleObj spid="_x0000_s2052" name="公式" r:id="rId7" imgW="800134" imgH="371520" progId="Equation.3">
              <p:embed/>
            </p:oleObj>
          </a:graphicData>
        </a:graphic>
      </p:graphicFrame>
      <p:graphicFrame>
        <p:nvGraphicFramePr>
          <p:cNvPr id="10286" name="Object 46"/>
          <p:cNvGraphicFramePr>
            <a:graphicFrameLocks noChangeAspect="1"/>
          </p:cNvGraphicFramePr>
          <p:nvPr/>
        </p:nvGraphicFramePr>
        <p:xfrm>
          <a:off x="5884863" y="3198813"/>
          <a:ext cx="1465262" cy="735012"/>
        </p:xfrm>
        <a:graphic>
          <a:graphicData uri="http://schemas.openxmlformats.org/presentationml/2006/ole">
            <p:oleObj spid="_x0000_s2053" name="公式" r:id="rId8" imgW="771500" imgH="371520" progId="Equation.3">
              <p:embed/>
            </p:oleObj>
          </a:graphicData>
        </a:graphic>
      </p:graphicFrame>
      <p:graphicFrame>
        <p:nvGraphicFramePr>
          <p:cNvPr id="10287" name="Object 47"/>
          <p:cNvGraphicFramePr>
            <a:graphicFrameLocks noChangeAspect="1"/>
          </p:cNvGraphicFramePr>
          <p:nvPr/>
        </p:nvGraphicFramePr>
        <p:xfrm>
          <a:off x="7389813" y="3232150"/>
          <a:ext cx="892175" cy="730250"/>
        </p:xfrm>
        <a:graphic>
          <a:graphicData uri="http://schemas.openxmlformats.org/presentationml/2006/ole">
            <p:oleObj spid="_x0000_s2054" name="公式" r:id="rId9" imgW="457335" imgH="371520" progId="Equation.3">
              <p:embed/>
            </p:oleObj>
          </a:graphicData>
        </a:graphic>
      </p:graphicFrame>
      <p:sp>
        <p:nvSpPr>
          <p:cNvPr id="10288" name="Text Box 48"/>
          <p:cNvSpPr txBox="1">
            <a:spLocks noChangeArrowheads="1"/>
          </p:cNvSpPr>
          <p:nvPr/>
        </p:nvSpPr>
        <p:spPr bwMode="auto">
          <a:xfrm>
            <a:off x="107950" y="4062413"/>
            <a:ext cx="5697538"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rPr>
              <a:t>(2)  </a:t>
            </a:r>
            <a:r>
              <a:rPr kumimoji="1" lang="zh-CN" altLang="en-US" sz="2400" b="1">
                <a:latin typeface="楷体_GB2312" pitchFamily="49" charset="-122"/>
                <a:ea typeface="楷体_GB2312" pitchFamily="49" charset="-122"/>
                <a:cs typeface="Times New Roman" pitchFamily="18" charset="0"/>
              </a:rPr>
              <a:t>若闭合回路中电阻为 </a:t>
            </a:r>
            <a:r>
              <a:rPr kumimoji="1" lang="en-US" altLang="zh-CN" sz="2400" b="1" i="1">
                <a:solidFill>
                  <a:srgbClr val="FF6600"/>
                </a:solidFill>
                <a:latin typeface="Times New Roman" pitchFamily="18" charset="0"/>
                <a:ea typeface="华文楷体" pitchFamily="2" charset="-122"/>
                <a:cs typeface="Times New Roman" pitchFamily="18" charset="0"/>
              </a:rPr>
              <a:t>R</a:t>
            </a:r>
          </a:p>
        </p:txBody>
      </p:sp>
      <p:graphicFrame>
        <p:nvGraphicFramePr>
          <p:cNvPr id="10289" name="Object 49"/>
          <p:cNvGraphicFramePr>
            <a:graphicFrameLocks noChangeAspect="1"/>
          </p:cNvGraphicFramePr>
          <p:nvPr/>
        </p:nvGraphicFramePr>
        <p:xfrm>
          <a:off x="4205288" y="3990975"/>
          <a:ext cx="1874837" cy="731838"/>
        </p:xfrm>
        <a:graphic>
          <a:graphicData uri="http://schemas.openxmlformats.org/presentationml/2006/ole">
            <p:oleObj spid="_x0000_s2055" name="公式" r:id="rId10" imgW="1000032" imgH="371520" progId="Equation.3">
              <p:embed/>
            </p:oleObj>
          </a:graphicData>
        </a:graphic>
      </p:graphicFrame>
      <p:graphicFrame>
        <p:nvGraphicFramePr>
          <p:cNvPr id="10290" name="Object 50"/>
          <p:cNvGraphicFramePr>
            <a:graphicFrameLocks noChangeAspect="1"/>
          </p:cNvGraphicFramePr>
          <p:nvPr/>
        </p:nvGraphicFramePr>
        <p:xfrm>
          <a:off x="6094413" y="4005263"/>
          <a:ext cx="709612" cy="733425"/>
        </p:xfrm>
        <a:graphic>
          <a:graphicData uri="http://schemas.openxmlformats.org/presentationml/2006/ole">
            <p:oleObj spid="_x0000_s2056" name="公式" r:id="rId11" imgW="352523" imgH="371520" progId="Equation.3">
              <p:embed/>
            </p:oleObj>
          </a:graphicData>
        </a:graphic>
      </p:graphicFrame>
      <p:sp>
        <p:nvSpPr>
          <p:cNvPr id="10291" name="Text Box 51"/>
          <p:cNvSpPr txBox="1">
            <a:spLocks noChangeArrowheads="1"/>
          </p:cNvSpPr>
          <p:nvPr/>
        </p:nvSpPr>
        <p:spPr bwMode="auto">
          <a:xfrm>
            <a:off x="611188" y="4752975"/>
            <a:ext cx="2438400"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6600"/>
                </a:solidFill>
                <a:latin typeface="Times New Roman" pitchFamily="18" charset="0"/>
                <a:ea typeface="楷体_GB2312" pitchFamily="49" charset="-122"/>
              </a:rPr>
              <a:t>感应电荷</a:t>
            </a:r>
            <a:r>
              <a:rPr kumimoji="1" lang="zh-CN" altLang="en-US" sz="2400" b="1">
                <a:latin typeface="Times New Roman" pitchFamily="18" charset="0"/>
                <a:ea typeface="楷体_GB2312" pitchFamily="49" charset="-122"/>
              </a:rPr>
              <a:t>为：</a:t>
            </a:r>
          </a:p>
        </p:txBody>
      </p:sp>
      <p:graphicFrame>
        <p:nvGraphicFramePr>
          <p:cNvPr id="10292" name="Object 52"/>
          <p:cNvGraphicFramePr>
            <a:graphicFrameLocks noChangeAspect="1"/>
          </p:cNvGraphicFramePr>
          <p:nvPr/>
        </p:nvGraphicFramePr>
        <p:xfrm>
          <a:off x="4059238" y="4710113"/>
          <a:ext cx="1808162" cy="730250"/>
        </p:xfrm>
        <a:graphic>
          <a:graphicData uri="http://schemas.openxmlformats.org/presentationml/2006/ole">
            <p:oleObj spid="_x0000_s2057" name="公式" r:id="rId12" imgW="961943" imgH="371520" progId="Equation.3">
              <p:embed/>
            </p:oleObj>
          </a:graphicData>
        </a:graphic>
      </p:graphicFrame>
      <p:graphicFrame>
        <p:nvGraphicFramePr>
          <p:cNvPr id="10293" name="Object 53"/>
          <p:cNvGraphicFramePr>
            <a:graphicFrameLocks noChangeAspect="1"/>
          </p:cNvGraphicFramePr>
          <p:nvPr/>
        </p:nvGraphicFramePr>
        <p:xfrm>
          <a:off x="5957888" y="4768850"/>
          <a:ext cx="1509712" cy="728663"/>
        </p:xfrm>
        <a:graphic>
          <a:graphicData uri="http://schemas.openxmlformats.org/presentationml/2006/ole">
            <p:oleObj spid="_x0000_s2058" name="公式" r:id="rId13" imgW="800134" imgH="371520" progId="Equation.3">
              <p:embed/>
            </p:oleObj>
          </a:graphicData>
        </a:graphic>
      </p:graphicFrame>
      <p:sp>
        <p:nvSpPr>
          <p:cNvPr id="10294" name="Text Box 54"/>
          <p:cNvSpPr txBox="1">
            <a:spLocks noChangeArrowheads="1"/>
          </p:cNvSpPr>
          <p:nvPr/>
        </p:nvSpPr>
        <p:spPr bwMode="auto">
          <a:xfrm>
            <a:off x="490538" y="2752725"/>
            <a:ext cx="1330325" cy="457200"/>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buClr>
                <a:srgbClr val="00FFFF"/>
              </a:buClr>
              <a:buSzPts val="2400"/>
              <a:buFont typeface="Wingdings" pitchFamily="2" charset="2"/>
              <a:buNone/>
              <a:defRPr/>
            </a:pPr>
            <a:r>
              <a:rPr lang="zh-CN" altLang="en-US" sz="2400" b="1" dirty="0">
                <a:solidFill>
                  <a:srgbClr val="FF6600"/>
                </a:solidFill>
                <a:latin typeface="宋体" pitchFamily="2" charset="-122"/>
              </a:rPr>
              <a:t>说明</a:t>
            </a:r>
            <a:endParaRPr lang="zh-CN" altLang="en-US" sz="3200" dirty="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sp>
        <p:nvSpPr>
          <p:cNvPr id="10295" name="AutoShape 55"/>
          <p:cNvSpPr>
            <a:spLocks noChangeArrowheads="1"/>
          </p:cNvSpPr>
          <p:nvPr/>
        </p:nvSpPr>
        <p:spPr bwMode="auto">
          <a:xfrm>
            <a:off x="161925" y="269398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10296" name="Object 56"/>
          <p:cNvGraphicFramePr>
            <a:graphicFrameLocks noChangeAspect="1"/>
          </p:cNvGraphicFramePr>
          <p:nvPr/>
        </p:nvGraphicFramePr>
        <p:xfrm>
          <a:off x="2689225" y="4767263"/>
          <a:ext cx="1306513" cy="641350"/>
        </p:xfrm>
        <a:graphic>
          <a:graphicData uri="http://schemas.openxmlformats.org/presentationml/2006/ole">
            <p:oleObj spid="_x0000_s2059" name="公式" r:id="rId14" imgW="685868" imgH="31428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wipe(left)">
                                      <p:cBhvr>
                                        <p:cTn id="7" dur="2000"/>
                                        <p:tgtEl>
                                          <p:spTgt spid="10244"/>
                                        </p:tgtEl>
                                      </p:cBhvr>
                                    </p:animEffect>
                                  </p:childTnLst>
                                </p:cTn>
                              </p:par>
                              <p:par>
                                <p:cTn id="8" presetID="3" presetClass="entr" presetSubtype="10" fill="hold" nodeType="withEffect">
                                  <p:stCondLst>
                                    <p:cond delay="0"/>
                                  </p:stCondLst>
                                  <p:childTnLst>
                                    <p:set>
                                      <p:cBhvr>
                                        <p:cTn id="9" dur="1" fill="hold">
                                          <p:stCondLst>
                                            <p:cond delay="0"/>
                                          </p:stCondLst>
                                        </p:cTn>
                                        <p:tgtEl>
                                          <p:spTgt spid="10281"/>
                                        </p:tgtEl>
                                        <p:attrNameLst>
                                          <p:attrName>style.visibility</p:attrName>
                                        </p:attrNameLst>
                                      </p:cBhvr>
                                      <p:to>
                                        <p:strVal val="visible"/>
                                      </p:to>
                                    </p:set>
                                    <p:animEffect transition="in" filter="blinds(horizontal)">
                                      <p:cBhvr>
                                        <p:cTn id="10" dur="500"/>
                                        <p:tgtEl>
                                          <p:spTgt spid="1028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10250"/>
                                        </p:tgtEl>
                                        <p:attrNameLst>
                                          <p:attrName>style.visibility</p:attrName>
                                        </p:attrNameLst>
                                      </p:cBhvr>
                                      <p:to>
                                        <p:strVal val="visible"/>
                                      </p:to>
                                    </p:set>
                                    <p:animEffect transition="in" filter="wipe(left)">
                                      <p:cBhvr>
                                        <p:cTn id="15" dur="1000"/>
                                        <p:tgtEl>
                                          <p:spTgt spid="1025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0247"/>
                                        </p:tgtEl>
                                        <p:attrNameLst>
                                          <p:attrName>style.visibility</p:attrName>
                                        </p:attrNameLst>
                                      </p:cBhvr>
                                      <p:to>
                                        <p:strVal val="visible"/>
                                      </p:to>
                                    </p:set>
                                    <p:animEffect transition="in" filter="wipe(left)">
                                      <p:cBhvr>
                                        <p:cTn id="20" dur="500"/>
                                        <p:tgtEl>
                                          <p:spTgt spid="1024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249"/>
                                        </p:tgtEl>
                                        <p:attrNameLst>
                                          <p:attrName>style.visibility</p:attrName>
                                        </p:attrNameLst>
                                      </p:cBhvr>
                                      <p:to>
                                        <p:strVal val="visible"/>
                                      </p:to>
                                    </p:set>
                                    <p:animEffect transition="in" filter="wipe(left)">
                                      <p:cBhvr>
                                        <p:cTn id="25" dur="2000"/>
                                        <p:tgtEl>
                                          <p:spTgt spid="10249"/>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0248"/>
                                        </p:tgtEl>
                                        <p:attrNameLst>
                                          <p:attrName>style.visibility</p:attrName>
                                        </p:attrNameLst>
                                      </p:cBhvr>
                                      <p:to>
                                        <p:strVal val="visible"/>
                                      </p:to>
                                    </p:set>
                                    <p:animEffect transition="in" filter="wipe(left)">
                                      <p:cBhvr>
                                        <p:cTn id="28" dur="500"/>
                                        <p:tgtEl>
                                          <p:spTgt spid="10248"/>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0246"/>
                                        </p:tgtEl>
                                        <p:attrNameLst>
                                          <p:attrName>style.visibility</p:attrName>
                                        </p:attrNameLst>
                                      </p:cBhvr>
                                      <p:to>
                                        <p:strVal val="visible"/>
                                      </p:to>
                                    </p:set>
                                    <p:animEffect transition="in" filter="wipe(left)">
                                      <p:cBhvr>
                                        <p:cTn id="33" dur="500"/>
                                        <p:tgtEl>
                                          <p:spTgt spid="10246"/>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0245"/>
                                        </p:tgtEl>
                                        <p:attrNameLst>
                                          <p:attrName>style.visibility</p:attrName>
                                        </p:attrNameLst>
                                      </p:cBhvr>
                                      <p:to>
                                        <p:strVal val="visible"/>
                                      </p:to>
                                    </p:set>
                                    <p:animEffect transition="in" filter="dissolve">
                                      <p:cBhvr>
                                        <p:cTn id="36" dur="2000"/>
                                        <p:tgtEl>
                                          <p:spTgt spid="1024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0295"/>
                                        </p:tgtEl>
                                        <p:attrNameLst>
                                          <p:attrName>style.visibility</p:attrName>
                                        </p:attrNameLst>
                                      </p:cBhvr>
                                      <p:to>
                                        <p:strVal val="visible"/>
                                      </p:to>
                                    </p:set>
                                    <p:animEffect transition="in" filter="dissolve">
                                      <p:cBhvr>
                                        <p:cTn id="41" dur="1000"/>
                                        <p:tgtEl>
                                          <p:spTgt spid="10295"/>
                                        </p:tgtEl>
                                      </p:cBhvr>
                                    </p:animEffect>
                                  </p:childTnLst>
                                </p:cTn>
                              </p:par>
                            </p:childTnLst>
                          </p:cTn>
                        </p:par>
                        <p:par>
                          <p:cTn id="42" fill="hold" nodeType="afterGroup">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10294"/>
                                        </p:tgtEl>
                                        <p:attrNameLst>
                                          <p:attrName>style.visibility</p:attrName>
                                        </p:attrNameLst>
                                      </p:cBhvr>
                                      <p:to>
                                        <p:strVal val="visible"/>
                                      </p:to>
                                    </p:set>
                                    <p:animEffect transition="in" filter="wipe(left)">
                                      <p:cBhvr>
                                        <p:cTn id="45" dur="500"/>
                                        <p:tgtEl>
                                          <p:spTgt spid="1029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0284"/>
                                        </p:tgtEl>
                                        <p:attrNameLst>
                                          <p:attrName>style.visibility</p:attrName>
                                        </p:attrNameLst>
                                      </p:cBhvr>
                                      <p:to>
                                        <p:strVal val="visible"/>
                                      </p:to>
                                    </p:set>
                                    <p:animEffect transition="in" filter="wipe(left)">
                                      <p:cBhvr>
                                        <p:cTn id="50" dur="500"/>
                                        <p:tgtEl>
                                          <p:spTgt spid="1028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10285"/>
                                        </p:tgtEl>
                                        <p:attrNameLst>
                                          <p:attrName>style.visibility</p:attrName>
                                        </p:attrNameLst>
                                      </p:cBhvr>
                                      <p:to>
                                        <p:strVal val="visible"/>
                                      </p:to>
                                    </p:set>
                                    <p:animEffect transition="in" filter="wipe(left)">
                                      <p:cBhvr>
                                        <p:cTn id="55" dur="500"/>
                                        <p:tgtEl>
                                          <p:spTgt spid="1028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10286"/>
                                        </p:tgtEl>
                                        <p:attrNameLst>
                                          <p:attrName>style.visibility</p:attrName>
                                        </p:attrNameLst>
                                      </p:cBhvr>
                                      <p:to>
                                        <p:strVal val="visible"/>
                                      </p:to>
                                    </p:set>
                                    <p:animEffect transition="in" filter="wipe(left)">
                                      <p:cBhvr>
                                        <p:cTn id="60" dur="500"/>
                                        <p:tgtEl>
                                          <p:spTgt spid="1028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0287"/>
                                        </p:tgtEl>
                                        <p:attrNameLst>
                                          <p:attrName>style.visibility</p:attrName>
                                        </p:attrNameLst>
                                      </p:cBhvr>
                                      <p:to>
                                        <p:strVal val="visible"/>
                                      </p:to>
                                    </p:set>
                                    <p:animEffect transition="in" filter="wipe(left)">
                                      <p:cBhvr>
                                        <p:cTn id="65" dur="500"/>
                                        <p:tgtEl>
                                          <p:spTgt spid="1028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0288"/>
                                        </p:tgtEl>
                                        <p:attrNameLst>
                                          <p:attrName>style.visibility</p:attrName>
                                        </p:attrNameLst>
                                      </p:cBhvr>
                                      <p:to>
                                        <p:strVal val="visible"/>
                                      </p:to>
                                    </p:set>
                                    <p:animEffect transition="in" filter="wipe(left)">
                                      <p:cBhvr>
                                        <p:cTn id="70" dur="500"/>
                                        <p:tgtEl>
                                          <p:spTgt spid="1028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10289"/>
                                        </p:tgtEl>
                                        <p:attrNameLst>
                                          <p:attrName>style.visibility</p:attrName>
                                        </p:attrNameLst>
                                      </p:cBhvr>
                                      <p:to>
                                        <p:strVal val="visible"/>
                                      </p:to>
                                    </p:set>
                                    <p:animEffect transition="in" filter="wipe(left)">
                                      <p:cBhvr>
                                        <p:cTn id="75" dur="500"/>
                                        <p:tgtEl>
                                          <p:spTgt spid="1028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10290"/>
                                        </p:tgtEl>
                                        <p:attrNameLst>
                                          <p:attrName>style.visibility</p:attrName>
                                        </p:attrNameLst>
                                      </p:cBhvr>
                                      <p:to>
                                        <p:strVal val="visible"/>
                                      </p:to>
                                    </p:set>
                                    <p:animEffect transition="in" filter="wipe(left)">
                                      <p:cBhvr>
                                        <p:cTn id="80" dur="500"/>
                                        <p:tgtEl>
                                          <p:spTgt spid="1029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0291"/>
                                        </p:tgtEl>
                                        <p:attrNameLst>
                                          <p:attrName>style.visibility</p:attrName>
                                        </p:attrNameLst>
                                      </p:cBhvr>
                                      <p:to>
                                        <p:strVal val="visible"/>
                                      </p:to>
                                    </p:set>
                                    <p:animEffect transition="in" filter="wipe(left)">
                                      <p:cBhvr>
                                        <p:cTn id="85" dur="500"/>
                                        <p:tgtEl>
                                          <p:spTgt spid="10291"/>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10296"/>
                                        </p:tgtEl>
                                        <p:attrNameLst>
                                          <p:attrName>style.visibility</p:attrName>
                                        </p:attrNameLst>
                                      </p:cBhvr>
                                      <p:to>
                                        <p:strVal val="visible"/>
                                      </p:to>
                                    </p:set>
                                    <p:animEffect transition="in" filter="wipe(left)">
                                      <p:cBhvr>
                                        <p:cTn id="90" dur="500"/>
                                        <p:tgtEl>
                                          <p:spTgt spid="1029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10292"/>
                                        </p:tgtEl>
                                        <p:attrNameLst>
                                          <p:attrName>style.visibility</p:attrName>
                                        </p:attrNameLst>
                                      </p:cBhvr>
                                      <p:to>
                                        <p:strVal val="visible"/>
                                      </p:to>
                                    </p:set>
                                    <p:animEffect transition="in" filter="wipe(left)">
                                      <p:cBhvr>
                                        <p:cTn id="95" dur="500"/>
                                        <p:tgtEl>
                                          <p:spTgt spid="10292"/>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10293"/>
                                        </p:tgtEl>
                                        <p:attrNameLst>
                                          <p:attrName>style.visibility</p:attrName>
                                        </p:attrNameLst>
                                      </p:cBhvr>
                                      <p:to>
                                        <p:strVal val="visible"/>
                                      </p:to>
                                    </p:set>
                                    <p:animEffect transition="in" filter="wipe(left)">
                                      <p:cBhvr>
                                        <p:cTn id="100" dur="500"/>
                                        <p:tgtEl>
                                          <p:spTgt spid="10293"/>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iterate type="wd">
                                    <p:tmPct val="37000"/>
                                  </p:iterate>
                                  <p:childTnLst>
                                    <p:set>
                                      <p:cBhvr>
                                        <p:cTn id="104" dur="1" fill="hold">
                                          <p:stCondLst>
                                            <p:cond delay="0"/>
                                          </p:stCondLst>
                                        </p:cTn>
                                        <p:tgtEl>
                                          <p:spTgt spid="10251"/>
                                        </p:tgtEl>
                                        <p:attrNameLst>
                                          <p:attrName>style.visibility</p:attrName>
                                        </p:attrNameLst>
                                      </p:cBhvr>
                                      <p:to>
                                        <p:strVal val="visible"/>
                                      </p:to>
                                    </p:set>
                                    <p:animEffect transition="in" filter="wipe(left)">
                                      <p:cBhvr>
                                        <p:cTn id="105" dur="500"/>
                                        <p:tgtEl>
                                          <p:spTgt spid="10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autoUpdateAnimBg="0"/>
      <p:bldP spid="10245" grpId="0" animBg="1"/>
      <p:bldP spid="10248" grpId="0" animBg="1"/>
      <p:bldP spid="10251" grpId="0" autoUpdateAnimBg="0"/>
      <p:bldP spid="10284" grpId="0" autoUpdateAnimBg="0"/>
      <p:bldP spid="10288" grpId="0" autoUpdateAnimBg="0"/>
      <p:bldP spid="10291" grpId="0" autoUpdateAnimBg="0"/>
      <p:bldP spid="10294" grpId="0" autoUpdateAnimBg="0"/>
      <p:bldP spid="1029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59" name="Rectangle 95"/>
          <p:cNvSpPr>
            <a:spLocks noChangeArrowheads="1"/>
          </p:cNvSpPr>
          <p:nvPr/>
        </p:nvSpPr>
        <p:spPr bwMode="auto">
          <a:xfrm>
            <a:off x="179388" y="493713"/>
            <a:ext cx="3673475" cy="549275"/>
          </a:xfrm>
          <a:prstGeom prst="rect">
            <a:avLst/>
          </a:prstGeom>
          <a:noFill/>
          <a:ln w="9525">
            <a:noFill/>
            <a:miter lim="800000"/>
            <a:headEnd/>
            <a:tailEnd/>
          </a:ln>
        </p:spPr>
        <p:txBody>
          <a:bodyPr>
            <a:spAutoFit/>
          </a:bodyPr>
          <a:lstStyle/>
          <a:p>
            <a:pPr algn="l">
              <a:lnSpc>
                <a:spcPct val="125000"/>
              </a:lnSpc>
            </a:pPr>
            <a:r>
              <a:rPr kumimoji="1" lang="en-US" altLang="zh-CN" sz="2400" b="1" i="1">
                <a:solidFill>
                  <a:srgbClr val="0000CC"/>
                </a:solidFill>
                <a:latin typeface="Symbol" pitchFamily="18" charset="2"/>
              </a:rPr>
              <a:t>e </a:t>
            </a:r>
            <a:r>
              <a:rPr kumimoji="1" lang="zh-CN" altLang="en-US" sz="2400" b="1">
                <a:solidFill>
                  <a:srgbClr val="0000CC"/>
                </a:solidFill>
                <a:latin typeface="Times New Roman" pitchFamily="18" charset="0"/>
              </a:rPr>
              <a:t>方向确定的具体方法</a:t>
            </a:r>
          </a:p>
        </p:txBody>
      </p:sp>
      <p:sp>
        <p:nvSpPr>
          <p:cNvPr id="11360" name="Rectangle 96"/>
          <p:cNvSpPr>
            <a:spLocks noChangeArrowheads="1"/>
          </p:cNvSpPr>
          <p:nvPr/>
        </p:nvSpPr>
        <p:spPr bwMode="auto">
          <a:xfrm>
            <a:off x="179388" y="1196975"/>
            <a:ext cx="4032250" cy="1422400"/>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1</a:t>
            </a:r>
            <a:r>
              <a:rPr kumimoji="1" lang="zh-CN" altLang="en-US" sz="2400" b="1">
                <a:latin typeface="Times New Roman" pitchFamily="18" charset="0"/>
                <a:ea typeface="楷体_GB2312" pitchFamily="49" charset="-122"/>
              </a:rPr>
              <a:t>、</a:t>
            </a:r>
            <a:r>
              <a:rPr kumimoji="1" lang="zh-CN" altLang="en-US" sz="2400" b="1">
                <a:solidFill>
                  <a:schemeClr val="tx2"/>
                </a:solidFill>
                <a:latin typeface="Times New Roman" pitchFamily="18" charset="0"/>
                <a:ea typeface="楷体_GB2312" pitchFamily="49" charset="-122"/>
              </a:rPr>
              <a:t> 选一</a:t>
            </a:r>
            <a:r>
              <a:rPr kumimoji="1" lang="zh-CN" altLang="en-US" sz="2400" b="1">
                <a:solidFill>
                  <a:srgbClr val="FF6600"/>
                </a:solidFill>
                <a:latin typeface="Times New Roman" pitchFamily="18" charset="0"/>
                <a:ea typeface="楷体_GB2312" pitchFamily="49" charset="-122"/>
              </a:rPr>
              <a:t>回路</a:t>
            </a:r>
            <a:r>
              <a:rPr kumimoji="1" lang="zh-CN" altLang="en-US" sz="2400" b="1">
                <a:solidFill>
                  <a:schemeClr val="tx2"/>
                </a:solidFill>
                <a:latin typeface="Times New Roman" pitchFamily="18" charset="0"/>
                <a:ea typeface="楷体_GB2312" pitchFamily="49" charset="-122"/>
              </a:rPr>
              <a:t>，使引起感应电动势的磁场方向与回路绕行方向满足</a:t>
            </a:r>
            <a:r>
              <a:rPr kumimoji="1" lang="zh-CN" altLang="en-US" sz="2400" b="1">
                <a:solidFill>
                  <a:srgbClr val="FF6600"/>
                </a:solidFill>
                <a:latin typeface="Times New Roman" pitchFamily="18" charset="0"/>
                <a:ea typeface="楷体_GB2312" pitchFamily="49" charset="-122"/>
              </a:rPr>
              <a:t>右手螺旋关系</a:t>
            </a:r>
            <a:r>
              <a:rPr kumimoji="1" lang="zh-CN" altLang="en-US" sz="2400" b="1">
                <a:solidFill>
                  <a:schemeClr val="tx2"/>
                </a:solidFill>
                <a:latin typeface="Times New Roman" pitchFamily="18" charset="0"/>
                <a:ea typeface="楷体_GB2312" pitchFamily="49" charset="-122"/>
              </a:rPr>
              <a:t>。</a:t>
            </a:r>
            <a:endParaRPr kumimoji="1" lang="zh-CN" altLang="en-US" sz="2400" b="1">
              <a:latin typeface="Times New Roman" pitchFamily="18" charset="0"/>
              <a:ea typeface="楷体_GB2312" pitchFamily="49" charset="-122"/>
            </a:endParaRPr>
          </a:p>
        </p:txBody>
      </p:sp>
      <p:sp>
        <p:nvSpPr>
          <p:cNvPr id="11361" name="Rectangle 97"/>
          <p:cNvSpPr>
            <a:spLocks noChangeArrowheads="1"/>
          </p:cNvSpPr>
          <p:nvPr/>
        </p:nvSpPr>
        <p:spPr bwMode="auto">
          <a:xfrm>
            <a:off x="180975" y="2708275"/>
            <a:ext cx="4251325" cy="1865313"/>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2</a:t>
            </a:r>
            <a:r>
              <a:rPr kumimoji="1" lang="zh-CN" altLang="en-US" sz="2400" b="1">
                <a:latin typeface="Times New Roman" pitchFamily="18" charset="0"/>
                <a:ea typeface="楷体_GB2312" pitchFamily="49" charset="-122"/>
              </a:rPr>
              <a:t>、若穿过回路的磁通量</a:t>
            </a:r>
            <a:r>
              <a:rPr kumimoji="1" lang="zh-CN" altLang="en-US" sz="2400" b="1">
                <a:solidFill>
                  <a:srgbClr val="FF6600"/>
                </a:solidFill>
                <a:latin typeface="Times New Roman" pitchFamily="18" charset="0"/>
                <a:ea typeface="楷体_GB2312" pitchFamily="49" charset="-122"/>
              </a:rPr>
              <a:t>增大</a:t>
            </a:r>
            <a:r>
              <a:rPr kumimoji="1" lang="zh-CN" altLang="en-US" sz="2400" b="1">
                <a:latin typeface="Times New Roman" pitchFamily="18" charset="0"/>
                <a:ea typeface="楷体_GB2312" pitchFamily="49" charset="-122"/>
              </a:rPr>
              <a:t>时，此时感应电流的磁场方向和原磁场的方向</a:t>
            </a:r>
            <a:r>
              <a:rPr kumimoji="1" lang="zh-CN" altLang="en-US" sz="2400" b="1">
                <a:solidFill>
                  <a:srgbClr val="FF6600"/>
                </a:solidFill>
                <a:latin typeface="Times New Roman" pitchFamily="18" charset="0"/>
                <a:ea typeface="楷体_GB2312" pitchFamily="49" charset="-122"/>
              </a:rPr>
              <a:t>相反</a:t>
            </a:r>
            <a:r>
              <a:rPr kumimoji="1" lang="zh-CN" altLang="en-US" sz="2400" b="1">
                <a:latin typeface="Times New Roman" pitchFamily="18" charset="0"/>
                <a:ea typeface="楷体_GB2312" pitchFamily="49" charset="-122"/>
              </a:rPr>
              <a:t>，</a:t>
            </a:r>
            <a:r>
              <a:rPr kumimoji="1" lang="zh-CN" altLang="en-US" sz="2400" b="1">
                <a:solidFill>
                  <a:srgbClr val="008000"/>
                </a:solidFill>
                <a:latin typeface="Times New Roman" pitchFamily="18" charset="0"/>
                <a:ea typeface="楷体_GB2312" pitchFamily="49" charset="-122"/>
              </a:rPr>
              <a:t>阻碍原磁场增强。</a:t>
            </a:r>
            <a:endParaRPr kumimoji="1" lang="zh-CN" altLang="en-US" sz="2400">
              <a:solidFill>
                <a:srgbClr val="008000"/>
              </a:solidFill>
              <a:latin typeface="Times New Roman" pitchFamily="18" charset="0"/>
              <a:ea typeface="楷体_GB2312" pitchFamily="49" charset="-122"/>
            </a:endParaRPr>
          </a:p>
        </p:txBody>
      </p:sp>
      <p:graphicFrame>
        <p:nvGraphicFramePr>
          <p:cNvPr id="11362" name="Object 98"/>
          <p:cNvGraphicFramePr>
            <a:graphicFrameLocks noChangeAspect="1"/>
          </p:cNvGraphicFramePr>
          <p:nvPr/>
        </p:nvGraphicFramePr>
        <p:xfrm>
          <a:off x="4483100" y="2619375"/>
          <a:ext cx="881063" cy="738188"/>
        </p:xfrm>
        <a:graphic>
          <a:graphicData uri="http://schemas.openxmlformats.org/presentationml/2006/ole">
            <p:oleObj spid="_x0000_s3074" name="公式" r:id="rId3" imgW="447610" imgH="371520" progId="Equation.3">
              <p:embed/>
            </p:oleObj>
          </a:graphicData>
        </a:graphic>
      </p:graphicFrame>
      <p:grpSp>
        <p:nvGrpSpPr>
          <p:cNvPr id="2" name="Group 99"/>
          <p:cNvGrpSpPr>
            <a:grpSpLocks/>
          </p:cNvGrpSpPr>
          <p:nvPr/>
        </p:nvGrpSpPr>
        <p:grpSpPr bwMode="auto">
          <a:xfrm>
            <a:off x="5159375" y="1600200"/>
            <a:ext cx="152400" cy="990600"/>
            <a:chOff x="1440" y="3360"/>
            <a:chExt cx="192" cy="768"/>
          </a:xfrm>
        </p:grpSpPr>
        <p:sp>
          <p:nvSpPr>
            <p:cNvPr id="3134" name="Rectangle 100"/>
            <p:cNvSpPr>
              <a:spLocks noChangeArrowheads="1"/>
            </p:cNvSpPr>
            <p:nvPr/>
          </p:nvSpPr>
          <p:spPr bwMode="auto">
            <a:xfrm>
              <a:off x="1440" y="3360"/>
              <a:ext cx="192" cy="384"/>
            </a:xfrm>
            <a:prstGeom prst="rect">
              <a:avLst/>
            </a:prstGeom>
            <a:solidFill>
              <a:srgbClr val="FF3300"/>
            </a:solidFill>
            <a:ln w="9525">
              <a:solidFill>
                <a:schemeClr val="tx1"/>
              </a:solidFill>
              <a:miter lim="800000"/>
              <a:headEnd/>
              <a:tailEnd/>
            </a:ln>
          </p:spPr>
          <p:txBody>
            <a:bodyPr wrap="none" anchor="ctr"/>
            <a:lstStyle/>
            <a:p>
              <a:endParaRPr lang="zh-CN" altLang="en-US"/>
            </a:p>
          </p:txBody>
        </p:sp>
        <p:sp>
          <p:nvSpPr>
            <p:cNvPr id="3135" name="Rectangle 101"/>
            <p:cNvSpPr>
              <a:spLocks noChangeArrowheads="1"/>
            </p:cNvSpPr>
            <p:nvPr/>
          </p:nvSpPr>
          <p:spPr bwMode="auto">
            <a:xfrm>
              <a:off x="1440" y="3744"/>
              <a:ext cx="192" cy="384"/>
            </a:xfrm>
            <a:prstGeom prst="rect">
              <a:avLst/>
            </a:prstGeom>
            <a:solidFill>
              <a:srgbClr val="66FFFF"/>
            </a:solidFill>
            <a:ln w="9525">
              <a:solidFill>
                <a:schemeClr val="tx1"/>
              </a:solidFill>
              <a:miter lim="800000"/>
              <a:headEnd/>
              <a:tailEnd/>
            </a:ln>
          </p:spPr>
          <p:txBody>
            <a:bodyPr wrap="none" anchor="ctr"/>
            <a:lstStyle/>
            <a:p>
              <a:endParaRPr lang="zh-CN" altLang="en-US"/>
            </a:p>
          </p:txBody>
        </p:sp>
      </p:grpSp>
      <p:grpSp>
        <p:nvGrpSpPr>
          <p:cNvPr id="3" name="Group 102"/>
          <p:cNvGrpSpPr>
            <a:grpSpLocks/>
          </p:cNvGrpSpPr>
          <p:nvPr/>
        </p:nvGrpSpPr>
        <p:grpSpPr bwMode="auto">
          <a:xfrm flipV="1">
            <a:off x="7677150" y="1600200"/>
            <a:ext cx="152400" cy="990600"/>
            <a:chOff x="1440" y="3360"/>
            <a:chExt cx="192" cy="768"/>
          </a:xfrm>
        </p:grpSpPr>
        <p:sp>
          <p:nvSpPr>
            <p:cNvPr id="3132" name="Rectangle 103"/>
            <p:cNvSpPr>
              <a:spLocks noChangeArrowheads="1"/>
            </p:cNvSpPr>
            <p:nvPr/>
          </p:nvSpPr>
          <p:spPr bwMode="auto">
            <a:xfrm>
              <a:off x="1440" y="3360"/>
              <a:ext cx="192" cy="384"/>
            </a:xfrm>
            <a:prstGeom prst="rect">
              <a:avLst/>
            </a:prstGeom>
            <a:solidFill>
              <a:srgbClr val="FF3300"/>
            </a:solidFill>
            <a:ln w="9525">
              <a:solidFill>
                <a:schemeClr val="tx1"/>
              </a:solidFill>
              <a:miter lim="800000"/>
              <a:headEnd/>
              <a:tailEnd/>
            </a:ln>
          </p:spPr>
          <p:txBody>
            <a:bodyPr wrap="none" anchor="ctr"/>
            <a:lstStyle/>
            <a:p>
              <a:endParaRPr lang="zh-CN" altLang="en-US"/>
            </a:p>
          </p:txBody>
        </p:sp>
        <p:sp>
          <p:nvSpPr>
            <p:cNvPr id="3133" name="Rectangle 104"/>
            <p:cNvSpPr>
              <a:spLocks noChangeArrowheads="1"/>
            </p:cNvSpPr>
            <p:nvPr/>
          </p:nvSpPr>
          <p:spPr bwMode="auto">
            <a:xfrm>
              <a:off x="1440" y="3744"/>
              <a:ext cx="192" cy="384"/>
            </a:xfrm>
            <a:prstGeom prst="rect">
              <a:avLst/>
            </a:prstGeom>
            <a:solidFill>
              <a:srgbClr val="66FFFF"/>
            </a:solidFill>
            <a:ln w="9525">
              <a:solidFill>
                <a:schemeClr val="tx1"/>
              </a:solidFill>
              <a:miter lim="800000"/>
              <a:headEnd/>
              <a:tailEnd/>
            </a:ln>
          </p:spPr>
          <p:txBody>
            <a:bodyPr wrap="none" anchor="ctr"/>
            <a:lstStyle/>
            <a:p>
              <a:endParaRPr lang="zh-CN" altLang="en-US"/>
            </a:p>
          </p:txBody>
        </p:sp>
      </p:grpSp>
      <p:sp>
        <p:nvSpPr>
          <p:cNvPr id="11369" name="Oval 105"/>
          <p:cNvSpPr>
            <a:spLocks noChangeArrowheads="1"/>
          </p:cNvSpPr>
          <p:nvPr/>
        </p:nvSpPr>
        <p:spPr bwMode="auto">
          <a:xfrm>
            <a:off x="4321175" y="1219200"/>
            <a:ext cx="1828800" cy="762000"/>
          </a:xfrm>
          <a:prstGeom prst="ellipse">
            <a:avLst/>
          </a:prstGeom>
          <a:noFill/>
          <a:ln w="38100">
            <a:solidFill>
              <a:schemeClr val="tx1"/>
            </a:solidFill>
            <a:round/>
            <a:headEnd/>
            <a:tailEnd/>
          </a:ln>
        </p:spPr>
        <p:txBody>
          <a:bodyPr wrap="none" anchor="ctr"/>
          <a:lstStyle/>
          <a:p>
            <a:endParaRPr lang="zh-CN" altLang="en-US"/>
          </a:p>
        </p:txBody>
      </p:sp>
      <p:sp>
        <p:nvSpPr>
          <p:cNvPr id="11370" name="Oval 106"/>
          <p:cNvSpPr>
            <a:spLocks noChangeArrowheads="1"/>
          </p:cNvSpPr>
          <p:nvPr/>
        </p:nvSpPr>
        <p:spPr bwMode="auto">
          <a:xfrm>
            <a:off x="6838950" y="1219200"/>
            <a:ext cx="1828800" cy="762000"/>
          </a:xfrm>
          <a:prstGeom prst="ellipse">
            <a:avLst/>
          </a:prstGeom>
          <a:noFill/>
          <a:ln w="38100">
            <a:solidFill>
              <a:schemeClr val="tx1"/>
            </a:solidFill>
            <a:round/>
            <a:headEnd/>
            <a:tailEnd/>
          </a:ln>
        </p:spPr>
        <p:txBody>
          <a:bodyPr wrap="none" anchor="ctr"/>
          <a:lstStyle/>
          <a:p>
            <a:endParaRPr lang="zh-CN" altLang="en-US"/>
          </a:p>
        </p:txBody>
      </p:sp>
      <p:graphicFrame>
        <p:nvGraphicFramePr>
          <p:cNvPr id="11371" name="Object 107"/>
          <p:cNvGraphicFramePr>
            <a:graphicFrameLocks noChangeAspect="1"/>
          </p:cNvGraphicFramePr>
          <p:nvPr/>
        </p:nvGraphicFramePr>
        <p:xfrm>
          <a:off x="7027863" y="2565400"/>
          <a:ext cx="874712" cy="733425"/>
        </p:xfrm>
        <a:graphic>
          <a:graphicData uri="http://schemas.openxmlformats.org/presentationml/2006/ole">
            <p:oleObj spid="_x0000_s3075" name="公式" r:id="rId4" imgW="447610" imgH="371520" progId="Equation.3">
              <p:embed/>
            </p:oleObj>
          </a:graphicData>
        </a:graphic>
      </p:graphicFrame>
      <p:graphicFrame>
        <p:nvGraphicFramePr>
          <p:cNvPr id="11372" name="Object 108"/>
          <p:cNvGraphicFramePr>
            <a:graphicFrameLocks noChangeAspect="1"/>
          </p:cNvGraphicFramePr>
          <p:nvPr/>
        </p:nvGraphicFramePr>
        <p:xfrm>
          <a:off x="5345113" y="1541463"/>
          <a:ext cx="344487" cy="298450"/>
        </p:xfrm>
        <a:graphic>
          <a:graphicData uri="http://schemas.openxmlformats.org/presentationml/2006/ole">
            <p:oleObj spid="_x0000_s3076" name="公式" r:id="rId5" imgW="152355" imgH="123930" progId="Equation.3">
              <p:embed/>
            </p:oleObj>
          </a:graphicData>
        </a:graphic>
      </p:graphicFrame>
      <p:graphicFrame>
        <p:nvGraphicFramePr>
          <p:cNvPr id="11373" name="Object 109"/>
          <p:cNvGraphicFramePr>
            <a:graphicFrameLocks noChangeAspect="1"/>
          </p:cNvGraphicFramePr>
          <p:nvPr/>
        </p:nvGraphicFramePr>
        <p:xfrm>
          <a:off x="5341938" y="2303463"/>
          <a:ext cx="276225" cy="319087"/>
        </p:xfrm>
        <a:graphic>
          <a:graphicData uri="http://schemas.openxmlformats.org/presentationml/2006/ole">
            <p:oleObj spid="_x0000_s3077" name="公式" r:id="rId6" imgW="114266" imgH="142830" progId="Equation.3">
              <p:embed/>
            </p:oleObj>
          </a:graphicData>
        </a:graphic>
      </p:graphicFrame>
      <p:graphicFrame>
        <p:nvGraphicFramePr>
          <p:cNvPr id="11374" name="Object 110"/>
          <p:cNvGraphicFramePr>
            <a:graphicFrameLocks noChangeAspect="1"/>
          </p:cNvGraphicFramePr>
          <p:nvPr/>
        </p:nvGraphicFramePr>
        <p:xfrm>
          <a:off x="7856538" y="2266950"/>
          <a:ext cx="346075" cy="300038"/>
        </p:xfrm>
        <a:graphic>
          <a:graphicData uri="http://schemas.openxmlformats.org/presentationml/2006/ole">
            <p:oleObj spid="_x0000_s3078" name="公式" r:id="rId7" imgW="152355" imgH="123930" progId="Equation.3">
              <p:embed/>
            </p:oleObj>
          </a:graphicData>
        </a:graphic>
      </p:graphicFrame>
      <p:graphicFrame>
        <p:nvGraphicFramePr>
          <p:cNvPr id="11375" name="Object 111"/>
          <p:cNvGraphicFramePr>
            <a:graphicFrameLocks noChangeAspect="1"/>
          </p:cNvGraphicFramePr>
          <p:nvPr/>
        </p:nvGraphicFramePr>
        <p:xfrm>
          <a:off x="7888288" y="1624013"/>
          <a:ext cx="276225" cy="322262"/>
        </p:xfrm>
        <a:graphic>
          <a:graphicData uri="http://schemas.openxmlformats.org/presentationml/2006/ole">
            <p:oleObj spid="_x0000_s3079" name="公式" r:id="rId8" imgW="114266" imgH="142830" progId="Equation.3">
              <p:embed/>
            </p:oleObj>
          </a:graphicData>
        </a:graphic>
      </p:graphicFrame>
      <p:sp>
        <p:nvSpPr>
          <p:cNvPr id="11376" name="AutoShape 112"/>
          <p:cNvSpPr>
            <a:spLocks noChangeArrowheads="1"/>
          </p:cNvSpPr>
          <p:nvPr/>
        </p:nvSpPr>
        <p:spPr bwMode="auto">
          <a:xfrm rot="751729">
            <a:off x="4648200" y="1889125"/>
            <a:ext cx="315913" cy="90488"/>
          </a:xfrm>
          <a:prstGeom prst="leftArrow">
            <a:avLst>
              <a:gd name="adj1" fmla="val 50000"/>
              <a:gd name="adj2" fmla="val 87280"/>
            </a:avLst>
          </a:prstGeom>
          <a:solidFill>
            <a:srgbClr val="FF0000"/>
          </a:solidFill>
          <a:ln w="9525">
            <a:solidFill>
              <a:srgbClr val="800000"/>
            </a:solidFill>
            <a:miter lim="800000"/>
            <a:headEnd/>
            <a:tailEnd/>
          </a:ln>
        </p:spPr>
        <p:txBody>
          <a:bodyPr wrap="none" anchor="ctr"/>
          <a:lstStyle/>
          <a:p>
            <a:endParaRPr lang="zh-CN" altLang="en-US"/>
          </a:p>
        </p:txBody>
      </p:sp>
      <p:sp>
        <p:nvSpPr>
          <p:cNvPr id="11377" name="Line 113"/>
          <p:cNvSpPr>
            <a:spLocks noChangeShapeType="1"/>
          </p:cNvSpPr>
          <p:nvPr/>
        </p:nvSpPr>
        <p:spPr bwMode="auto">
          <a:xfrm flipV="1">
            <a:off x="5006975" y="914400"/>
            <a:ext cx="0" cy="838200"/>
          </a:xfrm>
          <a:prstGeom prst="line">
            <a:avLst/>
          </a:prstGeom>
          <a:noFill/>
          <a:ln w="38100">
            <a:solidFill>
              <a:srgbClr val="FF0000"/>
            </a:solidFill>
            <a:round/>
            <a:headEnd/>
            <a:tailEnd type="triangle" w="med" len="med"/>
          </a:ln>
        </p:spPr>
        <p:txBody>
          <a:bodyPr/>
          <a:lstStyle/>
          <a:p>
            <a:endParaRPr lang="zh-CN" altLang="en-US"/>
          </a:p>
        </p:txBody>
      </p:sp>
      <p:sp>
        <p:nvSpPr>
          <p:cNvPr id="11378" name="Line 114"/>
          <p:cNvSpPr>
            <a:spLocks noChangeShapeType="1"/>
          </p:cNvSpPr>
          <p:nvPr/>
        </p:nvSpPr>
        <p:spPr bwMode="auto">
          <a:xfrm flipV="1">
            <a:off x="7524750" y="838200"/>
            <a:ext cx="0" cy="838200"/>
          </a:xfrm>
          <a:prstGeom prst="line">
            <a:avLst/>
          </a:prstGeom>
          <a:noFill/>
          <a:ln w="38100">
            <a:solidFill>
              <a:srgbClr val="FF0000"/>
            </a:solidFill>
            <a:round/>
            <a:headEnd/>
            <a:tailEnd type="triangle" w="med" len="med"/>
          </a:ln>
        </p:spPr>
        <p:txBody>
          <a:bodyPr/>
          <a:lstStyle/>
          <a:p>
            <a:endParaRPr lang="zh-CN" altLang="en-US"/>
          </a:p>
        </p:txBody>
      </p:sp>
      <p:graphicFrame>
        <p:nvGraphicFramePr>
          <p:cNvPr id="11379" name="Object 115"/>
          <p:cNvGraphicFramePr>
            <a:graphicFrameLocks noChangeAspect="1"/>
          </p:cNvGraphicFramePr>
          <p:nvPr/>
        </p:nvGraphicFramePr>
        <p:xfrm>
          <a:off x="5481638" y="2781300"/>
          <a:ext cx="623887" cy="320675"/>
        </p:xfrm>
        <a:graphic>
          <a:graphicData uri="http://schemas.openxmlformats.org/presentationml/2006/ole">
            <p:oleObj spid="_x0000_s3080" name="公式" r:id="rId9" imgW="304710" imgH="142830" progId="Equation.3">
              <p:embed/>
            </p:oleObj>
          </a:graphicData>
        </a:graphic>
      </p:graphicFrame>
      <p:graphicFrame>
        <p:nvGraphicFramePr>
          <p:cNvPr id="11380" name="Object 116"/>
          <p:cNvGraphicFramePr>
            <a:graphicFrameLocks noChangeAspect="1"/>
          </p:cNvGraphicFramePr>
          <p:nvPr/>
        </p:nvGraphicFramePr>
        <p:xfrm>
          <a:off x="8197850" y="2786063"/>
          <a:ext cx="620713" cy="320675"/>
        </p:xfrm>
        <a:graphic>
          <a:graphicData uri="http://schemas.openxmlformats.org/presentationml/2006/ole">
            <p:oleObj spid="_x0000_s3081" name="公式" r:id="rId10" imgW="304710" imgH="142830" progId="Equation.3">
              <p:embed/>
            </p:oleObj>
          </a:graphicData>
        </a:graphic>
      </p:graphicFrame>
      <p:sp>
        <p:nvSpPr>
          <p:cNvPr id="11381" name="AutoShape 117"/>
          <p:cNvSpPr>
            <a:spLocks noChangeArrowheads="1"/>
          </p:cNvSpPr>
          <p:nvPr/>
        </p:nvSpPr>
        <p:spPr bwMode="auto">
          <a:xfrm rot="20848271" flipH="1">
            <a:off x="5511800" y="1884363"/>
            <a:ext cx="344488" cy="101600"/>
          </a:xfrm>
          <a:prstGeom prst="leftArrow">
            <a:avLst>
              <a:gd name="adj1" fmla="val 50000"/>
              <a:gd name="adj2" fmla="val 84766"/>
            </a:avLst>
          </a:prstGeom>
          <a:solidFill>
            <a:srgbClr val="00FF00"/>
          </a:solidFill>
          <a:ln w="9525">
            <a:solidFill>
              <a:srgbClr val="008000"/>
            </a:solidFill>
            <a:miter lim="800000"/>
            <a:headEnd/>
            <a:tailEnd/>
          </a:ln>
        </p:spPr>
        <p:txBody>
          <a:bodyPr wrap="none" anchor="ctr"/>
          <a:lstStyle/>
          <a:p>
            <a:endParaRPr lang="zh-CN" altLang="en-US"/>
          </a:p>
        </p:txBody>
      </p:sp>
      <p:sp>
        <p:nvSpPr>
          <p:cNvPr id="11382" name="AutoShape 118"/>
          <p:cNvSpPr>
            <a:spLocks noChangeArrowheads="1"/>
          </p:cNvSpPr>
          <p:nvPr/>
        </p:nvSpPr>
        <p:spPr bwMode="auto">
          <a:xfrm rot="-1542692">
            <a:off x="8121650" y="1843088"/>
            <a:ext cx="344488" cy="101600"/>
          </a:xfrm>
          <a:prstGeom prst="leftArrow">
            <a:avLst>
              <a:gd name="adj1" fmla="val 50000"/>
              <a:gd name="adj2" fmla="val 84766"/>
            </a:avLst>
          </a:prstGeom>
          <a:solidFill>
            <a:srgbClr val="00FF00"/>
          </a:solidFill>
          <a:ln w="9525">
            <a:solidFill>
              <a:srgbClr val="008000"/>
            </a:solidFill>
            <a:miter lim="800000"/>
            <a:headEnd/>
            <a:tailEnd/>
          </a:ln>
        </p:spPr>
        <p:txBody>
          <a:bodyPr wrap="none" anchor="ctr"/>
          <a:lstStyle/>
          <a:p>
            <a:endParaRPr lang="zh-CN" altLang="en-US"/>
          </a:p>
        </p:txBody>
      </p:sp>
      <p:sp>
        <p:nvSpPr>
          <p:cNvPr id="11383" name="AutoShape 119"/>
          <p:cNvSpPr>
            <a:spLocks noChangeArrowheads="1"/>
          </p:cNvSpPr>
          <p:nvPr/>
        </p:nvSpPr>
        <p:spPr bwMode="auto">
          <a:xfrm rot="780000">
            <a:off x="7161213" y="1905000"/>
            <a:ext cx="333375" cy="90488"/>
          </a:xfrm>
          <a:prstGeom prst="rightArrow">
            <a:avLst>
              <a:gd name="adj1" fmla="val 50000"/>
              <a:gd name="adj2" fmla="val 92105"/>
            </a:avLst>
          </a:prstGeom>
          <a:solidFill>
            <a:srgbClr val="FF0000"/>
          </a:solidFill>
          <a:ln w="9525" algn="ctr">
            <a:solidFill>
              <a:srgbClr val="800000"/>
            </a:solidFill>
            <a:miter lim="800000"/>
            <a:headEnd/>
            <a:tailEnd/>
          </a:ln>
        </p:spPr>
        <p:txBody>
          <a:bodyPr anchor="ctr">
            <a:spAutoFit/>
          </a:bodyPr>
          <a:lstStyle/>
          <a:p>
            <a:endParaRPr lang="zh-CN" altLang="en-US"/>
          </a:p>
        </p:txBody>
      </p:sp>
      <p:grpSp>
        <p:nvGrpSpPr>
          <p:cNvPr id="4" name="Group 120"/>
          <p:cNvGrpSpPr>
            <a:grpSpLocks/>
          </p:cNvGrpSpPr>
          <p:nvPr/>
        </p:nvGrpSpPr>
        <p:grpSpPr bwMode="auto">
          <a:xfrm>
            <a:off x="5270500" y="4814888"/>
            <a:ext cx="152400" cy="990600"/>
            <a:chOff x="1440" y="3360"/>
            <a:chExt cx="192" cy="768"/>
          </a:xfrm>
        </p:grpSpPr>
        <p:sp>
          <p:nvSpPr>
            <p:cNvPr id="3130" name="Rectangle 121"/>
            <p:cNvSpPr>
              <a:spLocks noChangeArrowheads="1"/>
            </p:cNvSpPr>
            <p:nvPr/>
          </p:nvSpPr>
          <p:spPr bwMode="auto">
            <a:xfrm>
              <a:off x="1440" y="3360"/>
              <a:ext cx="192" cy="384"/>
            </a:xfrm>
            <a:prstGeom prst="rect">
              <a:avLst/>
            </a:prstGeom>
            <a:solidFill>
              <a:srgbClr val="FF0000"/>
            </a:solidFill>
            <a:ln w="9525">
              <a:solidFill>
                <a:schemeClr val="tx1"/>
              </a:solidFill>
              <a:miter lim="800000"/>
              <a:headEnd/>
              <a:tailEnd/>
            </a:ln>
          </p:spPr>
          <p:txBody>
            <a:bodyPr wrap="none" anchor="ctr"/>
            <a:lstStyle/>
            <a:p>
              <a:endParaRPr lang="zh-CN" altLang="en-US"/>
            </a:p>
          </p:txBody>
        </p:sp>
        <p:sp>
          <p:nvSpPr>
            <p:cNvPr id="3131" name="Rectangle 122"/>
            <p:cNvSpPr>
              <a:spLocks noChangeArrowheads="1"/>
            </p:cNvSpPr>
            <p:nvPr/>
          </p:nvSpPr>
          <p:spPr bwMode="auto">
            <a:xfrm>
              <a:off x="1440" y="3744"/>
              <a:ext cx="192" cy="384"/>
            </a:xfrm>
            <a:prstGeom prst="rect">
              <a:avLst/>
            </a:prstGeom>
            <a:solidFill>
              <a:srgbClr val="00FFFF"/>
            </a:solidFill>
            <a:ln w="9525">
              <a:solidFill>
                <a:schemeClr val="tx1"/>
              </a:solidFill>
              <a:miter lim="800000"/>
              <a:headEnd/>
              <a:tailEnd/>
            </a:ln>
          </p:spPr>
          <p:txBody>
            <a:bodyPr wrap="none" anchor="ctr"/>
            <a:lstStyle/>
            <a:p>
              <a:endParaRPr lang="zh-CN" altLang="en-US"/>
            </a:p>
          </p:txBody>
        </p:sp>
      </p:grpSp>
      <p:grpSp>
        <p:nvGrpSpPr>
          <p:cNvPr id="5" name="Group 123"/>
          <p:cNvGrpSpPr>
            <a:grpSpLocks/>
          </p:cNvGrpSpPr>
          <p:nvPr/>
        </p:nvGrpSpPr>
        <p:grpSpPr bwMode="auto">
          <a:xfrm flipV="1">
            <a:off x="7916863" y="4714875"/>
            <a:ext cx="152400" cy="990600"/>
            <a:chOff x="1440" y="3360"/>
            <a:chExt cx="192" cy="768"/>
          </a:xfrm>
        </p:grpSpPr>
        <p:sp>
          <p:nvSpPr>
            <p:cNvPr id="3128" name="Rectangle 124"/>
            <p:cNvSpPr>
              <a:spLocks noChangeArrowheads="1"/>
            </p:cNvSpPr>
            <p:nvPr/>
          </p:nvSpPr>
          <p:spPr bwMode="auto">
            <a:xfrm>
              <a:off x="1440" y="3360"/>
              <a:ext cx="192" cy="384"/>
            </a:xfrm>
            <a:prstGeom prst="rect">
              <a:avLst/>
            </a:prstGeom>
            <a:solidFill>
              <a:srgbClr val="FF0000"/>
            </a:solidFill>
            <a:ln w="9525">
              <a:solidFill>
                <a:schemeClr val="tx1"/>
              </a:solidFill>
              <a:miter lim="800000"/>
              <a:headEnd/>
              <a:tailEnd/>
            </a:ln>
          </p:spPr>
          <p:txBody>
            <a:bodyPr wrap="none" anchor="ctr"/>
            <a:lstStyle/>
            <a:p>
              <a:endParaRPr lang="zh-CN" altLang="en-US"/>
            </a:p>
          </p:txBody>
        </p:sp>
        <p:sp>
          <p:nvSpPr>
            <p:cNvPr id="3129" name="Rectangle 125"/>
            <p:cNvSpPr>
              <a:spLocks noChangeArrowheads="1"/>
            </p:cNvSpPr>
            <p:nvPr/>
          </p:nvSpPr>
          <p:spPr bwMode="auto">
            <a:xfrm>
              <a:off x="1440" y="3744"/>
              <a:ext cx="192" cy="384"/>
            </a:xfrm>
            <a:prstGeom prst="rect">
              <a:avLst/>
            </a:prstGeom>
            <a:solidFill>
              <a:srgbClr val="00FFFF"/>
            </a:solidFill>
            <a:ln w="9525">
              <a:solidFill>
                <a:schemeClr val="tx1"/>
              </a:solidFill>
              <a:miter lim="800000"/>
              <a:headEnd/>
              <a:tailEnd/>
            </a:ln>
          </p:spPr>
          <p:txBody>
            <a:bodyPr wrap="none" anchor="ctr"/>
            <a:lstStyle/>
            <a:p>
              <a:endParaRPr lang="zh-CN" altLang="en-US"/>
            </a:p>
          </p:txBody>
        </p:sp>
      </p:grpSp>
      <p:sp>
        <p:nvSpPr>
          <p:cNvPr id="11390" name="Oval 126"/>
          <p:cNvSpPr>
            <a:spLocks noChangeArrowheads="1"/>
          </p:cNvSpPr>
          <p:nvPr/>
        </p:nvSpPr>
        <p:spPr bwMode="auto">
          <a:xfrm>
            <a:off x="4432300" y="4433888"/>
            <a:ext cx="1828800" cy="762000"/>
          </a:xfrm>
          <a:prstGeom prst="ellipse">
            <a:avLst/>
          </a:prstGeom>
          <a:noFill/>
          <a:ln w="38100">
            <a:solidFill>
              <a:srgbClr val="FF6600"/>
            </a:solidFill>
            <a:round/>
            <a:headEnd/>
            <a:tailEnd/>
          </a:ln>
        </p:spPr>
        <p:txBody>
          <a:bodyPr wrap="none" anchor="ctr"/>
          <a:lstStyle/>
          <a:p>
            <a:endParaRPr lang="zh-CN" altLang="en-US"/>
          </a:p>
        </p:txBody>
      </p:sp>
      <p:sp>
        <p:nvSpPr>
          <p:cNvPr id="11391" name="Oval 127"/>
          <p:cNvSpPr>
            <a:spLocks noChangeArrowheads="1"/>
          </p:cNvSpPr>
          <p:nvPr/>
        </p:nvSpPr>
        <p:spPr bwMode="auto">
          <a:xfrm>
            <a:off x="7078663" y="4333875"/>
            <a:ext cx="1828800" cy="762000"/>
          </a:xfrm>
          <a:prstGeom prst="ellipse">
            <a:avLst/>
          </a:prstGeom>
          <a:noFill/>
          <a:ln w="38100">
            <a:solidFill>
              <a:srgbClr val="FF6600"/>
            </a:solidFill>
            <a:round/>
            <a:headEnd/>
            <a:tailEnd/>
          </a:ln>
        </p:spPr>
        <p:txBody>
          <a:bodyPr wrap="none" anchor="ctr"/>
          <a:lstStyle/>
          <a:p>
            <a:endParaRPr lang="zh-CN" altLang="en-US"/>
          </a:p>
        </p:txBody>
      </p:sp>
      <p:graphicFrame>
        <p:nvGraphicFramePr>
          <p:cNvPr id="11392" name="Object 128"/>
          <p:cNvGraphicFramePr>
            <a:graphicFrameLocks/>
          </p:cNvGraphicFramePr>
          <p:nvPr/>
        </p:nvGraphicFramePr>
        <p:xfrm>
          <a:off x="7161213" y="5805488"/>
          <a:ext cx="866775" cy="730250"/>
        </p:xfrm>
        <a:graphic>
          <a:graphicData uri="http://schemas.openxmlformats.org/presentationml/2006/ole">
            <p:oleObj spid="_x0000_s3082" name="公式" r:id="rId11" imgW="447610" imgH="371520" progId="Equation.3">
              <p:embed/>
            </p:oleObj>
          </a:graphicData>
        </a:graphic>
      </p:graphicFrame>
      <p:graphicFrame>
        <p:nvGraphicFramePr>
          <p:cNvPr id="11393" name="Object 129"/>
          <p:cNvGraphicFramePr>
            <a:graphicFrameLocks noChangeAspect="1"/>
          </p:cNvGraphicFramePr>
          <p:nvPr/>
        </p:nvGraphicFramePr>
        <p:xfrm>
          <a:off x="4652963" y="5795963"/>
          <a:ext cx="841375" cy="728662"/>
        </p:xfrm>
        <a:graphic>
          <a:graphicData uri="http://schemas.openxmlformats.org/presentationml/2006/ole">
            <p:oleObj spid="_x0000_s3083" name="公式" r:id="rId12" imgW="447610" imgH="371520" progId="Equation.3">
              <p:embed/>
            </p:oleObj>
          </a:graphicData>
        </a:graphic>
      </p:graphicFrame>
      <p:graphicFrame>
        <p:nvGraphicFramePr>
          <p:cNvPr id="11394" name="Object 130"/>
          <p:cNvGraphicFramePr>
            <a:graphicFrameLocks noChangeAspect="1"/>
          </p:cNvGraphicFramePr>
          <p:nvPr/>
        </p:nvGraphicFramePr>
        <p:xfrm>
          <a:off x="8070850" y="5410200"/>
          <a:ext cx="349250" cy="300038"/>
        </p:xfrm>
        <a:graphic>
          <a:graphicData uri="http://schemas.openxmlformats.org/presentationml/2006/ole">
            <p:oleObj spid="_x0000_s3084" name="公式" r:id="rId13" imgW="152355" imgH="123930" progId="Equation.3">
              <p:embed/>
            </p:oleObj>
          </a:graphicData>
        </a:graphic>
      </p:graphicFrame>
      <p:graphicFrame>
        <p:nvGraphicFramePr>
          <p:cNvPr id="11395" name="Object 131"/>
          <p:cNvGraphicFramePr>
            <a:graphicFrameLocks noChangeAspect="1"/>
          </p:cNvGraphicFramePr>
          <p:nvPr/>
        </p:nvGraphicFramePr>
        <p:xfrm>
          <a:off x="5407025" y="4752975"/>
          <a:ext cx="346075" cy="300038"/>
        </p:xfrm>
        <a:graphic>
          <a:graphicData uri="http://schemas.openxmlformats.org/presentationml/2006/ole">
            <p:oleObj spid="_x0000_s3085" name="公式" r:id="rId14" imgW="152355" imgH="123930" progId="Equation.3">
              <p:embed/>
            </p:oleObj>
          </a:graphicData>
        </a:graphic>
      </p:graphicFrame>
      <p:graphicFrame>
        <p:nvGraphicFramePr>
          <p:cNvPr id="11396" name="Object 132"/>
          <p:cNvGraphicFramePr>
            <a:graphicFrameLocks noChangeAspect="1"/>
          </p:cNvGraphicFramePr>
          <p:nvPr/>
        </p:nvGraphicFramePr>
        <p:xfrm>
          <a:off x="8066088" y="4667250"/>
          <a:ext cx="277812" cy="320675"/>
        </p:xfrm>
        <a:graphic>
          <a:graphicData uri="http://schemas.openxmlformats.org/presentationml/2006/ole">
            <p:oleObj spid="_x0000_s3086" name="公式" r:id="rId15" imgW="114266" imgH="142830" progId="Equation.3">
              <p:embed/>
            </p:oleObj>
          </a:graphicData>
        </a:graphic>
      </p:graphicFrame>
      <p:graphicFrame>
        <p:nvGraphicFramePr>
          <p:cNvPr id="11397" name="Object 133"/>
          <p:cNvGraphicFramePr>
            <a:graphicFrameLocks noChangeAspect="1"/>
          </p:cNvGraphicFramePr>
          <p:nvPr/>
        </p:nvGraphicFramePr>
        <p:xfrm>
          <a:off x="5443538" y="5484813"/>
          <a:ext cx="280987" cy="320675"/>
        </p:xfrm>
        <a:graphic>
          <a:graphicData uri="http://schemas.openxmlformats.org/presentationml/2006/ole">
            <p:oleObj spid="_x0000_s3087" name="公式" r:id="rId16" imgW="114266" imgH="142830" progId="Equation.3">
              <p:embed/>
            </p:oleObj>
          </a:graphicData>
        </a:graphic>
      </p:graphicFrame>
      <p:sp>
        <p:nvSpPr>
          <p:cNvPr id="11398" name="Line 134"/>
          <p:cNvSpPr>
            <a:spLocks noChangeShapeType="1"/>
          </p:cNvSpPr>
          <p:nvPr/>
        </p:nvSpPr>
        <p:spPr bwMode="auto">
          <a:xfrm>
            <a:off x="5041900" y="4129088"/>
            <a:ext cx="0" cy="838200"/>
          </a:xfrm>
          <a:prstGeom prst="line">
            <a:avLst/>
          </a:prstGeom>
          <a:noFill/>
          <a:ln w="38100">
            <a:solidFill>
              <a:srgbClr val="FF0000"/>
            </a:solidFill>
            <a:round/>
            <a:headEnd/>
            <a:tailEnd type="triangle" w="med" len="med"/>
          </a:ln>
        </p:spPr>
        <p:txBody>
          <a:bodyPr/>
          <a:lstStyle/>
          <a:p>
            <a:endParaRPr lang="zh-CN" altLang="en-US"/>
          </a:p>
        </p:txBody>
      </p:sp>
      <p:sp>
        <p:nvSpPr>
          <p:cNvPr id="11399" name="Line 135"/>
          <p:cNvSpPr>
            <a:spLocks noChangeShapeType="1"/>
          </p:cNvSpPr>
          <p:nvPr/>
        </p:nvSpPr>
        <p:spPr bwMode="auto">
          <a:xfrm>
            <a:off x="7764463" y="3952875"/>
            <a:ext cx="0" cy="838200"/>
          </a:xfrm>
          <a:prstGeom prst="line">
            <a:avLst/>
          </a:prstGeom>
          <a:noFill/>
          <a:ln w="38100">
            <a:solidFill>
              <a:srgbClr val="FF0000"/>
            </a:solidFill>
            <a:round/>
            <a:headEnd/>
            <a:tailEnd type="triangle" w="med" len="med"/>
          </a:ln>
        </p:spPr>
        <p:txBody>
          <a:bodyPr/>
          <a:lstStyle/>
          <a:p>
            <a:endParaRPr lang="zh-CN" altLang="en-US"/>
          </a:p>
        </p:txBody>
      </p:sp>
      <p:sp>
        <p:nvSpPr>
          <p:cNvPr id="11400" name="Freeform 136"/>
          <p:cNvSpPr>
            <a:spLocks/>
          </p:cNvSpPr>
          <p:nvPr/>
        </p:nvSpPr>
        <p:spPr bwMode="auto">
          <a:xfrm rot="21205017" flipH="1">
            <a:off x="5649913" y="5049838"/>
            <a:ext cx="482600" cy="87312"/>
          </a:xfrm>
          <a:custGeom>
            <a:avLst/>
            <a:gdLst>
              <a:gd name="T0" fmla="*/ 2147483647 w 304"/>
              <a:gd name="T1" fmla="*/ 2147483647 h 55"/>
              <a:gd name="T2" fmla="*/ 2147483647 w 304"/>
              <a:gd name="T3" fmla="*/ 2147483647 h 55"/>
              <a:gd name="T4" fmla="*/ 0 w 304"/>
              <a:gd name="T5" fmla="*/ 0 h 55"/>
              <a:gd name="T6" fmla="*/ 0 60000 65536"/>
              <a:gd name="T7" fmla="*/ 0 60000 65536"/>
              <a:gd name="T8" fmla="*/ 0 60000 65536"/>
              <a:gd name="T9" fmla="*/ 0 w 304"/>
              <a:gd name="T10" fmla="*/ 0 h 55"/>
              <a:gd name="T11" fmla="*/ 304 w 304"/>
              <a:gd name="T12" fmla="*/ 55 h 55"/>
            </a:gdLst>
            <a:ahLst/>
            <a:cxnLst>
              <a:cxn ang="T6">
                <a:pos x="T0" y="T1"/>
              </a:cxn>
              <a:cxn ang="T7">
                <a:pos x="T2" y="T3"/>
              </a:cxn>
              <a:cxn ang="T8">
                <a:pos x="T4" y="T5"/>
              </a:cxn>
            </a:cxnLst>
            <a:rect l="T9" t="T10" r="T11" b="T12"/>
            <a:pathLst>
              <a:path w="304" h="55">
                <a:moveTo>
                  <a:pt x="304" y="55"/>
                </a:moveTo>
                <a:cubicBezTo>
                  <a:pt x="284" y="55"/>
                  <a:pt x="235" y="53"/>
                  <a:pt x="184" y="44"/>
                </a:cubicBezTo>
                <a:cubicBezTo>
                  <a:pt x="133" y="35"/>
                  <a:pt x="38" y="9"/>
                  <a:pt x="0" y="0"/>
                </a:cubicBezTo>
              </a:path>
            </a:pathLst>
          </a:custGeom>
          <a:noFill/>
          <a:ln w="57150">
            <a:solidFill>
              <a:srgbClr val="FF3300"/>
            </a:solidFill>
            <a:round/>
            <a:headEnd/>
            <a:tailEnd type="triangle" w="med" len="med"/>
          </a:ln>
        </p:spPr>
        <p:txBody>
          <a:bodyPr tIns="82800" bIns="82800">
            <a:spAutoFit/>
          </a:bodyPr>
          <a:lstStyle/>
          <a:p>
            <a:endParaRPr lang="zh-CN" altLang="en-US"/>
          </a:p>
        </p:txBody>
      </p:sp>
      <p:sp>
        <p:nvSpPr>
          <p:cNvPr id="11401" name="Freeform 137"/>
          <p:cNvSpPr>
            <a:spLocks/>
          </p:cNvSpPr>
          <p:nvPr/>
        </p:nvSpPr>
        <p:spPr bwMode="auto">
          <a:xfrm>
            <a:off x="7399338" y="5011738"/>
            <a:ext cx="482600" cy="87312"/>
          </a:xfrm>
          <a:custGeom>
            <a:avLst/>
            <a:gdLst>
              <a:gd name="T0" fmla="*/ 2147483647 w 304"/>
              <a:gd name="T1" fmla="*/ 2147483647 h 55"/>
              <a:gd name="T2" fmla="*/ 2147483647 w 304"/>
              <a:gd name="T3" fmla="*/ 2147483647 h 55"/>
              <a:gd name="T4" fmla="*/ 0 w 304"/>
              <a:gd name="T5" fmla="*/ 0 h 55"/>
              <a:gd name="T6" fmla="*/ 0 60000 65536"/>
              <a:gd name="T7" fmla="*/ 0 60000 65536"/>
              <a:gd name="T8" fmla="*/ 0 60000 65536"/>
              <a:gd name="T9" fmla="*/ 0 w 304"/>
              <a:gd name="T10" fmla="*/ 0 h 55"/>
              <a:gd name="T11" fmla="*/ 304 w 304"/>
              <a:gd name="T12" fmla="*/ 55 h 55"/>
            </a:gdLst>
            <a:ahLst/>
            <a:cxnLst>
              <a:cxn ang="T6">
                <a:pos x="T0" y="T1"/>
              </a:cxn>
              <a:cxn ang="T7">
                <a:pos x="T2" y="T3"/>
              </a:cxn>
              <a:cxn ang="T8">
                <a:pos x="T4" y="T5"/>
              </a:cxn>
            </a:cxnLst>
            <a:rect l="T9" t="T10" r="T11" b="T12"/>
            <a:pathLst>
              <a:path w="304" h="55">
                <a:moveTo>
                  <a:pt x="304" y="55"/>
                </a:moveTo>
                <a:cubicBezTo>
                  <a:pt x="284" y="55"/>
                  <a:pt x="235" y="53"/>
                  <a:pt x="184" y="44"/>
                </a:cubicBezTo>
                <a:cubicBezTo>
                  <a:pt x="133" y="35"/>
                  <a:pt x="38" y="9"/>
                  <a:pt x="0" y="0"/>
                </a:cubicBezTo>
              </a:path>
            </a:pathLst>
          </a:custGeom>
          <a:noFill/>
          <a:ln w="57150">
            <a:solidFill>
              <a:srgbClr val="FF3300"/>
            </a:solidFill>
            <a:round/>
            <a:headEnd/>
            <a:tailEnd type="triangle" w="med" len="med"/>
          </a:ln>
        </p:spPr>
        <p:txBody>
          <a:bodyPr tIns="82800" bIns="82800">
            <a:spAutoFit/>
          </a:bodyPr>
          <a:lstStyle/>
          <a:p>
            <a:endParaRPr lang="zh-CN" altLang="en-US"/>
          </a:p>
        </p:txBody>
      </p:sp>
      <p:grpSp>
        <p:nvGrpSpPr>
          <p:cNvPr id="6" name="Group 138"/>
          <p:cNvGrpSpPr>
            <a:grpSpLocks/>
          </p:cNvGrpSpPr>
          <p:nvPr/>
        </p:nvGrpSpPr>
        <p:grpSpPr bwMode="auto">
          <a:xfrm>
            <a:off x="4167188" y="3965575"/>
            <a:ext cx="2347912" cy="1152525"/>
            <a:chOff x="295" y="2251"/>
            <a:chExt cx="1479" cy="726"/>
          </a:xfrm>
        </p:grpSpPr>
        <p:sp>
          <p:nvSpPr>
            <p:cNvPr id="3124" name="Arc 139"/>
            <p:cNvSpPr>
              <a:spLocks/>
            </p:cNvSpPr>
            <p:nvPr/>
          </p:nvSpPr>
          <p:spPr bwMode="auto">
            <a:xfrm rot="2993616" flipH="1" flipV="1">
              <a:off x="1011" y="2215"/>
              <a:ext cx="636" cy="708"/>
            </a:xfrm>
            <a:custGeom>
              <a:avLst/>
              <a:gdLst>
                <a:gd name="T0" fmla="*/ 0 w 21600"/>
                <a:gd name="T1" fmla="*/ 0 h 18707"/>
                <a:gd name="T2" fmla="*/ 0 w 21600"/>
                <a:gd name="T3" fmla="*/ 0 h 18707"/>
                <a:gd name="T4" fmla="*/ 0 w 21600"/>
                <a:gd name="T5" fmla="*/ 0 h 18707"/>
                <a:gd name="T6" fmla="*/ 0 60000 65536"/>
                <a:gd name="T7" fmla="*/ 0 60000 65536"/>
                <a:gd name="T8" fmla="*/ 0 60000 65536"/>
                <a:gd name="T9" fmla="*/ 0 w 21600"/>
                <a:gd name="T10" fmla="*/ 0 h 18707"/>
                <a:gd name="T11" fmla="*/ 21600 w 21600"/>
                <a:gd name="T12" fmla="*/ 18707 h 18707"/>
              </a:gdLst>
              <a:ahLst/>
              <a:cxnLst>
                <a:cxn ang="T6">
                  <a:pos x="T0" y="T1"/>
                </a:cxn>
                <a:cxn ang="T7">
                  <a:pos x="T2" y="T3"/>
                </a:cxn>
                <a:cxn ang="T8">
                  <a:pos x="T4" y="T5"/>
                </a:cxn>
              </a:cxnLst>
              <a:rect l="T9" t="T10" r="T11" b="T12"/>
              <a:pathLst>
                <a:path w="21600" h="18707" fill="none" extrusionOk="0">
                  <a:moveTo>
                    <a:pt x="10798" y="0"/>
                  </a:moveTo>
                  <a:cubicBezTo>
                    <a:pt x="17482" y="3858"/>
                    <a:pt x="21600" y="10989"/>
                    <a:pt x="21600" y="18707"/>
                  </a:cubicBezTo>
                </a:path>
                <a:path w="21600" h="18707" stroke="0" extrusionOk="0">
                  <a:moveTo>
                    <a:pt x="10798" y="0"/>
                  </a:moveTo>
                  <a:cubicBezTo>
                    <a:pt x="17482" y="3858"/>
                    <a:pt x="21600" y="10989"/>
                    <a:pt x="21600" y="18707"/>
                  </a:cubicBezTo>
                  <a:lnTo>
                    <a:pt x="0" y="18707"/>
                  </a:lnTo>
                  <a:lnTo>
                    <a:pt x="10798" y="0"/>
                  </a:lnTo>
                  <a:close/>
                </a:path>
              </a:pathLst>
            </a:custGeom>
            <a:noFill/>
            <a:ln w="9525">
              <a:solidFill>
                <a:srgbClr val="FF6600"/>
              </a:solidFill>
              <a:round/>
              <a:headEnd/>
              <a:tailEnd type="stealth" w="med" len="lg"/>
            </a:ln>
          </p:spPr>
          <p:txBody>
            <a:bodyPr wrap="none" anchor="ctr">
              <a:spAutoFit/>
            </a:bodyPr>
            <a:lstStyle/>
            <a:p>
              <a:endParaRPr lang="zh-CN" altLang="en-US"/>
            </a:p>
          </p:txBody>
        </p:sp>
        <p:sp>
          <p:nvSpPr>
            <p:cNvPr id="3125" name="Arc 140"/>
            <p:cNvSpPr>
              <a:spLocks/>
            </p:cNvSpPr>
            <p:nvPr/>
          </p:nvSpPr>
          <p:spPr bwMode="auto">
            <a:xfrm rot="4314348" flipH="1" flipV="1">
              <a:off x="1102" y="2305"/>
              <a:ext cx="636" cy="708"/>
            </a:xfrm>
            <a:custGeom>
              <a:avLst/>
              <a:gdLst>
                <a:gd name="T0" fmla="*/ 0 w 21600"/>
                <a:gd name="T1" fmla="*/ 0 h 18707"/>
                <a:gd name="T2" fmla="*/ 0 w 21600"/>
                <a:gd name="T3" fmla="*/ 0 h 18707"/>
                <a:gd name="T4" fmla="*/ 0 w 21600"/>
                <a:gd name="T5" fmla="*/ 0 h 18707"/>
                <a:gd name="T6" fmla="*/ 0 60000 65536"/>
                <a:gd name="T7" fmla="*/ 0 60000 65536"/>
                <a:gd name="T8" fmla="*/ 0 60000 65536"/>
                <a:gd name="T9" fmla="*/ 0 w 21600"/>
                <a:gd name="T10" fmla="*/ 0 h 18707"/>
                <a:gd name="T11" fmla="*/ 21600 w 21600"/>
                <a:gd name="T12" fmla="*/ 18707 h 18707"/>
              </a:gdLst>
              <a:ahLst/>
              <a:cxnLst>
                <a:cxn ang="T6">
                  <a:pos x="T0" y="T1"/>
                </a:cxn>
                <a:cxn ang="T7">
                  <a:pos x="T2" y="T3"/>
                </a:cxn>
                <a:cxn ang="T8">
                  <a:pos x="T4" y="T5"/>
                </a:cxn>
              </a:cxnLst>
              <a:rect l="T9" t="T10" r="T11" b="T12"/>
              <a:pathLst>
                <a:path w="21600" h="18707" fill="none" extrusionOk="0">
                  <a:moveTo>
                    <a:pt x="10798" y="0"/>
                  </a:moveTo>
                  <a:cubicBezTo>
                    <a:pt x="17482" y="3858"/>
                    <a:pt x="21600" y="10989"/>
                    <a:pt x="21600" y="18707"/>
                  </a:cubicBezTo>
                </a:path>
                <a:path w="21600" h="18707" stroke="0" extrusionOk="0">
                  <a:moveTo>
                    <a:pt x="10798" y="0"/>
                  </a:moveTo>
                  <a:cubicBezTo>
                    <a:pt x="17482" y="3858"/>
                    <a:pt x="21600" y="10989"/>
                    <a:pt x="21600" y="18707"/>
                  </a:cubicBezTo>
                  <a:lnTo>
                    <a:pt x="0" y="18707"/>
                  </a:lnTo>
                  <a:lnTo>
                    <a:pt x="10798" y="0"/>
                  </a:lnTo>
                  <a:close/>
                </a:path>
              </a:pathLst>
            </a:custGeom>
            <a:noFill/>
            <a:ln w="9525">
              <a:solidFill>
                <a:srgbClr val="FF6600"/>
              </a:solidFill>
              <a:round/>
              <a:headEnd/>
              <a:tailEnd type="stealth" w="med" len="lg"/>
            </a:ln>
          </p:spPr>
          <p:txBody>
            <a:bodyPr wrap="none" anchor="ctr">
              <a:spAutoFit/>
            </a:bodyPr>
            <a:lstStyle/>
            <a:p>
              <a:endParaRPr lang="zh-CN" altLang="en-US"/>
            </a:p>
          </p:txBody>
        </p:sp>
        <p:sp>
          <p:nvSpPr>
            <p:cNvPr id="3126" name="Arc 141"/>
            <p:cNvSpPr>
              <a:spLocks/>
            </p:cNvSpPr>
            <p:nvPr/>
          </p:nvSpPr>
          <p:spPr bwMode="auto">
            <a:xfrm rot="18606384" flipV="1">
              <a:off x="421" y="2215"/>
              <a:ext cx="636" cy="708"/>
            </a:xfrm>
            <a:custGeom>
              <a:avLst/>
              <a:gdLst>
                <a:gd name="T0" fmla="*/ 0 w 21600"/>
                <a:gd name="T1" fmla="*/ 0 h 18707"/>
                <a:gd name="T2" fmla="*/ 0 w 21600"/>
                <a:gd name="T3" fmla="*/ 0 h 18707"/>
                <a:gd name="T4" fmla="*/ 0 w 21600"/>
                <a:gd name="T5" fmla="*/ 0 h 18707"/>
                <a:gd name="T6" fmla="*/ 0 60000 65536"/>
                <a:gd name="T7" fmla="*/ 0 60000 65536"/>
                <a:gd name="T8" fmla="*/ 0 60000 65536"/>
                <a:gd name="T9" fmla="*/ 0 w 21600"/>
                <a:gd name="T10" fmla="*/ 0 h 18707"/>
                <a:gd name="T11" fmla="*/ 21600 w 21600"/>
                <a:gd name="T12" fmla="*/ 18707 h 18707"/>
              </a:gdLst>
              <a:ahLst/>
              <a:cxnLst>
                <a:cxn ang="T6">
                  <a:pos x="T0" y="T1"/>
                </a:cxn>
                <a:cxn ang="T7">
                  <a:pos x="T2" y="T3"/>
                </a:cxn>
                <a:cxn ang="T8">
                  <a:pos x="T4" y="T5"/>
                </a:cxn>
              </a:cxnLst>
              <a:rect l="T9" t="T10" r="T11" b="T12"/>
              <a:pathLst>
                <a:path w="21600" h="18707" fill="none" extrusionOk="0">
                  <a:moveTo>
                    <a:pt x="10798" y="0"/>
                  </a:moveTo>
                  <a:cubicBezTo>
                    <a:pt x="17482" y="3858"/>
                    <a:pt x="21600" y="10989"/>
                    <a:pt x="21600" y="18707"/>
                  </a:cubicBezTo>
                </a:path>
                <a:path w="21600" h="18707" stroke="0" extrusionOk="0">
                  <a:moveTo>
                    <a:pt x="10798" y="0"/>
                  </a:moveTo>
                  <a:cubicBezTo>
                    <a:pt x="17482" y="3858"/>
                    <a:pt x="21600" y="10989"/>
                    <a:pt x="21600" y="18707"/>
                  </a:cubicBezTo>
                  <a:lnTo>
                    <a:pt x="0" y="18707"/>
                  </a:lnTo>
                  <a:lnTo>
                    <a:pt x="10798" y="0"/>
                  </a:lnTo>
                  <a:close/>
                </a:path>
              </a:pathLst>
            </a:custGeom>
            <a:noFill/>
            <a:ln w="9525">
              <a:solidFill>
                <a:srgbClr val="FF6600"/>
              </a:solidFill>
              <a:round/>
              <a:headEnd/>
              <a:tailEnd type="stealth" w="med" len="lg"/>
            </a:ln>
          </p:spPr>
          <p:txBody>
            <a:bodyPr wrap="none" anchor="ctr">
              <a:spAutoFit/>
            </a:bodyPr>
            <a:lstStyle/>
            <a:p>
              <a:endParaRPr lang="zh-CN" altLang="en-US"/>
            </a:p>
          </p:txBody>
        </p:sp>
        <p:sp>
          <p:nvSpPr>
            <p:cNvPr id="3127" name="Arc 142"/>
            <p:cNvSpPr>
              <a:spLocks/>
            </p:cNvSpPr>
            <p:nvPr/>
          </p:nvSpPr>
          <p:spPr bwMode="auto">
            <a:xfrm rot="17285652" flipV="1">
              <a:off x="331" y="2305"/>
              <a:ext cx="636" cy="708"/>
            </a:xfrm>
            <a:custGeom>
              <a:avLst/>
              <a:gdLst>
                <a:gd name="T0" fmla="*/ 0 w 21600"/>
                <a:gd name="T1" fmla="*/ 0 h 18707"/>
                <a:gd name="T2" fmla="*/ 0 w 21600"/>
                <a:gd name="T3" fmla="*/ 0 h 18707"/>
                <a:gd name="T4" fmla="*/ 0 w 21600"/>
                <a:gd name="T5" fmla="*/ 0 h 18707"/>
                <a:gd name="T6" fmla="*/ 0 60000 65536"/>
                <a:gd name="T7" fmla="*/ 0 60000 65536"/>
                <a:gd name="T8" fmla="*/ 0 60000 65536"/>
                <a:gd name="T9" fmla="*/ 0 w 21600"/>
                <a:gd name="T10" fmla="*/ 0 h 18707"/>
                <a:gd name="T11" fmla="*/ 21600 w 21600"/>
                <a:gd name="T12" fmla="*/ 18707 h 18707"/>
              </a:gdLst>
              <a:ahLst/>
              <a:cxnLst>
                <a:cxn ang="T6">
                  <a:pos x="T0" y="T1"/>
                </a:cxn>
                <a:cxn ang="T7">
                  <a:pos x="T2" y="T3"/>
                </a:cxn>
                <a:cxn ang="T8">
                  <a:pos x="T4" y="T5"/>
                </a:cxn>
              </a:cxnLst>
              <a:rect l="T9" t="T10" r="T11" b="T12"/>
              <a:pathLst>
                <a:path w="21600" h="18707" fill="none" extrusionOk="0">
                  <a:moveTo>
                    <a:pt x="10798" y="0"/>
                  </a:moveTo>
                  <a:cubicBezTo>
                    <a:pt x="17482" y="3858"/>
                    <a:pt x="21600" y="10989"/>
                    <a:pt x="21600" y="18707"/>
                  </a:cubicBezTo>
                </a:path>
                <a:path w="21600" h="18707" stroke="0" extrusionOk="0">
                  <a:moveTo>
                    <a:pt x="10798" y="0"/>
                  </a:moveTo>
                  <a:cubicBezTo>
                    <a:pt x="17482" y="3858"/>
                    <a:pt x="21600" y="10989"/>
                    <a:pt x="21600" y="18707"/>
                  </a:cubicBezTo>
                  <a:lnTo>
                    <a:pt x="0" y="18707"/>
                  </a:lnTo>
                  <a:lnTo>
                    <a:pt x="10798" y="0"/>
                  </a:lnTo>
                  <a:close/>
                </a:path>
              </a:pathLst>
            </a:custGeom>
            <a:noFill/>
            <a:ln w="9525">
              <a:solidFill>
                <a:srgbClr val="FF6600"/>
              </a:solidFill>
              <a:round/>
              <a:headEnd/>
              <a:tailEnd type="stealth" w="med" len="lg"/>
            </a:ln>
          </p:spPr>
          <p:txBody>
            <a:bodyPr wrap="none" anchor="ctr">
              <a:spAutoFit/>
            </a:bodyPr>
            <a:lstStyle/>
            <a:p>
              <a:endParaRPr lang="zh-CN" altLang="en-US"/>
            </a:p>
          </p:txBody>
        </p:sp>
      </p:grpSp>
      <p:grpSp>
        <p:nvGrpSpPr>
          <p:cNvPr id="7" name="Group 143"/>
          <p:cNvGrpSpPr>
            <a:grpSpLocks/>
          </p:cNvGrpSpPr>
          <p:nvPr/>
        </p:nvGrpSpPr>
        <p:grpSpPr bwMode="auto">
          <a:xfrm>
            <a:off x="6832600" y="3668713"/>
            <a:ext cx="2347913" cy="1344612"/>
            <a:chOff x="2744" y="89"/>
            <a:chExt cx="1479" cy="847"/>
          </a:xfrm>
        </p:grpSpPr>
        <p:sp>
          <p:nvSpPr>
            <p:cNvPr id="3116" name="Arc 144"/>
            <p:cNvSpPr>
              <a:spLocks/>
            </p:cNvSpPr>
            <p:nvPr/>
          </p:nvSpPr>
          <p:spPr bwMode="auto">
            <a:xfrm rot="2993616" flipH="1" flipV="1">
              <a:off x="3460" y="174"/>
              <a:ext cx="636" cy="708"/>
            </a:xfrm>
            <a:custGeom>
              <a:avLst/>
              <a:gdLst>
                <a:gd name="T0" fmla="*/ 0 w 21600"/>
                <a:gd name="T1" fmla="*/ 0 h 18707"/>
                <a:gd name="T2" fmla="*/ 0 w 21600"/>
                <a:gd name="T3" fmla="*/ 0 h 18707"/>
                <a:gd name="T4" fmla="*/ 0 w 21600"/>
                <a:gd name="T5" fmla="*/ 0 h 18707"/>
                <a:gd name="T6" fmla="*/ 0 60000 65536"/>
                <a:gd name="T7" fmla="*/ 0 60000 65536"/>
                <a:gd name="T8" fmla="*/ 0 60000 65536"/>
                <a:gd name="T9" fmla="*/ 0 w 21600"/>
                <a:gd name="T10" fmla="*/ 0 h 18707"/>
                <a:gd name="T11" fmla="*/ 21600 w 21600"/>
                <a:gd name="T12" fmla="*/ 18707 h 18707"/>
              </a:gdLst>
              <a:ahLst/>
              <a:cxnLst>
                <a:cxn ang="T6">
                  <a:pos x="T0" y="T1"/>
                </a:cxn>
                <a:cxn ang="T7">
                  <a:pos x="T2" y="T3"/>
                </a:cxn>
                <a:cxn ang="T8">
                  <a:pos x="T4" y="T5"/>
                </a:cxn>
              </a:cxnLst>
              <a:rect l="T9" t="T10" r="T11" b="T12"/>
              <a:pathLst>
                <a:path w="21600" h="18707" fill="none" extrusionOk="0">
                  <a:moveTo>
                    <a:pt x="10798" y="0"/>
                  </a:moveTo>
                  <a:cubicBezTo>
                    <a:pt x="17482" y="3858"/>
                    <a:pt x="21600" y="10989"/>
                    <a:pt x="21600" y="18707"/>
                  </a:cubicBezTo>
                </a:path>
                <a:path w="21600" h="18707" stroke="0" extrusionOk="0">
                  <a:moveTo>
                    <a:pt x="10798" y="0"/>
                  </a:moveTo>
                  <a:cubicBezTo>
                    <a:pt x="17482" y="3858"/>
                    <a:pt x="21600" y="10989"/>
                    <a:pt x="21600" y="18707"/>
                  </a:cubicBezTo>
                  <a:lnTo>
                    <a:pt x="0" y="18707"/>
                  </a:lnTo>
                  <a:lnTo>
                    <a:pt x="10798" y="0"/>
                  </a:lnTo>
                  <a:close/>
                </a:path>
              </a:pathLst>
            </a:custGeom>
            <a:noFill/>
            <a:ln w="9525">
              <a:solidFill>
                <a:srgbClr val="FF6600"/>
              </a:solidFill>
              <a:round/>
              <a:headEnd/>
              <a:tailEnd type="none" w="med" len="lg"/>
            </a:ln>
          </p:spPr>
          <p:txBody>
            <a:bodyPr wrap="none" anchor="ctr">
              <a:spAutoFit/>
            </a:bodyPr>
            <a:lstStyle/>
            <a:p>
              <a:endParaRPr lang="zh-CN" altLang="en-US"/>
            </a:p>
          </p:txBody>
        </p:sp>
        <p:sp>
          <p:nvSpPr>
            <p:cNvPr id="3117" name="Arc 145"/>
            <p:cNvSpPr>
              <a:spLocks/>
            </p:cNvSpPr>
            <p:nvPr/>
          </p:nvSpPr>
          <p:spPr bwMode="auto">
            <a:xfrm rot="4314348" flipH="1" flipV="1">
              <a:off x="3551" y="264"/>
              <a:ext cx="636" cy="708"/>
            </a:xfrm>
            <a:custGeom>
              <a:avLst/>
              <a:gdLst>
                <a:gd name="T0" fmla="*/ 0 w 21600"/>
                <a:gd name="T1" fmla="*/ 0 h 18707"/>
                <a:gd name="T2" fmla="*/ 0 w 21600"/>
                <a:gd name="T3" fmla="*/ 0 h 18707"/>
                <a:gd name="T4" fmla="*/ 0 w 21600"/>
                <a:gd name="T5" fmla="*/ 0 h 18707"/>
                <a:gd name="T6" fmla="*/ 0 60000 65536"/>
                <a:gd name="T7" fmla="*/ 0 60000 65536"/>
                <a:gd name="T8" fmla="*/ 0 60000 65536"/>
                <a:gd name="T9" fmla="*/ 0 w 21600"/>
                <a:gd name="T10" fmla="*/ 0 h 18707"/>
                <a:gd name="T11" fmla="*/ 21600 w 21600"/>
                <a:gd name="T12" fmla="*/ 18707 h 18707"/>
              </a:gdLst>
              <a:ahLst/>
              <a:cxnLst>
                <a:cxn ang="T6">
                  <a:pos x="T0" y="T1"/>
                </a:cxn>
                <a:cxn ang="T7">
                  <a:pos x="T2" y="T3"/>
                </a:cxn>
                <a:cxn ang="T8">
                  <a:pos x="T4" y="T5"/>
                </a:cxn>
              </a:cxnLst>
              <a:rect l="T9" t="T10" r="T11" b="T12"/>
              <a:pathLst>
                <a:path w="21600" h="18707" fill="none" extrusionOk="0">
                  <a:moveTo>
                    <a:pt x="10798" y="0"/>
                  </a:moveTo>
                  <a:cubicBezTo>
                    <a:pt x="17482" y="3858"/>
                    <a:pt x="21600" y="10989"/>
                    <a:pt x="21600" y="18707"/>
                  </a:cubicBezTo>
                </a:path>
                <a:path w="21600" h="18707" stroke="0" extrusionOk="0">
                  <a:moveTo>
                    <a:pt x="10798" y="0"/>
                  </a:moveTo>
                  <a:cubicBezTo>
                    <a:pt x="17482" y="3858"/>
                    <a:pt x="21600" y="10989"/>
                    <a:pt x="21600" y="18707"/>
                  </a:cubicBezTo>
                  <a:lnTo>
                    <a:pt x="0" y="18707"/>
                  </a:lnTo>
                  <a:lnTo>
                    <a:pt x="10798" y="0"/>
                  </a:lnTo>
                  <a:close/>
                </a:path>
              </a:pathLst>
            </a:custGeom>
            <a:noFill/>
            <a:ln w="9525">
              <a:solidFill>
                <a:srgbClr val="FF6600"/>
              </a:solidFill>
              <a:round/>
              <a:headEnd/>
              <a:tailEnd type="none" w="med" len="lg"/>
            </a:ln>
          </p:spPr>
          <p:txBody>
            <a:bodyPr wrap="none" anchor="ctr">
              <a:spAutoFit/>
            </a:bodyPr>
            <a:lstStyle/>
            <a:p>
              <a:endParaRPr lang="zh-CN" altLang="en-US"/>
            </a:p>
          </p:txBody>
        </p:sp>
        <p:sp>
          <p:nvSpPr>
            <p:cNvPr id="3118" name="Arc 146"/>
            <p:cNvSpPr>
              <a:spLocks/>
            </p:cNvSpPr>
            <p:nvPr/>
          </p:nvSpPr>
          <p:spPr bwMode="auto">
            <a:xfrm rot="18606384" flipV="1">
              <a:off x="2870" y="174"/>
              <a:ext cx="636" cy="708"/>
            </a:xfrm>
            <a:custGeom>
              <a:avLst/>
              <a:gdLst>
                <a:gd name="T0" fmla="*/ 0 w 21600"/>
                <a:gd name="T1" fmla="*/ 0 h 18707"/>
                <a:gd name="T2" fmla="*/ 0 w 21600"/>
                <a:gd name="T3" fmla="*/ 0 h 18707"/>
                <a:gd name="T4" fmla="*/ 0 w 21600"/>
                <a:gd name="T5" fmla="*/ 0 h 18707"/>
                <a:gd name="T6" fmla="*/ 0 60000 65536"/>
                <a:gd name="T7" fmla="*/ 0 60000 65536"/>
                <a:gd name="T8" fmla="*/ 0 60000 65536"/>
                <a:gd name="T9" fmla="*/ 0 w 21600"/>
                <a:gd name="T10" fmla="*/ 0 h 18707"/>
                <a:gd name="T11" fmla="*/ 21600 w 21600"/>
                <a:gd name="T12" fmla="*/ 18707 h 18707"/>
              </a:gdLst>
              <a:ahLst/>
              <a:cxnLst>
                <a:cxn ang="T6">
                  <a:pos x="T0" y="T1"/>
                </a:cxn>
                <a:cxn ang="T7">
                  <a:pos x="T2" y="T3"/>
                </a:cxn>
                <a:cxn ang="T8">
                  <a:pos x="T4" y="T5"/>
                </a:cxn>
              </a:cxnLst>
              <a:rect l="T9" t="T10" r="T11" b="T12"/>
              <a:pathLst>
                <a:path w="21600" h="18707" fill="none" extrusionOk="0">
                  <a:moveTo>
                    <a:pt x="10798" y="0"/>
                  </a:moveTo>
                  <a:cubicBezTo>
                    <a:pt x="17482" y="3858"/>
                    <a:pt x="21600" y="10989"/>
                    <a:pt x="21600" y="18707"/>
                  </a:cubicBezTo>
                </a:path>
                <a:path w="21600" h="18707" stroke="0" extrusionOk="0">
                  <a:moveTo>
                    <a:pt x="10798" y="0"/>
                  </a:moveTo>
                  <a:cubicBezTo>
                    <a:pt x="17482" y="3858"/>
                    <a:pt x="21600" y="10989"/>
                    <a:pt x="21600" y="18707"/>
                  </a:cubicBezTo>
                  <a:lnTo>
                    <a:pt x="0" y="18707"/>
                  </a:lnTo>
                  <a:lnTo>
                    <a:pt x="10798" y="0"/>
                  </a:lnTo>
                  <a:close/>
                </a:path>
              </a:pathLst>
            </a:custGeom>
            <a:noFill/>
            <a:ln w="9525">
              <a:solidFill>
                <a:srgbClr val="FF6600"/>
              </a:solidFill>
              <a:round/>
              <a:headEnd/>
              <a:tailEnd type="none" w="med" len="lg"/>
            </a:ln>
          </p:spPr>
          <p:txBody>
            <a:bodyPr wrap="none" anchor="ctr">
              <a:spAutoFit/>
            </a:bodyPr>
            <a:lstStyle/>
            <a:p>
              <a:endParaRPr lang="zh-CN" altLang="en-US"/>
            </a:p>
          </p:txBody>
        </p:sp>
        <p:sp>
          <p:nvSpPr>
            <p:cNvPr id="3119" name="Arc 147"/>
            <p:cNvSpPr>
              <a:spLocks/>
            </p:cNvSpPr>
            <p:nvPr/>
          </p:nvSpPr>
          <p:spPr bwMode="auto">
            <a:xfrm rot="17285652" flipV="1">
              <a:off x="2780" y="264"/>
              <a:ext cx="636" cy="708"/>
            </a:xfrm>
            <a:custGeom>
              <a:avLst/>
              <a:gdLst>
                <a:gd name="T0" fmla="*/ 0 w 21600"/>
                <a:gd name="T1" fmla="*/ 0 h 18707"/>
                <a:gd name="T2" fmla="*/ 0 w 21600"/>
                <a:gd name="T3" fmla="*/ 0 h 18707"/>
                <a:gd name="T4" fmla="*/ 0 w 21600"/>
                <a:gd name="T5" fmla="*/ 0 h 18707"/>
                <a:gd name="T6" fmla="*/ 0 60000 65536"/>
                <a:gd name="T7" fmla="*/ 0 60000 65536"/>
                <a:gd name="T8" fmla="*/ 0 60000 65536"/>
                <a:gd name="T9" fmla="*/ 0 w 21600"/>
                <a:gd name="T10" fmla="*/ 0 h 18707"/>
                <a:gd name="T11" fmla="*/ 21600 w 21600"/>
                <a:gd name="T12" fmla="*/ 18707 h 18707"/>
              </a:gdLst>
              <a:ahLst/>
              <a:cxnLst>
                <a:cxn ang="T6">
                  <a:pos x="T0" y="T1"/>
                </a:cxn>
                <a:cxn ang="T7">
                  <a:pos x="T2" y="T3"/>
                </a:cxn>
                <a:cxn ang="T8">
                  <a:pos x="T4" y="T5"/>
                </a:cxn>
              </a:cxnLst>
              <a:rect l="T9" t="T10" r="T11" b="T12"/>
              <a:pathLst>
                <a:path w="21600" h="18707" fill="none" extrusionOk="0">
                  <a:moveTo>
                    <a:pt x="10798" y="0"/>
                  </a:moveTo>
                  <a:cubicBezTo>
                    <a:pt x="17482" y="3858"/>
                    <a:pt x="21600" y="10989"/>
                    <a:pt x="21600" y="18707"/>
                  </a:cubicBezTo>
                </a:path>
                <a:path w="21600" h="18707" stroke="0" extrusionOk="0">
                  <a:moveTo>
                    <a:pt x="10798" y="0"/>
                  </a:moveTo>
                  <a:cubicBezTo>
                    <a:pt x="17482" y="3858"/>
                    <a:pt x="21600" y="10989"/>
                    <a:pt x="21600" y="18707"/>
                  </a:cubicBezTo>
                  <a:lnTo>
                    <a:pt x="0" y="18707"/>
                  </a:lnTo>
                  <a:lnTo>
                    <a:pt x="10798" y="0"/>
                  </a:lnTo>
                  <a:close/>
                </a:path>
              </a:pathLst>
            </a:custGeom>
            <a:noFill/>
            <a:ln w="9525">
              <a:solidFill>
                <a:srgbClr val="FF6600"/>
              </a:solidFill>
              <a:round/>
              <a:headEnd/>
              <a:tailEnd type="none" w="med" len="lg"/>
            </a:ln>
          </p:spPr>
          <p:txBody>
            <a:bodyPr wrap="none" anchor="ctr">
              <a:spAutoFit/>
            </a:bodyPr>
            <a:lstStyle/>
            <a:p>
              <a:endParaRPr lang="zh-CN" altLang="en-US"/>
            </a:p>
          </p:txBody>
        </p:sp>
        <p:sp>
          <p:nvSpPr>
            <p:cNvPr id="3120" name="Arc 148"/>
            <p:cNvSpPr>
              <a:spLocks/>
            </p:cNvSpPr>
            <p:nvPr/>
          </p:nvSpPr>
          <p:spPr bwMode="auto">
            <a:xfrm rot="2993616" flipH="1" flipV="1">
              <a:off x="3591" y="237"/>
              <a:ext cx="636" cy="348"/>
            </a:xfrm>
            <a:custGeom>
              <a:avLst/>
              <a:gdLst>
                <a:gd name="T0" fmla="*/ 0 w 21600"/>
                <a:gd name="T1" fmla="*/ 0 h 9186"/>
                <a:gd name="T2" fmla="*/ 0 w 21600"/>
                <a:gd name="T3" fmla="*/ 0 h 9186"/>
                <a:gd name="T4" fmla="*/ 0 w 21600"/>
                <a:gd name="T5" fmla="*/ 0 h 9186"/>
                <a:gd name="T6" fmla="*/ 0 60000 65536"/>
                <a:gd name="T7" fmla="*/ 0 60000 65536"/>
                <a:gd name="T8" fmla="*/ 0 60000 65536"/>
                <a:gd name="T9" fmla="*/ 0 w 21600"/>
                <a:gd name="T10" fmla="*/ 0 h 9186"/>
                <a:gd name="T11" fmla="*/ 21600 w 21600"/>
                <a:gd name="T12" fmla="*/ 9186 h 9186"/>
              </a:gdLst>
              <a:ahLst/>
              <a:cxnLst>
                <a:cxn ang="T6">
                  <a:pos x="T0" y="T1"/>
                </a:cxn>
                <a:cxn ang="T7">
                  <a:pos x="T2" y="T3"/>
                </a:cxn>
                <a:cxn ang="T8">
                  <a:pos x="T4" y="T5"/>
                </a:cxn>
              </a:cxnLst>
              <a:rect l="T9" t="T10" r="T11" b="T12"/>
              <a:pathLst>
                <a:path w="21600" h="9186" fill="none" extrusionOk="0">
                  <a:moveTo>
                    <a:pt x="19549" y="-1"/>
                  </a:moveTo>
                  <a:cubicBezTo>
                    <a:pt x="20899" y="2873"/>
                    <a:pt x="21600" y="6010"/>
                    <a:pt x="21600" y="9186"/>
                  </a:cubicBezTo>
                </a:path>
                <a:path w="21600" h="9186" stroke="0" extrusionOk="0">
                  <a:moveTo>
                    <a:pt x="19549" y="-1"/>
                  </a:moveTo>
                  <a:cubicBezTo>
                    <a:pt x="20899" y="2873"/>
                    <a:pt x="21600" y="6010"/>
                    <a:pt x="21600" y="9186"/>
                  </a:cubicBezTo>
                  <a:lnTo>
                    <a:pt x="0" y="9186"/>
                  </a:lnTo>
                  <a:lnTo>
                    <a:pt x="19549" y="-1"/>
                  </a:lnTo>
                  <a:close/>
                </a:path>
              </a:pathLst>
            </a:custGeom>
            <a:noFill/>
            <a:ln w="9525">
              <a:solidFill>
                <a:srgbClr val="FF6600"/>
              </a:solidFill>
              <a:round/>
              <a:headEnd type="stealth" w="med" len="lg"/>
              <a:tailEnd type="none" w="med" len="lg"/>
            </a:ln>
          </p:spPr>
          <p:txBody>
            <a:bodyPr wrap="none" anchor="ctr">
              <a:spAutoFit/>
            </a:bodyPr>
            <a:lstStyle/>
            <a:p>
              <a:endParaRPr lang="zh-CN" altLang="en-US"/>
            </a:p>
          </p:txBody>
        </p:sp>
        <p:sp>
          <p:nvSpPr>
            <p:cNvPr id="3121" name="Arc 149"/>
            <p:cNvSpPr>
              <a:spLocks/>
            </p:cNvSpPr>
            <p:nvPr/>
          </p:nvSpPr>
          <p:spPr bwMode="auto">
            <a:xfrm rot="4314348" flipH="1" flipV="1">
              <a:off x="3684" y="363"/>
              <a:ext cx="636" cy="417"/>
            </a:xfrm>
            <a:custGeom>
              <a:avLst/>
              <a:gdLst>
                <a:gd name="T0" fmla="*/ 0 w 21600"/>
                <a:gd name="T1" fmla="*/ 0 h 11015"/>
                <a:gd name="T2" fmla="*/ 0 w 21600"/>
                <a:gd name="T3" fmla="*/ 0 h 11015"/>
                <a:gd name="T4" fmla="*/ 0 w 21600"/>
                <a:gd name="T5" fmla="*/ 0 h 11015"/>
                <a:gd name="T6" fmla="*/ 0 60000 65536"/>
                <a:gd name="T7" fmla="*/ 0 60000 65536"/>
                <a:gd name="T8" fmla="*/ 0 60000 65536"/>
                <a:gd name="T9" fmla="*/ 0 w 21600"/>
                <a:gd name="T10" fmla="*/ 0 h 11015"/>
                <a:gd name="T11" fmla="*/ 21600 w 21600"/>
                <a:gd name="T12" fmla="*/ 11015 h 11015"/>
              </a:gdLst>
              <a:ahLst/>
              <a:cxnLst>
                <a:cxn ang="T6">
                  <a:pos x="T0" y="T1"/>
                </a:cxn>
                <a:cxn ang="T7">
                  <a:pos x="T2" y="T3"/>
                </a:cxn>
                <a:cxn ang="T8">
                  <a:pos x="T4" y="T5"/>
                </a:cxn>
              </a:cxnLst>
              <a:rect l="T9" t="T10" r="T11" b="T12"/>
              <a:pathLst>
                <a:path w="21600" h="11015" fill="none" extrusionOk="0">
                  <a:moveTo>
                    <a:pt x="18580" y="-1"/>
                  </a:moveTo>
                  <a:cubicBezTo>
                    <a:pt x="20556" y="3334"/>
                    <a:pt x="21600" y="7138"/>
                    <a:pt x="21600" y="11015"/>
                  </a:cubicBezTo>
                </a:path>
                <a:path w="21600" h="11015" stroke="0" extrusionOk="0">
                  <a:moveTo>
                    <a:pt x="18580" y="-1"/>
                  </a:moveTo>
                  <a:cubicBezTo>
                    <a:pt x="20556" y="3334"/>
                    <a:pt x="21600" y="7138"/>
                    <a:pt x="21600" y="11015"/>
                  </a:cubicBezTo>
                  <a:lnTo>
                    <a:pt x="0" y="11015"/>
                  </a:lnTo>
                  <a:lnTo>
                    <a:pt x="18580" y="-1"/>
                  </a:lnTo>
                  <a:close/>
                </a:path>
              </a:pathLst>
            </a:custGeom>
            <a:noFill/>
            <a:ln w="9525">
              <a:solidFill>
                <a:srgbClr val="FF6600"/>
              </a:solidFill>
              <a:round/>
              <a:headEnd type="stealth" w="med" len="lg"/>
              <a:tailEnd type="none" w="med" len="lg"/>
            </a:ln>
          </p:spPr>
          <p:txBody>
            <a:bodyPr wrap="none" anchor="ctr">
              <a:spAutoFit/>
            </a:bodyPr>
            <a:lstStyle/>
            <a:p>
              <a:endParaRPr lang="zh-CN" altLang="en-US"/>
            </a:p>
          </p:txBody>
        </p:sp>
        <p:sp>
          <p:nvSpPr>
            <p:cNvPr id="3122" name="Arc 150"/>
            <p:cNvSpPr>
              <a:spLocks/>
            </p:cNvSpPr>
            <p:nvPr/>
          </p:nvSpPr>
          <p:spPr bwMode="auto">
            <a:xfrm rot="18606384" flipV="1">
              <a:off x="2721" y="239"/>
              <a:ext cx="636" cy="335"/>
            </a:xfrm>
            <a:custGeom>
              <a:avLst/>
              <a:gdLst>
                <a:gd name="T0" fmla="*/ 0 w 21600"/>
                <a:gd name="T1" fmla="*/ 0 h 8846"/>
                <a:gd name="T2" fmla="*/ 0 w 21600"/>
                <a:gd name="T3" fmla="*/ 0 h 8846"/>
                <a:gd name="T4" fmla="*/ 0 w 21600"/>
                <a:gd name="T5" fmla="*/ 0 h 8846"/>
                <a:gd name="T6" fmla="*/ 0 60000 65536"/>
                <a:gd name="T7" fmla="*/ 0 60000 65536"/>
                <a:gd name="T8" fmla="*/ 0 60000 65536"/>
                <a:gd name="T9" fmla="*/ 0 w 21600"/>
                <a:gd name="T10" fmla="*/ 0 h 8846"/>
                <a:gd name="T11" fmla="*/ 21600 w 21600"/>
                <a:gd name="T12" fmla="*/ 8846 h 8846"/>
              </a:gdLst>
              <a:ahLst/>
              <a:cxnLst>
                <a:cxn ang="T6">
                  <a:pos x="T0" y="T1"/>
                </a:cxn>
                <a:cxn ang="T7">
                  <a:pos x="T2" y="T3"/>
                </a:cxn>
                <a:cxn ang="T8">
                  <a:pos x="T4" y="T5"/>
                </a:cxn>
              </a:cxnLst>
              <a:rect l="T9" t="T10" r="T11" b="T12"/>
              <a:pathLst>
                <a:path w="21600" h="8846" fill="none" extrusionOk="0">
                  <a:moveTo>
                    <a:pt x="19705" y="0"/>
                  </a:moveTo>
                  <a:cubicBezTo>
                    <a:pt x="20954" y="2782"/>
                    <a:pt x="21600" y="5796"/>
                    <a:pt x="21600" y="8846"/>
                  </a:cubicBezTo>
                </a:path>
                <a:path w="21600" h="8846" stroke="0" extrusionOk="0">
                  <a:moveTo>
                    <a:pt x="19705" y="0"/>
                  </a:moveTo>
                  <a:cubicBezTo>
                    <a:pt x="20954" y="2782"/>
                    <a:pt x="21600" y="5796"/>
                    <a:pt x="21600" y="8846"/>
                  </a:cubicBezTo>
                  <a:lnTo>
                    <a:pt x="0" y="8846"/>
                  </a:lnTo>
                  <a:lnTo>
                    <a:pt x="19705" y="0"/>
                  </a:lnTo>
                  <a:close/>
                </a:path>
              </a:pathLst>
            </a:custGeom>
            <a:noFill/>
            <a:ln w="9525">
              <a:solidFill>
                <a:srgbClr val="FF6600"/>
              </a:solidFill>
              <a:round/>
              <a:headEnd type="stealth" w="med" len="lg"/>
              <a:tailEnd type="none" w="med" len="lg"/>
            </a:ln>
          </p:spPr>
          <p:txBody>
            <a:bodyPr wrap="none" anchor="ctr">
              <a:spAutoFit/>
            </a:bodyPr>
            <a:lstStyle/>
            <a:p>
              <a:endParaRPr lang="zh-CN" altLang="en-US"/>
            </a:p>
          </p:txBody>
        </p:sp>
        <p:sp>
          <p:nvSpPr>
            <p:cNvPr id="3123" name="Arc 151"/>
            <p:cNvSpPr>
              <a:spLocks/>
            </p:cNvSpPr>
            <p:nvPr/>
          </p:nvSpPr>
          <p:spPr bwMode="auto">
            <a:xfrm rot="17285652" flipV="1">
              <a:off x="2636" y="362"/>
              <a:ext cx="636" cy="419"/>
            </a:xfrm>
            <a:custGeom>
              <a:avLst/>
              <a:gdLst>
                <a:gd name="T0" fmla="*/ 0 w 21600"/>
                <a:gd name="T1" fmla="*/ 0 h 11064"/>
                <a:gd name="T2" fmla="*/ 0 w 21600"/>
                <a:gd name="T3" fmla="*/ 0 h 11064"/>
                <a:gd name="T4" fmla="*/ 0 w 21600"/>
                <a:gd name="T5" fmla="*/ 0 h 11064"/>
                <a:gd name="T6" fmla="*/ 0 60000 65536"/>
                <a:gd name="T7" fmla="*/ 0 60000 65536"/>
                <a:gd name="T8" fmla="*/ 0 60000 65536"/>
                <a:gd name="T9" fmla="*/ 0 w 21600"/>
                <a:gd name="T10" fmla="*/ 0 h 11064"/>
                <a:gd name="T11" fmla="*/ 21600 w 21600"/>
                <a:gd name="T12" fmla="*/ 11064 h 11064"/>
              </a:gdLst>
              <a:ahLst/>
              <a:cxnLst>
                <a:cxn ang="T6">
                  <a:pos x="T0" y="T1"/>
                </a:cxn>
                <a:cxn ang="T7">
                  <a:pos x="T2" y="T3"/>
                </a:cxn>
                <a:cxn ang="T8">
                  <a:pos x="T4" y="T5"/>
                </a:cxn>
              </a:cxnLst>
              <a:rect l="T9" t="T10" r="T11" b="T12"/>
              <a:pathLst>
                <a:path w="21600" h="11064" fill="none" extrusionOk="0">
                  <a:moveTo>
                    <a:pt x="18551" y="-1"/>
                  </a:moveTo>
                  <a:cubicBezTo>
                    <a:pt x="20546" y="3345"/>
                    <a:pt x="21600" y="7168"/>
                    <a:pt x="21600" y="11064"/>
                  </a:cubicBezTo>
                </a:path>
                <a:path w="21600" h="11064" stroke="0" extrusionOk="0">
                  <a:moveTo>
                    <a:pt x="18551" y="-1"/>
                  </a:moveTo>
                  <a:cubicBezTo>
                    <a:pt x="20546" y="3345"/>
                    <a:pt x="21600" y="7168"/>
                    <a:pt x="21600" y="11064"/>
                  </a:cubicBezTo>
                  <a:lnTo>
                    <a:pt x="0" y="11064"/>
                  </a:lnTo>
                  <a:lnTo>
                    <a:pt x="18551" y="-1"/>
                  </a:lnTo>
                  <a:close/>
                </a:path>
              </a:pathLst>
            </a:custGeom>
            <a:noFill/>
            <a:ln w="9525">
              <a:solidFill>
                <a:srgbClr val="FF6600"/>
              </a:solidFill>
              <a:round/>
              <a:headEnd type="stealth" w="med" len="lg"/>
              <a:tailEnd type="none" w="med" len="lg"/>
            </a:ln>
          </p:spPr>
          <p:txBody>
            <a:bodyPr wrap="none" anchor="ctr">
              <a:spAutoFit/>
            </a:bodyPr>
            <a:lstStyle/>
            <a:p>
              <a:endParaRPr lang="zh-CN" altLang="en-US"/>
            </a:p>
          </p:txBody>
        </p:sp>
      </p:grpSp>
      <p:graphicFrame>
        <p:nvGraphicFramePr>
          <p:cNvPr id="11416" name="Object 152"/>
          <p:cNvGraphicFramePr>
            <a:graphicFrameLocks noChangeAspect="1"/>
          </p:cNvGraphicFramePr>
          <p:nvPr/>
        </p:nvGraphicFramePr>
        <p:xfrm>
          <a:off x="8156575" y="5988050"/>
          <a:ext cx="617538" cy="320675"/>
        </p:xfrm>
        <a:graphic>
          <a:graphicData uri="http://schemas.openxmlformats.org/presentationml/2006/ole">
            <p:oleObj spid="_x0000_s3088" name="公式" r:id="rId17" imgW="304710" imgH="142830" progId="Equation.3">
              <p:embed/>
            </p:oleObj>
          </a:graphicData>
        </a:graphic>
      </p:graphicFrame>
      <p:graphicFrame>
        <p:nvGraphicFramePr>
          <p:cNvPr id="11417" name="Object 153"/>
          <p:cNvGraphicFramePr>
            <a:graphicFrameLocks noChangeAspect="1"/>
          </p:cNvGraphicFramePr>
          <p:nvPr/>
        </p:nvGraphicFramePr>
        <p:xfrm>
          <a:off x="5695950" y="6000750"/>
          <a:ext cx="617538" cy="320675"/>
        </p:xfrm>
        <a:graphic>
          <a:graphicData uri="http://schemas.openxmlformats.org/presentationml/2006/ole">
            <p:oleObj spid="_x0000_s3089" name="公式" r:id="rId18" imgW="304710" imgH="142830" progId="Equation.3">
              <p:embed/>
            </p:oleObj>
          </a:graphicData>
        </a:graphic>
      </p:graphicFrame>
      <p:sp>
        <p:nvSpPr>
          <p:cNvPr id="11418" name="Rectangle 154"/>
          <p:cNvSpPr>
            <a:spLocks noChangeArrowheads="1"/>
          </p:cNvSpPr>
          <p:nvPr/>
        </p:nvSpPr>
        <p:spPr bwMode="auto">
          <a:xfrm>
            <a:off x="207963" y="4610100"/>
            <a:ext cx="4113212" cy="1865313"/>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0000"/>
                </a:solidFill>
                <a:latin typeface="Times New Roman" pitchFamily="18" charset="0"/>
                <a:ea typeface="楷体_GB2312" pitchFamily="49" charset="-122"/>
              </a:rPr>
              <a:t>反之，穿过回路的磁通量减小时，此时感应电流的磁场方向和原磁场的方向相同，</a:t>
            </a:r>
            <a:r>
              <a:rPr kumimoji="1" lang="zh-CN" altLang="en-US" sz="2400" b="1">
                <a:solidFill>
                  <a:srgbClr val="008000"/>
                </a:solidFill>
                <a:latin typeface="Times New Roman" pitchFamily="18" charset="0"/>
                <a:ea typeface="楷体_GB2312" pitchFamily="49" charset="-122"/>
              </a:rPr>
              <a:t>阻碍原磁场变小。</a:t>
            </a:r>
          </a:p>
        </p:txBody>
      </p:sp>
      <p:sp>
        <p:nvSpPr>
          <p:cNvPr id="11419" name="AutoShape 155"/>
          <p:cNvSpPr>
            <a:spLocks noChangeArrowheads="1"/>
          </p:cNvSpPr>
          <p:nvPr/>
        </p:nvSpPr>
        <p:spPr bwMode="auto">
          <a:xfrm rot="-9545909">
            <a:off x="4716463" y="5084763"/>
            <a:ext cx="315912" cy="90487"/>
          </a:xfrm>
          <a:prstGeom prst="leftArrow">
            <a:avLst>
              <a:gd name="adj1" fmla="val 50000"/>
              <a:gd name="adj2" fmla="val 87281"/>
            </a:avLst>
          </a:prstGeom>
          <a:solidFill>
            <a:srgbClr val="00FF00"/>
          </a:solidFill>
          <a:ln w="9525">
            <a:solidFill>
              <a:srgbClr val="00FF00"/>
            </a:solidFill>
            <a:miter lim="800000"/>
            <a:headEnd/>
            <a:tailEnd/>
          </a:ln>
        </p:spPr>
        <p:txBody>
          <a:bodyPr wrap="none" anchor="ctr"/>
          <a:lstStyle/>
          <a:p>
            <a:endParaRPr lang="zh-CN" altLang="en-US"/>
          </a:p>
        </p:txBody>
      </p:sp>
      <p:sp>
        <p:nvSpPr>
          <p:cNvPr id="11420" name="AutoShape 156"/>
          <p:cNvSpPr>
            <a:spLocks noChangeArrowheads="1"/>
          </p:cNvSpPr>
          <p:nvPr/>
        </p:nvSpPr>
        <p:spPr bwMode="auto">
          <a:xfrm rot="-694952">
            <a:off x="8316913" y="4979988"/>
            <a:ext cx="344487" cy="101600"/>
          </a:xfrm>
          <a:prstGeom prst="leftArrow">
            <a:avLst>
              <a:gd name="adj1" fmla="val 50000"/>
              <a:gd name="adj2" fmla="val 84766"/>
            </a:avLst>
          </a:prstGeom>
          <a:solidFill>
            <a:srgbClr val="00FF00"/>
          </a:solidFill>
          <a:ln w="9525">
            <a:solidFill>
              <a:srgbClr val="008000"/>
            </a:solid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37000"/>
                                  </p:iterate>
                                  <p:childTnLst>
                                    <p:set>
                                      <p:cBhvr>
                                        <p:cTn id="6" dur="1" fill="hold">
                                          <p:stCondLst>
                                            <p:cond delay="0"/>
                                          </p:stCondLst>
                                        </p:cTn>
                                        <p:tgtEl>
                                          <p:spTgt spid="11359"/>
                                        </p:tgtEl>
                                        <p:attrNameLst>
                                          <p:attrName>style.visibility</p:attrName>
                                        </p:attrNameLst>
                                      </p:cBhvr>
                                      <p:to>
                                        <p:strVal val="visible"/>
                                      </p:to>
                                    </p:set>
                                    <p:animEffect transition="in" filter="wipe(left)">
                                      <p:cBhvr>
                                        <p:cTn id="7" dur="500"/>
                                        <p:tgtEl>
                                          <p:spTgt spid="113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37000"/>
                                  </p:iterate>
                                  <p:childTnLst>
                                    <p:set>
                                      <p:cBhvr>
                                        <p:cTn id="11" dur="1" fill="hold">
                                          <p:stCondLst>
                                            <p:cond delay="0"/>
                                          </p:stCondLst>
                                        </p:cTn>
                                        <p:tgtEl>
                                          <p:spTgt spid="11360"/>
                                        </p:tgtEl>
                                        <p:attrNameLst>
                                          <p:attrName>style.visibility</p:attrName>
                                        </p:attrNameLst>
                                      </p:cBhvr>
                                      <p:to>
                                        <p:strVal val="visible"/>
                                      </p:to>
                                    </p:set>
                                    <p:animEffect transition="in" filter="wipe(left)">
                                      <p:cBhvr>
                                        <p:cTn id="12" dur="500"/>
                                        <p:tgtEl>
                                          <p:spTgt spid="113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1369"/>
                                        </p:tgtEl>
                                        <p:attrNameLst>
                                          <p:attrName>style.visibility</p:attrName>
                                        </p:attrNameLst>
                                      </p:cBhvr>
                                      <p:to>
                                        <p:strVal val="visible"/>
                                      </p:to>
                                    </p:set>
                                    <p:animEffect transition="in" filter="slide(fromBottom)">
                                      <p:cBhvr>
                                        <p:cTn id="17" dur="500"/>
                                        <p:tgtEl>
                                          <p:spTgt spid="113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slide(fromBottom)">
                                      <p:cBhvr>
                                        <p:cTn id="22" dur="500"/>
                                        <p:tgtEl>
                                          <p:spTgt spid="2"/>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499"/>
                                          </p:stCondLst>
                                        </p:cTn>
                                        <p:tgtEl>
                                          <p:spTgt spid="11372"/>
                                        </p:tgtEl>
                                        <p:attrNameLst>
                                          <p:attrName>style.visibility</p:attrName>
                                        </p:attrNameLst>
                                      </p:cBhvr>
                                      <p:to>
                                        <p:strVal val="visible"/>
                                      </p:to>
                                    </p:set>
                                  </p:childTnLst>
                                </p:cTn>
                              </p:par>
                            </p:childTnLst>
                          </p:cTn>
                        </p:par>
                        <p:par>
                          <p:cTn id="26" fill="hold" nodeType="afterGroup">
                            <p:stCondLst>
                              <p:cond delay="1000"/>
                            </p:stCondLst>
                            <p:childTnLst>
                              <p:par>
                                <p:cTn id="27" presetID="1" presetClass="entr" presetSubtype="0" fill="hold" nodeType="afterEffect">
                                  <p:stCondLst>
                                    <p:cond delay="0"/>
                                  </p:stCondLst>
                                  <p:childTnLst>
                                    <p:set>
                                      <p:cBhvr>
                                        <p:cTn id="28" dur="1" fill="hold">
                                          <p:stCondLst>
                                            <p:cond delay="499"/>
                                          </p:stCondLst>
                                        </p:cTn>
                                        <p:tgtEl>
                                          <p:spTgt spid="11373"/>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381"/>
                                        </p:tgtEl>
                                        <p:attrNameLst>
                                          <p:attrName>style.visibility</p:attrName>
                                        </p:attrNameLst>
                                      </p:cBhvr>
                                      <p:to>
                                        <p:strVal val="visible"/>
                                      </p:to>
                                    </p:set>
                                    <p:animEffect transition="in" filter="wipe(left)">
                                      <p:cBhvr>
                                        <p:cTn id="33" dur="500"/>
                                        <p:tgtEl>
                                          <p:spTgt spid="1138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11377"/>
                                        </p:tgtEl>
                                        <p:attrNameLst>
                                          <p:attrName>style.visibility</p:attrName>
                                        </p:attrNameLst>
                                      </p:cBhvr>
                                      <p:to>
                                        <p:strVal val="visible"/>
                                      </p:to>
                                    </p:set>
                                    <p:animEffect transition="in" filter="slide(fromBottom)">
                                      <p:cBhvr>
                                        <p:cTn id="38" dur="500"/>
                                        <p:tgtEl>
                                          <p:spTgt spid="1137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iterate type="wd">
                                    <p:tmPct val="37000"/>
                                  </p:iterate>
                                  <p:childTnLst>
                                    <p:set>
                                      <p:cBhvr>
                                        <p:cTn id="42" dur="1" fill="hold">
                                          <p:stCondLst>
                                            <p:cond delay="0"/>
                                          </p:stCondLst>
                                        </p:cTn>
                                        <p:tgtEl>
                                          <p:spTgt spid="11361"/>
                                        </p:tgtEl>
                                        <p:attrNameLst>
                                          <p:attrName>style.visibility</p:attrName>
                                        </p:attrNameLst>
                                      </p:cBhvr>
                                      <p:to>
                                        <p:strVal val="visible"/>
                                      </p:to>
                                    </p:set>
                                    <p:animEffect transition="in" filter="wipe(left)">
                                      <p:cBhvr>
                                        <p:cTn id="43" dur="500"/>
                                        <p:tgtEl>
                                          <p:spTgt spid="11361"/>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11362"/>
                                        </p:tgtEl>
                                        <p:attrNameLst>
                                          <p:attrName>style.visibility</p:attrName>
                                        </p:attrNameLst>
                                      </p:cBhvr>
                                      <p:to>
                                        <p:strVal val="visible"/>
                                      </p:to>
                                    </p:set>
                                    <p:anim calcmode="lin" valueType="num">
                                      <p:cBhvr>
                                        <p:cTn id="48" dur="500" fill="hold"/>
                                        <p:tgtEl>
                                          <p:spTgt spid="11362"/>
                                        </p:tgtEl>
                                        <p:attrNameLst>
                                          <p:attrName>ppt_w</p:attrName>
                                        </p:attrNameLst>
                                      </p:cBhvr>
                                      <p:tavLst>
                                        <p:tav tm="0">
                                          <p:val>
                                            <p:fltVal val="0"/>
                                          </p:val>
                                        </p:tav>
                                        <p:tav tm="100000">
                                          <p:val>
                                            <p:strVal val="#ppt_w"/>
                                          </p:val>
                                        </p:tav>
                                      </p:tavLst>
                                    </p:anim>
                                    <p:anim calcmode="lin" valueType="num">
                                      <p:cBhvr>
                                        <p:cTn id="49" dur="500" fill="hold"/>
                                        <p:tgtEl>
                                          <p:spTgt spid="11362"/>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nodeType="clickEffect">
                                  <p:stCondLst>
                                    <p:cond delay="0"/>
                                  </p:stCondLst>
                                  <p:childTnLst>
                                    <p:set>
                                      <p:cBhvr>
                                        <p:cTn id="53" dur="1" fill="hold">
                                          <p:stCondLst>
                                            <p:cond delay="0"/>
                                          </p:stCondLst>
                                        </p:cTn>
                                        <p:tgtEl>
                                          <p:spTgt spid="11379"/>
                                        </p:tgtEl>
                                        <p:attrNameLst>
                                          <p:attrName>style.visibility</p:attrName>
                                        </p:attrNameLst>
                                      </p:cBhvr>
                                      <p:to>
                                        <p:strVal val="visible"/>
                                      </p:to>
                                    </p:set>
                                    <p:anim calcmode="lin" valueType="num">
                                      <p:cBhvr>
                                        <p:cTn id="54" dur="500" fill="hold"/>
                                        <p:tgtEl>
                                          <p:spTgt spid="11379"/>
                                        </p:tgtEl>
                                        <p:attrNameLst>
                                          <p:attrName>ppt_w</p:attrName>
                                        </p:attrNameLst>
                                      </p:cBhvr>
                                      <p:tavLst>
                                        <p:tav tm="0">
                                          <p:val>
                                            <p:fltVal val="0"/>
                                          </p:val>
                                        </p:tav>
                                        <p:tav tm="100000">
                                          <p:val>
                                            <p:strVal val="#ppt_w"/>
                                          </p:val>
                                        </p:tav>
                                      </p:tavLst>
                                    </p:anim>
                                    <p:anim calcmode="lin" valueType="num">
                                      <p:cBhvr>
                                        <p:cTn id="55" dur="500" fill="hold"/>
                                        <p:tgtEl>
                                          <p:spTgt spid="11379"/>
                                        </p:tgtEl>
                                        <p:attrNameLst>
                                          <p:attrName>ppt_h</p:attrName>
                                        </p:attrNameLst>
                                      </p:cBhvr>
                                      <p:tavLst>
                                        <p:tav tm="0">
                                          <p:val>
                                            <p:fltVal val="0"/>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2" fill="hold" grpId="0" nodeType="clickEffect">
                                  <p:stCondLst>
                                    <p:cond delay="0"/>
                                  </p:stCondLst>
                                  <p:childTnLst>
                                    <p:set>
                                      <p:cBhvr>
                                        <p:cTn id="59" dur="1" fill="hold">
                                          <p:stCondLst>
                                            <p:cond delay="0"/>
                                          </p:stCondLst>
                                        </p:cTn>
                                        <p:tgtEl>
                                          <p:spTgt spid="11376"/>
                                        </p:tgtEl>
                                        <p:attrNameLst>
                                          <p:attrName>style.visibility</p:attrName>
                                        </p:attrNameLst>
                                      </p:cBhvr>
                                      <p:to>
                                        <p:strVal val="visible"/>
                                      </p:to>
                                    </p:set>
                                    <p:animEffect transition="in" filter="wipe(right)">
                                      <p:cBhvr>
                                        <p:cTn id="60" dur="500"/>
                                        <p:tgtEl>
                                          <p:spTgt spid="1137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2" presetClass="entr" presetSubtype="4" fill="hold" grpId="0" nodeType="clickEffect">
                                  <p:stCondLst>
                                    <p:cond delay="0"/>
                                  </p:stCondLst>
                                  <p:childTnLst>
                                    <p:set>
                                      <p:cBhvr>
                                        <p:cTn id="64" dur="1" fill="hold">
                                          <p:stCondLst>
                                            <p:cond delay="0"/>
                                          </p:stCondLst>
                                        </p:cTn>
                                        <p:tgtEl>
                                          <p:spTgt spid="11370"/>
                                        </p:tgtEl>
                                        <p:attrNameLst>
                                          <p:attrName>style.visibility</p:attrName>
                                        </p:attrNameLst>
                                      </p:cBhvr>
                                      <p:to>
                                        <p:strVal val="visible"/>
                                      </p:to>
                                    </p:set>
                                    <p:animEffect transition="in" filter="slide(fromBottom)">
                                      <p:cBhvr>
                                        <p:cTn id="65" dur="500"/>
                                        <p:tgtEl>
                                          <p:spTgt spid="11370"/>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1382"/>
                                        </p:tgtEl>
                                        <p:attrNameLst>
                                          <p:attrName>style.visibility</p:attrName>
                                        </p:attrNameLst>
                                      </p:cBhvr>
                                      <p:to>
                                        <p:strVal val="visible"/>
                                      </p:to>
                                    </p:set>
                                    <p:anim calcmode="lin" valueType="num">
                                      <p:cBhvr additive="base">
                                        <p:cTn id="70" dur="500" fill="hold"/>
                                        <p:tgtEl>
                                          <p:spTgt spid="11382"/>
                                        </p:tgtEl>
                                        <p:attrNameLst>
                                          <p:attrName>ppt_x</p:attrName>
                                        </p:attrNameLst>
                                      </p:cBhvr>
                                      <p:tavLst>
                                        <p:tav tm="0">
                                          <p:val>
                                            <p:strVal val="#ppt_x"/>
                                          </p:val>
                                        </p:tav>
                                        <p:tav tm="100000">
                                          <p:val>
                                            <p:strVal val="#ppt_x"/>
                                          </p:val>
                                        </p:tav>
                                      </p:tavLst>
                                    </p:anim>
                                    <p:anim calcmode="lin" valueType="num">
                                      <p:cBhvr additive="base">
                                        <p:cTn id="71" dur="500" fill="hold"/>
                                        <p:tgtEl>
                                          <p:spTgt spid="11382"/>
                                        </p:tgtEl>
                                        <p:attrNameLst>
                                          <p:attrName>ppt_y</p:attrName>
                                        </p:attrNameLst>
                                      </p:cBhvr>
                                      <p:tavLst>
                                        <p:tav tm="0">
                                          <p:val>
                                            <p:strVal val="1+#ppt_h/2"/>
                                          </p:val>
                                        </p:tav>
                                        <p:tav tm="100000">
                                          <p:val>
                                            <p:strVal val="#ppt_y"/>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12" presetClass="entr" presetSubtype="4" fill="hold" nodeType="click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slide(fromBottom)">
                                      <p:cBhvr>
                                        <p:cTn id="76" dur="500"/>
                                        <p:tgtEl>
                                          <p:spTgt spid="3"/>
                                        </p:tgtEl>
                                      </p:cBhvr>
                                    </p:animEffect>
                                  </p:childTnLst>
                                </p:cTn>
                              </p:par>
                            </p:childTnLst>
                          </p:cTn>
                        </p:par>
                        <p:par>
                          <p:cTn id="77" fill="hold" nodeType="afterGroup">
                            <p:stCondLst>
                              <p:cond delay="500"/>
                            </p:stCondLst>
                            <p:childTnLst>
                              <p:par>
                                <p:cTn id="78" presetID="1" presetClass="entr" presetSubtype="0" fill="hold" nodeType="afterEffect">
                                  <p:stCondLst>
                                    <p:cond delay="0"/>
                                  </p:stCondLst>
                                  <p:childTnLst>
                                    <p:set>
                                      <p:cBhvr>
                                        <p:cTn id="79" dur="1" fill="hold">
                                          <p:stCondLst>
                                            <p:cond delay="499"/>
                                          </p:stCondLst>
                                        </p:cTn>
                                        <p:tgtEl>
                                          <p:spTgt spid="11375"/>
                                        </p:tgtEl>
                                        <p:attrNameLst>
                                          <p:attrName>style.visibility</p:attrName>
                                        </p:attrNameLst>
                                      </p:cBhvr>
                                      <p:to>
                                        <p:strVal val="visible"/>
                                      </p:to>
                                    </p:set>
                                  </p:childTnLst>
                                </p:cTn>
                              </p:par>
                            </p:childTnLst>
                          </p:cTn>
                        </p:par>
                        <p:par>
                          <p:cTn id="80" fill="hold" nodeType="afterGroup">
                            <p:stCondLst>
                              <p:cond delay="1000"/>
                            </p:stCondLst>
                            <p:childTnLst>
                              <p:par>
                                <p:cTn id="81" presetID="1" presetClass="entr" presetSubtype="0" fill="hold" nodeType="afterEffect">
                                  <p:stCondLst>
                                    <p:cond delay="0"/>
                                  </p:stCondLst>
                                  <p:childTnLst>
                                    <p:set>
                                      <p:cBhvr>
                                        <p:cTn id="82" dur="1" fill="hold">
                                          <p:stCondLst>
                                            <p:cond delay="499"/>
                                          </p:stCondLst>
                                        </p:cTn>
                                        <p:tgtEl>
                                          <p:spTgt spid="11374"/>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2" presetClass="entr" presetSubtype="4" fill="hold" grpId="0" nodeType="clickEffect">
                                  <p:stCondLst>
                                    <p:cond delay="0"/>
                                  </p:stCondLst>
                                  <p:childTnLst>
                                    <p:set>
                                      <p:cBhvr>
                                        <p:cTn id="86" dur="1" fill="hold">
                                          <p:stCondLst>
                                            <p:cond delay="0"/>
                                          </p:stCondLst>
                                        </p:cTn>
                                        <p:tgtEl>
                                          <p:spTgt spid="11378"/>
                                        </p:tgtEl>
                                        <p:attrNameLst>
                                          <p:attrName>style.visibility</p:attrName>
                                        </p:attrNameLst>
                                      </p:cBhvr>
                                      <p:to>
                                        <p:strVal val="visible"/>
                                      </p:to>
                                    </p:set>
                                    <p:animEffect transition="in" filter="slide(fromBottom)">
                                      <p:cBhvr>
                                        <p:cTn id="87" dur="500"/>
                                        <p:tgtEl>
                                          <p:spTgt spid="11378"/>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3" presetClass="entr" presetSubtype="16" fill="hold" nodeType="clickEffect">
                                  <p:stCondLst>
                                    <p:cond delay="0"/>
                                  </p:stCondLst>
                                  <p:childTnLst>
                                    <p:set>
                                      <p:cBhvr>
                                        <p:cTn id="91" dur="1" fill="hold">
                                          <p:stCondLst>
                                            <p:cond delay="0"/>
                                          </p:stCondLst>
                                        </p:cTn>
                                        <p:tgtEl>
                                          <p:spTgt spid="11371"/>
                                        </p:tgtEl>
                                        <p:attrNameLst>
                                          <p:attrName>style.visibility</p:attrName>
                                        </p:attrNameLst>
                                      </p:cBhvr>
                                      <p:to>
                                        <p:strVal val="visible"/>
                                      </p:to>
                                    </p:set>
                                    <p:anim calcmode="lin" valueType="num">
                                      <p:cBhvr>
                                        <p:cTn id="92" dur="500" fill="hold"/>
                                        <p:tgtEl>
                                          <p:spTgt spid="11371"/>
                                        </p:tgtEl>
                                        <p:attrNameLst>
                                          <p:attrName>ppt_w</p:attrName>
                                        </p:attrNameLst>
                                      </p:cBhvr>
                                      <p:tavLst>
                                        <p:tav tm="0">
                                          <p:val>
                                            <p:fltVal val="0"/>
                                          </p:val>
                                        </p:tav>
                                        <p:tav tm="100000">
                                          <p:val>
                                            <p:strVal val="#ppt_w"/>
                                          </p:val>
                                        </p:tav>
                                      </p:tavLst>
                                    </p:anim>
                                    <p:anim calcmode="lin" valueType="num">
                                      <p:cBhvr>
                                        <p:cTn id="93" dur="500" fill="hold"/>
                                        <p:tgtEl>
                                          <p:spTgt spid="11371"/>
                                        </p:tgtEl>
                                        <p:attrNameLst>
                                          <p:attrName>ppt_h</p:attrName>
                                        </p:attrNameLst>
                                      </p:cBhvr>
                                      <p:tavLst>
                                        <p:tav tm="0">
                                          <p:val>
                                            <p:fltVal val="0"/>
                                          </p:val>
                                        </p:tav>
                                        <p:tav tm="100000">
                                          <p:val>
                                            <p:strVal val="#ppt_h"/>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23" presetClass="entr" presetSubtype="16" fill="hold" nodeType="clickEffect">
                                  <p:stCondLst>
                                    <p:cond delay="0"/>
                                  </p:stCondLst>
                                  <p:childTnLst>
                                    <p:set>
                                      <p:cBhvr>
                                        <p:cTn id="97" dur="1" fill="hold">
                                          <p:stCondLst>
                                            <p:cond delay="0"/>
                                          </p:stCondLst>
                                        </p:cTn>
                                        <p:tgtEl>
                                          <p:spTgt spid="11380"/>
                                        </p:tgtEl>
                                        <p:attrNameLst>
                                          <p:attrName>style.visibility</p:attrName>
                                        </p:attrNameLst>
                                      </p:cBhvr>
                                      <p:to>
                                        <p:strVal val="visible"/>
                                      </p:to>
                                    </p:set>
                                    <p:anim calcmode="lin" valueType="num">
                                      <p:cBhvr>
                                        <p:cTn id="98" dur="500" fill="hold"/>
                                        <p:tgtEl>
                                          <p:spTgt spid="11380"/>
                                        </p:tgtEl>
                                        <p:attrNameLst>
                                          <p:attrName>ppt_w</p:attrName>
                                        </p:attrNameLst>
                                      </p:cBhvr>
                                      <p:tavLst>
                                        <p:tav tm="0">
                                          <p:val>
                                            <p:fltVal val="0"/>
                                          </p:val>
                                        </p:tav>
                                        <p:tav tm="100000">
                                          <p:val>
                                            <p:strVal val="#ppt_w"/>
                                          </p:val>
                                        </p:tav>
                                      </p:tavLst>
                                    </p:anim>
                                    <p:anim calcmode="lin" valueType="num">
                                      <p:cBhvr>
                                        <p:cTn id="99" dur="500" fill="hold"/>
                                        <p:tgtEl>
                                          <p:spTgt spid="11380"/>
                                        </p:tgtEl>
                                        <p:attrNameLst>
                                          <p:attrName>ppt_h</p:attrName>
                                        </p:attrNameLst>
                                      </p:cBhvr>
                                      <p:tavLst>
                                        <p:tav tm="0">
                                          <p:val>
                                            <p:fltVal val="0"/>
                                          </p:val>
                                        </p:tav>
                                        <p:tav tm="100000">
                                          <p:val>
                                            <p:strVal val="#ppt_h"/>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11383"/>
                                        </p:tgtEl>
                                        <p:attrNameLst>
                                          <p:attrName>style.visibility</p:attrName>
                                        </p:attrNameLst>
                                      </p:cBhvr>
                                      <p:to>
                                        <p:strVal val="visible"/>
                                      </p:to>
                                    </p:set>
                                    <p:animEffect transition="in" filter="wipe(left)">
                                      <p:cBhvr>
                                        <p:cTn id="104" dur="500"/>
                                        <p:tgtEl>
                                          <p:spTgt spid="11383"/>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grpId="0" nodeType="clickEffect">
                                  <p:stCondLst>
                                    <p:cond delay="0"/>
                                  </p:stCondLst>
                                  <p:iterate type="wd">
                                    <p:tmPct val="37000"/>
                                  </p:iterate>
                                  <p:childTnLst>
                                    <p:set>
                                      <p:cBhvr>
                                        <p:cTn id="108" dur="1" fill="hold">
                                          <p:stCondLst>
                                            <p:cond delay="0"/>
                                          </p:stCondLst>
                                        </p:cTn>
                                        <p:tgtEl>
                                          <p:spTgt spid="11418"/>
                                        </p:tgtEl>
                                        <p:attrNameLst>
                                          <p:attrName>style.visibility</p:attrName>
                                        </p:attrNameLst>
                                      </p:cBhvr>
                                      <p:to>
                                        <p:strVal val="visible"/>
                                      </p:to>
                                    </p:set>
                                    <p:animEffect transition="in" filter="wipe(left)">
                                      <p:cBhvr>
                                        <p:cTn id="109" dur="500"/>
                                        <p:tgtEl>
                                          <p:spTgt spid="11418"/>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2" presetClass="entr" presetSubtype="4" fill="hold" grpId="0" nodeType="clickEffect">
                                  <p:stCondLst>
                                    <p:cond delay="0"/>
                                  </p:stCondLst>
                                  <p:childTnLst>
                                    <p:set>
                                      <p:cBhvr>
                                        <p:cTn id="113" dur="1" fill="hold">
                                          <p:stCondLst>
                                            <p:cond delay="0"/>
                                          </p:stCondLst>
                                        </p:cTn>
                                        <p:tgtEl>
                                          <p:spTgt spid="11390"/>
                                        </p:tgtEl>
                                        <p:attrNameLst>
                                          <p:attrName>style.visibility</p:attrName>
                                        </p:attrNameLst>
                                      </p:cBhvr>
                                      <p:to>
                                        <p:strVal val="visible"/>
                                      </p:to>
                                    </p:set>
                                    <p:animEffect transition="in" filter="slide(fromBottom)">
                                      <p:cBhvr>
                                        <p:cTn id="114" dur="500"/>
                                        <p:tgtEl>
                                          <p:spTgt spid="11390"/>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2" presetClass="entr" presetSubtype="4" fill="hold" nodeType="clickEffect">
                                  <p:stCondLst>
                                    <p:cond delay="0"/>
                                  </p:stCondLst>
                                  <p:childTnLst>
                                    <p:set>
                                      <p:cBhvr>
                                        <p:cTn id="118" dur="1" fill="hold">
                                          <p:stCondLst>
                                            <p:cond delay="0"/>
                                          </p:stCondLst>
                                        </p:cTn>
                                        <p:tgtEl>
                                          <p:spTgt spid="4"/>
                                        </p:tgtEl>
                                        <p:attrNameLst>
                                          <p:attrName>style.visibility</p:attrName>
                                        </p:attrNameLst>
                                      </p:cBhvr>
                                      <p:to>
                                        <p:strVal val="visible"/>
                                      </p:to>
                                    </p:set>
                                    <p:animEffect transition="in" filter="slide(fromBottom)">
                                      <p:cBhvr>
                                        <p:cTn id="119" dur="500"/>
                                        <p:tgtEl>
                                          <p:spTgt spid="4"/>
                                        </p:tgtEl>
                                      </p:cBhvr>
                                    </p:animEffect>
                                  </p:childTnLst>
                                </p:cTn>
                              </p:par>
                            </p:childTnLst>
                          </p:cTn>
                        </p:par>
                        <p:par>
                          <p:cTn id="120" fill="hold" nodeType="afterGroup">
                            <p:stCondLst>
                              <p:cond delay="500"/>
                            </p:stCondLst>
                            <p:childTnLst>
                              <p:par>
                                <p:cTn id="121" presetID="1" presetClass="entr" presetSubtype="0" fill="hold" nodeType="afterEffect">
                                  <p:stCondLst>
                                    <p:cond delay="0"/>
                                  </p:stCondLst>
                                  <p:childTnLst>
                                    <p:set>
                                      <p:cBhvr>
                                        <p:cTn id="122" dur="1" fill="hold">
                                          <p:stCondLst>
                                            <p:cond delay="499"/>
                                          </p:stCondLst>
                                        </p:cTn>
                                        <p:tgtEl>
                                          <p:spTgt spid="11395"/>
                                        </p:tgtEl>
                                        <p:attrNameLst>
                                          <p:attrName>style.visibility</p:attrName>
                                        </p:attrNameLst>
                                      </p:cBhvr>
                                      <p:to>
                                        <p:strVal val="visible"/>
                                      </p:to>
                                    </p:set>
                                  </p:childTnLst>
                                </p:cTn>
                              </p:par>
                            </p:childTnLst>
                          </p:cTn>
                        </p:par>
                        <p:par>
                          <p:cTn id="123" fill="hold" nodeType="afterGroup">
                            <p:stCondLst>
                              <p:cond delay="1000"/>
                            </p:stCondLst>
                            <p:childTnLst>
                              <p:par>
                                <p:cTn id="124" presetID="1" presetClass="entr" presetSubtype="0" fill="hold" nodeType="afterEffect">
                                  <p:stCondLst>
                                    <p:cond delay="0"/>
                                  </p:stCondLst>
                                  <p:childTnLst>
                                    <p:set>
                                      <p:cBhvr>
                                        <p:cTn id="125" dur="1" fill="hold">
                                          <p:stCondLst>
                                            <p:cond delay="499"/>
                                          </p:stCondLst>
                                        </p:cTn>
                                        <p:tgtEl>
                                          <p:spTgt spid="11397"/>
                                        </p:tgtEl>
                                        <p:attrNameLst>
                                          <p:attrName>style.visibility</p:attrName>
                                        </p:attrNameLst>
                                      </p:cBhvr>
                                      <p:to>
                                        <p:strVal val="visible"/>
                                      </p:to>
                                    </p:se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2" fill="hold" grpId="0" nodeType="clickEffect">
                                  <p:stCondLst>
                                    <p:cond delay="0"/>
                                  </p:stCondLst>
                                  <p:childTnLst>
                                    <p:set>
                                      <p:cBhvr>
                                        <p:cTn id="129" dur="1" fill="hold">
                                          <p:stCondLst>
                                            <p:cond delay="0"/>
                                          </p:stCondLst>
                                        </p:cTn>
                                        <p:tgtEl>
                                          <p:spTgt spid="11419"/>
                                        </p:tgtEl>
                                        <p:attrNameLst>
                                          <p:attrName>style.visibility</p:attrName>
                                        </p:attrNameLst>
                                      </p:cBhvr>
                                      <p:to>
                                        <p:strVal val="visible"/>
                                      </p:to>
                                    </p:set>
                                    <p:animEffect transition="in" filter="wipe(right)">
                                      <p:cBhvr>
                                        <p:cTn id="130" dur="500"/>
                                        <p:tgtEl>
                                          <p:spTgt spid="11419"/>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nodeType="clickEffect">
                                  <p:stCondLst>
                                    <p:cond delay="0"/>
                                  </p:stCondLst>
                                  <p:childTnLst>
                                    <p:set>
                                      <p:cBhvr>
                                        <p:cTn id="134" dur="1" fill="hold">
                                          <p:stCondLst>
                                            <p:cond delay="0"/>
                                          </p:stCondLst>
                                        </p:cTn>
                                        <p:tgtEl>
                                          <p:spTgt spid="6"/>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xit" presetSubtype="0" fill="hold" nodeType="clickEffect">
                                  <p:stCondLst>
                                    <p:cond delay="0"/>
                                  </p:stCondLst>
                                  <p:childTnLst>
                                    <p:set>
                                      <p:cBhvr>
                                        <p:cTn id="138" dur="1" fill="hold">
                                          <p:stCondLst>
                                            <p:cond delay="0"/>
                                          </p:stCondLst>
                                        </p:cTn>
                                        <p:tgtEl>
                                          <p:spTgt spid="6"/>
                                        </p:tgtEl>
                                        <p:attrNameLst>
                                          <p:attrName>style.visibility</p:attrName>
                                        </p:attrNameLst>
                                      </p:cBhvr>
                                      <p:to>
                                        <p:strVal val="hidden"/>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2" presetClass="entr" presetSubtype="1" fill="hold" grpId="0" nodeType="clickEffect">
                                  <p:stCondLst>
                                    <p:cond delay="0"/>
                                  </p:stCondLst>
                                  <p:childTnLst>
                                    <p:set>
                                      <p:cBhvr>
                                        <p:cTn id="142" dur="1" fill="hold">
                                          <p:stCondLst>
                                            <p:cond delay="0"/>
                                          </p:stCondLst>
                                        </p:cTn>
                                        <p:tgtEl>
                                          <p:spTgt spid="11398"/>
                                        </p:tgtEl>
                                        <p:attrNameLst>
                                          <p:attrName>style.visibility</p:attrName>
                                        </p:attrNameLst>
                                      </p:cBhvr>
                                      <p:to>
                                        <p:strVal val="visible"/>
                                      </p:to>
                                    </p:set>
                                    <p:animEffect transition="in" filter="slide(fromTop)">
                                      <p:cBhvr>
                                        <p:cTn id="143" dur="500"/>
                                        <p:tgtEl>
                                          <p:spTgt spid="11398"/>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3" presetClass="entr" presetSubtype="16" fill="hold" nodeType="clickEffect">
                                  <p:stCondLst>
                                    <p:cond delay="0"/>
                                  </p:stCondLst>
                                  <p:childTnLst>
                                    <p:set>
                                      <p:cBhvr>
                                        <p:cTn id="147" dur="1" fill="hold">
                                          <p:stCondLst>
                                            <p:cond delay="0"/>
                                          </p:stCondLst>
                                        </p:cTn>
                                        <p:tgtEl>
                                          <p:spTgt spid="11393"/>
                                        </p:tgtEl>
                                        <p:attrNameLst>
                                          <p:attrName>style.visibility</p:attrName>
                                        </p:attrNameLst>
                                      </p:cBhvr>
                                      <p:to>
                                        <p:strVal val="visible"/>
                                      </p:to>
                                    </p:set>
                                    <p:anim calcmode="lin" valueType="num">
                                      <p:cBhvr>
                                        <p:cTn id="148" dur="500" fill="hold"/>
                                        <p:tgtEl>
                                          <p:spTgt spid="11393"/>
                                        </p:tgtEl>
                                        <p:attrNameLst>
                                          <p:attrName>ppt_w</p:attrName>
                                        </p:attrNameLst>
                                      </p:cBhvr>
                                      <p:tavLst>
                                        <p:tav tm="0">
                                          <p:val>
                                            <p:fltVal val="0"/>
                                          </p:val>
                                        </p:tav>
                                        <p:tav tm="100000">
                                          <p:val>
                                            <p:strVal val="#ppt_w"/>
                                          </p:val>
                                        </p:tav>
                                      </p:tavLst>
                                    </p:anim>
                                    <p:anim calcmode="lin" valueType="num">
                                      <p:cBhvr>
                                        <p:cTn id="149" dur="500" fill="hold"/>
                                        <p:tgtEl>
                                          <p:spTgt spid="11393"/>
                                        </p:tgtEl>
                                        <p:attrNameLst>
                                          <p:attrName>ppt_h</p:attrName>
                                        </p:attrNameLst>
                                      </p:cBhvr>
                                      <p:tavLst>
                                        <p:tav tm="0">
                                          <p:val>
                                            <p:fltVal val="0"/>
                                          </p:val>
                                        </p:tav>
                                        <p:tav tm="100000">
                                          <p:val>
                                            <p:strVal val="#ppt_h"/>
                                          </p:val>
                                        </p:tav>
                                      </p:tavLst>
                                    </p:anim>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11400"/>
                                        </p:tgtEl>
                                        <p:attrNameLst>
                                          <p:attrName>style.visibility</p:attrName>
                                        </p:attrNameLst>
                                      </p:cBhvr>
                                      <p:to>
                                        <p:strVal val="visible"/>
                                      </p:to>
                                    </p:set>
                                    <p:animEffect transition="in" filter="wipe(left)">
                                      <p:cBhvr>
                                        <p:cTn id="154" dur="500"/>
                                        <p:tgtEl>
                                          <p:spTgt spid="11400"/>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3" presetClass="entr" presetSubtype="16" fill="hold" nodeType="clickEffect">
                                  <p:stCondLst>
                                    <p:cond delay="0"/>
                                  </p:stCondLst>
                                  <p:childTnLst>
                                    <p:set>
                                      <p:cBhvr>
                                        <p:cTn id="158" dur="1" fill="hold">
                                          <p:stCondLst>
                                            <p:cond delay="0"/>
                                          </p:stCondLst>
                                        </p:cTn>
                                        <p:tgtEl>
                                          <p:spTgt spid="11417"/>
                                        </p:tgtEl>
                                        <p:attrNameLst>
                                          <p:attrName>style.visibility</p:attrName>
                                        </p:attrNameLst>
                                      </p:cBhvr>
                                      <p:to>
                                        <p:strVal val="visible"/>
                                      </p:to>
                                    </p:set>
                                    <p:anim calcmode="lin" valueType="num">
                                      <p:cBhvr>
                                        <p:cTn id="159" dur="500" fill="hold"/>
                                        <p:tgtEl>
                                          <p:spTgt spid="11417"/>
                                        </p:tgtEl>
                                        <p:attrNameLst>
                                          <p:attrName>ppt_w</p:attrName>
                                        </p:attrNameLst>
                                      </p:cBhvr>
                                      <p:tavLst>
                                        <p:tav tm="0">
                                          <p:val>
                                            <p:fltVal val="0"/>
                                          </p:val>
                                        </p:tav>
                                        <p:tav tm="100000">
                                          <p:val>
                                            <p:strVal val="#ppt_w"/>
                                          </p:val>
                                        </p:tav>
                                      </p:tavLst>
                                    </p:anim>
                                    <p:anim calcmode="lin" valueType="num">
                                      <p:cBhvr>
                                        <p:cTn id="160" dur="500" fill="hold"/>
                                        <p:tgtEl>
                                          <p:spTgt spid="11417"/>
                                        </p:tgtEl>
                                        <p:attrNameLst>
                                          <p:attrName>ppt_h</p:attrName>
                                        </p:attrNameLst>
                                      </p:cBhvr>
                                      <p:tavLst>
                                        <p:tav tm="0">
                                          <p:val>
                                            <p:fltVal val="0"/>
                                          </p:val>
                                        </p:tav>
                                        <p:tav tm="100000">
                                          <p:val>
                                            <p:strVal val="#ppt_h"/>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2" presetClass="entr" presetSubtype="4" fill="hold" grpId="0" nodeType="clickEffect">
                                  <p:stCondLst>
                                    <p:cond delay="0"/>
                                  </p:stCondLst>
                                  <p:childTnLst>
                                    <p:set>
                                      <p:cBhvr>
                                        <p:cTn id="164" dur="1" fill="hold">
                                          <p:stCondLst>
                                            <p:cond delay="0"/>
                                          </p:stCondLst>
                                        </p:cTn>
                                        <p:tgtEl>
                                          <p:spTgt spid="11391"/>
                                        </p:tgtEl>
                                        <p:attrNameLst>
                                          <p:attrName>style.visibility</p:attrName>
                                        </p:attrNameLst>
                                      </p:cBhvr>
                                      <p:to>
                                        <p:strVal val="visible"/>
                                      </p:to>
                                    </p:set>
                                    <p:animEffect transition="in" filter="slide(fromBottom)">
                                      <p:cBhvr>
                                        <p:cTn id="165" dur="500"/>
                                        <p:tgtEl>
                                          <p:spTgt spid="11391"/>
                                        </p:tgtEl>
                                      </p:cBhvr>
                                    </p:animEffect>
                                  </p:childTnLst>
                                </p:cTn>
                              </p:par>
                            </p:childTnLst>
                          </p:cTn>
                        </p:par>
                      </p:childTnLst>
                    </p:cTn>
                  </p:par>
                  <p:par>
                    <p:cTn id="166" fill="hold" nodeType="clickPar">
                      <p:stCondLst>
                        <p:cond delay="indefinite"/>
                      </p:stCondLst>
                      <p:childTnLst>
                        <p:par>
                          <p:cTn id="167" fill="hold" nodeType="withGroup">
                            <p:stCondLst>
                              <p:cond delay="0"/>
                            </p:stCondLst>
                            <p:childTnLst>
                              <p:par>
                                <p:cTn id="168" presetID="12" presetClass="entr" presetSubtype="4" fill="hold" nodeType="clickEffect">
                                  <p:stCondLst>
                                    <p:cond delay="0"/>
                                  </p:stCondLst>
                                  <p:childTnLst>
                                    <p:set>
                                      <p:cBhvr>
                                        <p:cTn id="169" dur="1" fill="hold">
                                          <p:stCondLst>
                                            <p:cond delay="0"/>
                                          </p:stCondLst>
                                        </p:cTn>
                                        <p:tgtEl>
                                          <p:spTgt spid="5"/>
                                        </p:tgtEl>
                                        <p:attrNameLst>
                                          <p:attrName>style.visibility</p:attrName>
                                        </p:attrNameLst>
                                      </p:cBhvr>
                                      <p:to>
                                        <p:strVal val="visible"/>
                                      </p:to>
                                    </p:set>
                                    <p:animEffect transition="in" filter="slide(fromBottom)">
                                      <p:cBhvr>
                                        <p:cTn id="170" dur="500"/>
                                        <p:tgtEl>
                                          <p:spTgt spid="5"/>
                                        </p:tgtEl>
                                      </p:cBhvr>
                                    </p:animEffect>
                                  </p:childTnLst>
                                </p:cTn>
                              </p:par>
                            </p:childTnLst>
                          </p:cTn>
                        </p:par>
                        <p:par>
                          <p:cTn id="171" fill="hold" nodeType="afterGroup">
                            <p:stCondLst>
                              <p:cond delay="500"/>
                            </p:stCondLst>
                            <p:childTnLst>
                              <p:par>
                                <p:cTn id="172" presetID="1" presetClass="entr" presetSubtype="0" fill="hold" nodeType="afterEffect">
                                  <p:stCondLst>
                                    <p:cond delay="0"/>
                                  </p:stCondLst>
                                  <p:childTnLst>
                                    <p:set>
                                      <p:cBhvr>
                                        <p:cTn id="173" dur="1" fill="hold">
                                          <p:stCondLst>
                                            <p:cond delay="499"/>
                                          </p:stCondLst>
                                        </p:cTn>
                                        <p:tgtEl>
                                          <p:spTgt spid="11396"/>
                                        </p:tgtEl>
                                        <p:attrNameLst>
                                          <p:attrName>style.visibility</p:attrName>
                                        </p:attrNameLst>
                                      </p:cBhvr>
                                      <p:to>
                                        <p:strVal val="visible"/>
                                      </p:to>
                                    </p:set>
                                  </p:childTnLst>
                                </p:cTn>
                              </p:par>
                            </p:childTnLst>
                          </p:cTn>
                        </p:par>
                        <p:par>
                          <p:cTn id="174" fill="hold" nodeType="afterGroup">
                            <p:stCondLst>
                              <p:cond delay="1000"/>
                            </p:stCondLst>
                            <p:childTnLst>
                              <p:par>
                                <p:cTn id="175" presetID="1" presetClass="entr" presetSubtype="0" fill="hold" nodeType="afterEffect">
                                  <p:stCondLst>
                                    <p:cond delay="0"/>
                                  </p:stCondLst>
                                  <p:childTnLst>
                                    <p:set>
                                      <p:cBhvr>
                                        <p:cTn id="176" dur="1" fill="hold">
                                          <p:stCondLst>
                                            <p:cond delay="499"/>
                                          </p:stCondLst>
                                        </p:cTn>
                                        <p:tgtEl>
                                          <p:spTgt spid="11394"/>
                                        </p:tgtEl>
                                        <p:attrNameLst>
                                          <p:attrName>style.visibility</p:attrName>
                                        </p:attrNameLst>
                                      </p:cBhvr>
                                      <p:to>
                                        <p:strVal val="visible"/>
                                      </p:to>
                                    </p:set>
                                  </p:childTnLst>
                                </p:cTn>
                              </p:par>
                            </p:childTnLst>
                          </p:cTn>
                        </p:par>
                      </p:childTnLst>
                    </p:cTn>
                  </p:par>
                  <p:par>
                    <p:cTn id="177" fill="hold" nodeType="clickPar">
                      <p:stCondLst>
                        <p:cond delay="indefinite"/>
                      </p:stCondLst>
                      <p:childTnLst>
                        <p:par>
                          <p:cTn id="178" fill="hold" nodeType="withGroup">
                            <p:stCondLst>
                              <p:cond delay="0"/>
                            </p:stCondLst>
                            <p:childTnLst>
                              <p:par>
                                <p:cTn id="179" presetID="22" presetClass="entr" presetSubtype="2" fill="hold" grpId="0" nodeType="clickEffect">
                                  <p:stCondLst>
                                    <p:cond delay="0"/>
                                  </p:stCondLst>
                                  <p:childTnLst>
                                    <p:set>
                                      <p:cBhvr>
                                        <p:cTn id="180" dur="1" fill="hold">
                                          <p:stCondLst>
                                            <p:cond delay="0"/>
                                          </p:stCondLst>
                                        </p:cTn>
                                        <p:tgtEl>
                                          <p:spTgt spid="11420"/>
                                        </p:tgtEl>
                                        <p:attrNameLst>
                                          <p:attrName>style.visibility</p:attrName>
                                        </p:attrNameLst>
                                      </p:cBhvr>
                                      <p:to>
                                        <p:strVal val="visible"/>
                                      </p:to>
                                    </p:set>
                                    <p:animEffect transition="in" filter="wipe(right)">
                                      <p:cBhvr>
                                        <p:cTn id="181" dur="500"/>
                                        <p:tgtEl>
                                          <p:spTgt spid="11420"/>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1" presetClass="entr" presetSubtype="0" fill="hold" nodeType="clickEffect">
                                  <p:stCondLst>
                                    <p:cond delay="0"/>
                                  </p:stCondLst>
                                  <p:childTnLst>
                                    <p:set>
                                      <p:cBhvr>
                                        <p:cTn id="185" dur="1" fill="hold">
                                          <p:stCondLst>
                                            <p:cond delay="0"/>
                                          </p:stCondLst>
                                        </p:cTn>
                                        <p:tgtEl>
                                          <p:spTgt spid="7"/>
                                        </p:tgtEl>
                                        <p:attrNameLst>
                                          <p:attrName>style.visibility</p:attrName>
                                        </p:attrNameLst>
                                      </p:cBhvr>
                                      <p:to>
                                        <p:strVal val="visible"/>
                                      </p:to>
                                    </p:set>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 presetClass="exit" presetSubtype="0" fill="hold" nodeType="clickEffect">
                                  <p:stCondLst>
                                    <p:cond delay="0"/>
                                  </p:stCondLst>
                                  <p:childTnLst>
                                    <p:set>
                                      <p:cBhvr>
                                        <p:cTn id="189" dur="1" fill="hold">
                                          <p:stCondLst>
                                            <p:cond delay="0"/>
                                          </p:stCondLst>
                                        </p:cTn>
                                        <p:tgtEl>
                                          <p:spTgt spid="7"/>
                                        </p:tgtEl>
                                        <p:attrNameLst>
                                          <p:attrName>style.visibility</p:attrName>
                                        </p:attrNameLst>
                                      </p:cBhvr>
                                      <p:to>
                                        <p:strVal val="hidden"/>
                                      </p:to>
                                    </p:se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12" presetClass="entr" presetSubtype="1" fill="hold" grpId="0" nodeType="clickEffect">
                                  <p:stCondLst>
                                    <p:cond delay="0"/>
                                  </p:stCondLst>
                                  <p:childTnLst>
                                    <p:set>
                                      <p:cBhvr>
                                        <p:cTn id="193" dur="1" fill="hold">
                                          <p:stCondLst>
                                            <p:cond delay="0"/>
                                          </p:stCondLst>
                                        </p:cTn>
                                        <p:tgtEl>
                                          <p:spTgt spid="11399"/>
                                        </p:tgtEl>
                                        <p:attrNameLst>
                                          <p:attrName>style.visibility</p:attrName>
                                        </p:attrNameLst>
                                      </p:cBhvr>
                                      <p:to>
                                        <p:strVal val="visible"/>
                                      </p:to>
                                    </p:set>
                                    <p:animEffect transition="in" filter="slide(fromTop)">
                                      <p:cBhvr>
                                        <p:cTn id="194" dur="500"/>
                                        <p:tgtEl>
                                          <p:spTgt spid="11399"/>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3" presetClass="entr" presetSubtype="16" fill="hold" nodeType="clickEffect">
                                  <p:stCondLst>
                                    <p:cond delay="0"/>
                                  </p:stCondLst>
                                  <p:childTnLst>
                                    <p:set>
                                      <p:cBhvr>
                                        <p:cTn id="198" dur="1" fill="hold">
                                          <p:stCondLst>
                                            <p:cond delay="0"/>
                                          </p:stCondLst>
                                        </p:cTn>
                                        <p:tgtEl>
                                          <p:spTgt spid="11392"/>
                                        </p:tgtEl>
                                        <p:attrNameLst>
                                          <p:attrName>style.visibility</p:attrName>
                                        </p:attrNameLst>
                                      </p:cBhvr>
                                      <p:to>
                                        <p:strVal val="visible"/>
                                      </p:to>
                                    </p:set>
                                    <p:anim calcmode="lin" valueType="num">
                                      <p:cBhvr>
                                        <p:cTn id="199" dur="500" fill="hold"/>
                                        <p:tgtEl>
                                          <p:spTgt spid="11392"/>
                                        </p:tgtEl>
                                        <p:attrNameLst>
                                          <p:attrName>ppt_w</p:attrName>
                                        </p:attrNameLst>
                                      </p:cBhvr>
                                      <p:tavLst>
                                        <p:tav tm="0">
                                          <p:val>
                                            <p:fltVal val="0"/>
                                          </p:val>
                                        </p:tav>
                                        <p:tav tm="100000">
                                          <p:val>
                                            <p:strVal val="#ppt_w"/>
                                          </p:val>
                                        </p:tav>
                                      </p:tavLst>
                                    </p:anim>
                                    <p:anim calcmode="lin" valueType="num">
                                      <p:cBhvr>
                                        <p:cTn id="200" dur="500" fill="hold"/>
                                        <p:tgtEl>
                                          <p:spTgt spid="11392"/>
                                        </p:tgtEl>
                                        <p:attrNameLst>
                                          <p:attrName>ppt_h</p:attrName>
                                        </p:attrNameLst>
                                      </p:cBhvr>
                                      <p:tavLst>
                                        <p:tav tm="0">
                                          <p:val>
                                            <p:fltVal val="0"/>
                                          </p:val>
                                        </p:tav>
                                        <p:tav tm="100000">
                                          <p:val>
                                            <p:strVal val="#ppt_h"/>
                                          </p:val>
                                        </p:tav>
                                      </p:tavLst>
                                    </p:anim>
                                  </p:childTnLst>
                                </p:cTn>
                              </p:par>
                            </p:childTnLst>
                          </p:cTn>
                        </p:par>
                      </p:childTnLst>
                    </p:cTn>
                  </p:par>
                  <p:par>
                    <p:cTn id="201" fill="hold" nodeType="clickPar">
                      <p:stCondLst>
                        <p:cond delay="indefinite"/>
                      </p:stCondLst>
                      <p:childTnLst>
                        <p:par>
                          <p:cTn id="202" fill="hold" nodeType="withGroup">
                            <p:stCondLst>
                              <p:cond delay="0"/>
                            </p:stCondLst>
                            <p:childTnLst>
                              <p:par>
                                <p:cTn id="203" presetID="22" presetClass="entr" presetSubtype="2" fill="hold" grpId="0" nodeType="clickEffect">
                                  <p:stCondLst>
                                    <p:cond delay="0"/>
                                  </p:stCondLst>
                                  <p:childTnLst>
                                    <p:set>
                                      <p:cBhvr>
                                        <p:cTn id="204" dur="1" fill="hold">
                                          <p:stCondLst>
                                            <p:cond delay="0"/>
                                          </p:stCondLst>
                                        </p:cTn>
                                        <p:tgtEl>
                                          <p:spTgt spid="11401"/>
                                        </p:tgtEl>
                                        <p:attrNameLst>
                                          <p:attrName>style.visibility</p:attrName>
                                        </p:attrNameLst>
                                      </p:cBhvr>
                                      <p:to>
                                        <p:strVal val="visible"/>
                                      </p:to>
                                    </p:set>
                                    <p:animEffect transition="in" filter="wipe(right)">
                                      <p:cBhvr>
                                        <p:cTn id="205" dur="500"/>
                                        <p:tgtEl>
                                          <p:spTgt spid="11401"/>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23" presetClass="entr" presetSubtype="16" fill="hold" nodeType="clickEffect">
                                  <p:stCondLst>
                                    <p:cond delay="0"/>
                                  </p:stCondLst>
                                  <p:childTnLst>
                                    <p:set>
                                      <p:cBhvr>
                                        <p:cTn id="209" dur="1" fill="hold">
                                          <p:stCondLst>
                                            <p:cond delay="0"/>
                                          </p:stCondLst>
                                        </p:cTn>
                                        <p:tgtEl>
                                          <p:spTgt spid="11416"/>
                                        </p:tgtEl>
                                        <p:attrNameLst>
                                          <p:attrName>style.visibility</p:attrName>
                                        </p:attrNameLst>
                                      </p:cBhvr>
                                      <p:to>
                                        <p:strVal val="visible"/>
                                      </p:to>
                                    </p:set>
                                    <p:anim calcmode="lin" valueType="num">
                                      <p:cBhvr>
                                        <p:cTn id="210" dur="500" fill="hold"/>
                                        <p:tgtEl>
                                          <p:spTgt spid="11416"/>
                                        </p:tgtEl>
                                        <p:attrNameLst>
                                          <p:attrName>ppt_w</p:attrName>
                                        </p:attrNameLst>
                                      </p:cBhvr>
                                      <p:tavLst>
                                        <p:tav tm="0">
                                          <p:val>
                                            <p:fltVal val="0"/>
                                          </p:val>
                                        </p:tav>
                                        <p:tav tm="100000">
                                          <p:val>
                                            <p:strVal val="#ppt_w"/>
                                          </p:val>
                                        </p:tav>
                                      </p:tavLst>
                                    </p:anim>
                                    <p:anim calcmode="lin" valueType="num">
                                      <p:cBhvr>
                                        <p:cTn id="211" dur="500" fill="hold"/>
                                        <p:tgtEl>
                                          <p:spTgt spid="114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59" grpId="0"/>
      <p:bldP spid="11360" grpId="0" autoUpdateAnimBg="0"/>
      <p:bldP spid="11361" grpId="0" autoUpdateAnimBg="0"/>
      <p:bldP spid="11369" grpId="0" animBg="1"/>
      <p:bldP spid="11370" grpId="0" animBg="1"/>
      <p:bldP spid="11376" grpId="0" animBg="1"/>
      <p:bldP spid="11377" grpId="0" animBg="1"/>
      <p:bldP spid="11378" grpId="0" animBg="1"/>
      <p:bldP spid="11381" grpId="0" animBg="1"/>
      <p:bldP spid="11382" grpId="0" animBg="1"/>
      <p:bldP spid="11383" grpId="0" animBg="1"/>
      <p:bldP spid="11390" grpId="0" animBg="1"/>
      <p:bldP spid="11391" grpId="0" animBg="1"/>
      <p:bldP spid="11398" grpId="0" animBg="1"/>
      <p:bldP spid="11399" grpId="0" animBg="1"/>
      <p:bldP spid="11400" grpId="0" animBg="1"/>
      <p:bldP spid="11401" grpId="0" animBg="1"/>
      <p:bldP spid="11418" grpId="0" autoUpdateAnimBg="0"/>
      <p:bldP spid="11419" grpId="0" animBg="1"/>
      <p:bldP spid="114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a:spLocks noChangeArrowheads="1"/>
          </p:cNvSpPr>
          <p:nvPr/>
        </p:nvSpPr>
        <p:spPr bwMode="auto">
          <a:xfrm>
            <a:off x="177800" y="423863"/>
            <a:ext cx="568325" cy="585787"/>
          </a:xfrm>
          <a:prstGeom prst="rect">
            <a:avLst/>
          </a:prstGeom>
          <a:noFill/>
          <a:ln w="9525" algn="ctr">
            <a:noFill/>
            <a:miter lim="800000"/>
            <a:headEnd/>
            <a:tailEnd/>
          </a:ln>
        </p:spPr>
        <p:txBody>
          <a:bodyPr tIns="82800" bIns="82800">
            <a:spAutoFit/>
          </a:bodyPr>
          <a:lstStyle/>
          <a:p>
            <a:pPr algn="just" eaLnBrk="0" hangingPunct="0">
              <a:lnSpc>
                <a:spcPct val="115000"/>
              </a:lnSpc>
            </a:pPr>
            <a:r>
              <a:rPr kumimoji="1" lang="zh-CN" altLang="en-US" sz="2400" b="1">
                <a:solidFill>
                  <a:srgbClr val="FF0000"/>
                </a:solidFill>
                <a:latin typeface="Times New Roman" pitchFamily="18" charset="0"/>
              </a:rPr>
              <a:t>例</a:t>
            </a:r>
          </a:p>
        </p:txBody>
      </p:sp>
      <p:sp>
        <p:nvSpPr>
          <p:cNvPr id="55299" name="Text Box 3"/>
          <p:cNvSpPr txBox="1">
            <a:spLocks noChangeArrowheads="1"/>
          </p:cNvSpPr>
          <p:nvPr/>
        </p:nvSpPr>
        <p:spPr bwMode="auto">
          <a:xfrm>
            <a:off x="657225" y="500063"/>
            <a:ext cx="8145463" cy="1354137"/>
          </a:xfrm>
          <a:prstGeom prst="rect">
            <a:avLst/>
          </a:prstGeom>
          <a:noFill/>
          <a:ln w="9525">
            <a:noFill/>
            <a:miter lim="800000"/>
            <a:headEnd/>
            <a:tailEnd/>
          </a:ln>
        </p:spPr>
        <p:txBody>
          <a:bodyPr>
            <a:spAutoFit/>
          </a:bodyPr>
          <a:lstStyle/>
          <a:p>
            <a:pPr algn="l">
              <a:lnSpc>
                <a:spcPct val="115000"/>
              </a:lnSpc>
            </a:pPr>
            <a:r>
              <a:rPr lang="zh-CN" altLang="en-US" sz="2400" b="1">
                <a:latin typeface="Times New Roman" pitchFamily="18" charset="0"/>
              </a:rPr>
              <a:t>一铁心绕有线圈 </a:t>
            </a:r>
            <a:r>
              <a:rPr lang="en-US" altLang="zh-CN" sz="2400" b="1">
                <a:solidFill>
                  <a:srgbClr val="FF6600"/>
                </a:solidFill>
                <a:latin typeface="Times New Roman" pitchFamily="18" charset="0"/>
              </a:rPr>
              <a:t>100 </a:t>
            </a:r>
            <a:r>
              <a:rPr lang="zh-CN" altLang="en-US" sz="2400" b="1">
                <a:latin typeface="Times New Roman" pitchFamily="18" charset="0"/>
              </a:rPr>
              <a:t>匝，已知铁心中磁通量与时间的关系 </a:t>
            </a:r>
            <a:r>
              <a:rPr lang="zh-CN" altLang="en-US" sz="2400" b="1" i="1">
                <a:latin typeface="Symbol" pitchFamily="18" charset="2"/>
              </a:rPr>
              <a:t> </a:t>
            </a:r>
            <a:r>
              <a:rPr lang="en-US" altLang="zh-CN" sz="2400" b="1" i="1">
                <a:solidFill>
                  <a:srgbClr val="FF6600"/>
                </a:solidFill>
                <a:latin typeface="Symbol" pitchFamily="18" charset="2"/>
              </a:rPr>
              <a:t>f </a:t>
            </a:r>
            <a:r>
              <a:rPr lang="en-US" altLang="zh-CN" sz="2400" b="1">
                <a:solidFill>
                  <a:srgbClr val="FF6600"/>
                </a:solidFill>
                <a:latin typeface="Times New Roman" pitchFamily="18" charset="0"/>
              </a:rPr>
              <a:t>= 8.0×10</a:t>
            </a:r>
            <a:r>
              <a:rPr lang="zh-CN" altLang="en-US" sz="2400" b="1" baseline="30000">
                <a:solidFill>
                  <a:srgbClr val="FF6600"/>
                </a:solidFill>
                <a:latin typeface="Times New Roman" pitchFamily="18" charset="0"/>
              </a:rPr>
              <a:t>－</a:t>
            </a:r>
            <a:r>
              <a:rPr lang="en-US" altLang="zh-CN" sz="2400" b="1" baseline="30000">
                <a:solidFill>
                  <a:srgbClr val="FF6600"/>
                </a:solidFill>
                <a:latin typeface="Times New Roman" pitchFamily="18" charset="0"/>
              </a:rPr>
              <a:t>5 </a:t>
            </a:r>
            <a:r>
              <a:rPr lang="en-US" altLang="zh-CN" sz="2400" b="1">
                <a:solidFill>
                  <a:srgbClr val="FF6600"/>
                </a:solidFill>
                <a:latin typeface="Times New Roman" pitchFamily="18" charset="0"/>
              </a:rPr>
              <a:t>sin100p</a:t>
            </a:r>
            <a:r>
              <a:rPr lang="en-US" altLang="zh-CN" sz="2400" b="1" i="1">
                <a:solidFill>
                  <a:srgbClr val="FF6600"/>
                </a:solidFill>
                <a:latin typeface="Times New Roman" pitchFamily="18" charset="0"/>
              </a:rPr>
              <a:t>t</a:t>
            </a:r>
            <a:r>
              <a:rPr lang="en-US" altLang="zh-CN" sz="2400" b="1" i="1">
                <a:solidFill>
                  <a:srgbClr val="FFFF00"/>
                </a:solidFill>
                <a:latin typeface="Times New Roman" pitchFamily="18" charset="0"/>
              </a:rPr>
              <a:t> </a:t>
            </a:r>
            <a:r>
              <a:rPr lang="zh-CN" altLang="en-US" sz="2400" b="1">
                <a:latin typeface="Times New Roman" pitchFamily="18" charset="0"/>
              </a:rPr>
              <a:t>，式中  </a:t>
            </a:r>
            <a:r>
              <a:rPr lang="en-US" altLang="zh-CN" sz="2400" b="1" i="1">
                <a:solidFill>
                  <a:srgbClr val="FF6600"/>
                </a:solidFill>
                <a:latin typeface="Symbol" pitchFamily="18" charset="2"/>
              </a:rPr>
              <a:t>f  </a:t>
            </a:r>
            <a:r>
              <a:rPr lang="zh-CN" altLang="en-US" sz="2400" b="1">
                <a:latin typeface="Times New Roman" pitchFamily="18" charset="0"/>
              </a:rPr>
              <a:t>的单位为</a:t>
            </a:r>
            <a:r>
              <a:rPr lang="zh-CN" altLang="en-US" sz="2400" b="1">
                <a:solidFill>
                  <a:srgbClr val="FF6600"/>
                </a:solidFill>
                <a:latin typeface="Times New Roman" pitchFamily="18" charset="0"/>
              </a:rPr>
              <a:t> </a:t>
            </a:r>
            <a:r>
              <a:rPr lang="en-US" altLang="zh-CN" sz="2400" b="1">
                <a:solidFill>
                  <a:srgbClr val="FF6600"/>
                </a:solidFill>
                <a:latin typeface="Times New Roman" pitchFamily="18" charset="0"/>
              </a:rPr>
              <a:t>Wb</a:t>
            </a:r>
            <a:r>
              <a:rPr lang="en-US" altLang="zh-CN" sz="2400" b="1">
                <a:solidFill>
                  <a:srgbClr val="FFFF00"/>
                </a:solidFill>
                <a:latin typeface="Times New Roman" pitchFamily="18" charset="0"/>
              </a:rPr>
              <a:t> </a:t>
            </a:r>
            <a:r>
              <a:rPr lang="zh-CN" altLang="en-US" sz="2400" b="1">
                <a:latin typeface="Times New Roman" pitchFamily="18" charset="0"/>
              </a:rPr>
              <a:t>，</a:t>
            </a:r>
            <a:r>
              <a:rPr lang="en-US" altLang="zh-CN" sz="2400" b="1" i="1">
                <a:solidFill>
                  <a:srgbClr val="FF6600"/>
                </a:solidFill>
                <a:latin typeface="Times New Roman" pitchFamily="18" charset="0"/>
              </a:rPr>
              <a:t>t  </a:t>
            </a:r>
            <a:r>
              <a:rPr lang="zh-CN" altLang="en-US" sz="2400" b="1">
                <a:latin typeface="Times New Roman" pitchFamily="18" charset="0"/>
              </a:rPr>
              <a:t>的单位为 </a:t>
            </a:r>
            <a:r>
              <a:rPr lang="en-US" altLang="zh-CN" sz="2400" b="1">
                <a:solidFill>
                  <a:srgbClr val="FF6600"/>
                </a:solidFill>
                <a:latin typeface="Times New Roman" pitchFamily="18" charset="0"/>
              </a:rPr>
              <a:t>s </a:t>
            </a:r>
            <a:r>
              <a:rPr lang="zh-CN" altLang="en-US" sz="2400" b="1">
                <a:latin typeface="Times New Roman" pitchFamily="18" charset="0"/>
              </a:rPr>
              <a:t>。</a:t>
            </a:r>
          </a:p>
        </p:txBody>
      </p:sp>
      <p:sp>
        <p:nvSpPr>
          <p:cNvPr id="55300" name="Text Box 4"/>
          <p:cNvSpPr txBox="1">
            <a:spLocks noChangeArrowheads="1"/>
          </p:cNvSpPr>
          <p:nvPr/>
        </p:nvSpPr>
        <p:spPr bwMode="auto">
          <a:xfrm>
            <a:off x="160338" y="1800225"/>
            <a:ext cx="855662" cy="549275"/>
          </a:xfrm>
          <a:prstGeom prst="rect">
            <a:avLst/>
          </a:prstGeom>
          <a:noFill/>
          <a:ln w="9525">
            <a:noFill/>
            <a:miter lim="800000"/>
            <a:headEnd/>
            <a:tailEnd/>
          </a:ln>
        </p:spPr>
        <p:txBody>
          <a:bodyPr>
            <a:spAutoFit/>
          </a:bodyPr>
          <a:lstStyle/>
          <a:p>
            <a:pPr algn="l">
              <a:lnSpc>
                <a:spcPct val="125000"/>
              </a:lnSpc>
            </a:pPr>
            <a:r>
              <a:rPr kumimoji="1" lang="zh-CN" altLang="en-US" sz="2400" b="1">
                <a:solidFill>
                  <a:srgbClr val="FF0000"/>
                </a:solidFill>
                <a:latin typeface="Times New Roman" pitchFamily="18" charset="0"/>
              </a:rPr>
              <a:t>求</a:t>
            </a:r>
            <a:endParaRPr kumimoji="1" lang="zh-CN" altLang="en-US" sz="2400" b="1">
              <a:latin typeface="Times New Roman" pitchFamily="18" charset="0"/>
            </a:endParaRPr>
          </a:p>
        </p:txBody>
      </p:sp>
      <p:sp>
        <p:nvSpPr>
          <p:cNvPr id="55301" name="Text Box 5"/>
          <p:cNvSpPr txBox="1">
            <a:spLocks noChangeArrowheads="1"/>
          </p:cNvSpPr>
          <p:nvPr/>
        </p:nvSpPr>
        <p:spPr bwMode="auto">
          <a:xfrm>
            <a:off x="701675" y="1881188"/>
            <a:ext cx="7902575" cy="512762"/>
          </a:xfrm>
          <a:prstGeom prst="rect">
            <a:avLst/>
          </a:prstGeom>
          <a:noFill/>
          <a:ln w="9525">
            <a:noFill/>
            <a:miter lim="800000"/>
            <a:headEnd/>
            <a:tailEnd/>
          </a:ln>
        </p:spPr>
        <p:txBody>
          <a:bodyPr>
            <a:spAutoFit/>
          </a:bodyPr>
          <a:lstStyle/>
          <a:p>
            <a:pPr algn="l">
              <a:lnSpc>
                <a:spcPct val="115000"/>
              </a:lnSpc>
            </a:pPr>
            <a:r>
              <a:rPr lang="zh-CN" altLang="en-US" sz="2400" b="1">
                <a:latin typeface="楷体_GB2312" pitchFamily="49" charset="-122"/>
              </a:rPr>
              <a:t>在 </a:t>
            </a:r>
            <a:r>
              <a:rPr lang="en-US" altLang="zh-CN" sz="2400" b="1" i="1">
                <a:solidFill>
                  <a:srgbClr val="FF6600"/>
                </a:solidFill>
                <a:latin typeface="Times New Roman" pitchFamily="18" charset="0"/>
              </a:rPr>
              <a:t>t </a:t>
            </a:r>
            <a:r>
              <a:rPr lang="en-US" altLang="zh-CN" sz="2400" b="1">
                <a:solidFill>
                  <a:srgbClr val="FF6600"/>
                </a:solidFill>
                <a:latin typeface="Times New Roman" pitchFamily="18" charset="0"/>
              </a:rPr>
              <a:t>= 1.0×10</a:t>
            </a:r>
            <a:r>
              <a:rPr lang="zh-CN" altLang="en-US" sz="2400" b="1" baseline="30000">
                <a:solidFill>
                  <a:srgbClr val="FF6600"/>
                </a:solidFill>
                <a:latin typeface="Times New Roman" pitchFamily="18" charset="0"/>
              </a:rPr>
              <a:t>－</a:t>
            </a:r>
            <a:r>
              <a:rPr lang="en-US" altLang="zh-CN" sz="2400" b="1" baseline="30000">
                <a:solidFill>
                  <a:srgbClr val="FF6600"/>
                </a:solidFill>
                <a:latin typeface="Times New Roman" pitchFamily="18" charset="0"/>
              </a:rPr>
              <a:t>2 </a:t>
            </a:r>
            <a:r>
              <a:rPr lang="en-US" altLang="zh-CN" sz="2400" b="1">
                <a:solidFill>
                  <a:srgbClr val="FF6600"/>
                </a:solidFill>
                <a:latin typeface="Times New Roman" pitchFamily="18" charset="0"/>
              </a:rPr>
              <a:t>s</a:t>
            </a:r>
            <a:r>
              <a:rPr lang="en-US" altLang="zh-CN" sz="2400" b="1" i="1">
                <a:solidFill>
                  <a:srgbClr val="FFFF00"/>
                </a:solidFill>
                <a:latin typeface="楷体_GB2312" pitchFamily="49" charset="-122"/>
              </a:rPr>
              <a:t> </a:t>
            </a:r>
            <a:r>
              <a:rPr lang="zh-CN" altLang="en-US" sz="2400" b="1">
                <a:latin typeface="楷体_GB2312" pitchFamily="49" charset="-122"/>
              </a:rPr>
              <a:t>时，线圈中的感应电动势。</a:t>
            </a:r>
          </a:p>
        </p:txBody>
      </p:sp>
      <p:sp>
        <p:nvSpPr>
          <p:cNvPr id="55302" name="Text Box 6"/>
          <p:cNvSpPr txBox="1">
            <a:spLocks noChangeArrowheads="1"/>
          </p:cNvSpPr>
          <p:nvPr/>
        </p:nvSpPr>
        <p:spPr bwMode="auto">
          <a:xfrm>
            <a:off x="161925" y="2528888"/>
            <a:ext cx="900113" cy="457200"/>
          </a:xfrm>
          <a:prstGeom prst="rect">
            <a:avLst/>
          </a:prstGeom>
          <a:noFill/>
          <a:ln w="9525">
            <a:noFill/>
            <a:miter lim="800000"/>
            <a:headEnd/>
            <a:tailEnd/>
          </a:ln>
        </p:spPr>
        <p:txBody>
          <a:bodyPr>
            <a:spAutoFit/>
          </a:bodyPr>
          <a:lstStyle/>
          <a:p>
            <a:pPr algn="l">
              <a:spcBef>
                <a:spcPct val="50000"/>
              </a:spcBef>
            </a:pPr>
            <a:r>
              <a:rPr lang="zh-CN" altLang="en-US" sz="2400" b="1">
                <a:solidFill>
                  <a:srgbClr val="FF0000"/>
                </a:solidFill>
              </a:rPr>
              <a:t>解</a:t>
            </a:r>
          </a:p>
        </p:txBody>
      </p:sp>
      <p:sp>
        <p:nvSpPr>
          <p:cNvPr id="55303" name="Text Box 7"/>
          <p:cNvSpPr txBox="1">
            <a:spLocks noChangeArrowheads="1"/>
          </p:cNvSpPr>
          <p:nvPr/>
        </p:nvSpPr>
        <p:spPr bwMode="auto">
          <a:xfrm>
            <a:off x="701675" y="2484438"/>
            <a:ext cx="8047038" cy="512762"/>
          </a:xfrm>
          <a:prstGeom prst="rect">
            <a:avLst/>
          </a:prstGeom>
          <a:noFill/>
          <a:ln w="9525">
            <a:noFill/>
            <a:miter lim="800000"/>
            <a:headEnd/>
            <a:tailEnd/>
          </a:ln>
        </p:spPr>
        <p:txBody>
          <a:bodyPr>
            <a:spAutoFit/>
          </a:bodyPr>
          <a:lstStyle/>
          <a:p>
            <a:pPr algn="l">
              <a:lnSpc>
                <a:spcPct val="115000"/>
              </a:lnSpc>
            </a:pPr>
            <a:r>
              <a:rPr lang="zh-CN" altLang="en-US" sz="2400" b="1">
                <a:ea typeface="楷体_GB2312" pitchFamily="49" charset="-122"/>
              </a:rPr>
              <a:t>根据</a:t>
            </a:r>
            <a:r>
              <a:rPr lang="zh-CN" altLang="en-US" sz="2400" b="1">
                <a:solidFill>
                  <a:srgbClr val="FF6600"/>
                </a:solidFill>
                <a:ea typeface="楷体_GB2312" pitchFamily="49" charset="-122"/>
              </a:rPr>
              <a:t>法拉第电磁感应定律</a:t>
            </a:r>
            <a:r>
              <a:rPr lang="zh-CN" altLang="en-US" sz="2400" b="1">
                <a:ea typeface="楷体_GB2312" pitchFamily="49" charset="-122"/>
              </a:rPr>
              <a:t>，得线圈中的感应电动势：</a:t>
            </a:r>
          </a:p>
        </p:txBody>
      </p:sp>
      <p:graphicFrame>
        <p:nvGraphicFramePr>
          <p:cNvPr id="55304" name="Object 8"/>
          <p:cNvGraphicFramePr>
            <a:graphicFrameLocks noChangeAspect="1"/>
          </p:cNvGraphicFramePr>
          <p:nvPr/>
        </p:nvGraphicFramePr>
        <p:xfrm>
          <a:off x="801688" y="3341688"/>
          <a:ext cx="1506537" cy="735012"/>
        </p:xfrm>
        <a:graphic>
          <a:graphicData uri="http://schemas.openxmlformats.org/presentationml/2006/ole">
            <p:oleObj spid="_x0000_s4098" name="公式" r:id="rId3" imgW="800134" imgH="371520" progId="Equation.3">
              <p:embed/>
            </p:oleObj>
          </a:graphicData>
        </a:graphic>
      </p:graphicFrame>
      <p:graphicFrame>
        <p:nvGraphicFramePr>
          <p:cNvPr id="55305" name="Object 9"/>
          <p:cNvGraphicFramePr>
            <a:graphicFrameLocks noChangeAspect="1"/>
          </p:cNvGraphicFramePr>
          <p:nvPr/>
        </p:nvGraphicFramePr>
        <p:xfrm>
          <a:off x="2406650" y="3303588"/>
          <a:ext cx="3505200" cy="755650"/>
        </p:xfrm>
        <a:graphic>
          <a:graphicData uri="http://schemas.openxmlformats.org/presentationml/2006/ole">
            <p:oleObj spid="_x0000_s4099" name="公式" r:id="rId4" imgW="1904977" imgH="380970" progId="Equation.3">
              <p:embed/>
            </p:oleObj>
          </a:graphicData>
        </a:graphic>
      </p:graphicFrame>
      <p:graphicFrame>
        <p:nvGraphicFramePr>
          <p:cNvPr id="55306" name="Object 10"/>
          <p:cNvGraphicFramePr>
            <a:graphicFrameLocks noChangeAspect="1"/>
          </p:cNvGraphicFramePr>
          <p:nvPr/>
        </p:nvGraphicFramePr>
        <p:xfrm>
          <a:off x="6064250" y="3527425"/>
          <a:ext cx="2152650" cy="320675"/>
        </p:xfrm>
        <a:graphic>
          <a:graphicData uri="http://schemas.openxmlformats.org/presentationml/2006/ole">
            <p:oleObj spid="_x0000_s4100" name="公式" r:id="rId5" imgW="1152657" imgH="142830" progId="Equation.3">
              <p:embed/>
            </p:oleObj>
          </a:graphicData>
        </a:graphic>
      </p:graphicFrame>
      <p:sp>
        <p:nvSpPr>
          <p:cNvPr id="55307" name="Text Box 11"/>
          <p:cNvSpPr txBox="1">
            <a:spLocks noChangeArrowheads="1"/>
          </p:cNvSpPr>
          <p:nvPr/>
        </p:nvSpPr>
        <p:spPr bwMode="auto">
          <a:xfrm>
            <a:off x="701675" y="4284663"/>
            <a:ext cx="7902575" cy="512762"/>
          </a:xfrm>
          <a:prstGeom prst="rect">
            <a:avLst/>
          </a:prstGeom>
          <a:noFill/>
          <a:ln w="9525">
            <a:noFill/>
            <a:miter lim="800000"/>
            <a:headEnd/>
            <a:tailEnd/>
          </a:ln>
        </p:spPr>
        <p:txBody>
          <a:bodyPr>
            <a:spAutoFit/>
          </a:bodyPr>
          <a:lstStyle/>
          <a:p>
            <a:pPr algn="l">
              <a:lnSpc>
                <a:spcPct val="115000"/>
              </a:lnSpc>
            </a:pPr>
            <a:r>
              <a:rPr lang="zh-CN" altLang="en-US" sz="2400" b="1">
                <a:latin typeface="Times New Roman" pitchFamily="18" charset="0"/>
                <a:ea typeface="楷体_GB2312" pitchFamily="49" charset="-122"/>
              </a:rPr>
              <a:t>当 </a:t>
            </a:r>
            <a:r>
              <a:rPr lang="en-US" altLang="zh-CN" sz="2400" b="1" i="1">
                <a:solidFill>
                  <a:srgbClr val="FF6600"/>
                </a:solidFill>
                <a:latin typeface="Times New Roman" pitchFamily="18" charset="0"/>
                <a:ea typeface="楷体_GB2312" pitchFamily="49" charset="-122"/>
              </a:rPr>
              <a:t>t </a:t>
            </a:r>
            <a:r>
              <a:rPr lang="en-US" altLang="zh-CN" sz="2400" b="1">
                <a:solidFill>
                  <a:srgbClr val="FF6600"/>
                </a:solidFill>
                <a:latin typeface="Times New Roman" pitchFamily="18" charset="0"/>
                <a:ea typeface="楷体_GB2312" pitchFamily="49" charset="-122"/>
              </a:rPr>
              <a:t>= 1.0×10</a:t>
            </a:r>
            <a:r>
              <a:rPr lang="zh-CN" altLang="en-US" sz="2400" b="1" baseline="30000">
                <a:solidFill>
                  <a:srgbClr val="FF6600"/>
                </a:solidFill>
                <a:latin typeface="Times New Roman" pitchFamily="18" charset="0"/>
                <a:ea typeface="楷体_GB2312" pitchFamily="49" charset="-122"/>
              </a:rPr>
              <a:t>－</a:t>
            </a:r>
            <a:r>
              <a:rPr lang="en-US" altLang="zh-CN" sz="2400" b="1" baseline="30000">
                <a:solidFill>
                  <a:srgbClr val="FF6600"/>
                </a:solidFill>
                <a:latin typeface="Times New Roman" pitchFamily="18" charset="0"/>
                <a:ea typeface="楷体_GB2312" pitchFamily="49" charset="-122"/>
              </a:rPr>
              <a:t>2 </a:t>
            </a:r>
            <a:r>
              <a:rPr lang="en-US" altLang="zh-CN" sz="2400" b="1">
                <a:solidFill>
                  <a:srgbClr val="FF6600"/>
                </a:solidFill>
                <a:latin typeface="Times New Roman" pitchFamily="18" charset="0"/>
                <a:ea typeface="楷体_GB2312" pitchFamily="49" charset="-122"/>
              </a:rPr>
              <a:t>s</a:t>
            </a:r>
            <a:r>
              <a:rPr lang="en-US" altLang="zh-CN" sz="2400" b="1" i="1">
                <a:solidFill>
                  <a:srgbClr val="FFFF00"/>
                </a:solidFill>
                <a:latin typeface="Times New Roman" pitchFamily="18" charset="0"/>
                <a:ea typeface="楷体_GB2312" pitchFamily="49" charset="-122"/>
              </a:rPr>
              <a:t> </a:t>
            </a:r>
            <a:r>
              <a:rPr lang="zh-CN" altLang="en-US" sz="2400" b="1">
                <a:latin typeface="Times New Roman" pitchFamily="18" charset="0"/>
                <a:ea typeface="楷体_GB2312" pitchFamily="49" charset="-122"/>
              </a:rPr>
              <a:t>时，线圈中的感应电动势为</a:t>
            </a:r>
          </a:p>
        </p:txBody>
      </p:sp>
      <p:graphicFrame>
        <p:nvGraphicFramePr>
          <p:cNvPr id="55308" name="Object 12"/>
          <p:cNvGraphicFramePr>
            <a:graphicFrameLocks noChangeAspect="1"/>
          </p:cNvGraphicFramePr>
          <p:nvPr/>
        </p:nvGraphicFramePr>
        <p:xfrm>
          <a:off x="1333500" y="5138738"/>
          <a:ext cx="3735388" cy="434975"/>
        </p:xfrm>
        <a:graphic>
          <a:graphicData uri="http://schemas.openxmlformats.org/presentationml/2006/ole">
            <p:oleObj spid="_x0000_s4101" name="公式" r:id="rId6" imgW="2028698" imgH="200070" progId="Equation.3">
              <p:embed/>
            </p:oleObj>
          </a:graphicData>
        </a:graphic>
      </p:graphicFrame>
      <p:graphicFrame>
        <p:nvGraphicFramePr>
          <p:cNvPr id="55309" name="Object 13"/>
          <p:cNvGraphicFramePr>
            <a:graphicFrameLocks noChangeAspect="1"/>
          </p:cNvGraphicFramePr>
          <p:nvPr/>
        </p:nvGraphicFramePr>
        <p:xfrm>
          <a:off x="5248275" y="5178425"/>
          <a:ext cx="1258888" cy="320675"/>
        </p:xfrm>
        <a:graphic>
          <a:graphicData uri="http://schemas.openxmlformats.org/presentationml/2006/ole">
            <p:oleObj spid="_x0000_s4102" name="公式" r:id="rId7" imgW="657233" imgH="14283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298"/>
                                        </p:tgtEl>
                                        <p:attrNameLst>
                                          <p:attrName>style.visibility</p:attrName>
                                        </p:attrNameLst>
                                      </p:cBhvr>
                                      <p:to>
                                        <p:strVal val="visible"/>
                                      </p:to>
                                    </p:set>
                                    <p:animEffect transition="in" filter="wipe(left)">
                                      <p:cBhvr>
                                        <p:cTn id="7" dur="500"/>
                                        <p:tgtEl>
                                          <p:spTgt spid="55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5299"/>
                                        </p:tgtEl>
                                        <p:attrNameLst>
                                          <p:attrName>style.visibility</p:attrName>
                                        </p:attrNameLst>
                                      </p:cBhvr>
                                      <p:to>
                                        <p:strVal val="visible"/>
                                      </p:to>
                                    </p:set>
                                    <p:animEffect transition="in" filter="wipe(left)">
                                      <p:cBhvr>
                                        <p:cTn id="12" dur="500"/>
                                        <p:tgtEl>
                                          <p:spTgt spid="552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39000"/>
                                  </p:iterate>
                                  <p:childTnLst>
                                    <p:set>
                                      <p:cBhvr>
                                        <p:cTn id="16" dur="1" fill="hold">
                                          <p:stCondLst>
                                            <p:cond delay="0"/>
                                          </p:stCondLst>
                                        </p:cTn>
                                        <p:tgtEl>
                                          <p:spTgt spid="55300"/>
                                        </p:tgtEl>
                                        <p:attrNameLst>
                                          <p:attrName>style.visibility</p:attrName>
                                        </p:attrNameLst>
                                      </p:cBhvr>
                                      <p:to>
                                        <p:strVal val="visible"/>
                                      </p:to>
                                    </p:set>
                                    <p:animEffect transition="in" filter="wipe(left)">
                                      <p:cBhvr>
                                        <p:cTn id="17" dur="500"/>
                                        <p:tgtEl>
                                          <p:spTgt spid="553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5301"/>
                                        </p:tgtEl>
                                        <p:attrNameLst>
                                          <p:attrName>style.visibility</p:attrName>
                                        </p:attrNameLst>
                                      </p:cBhvr>
                                      <p:to>
                                        <p:strVal val="visible"/>
                                      </p:to>
                                    </p:set>
                                    <p:animEffect transition="in" filter="wipe(left)">
                                      <p:cBhvr>
                                        <p:cTn id="22" dur="500"/>
                                        <p:tgtEl>
                                          <p:spTgt spid="5530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5302"/>
                                        </p:tgtEl>
                                        <p:attrNameLst>
                                          <p:attrName>style.visibility</p:attrName>
                                        </p:attrNameLst>
                                      </p:cBhvr>
                                      <p:to>
                                        <p:strVal val="visible"/>
                                      </p:to>
                                    </p:set>
                                    <p:animEffect transition="in" filter="wipe(left)">
                                      <p:cBhvr>
                                        <p:cTn id="27" dur="500"/>
                                        <p:tgtEl>
                                          <p:spTgt spid="5530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5303"/>
                                        </p:tgtEl>
                                        <p:attrNameLst>
                                          <p:attrName>style.visibility</p:attrName>
                                        </p:attrNameLst>
                                      </p:cBhvr>
                                      <p:to>
                                        <p:strVal val="visible"/>
                                      </p:to>
                                    </p:set>
                                    <p:animEffect transition="in" filter="wipe(left)">
                                      <p:cBhvr>
                                        <p:cTn id="32" dur="500"/>
                                        <p:tgtEl>
                                          <p:spTgt spid="5530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5304"/>
                                        </p:tgtEl>
                                        <p:attrNameLst>
                                          <p:attrName>style.visibility</p:attrName>
                                        </p:attrNameLst>
                                      </p:cBhvr>
                                      <p:to>
                                        <p:strVal val="visible"/>
                                      </p:to>
                                    </p:set>
                                    <p:animEffect transition="in" filter="wipe(left)">
                                      <p:cBhvr>
                                        <p:cTn id="37" dur="500"/>
                                        <p:tgtEl>
                                          <p:spTgt spid="5530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55305"/>
                                        </p:tgtEl>
                                        <p:attrNameLst>
                                          <p:attrName>style.visibility</p:attrName>
                                        </p:attrNameLst>
                                      </p:cBhvr>
                                      <p:to>
                                        <p:strVal val="visible"/>
                                      </p:to>
                                    </p:set>
                                    <p:animEffect transition="in" filter="wipe(left)">
                                      <p:cBhvr>
                                        <p:cTn id="42" dur="500"/>
                                        <p:tgtEl>
                                          <p:spTgt spid="5530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55306"/>
                                        </p:tgtEl>
                                        <p:attrNameLst>
                                          <p:attrName>style.visibility</p:attrName>
                                        </p:attrNameLst>
                                      </p:cBhvr>
                                      <p:to>
                                        <p:strVal val="visible"/>
                                      </p:to>
                                    </p:set>
                                    <p:animEffect transition="in" filter="wipe(left)">
                                      <p:cBhvr>
                                        <p:cTn id="47" dur="500"/>
                                        <p:tgtEl>
                                          <p:spTgt spid="5530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5307"/>
                                        </p:tgtEl>
                                        <p:attrNameLst>
                                          <p:attrName>style.visibility</p:attrName>
                                        </p:attrNameLst>
                                      </p:cBhvr>
                                      <p:to>
                                        <p:strVal val="visible"/>
                                      </p:to>
                                    </p:set>
                                    <p:animEffect transition="in" filter="wipe(left)">
                                      <p:cBhvr>
                                        <p:cTn id="52" dur="500"/>
                                        <p:tgtEl>
                                          <p:spTgt spid="5530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55308"/>
                                        </p:tgtEl>
                                        <p:attrNameLst>
                                          <p:attrName>style.visibility</p:attrName>
                                        </p:attrNameLst>
                                      </p:cBhvr>
                                      <p:to>
                                        <p:strVal val="visible"/>
                                      </p:to>
                                    </p:set>
                                    <p:animEffect transition="in" filter="wipe(down)">
                                      <p:cBhvr>
                                        <p:cTn id="57" dur="500"/>
                                        <p:tgtEl>
                                          <p:spTgt spid="5530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55309"/>
                                        </p:tgtEl>
                                        <p:attrNameLst>
                                          <p:attrName>style.visibility</p:attrName>
                                        </p:attrNameLst>
                                      </p:cBhvr>
                                      <p:to>
                                        <p:strVal val="visible"/>
                                      </p:to>
                                    </p:set>
                                    <p:animEffect transition="in" filter="wipe(left)">
                                      <p:cBhvr>
                                        <p:cTn id="62" dur="500"/>
                                        <p:tgtEl>
                                          <p:spTgt spid="55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p:bldP spid="55299" grpId="0"/>
      <p:bldP spid="55300" grpId="0" autoUpdateAnimBg="0"/>
      <p:bldP spid="55301" grpId="0"/>
      <p:bldP spid="55302" grpId="0"/>
      <p:bldP spid="55303" grpId="0"/>
      <p:bldP spid="5530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a:spLocks noChangeArrowheads="1"/>
          </p:cNvSpPr>
          <p:nvPr/>
        </p:nvSpPr>
        <p:spPr bwMode="auto">
          <a:xfrm>
            <a:off x="657225" y="390525"/>
            <a:ext cx="8362950" cy="1463675"/>
          </a:xfrm>
          <a:prstGeom prst="rect">
            <a:avLst/>
          </a:prstGeom>
          <a:noFill/>
          <a:ln w="9525">
            <a:noFill/>
            <a:miter lim="800000"/>
            <a:headEnd/>
            <a:tailEnd/>
          </a:ln>
        </p:spPr>
        <p:txBody>
          <a:bodyPr>
            <a:spAutoFit/>
          </a:bodyPr>
          <a:lstStyle/>
          <a:p>
            <a:pPr algn="l">
              <a:lnSpc>
                <a:spcPct val="125000"/>
              </a:lnSpc>
            </a:pPr>
            <a:r>
              <a:rPr kumimoji="1" lang="zh-CN" altLang="en-US" sz="2400" b="1">
                <a:latin typeface="Times New Roman" pitchFamily="18" charset="0"/>
              </a:rPr>
              <a:t>在无限长直载流导线的磁场中，有一运动的导体线框，导体线框与载流导线共面。</a:t>
            </a:r>
            <a:r>
              <a:rPr kumimoji="1" lang="en-US" altLang="zh-CN" sz="2400" b="1" i="1">
                <a:solidFill>
                  <a:srgbClr val="FF6600"/>
                </a:solidFill>
                <a:latin typeface="Times New Roman" pitchFamily="18" charset="0"/>
              </a:rPr>
              <a:t>t </a:t>
            </a:r>
            <a:r>
              <a:rPr kumimoji="1" lang="en-US" altLang="zh-CN" sz="2400" b="1">
                <a:solidFill>
                  <a:srgbClr val="FF6600"/>
                </a:solidFill>
                <a:latin typeface="Times New Roman" pitchFamily="18" charset="0"/>
              </a:rPr>
              <a:t>= 0</a:t>
            </a:r>
            <a:r>
              <a:rPr kumimoji="1" lang="en-US" altLang="zh-CN" sz="2400" b="1">
                <a:latin typeface="Times New Roman" pitchFamily="18" charset="0"/>
              </a:rPr>
              <a:t> </a:t>
            </a:r>
            <a:r>
              <a:rPr kumimoji="1" lang="zh-CN" altLang="en-US" sz="2400" b="1">
                <a:latin typeface="Times New Roman" pitchFamily="18" charset="0"/>
              </a:rPr>
              <a:t>时，线框与导线紧靠，设线框以匀速度     垂直导线水平向右运动。</a:t>
            </a:r>
            <a:endParaRPr kumimoji="1" lang="zh-CN" altLang="en-US" sz="2400" b="1" i="1">
              <a:latin typeface="Times New Roman" pitchFamily="18" charset="0"/>
            </a:endParaRPr>
          </a:p>
        </p:txBody>
      </p:sp>
      <p:sp>
        <p:nvSpPr>
          <p:cNvPr id="57347" name="Line 3"/>
          <p:cNvSpPr>
            <a:spLocks noChangeShapeType="1"/>
          </p:cNvSpPr>
          <p:nvPr/>
        </p:nvSpPr>
        <p:spPr bwMode="auto">
          <a:xfrm flipV="1">
            <a:off x="6534150" y="1673225"/>
            <a:ext cx="0" cy="3600450"/>
          </a:xfrm>
          <a:prstGeom prst="line">
            <a:avLst/>
          </a:prstGeom>
          <a:noFill/>
          <a:ln w="57150">
            <a:solidFill>
              <a:srgbClr val="800000"/>
            </a:solidFill>
            <a:round/>
            <a:headEnd/>
            <a:tailEnd/>
          </a:ln>
        </p:spPr>
        <p:txBody>
          <a:bodyPr/>
          <a:lstStyle/>
          <a:p>
            <a:endParaRPr lang="zh-CN" altLang="en-US"/>
          </a:p>
        </p:txBody>
      </p:sp>
      <p:sp>
        <p:nvSpPr>
          <p:cNvPr id="57348" name="Rectangle 4"/>
          <p:cNvSpPr>
            <a:spLocks noChangeArrowheads="1"/>
          </p:cNvSpPr>
          <p:nvPr/>
        </p:nvSpPr>
        <p:spPr bwMode="auto">
          <a:xfrm>
            <a:off x="7219950" y="2435225"/>
            <a:ext cx="1219200" cy="1752600"/>
          </a:xfrm>
          <a:prstGeom prst="rect">
            <a:avLst/>
          </a:prstGeom>
          <a:noFill/>
          <a:ln w="25400">
            <a:solidFill>
              <a:srgbClr val="0000FF"/>
            </a:solidFill>
            <a:miter lim="800000"/>
            <a:headEnd/>
            <a:tailEnd/>
          </a:ln>
        </p:spPr>
        <p:txBody>
          <a:bodyPr wrap="none" anchor="ctr"/>
          <a:lstStyle/>
          <a:p>
            <a:endParaRPr lang="zh-CN" altLang="en-US"/>
          </a:p>
        </p:txBody>
      </p:sp>
      <p:sp>
        <p:nvSpPr>
          <p:cNvPr id="57349" name="Line 5"/>
          <p:cNvSpPr>
            <a:spLocks noChangeShapeType="1"/>
          </p:cNvSpPr>
          <p:nvPr/>
        </p:nvSpPr>
        <p:spPr bwMode="auto">
          <a:xfrm flipV="1">
            <a:off x="6305550" y="2054225"/>
            <a:ext cx="0" cy="838200"/>
          </a:xfrm>
          <a:prstGeom prst="line">
            <a:avLst/>
          </a:prstGeom>
          <a:noFill/>
          <a:ln w="38100">
            <a:solidFill>
              <a:srgbClr val="FF0000"/>
            </a:solidFill>
            <a:round/>
            <a:headEnd/>
            <a:tailEnd type="triangle" w="med" len="med"/>
          </a:ln>
        </p:spPr>
        <p:txBody>
          <a:bodyPr/>
          <a:lstStyle/>
          <a:p>
            <a:endParaRPr lang="zh-CN" altLang="en-US"/>
          </a:p>
        </p:txBody>
      </p:sp>
      <p:sp>
        <p:nvSpPr>
          <p:cNvPr id="57350" name="Line 6"/>
          <p:cNvSpPr>
            <a:spLocks noChangeShapeType="1"/>
          </p:cNvSpPr>
          <p:nvPr/>
        </p:nvSpPr>
        <p:spPr bwMode="auto">
          <a:xfrm>
            <a:off x="8134350" y="2206625"/>
            <a:ext cx="685800" cy="0"/>
          </a:xfrm>
          <a:prstGeom prst="line">
            <a:avLst/>
          </a:prstGeom>
          <a:noFill/>
          <a:ln w="34925">
            <a:solidFill>
              <a:srgbClr val="FF0000"/>
            </a:solidFill>
            <a:round/>
            <a:headEnd/>
            <a:tailEnd type="triangle" w="med" len="med"/>
          </a:ln>
        </p:spPr>
        <p:txBody>
          <a:bodyPr/>
          <a:lstStyle/>
          <a:p>
            <a:endParaRPr lang="zh-CN" altLang="en-US"/>
          </a:p>
        </p:txBody>
      </p:sp>
      <p:graphicFrame>
        <p:nvGraphicFramePr>
          <p:cNvPr id="57351" name="Object 7"/>
          <p:cNvGraphicFramePr>
            <a:graphicFrameLocks noChangeAspect="1"/>
          </p:cNvGraphicFramePr>
          <p:nvPr/>
        </p:nvGraphicFramePr>
        <p:xfrm>
          <a:off x="6270625" y="1803400"/>
          <a:ext cx="230188" cy="298450"/>
        </p:xfrm>
        <a:graphic>
          <a:graphicData uri="http://schemas.openxmlformats.org/presentationml/2006/ole">
            <p:oleObj spid="_x0000_s5122" name="公式" r:id="rId3" imgW="85632" imgH="123930" progId="Equation.3">
              <p:embed/>
            </p:oleObj>
          </a:graphicData>
        </a:graphic>
      </p:graphicFrame>
      <p:graphicFrame>
        <p:nvGraphicFramePr>
          <p:cNvPr id="57352" name="Object 8"/>
          <p:cNvGraphicFramePr>
            <a:graphicFrameLocks noChangeAspect="1"/>
          </p:cNvGraphicFramePr>
          <p:nvPr/>
        </p:nvGraphicFramePr>
        <p:xfrm>
          <a:off x="8378825" y="1852613"/>
          <a:ext cx="230188" cy="320675"/>
        </p:xfrm>
        <a:graphic>
          <a:graphicData uri="http://schemas.openxmlformats.org/presentationml/2006/ole">
            <p:oleObj spid="_x0000_s5123" name="公式" r:id="rId4" imgW="85632" imgH="142830" progId="Equation.3">
              <p:embed/>
            </p:oleObj>
          </a:graphicData>
        </a:graphic>
      </p:graphicFrame>
      <p:graphicFrame>
        <p:nvGraphicFramePr>
          <p:cNvPr id="57353" name="Object 9"/>
          <p:cNvGraphicFramePr>
            <a:graphicFrameLocks noChangeAspect="1"/>
          </p:cNvGraphicFramePr>
          <p:nvPr/>
        </p:nvGraphicFramePr>
        <p:xfrm>
          <a:off x="7667625" y="2133600"/>
          <a:ext cx="230188" cy="252413"/>
        </p:xfrm>
        <a:graphic>
          <a:graphicData uri="http://schemas.openxmlformats.org/presentationml/2006/ole">
            <p:oleObj spid="_x0000_s5124" name="公式" r:id="rId5" imgW="85632" imgH="104760" progId="Equation.3">
              <p:embed/>
            </p:oleObj>
          </a:graphicData>
        </a:graphic>
      </p:graphicFrame>
      <p:graphicFrame>
        <p:nvGraphicFramePr>
          <p:cNvPr id="57354" name="Object 10"/>
          <p:cNvGraphicFramePr>
            <a:graphicFrameLocks noChangeAspect="1"/>
          </p:cNvGraphicFramePr>
          <p:nvPr/>
        </p:nvGraphicFramePr>
        <p:xfrm>
          <a:off x="8532813" y="3068638"/>
          <a:ext cx="227012" cy="319087"/>
        </p:xfrm>
        <a:graphic>
          <a:graphicData uri="http://schemas.openxmlformats.org/presentationml/2006/ole">
            <p:oleObj spid="_x0000_s5125" name="公式" r:id="rId6" imgW="85632" imgH="142830" progId="Equation.3">
              <p:embed/>
            </p:oleObj>
          </a:graphicData>
        </a:graphic>
      </p:graphicFrame>
      <p:sp>
        <p:nvSpPr>
          <p:cNvPr id="57355" name="Rectangle 11"/>
          <p:cNvSpPr>
            <a:spLocks noChangeArrowheads="1"/>
          </p:cNvSpPr>
          <p:nvPr/>
        </p:nvSpPr>
        <p:spPr bwMode="auto">
          <a:xfrm>
            <a:off x="7600950" y="2452688"/>
            <a:ext cx="225425" cy="1722437"/>
          </a:xfrm>
          <a:prstGeom prst="rect">
            <a:avLst/>
          </a:prstGeom>
          <a:solidFill>
            <a:srgbClr val="008000"/>
          </a:solidFill>
          <a:ln w="9525">
            <a:noFill/>
            <a:miter lim="800000"/>
            <a:headEnd/>
            <a:tailEnd/>
          </a:ln>
        </p:spPr>
        <p:txBody>
          <a:bodyPr wrap="none" anchor="ctr"/>
          <a:lstStyle/>
          <a:p>
            <a:endParaRPr lang="zh-CN" altLang="en-US"/>
          </a:p>
        </p:txBody>
      </p:sp>
      <p:graphicFrame>
        <p:nvGraphicFramePr>
          <p:cNvPr id="57356" name="Object 12"/>
          <p:cNvGraphicFramePr>
            <a:graphicFrameLocks noChangeAspect="1"/>
          </p:cNvGraphicFramePr>
          <p:nvPr/>
        </p:nvGraphicFramePr>
        <p:xfrm>
          <a:off x="7524750" y="4221163"/>
          <a:ext cx="366713" cy="320675"/>
        </p:xfrm>
        <a:graphic>
          <a:graphicData uri="http://schemas.openxmlformats.org/presentationml/2006/ole">
            <p:oleObj spid="_x0000_s5126" name="公式" r:id="rId7" imgW="161810" imgH="142830" progId="Equation.3">
              <p:embed/>
            </p:oleObj>
          </a:graphicData>
        </a:graphic>
      </p:graphicFrame>
      <p:sp>
        <p:nvSpPr>
          <p:cNvPr id="57357" name="Line 13"/>
          <p:cNvSpPr>
            <a:spLocks noChangeShapeType="1"/>
          </p:cNvSpPr>
          <p:nvPr/>
        </p:nvSpPr>
        <p:spPr bwMode="auto">
          <a:xfrm>
            <a:off x="6534150" y="3959225"/>
            <a:ext cx="1066800" cy="0"/>
          </a:xfrm>
          <a:prstGeom prst="line">
            <a:avLst/>
          </a:prstGeom>
          <a:noFill/>
          <a:ln w="9525">
            <a:solidFill>
              <a:schemeClr val="accent2"/>
            </a:solidFill>
            <a:round/>
            <a:headEnd type="triangle" w="med" len="med"/>
            <a:tailEnd type="triangle" w="med" len="med"/>
          </a:ln>
        </p:spPr>
        <p:txBody>
          <a:bodyPr/>
          <a:lstStyle/>
          <a:p>
            <a:endParaRPr lang="zh-CN" altLang="en-US"/>
          </a:p>
        </p:txBody>
      </p:sp>
      <p:graphicFrame>
        <p:nvGraphicFramePr>
          <p:cNvPr id="57358" name="Object 14"/>
          <p:cNvGraphicFramePr>
            <a:graphicFrameLocks noChangeAspect="1"/>
          </p:cNvGraphicFramePr>
          <p:nvPr/>
        </p:nvGraphicFramePr>
        <p:xfrm>
          <a:off x="6804025" y="3681413"/>
          <a:ext cx="252413" cy="252412"/>
        </p:xfrm>
        <a:graphic>
          <a:graphicData uri="http://schemas.openxmlformats.org/presentationml/2006/ole">
            <p:oleObj spid="_x0000_s5127" name="公式" r:id="rId8" imgW="104812" imgH="104760" progId="Equation.3">
              <p:embed/>
            </p:oleObj>
          </a:graphicData>
        </a:graphic>
      </p:graphicFrame>
      <p:sp>
        <p:nvSpPr>
          <p:cNvPr id="57359" name="Text Box 15"/>
          <p:cNvSpPr txBox="1">
            <a:spLocks noChangeArrowheads="1"/>
          </p:cNvSpPr>
          <p:nvPr/>
        </p:nvSpPr>
        <p:spPr bwMode="auto">
          <a:xfrm>
            <a:off x="107950" y="2439988"/>
            <a:ext cx="609600"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Times New Roman" pitchFamily="18" charset="0"/>
              </a:rPr>
              <a:t>解</a:t>
            </a:r>
          </a:p>
        </p:txBody>
      </p:sp>
      <p:graphicFrame>
        <p:nvGraphicFramePr>
          <p:cNvPr id="57360" name="Object 16"/>
          <p:cNvGraphicFramePr>
            <a:graphicFrameLocks noChangeAspect="1"/>
          </p:cNvGraphicFramePr>
          <p:nvPr/>
        </p:nvGraphicFramePr>
        <p:xfrm>
          <a:off x="676275" y="2924175"/>
          <a:ext cx="2608263" cy="730250"/>
        </p:xfrm>
        <a:graphic>
          <a:graphicData uri="http://schemas.openxmlformats.org/presentationml/2006/ole">
            <p:oleObj spid="_x0000_s5128" name="公式" r:id="rId9" imgW="1409824" imgH="371520" progId="Equation.3">
              <p:embed/>
            </p:oleObj>
          </a:graphicData>
        </a:graphic>
      </p:graphicFrame>
      <p:sp>
        <p:nvSpPr>
          <p:cNvPr id="57361" name="Rectangle 17"/>
          <p:cNvSpPr>
            <a:spLocks noChangeArrowheads="1"/>
          </p:cNvSpPr>
          <p:nvPr/>
        </p:nvSpPr>
        <p:spPr bwMode="auto">
          <a:xfrm>
            <a:off x="655638" y="2466975"/>
            <a:ext cx="4203700" cy="457200"/>
          </a:xfrm>
          <a:prstGeom prst="rect">
            <a:avLst/>
          </a:prstGeom>
          <a:noFill/>
          <a:ln w="9525">
            <a:noFill/>
            <a:miter lim="800000"/>
            <a:headEnd/>
            <a:tailEnd/>
          </a:ln>
        </p:spPr>
        <p:txBody>
          <a:bodyPr>
            <a:spAutoFit/>
          </a:bodyPr>
          <a:lstStyle/>
          <a:p>
            <a:pPr algn="l"/>
            <a:r>
              <a:rPr kumimoji="1" lang="zh-CN" altLang="en-US" sz="2400" b="1">
                <a:latin typeface="楷体_GB2312" pitchFamily="49" charset="-122"/>
                <a:ea typeface="楷体_GB2312" pitchFamily="49" charset="-122"/>
              </a:rPr>
              <a:t>通过面积元的磁通量 </a:t>
            </a:r>
          </a:p>
        </p:txBody>
      </p:sp>
      <p:graphicFrame>
        <p:nvGraphicFramePr>
          <p:cNvPr id="57362" name="Object 18"/>
          <p:cNvGraphicFramePr>
            <a:graphicFrameLocks noChangeAspect="1"/>
          </p:cNvGraphicFramePr>
          <p:nvPr/>
        </p:nvGraphicFramePr>
        <p:xfrm>
          <a:off x="731838" y="3716338"/>
          <a:ext cx="3048000" cy="730250"/>
        </p:xfrm>
        <a:graphic>
          <a:graphicData uri="http://schemas.openxmlformats.org/presentationml/2006/ole">
            <p:oleObj spid="_x0000_s5129" name="公式" r:id="rId10" imgW="1647811" imgH="371520" progId="Equation.3">
              <p:embed/>
            </p:oleObj>
          </a:graphicData>
        </a:graphic>
      </p:graphicFrame>
      <p:graphicFrame>
        <p:nvGraphicFramePr>
          <p:cNvPr id="57363" name="Object 19"/>
          <p:cNvGraphicFramePr>
            <a:graphicFrameLocks noChangeAspect="1"/>
          </p:cNvGraphicFramePr>
          <p:nvPr/>
        </p:nvGraphicFramePr>
        <p:xfrm>
          <a:off x="3787775" y="3716338"/>
          <a:ext cx="1936750" cy="798512"/>
        </p:xfrm>
        <a:graphic>
          <a:graphicData uri="http://schemas.openxmlformats.org/presentationml/2006/ole">
            <p:oleObj spid="_x0000_s5130" name="公式" r:id="rId11" imgW="1038121" imgH="409590" progId="Equation.3">
              <p:embed/>
            </p:oleObj>
          </a:graphicData>
        </a:graphic>
      </p:graphicFrame>
      <p:graphicFrame>
        <p:nvGraphicFramePr>
          <p:cNvPr id="57364" name="Object 20"/>
          <p:cNvGraphicFramePr>
            <a:graphicFrameLocks noChangeAspect="1"/>
          </p:cNvGraphicFramePr>
          <p:nvPr/>
        </p:nvGraphicFramePr>
        <p:xfrm>
          <a:off x="512763" y="4686300"/>
          <a:ext cx="1252537" cy="730250"/>
        </p:xfrm>
        <a:graphic>
          <a:graphicData uri="http://schemas.openxmlformats.org/presentationml/2006/ole">
            <p:oleObj spid="_x0000_s5131" name="公式" r:id="rId12" imgW="657233" imgH="371520" progId="Equation.3">
              <p:embed/>
            </p:oleObj>
          </a:graphicData>
        </a:graphic>
      </p:graphicFrame>
      <p:sp>
        <p:nvSpPr>
          <p:cNvPr id="57365" name="Line 21"/>
          <p:cNvSpPr>
            <a:spLocks noChangeShapeType="1"/>
          </p:cNvSpPr>
          <p:nvPr/>
        </p:nvSpPr>
        <p:spPr bwMode="auto">
          <a:xfrm>
            <a:off x="6534150" y="2968625"/>
            <a:ext cx="685800" cy="0"/>
          </a:xfrm>
          <a:prstGeom prst="line">
            <a:avLst/>
          </a:prstGeom>
          <a:noFill/>
          <a:ln w="9525">
            <a:solidFill>
              <a:srgbClr val="008000"/>
            </a:solidFill>
            <a:round/>
            <a:headEnd type="triangle" w="med" len="med"/>
            <a:tailEnd type="triangle" w="med" len="med"/>
          </a:ln>
        </p:spPr>
        <p:txBody>
          <a:bodyPr/>
          <a:lstStyle/>
          <a:p>
            <a:endParaRPr lang="zh-CN" altLang="en-US"/>
          </a:p>
        </p:txBody>
      </p:sp>
      <p:graphicFrame>
        <p:nvGraphicFramePr>
          <p:cNvPr id="57366" name="Object 22"/>
          <p:cNvGraphicFramePr>
            <a:graphicFrameLocks noChangeAspect="1"/>
          </p:cNvGraphicFramePr>
          <p:nvPr/>
        </p:nvGraphicFramePr>
        <p:xfrm>
          <a:off x="6792913" y="2640013"/>
          <a:ext cx="184150" cy="320675"/>
        </p:xfrm>
        <a:graphic>
          <a:graphicData uri="http://schemas.openxmlformats.org/presentationml/2006/ole">
            <p:oleObj spid="_x0000_s5132" name="公式" r:id="rId13" imgW="66723" imgH="142830" progId="Equation.3">
              <p:embed/>
            </p:oleObj>
          </a:graphicData>
        </a:graphic>
      </p:graphicFrame>
      <p:graphicFrame>
        <p:nvGraphicFramePr>
          <p:cNvPr id="57367" name="Object 23"/>
          <p:cNvGraphicFramePr>
            <a:graphicFrameLocks noChangeAspect="1"/>
          </p:cNvGraphicFramePr>
          <p:nvPr/>
        </p:nvGraphicFramePr>
        <p:xfrm>
          <a:off x="1835150" y="4652963"/>
          <a:ext cx="2943225" cy="798512"/>
        </p:xfrm>
        <a:graphic>
          <a:graphicData uri="http://schemas.openxmlformats.org/presentationml/2006/ole">
            <p:oleObj spid="_x0000_s5133" name="公式" r:id="rId14" imgW="1600268" imgH="409590" progId="Equation.3">
              <p:embed/>
            </p:oleObj>
          </a:graphicData>
        </a:graphic>
      </p:graphicFrame>
      <p:graphicFrame>
        <p:nvGraphicFramePr>
          <p:cNvPr id="57368" name="Object 24"/>
          <p:cNvGraphicFramePr>
            <a:graphicFrameLocks noChangeAspect="1"/>
          </p:cNvGraphicFramePr>
          <p:nvPr/>
        </p:nvGraphicFramePr>
        <p:xfrm>
          <a:off x="4716463" y="4652963"/>
          <a:ext cx="1439862" cy="776287"/>
        </p:xfrm>
        <a:graphic>
          <a:graphicData uri="http://schemas.openxmlformats.org/presentationml/2006/ole">
            <p:oleObj spid="_x0000_s5134" name="公式" r:id="rId15" imgW="762045" imgH="390420" progId="Equation.3">
              <p:embed/>
            </p:oleObj>
          </a:graphicData>
        </a:graphic>
      </p:graphicFrame>
      <p:sp>
        <p:nvSpPr>
          <p:cNvPr id="57369" name="Rectangle 25"/>
          <p:cNvSpPr>
            <a:spLocks noChangeArrowheads="1"/>
          </p:cNvSpPr>
          <p:nvPr/>
        </p:nvSpPr>
        <p:spPr bwMode="auto">
          <a:xfrm>
            <a:off x="6372225" y="4624388"/>
            <a:ext cx="2736850" cy="430212"/>
          </a:xfrm>
          <a:prstGeom prst="rect">
            <a:avLst/>
          </a:prstGeom>
          <a:noFill/>
          <a:ln w="9525">
            <a:noFill/>
            <a:miter lim="800000"/>
            <a:headEnd/>
            <a:tailEnd/>
          </a:ln>
        </p:spPr>
        <p:txBody>
          <a:bodyPr>
            <a:spAutoFit/>
          </a:bodyPr>
          <a:lstStyle/>
          <a:p>
            <a:pPr algn="l"/>
            <a:r>
              <a:rPr kumimoji="1" lang="zh-CN" altLang="en-US" sz="2200" b="1">
                <a:solidFill>
                  <a:srgbClr val="FF0000"/>
                </a:solidFill>
                <a:latin typeface="楷体_GB2312" pitchFamily="49" charset="-122"/>
                <a:ea typeface="楷体_GB2312" pitchFamily="49" charset="-122"/>
              </a:rPr>
              <a:t>（选顺时针方向为正）</a:t>
            </a:r>
            <a:r>
              <a:rPr kumimoji="1" lang="zh-CN" altLang="en-US" sz="2200" b="1">
                <a:solidFill>
                  <a:srgbClr val="FF9900"/>
                </a:solidFill>
                <a:latin typeface="楷体_GB2312" pitchFamily="49" charset="-122"/>
                <a:ea typeface="楷体_GB2312" pitchFamily="49" charset="-122"/>
              </a:rPr>
              <a:t> </a:t>
            </a:r>
          </a:p>
        </p:txBody>
      </p:sp>
      <p:sp>
        <p:nvSpPr>
          <p:cNvPr id="57370" name="Text Box 26"/>
          <p:cNvSpPr txBox="1">
            <a:spLocks noChangeArrowheads="1"/>
          </p:cNvSpPr>
          <p:nvPr/>
        </p:nvSpPr>
        <p:spPr bwMode="auto">
          <a:xfrm>
            <a:off x="115888" y="423863"/>
            <a:ext cx="568325" cy="530225"/>
          </a:xfrm>
          <a:prstGeom prst="rect">
            <a:avLst/>
          </a:prstGeom>
          <a:noFill/>
          <a:ln w="9525" algn="ctr">
            <a:noFill/>
            <a:miter lim="800000"/>
            <a:headEnd/>
            <a:tailEnd/>
          </a:ln>
        </p:spPr>
        <p:txBody>
          <a:bodyPr tIns="82800" bIns="82800">
            <a:spAutoFit/>
          </a:bodyPr>
          <a:lstStyle/>
          <a:p>
            <a:pPr algn="just" eaLnBrk="0" hangingPunct="0">
              <a:spcBef>
                <a:spcPct val="50000"/>
              </a:spcBef>
            </a:pPr>
            <a:r>
              <a:rPr kumimoji="1" lang="zh-CN" altLang="en-US" sz="2400" b="1">
                <a:solidFill>
                  <a:srgbClr val="FF0000"/>
                </a:solidFill>
                <a:latin typeface="Times New Roman" pitchFamily="18" charset="0"/>
              </a:rPr>
              <a:t>例</a:t>
            </a:r>
          </a:p>
        </p:txBody>
      </p:sp>
      <p:sp>
        <p:nvSpPr>
          <p:cNvPr id="57371" name="Text Box 27"/>
          <p:cNvSpPr txBox="1">
            <a:spLocks noChangeArrowheads="1"/>
          </p:cNvSpPr>
          <p:nvPr/>
        </p:nvSpPr>
        <p:spPr bwMode="auto">
          <a:xfrm>
            <a:off x="115888" y="1819275"/>
            <a:ext cx="5041900"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0000"/>
                </a:solidFill>
                <a:latin typeface="Times New Roman" pitchFamily="18" charset="0"/>
              </a:rPr>
              <a:t>求   </a:t>
            </a:r>
            <a:r>
              <a:rPr kumimoji="1" lang="zh-CN" altLang="en-US" sz="2400" b="1">
                <a:latin typeface="Times New Roman" pitchFamily="18" charset="0"/>
              </a:rPr>
              <a:t>线框中的感应电动势</a:t>
            </a:r>
          </a:p>
        </p:txBody>
      </p:sp>
      <p:graphicFrame>
        <p:nvGraphicFramePr>
          <p:cNvPr id="57372" name="Object 28"/>
          <p:cNvGraphicFramePr>
            <a:graphicFrameLocks noChangeAspect="1"/>
          </p:cNvGraphicFramePr>
          <p:nvPr/>
        </p:nvGraphicFramePr>
        <p:xfrm>
          <a:off x="1757363" y="1452563"/>
          <a:ext cx="230187" cy="320675"/>
        </p:xfrm>
        <a:graphic>
          <a:graphicData uri="http://schemas.openxmlformats.org/presentationml/2006/ole">
            <p:oleObj spid="_x0000_s5135" name="公式" r:id="rId16" imgW="85632" imgH="142830" progId="Equation.3">
              <p:embed/>
            </p:oleObj>
          </a:graphicData>
        </a:graphic>
      </p:graphicFrame>
      <p:sp>
        <p:nvSpPr>
          <p:cNvPr id="57373" name="Text Box 29"/>
          <p:cNvSpPr txBox="1">
            <a:spLocks noChangeArrowheads="1"/>
          </p:cNvSpPr>
          <p:nvPr/>
        </p:nvSpPr>
        <p:spPr bwMode="auto">
          <a:xfrm>
            <a:off x="107950" y="5589588"/>
            <a:ext cx="1655763" cy="461962"/>
          </a:xfrm>
          <a:prstGeom prst="rect">
            <a:avLst/>
          </a:prstGeom>
          <a:noFill/>
          <a:ln w="9525">
            <a:noFill/>
            <a:miter lim="800000"/>
            <a:headEnd/>
            <a:tailEnd/>
          </a:ln>
        </p:spPr>
        <p:txBody>
          <a:bodyPr>
            <a:spAutoFit/>
          </a:bodyPr>
          <a:lstStyle/>
          <a:p>
            <a:pPr algn="l"/>
            <a:r>
              <a:rPr kumimoji="1" lang="zh-CN" altLang="en-US" sz="2400" b="1">
                <a:solidFill>
                  <a:srgbClr val="FF0000"/>
                </a:solidFill>
                <a:latin typeface="Times New Roman" pitchFamily="18" charset="0"/>
              </a:rPr>
              <a:t>讨论：</a:t>
            </a:r>
          </a:p>
        </p:txBody>
      </p:sp>
      <p:grpSp>
        <p:nvGrpSpPr>
          <p:cNvPr id="2" name="Group 30"/>
          <p:cNvGrpSpPr>
            <a:grpSpLocks/>
          </p:cNvGrpSpPr>
          <p:nvPr/>
        </p:nvGrpSpPr>
        <p:grpSpPr bwMode="auto">
          <a:xfrm>
            <a:off x="1042988" y="5559425"/>
            <a:ext cx="7632700" cy="979488"/>
            <a:chOff x="657" y="3502"/>
            <a:chExt cx="4808" cy="617"/>
          </a:xfrm>
        </p:grpSpPr>
        <p:sp>
          <p:nvSpPr>
            <p:cNvPr id="5153" name="Text Box 31"/>
            <p:cNvSpPr txBox="1">
              <a:spLocks noChangeArrowheads="1"/>
            </p:cNvSpPr>
            <p:nvPr/>
          </p:nvSpPr>
          <p:spPr bwMode="auto">
            <a:xfrm>
              <a:off x="657" y="3502"/>
              <a:ext cx="4808" cy="617"/>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若导体线框不运动而是与长直导线保持</a:t>
              </a:r>
              <a:r>
                <a:rPr kumimoji="1" lang="zh-CN" altLang="en-US" sz="2400" b="1">
                  <a:solidFill>
                    <a:srgbClr val="FF6600"/>
                  </a:solidFill>
                  <a:latin typeface="Times New Roman" pitchFamily="18" charset="0"/>
                  <a:ea typeface="楷体_GB2312" pitchFamily="49" charset="-122"/>
                </a:rPr>
                <a:t>相对静止</a:t>
              </a:r>
              <a:r>
                <a:rPr kumimoji="1" lang="zh-CN" altLang="en-US" sz="2400" b="1">
                  <a:latin typeface="Times New Roman" pitchFamily="18" charset="0"/>
                  <a:ea typeface="楷体_GB2312" pitchFamily="49" charset="-122"/>
                </a:rPr>
                <a:t>，但长直导线通以电流                      ，则结果如何？</a:t>
              </a:r>
            </a:p>
          </p:txBody>
        </p:sp>
        <p:graphicFrame>
          <p:nvGraphicFramePr>
            <p:cNvPr id="5136" name="Object 32"/>
            <p:cNvGraphicFramePr>
              <a:graphicFrameLocks noChangeAspect="1"/>
            </p:cNvGraphicFramePr>
            <p:nvPr/>
          </p:nvGraphicFramePr>
          <p:xfrm>
            <a:off x="2180" y="3821"/>
            <a:ext cx="868" cy="245"/>
          </p:xfrm>
          <a:graphic>
            <a:graphicData uri="http://schemas.openxmlformats.org/presentationml/2006/ole">
              <p:oleObj spid="_x0000_s5136" name="公式" r:id="rId17" imgW="771500" imgH="190620" progId="Equation.3">
                <p:embed/>
              </p:oleObj>
            </a:graphicData>
          </a:graphic>
        </p:graphicFrame>
      </p:grpSp>
      <p:sp>
        <p:nvSpPr>
          <p:cNvPr id="57377" name="AutoShape 33">
            <a:hlinkClick r:id="rId18" action="ppaction://hlinksldjump" highlightClick="1"/>
          </p:cNvPr>
          <p:cNvSpPr>
            <a:spLocks noChangeArrowheads="1"/>
          </p:cNvSpPr>
          <p:nvPr/>
        </p:nvSpPr>
        <p:spPr bwMode="auto">
          <a:xfrm>
            <a:off x="8677275" y="6202363"/>
            <a:ext cx="287338"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70"/>
                                        </p:tgtEl>
                                        <p:attrNameLst>
                                          <p:attrName>style.visibility</p:attrName>
                                        </p:attrNameLst>
                                      </p:cBhvr>
                                      <p:to>
                                        <p:strVal val="visible"/>
                                      </p:to>
                                    </p:set>
                                    <p:animEffect transition="in" filter="wipe(left)">
                                      <p:cBhvr>
                                        <p:cTn id="7" dur="500"/>
                                        <p:tgtEl>
                                          <p:spTgt spid="573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39000"/>
                                  </p:iterate>
                                  <p:childTnLst>
                                    <p:set>
                                      <p:cBhvr>
                                        <p:cTn id="11" dur="1" fill="hold">
                                          <p:stCondLst>
                                            <p:cond delay="0"/>
                                          </p:stCondLst>
                                        </p:cTn>
                                        <p:tgtEl>
                                          <p:spTgt spid="57346"/>
                                        </p:tgtEl>
                                        <p:attrNameLst>
                                          <p:attrName>style.visibility</p:attrName>
                                        </p:attrNameLst>
                                      </p:cBhvr>
                                      <p:to>
                                        <p:strVal val="visible"/>
                                      </p:to>
                                    </p:set>
                                    <p:animEffect transition="in" filter="wipe(left)">
                                      <p:cBhvr>
                                        <p:cTn id="12" dur="500"/>
                                        <p:tgtEl>
                                          <p:spTgt spid="57346"/>
                                        </p:tgtEl>
                                      </p:cBhvr>
                                    </p:animEffect>
                                  </p:childTnLst>
                                </p:cTn>
                              </p:par>
                            </p:childTnLst>
                          </p:cTn>
                        </p:par>
                        <p:par>
                          <p:cTn id="13" fill="hold" nodeType="afterGroup">
                            <p:stCondLst>
                              <p:cond delay="13370"/>
                            </p:stCondLst>
                            <p:childTnLst>
                              <p:par>
                                <p:cTn id="14" presetID="22" presetClass="entr" presetSubtype="8" fill="hold" nodeType="afterEffect">
                                  <p:stCondLst>
                                    <p:cond delay="0"/>
                                  </p:stCondLst>
                                  <p:childTnLst>
                                    <p:set>
                                      <p:cBhvr>
                                        <p:cTn id="15" dur="1" fill="hold">
                                          <p:stCondLst>
                                            <p:cond delay="0"/>
                                          </p:stCondLst>
                                        </p:cTn>
                                        <p:tgtEl>
                                          <p:spTgt spid="57372"/>
                                        </p:tgtEl>
                                        <p:attrNameLst>
                                          <p:attrName>style.visibility</p:attrName>
                                        </p:attrNameLst>
                                      </p:cBhvr>
                                      <p:to>
                                        <p:strVal val="visible"/>
                                      </p:to>
                                    </p:set>
                                    <p:animEffect transition="in" filter="wipe(left)">
                                      <p:cBhvr>
                                        <p:cTn id="16" dur="500"/>
                                        <p:tgtEl>
                                          <p:spTgt spid="5737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57347"/>
                                        </p:tgtEl>
                                        <p:attrNameLst>
                                          <p:attrName>style.visibility</p:attrName>
                                        </p:attrNameLst>
                                      </p:cBhvr>
                                      <p:to>
                                        <p:strVal val="visible"/>
                                      </p:to>
                                    </p:set>
                                    <p:animEffect transition="in" filter="slide(fromBottom)">
                                      <p:cBhvr>
                                        <p:cTn id="21" dur="500"/>
                                        <p:tgtEl>
                                          <p:spTgt spid="5734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57349"/>
                                        </p:tgtEl>
                                        <p:attrNameLst>
                                          <p:attrName>style.visibility</p:attrName>
                                        </p:attrNameLst>
                                      </p:cBhvr>
                                      <p:to>
                                        <p:strVal val="visible"/>
                                      </p:to>
                                    </p:set>
                                    <p:animEffect transition="in" filter="slide(fromBottom)">
                                      <p:cBhvr>
                                        <p:cTn id="26" dur="500"/>
                                        <p:tgtEl>
                                          <p:spTgt spid="57349"/>
                                        </p:tgtEl>
                                      </p:cBhvr>
                                    </p:animEffect>
                                  </p:childTnLst>
                                </p:cTn>
                              </p:par>
                            </p:childTnLst>
                          </p:cTn>
                        </p:par>
                        <p:par>
                          <p:cTn id="27" fill="hold" nodeType="afterGroup">
                            <p:stCondLst>
                              <p:cond delay="500"/>
                            </p:stCondLst>
                            <p:childTnLst>
                              <p:par>
                                <p:cTn id="28" presetID="1" presetClass="entr" presetSubtype="0" fill="hold" nodeType="afterEffect">
                                  <p:stCondLst>
                                    <p:cond delay="0"/>
                                  </p:stCondLst>
                                  <p:childTnLst>
                                    <p:set>
                                      <p:cBhvr>
                                        <p:cTn id="29" dur="1" fill="hold">
                                          <p:stCondLst>
                                            <p:cond delay="499"/>
                                          </p:stCondLst>
                                        </p:cTn>
                                        <p:tgtEl>
                                          <p:spTgt spid="57351"/>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7" presetClass="entr" presetSubtype="2" fill="hold" grpId="0" nodeType="clickEffect">
                                  <p:stCondLst>
                                    <p:cond delay="0"/>
                                  </p:stCondLst>
                                  <p:childTnLst>
                                    <p:set>
                                      <p:cBhvr>
                                        <p:cTn id="33" dur="1" fill="hold">
                                          <p:stCondLst>
                                            <p:cond delay="0"/>
                                          </p:stCondLst>
                                        </p:cTn>
                                        <p:tgtEl>
                                          <p:spTgt spid="57348"/>
                                        </p:tgtEl>
                                        <p:attrNameLst>
                                          <p:attrName>style.visibility</p:attrName>
                                        </p:attrNameLst>
                                      </p:cBhvr>
                                      <p:to>
                                        <p:strVal val="visible"/>
                                      </p:to>
                                    </p:set>
                                    <p:anim calcmode="lin" valueType="num">
                                      <p:cBhvr additive="base">
                                        <p:cTn id="34" dur="5000" fill="hold"/>
                                        <p:tgtEl>
                                          <p:spTgt spid="57348"/>
                                        </p:tgtEl>
                                        <p:attrNameLst>
                                          <p:attrName>ppt_x</p:attrName>
                                        </p:attrNameLst>
                                      </p:cBhvr>
                                      <p:tavLst>
                                        <p:tav tm="0">
                                          <p:val>
                                            <p:strVal val="1+#ppt_w/2"/>
                                          </p:val>
                                        </p:tav>
                                        <p:tav tm="100000">
                                          <p:val>
                                            <p:strVal val="#ppt_x"/>
                                          </p:val>
                                        </p:tav>
                                      </p:tavLst>
                                    </p:anim>
                                    <p:anim calcmode="lin" valueType="num">
                                      <p:cBhvr additive="base">
                                        <p:cTn id="35" dur="5000" fill="hold"/>
                                        <p:tgtEl>
                                          <p:spTgt spid="57348"/>
                                        </p:tgtEl>
                                        <p:attrNameLst>
                                          <p:attrName>ppt_y</p:attrName>
                                        </p:attrNameLst>
                                      </p:cBhvr>
                                      <p:tavLst>
                                        <p:tav tm="0">
                                          <p:val>
                                            <p:strVal val="#ppt_y"/>
                                          </p:val>
                                        </p:tav>
                                        <p:tav tm="100000">
                                          <p:val>
                                            <p:strVal val="#ppt_y"/>
                                          </p:val>
                                        </p:tav>
                                      </p:tavLst>
                                    </p:anim>
                                  </p:childTnLst>
                                </p:cTn>
                              </p:par>
                            </p:childTnLst>
                          </p:cTn>
                        </p:par>
                        <p:par>
                          <p:cTn id="36" fill="hold" nodeType="afterGroup">
                            <p:stCondLst>
                              <p:cond delay="5000"/>
                            </p:stCondLst>
                            <p:childTnLst>
                              <p:par>
                                <p:cTn id="37" presetID="1" presetClass="entr" presetSubtype="0" fill="hold" nodeType="afterEffect">
                                  <p:stCondLst>
                                    <p:cond delay="0"/>
                                  </p:stCondLst>
                                  <p:childTnLst>
                                    <p:set>
                                      <p:cBhvr>
                                        <p:cTn id="38" dur="1" fill="hold">
                                          <p:stCondLst>
                                            <p:cond delay="499"/>
                                          </p:stCondLst>
                                        </p:cTn>
                                        <p:tgtEl>
                                          <p:spTgt spid="57353"/>
                                        </p:tgtEl>
                                        <p:attrNameLst>
                                          <p:attrName>style.visibility</p:attrName>
                                        </p:attrNameLst>
                                      </p:cBhvr>
                                      <p:to>
                                        <p:strVal val="visible"/>
                                      </p:to>
                                    </p:set>
                                  </p:childTnLst>
                                </p:cTn>
                              </p:par>
                            </p:childTnLst>
                          </p:cTn>
                        </p:par>
                        <p:par>
                          <p:cTn id="39" fill="hold" nodeType="afterGroup">
                            <p:stCondLst>
                              <p:cond delay="5500"/>
                            </p:stCondLst>
                            <p:childTnLst>
                              <p:par>
                                <p:cTn id="40" presetID="1" presetClass="entr" presetSubtype="0" fill="hold" nodeType="afterEffect">
                                  <p:stCondLst>
                                    <p:cond delay="0"/>
                                  </p:stCondLst>
                                  <p:childTnLst>
                                    <p:set>
                                      <p:cBhvr>
                                        <p:cTn id="41" dur="1" fill="hold">
                                          <p:stCondLst>
                                            <p:cond delay="499"/>
                                          </p:stCondLst>
                                        </p:cTn>
                                        <p:tgtEl>
                                          <p:spTgt spid="57354"/>
                                        </p:tgtEl>
                                        <p:attrNameLst>
                                          <p:attrName>style.visibility</p:attrName>
                                        </p:attrNameLst>
                                      </p:cBhvr>
                                      <p:to>
                                        <p:strVal val="visible"/>
                                      </p:to>
                                    </p:se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grpId="0" nodeType="clickEffect">
                                  <p:stCondLst>
                                    <p:cond delay="0"/>
                                  </p:stCondLst>
                                  <p:childTnLst>
                                    <p:set>
                                      <p:cBhvr>
                                        <p:cTn id="45" dur="1" fill="hold">
                                          <p:stCondLst>
                                            <p:cond delay="0"/>
                                          </p:stCondLst>
                                        </p:cTn>
                                        <p:tgtEl>
                                          <p:spTgt spid="57350"/>
                                        </p:tgtEl>
                                        <p:attrNameLst>
                                          <p:attrName>style.visibility</p:attrName>
                                        </p:attrNameLst>
                                      </p:cBhvr>
                                      <p:to>
                                        <p:strVal val="visible"/>
                                      </p:to>
                                    </p:set>
                                    <p:animEffect transition="in" filter="slide(fromLeft)">
                                      <p:cBhvr>
                                        <p:cTn id="46" dur="500"/>
                                        <p:tgtEl>
                                          <p:spTgt spid="57350"/>
                                        </p:tgtEl>
                                      </p:cBhvr>
                                    </p:animEffect>
                                  </p:childTnLst>
                                </p:cTn>
                              </p:par>
                            </p:childTnLst>
                          </p:cTn>
                        </p:par>
                        <p:par>
                          <p:cTn id="47" fill="hold" nodeType="afterGroup">
                            <p:stCondLst>
                              <p:cond delay="500"/>
                            </p:stCondLst>
                            <p:childTnLst>
                              <p:par>
                                <p:cTn id="48" presetID="1" presetClass="entr" presetSubtype="0" fill="hold" nodeType="afterEffect">
                                  <p:stCondLst>
                                    <p:cond delay="0"/>
                                  </p:stCondLst>
                                  <p:childTnLst>
                                    <p:set>
                                      <p:cBhvr>
                                        <p:cTn id="49" dur="1" fill="hold">
                                          <p:stCondLst>
                                            <p:cond delay="499"/>
                                          </p:stCondLst>
                                        </p:cTn>
                                        <p:tgtEl>
                                          <p:spTgt spid="57352"/>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iterate type="wd">
                                    <p:tmPct val="39000"/>
                                  </p:iterate>
                                  <p:childTnLst>
                                    <p:set>
                                      <p:cBhvr>
                                        <p:cTn id="53" dur="1" fill="hold">
                                          <p:stCondLst>
                                            <p:cond delay="0"/>
                                          </p:stCondLst>
                                        </p:cTn>
                                        <p:tgtEl>
                                          <p:spTgt spid="57371"/>
                                        </p:tgtEl>
                                        <p:attrNameLst>
                                          <p:attrName>style.visibility</p:attrName>
                                        </p:attrNameLst>
                                      </p:cBhvr>
                                      <p:to>
                                        <p:strVal val="visible"/>
                                      </p:to>
                                    </p:set>
                                    <p:animEffect transition="in" filter="wipe(left)">
                                      <p:cBhvr>
                                        <p:cTn id="54" dur="500"/>
                                        <p:tgtEl>
                                          <p:spTgt spid="57371"/>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7359"/>
                                        </p:tgtEl>
                                        <p:attrNameLst>
                                          <p:attrName>style.visibility</p:attrName>
                                        </p:attrNameLst>
                                      </p:cBhvr>
                                      <p:to>
                                        <p:strVal val="visible"/>
                                      </p:to>
                                    </p:set>
                                    <p:animEffect transition="in" filter="wipe(left)">
                                      <p:cBhvr>
                                        <p:cTn id="59" dur="500"/>
                                        <p:tgtEl>
                                          <p:spTgt spid="5735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2" presetClass="entr" presetSubtype="4" fill="hold" grpId="0" nodeType="clickEffect">
                                  <p:stCondLst>
                                    <p:cond delay="0"/>
                                  </p:stCondLst>
                                  <p:childTnLst>
                                    <p:set>
                                      <p:cBhvr>
                                        <p:cTn id="63" dur="1" fill="hold">
                                          <p:stCondLst>
                                            <p:cond delay="0"/>
                                          </p:stCondLst>
                                        </p:cTn>
                                        <p:tgtEl>
                                          <p:spTgt spid="57355"/>
                                        </p:tgtEl>
                                        <p:attrNameLst>
                                          <p:attrName>style.visibility</p:attrName>
                                        </p:attrNameLst>
                                      </p:cBhvr>
                                      <p:to>
                                        <p:strVal val="visible"/>
                                      </p:to>
                                    </p:set>
                                    <p:animEffect transition="in" filter="slide(fromBottom)">
                                      <p:cBhvr>
                                        <p:cTn id="64" dur="500"/>
                                        <p:tgtEl>
                                          <p:spTgt spid="5735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57357"/>
                                        </p:tgtEl>
                                        <p:attrNameLst>
                                          <p:attrName>style.visibility</p:attrName>
                                        </p:attrNameLst>
                                      </p:cBhvr>
                                      <p:to>
                                        <p:strVal val="visible"/>
                                      </p:to>
                                    </p:set>
                                  </p:childTnLst>
                                </p:cTn>
                              </p:par>
                            </p:childTnLst>
                          </p:cTn>
                        </p:par>
                        <p:par>
                          <p:cTn id="69" fill="hold" nodeType="afterGroup">
                            <p:stCondLst>
                              <p:cond delay="500"/>
                            </p:stCondLst>
                            <p:childTnLst>
                              <p:par>
                                <p:cTn id="70" presetID="1" presetClass="entr" presetSubtype="0" fill="hold" nodeType="afterEffect">
                                  <p:stCondLst>
                                    <p:cond delay="0"/>
                                  </p:stCondLst>
                                  <p:childTnLst>
                                    <p:set>
                                      <p:cBhvr>
                                        <p:cTn id="71" dur="1" fill="hold">
                                          <p:stCondLst>
                                            <p:cond delay="499"/>
                                          </p:stCondLst>
                                        </p:cTn>
                                        <p:tgtEl>
                                          <p:spTgt spid="57358"/>
                                        </p:tgtEl>
                                        <p:attrNameLst>
                                          <p:attrName>style.visibility</p:attrName>
                                        </p:attrNameLst>
                                      </p:cBhvr>
                                      <p:to>
                                        <p:strVal val="visible"/>
                                      </p:to>
                                    </p:set>
                                  </p:childTnLst>
                                </p:cTn>
                              </p:par>
                            </p:childTnLst>
                          </p:cTn>
                        </p:par>
                        <p:par>
                          <p:cTn id="72" fill="hold" nodeType="afterGroup">
                            <p:stCondLst>
                              <p:cond delay="1000"/>
                            </p:stCondLst>
                            <p:childTnLst>
                              <p:par>
                                <p:cTn id="73" presetID="1" presetClass="entr" presetSubtype="0" fill="hold" nodeType="afterEffect">
                                  <p:stCondLst>
                                    <p:cond delay="0"/>
                                  </p:stCondLst>
                                  <p:childTnLst>
                                    <p:set>
                                      <p:cBhvr>
                                        <p:cTn id="74" dur="1" fill="hold">
                                          <p:stCondLst>
                                            <p:cond delay="499"/>
                                          </p:stCondLst>
                                        </p:cTn>
                                        <p:tgtEl>
                                          <p:spTgt spid="57356"/>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57361"/>
                                        </p:tgtEl>
                                        <p:attrNameLst>
                                          <p:attrName>style.visibility</p:attrName>
                                        </p:attrNameLst>
                                      </p:cBhvr>
                                      <p:to>
                                        <p:strVal val="visible"/>
                                      </p:to>
                                    </p:set>
                                    <p:animEffect transition="in" filter="wipe(left)">
                                      <p:cBhvr>
                                        <p:cTn id="79" dur="500"/>
                                        <p:tgtEl>
                                          <p:spTgt spid="57361"/>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57369"/>
                                        </p:tgtEl>
                                        <p:attrNameLst>
                                          <p:attrName>style.visibility</p:attrName>
                                        </p:attrNameLst>
                                      </p:cBhvr>
                                      <p:to>
                                        <p:strVal val="visible"/>
                                      </p:to>
                                    </p:set>
                                    <p:animEffect transition="in" filter="wipe(left)">
                                      <p:cBhvr>
                                        <p:cTn id="84" dur="2000"/>
                                        <p:tgtEl>
                                          <p:spTgt spid="57369"/>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nodeType="clickEffect">
                                  <p:stCondLst>
                                    <p:cond delay="0"/>
                                  </p:stCondLst>
                                  <p:childTnLst>
                                    <p:set>
                                      <p:cBhvr>
                                        <p:cTn id="88" dur="1" fill="hold">
                                          <p:stCondLst>
                                            <p:cond delay="0"/>
                                          </p:stCondLst>
                                        </p:cTn>
                                        <p:tgtEl>
                                          <p:spTgt spid="57360"/>
                                        </p:tgtEl>
                                        <p:attrNameLst>
                                          <p:attrName>style.visibility</p:attrName>
                                        </p:attrNameLst>
                                      </p:cBhvr>
                                      <p:to>
                                        <p:strVal val="visible"/>
                                      </p:to>
                                    </p:set>
                                    <p:animEffect transition="in" filter="wipe(left)">
                                      <p:cBhvr>
                                        <p:cTn id="89" dur="2000"/>
                                        <p:tgtEl>
                                          <p:spTgt spid="57360"/>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grpId="0" nodeType="clickEffect">
                                  <p:stCondLst>
                                    <p:cond delay="0"/>
                                  </p:stCondLst>
                                  <p:childTnLst>
                                    <p:set>
                                      <p:cBhvr>
                                        <p:cTn id="93" dur="1" fill="hold">
                                          <p:stCondLst>
                                            <p:cond delay="499"/>
                                          </p:stCondLst>
                                        </p:cTn>
                                        <p:tgtEl>
                                          <p:spTgt spid="57365"/>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499"/>
                                          </p:stCondLst>
                                        </p:cTn>
                                        <p:tgtEl>
                                          <p:spTgt spid="57366"/>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57362"/>
                                        </p:tgtEl>
                                        <p:attrNameLst>
                                          <p:attrName>style.visibility</p:attrName>
                                        </p:attrNameLst>
                                      </p:cBhvr>
                                      <p:to>
                                        <p:strVal val="visible"/>
                                      </p:to>
                                    </p:set>
                                    <p:animEffect transition="in" filter="wipe(left)">
                                      <p:cBhvr>
                                        <p:cTn id="102" dur="2000"/>
                                        <p:tgtEl>
                                          <p:spTgt spid="57362"/>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57363"/>
                                        </p:tgtEl>
                                        <p:attrNameLst>
                                          <p:attrName>style.visibility</p:attrName>
                                        </p:attrNameLst>
                                      </p:cBhvr>
                                      <p:to>
                                        <p:strVal val="visible"/>
                                      </p:to>
                                    </p:set>
                                    <p:animEffect transition="in" filter="wipe(left)">
                                      <p:cBhvr>
                                        <p:cTn id="107" dur="2000"/>
                                        <p:tgtEl>
                                          <p:spTgt spid="5736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57364"/>
                                        </p:tgtEl>
                                        <p:attrNameLst>
                                          <p:attrName>style.visibility</p:attrName>
                                        </p:attrNameLst>
                                      </p:cBhvr>
                                      <p:to>
                                        <p:strVal val="visible"/>
                                      </p:to>
                                    </p:set>
                                    <p:animEffect transition="in" filter="wipe(left)">
                                      <p:cBhvr>
                                        <p:cTn id="112" dur="2000"/>
                                        <p:tgtEl>
                                          <p:spTgt spid="5736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57367"/>
                                        </p:tgtEl>
                                        <p:attrNameLst>
                                          <p:attrName>style.visibility</p:attrName>
                                        </p:attrNameLst>
                                      </p:cBhvr>
                                      <p:to>
                                        <p:strVal val="visible"/>
                                      </p:to>
                                    </p:set>
                                    <p:animEffect transition="in" filter="wipe(left)">
                                      <p:cBhvr>
                                        <p:cTn id="117" dur="2000"/>
                                        <p:tgtEl>
                                          <p:spTgt spid="57367"/>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57368"/>
                                        </p:tgtEl>
                                        <p:attrNameLst>
                                          <p:attrName>style.visibility</p:attrName>
                                        </p:attrNameLst>
                                      </p:cBhvr>
                                      <p:to>
                                        <p:strVal val="visible"/>
                                      </p:to>
                                    </p:set>
                                    <p:animEffect transition="in" filter="wipe(left)">
                                      <p:cBhvr>
                                        <p:cTn id="122" dur="2000"/>
                                        <p:tgtEl>
                                          <p:spTgt spid="57368"/>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57373"/>
                                        </p:tgtEl>
                                        <p:attrNameLst>
                                          <p:attrName>style.visibility</p:attrName>
                                        </p:attrNameLst>
                                      </p:cBhvr>
                                      <p:to>
                                        <p:strVal val="visible"/>
                                      </p:to>
                                    </p:set>
                                    <p:animEffect transition="in" filter="wipe(left)">
                                      <p:cBhvr>
                                        <p:cTn id="127" dur="500"/>
                                        <p:tgtEl>
                                          <p:spTgt spid="57373"/>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2"/>
                                        </p:tgtEl>
                                        <p:attrNameLst>
                                          <p:attrName>style.visibility</p:attrName>
                                        </p:attrNameLst>
                                      </p:cBhvr>
                                      <p:to>
                                        <p:strVal val="visible"/>
                                      </p:to>
                                    </p:set>
                                    <p:animEffect transition="in" filter="wipe(left)">
                                      <p:cBhvr>
                                        <p:cTn id="132" dur="1000"/>
                                        <p:tgtEl>
                                          <p:spTgt spid="2"/>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57377"/>
                                        </p:tgtEl>
                                        <p:attrNameLst>
                                          <p:attrName>style.visibility</p:attrName>
                                        </p:attrNameLst>
                                      </p:cBhvr>
                                      <p:to>
                                        <p:strVal val="visible"/>
                                      </p:to>
                                    </p:set>
                                    <p:animEffect transition="in" filter="wipe(left)">
                                      <p:cBhvr>
                                        <p:cTn id="137" dur="500"/>
                                        <p:tgtEl>
                                          <p:spTgt spid="57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utoUpdateAnimBg="0"/>
      <p:bldP spid="57347" grpId="0" animBg="1"/>
      <p:bldP spid="57348" grpId="0" animBg="1"/>
      <p:bldP spid="57349" grpId="0" animBg="1"/>
      <p:bldP spid="57350" grpId="0" animBg="1"/>
      <p:bldP spid="57355" grpId="0" animBg="1"/>
      <p:bldP spid="57357" grpId="0" animBg="1"/>
      <p:bldP spid="57359" grpId="0" autoUpdateAnimBg="0"/>
      <p:bldP spid="57361" grpId="0" autoUpdateAnimBg="0"/>
      <p:bldP spid="57365" grpId="0" animBg="1"/>
      <p:bldP spid="57369" grpId="0" autoUpdateAnimBg="0"/>
      <p:bldP spid="57370" grpId="0"/>
      <p:bldP spid="57371" grpId="0" autoUpdateAnimBg="0"/>
      <p:bldP spid="57373" grpId="0" autoUpdateAnimBg="0"/>
      <p:bldP spid="5737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5" name="Text Box 4">
            <a:hlinkClick r:id="rId3"/>
          </p:cNvPr>
          <p:cNvSpPr txBox="1">
            <a:spLocks noChangeArrowheads="1"/>
          </p:cNvSpPr>
          <p:nvPr/>
        </p:nvSpPr>
        <p:spPr bwMode="auto">
          <a:xfrm>
            <a:off x="1403350" y="404813"/>
            <a:ext cx="6192838" cy="604837"/>
          </a:xfrm>
          <a:prstGeom prst="rect">
            <a:avLst/>
          </a:prstGeom>
          <a:noFill/>
          <a:ln w="9525">
            <a:noFill/>
            <a:miter lim="800000"/>
            <a:headEnd/>
            <a:tailEnd/>
          </a:ln>
        </p:spPr>
        <p:txBody>
          <a:bodyPr>
            <a:spAutoFit/>
          </a:bodyPr>
          <a:lstStyle/>
          <a:p>
            <a:pPr algn="l">
              <a:lnSpc>
                <a:spcPct val="120000"/>
              </a:lnSpc>
            </a:pPr>
            <a:r>
              <a:rPr lang="en-US" altLang="zh-CN" sz="2800" b="1">
                <a:solidFill>
                  <a:schemeClr val="accent2"/>
                </a:solidFill>
                <a:latin typeface="Times New Roman" pitchFamily="18" charset="0"/>
              </a:rPr>
              <a:t>§11.2     </a:t>
            </a:r>
            <a:r>
              <a:rPr lang="zh-CN" altLang="en-US" sz="2800" b="1">
                <a:solidFill>
                  <a:schemeClr val="accent2"/>
                </a:solidFill>
                <a:latin typeface="黑体" pitchFamily="49" charset="-122"/>
                <a:ea typeface="黑体" pitchFamily="49" charset="-122"/>
              </a:rPr>
              <a:t>动生电动势  感生电动势</a:t>
            </a:r>
          </a:p>
        </p:txBody>
      </p:sp>
      <p:sp>
        <p:nvSpPr>
          <p:cNvPr id="5166" name="Text Box 46"/>
          <p:cNvSpPr txBox="1">
            <a:spLocks noChangeArrowheads="1"/>
          </p:cNvSpPr>
          <p:nvPr/>
        </p:nvSpPr>
        <p:spPr bwMode="auto">
          <a:xfrm>
            <a:off x="323850" y="1341438"/>
            <a:ext cx="1250950" cy="1006475"/>
          </a:xfrm>
          <a:prstGeom prst="rect">
            <a:avLst/>
          </a:prstGeom>
          <a:noFill/>
          <a:ln w="9525">
            <a:noFill/>
            <a:miter lim="800000"/>
            <a:headEnd/>
            <a:tailEnd/>
          </a:ln>
        </p:spPr>
        <p:txBody>
          <a:bodyPr>
            <a:spAutoFit/>
          </a:bodyPr>
          <a:lstStyle/>
          <a:p>
            <a:pPr algn="l">
              <a:lnSpc>
                <a:spcPct val="125000"/>
              </a:lnSpc>
            </a:pPr>
            <a:r>
              <a:rPr kumimoji="1" lang="zh-CN" altLang="en-US" sz="2400" b="1">
                <a:solidFill>
                  <a:srgbClr val="FF0000"/>
                </a:solidFill>
                <a:latin typeface="Times New Roman" pitchFamily="18" charset="0"/>
                <a:ea typeface="楷体_GB2312" pitchFamily="49" charset="-122"/>
              </a:rPr>
              <a:t>两种不</a:t>
            </a:r>
          </a:p>
          <a:p>
            <a:pPr algn="l">
              <a:lnSpc>
                <a:spcPct val="125000"/>
              </a:lnSpc>
            </a:pPr>
            <a:r>
              <a:rPr kumimoji="1" lang="zh-CN" altLang="en-US" sz="2400" b="1">
                <a:solidFill>
                  <a:srgbClr val="FF0000"/>
                </a:solidFill>
                <a:latin typeface="Times New Roman" pitchFamily="18" charset="0"/>
                <a:ea typeface="楷体_GB2312" pitchFamily="49" charset="-122"/>
              </a:rPr>
              <a:t>同机制</a:t>
            </a:r>
          </a:p>
        </p:txBody>
      </p:sp>
      <p:sp>
        <p:nvSpPr>
          <p:cNvPr id="5167" name="AutoShape 47"/>
          <p:cNvSpPr>
            <a:spLocks/>
          </p:cNvSpPr>
          <p:nvPr/>
        </p:nvSpPr>
        <p:spPr bwMode="auto">
          <a:xfrm>
            <a:off x="1476375" y="1341438"/>
            <a:ext cx="215900" cy="1008062"/>
          </a:xfrm>
          <a:prstGeom prst="leftBrace">
            <a:avLst>
              <a:gd name="adj1" fmla="val 38909"/>
              <a:gd name="adj2" fmla="val 51852"/>
            </a:avLst>
          </a:prstGeom>
          <a:noFill/>
          <a:ln w="28575">
            <a:solidFill>
              <a:srgbClr val="FF0000"/>
            </a:solidFill>
            <a:round/>
            <a:headEnd/>
            <a:tailEnd/>
          </a:ln>
        </p:spPr>
        <p:txBody>
          <a:bodyPr wrap="none" anchor="ctr"/>
          <a:lstStyle/>
          <a:p>
            <a:endParaRPr lang="zh-CN" altLang="en-US"/>
          </a:p>
        </p:txBody>
      </p:sp>
      <p:sp>
        <p:nvSpPr>
          <p:cNvPr id="5168" name="Text Box 48"/>
          <p:cNvSpPr txBox="1">
            <a:spLocks noChangeArrowheads="1"/>
          </p:cNvSpPr>
          <p:nvPr/>
        </p:nvSpPr>
        <p:spPr bwMode="auto">
          <a:xfrm>
            <a:off x="1878013" y="1052513"/>
            <a:ext cx="7158037" cy="968375"/>
          </a:xfrm>
          <a:prstGeom prst="rect">
            <a:avLst/>
          </a:prstGeom>
          <a:noFill/>
          <a:ln w="9525">
            <a:noFill/>
            <a:miter lim="800000"/>
            <a:headEnd/>
            <a:tailEnd/>
          </a:ln>
        </p:spPr>
        <p:txBody>
          <a:bodyPr>
            <a:spAutoFit/>
          </a:bodyPr>
          <a:lstStyle/>
          <a:p>
            <a:pPr marL="342900" indent="-342900" algn="l">
              <a:lnSpc>
                <a:spcPct val="120000"/>
              </a:lnSpc>
              <a:buFontTx/>
              <a:buAutoNum type="arabicParenBoth"/>
            </a:pPr>
            <a:r>
              <a:rPr kumimoji="1" lang="en-US" altLang="zh-CN" sz="2400" b="1">
                <a:latin typeface="Times New Roman" pitchFamily="18" charset="0"/>
                <a:ea typeface="楷体_GB2312" pitchFamily="49" charset="-122"/>
                <a:cs typeface="Times New Roman" pitchFamily="18" charset="0"/>
              </a:rPr>
              <a:t>  </a:t>
            </a:r>
            <a:r>
              <a:rPr kumimoji="1" lang="zh-CN" altLang="en-US" sz="2400" b="1">
                <a:latin typeface="Times New Roman" pitchFamily="18" charset="0"/>
                <a:ea typeface="楷体_GB2312" pitchFamily="49" charset="-122"/>
                <a:cs typeface="Times New Roman" pitchFamily="18" charset="0"/>
              </a:rPr>
              <a:t>相对于实验室参照系，</a:t>
            </a:r>
            <a:r>
              <a:rPr kumimoji="1" lang="zh-CN" altLang="en-US" sz="2400" b="1">
                <a:solidFill>
                  <a:srgbClr val="008000"/>
                </a:solidFill>
                <a:latin typeface="Times New Roman" pitchFamily="18" charset="0"/>
                <a:ea typeface="楷体_GB2312" pitchFamily="49" charset="-122"/>
                <a:cs typeface="Times New Roman" pitchFamily="18" charset="0"/>
              </a:rPr>
              <a:t>磁场不随时间变化</a:t>
            </a:r>
            <a:r>
              <a:rPr kumimoji="1" lang="zh-CN" altLang="en-US" sz="2400" b="1">
                <a:latin typeface="Times New Roman" pitchFamily="18" charset="0"/>
                <a:ea typeface="楷体_GB2312" pitchFamily="49" charset="-122"/>
                <a:cs typeface="Times New Roman" pitchFamily="18" charset="0"/>
              </a:rPr>
              <a:t>，而</a:t>
            </a:r>
            <a:r>
              <a:rPr kumimoji="1" lang="zh-CN" altLang="en-US" sz="2400" b="1">
                <a:solidFill>
                  <a:srgbClr val="008000"/>
                </a:solidFill>
                <a:latin typeface="Times New Roman" pitchFamily="18" charset="0"/>
                <a:ea typeface="楷体_GB2312" pitchFamily="49" charset="-122"/>
                <a:cs typeface="Times New Roman" pitchFamily="18" charset="0"/>
              </a:rPr>
              <a:t>导体回路运动</a:t>
            </a:r>
            <a:r>
              <a:rPr kumimoji="1" lang="en-US" altLang="zh-CN" sz="2400" b="1">
                <a:latin typeface="Times New Roman" pitchFamily="18" charset="0"/>
                <a:ea typeface="楷体_GB2312" pitchFamily="49" charset="-122"/>
                <a:cs typeface="Times New Roman" pitchFamily="18" charset="0"/>
              </a:rPr>
              <a:t>(</a:t>
            </a:r>
            <a:r>
              <a:rPr kumimoji="1" lang="zh-CN" altLang="en-US" sz="2400" b="1">
                <a:latin typeface="Times New Roman" pitchFamily="18" charset="0"/>
                <a:ea typeface="楷体_GB2312" pitchFamily="49" charset="-122"/>
                <a:cs typeface="Times New Roman" pitchFamily="18" charset="0"/>
              </a:rPr>
              <a:t>切割磁场线</a:t>
            </a:r>
            <a:r>
              <a:rPr kumimoji="1" lang="en-US" altLang="zh-CN" sz="2400" b="1">
                <a:latin typeface="Times New Roman" pitchFamily="18" charset="0"/>
                <a:ea typeface="楷体_GB2312" pitchFamily="49" charset="-122"/>
                <a:cs typeface="Times New Roman" pitchFamily="18" charset="0"/>
              </a:rPr>
              <a:t>) </a:t>
            </a:r>
            <a:r>
              <a:rPr kumimoji="1" lang="en-US" altLang="zh-CN" sz="2400" b="1">
                <a:solidFill>
                  <a:srgbClr val="FF6600"/>
                </a:solidFill>
                <a:latin typeface="Times New Roman" pitchFamily="18" charset="0"/>
                <a:ea typeface="楷体_GB2312" pitchFamily="49" charset="-122"/>
                <a:cs typeface="Times New Roman" pitchFamily="18" charset="0"/>
              </a:rPr>
              <a:t>------</a:t>
            </a:r>
            <a:r>
              <a:rPr kumimoji="1" lang="zh-CN" altLang="en-US" sz="2400" b="1">
                <a:solidFill>
                  <a:srgbClr val="FF6600"/>
                </a:solidFill>
                <a:latin typeface="Times New Roman" pitchFamily="18" charset="0"/>
                <a:ea typeface="楷体_GB2312" pitchFamily="49" charset="-122"/>
                <a:cs typeface="Times New Roman" pitchFamily="18" charset="0"/>
              </a:rPr>
              <a:t>动生电动势</a:t>
            </a:r>
          </a:p>
        </p:txBody>
      </p:sp>
      <p:grpSp>
        <p:nvGrpSpPr>
          <p:cNvPr id="2" name="Group 52"/>
          <p:cNvGrpSpPr>
            <a:grpSpLocks/>
          </p:cNvGrpSpPr>
          <p:nvPr/>
        </p:nvGrpSpPr>
        <p:grpSpPr bwMode="auto">
          <a:xfrm>
            <a:off x="6484938" y="2741613"/>
            <a:ext cx="609600" cy="3714750"/>
            <a:chOff x="4320" y="18"/>
            <a:chExt cx="384" cy="2426"/>
          </a:xfrm>
        </p:grpSpPr>
        <p:sp>
          <p:nvSpPr>
            <p:cNvPr id="6184" name="Rectangle 53"/>
            <p:cNvSpPr>
              <a:spLocks noChangeArrowheads="1"/>
            </p:cNvSpPr>
            <p:nvPr/>
          </p:nvSpPr>
          <p:spPr bwMode="auto">
            <a:xfrm>
              <a:off x="4320" y="336"/>
              <a:ext cx="384" cy="1728"/>
            </a:xfrm>
            <a:prstGeom prst="rect">
              <a:avLst/>
            </a:prstGeom>
            <a:gradFill rotWithShape="1">
              <a:gsLst>
                <a:gs pos="0">
                  <a:srgbClr val="99FF33"/>
                </a:gs>
                <a:gs pos="50000">
                  <a:srgbClr val="477618"/>
                </a:gs>
                <a:gs pos="100000">
                  <a:srgbClr val="99FF33"/>
                </a:gs>
              </a:gsLst>
              <a:lin ang="0" scaled="1"/>
            </a:gradFill>
            <a:ln w="9525">
              <a:noFill/>
              <a:miter lim="800000"/>
              <a:headEnd/>
              <a:tailEnd/>
            </a:ln>
          </p:spPr>
          <p:txBody>
            <a:bodyPr wrap="none" anchor="ctr"/>
            <a:lstStyle/>
            <a:p>
              <a:endParaRPr lang="zh-CN" altLang="en-US"/>
            </a:p>
          </p:txBody>
        </p:sp>
        <p:sp>
          <p:nvSpPr>
            <p:cNvPr id="6185" name="Text Box 54"/>
            <p:cNvSpPr txBox="1">
              <a:spLocks noChangeArrowheads="1"/>
            </p:cNvSpPr>
            <p:nvPr/>
          </p:nvSpPr>
          <p:spPr bwMode="auto">
            <a:xfrm>
              <a:off x="4406" y="2146"/>
              <a:ext cx="212" cy="298"/>
            </a:xfrm>
            <a:prstGeom prst="rect">
              <a:avLst/>
            </a:prstGeom>
            <a:noFill/>
            <a:ln w="9525">
              <a:noFill/>
              <a:miter lim="800000"/>
              <a:headEnd/>
              <a:tailEnd/>
            </a:ln>
          </p:spPr>
          <p:txBody>
            <a:bodyPr wrap="none">
              <a:spAutoFit/>
            </a:bodyPr>
            <a:lstStyle/>
            <a:p>
              <a:pPr algn="l"/>
              <a:r>
                <a:rPr kumimoji="1" lang="en-US" altLang="zh-CN" sz="2400" b="1" i="1">
                  <a:solidFill>
                    <a:srgbClr val="008000"/>
                  </a:solidFill>
                  <a:latin typeface="Times New Roman" pitchFamily="18" charset="0"/>
                </a:rPr>
                <a:t>a</a:t>
              </a:r>
            </a:p>
          </p:txBody>
        </p:sp>
        <p:sp>
          <p:nvSpPr>
            <p:cNvPr id="6186" name="Text Box 55"/>
            <p:cNvSpPr txBox="1">
              <a:spLocks noChangeArrowheads="1"/>
            </p:cNvSpPr>
            <p:nvPr/>
          </p:nvSpPr>
          <p:spPr bwMode="auto">
            <a:xfrm>
              <a:off x="4406" y="18"/>
              <a:ext cx="212" cy="299"/>
            </a:xfrm>
            <a:prstGeom prst="rect">
              <a:avLst/>
            </a:prstGeom>
            <a:noFill/>
            <a:ln w="9525">
              <a:noFill/>
              <a:miter lim="800000"/>
              <a:headEnd/>
              <a:tailEnd/>
            </a:ln>
          </p:spPr>
          <p:txBody>
            <a:bodyPr>
              <a:spAutoFit/>
            </a:bodyPr>
            <a:lstStyle/>
            <a:p>
              <a:pPr algn="l"/>
              <a:r>
                <a:rPr kumimoji="1" lang="en-US" altLang="zh-CN" sz="2400" b="1" i="1">
                  <a:solidFill>
                    <a:srgbClr val="008000"/>
                  </a:solidFill>
                  <a:latin typeface="Times New Roman" pitchFamily="18" charset="0"/>
                </a:rPr>
                <a:t>b</a:t>
              </a:r>
            </a:p>
          </p:txBody>
        </p:sp>
      </p:grpSp>
      <p:grpSp>
        <p:nvGrpSpPr>
          <p:cNvPr id="3" name="Group 56"/>
          <p:cNvGrpSpPr>
            <a:grpSpLocks/>
          </p:cNvGrpSpPr>
          <p:nvPr/>
        </p:nvGrpSpPr>
        <p:grpSpPr bwMode="auto">
          <a:xfrm>
            <a:off x="4629150" y="3097213"/>
            <a:ext cx="4191000" cy="3140075"/>
            <a:chOff x="2784" y="2631"/>
            <a:chExt cx="2640" cy="1978"/>
          </a:xfrm>
        </p:grpSpPr>
        <p:sp>
          <p:nvSpPr>
            <p:cNvPr id="6183" name="Text Box 57"/>
            <p:cNvSpPr txBox="1">
              <a:spLocks noChangeArrowheads="1"/>
            </p:cNvSpPr>
            <p:nvPr/>
          </p:nvSpPr>
          <p:spPr bwMode="auto">
            <a:xfrm>
              <a:off x="2784" y="2631"/>
              <a:ext cx="2640" cy="1978"/>
            </a:xfrm>
            <a:prstGeom prst="rect">
              <a:avLst/>
            </a:prstGeom>
            <a:noFill/>
            <a:ln w="38100">
              <a:noFill/>
              <a:miter lim="800000"/>
              <a:headEnd/>
              <a:tailEnd/>
            </a:ln>
          </p:spPr>
          <p:txBody>
            <a:bodyPr>
              <a:spAutoFit/>
            </a:bodyPr>
            <a:lstStyle/>
            <a:p>
              <a:pPr algn="l"/>
              <a:r>
                <a:rPr kumimoji="1" lang="en-US" altLang="zh-CN" sz="2000" b="1">
                  <a:latin typeface="Times New Roman" pitchFamily="18" charset="0"/>
                </a:rPr>
                <a:t>×      ×     ×      ×     ×     ×     ×     </a:t>
              </a:r>
            </a:p>
            <a:p>
              <a:pPr algn="l"/>
              <a:endParaRPr kumimoji="1" lang="en-US" altLang="zh-CN" sz="2000" b="1">
                <a:latin typeface="Times New Roman" pitchFamily="18" charset="0"/>
              </a:endParaRPr>
            </a:p>
            <a:p>
              <a:pPr algn="l"/>
              <a:r>
                <a:rPr kumimoji="1" lang="en-US" altLang="zh-CN" sz="2000" b="1">
                  <a:latin typeface="Times New Roman" pitchFamily="18" charset="0"/>
                </a:rPr>
                <a:t>×      ×     ×      ×     ×     ×     ×     </a:t>
              </a:r>
            </a:p>
            <a:p>
              <a:pPr algn="l"/>
              <a:endParaRPr kumimoji="1" lang="en-US" altLang="zh-CN" sz="2000" b="1">
                <a:latin typeface="Times New Roman" pitchFamily="18" charset="0"/>
              </a:endParaRPr>
            </a:p>
            <a:p>
              <a:pPr algn="l"/>
              <a:r>
                <a:rPr kumimoji="1" lang="en-US" altLang="zh-CN" sz="2000" b="1">
                  <a:latin typeface="Times New Roman" pitchFamily="18" charset="0"/>
                </a:rPr>
                <a:t>×      ×     ×      ×     ×     ×     ×     </a:t>
              </a:r>
            </a:p>
            <a:p>
              <a:pPr algn="l"/>
              <a:endParaRPr kumimoji="1" lang="en-US" altLang="zh-CN" sz="2000" b="1">
                <a:latin typeface="Times New Roman" pitchFamily="18" charset="0"/>
              </a:endParaRPr>
            </a:p>
            <a:p>
              <a:pPr algn="l"/>
              <a:r>
                <a:rPr kumimoji="1" lang="en-US" altLang="zh-CN" sz="2000" b="1">
                  <a:latin typeface="Times New Roman" pitchFamily="18" charset="0"/>
                </a:rPr>
                <a:t>×      ×     ×      ×     ×     ×     ×     </a:t>
              </a:r>
            </a:p>
            <a:p>
              <a:pPr algn="l"/>
              <a:endParaRPr kumimoji="1" lang="en-US" altLang="zh-CN" sz="2000" b="1">
                <a:latin typeface="Times New Roman" pitchFamily="18" charset="0"/>
              </a:endParaRPr>
            </a:p>
            <a:p>
              <a:pPr algn="l"/>
              <a:r>
                <a:rPr kumimoji="1" lang="en-US" altLang="zh-CN" sz="2000" b="1">
                  <a:latin typeface="Times New Roman" pitchFamily="18" charset="0"/>
                </a:rPr>
                <a:t>×      ×     ×      ×     ×     ×     ×    </a:t>
              </a:r>
            </a:p>
            <a:p>
              <a:pPr algn="l"/>
              <a:endParaRPr kumimoji="1" lang="en-US" altLang="zh-CN" sz="2000" b="1">
                <a:latin typeface="Times New Roman" pitchFamily="18" charset="0"/>
              </a:endParaRPr>
            </a:p>
          </p:txBody>
        </p:sp>
        <p:graphicFrame>
          <p:nvGraphicFramePr>
            <p:cNvPr id="6154" name="Object 58"/>
            <p:cNvGraphicFramePr>
              <a:graphicFrameLocks noChangeAspect="1"/>
            </p:cNvGraphicFramePr>
            <p:nvPr/>
          </p:nvGraphicFramePr>
          <p:xfrm>
            <a:off x="4876" y="2931"/>
            <a:ext cx="175" cy="215"/>
          </p:xfrm>
          <a:graphic>
            <a:graphicData uri="http://schemas.openxmlformats.org/presentationml/2006/ole">
              <p:oleObj spid="_x0000_s6154" name="公式" r:id="rId4" imgW="238257" imgH="304830" progId="Equation.3">
                <p:embed/>
              </p:oleObj>
            </a:graphicData>
          </a:graphic>
        </p:graphicFrame>
      </p:grpSp>
      <p:sp>
        <p:nvSpPr>
          <p:cNvPr id="5179" name="Text Box 59"/>
          <p:cNvSpPr txBox="1">
            <a:spLocks noChangeArrowheads="1"/>
          </p:cNvSpPr>
          <p:nvPr/>
        </p:nvSpPr>
        <p:spPr bwMode="auto">
          <a:xfrm>
            <a:off x="107950" y="2970213"/>
            <a:ext cx="3168650" cy="5302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00FF"/>
                </a:solidFill>
                <a:latin typeface="Times New Roman" pitchFamily="18" charset="0"/>
              </a:rPr>
              <a:t>11.2.1  </a:t>
            </a:r>
            <a:r>
              <a:rPr kumimoji="1" lang="zh-CN" altLang="en-US" sz="2400" b="1">
                <a:solidFill>
                  <a:srgbClr val="0000FF"/>
                </a:solidFill>
                <a:latin typeface="Times New Roman" pitchFamily="18" charset="0"/>
              </a:rPr>
              <a:t>动生电动势</a:t>
            </a:r>
          </a:p>
        </p:txBody>
      </p:sp>
      <p:grpSp>
        <p:nvGrpSpPr>
          <p:cNvPr id="4" name="Group 60"/>
          <p:cNvGrpSpPr>
            <a:grpSpLocks/>
          </p:cNvGrpSpPr>
          <p:nvPr/>
        </p:nvGrpSpPr>
        <p:grpSpPr bwMode="auto">
          <a:xfrm>
            <a:off x="4702175" y="3286125"/>
            <a:ext cx="4103688" cy="2374900"/>
            <a:chOff x="2990" y="2099"/>
            <a:chExt cx="2585" cy="1496"/>
          </a:xfrm>
        </p:grpSpPr>
        <p:sp>
          <p:nvSpPr>
            <p:cNvPr id="6177" name="AutoShape 61"/>
            <p:cNvSpPr>
              <a:spLocks noChangeArrowheads="1"/>
            </p:cNvSpPr>
            <p:nvPr/>
          </p:nvSpPr>
          <p:spPr bwMode="auto">
            <a:xfrm>
              <a:off x="3256" y="2268"/>
              <a:ext cx="2160" cy="1200"/>
            </a:xfrm>
            <a:prstGeom prst="roundRect">
              <a:avLst>
                <a:gd name="adj" fmla="val 16667"/>
              </a:avLst>
            </a:prstGeom>
            <a:noFill/>
            <a:ln w="168275">
              <a:solidFill>
                <a:srgbClr val="00CC00"/>
              </a:solidFill>
              <a:round/>
              <a:headEnd/>
              <a:tailEnd/>
            </a:ln>
          </p:spPr>
          <p:txBody>
            <a:bodyPr wrap="none" anchor="ctr"/>
            <a:lstStyle/>
            <a:p>
              <a:endParaRPr lang="zh-CN" altLang="en-US"/>
            </a:p>
          </p:txBody>
        </p:sp>
        <p:sp>
          <p:nvSpPr>
            <p:cNvPr id="6178" name="Line 62"/>
            <p:cNvSpPr>
              <a:spLocks noChangeShapeType="1"/>
            </p:cNvSpPr>
            <p:nvPr/>
          </p:nvSpPr>
          <p:spPr bwMode="auto">
            <a:xfrm>
              <a:off x="3256" y="2796"/>
              <a:ext cx="0" cy="288"/>
            </a:xfrm>
            <a:prstGeom prst="line">
              <a:avLst/>
            </a:prstGeom>
            <a:noFill/>
            <a:ln w="288925">
              <a:solidFill>
                <a:schemeClr val="tx1"/>
              </a:solidFill>
              <a:round/>
              <a:headEnd/>
              <a:tailEnd/>
            </a:ln>
          </p:spPr>
          <p:txBody>
            <a:bodyPr/>
            <a:lstStyle/>
            <a:p>
              <a:endParaRPr lang="zh-CN" altLang="en-US"/>
            </a:p>
          </p:txBody>
        </p:sp>
        <p:grpSp>
          <p:nvGrpSpPr>
            <p:cNvPr id="6179" name="Group 63"/>
            <p:cNvGrpSpPr>
              <a:grpSpLocks/>
            </p:cNvGrpSpPr>
            <p:nvPr/>
          </p:nvGrpSpPr>
          <p:grpSpPr bwMode="auto">
            <a:xfrm>
              <a:off x="2990" y="2626"/>
              <a:ext cx="548" cy="576"/>
              <a:chOff x="2726" y="1769"/>
              <a:chExt cx="548" cy="576"/>
            </a:xfrm>
          </p:grpSpPr>
          <p:sp>
            <p:nvSpPr>
              <p:cNvPr id="6181" name="Rectangle 64"/>
              <p:cNvSpPr>
                <a:spLocks noChangeArrowheads="1"/>
              </p:cNvSpPr>
              <p:nvPr/>
            </p:nvSpPr>
            <p:spPr bwMode="auto">
              <a:xfrm>
                <a:off x="2726" y="1769"/>
                <a:ext cx="548" cy="576"/>
              </a:xfrm>
              <a:prstGeom prst="rect">
                <a:avLst/>
              </a:prstGeom>
              <a:noFill/>
              <a:ln w="9525">
                <a:noFill/>
                <a:miter lim="800000"/>
                <a:headEnd/>
                <a:tailEnd/>
              </a:ln>
            </p:spPr>
            <p:txBody>
              <a:bodyPr wrap="none">
                <a:spAutoFit/>
              </a:bodyPr>
              <a:lstStyle/>
              <a:p>
                <a:pPr algn="l"/>
                <a:r>
                  <a:rPr kumimoji="1" lang="en-US" altLang="zh-CN" sz="5400">
                    <a:solidFill>
                      <a:srgbClr val="FF0000"/>
                    </a:solidFill>
                    <a:latin typeface="Times New Roman" pitchFamily="18" charset="0"/>
                  </a:rPr>
                  <a:t>○</a:t>
                </a:r>
              </a:p>
            </p:txBody>
          </p:sp>
          <p:sp>
            <p:nvSpPr>
              <p:cNvPr id="6182" name="Text Box 65"/>
              <p:cNvSpPr txBox="1">
                <a:spLocks noChangeArrowheads="1"/>
              </p:cNvSpPr>
              <p:nvPr/>
            </p:nvSpPr>
            <p:spPr bwMode="auto">
              <a:xfrm>
                <a:off x="2832" y="1874"/>
                <a:ext cx="340" cy="404"/>
              </a:xfrm>
              <a:prstGeom prst="rect">
                <a:avLst/>
              </a:prstGeom>
              <a:noFill/>
              <a:ln w="9525">
                <a:noFill/>
                <a:miter lim="800000"/>
                <a:headEnd/>
                <a:tailEnd/>
              </a:ln>
            </p:spPr>
            <p:txBody>
              <a:bodyPr wrap="none">
                <a:spAutoFit/>
              </a:bodyPr>
              <a:lstStyle/>
              <a:p>
                <a:pPr algn="l"/>
                <a:r>
                  <a:rPr kumimoji="1" lang="en-US" altLang="zh-CN" sz="3600" b="1">
                    <a:solidFill>
                      <a:srgbClr val="FFFF00"/>
                    </a:solidFill>
                    <a:latin typeface="Times New Roman" pitchFamily="18" charset="0"/>
                  </a:rPr>
                  <a:t>G</a:t>
                </a:r>
              </a:p>
            </p:txBody>
          </p:sp>
        </p:grpSp>
        <p:sp useBgFill="1">
          <p:nvSpPr>
            <p:cNvPr id="6180" name="Rectangle 66"/>
            <p:cNvSpPr>
              <a:spLocks noChangeArrowheads="1"/>
            </p:cNvSpPr>
            <p:nvPr/>
          </p:nvSpPr>
          <p:spPr bwMode="auto">
            <a:xfrm>
              <a:off x="5258" y="2099"/>
              <a:ext cx="317" cy="1496"/>
            </a:xfrm>
            <a:prstGeom prst="rect">
              <a:avLst/>
            </a:prstGeom>
            <a:ln w="9525">
              <a:noFill/>
              <a:miter lim="800000"/>
              <a:headEnd/>
              <a:tailEnd/>
            </a:ln>
          </p:spPr>
          <p:txBody>
            <a:bodyPr wrap="none" anchor="ctr"/>
            <a:lstStyle/>
            <a:p>
              <a:endParaRPr lang="zh-CN" altLang="en-US"/>
            </a:p>
          </p:txBody>
        </p:sp>
      </p:grpSp>
      <p:sp>
        <p:nvSpPr>
          <p:cNvPr id="5187" name="Text Box 67"/>
          <p:cNvSpPr txBox="1">
            <a:spLocks noChangeArrowheads="1"/>
          </p:cNvSpPr>
          <p:nvPr/>
        </p:nvSpPr>
        <p:spPr bwMode="auto">
          <a:xfrm>
            <a:off x="6083300" y="4845050"/>
            <a:ext cx="685800" cy="457200"/>
          </a:xfrm>
          <a:prstGeom prst="rect">
            <a:avLst/>
          </a:prstGeom>
          <a:noFill/>
          <a:ln w="9525">
            <a:noFill/>
            <a:miter lim="800000"/>
            <a:headEnd/>
            <a:tailEnd/>
          </a:ln>
        </p:spPr>
        <p:txBody>
          <a:bodyPr>
            <a:spAutoFit/>
          </a:bodyPr>
          <a:lstStyle/>
          <a:p>
            <a:pPr algn="l"/>
            <a:r>
              <a:rPr kumimoji="1" lang="en-US" altLang="zh-CN" sz="2400" b="1" i="1">
                <a:solidFill>
                  <a:srgbClr val="660066"/>
                </a:solidFill>
                <a:latin typeface="Times New Roman" pitchFamily="18" charset="0"/>
              </a:rPr>
              <a:t>f</a:t>
            </a:r>
            <a:r>
              <a:rPr kumimoji="1" lang="en-US" altLang="zh-CN" sz="2400" b="1" i="1" baseline="-25000">
                <a:solidFill>
                  <a:srgbClr val="660066"/>
                </a:solidFill>
                <a:latin typeface="Times New Roman" pitchFamily="18" charset="0"/>
              </a:rPr>
              <a:t>m</a:t>
            </a:r>
            <a:endParaRPr kumimoji="1" lang="en-US" altLang="zh-CN" sz="2400" b="1" i="1">
              <a:solidFill>
                <a:srgbClr val="660066"/>
              </a:solidFill>
              <a:latin typeface="Times New Roman" pitchFamily="18" charset="0"/>
            </a:endParaRPr>
          </a:p>
        </p:txBody>
      </p:sp>
      <p:sp>
        <p:nvSpPr>
          <p:cNvPr id="5188" name="Text Box 68"/>
          <p:cNvSpPr txBox="1">
            <a:spLocks noChangeArrowheads="1"/>
          </p:cNvSpPr>
          <p:nvPr/>
        </p:nvSpPr>
        <p:spPr bwMode="auto">
          <a:xfrm>
            <a:off x="6027738" y="3868738"/>
            <a:ext cx="522287" cy="457200"/>
          </a:xfrm>
          <a:prstGeom prst="rect">
            <a:avLst/>
          </a:prstGeom>
          <a:noFill/>
          <a:ln w="9525">
            <a:noFill/>
            <a:miter lim="800000"/>
            <a:headEnd/>
            <a:tailEnd/>
          </a:ln>
        </p:spPr>
        <p:txBody>
          <a:bodyPr wrap="none">
            <a:spAutoFit/>
          </a:bodyPr>
          <a:lstStyle/>
          <a:p>
            <a:pPr algn="l"/>
            <a:r>
              <a:rPr kumimoji="1" lang="en-US" altLang="zh-CN" sz="2400" b="1" i="1">
                <a:solidFill>
                  <a:srgbClr val="660066"/>
                </a:solidFill>
                <a:latin typeface="Times New Roman" pitchFamily="18" charset="0"/>
              </a:rPr>
              <a:t>Fe</a:t>
            </a:r>
          </a:p>
        </p:txBody>
      </p:sp>
      <p:pic>
        <p:nvPicPr>
          <p:cNvPr id="5189" name="Picture 69"/>
          <p:cNvPicPr>
            <a:picLocks noChangeAspect="1" noChangeArrowheads="1"/>
          </p:cNvPicPr>
          <p:nvPr/>
        </p:nvPicPr>
        <p:blipFill>
          <a:blip r:embed="rId5"/>
          <a:srcRect/>
          <a:stretch>
            <a:fillRect/>
          </a:stretch>
        </p:blipFill>
        <p:spPr bwMode="auto">
          <a:xfrm>
            <a:off x="6713538" y="3257550"/>
            <a:ext cx="161925" cy="2408238"/>
          </a:xfrm>
          <a:prstGeom prst="rect">
            <a:avLst/>
          </a:prstGeom>
          <a:noFill/>
          <a:ln w="9525">
            <a:noFill/>
            <a:miter lim="800000"/>
            <a:headEnd/>
            <a:tailEnd/>
          </a:ln>
        </p:spPr>
      </p:pic>
      <p:grpSp>
        <p:nvGrpSpPr>
          <p:cNvPr id="6" name="Group 70"/>
          <p:cNvGrpSpPr>
            <a:grpSpLocks/>
          </p:cNvGrpSpPr>
          <p:nvPr/>
        </p:nvGrpSpPr>
        <p:grpSpPr bwMode="auto">
          <a:xfrm>
            <a:off x="7094538" y="4270375"/>
            <a:ext cx="1181100" cy="242888"/>
            <a:chOff x="4368" y="1344"/>
            <a:chExt cx="744" cy="153"/>
          </a:xfrm>
        </p:grpSpPr>
        <p:sp>
          <p:nvSpPr>
            <p:cNvPr id="6176" name="Line 71"/>
            <p:cNvSpPr>
              <a:spLocks noChangeShapeType="1"/>
            </p:cNvSpPr>
            <p:nvPr/>
          </p:nvSpPr>
          <p:spPr bwMode="auto">
            <a:xfrm>
              <a:off x="4368" y="1421"/>
              <a:ext cx="576" cy="0"/>
            </a:xfrm>
            <a:prstGeom prst="line">
              <a:avLst/>
            </a:prstGeom>
            <a:noFill/>
            <a:ln w="28575">
              <a:solidFill>
                <a:srgbClr val="0000FF"/>
              </a:solidFill>
              <a:round/>
              <a:headEnd/>
              <a:tailEnd type="triangle" w="med" len="med"/>
            </a:ln>
          </p:spPr>
          <p:txBody>
            <a:bodyPr/>
            <a:lstStyle/>
            <a:p>
              <a:endParaRPr lang="zh-CN" altLang="en-US"/>
            </a:p>
          </p:txBody>
        </p:sp>
        <p:graphicFrame>
          <p:nvGraphicFramePr>
            <p:cNvPr id="6153" name="Object 72"/>
            <p:cNvGraphicFramePr>
              <a:graphicFrameLocks noChangeAspect="1"/>
            </p:cNvGraphicFramePr>
            <p:nvPr/>
          </p:nvGraphicFramePr>
          <p:xfrm>
            <a:off x="4967" y="1344"/>
            <a:ext cx="145" cy="153"/>
          </p:xfrm>
          <a:graphic>
            <a:graphicData uri="http://schemas.openxmlformats.org/presentationml/2006/ole">
              <p:oleObj spid="_x0000_s6153" name="公式" r:id="rId6" imgW="190444" imgH="200070" progId="Equation.3">
                <p:embed/>
              </p:oleObj>
            </a:graphicData>
          </a:graphic>
        </p:graphicFrame>
      </p:grpSp>
      <p:pic>
        <p:nvPicPr>
          <p:cNvPr id="5193" name="Picture 73"/>
          <p:cNvPicPr>
            <a:picLocks noChangeAspect="1" noChangeArrowheads="1"/>
          </p:cNvPicPr>
          <p:nvPr/>
        </p:nvPicPr>
        <p:blipFill>
          <a:blip r:embed="rId7"/>
          <a:srcRect/>
          <a:stretch>
            <a:fillRect/>
          </a:stretch>
        </p:blipFill>
        <p:spPr bwMode="auto">
          <a:xfrm>
            <a:off x="6599238" y="4316413"/>
            <a:ext cx="388937" cy="360362"/>
          </a:xfrm>
          <a:prstGeom prst="rect">
            <a:avLst/>
          </a:prstGeom>
          <a:noFill/>
          <a:ln w="9525">
            <a:noFill/>
            <a:miter lim="800000"/>
            <a:headEnd/>
            <a:tailEnd/>
          </a:ln>
        </p:spPr>
      </p:pic>
      <p:sp>
        <p:nvSpPr>
          <p:cNvPr id="5194" name="Line 74"/>
          <p:cNvSpPr>
            <a:spLocks noChangeShapeType="1"/>
          </p:cNvSpPr>
          <p:nvPr/>
        </p:nvSpPr>
        <p:spPr bwMode="auto">
          <a:xfrm flipV="1">
            <a:off x="6799263" y="3706813"/>
            <a:ext cx="0" cy="609600"/>
          </a:xfrm>
          <a:prstGeom prst="line">
            <a:avLst/>
          </a:prstGeom>
          <a:noFill/>
          <a:ln w="57150">
            <a:solidFill>
              <a:srgbClr val="CC0099"/>
            </a:solidFill>
            <a:round/>
            <a:headEnd/>
            <a:tailEnd type="triangle" w="med" len="med"/>
          </a:ln>
        </p:spPr>
        <p:txBody>
          <a:bodyPr/>
          <a:lstStyle/>
          <a:p>
            <a:endParaRPr lang="zh-CN" altLang="en-US"/>
          </a:p>
        </p:txBody>
      </p:sp>
      <p:sp>
        <p:nvSpPr>
          <p:cNvPr id="5195" name="Line 75"/>
          <p:cNvSpPr>
            <a:spLocks noChangeShapeType="1"/>
          </p:cNvSpPr>
          <p:nvPr/>
        </p:nvSpPr>
        <p:spPr bwMode="auto">
          <a:xfrm>
            <a:off x="6797675" y="4697413"/>
            <a:ext cx="0" cy="685800"/>
          </a:xfrm>
          <a:prstGeom prst="line">
            <a:avLst/>
          </a:prstGeom>
          <a:noFill/>
          <a:ln w="57150">
            <a:solidFill>
              <a:srgbClr val="CC0099"/>
            </a:solidFill>
            <a:round/>
            <a:headEnd/>
            <a:tailEnd type="triangle" w="med" len="med"/>
          </a:ln>
        </p:spPr>
        <p:txBody>
          <a:bodyPr/>
          <a:lstStyle/>
          <a:p>
            <a:endParaRPr lang="zh-CN" altLang="en-US"/>
          </a:p>
        </p:txBody>
      </p:sp>
      <p:grpSp>
        <p:nvGrpSpPr>
          <p:cNvPr id="7" name="Group 76"/>
          <p:cNvGrpSpPr>
            <a:grpSpLocks/>
          </p:cNvGrpSpPr>
          <p:nvPr/>
        </p:nvGrpSpPr>
        <p:grpSpPr bwMode="auto">
          <a:xfrm>
            <a:off x="5516563" y="3384550"/>
            <a:ext cx="762000" cy="290513"/>
            <a:chOff x="3470" y="2160"/>
            <a:chExt cx="480" cy="183"/>
          </a:xfrm>
        </p:grpSpPr>
        <p:sp>
          <p:nvSpPr>
            <p:cNvPr id="6175" name="Line 77"/>
            <p:cNvSpPr>
              <a:spLocks noChangeShapeType="1"/>
            </p:cNvSpPr>
            <p:nvPr/>
          </p:nvSpPr>
          <p:spPr bwMode="auto">
            <a:xfrm rot="5463536">
              <a:off x="3782" y="2108"/>
              <a:ext cx="0" cy="336"/>
            </a:xfrm>
            <a:prstGeom prst="line">
              <a:avLst/>
            </a:prstGeom>
            <a:noFill/>
            <a:ln w="38100">
              <a:solidFill>
                <a:srgbClr val="FF0000"/>
              </a:solidFill>
              <a:round/>
              <a:headEnd/>
              <a:tailEnd type="triangle" w="med" len="med"/>
            </a:ln>
          </p:spPr>
          <p:txBody>
            <a:bodyPr/>
            <a:lstStyle/>
            <a:p>
              <a:endParaRPr lang="zh-CN" altLang="en-US"/>
            </a:p>
          </p:txBody>
        </p:sp>
        <p:graphicFrame>
          <p:nvGraphicFramePr>
            <p:cNvPr id="6152" name="Object 78"/>
            <p:cNvGraphicFramePr>
              <a:graphicFrameLocks noChangeAspect="1"/>
            </p:cNvGraphicFramePr>
            <p:nvPr/>
          </p:nvGraphicFramePr>
          <p:xfrm>
            <a:off x="3470" y="2160"/>
            <a:ext cx="128" cy="183"/>
          </p:xfrm>
          <a:graphic>
            <a:graphicData uri="http://schemas.openxmlformats.org/presentationml/2006/ole">
              <p:oleObj spid="_x0000_s6152" name="公式" r:id="rId8" imgW="161810" imgH="257310" progId="Equation.3">
                <p:embed/>
              </p:oleObj>
            </a:graphicData>
          </a:graphic>
        </p:graphicFrame>
      </p:grpSp>
      <p:graphicFrame>
        <p:nvGraphicFramePr>
          <p:cNvPr id="5199" name="Object 79"/>
          <p:cNvGraphicFramePr>
            <a:graphicFrameLocks noChangeAspect="1"/>
          </p:cNvGraphicFramePr>
          <p:nvPr/>
        </p:nvGraphicFramePr>
        <p:xfrm>
          <a:off x="954088" y="3565525"/>
          <a:ext cx="1746250" cy="431800"/>
        </p:xfrm>
        <a:graphic>
          <a:graphicData uri="http://schemas.openxmlformats.org/presentationml/2006/ole">
            <p:oleObj spid="_x0000_s6146" name="公式" r:id="rId9" imgW="943034" imgH="200070" progId="Equation.3">
              <p:embed/>
            </p:oleObj>
          </a:graphicData>
        </a:graphic>
      </p:graphicFrame>
      <p:graphicFrame>
        <p:nvGraphicFramePr>
          <p:cNvPr id="5200" name="Object 80"/>
          <p:cNvGraphicFramePr>
            <a:graphicFrameLocks noChangeAspect="1"/>
          </p:cNvGraphicFramePr>
          <p:nvPr/>
        </p:nvGraphicFramePr>
        <p:xfrm>
          <a:off x="1190625" y="4079875"/>
          <a:ext cx="1147763" cy="436563"/>
        </p:xfrm>
        <a:graphic>
          <a:graphicData uri="http://schemas.openxmlformats.org/presentationml/2006/ole">
            <p:oleObj spid="_x0000_s6147" name="公式" r:id="rId10" imgW="599965" imgH="200070" progId="Equation.3">
              <p:embed/>
            </p:oleObj>
          </a:graphicData>
        </a:graphic>
      </p:graphicFrame>
      <p:grpSp>
        <p:nvGrpSpPr>
          <p:cNvPr id="8" name="Group 88"/>
          <p:cNvGrpSpPr>
            <a:grpSpLocks/>
          </p:cNvGrpSpPr>
          <p:nvPr/>
        </p:nvGrpSpPr>
        <p:grpSpPr bwMode="auto">
          <a:xfrm>
            <a:off x="323850" y="4611688"/>
            <a:ext cx="3541713" cy="530225"/>
            <a:chOff x="422" y="2981"/>
            <a:chExt cx="2231" cy="334"/>
          </a:xfrm>
        </p:grpSpPr>
        <p:sp>
          <p:nvSpPr>
            <p:cNvPr id="6174" name="Text Box 82"/>
            <p:cNvSpPr txBox="1">
              <a:spLocks noChangeArrowheads="1"/>
            </p:cNvSpPr>
            <p:nvPr/>
          </p:nvSpPr>
          <p:spPr bwMode="auto">
            <a:xfrm>
              <a:off x="422" y="2981"/>
              <a:ext cx="2231" cy="334"/>
            </a:xfrm>
            <a:prstGeom prst="rect">
              <a:avLst/>
            </a:prstGeom>
            <a:noFill/>
            <a:ln w="9525">
              <a:noFill/>
              <a:miter lim="800000"/>
              <a:headEnd/>
              <a:tailEnd/>
            </a:ln>
          </p:spPr>
          <p:txBody>
            <a:bodyPr>
              <a:spAutoFit/>
            </a:bodyPr>
            <a:lstStyle/>
            <a:p>
              <a:pPr algn="l">
                <a:lnSpc>
                  <a:spcPct val="120000"/>
                </a:lnSpc>
              </a:pPr>
              <a:r>
                <a:rPr kumimoji="1" lang="zh-CN" altLang="en-US" sz="2400" b="1">
                  <a:latin typeface="楷体_GB2312" pitchFamily="49" charset="-122"/>
                  <a:ea typeface="楷体_GB2312" pitchFamily="49" charset="-122"/>
                </a:rPr>
                <a:t>当     时，达到平衡</a:t>
              </a:r>
            </a:p>
          </p:txBody>
        </p:sp>
        <p:graphicFrame>
          <p:nvGraphicFramePr>
            <p:cNvPr id="6151" name="Object 83"/>
            <p:cNvGraphicFramePr>
              <a:graphicFrameLocks noChangeAspect="1"/>
            </p:cNvGraphicFramePr>
            <p:nvPr/>
          </p:nvGraphicFramePr>
          <p:xfrm>
            <a:off x="724" y="3016"/>
            <a:ext cx="435" cy="258"/>
          </p:xfrm>
          <a:graphic>
            <a:graphicData uri="http://schemas.openxmlformats.org/presentationml/2006/ole">
              <p:oleObj spid="_x0000_s6151" name="公式" r:id="rId11" imgW="495424" imgH="190620" progId="Equation.3">
                <p:embed/>
              </p:oleObj>
            </a:graphicData>
          </a:graphic>
        </p:graphicFrame>
      </p:grpSp>
      <p:graphicFrame>
        <p:nvGraphicFramePr>
          <p:cNvPr id="5204" name="Object 84"/>
          <p:cNvGraphicFramePr>
            <a:graphicFrameLocks noChangeAspect="1"/>
          </p:cNvGraphicFramePr>
          <p:nvPr/>
        </p:nvGraphicFramePr>
        <p:xfrm>
          <a:off x="1195388" y="5222875"/>
          <a:ext cx="1136650" cy="320675"/>
        </p:xfrm>
        <a:graphic>
          <a:graphicData uri="http://schemas.openxmlformats.org/presentationml/2006/ole">
            <p:oleObj spid="_x0000_s6148" name="公式" r:id="rId12" imgW="599965" imgH="142830" progId="Equation.3">
              <p:embed/>
            </p:oleObj>
          </a:graphicData>
        </a:graphic>
      </p:graphicFrame>
      <p:graphicFrame>
        <p:nvGraphicFramePr>
          <p:cNvPr id="5205" name="Object 85"/>
          <p:cNvGraphicFramePr>
            <a:graphicFrameLocks noChangeAspect="1"/>
          </p:cNvGraphicFramePr>
          <p:nvPr/>
        </p:nvGraphicFramePr>
        <p:xfrm>
          <a:off x="1244600" y="5676900"/>
          <a:ext cx="895350" cy="320675"/>
        </p:xfrm>
        <a:graphic>
          <a:graphicData uri="http://schemas.openxmlformats.org/presentationml/2006/ole">
            <p:oleObj spid="_x0000_s6149" name="公式" r:id="rId13" imgW="457335" imgH="142830" progId="Equation.3">
              <p:embed/>
            </p:oleObj>
          </a:graphicData>
        </a:graphic>
      </p:graphicFrame>
      <p:graphicFrame>
        <p:nvGraphicFramePr>
          <p:cNvPr id="5206" name="Object 86"/>
          <p:cNvGraphicFramePr>
            <a:graphicFrameLocks noChangeAspect="1"/>
          </p:cNvGraphicFramePr>
          <p:nvPr/>
        </p:nvGraphicFramePr>
        <p:xfrm>
          <a:off x="1116013" y="6165850"/>
          <a:ext cx="1473200" cy="320675"/>
        </p:xfrm>
        <a:graphic>
          <a:graphicData uri="http://schemas.openxmlformats.org/presentationml/2006/ole">
            <p:oleObj spid="_x0000_s6150" name="公式" r:id="rId14" imgW="771500" imgH="142830" progId="Equation.3">
              <p:embed/>
            </p:oleObj>
          </a:graphicData>
        </a:graphic>
      </p:graphicFrame>
      <p:sp>
        <p:nvSpPr>
          <p:cNvPr id="5207" name="Text Box 87"/>
          <p:cNvSpPr txBox="1">
            <a:spLocks noChangeArrowheads="1"/>
          </p:cNvSpPr>
          <p:nvPr/>
        </p:nvSpPr>
        <p:spPr bwMode="auto">
          <a:xfrm>
            <a:off x="2836863" y="6092825"/>
            <a:ext cx="2303462" cy="461963"/>
          </a:xfrm>
          <a:prstGeom prst="rect">
            <a:avLst/>
          </a:prstGeom>
          <a:noFill/>
          <a:ln w="9525">
            <a:noFill/>
            <a:miter lim="800000"/>
            <a:headEnd/>
            <a:tailEnd/>
          </a:ln>
        </p:spPr>
        <p:txBody>
          <a:bodyPr>
            <a:spAutoFit/>
          </a:bodyPr>
          <a:lstStyle/>
          <a:p>
            <a:pPr algn="l"/>
            <a:r>
              <a:rPr kumimoji="1" lang="en-US" altLang="zh-CN" sz="2400" b="1" i="1">
                <a:solidFill>
                  <a:srgbClr val="FF0000"/>
                </a:solidFill>
                <a:latin typeface="Symbol" pitchFamily="18" charset="2"/>
                <a:ea typeface="楷体_GB2312" pitchFamily="49" charset="-122"/>
              </a:rPr>
              <a:t>e </a:t>
            </a:r>
            <a:r>
              <a:rPr kumimoji="1" lang="en-US" altLang="zh-CN" sz="2400" b="1">
                <a:solidFill>
                  <a:srgbClr val="FF0000"/>
                </a:solidFill>
                <a:latin typeface="Symbol" pitchFamily="18" charset="2"/>
                <a:ea typeface="楷体_GB2312" pitchFamily="49" charset="-122"/>
              </a:rPr>
              <a:t>:   </a:t>
            </a:r>
            <a:r>
              <a:rPr kumimoji="1" lang="zh-CN" altLang="en-US" sz="2400" b="1">
                <a:solidFill>
                  <a:srgbClr val="FF0000"/>
                </a:solidFill>
                <a:latin typeface="Symbol" pitchFamily="18" charset="2"/>
                <a:ea typeface="楷体_GB2312" pitchFamily="49" charset="-122"/>
              </a:rPr>
              <a:t>动生电动势</a:t>
            </a:r>
          </a:p>
        </p:txBody>
      </p:sp>
      <p:sp>
        <p:nvSpPr>
          <p:cNvPr id="5169" name="Text Box 49"/>
          <p:cNvSpPr txBox="1">
            <a:spLocks noChangeArrowheads="1"/>
          </p:cNvSpPr>
          <p:nvPr/>
        </p:nvSpPr>
        <p:spPr bwMode="auto">
          <a:xfrm>
            <a:off x="1835150" y="1989138"/>
            <a:ext cx="6892925" cy="968375"/>
          </a:xfrm>
          <a:prstGeom prst="rect">
            <a:avLst/>
          </a:prstGeom>
          <a:noFill/>
          <a:ln w="9525">
            <a:noFill/>
            <a:miter lim="800000"/>
            <a:headEnd/>
            <a:tailEnd/>
          </a:ln>
        </p:spPr>
        <p:txBody>
          <a:bodyPr>
            <a:spAutoFit/>
          </a:bodyPr>
          <a:lstStyle/>
          <a:p>
            <a:pPr marL="342900" indent="-342900" algn="l">
              <a:lnSpc>
                <a:spcPct val="120000"/>
              </a:lnSpc>
            </a:pPr>
            <a:r>
              <a:rPr kumimoji="1" lang="en-US" altLang="zh-CN" sz="2400" b="1">
                <a:latin typeface="Times New Roman" pitchFamily="18" charset="0"/>
                <a:ea typeface="楷体_GB2312" pitchFamily="49" charset="-122"/>
                <a:cs typeface="Times New Roman" pitchFamily="18" charset="0"/>
              </a:rPr>
              <a:t> (2)  </a:t>
            </a:r>
            <a:r>
              <a:rPr kumimoji="1" lang="zh-CN" altLang="en-US" sz="2400" b="1">
                <a:latin typeface="Times New Roman" pitchFamily="18" charset="0"/>
                <a:ea typeface="楷体_GB2312" pitchFamily="49" charset="-122"/>
                <a:cs typeface="Times New Roman" pitchFamily="18" charset="0"/>
              </a:rPr>
              <a:t>相对于实验室参照系，若</a:t>
            </a:r>
            <a:r>
              <a:rPr kumimoji="1" lang="zh-CN" altLang="en-US" sz="2400" b="1">
                <a:solidFill>
                  <a:srgbClr val="008000"/>
                </a:solidFill>
                <a:latin typeface="Times New Roman" pitchFamily="18" charset="0"/>
                <a:ea typeface="楷体_GB2312" pitchFamily="49" charset="-122"/>
                <a:cs typeface="Times New Roman" pitchFamily="18" charset="0"/>
              </a:rPr>
              <a:t>导体回路静止</a:t>
            </a:r>
            <a:r>
              <a:rPr kumimoji="1" lang="zh-CN" altLang="en-US" sz="2400" b="1">
                <a:latin typeface="Times New Roman" pitchFamily="18" charset="0"/>
                <a:ea typeface="楷体_GB2312" pitchFamily="49" charset="-122"/>
                <a:cs typeface="Times New Roman" pitchFamily="18" charset="0"/>
              </a:rPr>
              <a:t>， 但</a:t>
            </a:r>
            <a:r>
              <a:rPr kumimoji="1" lang="zh-CN" altLang="en-US" sz="2400" b="1">
                <a:solidFill>
                  <a:srgbClr val="008000"/>
                </a:solidFill>
                <a:latin typeface="Times New Roman" pitchFamily="18" charset="0"/>
                <a:ea typeface="楷体_GB2312" pitchFamily="49" charset="-122"/>
                <a:cs typeface="Times New Roman" pitchFamily="18" charset="0"/>
              </a:rPr>
              <a:t>磁场随时间变化</a:t>
            </a:r>
            <a:r>
              <a:rPr kumimoji="1" lang="zh-CN" altLang="en-US" sz="2400" b="1">
                <a:latin typeface="Times New Roman" pitchFamily="18" charset="0"/>
                <a:ea typeface="楷体_GB2312" pitchFamily="49" charset="-122"/>
                <a:cs typeface="Times New Roman" pitchFamily="18" charset="0"/>
              </a:rPr>
              <a:t>  </a:t>
            </a:r>
            <a:r>
              <a:rPr kumimoji="1" lang="en-US" altLang="zh-CN" sz="2400" b="1">
                <a:solidFill>
                  <a:srgbClr val="FF6600"/>
                </a:solidFill>
                <a:latin typeface="Times New Roman" pitchFamily="18" charset="0"/>
                <a:ea typeface="楷体_GB2312" pitchFamily="49" charset="-122"/>
                <a:cs typeface="Times New Roman" pitchFamily="18" charset="0"/>
              </a:rPr>
              <a:t>------</a:t>
            </a:r>
            <a:r>
              <a:rPr kumimoji="1" lang="zh-CN" altLang="en-US" sz="2400" b="1">
                <a:solidFill>
                  <a:srgbClr val="FF6600"/>
                </a:solidFill>
                <a:latin typeface="Times New Roman" pitchFamily="18" charset="0"/>
                <a:ea typeface="楷体_GB2312" pitchFamily="49" charset="-122"/>
                <a:cs typeface="Times New Roman" pitchFamily="18" charset="0"/>
              </a:rPr>
              <a:t>感生电动势</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66"/>
                                        </p:tgtEl>
                                        <p:attrNameLst>
                                          <p:attrName>style.visibility</p:attrName>
                                        </p:attrNameLst>
                                      </p:cBhvr>
                                      <p:to>
                                        <p:strVal val="visible"/>
                                      </p:to>
                                    </p:set>
                                    <p:animEffect transition="in" filter="wipe(left)">
                                      <p:cBhvr>
                                        <p:cTn id="7" dur="500"/>
                                        <p:tgtEl>
                                          <p:spTgt spid="51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67"/>
                                        </p:tgtEl>
                                        <p:attrNameLst>
                                          <p:attrName>style.visibility</p:attrName>
                                        </p:attrNameLst>
                                      </p:cBhvr>
                                      <p:to>
                                        <p:strVal val="visible"/>
                                      </p:to>
                                    </p:set>
                                    <p:animEffect transition="in" filter="wipe(left)">
                                      <p:cBhvr>
                                        <p:cTn id="12" dur="500"/>
                                        <p:tgtEl>
                                          <p:spTgt spid="51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68"/>
                                        </p:tgtEl>
                                        <p:attrNameLst>
                                          <p:attrName>style.visibility</p:attrName>
                                        </p:attrNameLst>
                                      </p:cBhvr>
                                      <p:to>
                                        <p:strVal val="visible"/>
                                      </p:to>
                                    </p:set>
                                    <p:animEffect transition="in" filter="wipe(left)">
                                      <p:cBhvr>
                                        <p:cTn id="17" dur="500"/>
                                        <p:tgtEl>
                                          <p:spTgt spid="51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69"/>
                                        </p:tgtEl>
                                        <p:attrNameLst>
                                          <p:attrName>style.visibility</p:attrName>
                                        </p:attrNameLst>
                                      </p:cBhvr>
                                      <p:to>
                                        <p:strVal val="visible"/>
                                      </p:to>
                                    </p:set>
                                    <p:animEffect transition="in" filter="wipe(left)">
                                      <p:cBhvr>
                                        <p:cTn id="22" dur="500"/>
                                        <p:tgtEl>
                                          <p:spTgt spid="51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79"/>
                                        </p:tgtEl>
                                        <p:attrNameLst>
                                          <p:attrName>style.visibility</p:attrName>
                                        </p:attrNameLst>
                                      </p:cBhvr>
                                      <p:to>
                                        <p:strVal val="visible"/>
                                      </p:to>
                                    </p:set>
                                    <p:animEffect transition="in" filter="wipe(left)">
                                      <p:cBhvr>
                                        <p:cTn id="27" dur="2000"/>
                                        <p:tgtEl>
                                          <p:spTgt spid="5179"/>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left)">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left)">
                                      <p:cBhvr>
                                        <p:cTn id="47" dur="10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499"/>
                                          </p:stCondLst>
                                        </p:cTn>
                                        <p:tgtEl>
                                          <p:spTgt spid="5193"/>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5195"/>
                                        </p:tgtEl>
                                        <p:attrNameLst>
                                          <p:attrName>style.visibility</p:attrName>
                                        </p:attrNameLst>
                                      </p:cBhvr>
                                      <p:to>
                                        <p:strVal val="visible"/>
                                      </p:to>
                                    </p:set>
                                    <p:animEffect transition="in" filter="wipe(up)">
                                      <p:cBhvr>
                                        <p:cTn id="56" dur="500"/>
                                        <p:tgtEl>
                                          <p:spTgt spid="5195"/>
                                        </p:tgtEl>
                                      </p:cBhvr>
                                    </p:animEffect>
                                  </p:childTnLst>
                                </p:cTn>
                              </p:par>
                              <p:par>
                                <p:cTn id="57" presetID="1" presetClass="entr" presetSubtype="0" fill="hold" grpId="0" nodeType="withEffect">
                                  <p:stCondLst>
                                    <p:cond delay="0"/>
                                  </p:stCondLst>
                                  <p:childTnLst>
                                    <p:set>
                                      <p:cBhvr>
                                        <p:cTn id="58" dur="1" fill="hold">
                                          <p:stCondLst>
                                            <p:cond delay="499"/>
                                          </p:stCondLst>
                                        </p:cTn>
                                        <p:tgtEl>
                                          <p:spTgt spid="518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518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199"/>
                                        </p:tgtEl>
                                        <p:attrNameLst>
                                          <p:attrName>style.visibility</p:attrName>
                                        </p:attrNameLst>
                                      </p:cBhvr>
                                      <p:to>
                                        <p:strVal val="visible"/>
                                      </p:to>
                                    </p:set>
                                    <p:animEffect transition="in" filter="wipe(left)">
                                      <p:cBhvr>
                                        <p:cTn id="67" dur="500"/>
                                        <p:tgtEl>
                                          <p:spTgt spid="519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5194"/>
                                        </p:tgtEl>
                                        <p:attrNameLst>
                                          <p:attrName>style.visibility</p:attrName>
                                        </p:attrNameLst>
                                      </p:cBhvr>
                                      <p:to>
                                        <p:strVal val="visible"/>
                                      </p:to>
                                    </p:set>
                                    <p:animEffect transition="in" filter="wipe(down)">
                                      <p:cBhvr>
                                        <p:cTn id="72" dur="500"/>
                                        <p:tgtEl>
                                          <p:spTgt spid="5194"/>
                                        </p:tgtEl>
                                      </p:cBhvr>
                                    </p:animEffect>
                                  </p:childTnLst>
                                </p:cTn>
                              </p:par>
                              <p:par>
                                <p:cTn id="73" presetID="1" presetClass="entr" presetSubtype="0" fill="hold" grpId="0" nodeType="withEffect">
                                  <p:stCondLst>
                                    <p:cond delay="0"/>
                                  </p:stCondLst>
                                  <p:childTnLst>
                                    <p:set>
                                      <p:cBhvr>
                                        <p:cTn id="74" dur="1" fill="hold">
                                          <p:stCondLst>
                                            <p:cond delay="499"/>
                                          </p:stCondLst>
                                        </p:cTn>
                                        <p:tgtEl>
                                          <p:spTgt spid="518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5200"/>
                                        </p:tgtEl>
                                        <p:attrNameLst>
                                          <p:attrName>style.visibility</p:attrName>
                                        </p:attrNameLst>
                                      </p:cBhvr>
                                      <p:to>
                                        <p:strVal val="visible"/>
                                      </p:to>
                                    </p:set>
                                    <p:animEffect transition="in" filter="wipe(left)">
                                      <p:cBhvr>
                                        <p:cTn id="79" dur="500"/>
                                        <p:tgtEl>
                                          <p:spTgt spid="520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8"/>
                                        </p:tgtEl>
                                        <p:attrNameLst>
                                          <p:attrName>style.visibility</p:attrName>
                                        </p:attrNameLst>
                                      </p:cBhvr>
                                      <p:to>
                                        <p:strVal val="visible"/>
                                      </p:to>
                                    </p:set>
                                    <p:animEffect transition="in" filter="wipe(left)">
                                      <p:cBhvr>
                                        <p:cTn id="84" dur="500"/>
                                        <p:tgtEl>
                                          <p:spTgt spid="8"/>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5204"/>
                                        </p:tgtEl>
                                        <p:attrNameLst>
                                          <p:attrName>style.visibility</p:attrName>
                                        </p:attrNameLst>
                                      </p:cBhvr>
                                      <p:to>
                                        <p:strVal val="visible"/>
                                      </p:to>
                                    </p:set>
                                    <p:animEffect transition="in" filter="wipe(left)">
                                      <p:cBhvr>
                                        <p:cTn id="89" dur="500"/>
                                        <p:tgtEl>
                                          <p:spTgt spid="5204"/>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5205"/>
                                        </p:tgtEl>
                                        <p:attrNameLst>
                                          <p:attrName>style.visibility</p:attrName>
                                        </p:attrNameLst>
                                      </p:cBhvr>
                                      <p:to>
                                        <p:strVal val="visible"/>
                                      </p:to>
                                    </p:set>
                                    <p:animEffect transition="in" filter="wipe(left)">
                                      <p:cBhvr>
                                        <p:cTn id="94" dur="500"/>
                                        <p:tgtEl>
                                          <p:spTgt spid="5205"/>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5206"/>
                                        </p:tgtEl>
                                        <p:attrNameLst>
                                          <p:attrName>style.visibility</p:attrName>
                                        </p:attrNameLst>
                                      </p:cBhvr>
                                      <p:to>
                                        <p:strVal val="visible"/>
                                      </p:to>
                                    </p:set>
                                    <p:animEffect transition="in" filter="wipe(left)">
                                      <p:cBhvr>
                                        <p:cTn id="99" dur="500"/>
                                        <p:tgtEl>
                                          <p:spTgt spid="5206"/>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5207"/>
                                        </p:tgtEl>
                                        <p:attrNameLst>
                                          <p:attrName>style.visibility</p:attrName>
                                        </p:attrNameLst>
                                      </p:cBhvr>
                                      <p:to>
                                        <p:strVal val="visible"/>
                                      </p:to>
                                    </p:set>
                                    <p:animEffect transition="in" filter="wipe(left)">
                                      <p:cBhvr>
                                        <p:cTn id="104" dur="2000"/>
                                        <p:tgtEl>
                                          <p:spTgt spid="5207"/>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2" fill="hold" nodeType="clickEffect">
                                  <p:stCondLst>
                                    <p:cond delay="0"/>
                                  </p:stCondLst>
                                  <p:childTnLst>
                                    <p:set>
                                      <p:cBhvr>
                                        <p:cTn id="108" dur="1" fill="hold">
                                          <p:stCondLst>
                                            <p:cond delay="0"/>
                                          </p:stCondLst>
                                        </p:cTn>
                                        <p:tgtEl>
                                          <p:spTgt spid="7"/>
                                        </p:tgtEl>
                                        <p:attrNameLst>
                                          <p:attrName>style.visibility</p:attrName>
                                        </p:attrNameLst>
                                      </p:cBhvr>
                                      <p:to>
                                        <p:strVal val="visible"/>
                                      </p:to>
                                    </p:set>
                                    <p:animEffect transition="in" filter="wipe(right)">
                                      <p:cBhvr>
                                        <p:cTn id="10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66" grpId="0" autoUpdateAnimBg="0"/>
      <p:bldP spid="5167" grpId="0" animBg="1"/>
      <p:bldP spid="5168" grpId="0" autoUpdateAnimBg="0"/>
      <p:bldP spid="5179" grpId="0" autoUpdateAnimBg="0"/>
      <p:bldP spid="5187" grpId="0" autoUpdateAnimBg="0"/>
      <p:bldP spid="5188" grpId="0" autoUpdateAnimBg="0"/>
      <p:bldP spid="5194" grpId="0" animBg="1"/>
      <p:bldP spid="5195" grpId="0" animBg="1"/>
      <p:bldP spid="5207" grpId="0" autoUpdateAnimBg="0"/>
      <p:bldP spid="5169"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230188" y="547688"/>
            <a:ext cx="4716462" cy="503237"/>
          </a:xfrm>
          <a:prstGeom prst="rect">
            <a:avLst/>
          </a:prstGeom>
          <a:solidFill>
            <a:srgbClr val="FFFF99"/>
          </a:solidFill>
          <a:ln w="9525">
            <a:solidFill>
              <a:srgbClr val="FFFF00"/>
            </a:solidFill>
            <a:miter lim="800000"/>
            <a:headEnd/>
            <a:tailEnd/>
          </a:ln>
        </p:spPr>
        <p:txBody>
          <a:bodyPr>
            <a:spAutoFit/>
          </a:bodyPr>
          <a:lstStyle/>
          <a:p>
            <a:pPr algn="l">
              <a:lnSpc>
                <a:spcPct val="120000"/>
              </a:lnSpc>
            </a:pPr>
            <a:r>
              <a:rPr kumimoji="1" lang="zh-CN" altLang="en-US" sz="2200" b="1">
                <a:latin typeface="Times New Roman" pitchFamily="18" charset="0"/>
                <a:ea typeface="楷体_GB2312" pitchFamily="49" charset="-122"/>
              </a:rPr>
              <a:t>洛伦兹力充当</a:t>
            </a:r>
            <a:r>
              <a:rPr kumimoji="1" lang="zh-CN" altLang="en-US" sz="2200" b="1">
                <a:solidFill>
                  <a:srgbClr val="FF3300"/>
                </a:solidFill>
                <a:latin typeface="Times New Roman" pitchFamily="18" charset="0"/>
                <a:ea typeface="楷体_GB2312" pitchFamily="49" charset="-122"/>
              </a:rPr>
              <a:t>非静电力</a:t>
            </a:r>
            <a:r>
              <a:rPr kumimoji="1" lang="zh-CN" altLang="en-US" sz="2200" b="1">
                <a:latin typeface="Times New Roman" pitchFamily="18" charset="0"/>
                <a:ea typeface="楷体_GB2312" pitchFamily="49" charset="-122"/>
              </a:rPr>
              <a:t>，产生了电场</a:t>
            </a:r>
          </a:p>
        </p:txBody>
      </p:sp>
      <p:sp>
        <p:nvSpPr>
          <p:cNvPr id="60439" name="AutoShape 23"/>
          <p:cNvSpPr>
            <a:spLocks noChangeArrowheads="1"/>
          </p:cNvSpPr>
          <p:nvPr/>
        </p:nvSpPr>
        <p:spPr bwMode="auto">
          <a:xfrm>
            <a:off x="5105400" y="763588"/>
            <a:ext cx="792163" cy="144462"/>
          </a:xfrm>
          <a:prstGeom prst="rightArrow">
            <a:avLst>
              <a:gd name="adj1" fmla="val 50000"/>
              <a:gd name="adj2" fmla="val 137088"/>
            </a:avLst>
          </a:prstGeom>
          <a:solidFill>
            <a:srgbClr val="0000FF"/>
          </a:solidFill>
          <a:ln w="9525" algn="ctr">
            <a:solidFill>
              <a:schemeClr val="tx1"/>
            </a:solidFill>
            <a:miter lim="800000"/>
            <a:headEnd/>
            <a:tailEnd/>
          </a:ln>
        </p:spPr>
        <p:txBody>
          <a:bodyPr anchor="ctr">
            <a:spAutoFit/>
          </a:bodyPr>
          <a:lstStyle/>
          <a:p>
            <a:endParaRPr lang="zh-CN" altLang="en-US"/>
          </a:p>
        </p:txBody>
      </p:sp>
      <p:sp>
        <p:nvSpPr>
          <p:cNvPr id="60440" name="Rectangle 24"/>
          <p:cNvSpPr>
            <a:spLocks noChangeArrowheads="1"/>
          </p:cNvSpPr>
          <p:nvPr/>
        </p:nvSpPr>
        <p:spPr bwMode="auto">
          <a:xfrm>
            <a:off x="5076825" y="460375"/>
            <a:ext cx="720725" cy="366713"/>
          </a:xfrm>
          <a:prstGeom prst="rect">
            <a:avLst/>
          </a:prstGeom>
          <a:noFill/>
          <a:ln w="9525">
            <a:noFill/>
            <a:miter lim="800000"/>
            <a:headEnd/>
            <a:tailEnd/>
          </a:ln>
        </p:spPr>
        <p:txBody>
          <a:bodyPr>
            <a:spAutoFit/>
          </a:bodyPr>
          <a:lstStyle/>
          <a:p>
            <a:pPr algn="l"/>
            <a:r>
              <a:rPr kumimoji="1" lang="zh-CN" altLang="en-US" b="1">
                <a:solidFill>
                  <a:srgbClr val="000099"/>
                </a:solidFill>
                <a:latin typeface="Times New Roman" pitchFamily="18" charset="0"/>
                <a:ea typeface="楷体_GB2312" pitchFamily="49" charset="-122"/>
              </a:rPr>
              <a:t>等效 </a:t>
            </a:r>
          </a:p>
        </p:txBody>
      </p:sp>
      <p:sp>
        <p:nvSpPr>
          <p:cNvPr id="60441" name="Rectangle 25"/>
          <p:cNvSpPr>
            <a:spLocks noChangeArrowheads="1"/>
          </p:cNvSpPr>
          <p:nvPr/>
        </p:nvSpPr>
        <p:spPr bwMode="auto">
          <a:xfrm>
            <a:off x="5999163" y="592138"/>
            <a:ext cx="1093787" cy="436562"/>
          </a:xfrm>
          <a:prstGeom prst="rect">
            <a:avLst/>
          </a:prstGeom>
          <a:solidFill>
            <a:srgbClr val="CCFFFF"/>
          </a:solidFill>
          <a:ln w="9525">
            <a:solidFill>
              <a:srgbClr val="00FFFF"/>
            </a:solidFill>
            <a:miter lim="800000"/>
            <a:headEnd/>
            <a:tailEnd/>
          </a:ln>
        </p:spPr>
        <p:txBody>
          <a:bodyPr>
            <a:spAutoFit/>
          </a:bodyPr>
          <a:lstStyle/>
          <a:p>
            <a:pPr algn="l"/>
            <a:r>
              <a:rPr kumimoji="1" lang="zh-CN" altLang="en-US" sz="2200" b="1">
                <a:solidFill>
                  <a:srgbClr val="0000CC"/>
                </a:solidFill>
                <a:latin typeface="Times New Roman" pitchFamily="18" charset="0"/>
                <a:ea typeface="楷体_GB2312" pitchFamily="49" charset="-122"/>
              </a:rPr>
              <a:t>静电场</a:t>
            </a:r>
          </a:p>
        </p:txBody>
      </p:sp>
      <p:sp>
        <p:nvSpPr>
          <p:cNvPr id="60442" name="Rectangle 26"/>
          <p:cNvSpPr>
            <a:spLocks noChangeArrowheads="1"/>
          </p:cNvSpPr>
          <p:nvPr/>
        </p:nvSpPr>
        <p:spPr bwMode="auto">
          <a:xfrm>
            <a:off x="250825" y="1295400"/>
            <a:ext cx="3457575" cy="458788"/>
          </a:xfrm>
          <a:prstGeom prst="rect">
            <a:avLst/>
          </a:prstGeom>
          <a:noFill/>
          <a:ln w="9525">
            <a:noFill/>
            <a:miter lim="800000"/>
            <a:headEnd/>
            <a:tailEnd/>
          </a:ln>
        </p:spPr>
        <p:txBody>
          <a:bodyPr>
            <a:spAutoFit/>
          </a:bodyPr>
          <a:lstStyle/>
          <a:p>
            <a:pPr algn="just"/>
            <a:r>
              <a:rPr kumimoji="1" lang="zh-CN" altLang="en-US" sz="2400" b="1">
                <a:latin typeface="Times New Roman" pitchFamily="18" charset="0"/>
                <a:ea typeface="楷体_GB2312" pitchFamily="49" charset="-122"/>
              </a:rPr>
              <a:t>非静电性场强 </a:t>
            </a:r>
            <a:r>
              <a:rPr kumimoji="1" lang="en-US" altLang="zh-CN" sz="2400" b="1" i="1">
                <a:solidFill>
                  <a:srgbClr val="FF6600"/>
                </a:solidFill>
                <a:latin typeface="Times New Roman" pitchFamily="18" charset="0"/>
                <a:ea typeface="楷体_GB2312" pitchFamily="49" charset="-122"/>
              </a:rPr>
              <a:t>E</a:t>
            </a:r>
            <a:r>
              <a:rPr kumimoji="1" lang="en-US" altLang="zh-CN" sz="2400" b="1" i="1" baseline="-30000">
                <a:solidFill>
                  <a:srgbClr val="FF6600"/>
                </a:solidFill>
                <a:latin typeface="Times New Roman" pitchFamily="18" charset="0"/>
                <a:ea typeface="楷体_GB2312" pitchFamily="49" charset="-122"/>
              </a:rPr>
              <a:t>k </a:t>
            </a:r>
            <a:r>
              <a:rPr kumimoji="1" lang="zh-CN" altLang="en-US" sz="2400" b="1">
                <a:latin typeface="Times New Roman" pitchFamily="18" charset="0"/>
                <a:ea typeface="楷体_GB2312" pitchFamily="49" charset="-122"/>
              </a:rPr>
              <a:t>为</a:t>
            </a:r>
            <a:r>
              <a:rPr kumimoji="1" lang="en-US" altLang="zh-CN" sz="2400" b="1">
                <a:latin typeface="Times New Roman" pitchFamily="18" charset="0"/>
                <a:ea typeface="楷体_GB2312" pitchFamily="49" charset="-122"/>
              </a:rPr>
              <a:t>:</a:t>
            </a:r>
          </a:p>
        </p:txBody>
      </p:sp>
      <p:graphicFrame>
        <p:nvGraphicFramePr>
          <p:cNvPr id="60443" name="Object 27"/>
          <p:cNvGraphicFramePr>
            <a:graphicFrameLocks noChangeAspect="1"/>
          </p:cNvGraphicFramePr>
          <p:nvPr/>
        </p:nvGraphicFramePr>
        <p:xfrm>
          <a:off x="3290888" y="1163638"/>
          <a:ext cx="2324100" cy="752475"/>
        </p:xfrm>
        <a:graphic>
          <a:graphicData uri="http://schemas.openxmlformats.org/presentationml/2006/ole">
            <p:oleObj spid="_x0000_s7170" name="公式" r:id="rId4" imgW="1247744" imgH="380970" progId="Equation.3">
              <p:embed/>
            </p:oleObj>
          </a:graphicData>
        </a:graphic>
      </p:graphicFrame>
      <p:sp>
        <p:nvSpPr>
          <p:cNvPr id="60444" name="AutoShape 28"/>
          <p:cNvSpPr>
            <a:spLocks noChangeArrowheads="1"/>
          </p:cNvSpPr>
          <p:nvPr/>
        </p:nvSpPr>
        <p:spPr bwMode="auto">
          <a:xfrm>
            <a:off x="2700338" y="1989138"/>
            <a:ext cx="3762375" cy="792162"/>
          </a:xfrm>
          <a:prstGeom prst="bevel">
            <a:avLst>
              <a:gd name="adj" fmla="val 4847"/>
            </a:avLst>
          </a:prstGeom>
          <a:solidFill>
            <a:srgbClr val="CCFFCC"/>
          </a:solidFill>
          <a:ln w="9525">
            <a:solidFill>
              <a:srgbClr val="00FF00"/>
            </a:solidFill>
            <a:miter lim="800000"/>
            <a:headEnd/>
            <a:tailEnd/>
          </a:ln>
        </p:spPr>
        <p:txBody>
          <a:bodyPr wrap="none" anchor="ctr"/>
          <a:lstStyle/>
          <a:p>
            <a:endParaRPr lang="zh-CN" altLang="en-US"/>
          </a:p>
        </p:txBody>
      </p:sp>
      <p:sp>
        <p:nvSpPr>
          <p:cNvPr id="60445" name="Rectangle 29"/>
          <p:cNvSpPr>
            <a:spLocks noChangeArrowheads="1"/>
          </p:cNvSpPr>
          <p:nvPr/>
        </p:nvSpPr>
        <p:spPr bwMode="auto">
          <a:xfrm>
            <a:off x="323850" y="2147888"/>
            <a:ext cx="2232025" cy="457200"/>
          </a:xfrm>
          <a:prstGeom prst="rect">
            <a:avLst/>
          </a:prstGeom>
          <a:noFill/>
          <a:ln w="9525">
            <a:noFill/>
            <a:miter lim="800000"/>
            <a:headEnd/>
            <a:tailEnd/>
          </a:ln>
        </p:spPr>
        <p:txBody>
          <a:bodyPr>
            <a:spAutoFit/>
          </a:bodyPr>
          <a:lstStyle/>
          <a:p>
            <a:pPr algn="just"/>
            <a:r>
              <a:rPr kumimoji="1" lang="zh-CN" altLang="en-US" sz="2400" b="1">
                <a:solidFill>
                  <a:srgbClr val="FF0000"/>
                </a:solidFill>
                <a:latin typeface="Times New Roman" pitchFamily="18" charset="0"/>
                <a:ea typeface="楷体_GB2312" pitchFamily="49" charset="-122"/>
              </a:rPr>
              <a:t>动生电动势</a:t>
            </a:r>
            <a:r>
              <a:rPr kumimoji="1" lang="zh-CN" altLang="en-US" sz="2400" b="1">
                <a:latin typeface="Times New Roman" pitchFamily="18" charset="0"/>
                <a:ea typeface="楷体_GB2312" pitchFamily="49" charset="-122"/>
              </a:rPr>
              <a:t>为</a:t>
            </a:r>
            <a:r>
              <a:rPr kumimoji="1" lang="en-US" altLang="zh-CN" sz="2400" b="1">
                <a:latin typeface="Times New Roman" pitchFamily="18" charset="0"/>
                <a:ea typeface="楷体_GB2312" pitchFamily="49" charset="-122"/>
              </a:rPr>
              <a:t>:</a:t>
            </a:r>
          </a:p>
        </p:txBody>
      </p:sp>
      <p:graphicFrame>
        <p:nvGraphicFramePr>
          <p:cNvPr id="60446" name="Object 30"/>
          <p:cNvGraphicFramePr>
            <a:graphicFrameLocks/>
          </p:cNvGraphicFramePr>
          <p:nvPr/>
        </p:nvGraphicFramePr>
        <p:xfrm>
          <a:off x="2870200" y="2062163"/>
          <a:ext cx="3384550" cy="641350"/>
        </p:xfrm>
        <a:graphic>
          <a:graphicData uri="http://schemas.openxmlformats.org/presentationml/2006/ole">
            <p:oleObj spid="_x0000_s7171" name="公式" r:id="rId5" imgW="1838255" imgH="314280" progId="Equation.3">
              <p:embed/>
            </p:oleObj>
          </a:graphicData>
        </a:graphic>
      </p:graphicFrame>
      <p:graphicFrame>
        <p:nvGraphicFramePr>
          <p:cNvPr id="60447" name="Object 31"/>
          <p:cNvGraphicFramePr>
            <a:graphicFrameLocks/>
          </p:cNvGraphicFramePr>
          <p:nvPr/>
        </p:nvGraphicFramePr>
        <p:xfrm>
          <a:off x="4330700" y="3025775"/>
          <a:ext cx="2933700" cy="547688"/>
        </p:xfrm>
        <a:graphic>
          <a:graphicData uri="http://schemas.openxmlformats.org/presentationml/2006/ole">
            <p:oleObj spid="_x0000_s7172" name="公式" r:id="rId6" imgW="1590543" imgH="266760" progId="Equation.3">
              <p:embed/>
            </p:oleObj>
          </a:graphicData>
        </a:graphic>
      </p:graphicFrame>
      <p:sp>
        <p:nvSpPr>
          <p:cNvPr id="60448" name="Text Box 32"/>
          <p:cNvSpPr txBox="1">
            <a:spLocks noChangeArrowheads="1"/>
          </p:cNvSpPr>
          <p:nvPr/>
        </p:nvSpPr>
        <p:spPr bwMode="auto">
          <a:xfrm>
            <a:off x="179388" y="3054350"/>
            <a:ext cx="6202362"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闭合回路中的动生电动势为：</a:t>
            </a:r>
          </a:p>
        </p:txBody>
      </p:sp>
      <p:sp>
        <p:nvSpPr>
          <p:cNvPr id="60449" name="Rectangle 33"/>
          <p:cNvSpPr>
            <a:spLocks noChangeArrowheads="1"/>
          </p:cNvSpPr>
          <p:nvPr/>
        </p:nvSpPr>
        <p:spPr bwMode="auto">
          <a:xfrm>
            <a:off x="682625" y="4992688"/>
            <a:ext cx="7850188"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而                                </a:t>
            </a:r>
            <a:r>
              <a:rPr kumimoji="1" lang="zh-CN" altLang="en-US" sz="2400" b="1">
                <a:latin typeface="Times New Roman" pitchFamily="18" charset="0"/>
                <a:ea typeface="楷体_GB2312" pitchFamily="49" charset="-122"/>
                <a:sym typeface="Monotype Sorts" pitchFamily="2" charset="2"/>
              </a:rPr>
              <a:t>适用于切割磁力线的导体</a:t>
            </a:r>
          </a:p>
        </p:txBody>
      </p:sp>
      <p:graphicFrame>
        <p:nvGraphicFramePr>
          <p:cNvPr id="60450" name="Object 34"/>
          <p:cNvGraphicFramePr>
            <a:graphicFrameLocks noChangeAspect="1"/>
          </p:cNvGraphicFramePr>
          <p:nvPr/>
        </p:nvGraphicFramePr>
        <p:xfrm>
          <a:off x="804863" y="5734050"/>
          <a:ext cx="4294187" cy="557213"/>
        </p:xfrm>
        <a:graphic>
          <a:graphicData uri="http://schemas.openxmlformats.org/presentationml/2006/ole">
            <p:oleObj spid="_x0000_s7173" name="公式" r:id="rId7" imgW="2514668" imgH="295380" progId="Equation.3">
              <p:embed/>
            </p:oleObj>
          </a:graphicData>
        </a:graphic>
      </p:graphicFrame>
      <p:sp>
        <p:nvSpPr>
          <p:cNvPr id="60451" name="AutoShape 35"/>
          <p:cNvSpPr>
            <a:spLocks/>
          </p:cNvSpPr>
          <p:nvPr/>
        </p:nvSpPr>
        <p:spPr bwMode="auto">
          <a:xfrm>
            <a:off x="5137150" y="5595938"/>
            <a:ext cx="217488" cy="769937"/>
          </a:xfrm>
          <a:prstGeom prst="leftBrace">
            <a:avLst>
              <a:gd name="adj1" fmla="val 29501"/>
              <a:gd name="adj2" fmla="val 50000"/>
            </a:avLst>
          </a:prstGeom>
          <a:noFill/>
          <a:ln w="31750">
            <a:solidFill>
              <a:schemeClr val="tx1"/>
            </a:solidFill>
            <a:round/>
            <a:headEnd/>
            <a:tailEnd/>
          </a:ln>
        </p:spPr>
        <p:txBody>
          <a:bodyPr wrap="none" anchor="ctr"/>
          <a:lstStyle/>
          <a:p>
            <a:endParaRPr kumimoji="1" lang="zh-CN" altLang="zh-CN" sz="2400">
              <a:latin typeface="Times New Roman" pitchFamily="18" charset="0"/>
            </a:endParaRPr>
          </a:p>
        </p:txBody>
      </p:sp>
      <p:graphicFrame>
        <p:nvGraphicFramePr>
          <p:cNvPr id="60452" name="Object 36"/>
          <p:cNvGraphicFramePr>
            <a:graphicFrameLocks noChangeAspect="1"/>
          </p:cNvGraphicFramePr>
          <p:nvPr/>
        </p:nvGraphicFramePr>
        <p:xfrm>
          <a:off x="5497513" y="5468938"/>
          <a:ext cx="1612900" cy="414337"/>
        </p:xfrm>
        <a:graphic>
          <a:graphicData uri="http://schemas.openxmlformats.org/presentationml/2006/ole">
            <p:oleObj spid="_x0000_s7174" name="公式" r:id="rId8" imgW="847677" imgH="190620" progId="Equation.3">
              <p:embed/>
            </p:oleObj>
          </a:graphicData>
        </a:graphic>
      </p:graphicFrame>
      <p:graphicFrame>
        <p:nvGraphicFramePr>
          <p:cNvPr id="60453" name="Object 37"/>
          <p:cNvGraphicFramePr>
            <a:graphicFrameLocks noChangeAspect="1"/>
          </p:cNvGraphicFramePr>
          <p:nvPr/>
        </p:nvGraphicFramePr>
        <p:xfrm>
          <a:off x="5426075" y="6110288"/>
          <a:ext cx="1612900" cy="414337"/>
        </p:xfrm>
        <a:graphic>
          <a:graphicData uri="http://schemas.openxmlformats.org/presentationml/2006/ole">
            <p:oleObj spid="_x0000_s7175" name="公式" r:id="rId9" imgW="847677" imgH="190620" progId="Equation.3">
              <p:embed/>
            </p:oleObj>
          </a:graphicData>
        </a:graphic>
      </p:graphicFrame>
      <p:sp>
        <p:nvSpPr>
          <p:cNvPr id="60454" name="Rectangle 38"/>
          <p:cNvSpPr>
            <a:spLocks noChangeArrowheads="1"/>
          </p:cNvSpPr>
          <p:nvPr/>
        </p:nvSpPr>
        <p:spPr bwMode="auto">
          <a:xfrm>
            <a:off x="107950" y="4217988"/>
            <a:ext cx="7920038" cy="457200"/>
          </a:xfrm>
          <a:prstGeom prst="rect">
            <a:avLst/>
          </a:prstGeom>
          <a:noFill/>
          <a:ln w="9525">
            <a:noFill/>
            <a:miter lim="800000"/>
            <a:headEnd/>
            <a:tailEnd/>
          </a:ln>
        </p:spPr>
        <p:txBody>
          <a:bodyPr>
            <a:spAutoFit/>
          </a:bodyPr>
          <a:lstStyle/>
          <a:p>
            <a:pPr algn="l"/>
            <a:r>
              <a:rPr kumimoji="1" lang="en-US" altLang="zh-CN" sz="2400" b="1">
                <a:latin typeface="Times New Roman" pitchFamily="18" charset="0"/>
                <a:ea typeface="楷体_GB2312" pitchFamily="49" charset="-122"/>
              </a:rPr>
              <a:t>(1)                   </a:t>
            </a:r>
            <a:r>
              <a:rPr kumimoji="1" lang="zh-CN" altLang="en-US" sz="2400" b="1">
                <a:latin typeface="Times New Roman" pitchFamily="18" charset="0"/>
                <a:ea typeface="楷体_GB2312" pitchFamily="49" charset="-122"/>
              </a:rPr>
              <a:t>适用于一切产生电动势的回路</a:t>
            </a:r>
          </a:p>
        </p:txBody>
      </p:sp>
      <p:graphicFrame>
        <p:nvGraphicFramePr>
          <p:cNvPr id="60455" name="Object 39"/>
          <p:cNvGraphicFramePr>
            <a:graphicFrameLocks noChangeAspect="1"/>
          </p:cNvGraphicFramePr>
          <p:nvPr/>
        </p:nvGraphicFramePr>
        <p:xfrm>
          <a:off x="755650" y="4110038"/>
          <a:ext cx="1187450" cy="687387"/>
        </p:xfrm>
        <a:graphic>
          <a:graphicData uri="http://schemas.openxmlformats.org/presentationml/2006/ole">
            <p:oleObj spid="_x0000_s7176" name="公式" r:id="rId10" imgW="657233" imgH="371520" progId="Equation.3">
              <p:embed/>
            </p:oleObj>
          </a:graphicData>
        </a:graphic>
      </p:graphicFrame>
      <p:graphicFrame>
        <p:nvGraphicFramePr>
          <p:cNvPr id="60456" name="Object 40"/>
          <p:cNvGraphicFramePr>
            <a:graphicFrameLocks/>
          </p:cNvGraphicFramePr>
          <p:nvPr/>
        </p:nvGraphicFramePr>
        <p:xfrm>
          <a:off x="1403350" y="4868863"/>
          <a:ext cx="1868488" cy="608012"/>
        </p:xfrm>
        <a:graphic>
          <a:graphicData uri="http://schemas.openxmlformats.org/presentationml/2006/ole">
            <p:oleObj spid="_x0000_s7177" name="公式" r:id="rId11" imgW="1066755" imgH="314280" progId="Equation.3">
              <p:embed/>
            </p:oleObj>
          </a:graphicData>
        </a:graphic>
      </p:graphicFrame>
      <p:sp>
        <p:nvSpPr>
          <p:cNvPr id="60457" name="Rectangle 41"/>
          <p:cNvSpPr>
            <a:spLocks noChangeArrowheads="1"/>
          </p:cNvSpPr>
          <p:nvPr/>
        </p:nvSpPr>
        <p:spPr bwMode="auto">
          <a:xfrm>
            <a:off x="179388" y="5789613"/>
            <a:ext cx="539750" cy="457200"/>
          </a:xfrm>
          <a:prstGeom prst="rect">
            <a:avLst/>
          </a:prstGeom>
          <a:noFill/>
          <a:ln w="9525">
            <a:noFill/>
            <a:miter lim="800000"/>
            <a:headEnd/>
            <a:tailEnd/>
          </a:ln>
        </p:spPr>
        <p:txBody>
          <a:bodyPr wrap="none">
            <a:spAutoFit/>
          </a:bodyPr>
          <a:lstStyle/>
          <a:p>
            <a:pPr algn="l"/>
            <a:r>
              <a:rPr kumimoji="1" lang="en-US" altLang="zh-CN" sz="2400" b="1">
                <a:latin typeface="Times New Roman" pitchFamily="18" charset="0"/>
              </a:rPr>
              <a:t>(2)</a:t>
            </a:r>
          </a:p>
        </p:txBody>
      </p:sp>
      <p:sp>
        <p:nvSpPr>
          <p:cNvPr id="60458" name="Text Box 42"/>
          <p:cNvSpPr txBox="1">
            <a:spLocks noChangeArrowheads="1"/>
          </p:cNvSpPr>
          <p:nvPr/>
        </p:nvSpPr>
        <p:spPr bwMode="auto">
          <a:xfrm>
            <a:off x="619125" y="3600450"/>
            <a:ext cx="1296988" cy="457200"/>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buClr>
                <a:srgbClr val="00FFFF"/>
              </a:buClr>
              <a:buSzPts val="2400"/>
              <a:buFont typeface="Wingdings" pitchFamily="2" charset="2"/>
              <a:buNone/>
              <a:defRPr/>
            </a:pPr>
            <a:r>
              <a:rPr lang="zh-CN" altLang="en-US" sz="2400" b="1">
                <a:solidFill>
                  <a:srgbClr val="FF0000"/>
                </a:solidFill>
                <a:latin typeface="宋体" pitchFamily="2" charset="-122"/>
              </a:rPr>
              <a:t>讨论</a:t>
            </a:r>
            <a:endParaRPr lang="zh-CN" altLang="en-US"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sp>
        <p:nvSpPr>
          <p:cNvPr id="60459" name="AutoShape 43"/>
          <p:cNvSpPr>
            <a:spLocks noChangeArrowheads="1"/>
          </p:cNvSpPr>
          <p:nvPr/>
        </p:nvSpPr>
        <p:spPr bwMode="auto">
          <a:xfrm>
            <a:off x="206375" y="3519488"/>
            <a:ext cx="360363" cy="576262"/>
          </a:xfrm>
          <a:prstGeom prst="star4">
            <a:avLst>
              <a:gd name="adj" fmla="val 18519"/>
            </a:avLst>
          </a:prstGeom>
          <a:gradFill rotWithShape="1">
            <a:gsLst>
              <a:gs pos="0">
                <a:srgbClr val="FF0000"/>
              </a:gs>
              <a:gs pos="100000">
                <a:srgbClr val="7600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wipe(left)">
                                      <p:cBhvr>
                                        <p:cTn id="7" dur="500"/>
                                        <p:tgtEl>
                                          <p:spTgt spid="604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0439"/>
                                        </p:tgtEl>
                                        <p:attrNameLst>
                                          <p:attrName>style.visibility</p:attrName>
                                        </p:attrNameLst>
                                      </p:cBhvr>
                                      <p:to>
                                        <p:strVal val="visible"/>
                                      </p:to>
                                    </p:set>
                                    <p:animEffect transition="in" filter="wipe(left)">
                                      <p:cBhvr>
                                        <p:cTn id="12" dur="500"/>
                                        <p:tgtEl>
                                          <p:spTgt spid="60439"/>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0440"/>
                                        </p:tgtEl>
                                        <p:attrNameLst>
                                          <p:attrName>style.visibility</p:attrName>
                                        </p:attrNameLst>
                                      </p:cBhvr>
                                      <p:to>
                                        <p:strVal val="visible"/>
                                      </p:to>
                                    </p:set>
                                    <p:animEffect transition="in" filter="wipe(left)">
                                      <p:cBhvr>
                                        <p:cTn id="15" dur="500"/>
                                        <p:tgtEl>
                                          <p:spTgt spid="6044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60441"/>
                                        </p:tgtEl>
                                        <p:attrNameLst>
                                          <p:attrName>style.visibility</p:attrName>
                                        </p:attrNameLst>
                                      </p:cBhvr>
                                      <p:to>
                                        <p:strVal val="visible"/>
                                      </p:to>
                                    </p:set>
                                    <p:animEffect transition="in" filter="wipe(left)">
                                      <p:cBhvr>
                                        <p:cTn id="20" dur="500"/>
                                        <p:tgtEl>
                                          <p:spTgt spid="6044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60442"/>
                                        </p:tgtEl>
                                        <p:attrNameLst>
                                          <p:attrName>style.visibility</p:attrName>
                                        </p:attrNameLst>
                                      </p:cBhvr>
                                      <p:to>
                                        <p:strVal val="visible"/>
                                      </p:to>
                                    </p:set>
                                    <p:animEffect transition="in" filter="wipe(left)">
                                      <p:cBhvr>
                                        <p:cTn id="25" dur="2000"/>
                                        <p:tgtEl>
                                          <p:spTgt spid="6044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60443"/>
                                        </p:tgtEl>
                                        <p:attrNameLst>
                                          <p:attrName>style.visibility</p:attrName>
                                        </p:attrNameLst>
                                      </p:cBhvr>
                                      <p:to>
                                        <p:strVal val="visible"/>
                                      </p:to>
                                    </p:set>
                                    <p:animEffect transition="in" filter="wipe(left)">
                                      <p:cBhvr>
                                        <p:cTn id="30" dur="2000"/>
                                        <p:tgtEl>
                                          <p:spTgt spid="6044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60445"/>
                                        </p:tgtEl>
                                        <p:attrNameLst>
                                          <p:attrName>style.visibility</p:attrName>
                                        </p:attrNameLst>
                                      </p:cBhvr>
                                      <p:to>
                                        <p:strVal val="visible"/>
                                      </p:to>
                                    </p:set>
                                    <p:animEffect transition="in" filter="wipe(left)">
                                      <p:cBhvr>
                                        <p:cTn id="35" dur="2000"/>
                                        <p:tgtEl>
                                          <p:spTgt spid="6044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60446"/>
                                        </p:tgtEl>
                                        <p:attrNameLst>
                                          <p:attrName>style.visibility</p:attrName>
                                        </p:attrNameLst>
                                      </p:cBhvr>
                                      <p:to>
                                        <p:strVal val="visible"/>
                                      </p:to>
                                    </p:set>
                                    <p:animEffect transition="in" filter="wipe(left)">
                                      <p:cBhvr>
                                        <p:cTn id="40" dur="2000"/>
                                        <p:tgtEl>
                                          <p:spTgt spid="6044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60444"/>
                                        </p:tgtEl>
                                        <p:attrNameLst>
                                          <p:attrName>style.visibility</p:attrName>
                                        </p:attrNameLst>
                                      </p:cBhvr>
                                      <p:to>
                                        <p:strVal val="visible"/>
                                      </p:to>
                                    </p:set>
                                    <p:animEffect transition="in" filter="dissolve">
                                      <p:cBhvr>
                                        <p:cTn id="43" dur="2000"/>
                                        <p:tgtEl>
                                          <p:spTgt spid="6044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0448"/>
                                        </p:tgtEl>
                                        <p:attrNameLst>
                                          <p:attrName>style.visibility</p:attrName>
                                        </p:attrNameLst>
                                      </p:cBhvr>
                                      <p:to>
                                        <p:strVal val="visible"/>
                                      </p:to>
                                    </p:set>
                                    <p:animEffect transition="in" filter="wipe(left)">
                                      <p:cBhvr>
                                        <p:cTn id="48" dur="2000"/>
                                        <p:tgtEl>
                                          <p:spTgt spid="6044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60447"/>
                                        </p:tgtEl>
                                        <p:attrNameLst>
                                          <p:attrName>style.visibility</p:attrName>
                                        </p:attrNameLst>
                                      </p:cBhvr>
                                      <p:to>
                                        <p:strVal val="visible"/>
                                      </p:to>
                                    </p:set>
                                    <p:animEffect transition="in" filter="wipe(left)">
                                      <p:cBhvr>
                                        <p:cTn id="53" dur="2000"/>
                                        <p:tgtEl>
                                          <p:spTgt spid="60447"/>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60459"/>
                                        </p:tgtEl>
                                        <p:attrNameLst>
                                          <p:attrName>style.visibility</p:attrName>
                                        </p:attrNameLst>
                                      </p:cBhvr>
                                      <p:to>
                                        <p:strVal val="visible"/>
                                      </p:to>
                                    </p:set>
                                    <p:animEffect transition="in" filter="dissolve">
                                      <p:cBhvr>
                                        <p:cTn id="58" dur="1000"/>
                                        <p:tgtEl>
                                          <p:spTgt spid="60459"/>
                                        </p:tgtEl>
                                      </p:cBhvr>
                                    </p:animEffect>
                                  </p:childTnLst>
                                </p:cTn>
                              </p:par>
                            </p:childTnLst>
                          </p:cTn>
                        </p:par>
                        <p:par>
                          <p:cTn id="59" fill="hold" nodeType="afterGroup">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60458"/>
                                        </p:tgtEl>
                                        <p:attrNameLst>
                                          <p:attrName>style.visibility</p:attrName>
                                        </p:attrNameLst>
                                      </p:cBhvr>
                                      <p:to>
                                        <p:strVal val="visible"/>
                                      </p:to>
                                    </p:set>
                                    <p:animEffect transition="in" filter="wipe(left)">
                                      <p:cBhvr>
                                        <p:cTn id="62" dur="500"/>
                                        <p:tgtEl>
                                          <p:spTgt spid="6045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0454"/>
                                        </p:tgtEl>
                                        <p:attrNameLst>
                                          <p:attrName>style.visibility</p:attrName>
                                        </p:attrNameLst>
                                      </p:cBhvr>
                                      <p:to>
                                        <p:strVal val="visible"/>
                                      </p:to>
                                    </p:set>
                                    <p:animEffect transition="in" filter="wipe(left)">
                                      <p:cBhvr>
                                        <p:cTn id="67" dur="2000"/>
                                        <p:tgtEl>
                                          <p:spTgt spid="60454"/>
                                        </p:tgtEl>
                                      </p:cBhvr>
                                    </p:animEffect>
                                  </p:childTnLst>
                                </p:cTn>
                              </p:par>
                              <p:par>
                                <p:cTn id="68" presetID="22" presetClass="entr" presetSubtype="8" fill="hold" nodeType="withEffect">
                                  <p:stCondLst>
                                    <p:cond delay="0"/>
                                  </p:stCondLst>
                                  <p:childTnLst>
                                    <p:set>
                                      <p:cBhvr>
                                        <p:cTn id="69" dur="1" fill="hold">
                                          <p:stCondLst>
                                            <p:cond delay="0"/>
                                          </p:stCondLst>
                                        </p:cTn>
                                        <p:tgtEl>
                                          <p:spTgt spid="60455"/>
                                        </p:tgtEl>
                                        <p:attrNameLst>
                                          <p:attrName>style.visibility</p:attrName>
                                        </p:attrNameLst>
                                      </p:cBhvr>
                                      <p:to>
                                        <p:strVal val="visible"/>
                                      </p:to>
                                    </p:set>
                                    <p:animEffect transition="in" filter="wipe(left)">
                                      <p:cBhvr>
                                        <p:cTn id="70" dur="500"/>
                                        <p:tgtEl>
                                          <p:spTgt spid="6045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0449"/>
                                        </p:tgtEl>
                                        <p:attrNameLst>
                                          <p:attrName>style.visibility</p:attrName>
                                        </p:attrNameLst>
                                      </p:cBhvr>
                                      <p:to>
                                        <p:strVal val="visible"/>
                                      </p:to>
                                    </p:set>
                                    <p:animEffect transition="in" filter="wipe(left)">
                                      <p:cBhvr>
                                        <p:cTn id="75" dur="2000"/>
                                        <p:tgtEl>
                                          <p:spTgt spid="60449"/>
                                        </p:tgtEl>
                                      </p:cBhvr>
                                    </p:animEffect>
                                  </p:childTnLst>
                                </p:cTn>
                              </p:par>
                              <p:par>
                                <p:cTn id="76" presetID="22" presetClass="entr" presetSubtype="8" fill="hold" nodeType="withEffect">
                                  <p:stCondLst>
                                    <p:cond delay="0"/>
                                  </p:stCondLst>
                                  <p:childTnLst>
                                    <p:set>
                                      <p:cBhvr>
                                        <p:cTn id="77" dur="1" fill="hold">
                                          <p:stCondLst>
                                            <p:cond delay="0"/>
                                          </p:stCondLst>
                                        </p:cTn>
                                        <p:tgtEl>
                                          <p:spTgt spid="60456"/>
                                        </p:tgtEl>
                                        <p:attrNameLst>
                                          <p:attrName>style.visibility</p:attrName>
                                        </p:attrNameLst>
                                      </p:cBhvr>
                                      <p:to>
                                        <p:strVal val="visible"/>
                                      </p:to>
                                    </p:set>
                                    <p:animEffect transition="in" filter="wipe(left)">
                                      <p:cBhvr>
                                        <p:cTn id="78" dur="2000"/>
                                        <p:tgtEl>
                                          <p:spTgt spid="60456"/>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0457"/>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60450"/>
                                        </p:tgtEl>
                                        <p:attrNameLst>
                                          <p:attrName>style.visibility</p:attrName>
                                        </p:attrNameLst>
                                      </p:cBhvr>
                                      <p:to>
                                        <p:strVal val="visible"/>
                                      </p:to>
                                    </p:set>
                                    <p:animEffect transition="in" filter="wipe(left)">
                                      <p:cBhvr>
                                        <p:cTn id="87" dur="2000"/>
                                        <p:tgtEl>
                                          <p:spTgt spid="60450"/>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 presetClass="entr" presetSubtype="0" fill="hold" grpId="0" nodeType="clickEffect">
                                  <p:stCondLst>
                                    <p:cond delay="0"/>
                                  </p:stCondLst>
                                  <p:childTnLst>
                                    <p:set>
                                      <p:cBhvr>
                                        <p:cTn id="91" dur="1" fill="hold">
                                          <p:stCondLst>
                                            <p:cond delay="499"/>
                                          </p:stCondLst>
                                        </p:cTn>
                                        <p:tgtEl>
                                          <p:spTgt spid="60451"/>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60452"/>
                                        </p:tgtEl>
                                        <p:attrNameLst>
                                          <p:attrName>style.visibility</p:attrName>
                                        </p:attrNameLst>
                                      </p:cBhvr>
                                      <p:to>
                                        <p:strVal val="visible"/>
                                      </p:to>
                                    </p:set>
                                    <p:animEffect transition="in" filter="wipe(left)">
                                      <p:cBhvr>
                                        <p:cTn id="96" dur="500"/>
                                        <p:tgtEl>
                                          <p:spTgt spid="6045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60453"/>
                                        </p:tgtEl>
                                        <p:attrNameLst>
                                          <p:attrName>style.visibility</p:attrName>
                                        </p:attrNameLst>
                                      </p:cBhvr>
                                      <p:to>
                                        <p:strVal val="visible"/>
                                      </p:to>
                                    </p:set>
                                    <p:animEffect transition="in" filter="wipe(left)">
                                      <p:cBhvr>
                                        <p:cTn id="101" dur="500"/>
                                        <p:tgtEl>
                                          <p:spTgt spid="60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animBg="1" autoUpdateAnimBg="0"/>
      <p:bldP spid="60439" grpId="0" animBg="1"/>
      <p:bldP spid="60440" grpId="0"/>
      <p:bldP spid="60441" grpId="0" animBg="1"/>
      <p:bldP spid="60442" grpId="0" autoUpdateAnimBg="0"/>
      <p:bldP spid="60444" grpId="0" animBg="1"/>
      <p:bldP spid="60445" grpId="0" autoUpdateAnimBg="0"/>
      <p:bldP spid="60448" grpId="0" autoUpdateAnimBg="0"/>
      <p:bldP spid="60449" grpId="0"/>
      <p:bldP spid="60451" grpId="0" animBg="1" autoUpdateAnimBg="0"/>
      <p:bldP spid="60454" grpId="0"/>
      <p:bldP spid="60457" grpId="0"/>
      <p:bldP spid="60458" grpId="0" autoUpdateAnimBg="0"/>
      <p:bldP spid="6045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6"/>
          <p:cNvGrpSpPr>
            <a:grpSpLocks/>
          </p:cNvGrpSpPr>
          <p:nvPr/>
        </p:nvGrpSpPr>
        <p:grpSpPr bwMode="auto">
          <a:xfrm>
            <a:off x="5867400" y="2003425"/>
            <a:ext cx="2303463" cy="2289175"/>
            <a:chOff x="3696" y="663"/>
            <a:chExt cx="1451" cy="1442"/>
          </a:xfrm>
        </p:grpSpPr>
        <p:sp>
          <p:nvSpPr>
            <p:cNvPr id="39970" name="Text Box 17"/>
            <p:cNvSpPr txBox="1">
              <a:spLocks noChangeArrowheads="1"/>
            </p:cNvSpPr>
            <p:nvPr/>
          </p:nvSpPr>
          <p:spPr bwMode="auto">
            <a:xfrm>
              <a:off x="3696" y="663"/>
              <a:ext cx="1451" cy="1442"/>
            </a:xfrm>
            <a:prstGeom prst="rect">
              <a:avLst/>
            </a:prstGeom>
            <a:noFill/>
            <a:ln w="9525">
              <a:noFill/>
              <a:miter lim="800000"/>
              <a:headEnd/>
              <a:tailEnd/>
            </a:ln>
          </p:spPr>
          <p:txBody>
            <a:bodyPr>
              <a:spAutoFit/>
            </a:bodyPr>
            <a:lstStyle/>
            <a:p>
              <a:pPr algn="l">
                <a:spcBef>
                  <a:spcPct val="50000"/>
                </a:spcBef>
              </a:pPr>
              <a:r>
                <a:rPr lang="en-US" altLang="zh-CN">
                  <a:solidFill>
                    <a:srgbClr val="66CCFF"/>
                  </a:solidFill>
                </a:rPr>
                <a:t>x  x  x  x  x  x  x  x  x x  x  x  x  x  x  x  x  x x  x  x  x  x  x  x  x  x x  x  x  x  x  x  x  x  x x  x  x  x  x  x  x  x  x x  x  x  x  x  x  x  x  x  x  x  x  x  x  x  x  x  x  x  x  x  x  x  x  x  x  x</a:t>
              </a:r>
            </a:p>
          </p:txBody>
        </p:sp>
        <p:sp>
          <p:nvSpPr>
            <p:cNvPr id="39971" name="Text Box 18"/>
            <p:cNvSpPr txBox="1">
              <a:spLocks noChangeArrowheads="1"/>
            </p:cNvSpPr>
            <p:nvPr/>
          </p:nvSpPr>
          <p:spPr bwMode="auto">
            <a:xfrm>
              <a:off x="3696" y="754"/>
              <a:ext cx="227" cy="231"/>
            </a:xfrm>
            <a:prstGeom prst="rect">
              <a:avLst/>
            </a:prstGeom>
            <a:noFill/>
            <a:ln w="9525">
              <a:noFill/>
              <a:miter lim="800000"/>
              <a:headEnd/>
              <a:tailEnd/>
            </a:ln>
          </p:spPr>
          <p:txBody>
            <a:bodyPr>
              <a:spAutoFit/>
            </a:bodyPr>
            <a:lstStyle/>
            <a:p>
              <a:pPr algn="l">
                <a:spcBef>
                  <a:spcPct val="50000"/>
                </a:spcBef>
              </a:pPr>
              <a:r>
                <a:rPr lang="en-US" altLang="zh-CN" b="1" i="1">
                  <a:solidFill>
                    <a:srgbClr val="0000CC"/>
                  </a:solidFill>
                  <a:latin typeface="Times New Roman" pitchFamily="18" charset="0"/>
                </a:rPr>
                <a:t>B</a:t>
              </a:r>
            </a:p>
          </p:txBody>
        </p:sp>
      </p:grpSp>
      <p:sp>
        <p:nvSpPr>
          <p:cNvPr id="47111" name="Rectangle 7"/>
          <p:cNvSpPr>
            <a:spLocks noChangeArrowheads="1"/>
          </p:cNvSpPr>
          <p:nvPr/>
        </p:nvSpPr>
        <p:spPr bwMode="auto">
          <a:xfrm>
            <a:off x="107950" y="735013"/>
            <a:ext cx="8642350" cy="822325"/>
          </a:xfrm>
          <a:prstGeom prst="rect">
            <a:avLst/>
          </a:prstGeom>
          <a:noFill/>
          <a:ln w="9525">
            <a:noFill/>
            <a:miter lim="800000"/>
            <a:headEnd/>
            <a:tailEnd/>
          </a:ln>
        </p:spPr>
        <p:txBody>
          <a:bodyPr>
            <a:spAutoFit/>
          </a:bodyPr>
          <a:lstStyle/>
          <a:p>
            <a:pPr marL="342900" indent="-342900" algn="l">
              <a:buFontTx/>
              <a:buAutoNum type="arabicParenBoth" startAt="3"/>
            </a:pP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洛伦兹力总是垂直与电子的速度方向，对电子不作功，那</a:t>
            </a:r>
          </a:p>
          <a:p>
            <a:pPr marL="342900" indent="-342900" algn="l"/>
            <a:r>
              <a:rPr kumimoji="1" lang="zh-CN" altLang="en-US" sz="2400" b="1">
                <a:latin typeface="Times New Roman" pitchFamily="18" charset="0"/>
                <a:ea typeface="楷体_GB2312" pitchFamily="49" charset="-122"/>
              </a:rPr>
              <a:t>      么</a:t>
            </a:r>
            <a:r>
              <a:rPr kumimoji="1" lang="zh-CN" altLang="en-US" sz="2400" b="1">
                <a:solidFill>
                  <a:srgbClr val="FF6600"/>
                </a:solidFill>
                <a:latin typeface="Times New Roman" pitchFamily="18" charset="0"/>
                <a:ea typeface="楷体_GB2312" pitchFamily="49" charset="-122"/>
              </a:rPr>
              <a:t>建立的电场的能量从何而来？</a:t>
            </a:r>
          </a:p>
        </p:txBody>
      </p:sp>
      <p:sp>
        <p:nvSpPr>
          <p:cNvPr id="47112" name="Text Box 8"/>
          <p:cNvSpPr txBox="1">
            <a:spLocks noChangeArrowheads="1"/>
          </p:cNvSpPr>
          <p:nvPr/>
        </p:nvSpPr>
        <p:spPr bwMode="auto">
          <a:xfrm>
            <a:off x="323850" y="1916113"/>
            <a:ext cx="5327650" cy="22828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0000"/>
                </a:solidFill>
                <a:latin typeface="Times New Roman" pitchFamily="18" charset="0"/>
                <a:ea typeface="楷体_GB2312" pitchFamily="49" charset="-122"/>
                <a:cs typeface="Times New Roman" pitchFamily="18" charset="0"/>
              </a:rPr>
              <a:t>      </a:t>
            </a:r>
            <a:r>
              <a:rPr kumimoji="1" lang="zh-CN" altLang="en-US" sz="2400" b="1">
                <a:solidFill>
                  <a:srgbClr val="000000"/>
                </a:solidFill>
                <a:latin typeface="Times New Roman" pitchFamily="18" charset="0"/>
                <a:ea typeface="楷体_GB2312" pitchFamily="49" charset="-122"/>
                <a:cs typeface="Times New Roman" pitchFamily="18" charset="0"/>
              </a:rPr>
              <a:t>为使导体棒保持速度为 </a:t>
            </a:r>
            <a:r>
              <a:rPr kumimoji="1" lang="en-US" altLang="zh-CN" sz="2400" b="1" i="1">
                <a:solidFill>
                  <a:srgbClr val="FF0000"/>
                </a:solidFill>
                <a:latin typeface="Times New Roman" pitchFamily="18" charset="0"/>
                <a:ea typeface="楷体_GB2312" pitchFamily="49" charset="-122"/>
                <a:cs typeface="Times New Roman" pitchFamily="18" charset="0"/>
              </a:rPr>
              <a:t>v</a:t>
            </a:r>
            <a:r>
              <a:rPr kumimoji="1" lang="en-US" altLang="zh-CN" sz="2400" b="1" i="1">
                <a:solidFill>
                  <a:srgbClr val="FF0000"/>
                </a:solidFill>
                <a:latin typeface="Book Antiqua" pitchFamily="18" charset="0"/>
                <a:ea typeface="楷体_GB2312" pitchFamily="49" charset="-122"/>
                <a:cs typeface="Times New Roman" pitchFamily="18" charset="0"/>
              </a:rPr>
              <a:t> </a:t>
            </a:r>
            <a:r>
              <a:rPr kumimoji="1" lang="zh-CN" altLang="en-US" sz="2400" b="1">
                <a:solidFill>
                  <a:srgbClr val="000000"/>
                </a:solidFill>
                <a:latin typeface="Times New Roman" pitchFamily="18" charset="0"/>
                <a:ea typeface="楷体_GB2312" pitchFamily="49" charset="-122"/>
                <a:cs typeface="Times New Roman" pitchFamily="18" charset="0"/>
              </a:rPr>
              <a:t>的匀速运动，必须施加</a:t>
            </a:r>
            <a:r>
              <a:rPr kumimoji="1" lang="zh-CN" altLang="en-US" sz="2400" b="1">
                <a:solidFill>
                  <a:srgbClr val="FF0000"/>
                </a:solidFill>
                <a:latin typeface="Times New Roman" pitchFamily="18" charset="0"/>
                <a:ea typeface="楷体_GB2312" pitchFamily="49" charset="-122"/>
                <a:cs typeface="Times New Roman" pitchFamily="18" charset="0"/>
              </a:rPr>
              <a:t>外力 </a:t>
            </a:r>
            <a:r>
              <a:rPr kumimoji="1" lang="en-US" altLang="zh-CN" sz="2400" b="1" i="1">
                <a:solidFill>
                  <a:srgbClr val="FF0000"/>
                </a:solidFill>
                <a:latin typeface="Times New Roman" pitchFamily="18" charset="0"/>
                <a:ea typeface="楷体_GB2312" pitchFamily="49" charset="-122"/>
                <a:cs typeface="Times New Roman" pitchFamily="18" charset="0"/>
              </a:rPr>
              <a:t>f</a:t>
            </a:r>
            <a:r>
              <a:rPr kumimoji="1" lang="en-US" altLang="zh-CN" sz="2400" b="1" baseline="-30000">
                <a:solidFill>
                  <a:srgbClr val="FF0000"/>
                </a:solidFill>
                <a:latin typeface="Times New Roman" pitchFamily="18" charset="0"/>
                <a:ea typeface="楷体_GB2312" pitchFamily="49" charset="-122"/>
                <a:cs typeface="Times New Roman" pitchFamily="18" charset="0"/>
              </a:rPr>
              <a:t>0</a:t>
            </a:r>
            <a:r>
              <a:rPr kumimoji="1" lang="en-US" altLang="zh-CN" sz="2400" b="1" i="1" baseline="-30000">
                <a:solidFill>
                  <a:srgbClr val="FF0000"/>
                </a:solidFill>
                <a:latin typeface="Times New Roman" pitchFamily="18" charset="0"/>
                <a:ea typeface="楷体_GB2312" pitchFamily="49" charset="-122"/>
                <a:cs typeface="Times New Roman" pitchFamily="18" charset="0"/>
              </a:rPr>
              <a:t> </a:t>
            </a:r>
            <a:r>
              <a:rPr kumimoji="1" lang="zh-CN" altLang="en-US" sz="2400" b="1">
                <a:solidFill>
                  <a:srgbClr val="000000"/>
                </a:solidFill>
                <a:latin typeface="Times New Roman" pitchFamily="18" charset="0"/>
                <a:ea typeface="楷体_GB2312" pitchFamily="49" charset="-122"/>
                <a:cs typeface="Times New Roman" pitchFamily="18" charset="0"/>
              </a:rPr>
              <a:t>以克服洛仑兹力的一个分力 </a:t>
            </a:r>
            <a:r>
              <a:rPr kumimoji="1" lang="en-US" altLang="zh-CN" sz="2400" b="1" i="1">
                <a:solidFill>
                  <a:srgbClr val="FF0000"/>
                </a:solidFill>
                <a:latin typeface="Times New Roman" pitchFamily="18" charset="0"/>
                <a:ea typeface="楷体_GB2312" pitchFamily="49" charset="-122"/>
                <a:cs typeface="Times New Roman" pitchFamily="18" charset="0"/>
              </a:rPr>
              <a:t>f′</a:t>
            </a:r>
            <a:r>
              <a:rPr kumimoji="1" lang="zh-CN" altLang="en-US" sz="2400" b="1">
                <a:solidFill>
                  <a:srgbClr val="FF0000"/>
                </a:solidFill>
                <a:latin typeface="Times New Roman" pitchFamily="18" charset="0"/>
                <a:ea typeface="楷体_GB2312" pitchFamily="49" charset="-122"/>
                <a:cs typeface="Times New Roman" pitchFamily="18" charset="0"/>
              </a:rPr>
              <a:t>＝－</a:t>
            </a:r>
            <a:r>
              <a:rPr kumimoji="1" lang="en-US" altLang="zh-CN" sz="2400" b="1" i="1">
                <a:solidFill>
                  <a:srgbClr val="FF0000"/>
                </a:solidFill>
                <a:latin typeface="Times New Roman" pitchFamily="18" charset="0"/>
                <a:ea typeface="楷体_GB2312" pitchFamily="49" charset="-122"/>
                <a:cs typeface="Times New Roman" pitchFamily="18" charset="0"/>
              </a:rPr>
              <a:t>ev</a:t>
            </a:r>
            <a:r>
              <a:rPr kumimoji="1" lang="en-US" altLang="zh-CN" sz="2400" b="1">
                <a:solidFill>
                  <a:srgbClr val="FF0000"/>
                </a:solidFill>
                <a:latin typeface="Times New Roman" pitchFamily="18" charset="0"/>
                <a:ea typeface="楷体_GB2312" pitchFamily="49" charset="-122"/>
                <a:cs typeface="Times New Roman" pitchFamily="18" charset="0"/>
              </a:rPr>
              <a:t>×</a:t>
            </a:r>
            <a:r>
              <a:rPr kumimoji="1" lang="en-US" altLang="zh-CN" sz="2400" b="1" i="1">
                <a:solidFill>
                  <a:srgbClr val="FF0000"/>
                </a:solidFill>
                <a:latin typeface="Times New Roman" pitchFamily="18" charset="0"/>
                <a:ea typeface="楷体_GB2312" pitchFamily="49" charset="-122"/>
                <a:cs typeface="Times New Roman" pitchFamily="18" charset="0"/>
              </a:rPr>
              <a:t>B </a:t>
            </a:r>
            <a:r>
              <a:rPr kumimoji="1" lang="zh-CN" altLang="en-US" sz="2400" b="1">
                <a:solidFill>
                  <a:srgbClr val="000000"/>
                </a:solidFill>
                <a:latin typeface="Times New Roman" pitchFamily="18" charset="0"/>
                <a:ea typeface="楷体_GB2312" pitchFamily="49" charset="-122"/>
                <a:cs typeface="Times New Roman" pitchFamily="18" charset="0"/>
              </a:rPr>
              <a:t>。外力克服洛仑兹力的一个分量 </a:t>
            </a:r>
            <a:r>
              <a:rPr kumimoji="1" lang="en-US" altLang="zh-CN" sz="2400" b="1" i="1">
                <a:solidFill>
                  <a:srgbClr val="FF0000"/>
                </a:solidFill>
                <a:latin typeface="Times New Roman" pitchFamily="18" charset="0"/>
                <a:ea typeface="楷体_GB2312" pitchFamily="49" charset="-122"/>
                <a:cs typeface="Times New Roman" pitchFamily="18" charset="0"/>
              </a:rPr>
              <a:t>f′</a:t>
            </a:r>
            <a:r>
              <a:rPr kumimoji="1" lang="zh-CN" altLang="en-US" sz="2400" b="1">
                <a:solidFill>
                  <a:srgbClr val="000000"/>
                </a:solidFill>
                <a:latin typeface="Times New Roman" pitchFamily="18" charset="0"/>
                <a:ea typeface="楷体_GB2312" pitchFamily="49" charset="-122"/>
                <a:cs typeface="Times New Roman" pitchFamily="18" charset="0"/>
              </a:rPr>
              <a:t>所做的功转化为感应电流的能量。</a:t>
            </a:r>
          </a:p>
        </p:txBody>
      </p:sp>
      <p:sp>
        <p:nvSpPr>
          <p:cNvPr id="47115" name="Text Box 11"/>
          <p:cNvSpPr txBox="1">
            <a:spLocks noChangeArrowheads="1"/>
          </p:cNvSpPr>
          <p:nvPr/>
        </p:nvSpPr>
        <p:spPr bwMode="auto">
          <a:xfrm>
            <a:off x="395288" y="5084763"/>
            <a:ext cx="8056562" cy="977900"/>
          </a:xfrm>
          <a:prstGeom prst="rect">
            <a:avLst/>
          </a:prstGeom>
          <a:solidFill>
            <a:srgbClr val="99CCFF"/>
          </a:solidFill>
          <a:ln w="9525">
            <a:solidFill>
              <a:srgbClr val="3366FF"/>
            </a:solidFill>
            <a:miter lim="800000"/>
            <a:headEnd/>
            <a:tailEnd/>
          </a:ln>
        </p:spPr>
        <p:txBody>
          <a:bodyPr>
            <a:spAutoFit/>
          </a:bodyPr>
          <a:lstStyle/>
          <a:p>
            <a:pPr algn="l">
              <a:lnSpc>
                <a:spcPct val="120000"/>
              </a:lnSpc>
            </a:pPr>
            <a:r>
              <a:rPr kumimoji="1" lang="en-US" altLang="zh-CN" sz="2400" b="1">
                <a:solidFill>
                  <a:srgbClr val="0000CC"/>
                </a:solidFill>
                <a:latin typeface="Times New Roman" pitchFamily="18" charset="0"/>
                <a:cs typeface="Times New Roman" pitchFamily="18" charset="0"/>
              </a:rPr>
              <a:t>       </a:t>
            </a:r>
            <a:r>
              <a:rPr kumimoji="1" lang="zh-CN" altLang="en-US" sz="2400" b="1">
                <a:solidFill>
                  <a:srgbClr val="0000CC"/>
                </a:solidFill>
                <a:latin typeface="Times New Roman" pitchFamily="18" charset="0"/>
                <a:cs typeface="Times New Roman" pitchFamily="18" charset="0"/>
              </a:rPr>
              <a:t>洛仑兹力起到了能量转化的传递作用，但前提是运动导体中必须有能自由移动的电荷。</a:t>
            </a:r>
          </a:p>
        </p:txBody>
      </p:sp>
      <p:grpSp>
        <p:nvGrpSpPr>
          <p:cNvPr id="3" name="Group 12"/>
          <p:cNvGrpSpPr>
            <a:grpSpLocks/>
          </p:cNvGrpSpPr>
          <p:nvPr/>
        </p:nvGrpSpPr>
        <p:grpSpPr bwMode="auto">
          <a:xfrm>
            <a:off x="6875463" y="2147888"/>
            <a:ext cx="1009650" cy="2016125"/>
            <a:chOff x="4331" y="754"/>
            <a:chExt cx="636" cy="1270"/>
          </a:xfrm>
        </p:grpSpPr>
        <p:sp>
          <p:nvSpPr>
            <p:cNvPr id="39967" name="Rectangle 13"/>
            <p:cNvSpPr>
              <a:spLocks noChangeArrowheads="1"/>
            </p:cNvSpPr>
            <p:nvPr/>
          </p:nvSpPr>
          <p:spPr bwMode="auto">
            <a:xfrm>
              <a:off x="4331" y="754"/>
              <a:ext cx="137" cy="1270"/>
            </a:xfrm>
            <a:prstGeom prst="rect">
              <a:avLst/>
            </a:prstGeom>
            <a:gradFill rotWithShape="1">
              <a:gsLst>
                <a:gs pos="0">
                  <a:schemeClr val="bg2"/>
                </a:gs>
                <a:gs pos="100000">
                  <a:srgbClr val="C2FCA2"/>
                </a:gs>
              </a:gsLst>
              <a:lin ang="0" scaled="1"/>
            </a:gradFill>
            <a:ln w="9525">
              <a:solidFill>
                <a:schemeClr val="tx1"/>
              </a:solidFill>
              <a:miter lim="800000"/>
              <a:headEnd/>
              <a:tailEnd/>
            </a:ln>
          </p:spPr>
          <p:txBody>
            <a:bodyPr wrap="none" anchor="ctr"/>
            <a:lstStyle/>
            <a:p>
              <a:endParaRPr lang="zh-CN" altLang="en-US"/>
            </a:p>
          </p:txBody>
        </p:sp>
        <p:sp>
          <p:nvSpPr>
            <p:cNvPr id="39968" name="Line 14"/>
            <p:cNvSpPr>
              <a:spLocks noChangeShapeType="1"/>
            </p:cNvSpPr>
            <p:nvPr/>
          </p:nvSpPr>
          <p:spPr bwMode="auto">
            <a:xfrm>
              <a:off x="4468" y="1253"/>
              <a:ext cx="362" cy="0"/>
            </a:xfrm>
            <a:prstGeom prst="line">
              <a:avLst/>
            </a:prstGeom>
            <a:noFill/>
            <a:ln w="25400">
              <a:solidFill>
                <a:srgbClr val="FF0000"/>
              </a:solidFill>
              <a:prstDash val="dash"/>
              <a:round/>
              <a:headEnd/>
              <a:tailEnd type="triangle" w="med" len="med"/>
            </a:ln>
          </p:spPr>
          <p:txBody>
            <a:bodyPr/>
            <a:lstStyle/>
            <a:p>
              <a:endParaRPr lang="zh-CN" altLang="en-US"/>
            </a:p>
          </p:txBody>
        </p:sp>
        <p:sp>
          <p:nvSpPr>
            <p:cNvPr id="39969" name="Text Box 15"/>
            <p:cNvSpPr txBox="1">
              <a:spLocks noChangeArrowheads="1"/>
            </p:cNvSpPr>
            <p:nvPr/>
          </p:nvSpPr>
          <p:spPr bwMode="auto">
            <a:xfrm>
              <a:off x="4740" y="1071"/>
              <a:ext cx="227"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v</a:t>
              </a:r>
            </a:p>
          </p:txBody>
        </p:sp>
      </p:grpSp>
      <p:grpSp>
        <p:nvGrpSpPr>
          <p:cNvPr id="4" name="Group 19"/>
          <p:cNvGrpSpPr>
            <a:grpSpLocks/>
          </p:cNvGrpSpPr>
          <p:nvPr/>
        </p:nvGrpSpPr>
        <p:grpSpPr bwMode="auto">
          <a:xfrm>
            <a:off x="6864350" y="2795588"/>
            <a:ext cx="522288" cy="749300"/>
            <a:chOff x="4324" y="1162"/>
            <a:chExt cx="329" cy="472"/>
          </a:xfrm>
        </p:grpSpPr>
        <p:grpSp>
          <p:nvGrpSpPr>
            <p:cNvPr id="39962" name="Group 20"/>
            <p:cNvGrpSpPr>
              <a:grpSpLocks/>
            </p:cNvGrpSpPr>
            <p:nvPr/>
          </p:nvGrpSpPr>
          <p:grpSpPr bwMode="auto">
            <a:xfrm>
              <a:off x="4324" y="1162"/>
              <a:ext cx="150" cy="231"/>
              <a:chOff x="2957" y="1874"/>
              <a:chExt cx="150" cy="231"/>
            </a:xfrm>
          </p:grpSpPr>
          <p:sp>
            <p:nvSpPr>
              <p:cNvPr id="39965" name="Oval 21"/>
              <p:cNvSpPr>
                <a:spLocks noChangeArrowheads="1"/>
              </p:cNvSpPr>
              <p:nvPr/>
            </p:nvSpPr>
            <p:spPr bwMode="auto">
              <a:xfrm>
                <a:off x="2971" y="1933"/>
                <a:ext cx="136" cy="136"/>
              </a:xfrm>
              <a:prstGeom prst="ellipse">
                <a:avLst/>
              </a:prstGeom>
              <a:solidFill>
                <a:schemeClr val="bg1"/>
              </a:solidFill>
              <a:ln w="25400">
                <a:solidFill>
                  <a:srgbClr val="0000FF"/>
                </a:solidFill>
                <a:round/>
                <a:headEnd/>
                <a:tailEnd/>
              </a:ln>
            </p:spPr>
            <p:txBody>
              <a:bodyPr wrap="none" anchor="ctr"/>
              <a:lstStyle/>
              <a:p>
                <a:endParaRPr lang="zh-CN" altLang="en-US"/>
              </a:p>
            </p:txBody>
          </p:sp>
          <p:sp>
            <p:nvSpPr>
              <p:cNvPr id="39966" name="Text Box 22"/>
              <p:cNvSpPr txBox="1">
                <a:spLocks noChangeArrowheads="1"/>
              </p:cNvSpPr>
              <p:nvPr/>
            </p:nvSpPr>
            <p:spPr bwMode="auto">
              <a:xfrm>
                <a:off x="2957" y="1874"/>
                <a:ext cx="136" cy="231"/>
              </a:xfrm>
              <a:prstGeom prst="rect">
                <a:avLst/>
              </a:prstGeom>
              <a:noFill/>
              <a:ln w="9525">
                <a:noFill/>
                <a:miter lim="800000"/>
                <a:headEnd/>
                <a:tailEnd/>
              </a:ln>
            </p:spPr>
            <p:txBody>
              <a:bodyPr>
                <a:spAutoFit/>
              </a:bodyPr>
              <a:lstStyle/>
              <a:p>
                <a:pPr algn="l">
                  <a:spcBef>
                    <a:spcPct val="50000"/>
                  </a:spcBef>
                </a:pPr>
                <a:r>
                  <a:rPr lang="en-US" altLang="zh-CN">
                    <a:solidFill>
                      <a:srgbClr val="FF0000"/>
                    </a:solidFill>
                    <a:latin typeface="宋体" pitchFamily="2" charset="-122"/>
                  </a:rPr>
                  <a:t>-</a:t>
                </a:r>
              </a:p>
            </p:txBody>
          </p:sp>
        </p:grpSp>
        <p:sp>
          <p:nvSpPr>
            <p:cNvPr id="39963" name="Line 23"/>
            <p:cNvSpPr>
              <a:spLocks noChangeShapeType="1"/>
            </p:cNvSpPr>
            <p:nvPr/>
          </p:nvSpPr>
          <p:spPr bwMode="auto">
            <a:xfrm>
              <a:off x="4422" y="1344"/>
              <a:ext cx="0" cy="226"/>
            </a:xfrm>
            <a:prstGeom prst="line">
              <a:avLst/>
            </a:prstGeom>
            <a:noFill/>
            <a:ln w="25400">
              <a:solidFill>
                <a:srgbClr val="FF0000"/>
              </a:solidFill>
              <a:prstDash val="dash"/>
              <a:round/>
              <a:headEnd/>
              <a:tailEnd type="triangle" w="med" len="med"/>
            </a:ln>
          </p:spPr>
          <p:txBody>
            <a:bodyPr/>
            <a:lstStyle/>
            <a:p>
              <a:endParaRPr lang="zh-CN" altLang="en-US"/>
            </a:p>
          </p:txBody>
        </p:sp>
        <p:sp>
          <p:nvSpPr>
            <p:cNvPr id="39964" name="Text Box 24"/>
            <p:cNvSpPr txBox="1">
              <a:spLocks noChangeArrowheads="1"/>
            </p:cNvSpPr>
            <p:nvPr/>
          </p:nvSpPr>
          <p:spPr bwMode="auto">
            <a:xfrm>
              <a:off x="4426" y="1403"/>
              <a:ext cx="227"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u</a:t>
              </a:r>
            </a:p>
          </p:txBody>
        </p:sp>
      </p:grpSp>
      <p:grpSp>
        <p:nvGrpSpPr>
          <p:cNvPr id="6" name="Group 25"/>
          <p:cNvGrpSpPr>
            <a:grpSpLocks/>
          </p:cNvGrpSpPr>
          <p:nvPr/>
        </p:nvGrpSpPr>
        <p:grpSpPr bwMode="auto">
          <a:xfrm>
            <a:off x="7019925" y="2940050"/>
            <a:ext cx="1368425" cy="654050"/>
            <a:chOff x="4422" y="1253"/>
            <a:chExt cx="862" cy="412"/>
          </a:xfrm>
        </p:grpSpPr>
        <p:sp>
          <p:nvSpPr>
            <p:cNvPr id="39958" name="Line 26"/>
            <p:cNvSpPr>
              <a:spLocks noChangeShapeType="1"/>
            </p:cNvSpPr>
            <p:nvPr/>
          </p:nvSpPr>
          <p:spPr bwMode="auto">
            <a:xfrm>
              <a:off x="4436" y="1312"/>
              <a:ext cx="363" cy="272"/>
            </a:xfrm>
            <a:prstGeom prst="line">
              <a:avLst/>
            </a:prstGeom>
            <a:noFill/>
            <a:ln w="25400">
              <a:solidFill>
                <a:srgbClr val="FF0000"/>
              </a:solidFill>
              <a:round/>
              <a:headEnd/>
              <a:tailEnd type="triangle" w="med" len="med"/>
            </a:ln>
          </p:spPr>
          <p:txBody>
            <a:bodyPr/>
            <a:lstStyle/>
            <a:p>
              <a:endParaRPr lang="zh-CN" altLang="en-US"/>
            </a:p>
          </p:txBody>
        </p:sp>
        <p:sp>
          <p:nvSpPr>
            <p:cNvPr id="39959" name="Line 27"/>
            <p:cNvSpPr>
              <a:spLocks noChangeShapeType="1"/>
            </p:cNvSpPr>
            <p:nvPr/>
          </p:nvSpPr>
          <p:spPr bwMode="auto">
            <a:xfrm>
              <a:off x="4799" y="1253"/>
              <a:ext cx="0" cy="317"/>
            </a:xfrm>
            <a:prstGeom prst="line">
              <a:avLst/>
            </a:prstGeom>
            <a:noFill/>
            <a:ln w="9525">
              <a:solidFill>
                <a:schemeClr val="tx1"/>
              </a:solidFill>
              <a:prstDash val="dash"/>
              <a:round/>
              <a:headEnd/>
              <a:tailEnd/>
            </a:ln>
          </p:spPr>
          <p:txBody>
            <a:bodyPr/>
            <a:lstStyle/>
            <a:p>
              <a:endParaRPr lang="zh-CN" altLang="en-US"/>
            </a:p>
          </p:txBody>
        </p:sp>
        <p:sp>
          <p:nvSpPr>
            <p:cNvPr id="39960" name="Line 28"/>
            <p:cNvSpPr>
              <a:spLocks noChangeShapeType="1"/>
            </p:cNvSpPr>
            <p:nvPr/>
          </p:nvSpPr>
          <p:spPr bwMode="auto">
            <a:xfrm>
              <a:off x="4422" y="1584"/>
              <a:ext cx="363" cy="0"/>
            </a:xfrm>
            <a:prstGeom prst="line">
              <a:avLst/>
            </a:prstGeom>
            <a:noFill/>
            <a:ln w="9525">
              <a:solidFill>
                <a:schemeClr val="tx1"/>
              </a:solidFill>
              <a:prstDash val="dash"/>
              <a:round/>
              <a:headEnd/>
              <a:tailEnd/>
            </a:ln>
          </p:spPr>
          <p:txBody>
            <a:bodyPr/>
            <a:lstStyle/>
            <a:p>
              <a:endParaRPr lang="zh-CN" altLang="en-US"/>
            </a:p>
          </p:txBody>
        </p:sp>
        <p:sp>
          <p:nvSpPr>
            <p:cNvPr id="39961" name="Text Box 29"/>
            <p:cNvSpPr txBox="1">
              <a:spLocks noChangeArrowheads="1"/>
            </p:cNvSpPr>
            <p:nvPr/>
          </p:nvSpPr>
          <p:spPr bwMode="auto">
            <a:xfrm>
              <a:off x="4785" y="1434"/>
              <a:ext cx="499"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u+v</a:t>
              </a:r>
            </a:p>
          </p:txBody>
        </p:sp>
      </p:grpSp>
      <p:grpSp>
        <p:nvGrpSpPr>
          <p:cNvPr id="7" name="Group 30"/>
          <p:cNvGrpSpPr>
            <a:grpSpLocks/>
          </p:cNvGrpSpPr>
          <p:nvPr/>
        </p:nvGrpSpPr>
        <p:grpSpPr bwMode="auto">
          <a:xfrm>
            <a:off x="5940425" y="3011488"/>
            <a:ext cx="936625" cy="1158875"/>
            <a:chOff x="3742" y="1298"/>
            <a:chExt cx="590" cy="730"/>
          </a:xfrm>
        </p:grpSpPr>
        <p:sp>
          <p:nvSpPr>
            <p:cNvPr id="39956" name="Line 31"/>
            <p:cNvSpPr>
              <a:spLocks noChangeShapeType="1"/>
            </p:cNvSpPr>
            <p:nvPr/>
          </p:nvSpPr>
          <p:spPr bwMode="auto">
            <a:xfrm flipH="1">
              <a:off x="3923" y="1298"/>
              <a:ext cx="409" cy="635"/>
            </a:xfrm>
            <a:prstGeom prst="line">
              <a:avLst/>
            </a:prstGeom>
            <a:noFill/>
            <a:ln w="31750">
              <a:solidFill>
                <a:srgbClr val="0000FF"/>
              </a:solidFill>
              <a:round/>
              <a:headEnd/>
              <a:tailEnd type="triangle" w="med" len="med"/>
            </a:ln>
          </p:spPr>
          <p:txBody>
            <a:bodyPr/>
            <a:lstStyle/>
            <a:p>
              <a:endParaRPr lang="zh-CN" altLang="en-US"/>
            </a:p>
          </p:txBody>
        </p:sp>
        <p:sp>
          <p:nvSpPr>
            <p:cNvPr id="39957" name="Text Box 32"/>
            <p:cNvSpPr txBox="1">
              <a:spLocks noChangeArrowheads="1"/>
            </p:cNvSpPr>
            <p:nvPr/>
          </p:nvSpPr>
          <p:spPr bwMode="auto">
            <a:xfrm>
              <a:off x="3742" y="1797"/>
              <a:ext cx="227" cy="231"/>
            </a:xfrm>
            <a:prstGeom prst="rect">
              <a:avLst/>
            </a:prstGeom>
            <a:noFill/>
            <a:ln w="9525">
              <a:noFill/>
              <a:miter lim="800000"/>
              <a:headEnd/>
              <a:tailEnd/>
            </a:ln>
          </p:spPr>
          <p:txBody>
            <a:bodyPr>
              <a:spAutoFit/>
            </a:bodyPr>
            <a:lstStyle/>
            <a:p>
              <a:pPr algn="l">
                <a:spcBef>
                  <a:spcPct val="50000"/>
                </a:spcBef>
              </a:pPr>
              <a:r>
                <a:rPr lang="en-US" altLang="zh-CN" b="1" i="1">
                  <a:solidFill>
                    <a:srgbClr val="FF0000"/>
                  </a:solidFill>
                  <a:latin typeface="Times New Roman" pitchFamily="18" charset="0"/>
                </a:rPr>
                <a:t>F</a:t>
              </a:r>
            </a:p>
          </p:txBody>
        </p:sp>
      </p:grpSp>
      <p:grpSp>
        <p:nvGrpSpPr>
          <p:cNvPr id="8" name="Group 33"/>
          <p:cNvGrpSpPr>
            <a:grpSpLocks/>
          </p:cNvGrpSpPr>
          <p:nvPr/>
        </p:nvGrpSpPr>
        <p:grpSpPr bwMode="auto">
          <a:xfrm>
            <a:off x="6011863" y="2651125"/>
            <a:ext cx="1203325" cy="1447800"/>
            <a:chOff x="3787" y="1071"/>
            <a:chExt cx="758" cy="912"/>
          </a:xfrm>
        </p:grpSpPr>
        <p:sp>
          <p:nvSpPr>
            <p:cNvPr id="39950" name="Line 34"/>
            <p:cNvSpPr>
              <a:spLocks noChangeShapeType="1"/>
            </p:cNvSpPr>
            <p:nvPr/>
          </p:nvSpPr>
          <p:spPr bwMode="auto">
            <a:xfrm flipH="1">
              <a:off x="3878" y="1298"/>
              <a:ext cx="454" cy="0"/>
            </a:xfrm>
            <a:prstGeom prst="line">
              <a:avLst/>
            </a:prstGeom>
            <a:noFill/>
            <a:ln w="31750">
              <a:solidFill>
                <a:srgbClr val="0000FF"/>
              </a:solidFill>
              <a:round/>
              <a:headEnd/>
              <a:tailEnd type="triangle" w="med" len="med"/>
            </a:ln>
          </p:spPr>
          <p:txBody>
            <a:bodyPr/>
            <a:lstStyle/>
            <a:p>
              <a:endParaRPr lang="zh-CN" altLang="en-US"/>
            </a:p>
          </p:txBody>
        </p:sp>
        <p:sp>
          <p:nvSpPr>
            <p:cNvPr id="39951" name="Line 35"/>
            <p:cNvSpPr>
              <a:spLocks noChangeShapeType="1"/>
            </p:cNvSpPr>
            <p:nvPr/>
          </p:nvSpPr>
          <p:spPr bwMode="auto">
            <a:xfrm>
              <a:off x="4332" y="1298"/>
              <a:ext cx="0" cy="635"/>
            </a:xfrm>
            <a:prstGeom prst="line">
              <a:avLst/>
            </a:prstGeom>
            <a:noFill/>
            <a:ln w="31750">
              <a:solidFill>
                <a:srgbClr val="0000FF"/>
              </a:solidFill>
              <a:round/>
              <a:headEnd/>
              <a:tailEnd type="triangle" w="med" len="med"/>
            </a:ln>
          </p:spPr>
          <p:txBody>
            <a:bodyPr/>
            <a:lstStyle/>
            <a:p>
              <a:endParaRPr lang="zh-CN" altLang="en-US"/>
            </a:p>
          </p:txBody>
        </p:sp>
        <p:sp>
          <p:nvSpPr>
            <p:cNvPr id="39952" name="Line 36"/>
            <p:cNvSpPr>
              <a:spLocks noChangeShapeType="1"/>
            </p:cNvSpPr>
            <p:nvPr/>
          </p:nvSpPr>
          <p:spPr bwMode="auto">
            <a:xfrm flipH="1">
              <a:off x="3923" y="1933"/>
              <a:ext cx="364" cy="0"/>
            </a:xfrm>
            <a:prstGeom prst="line">
              <a:avLst/>
            </a:prstGeom>
            <a:noFill/>
            <a:ln w="9525">
              <a:solidFill>
                <a:schemeClr val="tx1"/>
              </a:solidFill>
              <a:prstDash val="dash"/>
              <a:round/>
              <a:headEnd/>
              <a:tailEnd/>
            </a:ln>
          </p:spPr>
          <p:txBody>
            <a:bodyPr/>
            <a:lstStyle/>
            <a:p>
              <a:endParaRPr lang="zh-CN" altLang="en-US"/>
            </a:p>
          </p:txBody>
        </p:sp>
        <p:sp>
          <p:nvSpPr>
            <p:cNvPr id="39953" name="Line 37"/>
            <p:cNvSpPr>
              <a:spLocks noChangeShapeType="1"/>
            </p:cNvSpPr>
            <p:nvPr/>
          </p:nvSpPr>
          <p:spPr bwMode="auto">
            <a:xfrm flipV="1">
              <a:off x="3923" y="1344"/>
              <a:ext cx="0" cy="589"/>
            </a:xfrm>
            <a:prstGeom prst="line">
              <a:avLst/>
            </a:prstGeom>
            <a:noFill/>
            <a:ln w="9525">
              <a:solidFill>
                <a:schemeClr val="tx1"/>
              </a:solidFill>
              <a:prstDash val="dash"/>
              <a:round/>
              <a:headEnd/>
              <a:tailEnd/>
            </a:ln>
          </p:spPr>
          <p:txBody>
            <a:bodyPr/>
            <a:lstStyle/>
            <a:p>
              <a:endParaRPr lang="zh-CN" altLang="en-US"/>
            </a:p>
          </p:txBody>
        </p:sp>
        <p:sp>
          <p:nvSpPr>
            <p:cNvPr id="39954" name="Text Box 38"/>
            <p:cNvSpPr txBox="1">
              <a:spLocks noChangeArrowheads="1"/>
            </p:cNvSpPr>
            <p:nvPr/>
          </p:nvSpPr>
          <p:spPr bwMode="auto">
            <a:xfrm>
              <a:off x="3787" y="1071"/>
              <a:ext cx="317" cy="231"/>
            </a:xfrm>
            <a:prstGeom prst="rect">
              <a:avLst/>
            </a:prstGeom>
            <a:noFill/>
            <a:ln w="9525">
              <a:noFill/>
              <a:miter lim="800000"/>
              <a:headEnd/>
              <a:tailEnd/>
            </a:ln>
          </p:spPr>
          <p:txBody>
            <a:bodyPr>
              <a:spAutoFit/>
            </a:bodyPr>
            <a:lstStyle/>
            <a:p>
              <a:pPr algn="l">
                <a:spcBef>
                  <a:spcPct val="50000"/>
                </a:spcBef>
              </a:pPr>
              <a:r>
                <a:rPr lang="en-US" altLang="zh-CN" b="1" i="1">
                  <a:solidFill>
                    <a:srgbClr val="FF0000"/>
                  </a:solidFill>
                  <a:latin typeface="Times New Roman" pitchFamily="18" charset="0"/>
                </a:rPr>
                <a:t>f</a:t>
              </a:r>
              <a:r>
                <a:rPr lang="en-US" altLang="zh-CN" b="1" i="1" baseline="30000">
                  <a:solidFill>
                    <a:srgbClr val="FF0000"/>
                  </a:solidFill>
                  <a:latin typeface="Times New Roman" pitchFamily="18" charset="0"/>
                </a:rPr>
                <a:t>′</a:t>
              </a:r>
              <a:endParaRPr lang="en-US" altLang="zh-CN" b="1" i="1">
                <a:solidFill>
                  <a:srgbClr val="FF0000"/>
                </a:solidFill>
                <a:latin typeface="Times New Roman" pitchFamily="18" charset="0"/>
              </a:endParaRPr>
            </a:p>
          </p:txBody>
        </p:sp>
        <p:sp>
          <p:nvSpPr>
            <p:cNvPr id="39955" name="Text Box 39"/>
            <p:cNvSpPr txBox="1">
              <a:spLocks noChangeArrowheads="1"/>
            </p:cNvSpPr>
            <p:nvPr/>
          </p:nvSpPr>
          <p:spPr bwMode="auto">
            <a:xfrm>
              <a:off x="4318" y="1752"/>
              <a:ext cx="227" cy="231"/>
            </a:xfrm>
            <a:prstGeom prst="rect">
              <a:avLst/>
            </a:prstGeom>
            <a:noFill/>
            <a:ln w="9525">
              <a:noFill/>
              <a:miter lim="800000"/>
              <a:headEnd/>
              <a:tailEnd/>
            </a:ln>
          </p:spPr>
          <p:txBody>
            <a:bodyPr>
              <a:spAutoFit/>
            </a:bodyPr>
            <a:lstStyle/>
            <a:p>
              <a:pPr algn="l">
                <a:spcBef>
                  <a:spcPct val="50000"/>
                </a:spcBef>
              </a:pPr>
              <a:r>
                <a:rPr lang="en-US" altLang="zh-CN" b="1" i="1">
                  <a:solidFill>
                    <a:srgbClr val="FF0000"/>
                  </a:solidFill>
                  <a:latin typeface="Times New Roman" pitchFamily="18" charset="0"/>
                </a:rPr>
                <a:t>f</a:t>
              </a:r>
            </a:p>
          </p:txBody>
        </p:sp>
      </p:grpSp>
      <p:grpSp>
        <p:nvGrpSpPr>
          <p:cNvPr id="9" name="Group 40"/>
          <p:cNvGrpSpPr>
            <a:grpSpLocks/>
          </p:cNvGrpSpPr>
          <p:nvPr/>
        </p:nvGrpSpPr>
        <p:grpSpPr bwMode="auto">
          <a:xfrm>
            <a:off x="7092950" y="2867025"/>
            <a:ext cx="1008063" cy="366713"/>
            <a:chOff x="4468" y="1207"/>
            <a:chExt cx="635" cy="231"/>
          </a:xfrm>
        </p:grpSpPr>
        <p:sp>
          <p:nvSpPr>
            <p:cNvPr id="39948" name="Line 41"/>
            <p:cNvSpPr>
              <a:spLocks noChangeShapeType="1"/>
            </p:cNvSpPr>
            <p:nvPr/>
          </p:nvSpPr>
          <p:spPr bwMode="auto">
            <a:xfrm>
              <a:off x="4468" y="1298"/>
              <a:ext cx="453" cy="0"/>
            </a:xfrm>
            <a:prstGeom prst="line">
              <a:avLst/>
            </a:prstGeom>
            <a:noFill/>
            <a:ln w="31750">
              <a:solidFill>
                <a:schemeClr val="tx1"/>
              </a:solidFill>
              <a:round/>
              <a:headEnd/>
              <a:tailEnd type="triangle" w="med" len="med"/>
            </a:ln>
          </p:spPr>
          <p:txBody>
            <a:bodyPr/>
            <a:lstStyle/>
            <a:p>
              <a:endParaRPr lang="zh-CN" altLang="en-US"/>
            </a:p>
          </p:txBody>
        </p:sp>
        <p:sp>
          <p:nvSpPr>
            <p:cNvPr id="39949" name="Text Box 42"/>
            <p:cNvSpPr txBox="1">
              <a:spLocks noChangeArrowheads="1"/>
            </p:cNvSpPr>
            <p:nvPr/>
          </p:nvSpPr>
          <p:spPr bwMode="auto">
            <a:xfrm>
              <a:off x="4876" y="1207"/>
              <a:ext cx="227" cy="231"/>
            </a:xfrm>
            <a:prstGeom prst="rect">
              <a:avLst/>
            </a:prstGeom>
            <a:noFill/>
            <a:ln w="9525">
              <a:noFill/>
              <a:miter lim="800000"/>
              <a:headEnd/>
              <a:tailEnd/>
            </a:ln>
          </p:spPr>
          <p:txBody>
            <a:bodyPr>
              <a:spAutoFit/>
            </a:bodyPr>
            <a:lstStyle/>
            <a:p>
              <a:pPr algn="l">
                <a:spcBef>
                  <a:spcPct val="50000"/>
                </a:spcBef>
              </a:pPr>
              <a:r>
                <a:rPr lang="en-US" altLang="zh-CN" b="1" i="1">
                  <a:solidFill>
                    <a:srgbClr val="FF0000"/>
                  </a:solidFill>
                  <a:latin typeface="Times New Roman" pitchFamily="18" charset="0"/>
                </a:rPr>
                <a:t>f</a:t>
              </a:r>
              <a:r>
                <a:rPr lang="en-US" altLang="zh-CN" b="1" baseline="-25000">
                  <a:solidFill>
                    <a:srgbClr val="FF0000"/>
                  </a:solidFill>
                  <a:latin typeface="Times New Roman" pitchFamily="18" charset="0"/>
                </a:rPr>
                <a:t>0</a:t>
              </a:r>
              <a:endParaRPr lang="en-US" altLang="zh-CN" b="1">
                <a:solidFill>
                  <a:srgbClr val="FF0000"/>
                </a:solidFill>
                <a:latin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11"/>
                                        </p:tgtEl>
                                        <p:attrNameLst>
                                          <p:attrName>style.visibility</p:attrName>
                                        </p:attrNameLst>
                                      </p:cBhvr>
                                      <p:to>
                                        <p:strVal val="visible"/>
                                      </p:to>
                                    </p:set>
                                    <p:animEffect transition="in" filter="wipe(left)">
                                      <p:cBhvr>
                                        <p:cTn id="7" dur="1000"/>
                                        <p:tgtEl>
                                          <p:spTgt spid="471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up)">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up)">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2"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right)">
                                      <p:cBhvr>
                                        <p:cTn id="37" dur="500"/>
                                        <p:tgtEl>
                                          <p:spTgt spid="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7" presetClass="entr" presetSubtype="10" fill="hold" grpId="0" nodeType="clickEffect">
                                  <p:stCondLst>
                                    <p:cond delay="0"/>
                                  </p:stCondLst>
                                  <p:childTnLst>
                                    <p:set>
                                      <p:cBhvr>
                                        <p:cTn id="46" dur="1" fill="hold">
                                          <p:stCondLst>
                                            <p:cond delay="0"/>
                                          </p:stCondLst>
                                        </p:cTn>
                                        <p:tgtEl>
                                          <p:spTgt spid="47112"/>
                                        </p:tgtEl>
                                        <p:attrNameLst>
                                          <p:attrName>style.visibility</p:attrName>
                                        </p:attrNameLst>
                                      </p:cBhvr>
                                      <p:to>
                                        <p:strVal val="visible"/>
                                      </p:to>
                                    </p:set>
                                    <p:anim calcmode="lin" valueType="num">
                                      <p:cBhvr>
                                        <p:cTn id="47" dur="500" fill="hold"/>
                                        <p:tgtEl>
                                          <p:spTgt spid="47112"/>
                                        </p:tgtEl>
                                        <p:attrNameLst>
                                          <p:attrName>ppt_w</p:attrName>
                                        </p:attrNameLst>
                                      </p:cBhvr>
                                      <p:tavLst>
                                        <p:tav tm="0">
                                          <p:val>
                                            <p:fltVal val="0"/>
                                          </p:val>
                                        </p:tav>
                                        <p:tav tm="100000">
                                          <p:val>
                                            <p:strVal val="#ppt_w"/>
                                          </p:val>
                                        </p:tav>
                                      </p:tavLst>
                                    </p:anim>
                                    <p:anim calcmode="lin" valueType="num">
                                      <p:cBhvr>
                                        <p:cTn id="48" dur="500" fill="hold"/>
                                        <p:tgtEl>
                                          <p:spTgt spid="47112"/>
                                        </p:tgtEl>
                                        <p:attrNameLst>
                                          <p:attrName>ppt_h</p:attrName>
                                        </p:attrNameLst>
                                      </p:cBhvr>
                                      <p:tavLst>
                                        <p:tav tm="0">
                                          <p:val>
                                            <p:strVal val="#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10" fill="hold" grpId="0" nodeType="clickEffect">
                                  <p:stCondLst>
                                    <p:cond delay="0"/>
                                  </p:stCondLst>
                                  <p:childTnLst>
                                    <p:set>
                                      <p:cBhvr>
                                        <p:cTn id="52" dur="1" fill="hold">
                                          <p:stCondLst>
                                            <p:cond delay="0"/>
                                          </p:stCondLst>
                                        </p:cTn>
                                        <p:tgtEl>
                                          <p:spTgt spid="47115"/>
                                        </p:tgtEl>
                                        <p:attrNameLst>
                                          <p:attrName>style.visibility</p:attrName>
                                        </p:attrNameLst>
                                      </p:cBhvr>
                                      <p:to>
                                        <p:strVal val="visible"/>
                                      </p:to>
                                    </p:set>
                                    <p:anim calcmode="lin" valueType="num">
                                      <p:cBhvr>
                                        <p:cTn id="53" dur="500" fill="hold"/>
                                        <p:tgtEl>
                                          <p:spTgt spid="47115"/>
                                        </p:tgtEl>
                                        <p:attrNameLst>
                                          <p:attrName>ppt_w</p:attrName>
                                        </p:attrNameLst>
                                      </p:cBhvr>
                                      <p:tavLst>
                                        <p:tav tm="0">
                                          <p:val>
                                            <p:fltVal val="0"/>
                                          </p:val>
                                        </p:tav>
                                        <p:tav tm="100000">
                                          <p:val>
                                            <p:strVal val="#ppt_w"/>
                                          </p:val>
                                        </p:tav>
                                      </p:tavLst>
                                    </p:anim>
                                    <p:anim calcmode="lin" valueType="num">
                                      <p:cBhvr>
                                        <p:cTn id="54" dur="500" fill="hold"/>
                                        <p:tgtEl>
                                          <p:spTgt spid="47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p:bldP spid="47112" grpId="0" autoUpdateAnimBg="0"/>
      <p:bldP spid="47115"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rc 2"/>
          <p:cNvSpPr>
            <a:spLocks/>
          </p:cNvSpPr>
          <p:nvPr/>
        </p:nvSpPr>
        <p:spPr bwMode="auto">
          <a:xfrm rot="-2454029">
            <a:off x="6156325" y="3213100"/>
            <a:ext cx="420688" cy="166688"/>
          </a:xfrm>
          <a:custGeom>
            <a:avLst/>
            <a:gdLst>
              <a:gd name="T0" fmla="*/ 2147483647 w 21600"/>
              <a:gd name="T1" fmla="*/ 0 h 18480"/>
              <a:gd name="T2" fmla="*/ 2147483647 w 21600"/>
              <a:gd name="T3" fmla="*/ 1103350845 h 18480"/>
              <a:gd name="T4" fmla="*/ 0 w 21600"/>
              <a:gd name="T5" fmla="*/ 687442669 h 18480"/>
              <a:gd name="T6" fmla="*/ 0 60000 65536"/>
              <a:gd name="T7" fmla="*/ 0 60000 65536"/>
              <a:gd name="T8" fmla="*/ 0 60000 65536"/>
              <a:gd name="T9" fmla="*/ 0 w 21600"/>
              <a:gd name="T10" fmla="*/ 0 h 18480"/>
              <a:gd name="T11" fmla="*/ 21600 w 21600"/>
              <a:gd name="T12" fmla="*/ 18480 h 18480"/>
            </a:gdLst>
            <a:ahLst/>
            <a:cxnLst>
              <a:cxn ang="T6">
                <a:pos x="T0" y="T1"/>
              </a:cxn>
              <a:cxn ang="T7">
                <a:pos x="T2" y="T3"/>
              </a:cxn>
              <a:cxn ang="T8">
                <a:pos x="T4" y="T5"/>
              </a:cxn>
            </a:cxnLst>
            <a:rect l="T9" t="T10" r="T11" b="T12"/>
            <a:pathLst>
              <a:path w="21600" h="18480" fill="none" extrusionOk="0">
                <a:moveTo>
                  <a:pt x="18275" y="-1"/>
                </a:moveTo>
                <a:cubicBezTo>
                  <a:pt x="20447" y="3447"/>
                  <a:pt x="21600" y="7439"/>
                  <a:pt x="21600" y="11514"/>
                </a:cubicBezTo>
                <a:cubicBezTo>
                  <a:pt x="21600" y="13883"/>
                  <a:pt x="21210" y="16237"/>
                  <a:pt x="20445" y="18479"/>
                </a:cubicBezTo>
              </a:path>
              <a:path w="21600" h="18480" stroke="0" extrusionOk="0">
                <a:moveTo>
                  <a:pt x="18275" y="-1"/>
                </a:moveTo>
                <a:cubicBezTo>
                  <a:pt x="20447" y="3447"/>
                  <a:pt x="21600" y="7439"/>
                  <a:pt x="21600" y="11514"/>
                </a:cubicBezTo>
                <a:cubicBezTo>
                  <a:pt x="21600" y="13883"/>
                  <a:pt x="21210" y="16237"/>
                  <a:pt x="20445" y="18479"/>
                </a:cubicBezTo>
                <a:lnTo>
                  <a:pt x="0" y="11514"/>
                </a:lnTo>
                <a:lnTo>
                  <a:pt x="18275" y="-1"/>
                </a:lnTo>
                <a:close/>
              </a:path>
            </a:pathLst>
          </a:custGeom>
          <a:noFill/>
          <a:ln w="28575">
            <a:solidFill>
              <a:srgbClr val="FF0000"/>
            </a:solidFill>
            <a:round/>
            <a:headEnd/>
            <a:tailEnd/>
          </a:ln>
        </p:spPr>
        <p:txBody>
          <a:bodyPr wrap="none" anchor="ctr"/>
          <a:lstStyle/>
          <a:p>
            <a:endParaRPr lang="zh-CN" altLang="en-US"/>
          </a:p>
        </p:txBody>
      </p:sp>
      <p:sp>
        <p:nvSpPr>
          <p:cNvPr id="16387" name="Rectangle 3"/>
          <p:cNvSpPr>
            <a:spLocks noChangeArrowheads="1"/>
          </p:cNvSpPr>
          <p:nvPr/>
        </p:nvSpPr>
        <p:spPr bwMode="auto">
          <a:xfrm>
            <a:off x="115888" y="463550"/>
            <a:ext cx="4876800" cy="579438"/>
          </a:xfrm>
          <a:prstGeom prst="rect">
            <a:avLst/>
          </a:prstGeom>
          <a:noFill/>
          <a:ln w="9525">
            <a:noFill/>
            <a:miter lim="800000"/>
            <a:headEnd/>
            <a:tailEnd/>
          </a:ln>
        </p:spPr>
        <p:txBody>
          <a:bodyPr lIns="92075" tIns="46038" rIns="92075" bIns="46038">
            <a:spAutoFit/>
          </a:bodyPr>
          <a:lstStyle/>
          <a:p>
            <a:pPr algn="l" defTabSz="762000" eaLnBrk="0" hangingPunct="0">
              <a:spcBef>
                <a:spcPct val="50000"/>
              </a:spcBef>
            </a:pPr>
            <a:r>
              <a:rPr kumimoji="1" lang="zh-CN" altLang="en-US" sz="2400" b="1">
                <a:solidFill>
                  <a:srgbClr val="FF0000"/>
                </a:solidFill>
                <a:latin typeface="宋体" pitchFamily="2" charset="-122"/>
              </a:rPr>
              <a:t>例</a:t>
            </a:r>
            <a:r>
              <a:rPr kumimoji="1" lang="zh-CN" altLang="en-US" sz="2400" b="1">
                <a:latin typeface="宋体" pitchFamily="2" charset="-122"/>
              </a:rPr>
              <a:t> 在空间均匀的磁场中</a:t>
            </a:r>
            <a:r>
              <a:rPr kumimoji="1" lang="zh-CN" altLang="en-US" sz="3200" b="1">
                <a:latin typeface="宋体" pitchFamily="2" charset="-122"/>
              </a:rPr>
              <a:t> </a:t>
            </a:r>
          </a:p>
        </p:txBody>
      </p:sp>
      <p:graphicFrame>
        <p:nvGraphicFramePr>
          <p:cNvPr id="16388" name="Object 4"/>
          <p:cNvGraphicFramePr>
            <a:graphicFrameLocks/>
          </p:cNvGraphicFramePr>
          <p:nvPr/>
        </p:nvGraphicFramePr>
        <p:xfrm>
          <a:off x="3479800" y="593725"/>
          <a:ext cx="889000" cy="388938"/>
        </p:xfrm>
        <a:graphic>
          <a:graphicData uri="http://schemas.openxmlformats.org/presentationml/2006/ole">
            <p:oleObj spid="_x0000_s8194" name="公式" r:id="rId3" imgW="457335" imgH="180900" progId="Equation.3">
              <p:embed/>
            </p:oleObj>
          </a:graphicData>
        </a:graphic>
      </p:graphicFrame>
      <p:grpSp>
        <p:nvGrpSpPr>
          <p:cNvPr id="2" name="Group 54"/>
          <p:cNvGrpSpPr>
            <a:grpSpLocks/>
          </p:cNvGrpSpPr>
          <p:nvPr/>
        </p:nvGrpSpPr>
        <p:grpSpPr bwMode="auto">
          <a:xfrm>
            <a:off x="669925" y="2238375"/>
            <a:ext cx="1314450" cy="457200"/>
            <a:chOff x="340" y="1482"/>
            <a:chExt cx="828" cy="288"/>
          </a:xfrm>
        </p:grpSpPr>
        <p:graphicFrame>
          <p:nvGraphicFramePr>
            <p:cNvPr id="8213" name="Object 6"/>
            <p:cNvGraphicFramePr>
              <a:graphicFrameLocks/>
            </p:cNvGraphicFramePr>
            <p:nvPr/>
          </p:nvGraphicFramePr>
          <p:xfrm>
            <a:off x="657" y="1489"/>
            <a:ext cx="459" cy="247"/>
          </p:xfrm>
          <a:graphic>
            <a:graphicData uri="http://schemas.openxmlformats.org/presentationml/2006/ole">
              <p:oleObj spid="_x0000_s8213" name="公式" r:id="rId4" imgW="371433" imgH="180900" progId="Equation.3">
                <p:embed/>
              </p:oleObj>
            </a:graphicData>
          </a:graphic>
        </p:graphicFrame>
        <p:sp>
          <p:nvSpPr>
            <p:cNvPr id="8245" name="Text Box 7"/>
            <p:cNvSpPr txBox="1">
              <a:spLocks noChangeArrowheads="1"/>
            </p:cNvSpPr>
            <p:nvPr/>
          </p:nvSpPr>
          <p:spPr bwMode="auto">
            <a:xfrm>
              <a:off x="340" y="1482"/>
              <a:ext cx="828" cy="288"/>
            </a:xfrm>
            <a:prstGeom prst="rect">
              <a:avLst/>
            </a:prstGeom>
            <a:noFill/>
            <a:ln w="12700">
              <a:noFill/>
              <a:miter lim="800000"/>
              <a:headEnd type="none" w="sm" len="sm"/>
              <a:tailEnd type="none" w="sm" len="sm"/>
            </a:ln>
          </p:spPr>
          <p:txBody>
            <a:bodyPr>
              <a:spAutoFit/>
            </a:bodyPr>
            <a:lstStyle/>
            <a:p>
              <a:pPr algn="l" defTabSz="762000" eaLnBrk="0" hangingPunct="0">
                <a:spcBef>
                  <a:spcPct val="50000"/>
                </a:spcBef>
              </a:pPr>
              <a:r>
                <a:rPr kumimoji="1" lang="zh-CN" altLang="en-US" sz="2400" b="1">
                  <a:latin typeface="Times New Roman" pitchFamily="18" charset="0"/>
                </a:rPr>
                <a:t>设</a:t>
              </a:r>
            </a:p>
          </p:txBody>
        </p:sp>
      </p:grpSp>
      <p:sp>
        <p:nvSpPr>
          <p:cNvPr id="16392" name="Rectangle 8"/>
          <p:cNvSpPr>
            <a:spLocks noChangeArrowheads="1"/>
          </p:cNvSpPr>
          <p:nvPr/>
        </p:nvSpPr>
        <p:spPr bwMode="auto">
          <a:xfrm>
            <a:off x="611188" y="1171575"/>
            <a:ext cx="4484687" cy="457200"/>
          </a:xfrm>
          <a:prstGeom prst="rect">
            <a:avLst/>
          </a:prstGeom>
          <a:noFill/>
          <a:ln w="12700">
            <a:noFill/>
            <a:miter lim="800000"/>
            <a:headEnd type="none" w="sm" len="sm"/>
            <a:tailEnd type="none" w="sm" len="sm"/>
          </a:ln>
        </p:spPr>
        <p:txBody>
          <a:bodyPr wrap="none">
            <a:spAutoFit/>
          </a:bodyPr>
          <a:lstStyle/>
          <a:p>
            <a:pPr algn="l" defTabSz="762000" eaLnBrk="0" hangingPunct="0">
              <a:spcBef>
                <a:spcPct val="50000"/>
              </a:spcBef>
            </a:pPr>
            <a:r>
              <a:rPr kumimoji="1" lang="zh-CN" altLang="en-US" sz="2400" b="1">
                <a:latin typeface="宋体" pitchFamily="2" charset="-122"/>
              </a:rPr>
              <a:t>导线 </a:t>
            </a:r>
            <a:r>
              <a:rPr kumimoji="1" lang="en-US" altLang="zh-CN" sz="2400" b="1" i="1">
                <a:solidFill>
                  <a:srgbClr val="FF6600"/>
                </a:solidFill>
                <a:latin typeface="Times New Roman" pitchFamily="18" charset="0"/>
              </a:rPr>
              <a:t>ab  </a:t>
            </a:r>
            <a:r>
              <a:rPr kumimoji="1" lang="zh-CN" altLang="en-US" sz="2400" b="1">
                <a:latin typeface="宋体" pitchFamily="2" charset="-122"/>
              </a:rPr>
              <a:t>绕 </a:t>
            </a:r>
            <a:r>
              <a:rPr kumimoji="1" lang="en-US" altLang="zh-CN" sz="2400" b="1" i="1">
                <a:solidFill>
                  <a:srgbClr val="FF6600"/>
                </a:solidFill>
                <a:latin typeface="Times New Roman" pitchFamily="18" charset="0"/>
              </a:rPr>
              <a:t>Z</a:t>
            </a:r>
            <a:r>
              <a:rPr kumimoji="1" lang="en-US" altLang="zh-CN" sz="2400" b="1" i="1">
                <a:latin typeface="Times New Roman" pitchFamily="18" charset="0"/>
              </a:rPr>
              <a:t> </a:t>
            </a:r>
            <a:r>
              <a:rPr kumimoji="1" lang="zh-CN" altLang="en-US" sz="2400" b="1">
                <a:latin typeface="宋体" pitchFamily="2" charset="-122"/>
              </a:rPr>
              <a:t>轴以</a:t>
            </a:r>
            <a:r>
              <a:rPr kumimoji="1" lang="zh-CN" altLang="en-US" sz="2400" b="1">
                <a:solidFill>
                  <a:srgbClr val="FF6600"/>
                </a:solidFill>
                <a:latin typeface="宋体" pitchFamily="2" charset="-122"/>
              </a:rPr>
              <a:t> </a:t>
            </a:r>
            <a:r>
              <a:rPr kumimoji="1" lang="zh-CN" altLang="en-US" sz="2400" b="1" i="1">
                <a:solidFill>
                  <a:srgbClr val="FF6600"/>
                </a:solidFill>
                <a:latin typeface="Times New Roman" pitchFamily="18" charset="0"/>
                <a:sym typeface="Symbol" pitchFamily="18" charset="2"/>
              </a:rPr>
              <a:t></a:t>
            </a:r>
            <a:r>
              <a:rPr kumimoji="1" lang="zh-CN" altLang="en-US" sz="2400" b="1" i="1">
                <a:solidFill>
                  <a:srgbClr val="FF3300"/>
                </a:solidFill>
                <a:latin typeface="Times New Roman" pitchFamily="18" charset="0"/>
                <a:sym typeface="Symbol" pitchFamily="18" charset="2"/>
              </a:rPr>
              <a:t> </a:t>
            </a:r>
            <a:r>
              <a:rPr kumimoji="1" lang="zh-CN" altLang="en-US" sz="2400" b="1" i="1">
                <a:solidFill>
                  <a:srgbClr val="FF3300"/>
                </a:solidFill>
                <a:latin typeface="Times New Roman" pitchFamily="18" charset="0"/>
              </a:rPr>
              <a:t> </a:t>
            </a:r>
            <a:r>
              <a:rPr kumimoji="1" lang="zh-CN" altLang="en-US" sz="2400" b="1">
                <a:latin typeface="宋体" pitchFamily="2" charset="-122"/>
              </a:rPr>
              <a:t>匀速旋转</a:t>
            </a:r>
          </a:p>
        </p:txBody>
      </p:sp>
      <p:sp>
        <p:nvSpPr>
          <p:cNvPr id="16393" name="Text Box 9"/>
          <p:cNvSpPr txBox="1">
            <a:spLocks noChangeArrowheads="1"/>
          </p:cNvSpPr>
          <p:nvPr/>
        </p:nvSpPr>
        <p:spPr bwMode="auto">
          <a:xfrm>
            <a:off x="611188" y="1704975"/>
            <a:ext cx="4419600" cy="457200"/>
          </a:xfrm>
          <a:prstGeom prst="rect">
            <a:avLst/>
          </a:prstGeom>
          <a:noFill/>
          <a:ln w="12700">
            <a:noFill/>
            <a:miter lim="800000"/>
            <a:headEnd type="none" w="sm" len="sm"/>
            <a:tailEnd type="none" w="sm" len="sm"/>
          </a:ln>
        </p:spPr>
        <p:txBody>
          <a:bodyPr>
            <a:spAutoFit/>
          </a:bodyPr>
          <a:lstStyle/>
          <a:p>
            <a:pPr algn="l" defTabSz="762000" eaLnBrk="0" hangingPunct="0">
              <a:spcBef>
                <a:spcPct val="50000"/>
              </a:spcBef>
            </a:pPr>
            <a:r>
              <a:rPr kumimoji="1" lang="zh-CN" altLang="en-US" sz="2400" b="1">
                <a:latin typeface="Times New Roman" pitchFamily="18" charset="0"/>
              </a:rPr>
              <a:t>导线 </a:t>
            </a:r>
            <a:r>
              <a:rPr kumimoji="1" lang="en-US" altLang="zh-CN" sz="2400" b="1" i="1">
                <a:solidFill>
                  <a:srgbClr val="FF6600"/>
                </a:solidFill>
                <a:latin typeface="Times New Roman" pitchFamily="18" charset="0"/>
              </a:rPr>
              <a:t>ab</a:t>
            </a:r>
            <a:r>
              <a:rPr kumimoji="1" lang="en-US" altLang="zh-CN" sz="2400" b="1" i="1">
                <a:latin typeface="Times New Roman" pitchFamily="18" charset="0"/>
              </a:rPr>
              <a:t> </a:t>
            </a:r>
            <a:r>
              <a:rPr kumimoji="1" lang="zh-CN" altLang="en-US" sz="2400" b="1">
                <a:latin typeface="Times New Roman" pitchFamily="18" charset="0"/>
              </a:rPr>
              <a:t>与 </a:t>
            </a:r>
            <a:r>
              <a:rPr kumimoji="1" lang="en-US" altLang="zh-CN" sz="2400" b="1" i="1">
                <a:solidFill>
                  <a:srgbClr val="FF6600"/>
                </a:solidFill>
                <a:latin typeface="Times New Roman" pitchFamily="18" charset="0"/>
              </a:rPr>
              <a:t>Z </a:t>
            </a:r>
            <a:r>
              <a:rPr kumimoji="1" lang="zh-CN" altLang="en-US" sz="2400" b="1">
                <a:latin typeface="Times New Roman" pitchFamily="18" charset="0"/>
              </a:rPr>
              <a:t>轴夹角为 </a:t>
            </a:r>
            <a:r>
              <a:rPr kumimoji="1" lang="zh-CN" altLang="en-US" sz="2400" b="1" i="1">
                <a:solidFill>
                  <a:srgbClr val="FF3300"/>
                </a:solidFill>
                <a:latin typeface="Times New Roman" pitchFamily="18" charset="0"/>
                <a:sym typeface="Symbol" pitchFamily="18" charset="2"/>
              </a:rPr>
              <a:t></a:t>
            </a:r>
            <a:endParaRPr kumimoji="1" lang="zh-CN" altLang="en-US" sz="2400" b="1">
              <a:solidFill>
                <a:srgbClr val="FF3300"/>
              </a:solidFill>
              <a:latin typeface="Times New Roman" pitchFamily="18" charset="0"/>
            </a:endParaRPr>
          </a:p>
        </p:txBody>
      </p:sp>
      <p:sp>
        <p:nvSpPr>
          <p:cNvPr id="16394" name="Text Box 10"/>
          <p:cNvSpPr txBox="1">
            <a:spLocks noChangeArrowheads="1"/>
          </p:cNvSpPr>
          <p:nvPr/>
        </p:nvSpPr>
        <p:spPr bwMode="auto">
          <a:xfrm>
            <a:off x="115888" y="2792413"/>
            <a:ext cx="4724400" cy="457200"/>
          </a:xfrm>
          <a:prstGeom prst="rect">
            <a:avLst/>
          </a:prstGeom>
          <a:noFill/>
          <a:ln w="12700">
            <a:noFill/>
            <a:miter lim="800000"/>
            <a:headEnd type="none" w="sm" len="sm"/>
            <a:tailEnd type="none" w="sm" len="sm"/>
          </a:ln>
        </p:spPr>
        <p:txBody>
          <a:bodyPr>
            <a:spAutoFit/>
          </a:bodyPr>
          <a:lstStyle/>
          <a:p>
            <a:pPr algn="l" defTabSz="762000" eaLnBrk="0" hangingPunct="0">
              <a:spcBef>
                <a:spcPct val="50000"/>
              </a:spcBef>
            </a:pPr>
            <a:r>
              <a:rPr kumimoji="1" lang="zh-CN" altLang="en-US" sz="2400" b="1">
                <a:solidFill>
                  <a:srgbClr val="FF0000"/>
                </a:solidFill>
                <a:latin typeface="Times New Roman" pitchFamily="18" charset="0"/>
              </a:rPr>
              <a:t>求</a:t>
            </a:r>
            <a:r>
              <a:rPr kumimoji="1" lang="zh-CN" altLang="en-US" sz="2400" b="1">
                <a:latin typeface="Times New Roman" pitchFamily="18" charset="0"/>
              </a:rPr>
              <a:t>  导线 </a:t>
            </a:r>
            <a:r>
              <a:rPr kumimoji="1" lang="en-US" altLang="zh-CN" sz="2400" b="1" i="1">
                <a:solidFill>
                  <a:srgbClr val="FF6600"/>
                </a:solidFill>
                <a:latin typeface="Times New Roman" pitchFamily="18" charset="0"/>
              </a:rPr>
              <a:t>ab</a:t>
            </a:r>
            <a:r>
              <a:rPr kumimoji="1" lang="en-US" altLang="zh-CN" sz="2400" b="1" i="1">
                <a:latin typeface="Times New Roman" pitchFamily="18" charset="0"/>
              </a:rPr>
              <a:t> </a:t>
            </a:r>
            <a:r>
              <a:rPr kumimoji="1" lang="zh-CN" altLang="en-US" sz="2400" b="1">
                <a:latin typeface="Times New Roman" pitchFamily="18" charset="0"/>
              </a:rPr>
              <a:t>中的电动势</a:t>
            </a:r>
          </a:p>
        </p:txBody>
      </p:sp>
      <p:sp>
        <p:nvSpPr>
          <p:cNvPr id="16395" name="Rectangle 11"/>
          <p:cNvSpPr>
            <a:spLocks noChangeArrowheads="1"/>
          </p:cNvSpPr>
          <p:nvPr/>
        </p:nvSpPr>
        <p:spPr bwMode="auto">
          <a:xfrm>
            <a:off x="125413" y="3429000"/>
            <a:ext cx="3276600" cy="457200"/>
          </a:xfrm>
          <a:prstGeom prst="rect">
            <a:avLst/>
          </a:prstGeom>
          <a:noFill/>
          <a:ln w="9525">
            <a:noFill/>
            <a:miter lim="800000"/>
            <a:headEnd/>
            <a:tailEnd/>
          </a:ln>
        </p:spPr>
        <p:txBody>
          <a:bodyPr lIns="92075" tIns="46038" rIns="92075" bIns="46038">
            <a:spAutoFit/>
          </a:bodyPr>
          <a:lstStyle/>
          <a:p>
            <a:pPr algn="l" defTabSz="762000" eaLnBrk="0" hangingPunct="0">
              <a:spcBef>
                <a:spcPct val="50000"/>
              </a:spcBef>
            </a:pPr>
            <a:r>
              <a:rPr kumimoji="1" lang="zh-CN" altLang="en-US" sz="2400" b="1">
                <a:solidFill>
                  <a:srgbClr val="FF0000"/>
                </a:solidFill>
                <a:latin typeface="宋体" pitchFamily="2" charset="-122"/>
              </a:rPr>
              <a:t>解</a:t>
            </a:r>
            <a:r>
              <a:rPr kumimoji="1" lang="zh-CN" altLang="en-US" sz="2400" b="1">
                <a:latin typeface="宋体" pitchFamily="2" charset="-122"/>
              </a:rPr>
              <a:t> </a:t>
            </a:r>
            <a:r>
              <a:rPr kumimoji="1" lang="zh-CN" altLang="en-US" sz="2400" b="1">
                <a:latin typeface="楷体_GB2312" pitchFamily="49" charset="-122"/>
                <a:ea typeface="楷体_GB2312" pitchFamily="49" charset="-122"/>
              </a:rPr>
              <a:t>建坐标如图</a:t>
            </a:r>
          </a:p>
        </p:txBody>
      </p:sp>
      <p:grpSp>
        <p:nvGrpSpPr>
          <p:cNvPr id="3" name="Group 12"/>
          <p:cNvGrpSpPr>
            <a:grpSpLocks/>
          </p:cNvGrpSpPr>
          <p:nvPr/>
        </p:nvGrpSpPr>
        <p:grpSpPr bwMode="auto">
          <a:xfrm>
            <a:off x="7046913" y="2303463"/>
            <a:ext cx="1322387" cy="542925"/>
            <a:chOff x="4492" y="2311"/>
            <a:chExt cx="833" cy="342"/>
          </a:xfrm>
        </p:grpSpPr>
        <p:sp>
          <p:nvSpPr>
            <p:cNvPr id="8244" name="Line 13"/>
            <p:cNvSpPr>
              <a:spLocks noChangeShapeType="1"/>
            </p:cNvSpPr>
            <p:nvPr/>
          </p:nvSpPr>
          <p:spPr bwMode="auto">
            <a:xfrm>
              <a:off x="4492" y="2311"/>
              <a:ext cx="624" cy="0"/>
            </a:xfrm>
            <a:prstGeom prst="line">
              <a:avLst/>
            </a:prstGeom>
            <a:noFill/>
            <a:ln w="28575">
              <a:solidFill>
                <a:srgbClr val="FF0066"/>
              </a:solidFill>
              <a:round/>
              <a:headEnd type="none" w="sm" len="sm"/>
              <a:tailEnd type="stealth" w="sm" len="lg"/>
            </a:ln>
          </p:spPr>
          <p:txBody>
            <a:bodyPr wrap="none" anchor="ctr"/>
            <a:lstStyle/>
            <a:p>
              <a:endParaRPr lang="zh-CN" altLang="en-US"/>
            </a:p>
          </p:txBody>
        </p:sp>
        <p:graphicFrame>
          <p:nvGraphicFramePr>
            <p:cNvPr id="8212" name="Object 14"/>
            <p:cNvGraphicFramePr>
              <a:graphicFrameLocks noChangeAspect="1"/>
            </p:cNvGraphicFramePr>
            <p:nvPr/>
          </p:nvGraphicFramePr>
          <p:xfrm>
            <a:off x="4772" y="2326"/>
            <a:ext cx="553" cy="327"/>
          </p:xfrm>
          <a:graphic>
            <a:graphicData uri="http://schemas.openxmlformats.org/presentationml/2006/ole">
              <p:oleObj spid="_x0000_s8212" name="公式" r:id="rId5" imgW="314435" imgH="180900" progId="Equation.3">
                <p:embed/>
              </p:oleObj>
            </a:graphicData>
          </a:graphic>
        </p:graphicFrame>
      </p:grpSp>
      <p:grpSp>
        <p:nvGrpSpPr>
          <p:cNvPr id="4" name="Group 15"/>
          <p:cNvGrpSpPr>
            <a:grpSpLocks/>
          </p:cNvGrpSpPr>
          <p:nvPr/>
        </p:nvGrpSpPr>
        <p:grpSpPr bwMode="auto">
          <a:xfrm>
            <a:off x="6080125" y="552450"/>
            <a:ext cx="1216025" cy="3268663"/>
            <a:chOff x="3830" y="348"/>
            <a:chExt cx="766" cy="2059"/>
          </a:xfrm>
        </p:grpSpPr>
        <p:graphicFrame>
          <p:nvGraphicFramePr>
            <p:cNvPr id="8209" name="Object 16"/>
            <p:cNvGraphicFramePr>
              <a:graphicFrameLocks/>
            </p:cNvGraphicFramePr>
            <p:nvPr/>
          </p:nvGraphicFramePr>
          <p:xfrm>
            <a:off x="3830" y="2166"/>
            <a:ext cx="275" cy="241"/>
          </p:xfrm>
          <a:graphic>
            <a:graphicData uri="http://schemas.openxmlformats.org/presentationml/2006/ole">
              <p:oleObj spid="_x0000_s8209" name="Equation" r:id="rId6" imgW="85632" imgH="85860" progId="Equation.3">
                <p:embed/>
              </p:oleObj>
            </a:graphicData>
          </a:graphic>
        </p:graphicFrame>
        <p:grpSp>
          <p:nvGrpSpPr>
            <p:cNvPr id="8241" name="Group 17"/>
            <p:cNvGrpSpPr>
              <a:grpSpLocks/>
            </p:cNvGrpSpPr>
            <p:nvPr/>
          </p:nvGrpSpPr>
          <p:grpSpPr bwMode="auto">
            <a:xfrm>
              <a:off x="4056" y="348"/>
              <a:ext cx="540" cy="2010"/>
              <a:chOff x="4056" y="348"/>
              <a:chExt cx="540" cy="2010"/>
            </a:xfrm>
          </p:grpSpPr>
          <p:sp>
            <p:nvSpPr>
              <p:cNvPr id="8242" name="Line 18"/>
              <p:cNvSpPr>
                <a:spLocks noChangeShapeType="1"/>
              </p:cNvSpPr>
              <p:nvPr/>
            </p:nvSpPr>
            <p:spPr bwMode="auto">
              <a:xfrm flipH="1">
                <a:off x="4056" y="545"/>
                <a:ext cx="3" cy="1813"/>
              </a:xfrm>
              <a:prstGeom prst="line">
                <a:avLst/>
              </a:prstGeom>
              <a:noFill/>
              <a:ln w="38100">
                <a:solidFill>
                  <a:srgbClr val="000000"/>
                </a:solidFill>
                <a:prstDash val="lgDash"/>
                <a:round/>
                <a:headEnd type="triangle" w="med" len="med"/>
                <a:tailEnd/>
              </a:ln>
            </p:spPr>
            <p:txBody>
              <a:bodyPr wrap="none" anchor="ctr"/>
              <a:lstStyle/>
              <a:p>
                <a:endParaRPr lang="zh-CN" altLang="en-US"/>
              </a:p>
            </p:txBody>
          </p:sp>
          <p:sp>
            <p:nvSpPr>
              <p:cNvPr id="8243" name="Line 19"/>
              <p:cNvSpPr>
                <a:spLocks noChangeShapeType="1"/>
              </p:cNvSpPr>
              <p:nvPr/>
            </p:nvSpPr>
            <p:spPr bwMode="auto">
              <a:xfrm flipH="1">
                <a:off x="4059" y="1282"/>
                <a:ext cx="460" cy="934"/>
              </a:xfrm>
              <a:prstGeom prst="line">
                <a:avLst/>
              </a:prstGeom>
              <a:noFill/>
              <a:ln w="76200">
                <a:solidFill>
                  <a:srgbClr val="800000"/>
                </a:solidFill>
                <a:round/>
                <a:headEnd type="none" w="sm" len="sm"/>
                <a:tailEnd type="none" w="sm" len="sm"/>
              </a:ln>
            </p:spPr>
            <p:txBody>
              <a:bodyPr wrap="none" anchor="ctr"/>
              <a:lstStyle/>
              <a:p>
                <a:endParaRPr lang="zh-CN" altLang="en-US"/>
              </a:p>
            </p:txBody>
          </p:sp>
          <p:graphicFrame>
            <p:nvGraphicFramePr>
              <p:cNvPr id="8210" name="Object 20"/>
              <p:cNvGraphicFramePr>
                <a:graphicFrameLocks/>
              </p:cNvGraphicFramePr>
              <p:nvPr/>
            </p:nvGraphicFramePr>
            <p:xfrm>
              <a:off x="4407" y="981"/>
              <a:ext cx="189" cy="302"/>
            </p:xfrm>
            <a:graphic>
              <a:graphicData uri="http://schemas.openxmlformats.org/presentationml/2006/ole">
                <p:oleObj spid="_x0000_s8210" name="Equation" r:id="rId7" imgW="76177" imgH="123930" progId="Equation.3">
                  <p:embed/>
                </p:oleObj>
              </a:graphicData>
            </a:graphic>
          </p:graphicFrame>
          <p:graphicFrame>
            <p:nvGraphicFramePr>
              <p:cNvPr id="8211" name="Object 21"/>
              <p:cNvGraphicFramePr>
                <a:graphicFrameLocks/>
              </p:cNvGraphicFramePr>
              <p:nvPr/>
            </p:nvGraphicFramePr>
            <p:xfrm>
              <a:off x="4105" y="348"/>
              <a:ext cx="184" cy="290"/>
            </p:xfrm>
            <a:graphic>
              <a:graphicData uri="http://schemas.openxmlformats.org/presentationml/2006/ole">
                <p:oleObj spid="_x0000_s8211" name="Equation" r:id="rId8" imgW="76177" imgH="85860" progId="Equation.3">
                  <p:embed/>
                </p:oleObj>
              </a:graphicData>
            </a:graphic>
          </p:graphicFrame>
        </p:grpSp>
      </p:grpSp>
      <p:grpSp>
        <p:nvGrpSpPr>
          <p:cNvPr id="6" name="Group 22"/>
          <p:cNvGrpSpPr>
            <a:grpSpLocks noChangeAspect="1"/>
          </p:cNvGrpSpPr>
          <p:nvPr/>
        </p:nvGrpSpPr>
        <p:grpSpPr bwMode="auto">
          <a:xfrm>
            <a:off x="5867400" y="785813"/>
            <a:ext cx="366713" cy="517525"/>
            <a:chOff x="3694" y="387"/>
            <a:chExt cx="290" cy="409"/>
          </a:xfrm>
        </p:grpSpPr>
        <p:graphicFrame>
          <p:nvGraphicFramePr>
            <p:cNvPr id="8208" name="Object 23"/>
            <p:cNvGraphicFramePr>
              <a:graphicFrameLocks noChangeAspect="1"/>
            </p:cNvGraphicFramePr>
            <p:nvPr/>
          </p:nvGraphicFramePr>
          <p:xfrm>
            <a:off x="3694" y="436"/>
            <a:ext cx="265" cy="360"/>
          </p:xfrm>
          <a:graphic>
            <a:graphicData uri="http://schemas.openxmlformats.org/presentationml/2006/ole">
              <p:oleObj spid="_x0000_s8208" name="Equation" r:id="rId9" imgW="114266" imgH="152280" progId="Equation.3">
                <p:embed/>
              </p:oleObj>
            </a:graphicData>
          </a:graphic>
        </p:graphicFrame>
        <p:sp>
          <p:nvSpPr>
            <p:cNvPr id="8240" name="Line 24"/>
            <p:cNvSpPr>
              <a:spLocks noChangeAspect="1" noChangeShapeType="1"/>
            </p:cNvSpPr>
            <p:nvPr/>
          </p:nvSpPr>
          <p:spPr bwMode="auto">
            <a:xfrm>
              <a:off x="3984" y="387"/>
              <a:ext cx="0" cy="394"/>
            </a:xfrm>
            <a:prstGeom prst="line">
              <a:avLst/>
            </a:prstGeom>
            <a:noFill/>
            <a:ln w="38100">
              <a:solidFill>
                <a:srgbClr val="008000"/>
              </a:solidFill>
              <a:round/>
              <a:headEnd type="stealth" w="med" len="lg"/>
              <a:tailEnd type="none" w="sm" len="sm"/>
            </a:ln>
          </p:spPr>
          <p:txBody>
            <a:bodyPr wrap="none" anchor="ctr"/>
            <a:lstStyle/>
            <a:p>
              <a:endParaRPr lang="zh-CN" altLang="en-US"/>
            </a:p>
          </p:txBody>
        </p:sp>
      </p:grpSp>
      <p:grpSp>
        <p:nvGrpSpPr>
          <p:cNvPr id="7" name="Group 25"/>
          <p:cNvGrpSpPr>
            <a:grpSpLocks/>
          </p:cNvGrpSpPr>
          <p:nvPr/>
        </p:nvGrpSpPr>
        <p:grpSpPr bwMode="auto">
          <a:xfrm>
            <a:off x="6008688" y="1036638"/>
            <a:ext cx="928687" cy="498475"/>
            <a:chOff x="3833" y="1504"/>
            <a:chExt cx="585" cy="314"/>
          </a:xfrm>
        </p:grpSpPr>
        <p:sp>
          <p:nvSpPr>
            <p:cNvPr id="8239" name="Arc 26"/>
            <p:cNvSpPr>
              <a:spLocks/>
            </p:cNvSpPr>
            <p:nvPr/>
          </p:nvSpPr>
          <p:spPr bwMode="auto">
            <a:xfrm>
              <a:off x="3833" y="1682"/>
              <a:ext cx="542" cy="136"/>
            </a:xfrm>
            <a:custGeom>
              <a:avLst/>
              <a:gdLst>
                <a:gd name="T0" fmla="*/ 0 w 43200"/>
                <a:gd name="T1" fmla="*/ 0 h 41092"/>
                <a:gd name="T2" fmla="*/ 0 w 43200"/>
                <a:gd name="T3" fmla="*/ 0 h 41092"/>
                <a:gd name="T4" fmla="*/ 0 w 43200"/>
                <a:gd name="T5" fmla="*/ 0 h 41092"/>
                <a:gd name="T6" fmla="*/ 0 60000 65536"/>
                <a:gd name="T7" fmla="*/ 0 60000 65536"/>
                <a:gd name="T8" fmla="*/ 0 60000 65536"/>
                <a:gd name="T9" fmla="*/ 0 w 43200"/>
                <a:gd name="T10" fmla="*/ 0 h 41092"/>
                <a:gd name="T11" fmla="*/ 43200 w 43200"/>
                <a:gd name="T12" fmla="*/ 41092 h 41092"/>
              </a:gdLst>
              <a:ahLst/>
              <a:cxnLst>
                <a:cxn ang="T6">
                  <a:pos x="T0" y="T1"/>
                </a:cxn>
                <a:cxn ang="T7">
                  <a:pos x="T2" y="T3"/>
                </a:cxn>
                <a:cxn ang="T8">
                  <a:pos x="T4" y="T5"/>
                </a:cxn>
              </a:cxnLst>
              <a:rect l="T9" t="T10" r="T11" b="T12"/>
              <a:pathLst>
                <a:path w="43200" h="41092" fill="none" extrusionOk="0">
                  <a:moveTo>
                    <a:pt x="31660" y="378"/>
                  </a:moveTo>
                  <a:cubicBezTo>
                    <a:pt x="38757" y="4113"/>
                    <a:pt x="43200" y="11472"/>
                    <a:pt x="43200" y="19492"/>
                  </a:cubicBezTo>
                  <a:cubicBezTo>
                    <a:pt x="43200" y="31421"/>
                    <a:pt x="33529" y="41092"/>
                    <a:pt x="21600" y="41092"/>
                  </a:cubicBezTo>
                  <a:cubicBezTo>
                    <a:pt x="9670" y="41092"/>
                    <a:pt x="0" y="31421"/>
                    <a:pt x="0" y="19492"/>
                  </a:cubicBezTo>
                  <a:cubicBezTo>
                    <a:pt x="-1" y="11168"/>
                    <a:pt x="4782" y="3585"/>
                    <a:pt x="12293" y="-1"/>
                  </a:cubicBezTo>
                </a:path>
                <a:path w="43200" h="41092" stroke="0" extrusionOk="0">
                  <a:moveTo>
                    <a:pt x="31660" y="378"/>
                  </a:moveTo>
                  <a:cubicBezTo>
                    <a:pt x="38757" y="4113"/>
                    <a:pt x="43200" y="11472"/>
                    <a:pt x="43200" y="19492"/>
                  </a:cubicBezTo>
                  <a:cubicBezTo>
                    <a:pt x="43200" y="31421"/>
                    <a:pt x="33529" y="41092"/>
                    <a:pt x="21600" y="41092"/>
                  </a:cubicBezTo>
                  <a:cubicBezTo>
                    <a:pt x="9670" y="41092"/>
                    <a:pt x="0" y="31421"/>
                    <a:pt x="0" y="19492"/>
                  </a:cubicBezTo>
                  <a:cubicBezTo>
                    <a:pt x="-1" y="11168"/>
                    <a:pt x="4782" y="3585"/>
                    <a:pt x="12293" y="-1"/>
                  </a:cubicBezTo>
                  <a:lnTo>
                    <a:pt x="21600" y="19492"/>
                  </a:lnTo>
                  <a:lnTo>
                    <a:pt x="31660" y="378"/>
                  </a:lnTo>
                  <a:close/>
                </a:path>
              </a:pathLst>
            </a:custGeom>
            <a:noFill/>
            <a:ln w="19050" cap="rnd">
              <a:solidFill>
                <a:srgbClr val="993366"/>
              </a:solidFill>
              <a:round/>
              <a:headEnd type="triangle" w="med" len="med"/>
              <a:tailEnd/>
            </a:ln>
          </p:spPr>
          <p:txBody>
            <a:bodyPr wrap="none" anchor="ctr"/>
            <a:lstStyle/>
            <a:p>
              <a:endParaRPr lang="zh-CN" altLang="en-US"/>
            </a:p>
          </p:txBody>
        </p:sp>
        <p:graphicFrame>
          <p:nvGraphicFramePr>
            <p:cNvPr id="8207" name="Object 27"/>
            <p:cNvGraphicFramePr>
              <a:graphicFrameLocks/>
            </p:cNvGraphicFramePr>
            <p:nvPr/>
          </p:nvGraphicFramePr>
          <p:xfrm>
            <a:off x="4241" y="1504"/>
            <a:ext cx="177" cy="152"/>
          </p:xfrm>
          <a:graphic>
            <a:graphicData uri="http://schemas.openxmlformats.org/presentationml/2006/ole">
              <p:oleObj spid="_x0000_s8207" name="公式" r:id="rId10" imgW="238257" imgH="200070" progId="Equation.3">
                <p:embed/>
              </p:oleObj>
            </a:graphicData>
          </a:graphic>
        </p:graphicFrame>
      </p:grpSp>
      <p:graphicFrame>
        <p:nvGraphicFramePr>
          <p:cNvPr id="16412" name="Object 28"/>
          <p:cNvGraphicFramePr>
            <a:graphicFrameLocks noChangeAspect="1"/>
          </p:cNvGraphicFramePr>
          <p:nvPr/>
        </p:nvGraphicFramePr>
        <p:xfrm>
          <a:off x="6443663" y="2903538"/>
          <a:ext cx="255587" cy="252412"/>
        </p:xfrm>
        <a:graphic>
          <a:graphicData uri="http://schemas.openxmlformats.org/presentationml/2006/ole">
            <p:oleObj spid="_x0000_s8195" name="公式" r:id="rId11" imgW="104812" imgH="104760" progId="Equation.3">
              <p:embed/>
            </p:oleObj>
          </a:graphicData>
        </a:graphic>
      </p:graphicFrame>
      <p:grpSp>
        <p:nvGrpSpPr>
          <p:cNvPr id="8" name="Group 29"/>
          <p:cNvGrpSpPr>
            <a:grpSpLocks/>
          </p:cNvGrpSpPr>
          <p:nvPr/>
        </p:nvGrpSpPr>
        <p:grpSpPr bwMode="auto">
          <a:xfrm>
            <a:off x="6845300" y="2289175"/>
            <a:ext cx="539750" cy="436563"/>
            <a:chOff x="4360" y="2293"/>
            <a:chExt cx="340" cy="275"/>
          </a:xfrm>
        </p:grpSpPr>
        <p:graphicFrame>
          <p:nvGraphicFramePr>
            <p:cNvPr id="8206" name="Object 30"/>
            <p:cNvGraphicFramePr>
              <a:graphicFrameLocks noChangeAspect="1"/>
            </p:cNvGraphicFramePr>
            <p:nvPr/>
          </p:nvGraphicFramePr>
          <p:xfrm>
            <a:off x="4420" y="2319"/>
            <a:ext cx="280" cy="249"/>
          </p:xfrm>
          <a:graphic>
            <a:graphicData uri="http://schemas.openxmlformats.org/presentationml/2006/ole">
              <p:oleObj spid="_x0000_s8206" name="公式" r:id="rId12" imgW="352523" imgH="352350" progId="Equation.3">
                <p:embed/>
              </p:oleObj>
            </a:graphicData>
          </a:graphic>
        </p:graphicFrame>
        <p:sp>
          <p:nvSpPr>
            <p:cNvPr id="8238" name="Line 31"/>
            <p:cNvSpPr>
              <a:spLocks noChangeShapeType="1"/>
            </p:cNvSpPr>
            <p:nvPr/>
          </p:nvSpPr>
          <p:spPr bwMode="auto">
            <a:xfrm flipV="1">
              <a:off x="4360" y="2293"/>
              <a:ext cx="123" cy="250"/>
            </a:xfrm>
            <a:prstGeom prst="line">
              <a:avLst/>
            </a:prstGeom>
            <a:noFill/>
            <a:ln w="57150">
              <a:solidFill>
                <a:srgbClr val="00FF00"/>
              </a:solidFill>
              <a:round/>
              <a:headEnd type="none" w="sm" len="sm"/>
              <a:tailEnd type="triangle" w="sm" len="lg"/>
            </a:ln>
          </p:spPr>
          <p:txBody>
            <a:bodyPr wrap="none" anchor="ctr"/>
            <a:lstStyle/>
            <a:p>
              <a:endParaRPr lang="zh-CN" altLang="en-US"/>
            </a:p>
          </p:txBody>
        </p:sp>
      </p:grpSp>
      <p:grpSp>
        <p:nvGrpSpPr>
          <p:cNvPr id="9" name="Group 32"/>
          <p:cNvGrpSpPr>
            <a:grpSpLocks/>
          </p:cNvGrpSpPr>
          <p:nvPr/>
        </p:nvGrpSpPr>
        <p:grpSpPr bwMode="auto">
          <a:xfrm>
            <a:off x="5827713" y="2065338"/>
            <a:ext cx="1182687" cy="468312"/>
            <a:chOff x="3671" y="1301"/>
            <a:chExt cx="745" cy="295"/>
          </a:xfrm>
        </p:grpSpPr>
        <p:sp>
          <p:nvSpPr>
            <p:cNvPr id="16417" name="Oval 33"/>
            <p:cNvSpPr>
              <a:spLocks noChangeArrowheads="1"/>
            </p:cNvSpPr>
            <p:nvPr/>
          </p:nvSpPr>
          <p:spPr bwMode="auto">
            <a:xfrm>
              <a:off x="3671" y="1301"/>
              <a:ext cx="738" cy="295"/>
            </a:xfrm>
            <a:prstGeom prst="ellipse">
              <a:avLst/>
            </a:prstGeom>
            <a:noFill/>
            <a:ln w="28575">
              <a:solidFill>
                <a:srgbClr val="000099"/>
              </a:solidFill>
              <a:prstDash val="sysDot"/>
              <a:round/>
              <a:headEnd/>
              <a:tailEnd/>
            </a:ln>
            <a:effectLst/>
            <a:extLst>
              <a:ext uri="{909E8E84-426E-40DD-AFC4-6F175D3DCCD1}"/>
              <a:ext uri="{AF507438-7753-43E0-B8FC-AC1667EBCBE1}"/>
            </a:extLst>
          </p:spPr>
          <p:txBody>
            <a:bodyPr wrap="none" anchor="ctr"/>
            <a:lstStyle/>
            <a:p>
              <a:pPr>
                <a:defRPr/>
              </a:pPr>
              <a:endParaRPr lang="zh-CN" altLang="zh-CN"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grpSp>
          <p:nvGrpSpPr>
            <p:cNvPr id="8236" name="Group 34"/>
            <p:cNvGrpSpPr>
              <a:grpSpLocks/>
            </p:cNvGrpSpPr>
            <p:nvPr/>
          </p:nvGrpSpPr>
          <p:grpSpPr bwMode="auto">
            <a:xfrm>
              <a:off x="4056" y="1326"/>
              <a:ext cx="360" cy="132"/>
              <a:chOff x="4056" y="1326"/>
              <a:chExt cx="360" cy="132"/>
            </a:xfrm>
          </p:grpSpPr>
          <p:graphicFrame>
            <p:nvGraphicFramePr>
              <p:cNvPr id="8205" name="Object 35"/>
              <p:cNvGraphicFramePr>
                <a:graphicFrameLocks noChangeAspect="1"/>
              </p:cNvGraphicFramePr>
              <p:nvPr/>
            </p:nvGraphicFramePr>
            <p:xfrm>
              <a:off x="4150" y="1326"/>
              <a:ext cx="120" cy="127"/>
            </p:xfrm>
            <a:graphic>
              <a:graphicData uri="http://schemas.openxmlformats.org/presentationml/2006/ole">
                <p:oleObj spid="_x0000_s8205" name="公式" r:id="rId13" imgW="152355" imgH="162000" progId="Equation.3">
                  <p:embed/>
                </p:oleObj>
              </a:graphicData>
            </a:graphic>
          </p:graphicFrame>
          <p:sp>
            <p:nvSpPr>
              <p:cNvPr id="8237" name="Line 36"/>
              <p:cNvSpPr>
                <a:spLocks noChangeShapeType="1"/>
              </p:cNvSpPr>
              <p:nvPr/>
            </p:nvSpPr>
            <p:spPr bwMode="auto">
              <a:xfrm>
                <a:off x="4056" y="1458"/>
                <a:ext cx="360" cy="0"/>
              </a:xfrm>
              <a:prstGeom prst="line">
                <a:avLst/>
              </a:prstGeom>
              <a:noFill/>
              <a:ln w="19050">
                <a:solidFill>
                  <a:srgbClr val="000099"/>
                </a:solidFill>
                <a:prstDash val="sysDot"/>
                <a:round/>
                <a:headEnd type="none" w="sm" len="sm"/>
                <a:tailEnd type="none" w="sm" len="sm"/>
              </a:ln>
            </p:spPr>
            <p:txBody>
              <a:bodyPr wrap="none" anchor="ctr"/>
              <a:lstStyle/>
              <a:p>
                <a:endParaRPr lang="zh-CN" altLang="en-US"/>
              </a:p>
            </p:txBody>
          </p:sp>
        </p:grpSp>
      </p:grpSp>
      <p:graphicFrame>
        <p:nvGraphicFramePr>
          <p:cNvPr id="16421" name="Object 37"/>
          <p:cNvGraphicFramePr>
            <a:graphicFrameLocks/>
          </p:cNvGraphicFramePr>
          <p:nvPr/>
        </p:nvGraphicFramePr>
        <p:xfrm>
          <a:off x="881063" y="4016375"/>
          <a:ext cx="2101850" cy="525463"/>
        </p:xfrm>
        <a:graphic>
          <a:graphicData uri="http://schemas.openxmlformats.org/presentationml/2006/ole">
            <p:oleObj spid="_x0000_s8196" name="公式" r:id="rId14" imgW="1133478" imgH="257310" progId="Equation.3">
              <p:embed/>
            </p:oleObj>
          </a:graphicData>
        </a:graphic>
      </p:graphicFrame>
      <p:graphicFrame>
        <p:nvGraphicFramePr>
          <p:cNvPr id="16422" name="Object 38"/>
          <p:cNvGraphicFramePr>
            <a:graphicFrameLocks/>
          </p:cNvGraphicFramePr>
          <p:nvPr/>
        </p:nvGraphicFramePr>
        <p:xfrm>
          <a:off x="2987675" y="4076700"/>
          <a:ext cx="1352550" cy="366713"/>
        </p:xfrm>
        <a:graphic>
          <a:graphicData uri="http://schemas.openxmlformats.org/presentationml/2006/ole">
            <p:oleObj spid="_x0000_s8197" name="公式" r:id="rId15" imgW="714502" imgH="162000" progId="Equation.3">
              <p:embed/>
            </p:oleObj>
          </a:graphicData>
        </a:graphic>
      </p:graphicFrame>
      <p:graphicFrame>
        <p:nvGraphicFramePr>
          <p:cNvPr id="16423" name="Object 39"/>
          <p:cNvGraphicFramePr>
            <a:graphicFrameLocks noChangeAspect="1"/>
          </p:cNvGraphicFramePr>
          <p:nvPr/>
        </p:nvGraphicFramePr>
        <p:xfrm>
          <a:off x="7299325" y="1920875"/>
          <a:ext cx="1233488" cy="284163"/>
        </p:xfrm>
        <a:graphic>
          <a:graphicData uri="http://schemas.openxmlformats.org/presentationml/2006/ole">
            <p:oleObj spid="_x0000_s8198" name="公式" r:id="rId16" imgW="733411" imgH="142830" progId="Equation.3">
              <p:embed/>
            </p:oleObj>
          </a:graphicData>
        </a:graphic>
      </p:graphicFrame>
      <p:sp>
        <p:nvSpPr>
          <p:cNvPr id="16424" name="Text Box 40"/>
          <p:cNvSpPr txBox="1">
            <a:spLocks noChangeArrowheads="1"/>
          </p:cNvSpPr>
          <p:nvPr/>
        </p:nvSpPr>
        <p:spPr bwMode="auto">
          <a:xfrm>
            <a:off x="6765925" y="2725738"/>
            <a:ext cx="360363" cy="457200"/>
          </a:xfrm>
          <a:prstGeom prst="rect">
            <a:avLst/>
          </a:prstGeom>
          <a:noFill/>
          <a:ln w="9525">
            <a:noFill/>
            <a:miter lim="800000"/>
            <a:headEnd/>
            <a:tailEnd/>
          </a:ln>
        </p:spPr>
        <p:txBody>
          <a:bodyPr>
            <a:spAutoFit/>
          </a:bodyPr>
          <a:lstStyle/>
          <a:p>
            <a:pPr algn="l"/>
            <a:r>
              <a:rPr kumimoji="1" lang="en-GB" altLang="zh-CN" sz="2400" b="1" i="1">
                <a:latin typeface="Times New Roman" pitchFamily="18" charset="0"/>
              </a:rPr>
              <a:t>l</a:t>
            </a:r>
            <a:endParaRPr kumimoji="1" lang="en-US" altLang="zh-CN" sz="2400" b="1" i="1">
              <a:latin typeface="Times New Roman" pitchFamily="18" charset="0"/>
            </a:endParaRPr>
          </a:p>
        </p:txBody>
      </p:sp>
      <p:grpSp>
        <p:nvGrpSpPr>
          <p:cNvPr id="11" name="Group 41"/>
          <p:cNvGrpSpPr>
            <a:grpSpLocks/>
          </p:cNvGrpSpPr>
          <p:nvPr/>
        </p:nvGrpSpPr>
        <p:grpSpPr bwMode="auto">
          <a:xfrm>
            <a:off x="6461125" y="476250"/>
            <a:ext cx="1463675" cy="3394075"/>
            <a:chOff x="4118" y="1151"/>
            <a:chExt cx="922" cy="2138"/>
          </a:xfrm>
        </p:grpSpPr>
        <p:graphicFrame>
          <p:nvGraphicFramePr>
            <p:cNvPr id="8204" name="Object 42"/>
            <p:cNvGraphicFramePr>
              <a:graphicFrameLocks/>
            </p:cNvGraphicFramePr>
            <p:nvPr/>
          </p:nvGraphicFramePr>
          <p:xfrm>
            <a:off x="4855" y="1151"/>
            <a:ext cx="185" cy="302"/>
          </p:xfrm>
          <a:graphic>
            <a:graphicData uri="http://schemas.openxmlformats.org/presentationml/2006/ole">
              <p:oleObj spid="_x0000_s8204" name="Equation" r:id="rId17" imgW="85632" imgH="162000" progId="Equation.3">
                <p:embed/>
              </p:oleObj>
            </a:graphicData>
          </a:graphic>
        </p:graphicFrame>
        <p:sp>
          <p:nvSpPr>
            <p:cNvPr id="8233" name="Line 43"/>
            <p:cNvSpPr>
              <a:spLocks noChangeShapeType="1"/>
            </p:cNvSpPr>
            <p:nvPr/>
          </p:nvSpPr>
          <p:spPr bwMode="auto">
            <a:xfrm flipV="1">
              <a:off x="4560" y="1434"/>
              <a:ext cx="361" cy="725"/>
            </a:xfrm>
            <a:prstGeom prst="line">
              <a:avLst/>
            </a:prstGeom>
            <a:noFill/>
            <a:ln w="19050">
              <a:solidFill>
                <a:srgbClr val="0000FF"/>
              </a:solidFill>
              <a:round/>
              <a:headEnd type="none" w="sm" len="sm"/>
              <a:tailEnd type="triangle" w="med" len="med"/>
            </a:ln>
          </p:spPr>
          <p:txBody>
            <a:bodyPr wrap="none" anchor="ctr"/>
            <a:lstStyle/>
            <a:p>
              <a:endParaRPr lang="zh-CN" altLang="en-US"/>
            </a:p>
          </p:txBody>
        </p:sp>
        <p:sp>
          <p:nvSpPr>
            <p:cNvPr id="8234" name="Text Box 44"/>
            <p:cNvSpPr txBox="1">
              <a:spLocks noChangeArrowheads="1"/>
            </p:cNvSpPr>
            <p:nvPr/>
          </p:nvSpPr>
          <p:spPr bwMode="auto">
            <a:xfrm>
              <a:off x="4118" y="3001"/>
              <a:ext cx="255" cy="288"/>
            </a:xfrm>
            <a:prstGeom prst="rect">
              <a:avLst/>
            </a:prstGeom>
            <a:noFill/>
            <a:ln w="9525">
              <a:noFill/>
              <a:miter lim="800000"/>
              <a:headEnd/>
              <a:tailEnd/>
            </a:ln>
          </p:spPr>
          <p:txBody>
            <a:bodyPr wrap="none">
              <a:spAutoFit/>
            </a:bodyPr>
            <a:lstStyle/>
            <a:p>
              <a:pPr algn="l"/>
              <a:r>
                <a:rPr kumimoji="1" lang="en-GB" altLang="zh-CN" sz="2400" b="1" i="1">
                  <a:latin typeface="Times New Roman" pitchFamily="18" charset="0"/>
                </a:rPr>
                <a:t>O</a:t>
              </a:r>
              <a:endParaRPr kumimoji="1" lang="en-US" altLang="zh-CN" sz="2400" b="1" i="1">
                <a:latin typeface="Times New Roman" pitchFamily="18" charset="0"/>
              </a:endParaRPr>
            </a:p>
          </p:txBody>
        </p:sp>
      </p:grpSp>
      <p:graphicFrame>
        <p:nvGraphicFramePr>
          <p:cNvPr id="16429" name="Object 45"/>
          <p:cNvGraphicFramePr>
            <a:graphicFrameLocks noChangeAspect="1"/>
          </p:cNvGraphicFramePr>
          <p:nvPr/>
        </p:nvGraphicFramePr>
        <p:xfrm>
          <a:off x="2700338" y="4797425"/>
          <a:ext cx="1468437" cy="320675"/>
        </p:xfrm>
        <a:graphic>
          <a:graphicData uri="http://schemas.openxmlformats.org/presentationml/2006/ole">
            <p:oleObj spid="_x0000_s8199" name="公式" r:id="rId18" imgW="762045" imgH="142830" progId="Equation.3">
              <p:embed/>
            </p:oleObj>
          </a:graphicData>
        </a:graphic>
      </p:graphicFrame>
      <p:graphicFrame>
        <p:nvGraphicFramePr>
          <p:cNvPr id="16430" name="Object 46"/>
          <p:cNvGraphicFramePr>
            <a:graphicFrameLocks noChangeAspect="1"/>
          </p:cNvGraphicFramePr>
          <p:nvPr/>
        </p:nvGraphicFramePr>
        <p:xfrm>
          <a:off x="4211638" y="4746625"/>
          <a:ext cx="1641475" cy="411163"/>
        </p:xfrm>
        <a:graphic>
          <a:graphicData uri="http://schemas.openxmlformats.org/presentationml/2006/ole">
            <p:oleObj spid="_x0000_s8200" name="公式" r:id="rId19" imgW="885766" imgH="190620" progId="Equation.3">
              <p:embed/>
            </p:oleObj>
          </a:graphicData>
        </a:graphic>
      </p:graphicFrame>
      <p:graphicFrame>
        <p:nvGraphicFramePr>
          <p:cNvPr id="16431" name="Object 47"/>
          <p:cNvGraphicFramePr>
            <a:graphicFrameLocks/>
          </p:cNvGraphicFramePr>
          <p:nvPr/>
        </p:nvGraphicFramePr>
        <p:xfrm>
          <a:off x="827088" y="4724400"/>
          <a:ext cx="1835150" cy="431800"/>
        </p:xfrm>
        <a:graphic>
          <a:graphicData uri="http://schemas.openxmlformats.org/presentationml/2006/ole">
            <p:oleObj spid="_x0000_s8201" name="公式" r:id="rId20" imgW="981123" imgH="200070" progId="Equation.3">
              <p:embed/>
            </p:oleObj>
          </a:graphicData>
        </a:graphic>
      </p:graphicFrame>
      <p:graphicFrame>
        <p:nvGraphicFramePr>
          <p:cNvPr id="16432" name="Object 48"/>
          <p:cNvGraphicFramePr>
            <a:graphicFrameLocks noChangeAspect="1"/>
          </p:cNvGraphicFramePr>
          <p:nvPr/>
        </p:nvGraphicFramePr>
        <p:xfrm>
          <a:off x="971550" y="5229225"/>
          <a:ext cx="2738438" cy="844550"/>
        </p:xfrm>
        <a:graphic>
          <a:graphicData uri="http://schemas.openxmlformats.org/presentationml/2006/ole">
            <p:oleObj spid="_x0000_s8202" name="公式" r:id="rId21" imgW="1514365" imgH="428760" progId="Equation.3">
              <p:embed/>
            </p:oleObj>
          </a:graphicData>
        </a:graphic>
      </p:graphicFrame>
      <p:graphicFrame>
        <p:nvGraphicFramePr>
          <p:cNvPr id="16433" name="Object 49"/>
          <p:cNvGraphicFramePr>
            <a:graphicFrameLocks/>
          </p:cNvGraphicFramePr>
          <p:nvPr/>
        </p:nvGraphicFramePr>
        <p:xfrm>
          <a:off x="3779838" y="5229225"/>
          <a:ext cx="2159000" cy="758825"/>
        </p:xfrm>
        <a:graphic>
          <a:graphicData uri="http://schemas.openxmlformats.org/presentationml/2006/ole">
            <p:oleObj spid="_x0000_s8203" name="公式" r:id="rId22" imgW="1152657" imgH="380970" progId="Equation.3">
              <p:embed/>
            </p:oleObj>
          </a:graphicData>
        </a:graphic>
      </p:graphicFrame>
      <p:sp>
        <p:nvSpPr>
          <p:cNvPr id="16434" name="Text Box 50"/>
          <p:cNvSpPr txBox="1">
            <a:spLocks noChangeArrowheads="1"/>
          </p:cNvSpPr>
          <p:nvPr/>
        </p:nvSpPr>
        <p:spPr bwMode="auto">
          <a:xfrm>
            <a:off x="827088" y="6056313"/>
            <a:ext cx="2819400" cy="457200"/>
          </a:xfrm>
          <a:prstGeom prst="rect">
            <a:avLst/>
          </a:prstGeom>
          <a:noFill/>
          <a:ln w="12700">
            <a:noFill/>
            <a:miter lim="800000"/>
            <a:headEnd type="none" w="sm" len="sm"/>
            <a:tailEnd type="none" w="sm" len="sm"/>
          </a:ln>
        </p:spPr>
        <p:txBody>
          <a:bodyPr>
            <a:spAutoFit/>
          </a:bodyPr>
          <a:lstStyle/>
          <a:p>
            <a:pPr algn="l" defTabSz="762000" eaLnBrk="0" hangingPunct="0">
              <a:spcBef>
                <a:spcPct val="50000"/>
              </a:spcBef>
            </a:pPr>
            <a:r>
              <a:rPr kumimoji="1" lang="zh-CN" altLang="en-US" sz="2400" b="1">
                <a:latin typeface="Times New Roman" pitchFamily="18" charset="0"/>
                <a:ea typeface="楷体_GB2312" pitchFamily="49" charset="-122"/>
              </a:rPr>
              <a:t>方向从 </a:t>
            </a:r>
            <a:r>
              <a:rPr kumimoji="1" lang="en-US" altLang="zh-CN" sz="2400" b="1" i="1">
                <a:solidFill>
                  <a:srgbClr val="FF6600"/>
                </a:solidFill>
                <a:latin typeface="Times New Roman" pitchFamily="18" charset="0"/>
                <a:ea typeface="楷体_GB2312" pitchFamily="49" charset="-122"/>
              </a:rPr>
              <a:t>a  </a:t>
            </a:r>
            <a:r>
              <a:rPr kumimoji="1" lang="en-US" altLang="zh-CN" sz="2400" b="1" i="1">
                <a:latin typeface="Times New Roman" pitchFamily="18" charset="0"/>
                <a:ea typeface="楷体_GB2312" pitchFamily="49" charset="-122"/>
              </a:rPr>
              <a:t>     </a:t>
            </a:r>
          </a:p>
        </p:txBody>
      </p:sp>
      <p:sp>
        <p:nvSpPr>
          <p:cNvPr id="16435" name="Line 51"/>
          <p:cNvSpPr>
            <a:spLocks noChangeShapeType="1"/>
          </p:cNvSpPr>
          <p:nvPr/>
        </p:nvSpPr>
        <p:spPr bwMode="auto">
          <a:xfrm>
            <a:off x="2124075" y="6323013"/>
            <a:ext cx="457200" cy="0"/>
          </a:xfrm>
          <a:prstGeom prst="line">
            <a:avLst/>
          </a:prstGeom>
          <a:noFill/>
          <a:ln w="57150">
            <a:solidFill>
              <a:srgbClr val="FF6600"/>
            </a:solidFill>
            <a:round/>
            <a:headEnd/>
            <a:tailEnd type="triangle" w="med" len="med"/>
          </a:ln>
        </p:spPr>
        <p:txBody>
          <a:bodyPr/>
          <a:lstStyle/>
          <a:p>
            <a:endParaRPr lang="zh-CN" altLang="en-US"/>
          </a:p>
        </p:txBody>
      </p:sp>
      <p:sp>
        <p:nvSpPr>
          <p:cNvPr id="16436" name="Text Box 52"/>
          <p:cNvSpPr txBox="1">
            <a:spLocks noChangeArrowheads="1"/>
          </p:cNvSpPr>
          <p:nvPr/>
        </p:nvSpPr>
        <p:spPr bwMode="auto">
          <a:xfrm>
            <a:off x="2484438" y="6081713"/>
            <a:ext cx="1019175" cy="457200"/>
          </a:xfrm>
          <a:prstGeom prst="rect">
            <a:avLst/>
          </a:prstGeom>
          <a:noFill/>
          <a:ln w="12700">
            <a:noFill/>
            <a:miter lim="800000"/>
            <a:headEnd type="none" w="sm" len="sm"/>
            <a:tailEnd type="none" w="sm" len="sm"/>
          </a:ln>
        </p:spPr>
        <p:txBody>
          <a:bodyPr>
            <a:spAutoFit/>
          </a:bodyPr>
          <a:lstStyle/>
          <a:p>
            <a:pPr algn="l" defTabSz="762000" eaLnBrk="0" hangingPunct="0">
              <a:spcBef>
                <a:spcPct val="50000"/>
              </a:spcBef>
            </a:pPr>
            <a:r>
              <a:rPr kumimoji="1" lang="en-US" altLang="zh-CN" sz="2400" b="1" i="1">
                <a:solidFill>
                  <a:srgbClr val="66FFFF"/>
                </a:solidFill>
                <a:latin typeface="Times New Roman" pitchFamily="18" charset="0"/>
                <a:ea typeface="楷体_GB2312" pitchFamily="49" charset="-122"/>
              </a:rPr>
              <a:t> </a:t>
            </a:r>
            <a:r>
              <a:rPr kumimoji="1" lang="en-US" altLang="zh-CN" sz="2400" b="1" i="1">
                <a:solidFill>
                  <a:srgbClr val="FF6600"/>
                </a:solidFill>
                <a:latin typeface="Times New Roman" pitchFamily="18" charset="0"/>
                <a:ea typeface="楷体_GB2312" pitchFamily="49" charset="-122"/>
                <a:sym typeface="Monotype Sorts" pitchFamily="2" charset="2"/>
              </a:rPr>
              <a:t>b</a:t>
            </a:r>
            <a:endParaRPr kumimoji="1" lang="en-US" altLang="zh-CN" sz="2400" b="1" i="1">
              <a:solidFill>
                <a:srgbClr val="FF6600"/>
              </a:solidFill>
              <a:latin typeface="Times New Roman" pitchFamily="18" charset="0"/>
              <a:ea typeface="楷体_GB2312" pitchFamily="49" charset="-122"/>
            </a:endParaRPr>
          </a:p>
        </p:txBody>
      </p:sp>
      <p:sp>
        <p:nvSpPr>
          <p:cNvPr id="16437" name="Arc 53"/>
          <p:cNvSpPr>
            <a:spLocks/>
          </p:cNvSpPr>
          <p:nvPr/>
        </p:nvSpPr>
        <p:spPr bwMode="auto">
          <a:xfrm>
            <a:off x="6530975" y="2149475"/>
            <a:ext cx="739775" cy="673100"/>
          </a:xfrm>
          <a:custGeom>
            <a:avLst/>
            <a:gdLst>
              <a:gd name="T0" fmla="*/ 2147483647 w 17758"/>
              <a:gd name="T1" fmla="*/ 0 h 15553"/>
              <a:gd name="T2" fmla="*/ 2147483647 w 17758"/>
              <a:gd name="T3" fmla="*/ 2147483647 h 15553"/>
              <a:gd name="T4" fmla="*/ 0 w 17758"/>
              <a:gd name="T5" fmla="*/ 2147483647 h 15553"/>
              <a:gd name="T6" fmla="*/ 0 60000 65536"/>
              <a:gd name="T7" fmla="*/ 0 60000 65536"/>
              <a:gd name="T8" fmla="*/ 0 60000 65536"/>
              <a:gd name="T9" fmla="*/ 0 w 17758"/>
              <a:gd name="T10" fmla="*/ 0 h 15553"/>
              <a:gd name="T11" fmla="*/ 17758 w 17758"/>
              <a:gd name="T12" fmla="*/ 15553 h 15553"/>
            </a:gdLst>
            <a:ahLst/>
            <a:cxnLst>
              <a:cxn ang="T6">
                <a:pos x="T0" y="T1"/>
              </a:cxn>
              <a:cxn ang="T7">
                <a:pos x="T2" y="T3"/>
              </a:cxn>
              <a:cxn ang="T8">
                <a:pos x="T4" y="T5"/>
              </a:cxn>
            </a:cxnLst>
            <a:rect l="T9" t="T10" r="T11" b="T12"/>
            <a:pathLst>
              <a:path w="17758" h="15553" fill="none" extrusionOk="0">
                <a:moveTo>
                  <a:pt x="14988" y="-1"/>
                </a:moveTo>
                <a:cubicBezTo>
                  <a:pt x="16016" y="990"/>
                  <a:pt x="16944" y="2081"/>
                  <a:pt x="17757" y="3256"/>
                </a:cubicBezTo>
              </a:path>
              <a:path w="17758" h="15553" stroke="0" extrusionOk="0">
                <a:moveTo>
                  <a:pt x="14988" y="-1"/>
                </a:moveTo>
                <a:cubicBezTo>
                  <a:pt x="16016" y="990"/>
                  <a:pt x="16944" y="2081"/>
                  <a:pt x="17757" y="3256"/>
                </a:cubicBezTo>
                <a:lnTo>
                  <a:pt x="0" y="15553"/>
                </a:lnTo>
                <a:lnTo>
                  <a:pt x="14988" y="-1"/>
                </a:lnTo>
                <a:close/>
              </a:path>
            </a:pathLst>
          </a:custGeom>
          <a:noFill/>
          <a:ln w="28575">
            <a:solidFill>
              <a:srgbClr val="800000"/>
            </a:solidFill>
            <a:round/>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blinds(vertical)">
                                      <p:cBhvr>
                                        <p:cTn id="7" dur="500"/>
                                        <p:tgtEl>
                                          <p:spTgt spid="163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blinds(vertical)">
                                      <p:cBhvr>
                                        <p:cTn id="17" dur="500"/>
                                        <p:tgtEl>
                                          <p:spTgt spid="16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6392">
                                            <p:txEl>
                                              <p:pRg st="0" end="0"/>
                                            </p:txEl>
                                          </p:spTgt>
                                        </p:tgtEl>
                                        <p:attrNameLst>
                                          <p:attrName>style.visibility</p:attrName>
                                        </p:attrNameLst>
                                      </p:cBhvr>
                                      <p:to>
                                        <p:strVal val="visible"/>
                                      </p:to>
                                    </p:set>
                                    <p:animEffect transition="in" filter="blinds(vertical)">
                                      <p:cBhvr>
                                        <p:cTn id="27" dur="500"/>
                                        <p:tgtEl>
                                          <p:spTgt spid="16392">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5" fill="hold" grpId="0" nodeType="clickEffect">
                                  <p:stCondLst>
                                    <p:cond delay="0"/>
                                  </p:stCondLst>
                                  <p:childTnLst>
                                    <p:set>
                                      <p:cBhvr>
                                        <p:cTn id="36" dur="1" fill="hold">
                                          <p:stCondLst>
                                            <p:cond delay="0"/>
                                          </p:stCondLst>
                                        </p:cTn>
                                        <p:tgtEl>
                                          <p:spTgt spid="16393">
                                            <p:txEl>
                                              <p:pRg st="0" end="0"/>
                                            </p:txEl>
                                          </p:spTgt>
                                        </p:tgtEl>
                                        <p:attrNameLst>
                                          <p:attrName>style.visibility</p:attrName>
                                        </p:attrNameLst>
                                      </p:cBhvr>
                                      <p:to>
                                        <p:strVal val="visible"/>
                                      </p:to>
                                    </p:set>
                                    <p:animEffect transition="in" filter="blinds(vertical)">
                                      <p:cBhvr>
                                        <p:cTn id="37" dur="500"/>
                                        <p:tgtEl>
                                          <p:spTgt spid="16393">
                                            <p:txEl>
                                              <p:pRg st="0" end="0"/>
                                            </p:txEl>
                                          </p:spTgt>
                                        </p:tgtEl>
                                      </p:cBhvr>
                                    </p:animEffect>
                                  </p:childTnLst>
                                </p:cTn>
                              </p:par>
                            </p:childTnLst>
                          </p:cTn>
                        </p:par>
                        <p:par>
                          <p:cTn id="38" fill="hold" nodeType="afterGroup">
                            <p:stCondLst>
                              <p:cond delay="500"/>
                            </p:stCondLst>
                            <p:childTnLst>
                              <p:par>
                                <p:cTn id="39" presetID="22" presetClass="entr" presetSubtype="4" fill="hold" grpId="0" nodeType="afterEffect">
                                  <p:stCondLst>
                                    <p:cond delay="0"/>
                                  </p:stCondLst>
                                  <p:childTnLst>
                                    <p:set>
                                      <p:cBhvr>
                                        <p:cTn id="40" dur="1" fill="hold">
                                          <p:stCondLst>
                                            <p:cond delay="0"/>
                                          </p:stCondLst>
                                        </p:cTn>
                                        <p:tgtEl>
                                          <p:spTgt spid="16386"/>
                                        </p:tgtEl>
                                        <p:attrNameLst>
                                          <p:attrName>style.visibility</p:attrName>
                                        </p:attrNameLst>
                                      </p:cBhvr>
                                      <p:to>
                                        <p:strVal val="visible"/>
                                      </p:to>
                                    </p:set>
                                    <p:animEffect transition="in" filter="wipe(down)">
                                      <p:cBhvr>
                                        <p:cTn id="41" dur="500"/>
                                        <p:tgtEl>
                                          <p:spTgt spid="16386"/>
                                        </p:tgtEl>
                                      </p:cBhvr>
                                    </p:animEffect>
                                  </p:childTnLst>
                                </p:cTn>
                              </p:par>
                            </p:childTnLst>
                          </p:cTn>
                        </p:par>
                        <p:par>
                          <p:cTn id="42" fill="hold" nodeType="afterGroup">
                            <p:stCondLst>
                              <p:cond delay="1000"/>
                            </p:stCondLst>
                            <p:childTnLst>
                              <p:par>
                                <p:cTn id="43" presetID="22" presetClass="entr" presetSubtype="4" fill="hold" nodeType="afterEffect">
                                  <p:stCondLst>
                                    <p:cond delay="0"/>
                                  </p:stCondLst>
                                  <p:childTnLst>
                                    <p:set>
                                      <p:cBhvr>
                                        <p:cTn id="44" dur="1" fill="hold">
                                          <p:stCondLst>
                                            <p:cond delay="0"/>
                                          </p:stCondLst>
                                        </p:cTn>
                                        <p:tgtEl>
                                          <p:spTgt spid="16412"/>
                                        </p:tgtEl>
                                        <p:attrNameLst>
                                          <p:attrName>style.visibility</p:attrName>
                                        </p:attrNameLst>
                                      </p:cBhvr>
                                      <p:to>
                                        <p:strVal val="visible"/>
                                      </p:to>
                                    </p:set>
                                    <p:animEffect transition="in" filter="wipe(down)">
                                      <p:cBhvr>
                                        <p:cTn id="45" dur="500"/>
                                        <p:tgtEl>
                                          <p:spTgt spid="1641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
                                        </p:tgtEl>
                                        <p:attrNameLst>
                                          <p:attrName>style.visibility</p:attrName>
                                        </p:attrNameLst>
                                      </p:cBhvr>
                                      <p:to>
                                        <p:strVal val="visible"/>
                                      </p:to>
                                    </p:set>
                                    <p:animEffect transition="in" filter="wipe(left)">
                                      <p:cBhvr>
                                        <p:cTn id="50" dur="500"/>
                                        <p:tgtEl>
                                          <p:spTgt spid="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6424"/>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5" fill="hold" grpId="0" nodeType="clickEffect">
                                  <p:stCondLst>
                                    <p:cond delay="0"/>
                                  </p:stCondLst>
                                  <p:childTnLst>
                                    <p:set>
                                      <p:cBhvr>
                                        <p:cTn id="58" dur="1" fill="hold">
                                          <p:stCondLst>
                                            <p:cond delay="0"/>
                                          </p:stCondLst>
                                        </p:cTn>
                                        <p:tgtEl>
                                          <p:spTgt spid="16394"/>
                                        </p:tgtEl>
                                        <p:attrNameLst>
                                          <p:attrName>style.visibility</p:attrName>
                                        </p:attrNameLst>
                                      </p:cBhvr>
                                      <p:to>
                                        <p:strVal val="visible"/>
                                      </p:to>
                                    </p:set>
                                    <p:animEffect transition="in" filter="blinds(vertical)">
                                      <p:cBhvr>
                                        <p:cTn id="59" dur="500"/>
                                        <p:tgtEl>
                                          <p:spTgt spid="1639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5" fill="hold" grpId="0" nodeType="clickEffect">
                                  <p:stCondLst>
                                    <p:cond delay="0"/>
                                  </p:stCondLst>
                                  <p:childTnLst>
                                    <p:set>
                                      <p:cBhvr>
                                        <p:cTn id="63" dur="1" fill="hold">
                                          <p:stCondLst>
                                            <p:cond delay="0"/>
                                          </p:stCondLst>
                                        </p:cTn>
                                        <p:tgtEl>
                                          <p:spTgt spid="16395">
                                            <p:txEl>
                                              <p:pRg st="0" end="0"/>
                                            </p:txEl>
                                          </p:spTgt>
                                        </p:tgtEl>
                                        <p:attrNameLst>
                                          <p:attrName>style.visibility</p:attrName>
                                        </p:attrNameLst>
                                      </p:cBhvr>
                                      <p:to>
                                        <p:strVal val="visible"/>
                                      </p:to>
                                    </p:set>
                                    <p:animEffect transition="in" filter="blinds(vertical)">
                                      <p:cBhvr>
                                        <p:cTn id="64" dur="500"/>
                                        <p:tgtEl>
                                          <p:spTgt spid="16395">
                                            <p:txEl>
                                              <p:pRg st="0" end="0"/>
                                            </p:txEl>
                                          </p:spTgt>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4" fill="hold" nodeType="click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wipe(down)">
                                      <p:cBhvr>
                                        <p:cTn id="69" dur="500"/>
                                        <p:tgtEl>
                                          <p:spTgt spid="11"/>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4" fill="hold" nodeType="clickEffect">
                                  <p:stCondLst>
                                    <p:cond delay="0"/>
                                  </p:stCondLst>
                                  <p:childTnLst>
                                    <p:set>
                                      <p:cBhvr>
                                        <p:cTn id="73" dur="1" fill="hold">
                                          <p:stCondLst>
                                            <p:cond delay="0"/>
                                          </p:stCondLst>
                                        </p:cTn>
                                        <p:tgtEl>
                                          <p:spTgt spid="8"/>
                                        </p:tgtEl>
                                        <p:attrNameLst>
                                          <p:attrName>style.visibility</p:attrName>
                                        </p:attrNameLst>
                                      </p:cBhvr>
                                      <p:to>
                                        <p:strVal val="visible"/>
                                      </p:to>
                                    </p:set>
                                    <p:animEffect transition="in" filter="wipe(down)">
                                      <p:cBhvr>
                                        <p:cTn id="74" dur="500"/>
                                        <p:tgtEl>
                                          <p:spTgt spid="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4" fill="hold" nodeType="click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wipe(down)">
                                      <p:cBhvr>
                                        <p:cTn id="79" dur="500"/>
                                        <p:tgtEl>
                                          <p:spTgt spid="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3" presetClass="entr" presetSubtype="5" fill="hold" nodeType="clickEffect">
                                  <p:stCondLst>
                                    <p:cond delay="0"/>
                                  </p:stCondLst>
                                  <p:childTnLst>
                                    <p:set>
                                      <p:cBhvr>
                                        <p:cTn id="83" dur="1" fill="hold">
                                          <p:stCondLst>
                                            <p:cond delay="0"/>
                                          </p:stCondLst>
                                        </p:cTn>
                                        <p:tgtEl>
                                          <p:spTgt spid="16421"/>
                                        </p:tgtEl>
                                        <p:attrNameLst>
                                          <p:attrName>style.visibility</p:attrName>
                                        </p:attrNameLst>
                                      </p:cBhvr>
                                      <p:to>
                                        <p:strVal val="visible"/>
                                      </p:to>
                                    </p:set>
                                    <p:animEffect transition="in" filter="blinds(vertical)">
                                      <p:cBhvr>
                                        <p:cTn id="84" dur="500"/>
                                        <p:tgtEl>
                                          <p:spTgt spid="16421"/>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3" presetClass="entr" presetSubtype="5" fill="hold" nodeType="clickEffect">
                                  <p:stCondLst>
                                    <p:cond delay="0"/>
                                  </p:stCondLst>
                                  <p:childTnLst>
                                    <p:set>
                                      <p:cBhvr>
                                        <p:cTn id="88" dur="1" fill="hold">
                                          <p:stCondLst>
                                            <p:cond delay="0"/>
                                          </p:stCondLst>
                                        </p:cTn>
                                        <p:tgtEl>
                                          <p:spTgt spid="16422"/>
                                        </p:tgtEl>
                                        <p:attrNameLst>
                                          <p:attrName>style.visibility</p:attrName>
                                        </p:attrNameLst>
                                      </p:cBhvr>
                                      <p:to>
                                        <p:strVal val="visible"/>
                                      </p:to>
                                    </p:set>
                                    <p:animEffect transition="in" filter="blinds(vertical)">
                                      <p:cBhvr>
                                        <p:cTn id="89" dur="500"/>
                                        <p:tgtEl>
                                          <p:spTgt spid="1642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presetSubtype="0" fill="hold" nodeType="clickEffect">
                                  <p:stCondLst>
                                    <p:cond delay="0"/>
                                  </p:stCondLst>
                                  <p:childTnLst>
                                    <p:set>
                                      <p:cBhvr>
                                        <p:cTn id="93" dur="1" fill="hold">
                                          <p:stCondLst>
                                            <p:cond delay="0"/>
                                          </p:stCondLst>
                                        </p:cTn>
                                        <p:tgtEl>
                                          <p:spTgt spid="3"/>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4" fill="hold" grpId="0" nodeType="clickEffect">
                                  <p:stCondLst>
                                    <p:cond delay="0"/>
                                  </p:stCondLst>
                                  <p:childTnLst>
                                    <p:set>
                                      <p:cBhvr>
                                        <p:cTn id="97" dur="1" fill="hold">
                                          <p:stCondLst>
                                            <p:cond delay="0"/>
                                          </p:stCondLst>
                                        </p:cTn>
                                        <p:tgtEl>
                                          <p:spTgt spid="16437"/>
                                        </p:tgtEl>
                                        <p:attrNameLst>
                                          <p:attrName>style.visibility</p:attrName>
                                        </p:attrNameLst>
                                      </p:cBhvr>
                                      <p:to>
                                        <p:strVal val="visible"/>
                                      </p:to>
                                    </p:set>
                                    <p:animEffect transition="in" filter="wipe(down)">
                                      <p:cBhvr>
                                        <p:cTn id="98" dur="500"/>
                                        <p:tgtEl>
                                          <p:spTgt spid="1643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4" fill="hold" nodeType="clickEffect">
                                  <p:stCondLst>
                                    <p:cond delay="0"/>
                                  </p:stCondLst>
                                  <p:childTnLst>
                                    <p:set>
                                      <p:cBhvr>
                                        <p:cTn id="102" dur="1" fill="hold">
                                          <p:stCondLst>
                                            <p:cond delay="0"/>
                                          </p:stCondLst>
                                        </p:cTn>
                                        <p:tgtEl>
                                          <p:spTgt spid="16423"/>
                                        </p:tgtEl>
                                        <p:attrNameLst>
                                          <p:attrName>style.visibility</p:attrName>
                                        </p:attrNameLst>
                                      </p:cBhvr>
                                      <p:to>
                                        <p:strVal val="visible"/>
                                      </p:to>
                                    </p:set>
                                    <p:animEffect transition="in" filter="wipe(down)">
                                      <p:cBhvr>
                                        <p:cTn id="103" dur="500"/>
                                        <p:tgtEl>
                                          <p:spTgt spid="16423"/>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16431"/>
                                        </p:tgtEl>
                                        <p:attrNameLst>
                                          <p:attrName>style.visibility</p:attrName>
                                        </p:attrNameLst>
                                      </p:cBhvr>
                                      <p:to>
                                        <p:strVal val="visible"/>
                                      </p:to>
                                    </p:set>
                                    <p:animEffect transition="in" filter="wipe(left)">
                                      <p:cBhvr>
                                        <p:cTn id="108" dur="2000"/>
                                        <p:tgtEl>
                                          <p:spTgt spid="16431"/>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16429"/>
                                        </p:tgtEl>
                                        <p:attrNameLst>
                                          <p:attrName>style.visibility</p:attrName>
                                        </p:attrNameLst>
                                      </p:cBhvr>
                                      <p:to>
                                        <p:strVal val="visible"/>
                                      </p:to>
                                    </p:set>
                                    <p:animEffect transition="in" filter="wipe(left)">
                                      <p:cBhvr>
                                        <p:cTn id="113" dur="2000"/>
                                        <p:tgtEl>
                                          <p:spTgt spid="16429"/>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16430"/>
                                        </p:tgtEl>
                                        <p:attrNameLst>
                                          <p:attrName>style.visibility</p:attrName>
                                        </p:attrNameLst>
                                      </p:cBhvr>
                                      <p:to>
                                        <p:strVal val="visible"/>
                                      </p:to>
                                    </p:set>
                                    <p:animEffect transition="in" filter="wipe(left)">
                                      <p:cBhvr>
                                        <p:cTn id="118" dur="2000"/>
                                        <p:tgtEl>
                                          <p:spTgt spid="16430"/>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16432"/>
                                        </p:tgtEl>
                                        <p:attrNameLst>
                                          <p:attrName>style.visibility</p:attrName>
                                        </p:attrNameLst>
                                      </p:cBhvr>
                                      <p:to>
                                        <p:strVal val="visible"/>
                                      </p:to>
                                    </p:set>
                                    <p:animEffect transition="in" filter="wipe(left)">
                                      <p:cBhvr>
                                        <p:cTn id="123" dur="2000"/>
                                        <p:tgtEl>
                                          <p:spTgt spid="16432"/>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16433"/>
                                        </p:tgtEl>
                                        <p:attrNameLst>
                                          <p:attrName>style.visibility</p:attrName>
                                        </p:attrNameLst>
                                      </p:cBhvr>
                                      <p:to>
                                        <p:strVal val="visible"/>
                                      </p:to>
                                    </p:set>
                                    <p:animEffect transition="in" filter="wipe(left)">
                                      <p:cBhvr>
                                        <p:cTn id="128" dur="2000"/>
                                        <p:tgtEl>
                                          <p:spTgt spid="16433"/>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16434"/>
                                        </p:tgtEl>
                                        <p:attrNameLst>
                                          <p:attrName>style.visibility</p:attrName>
                                        </p:attrNameLst>
                                      </p:cBhvr>
                                      <p:to>
                                        <p:strVal val="visible"/>
                                      </p:to>
                                    </p:set>
                                    <p:animEffect transition="in" filter="wipe(left)">
                                      <p:cBhvr>
                                        <p:cTn id="133" dur="500"/>
                                        <p:tgtEl>
                                          <p:spTgt spid="16434"/>
                                        </p:tgtEl>
                                      </p:cBhvr>
                                    </p:animEffect>
                                  </p:childTnLst>
                                </p:cTn>
                              </p:par>
                              <p:par>
                                <p:cTn id="134" presetID="22" presetClass="entr" presetSubtype="8" fill="hold" grpId="0" nodeType="withEffect">
                                  <p:stCondLst>
                                    <p:cond delay="0"/>
                                  </p:stCondLst>
                                  <p:childTnLst>
                                    <p:set>
                                      <p:cBhvr>
                                        <p:cTn id="135" dur="1" fill="hold">
                                          <p:stCondLst>
                                            <p:cond delay="0"/>
                                          </p:stCondLst>
                                        </p:cTn>
                                        <p:tgtEl>
                                          <p:spTgt spid="16435"/>
                                        </p:tgtEl>
                                        <p:attrNameLst>
                                          <p:attrName>style.visibility</p:attrName>
                                        </p:attrNameLst>
                                      </p:cBhvr>
                                      <p:to>
                                        <p:strVal val="visible"/>
                                      </p:to>
                                    </p:set>
                                    <p:animEffect transition="in" filter="wipe(left)">
                                      <p:cBhvr>
                                        <p:cTn id="136" dur="500"/>
                                        <p:tgtEl>
                                          <p:spTgt spid="16435"/>
                                        </p:tgtEl>
                                      </p:cBhvr>
                                    </p:animEffect>
                                  </p:childTnLst>
                                </p:cTn>
                              </p:par>
                              <p:par>
                                <p:cTn id="137" presetID="22" presetClass="entr" presetSubtype="8" fill="hold" grpId="0" nodeType="withEffect">
                                  <p:stCondLst>
                                    <p:cond delay="0"/>
                                  </p:stCondLst>
                                  <p:childTnLst>
                                    <p:set>
                                      <p:cBhvr>
                                        <p:cTn id="138" dur="1" fill="hold">
                                          <p:stCondLst>
                                            <p:cond delay="0"/>
                                          </p:stCondLst>
                                        </p:cTn>
                                        <p:tgtEl>
                                          <p:spTgt spid="16436"/>
                                        </p:tgtEl>
                                        <p:attrNameLst>
                                          <p:attrName>style.visibility</p:attrName>
                                        </p:attrNameLst>
                                      </p:cBhvr>
                                      <p:to>
                                        <p:strVal val="visible"/>
                                      </p:to>
                                    </p:set>
                                    <p:animEffect transition="in" filter="wipe(left)">
                                      <p:cBhvr>
                                        <p:cTn id="139" dur="500"/>
                                        <p:tgtEl>
                                          <p:spTgt spid="16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animBg="1"/>
      <p:bldP spid="16387" grpId="0" build="p" autoUpdateAnimBg="0"/>
      <p:bldP spid="16392" grpId="0" build="p" autoUpdateAnimBg="0"/>
      <p:bldP spid="16393" grpId="0" build="p" autoUpdateAnimBg="0"/>
      <p:bldP spid="16394" grpId="0" autoUpdateAnimBg="0"/>
      <p:bldP spid="16395" grpId="0" build="p" autoUpdateAnimBg="0"/>
      <p:bldP spid="16424" grpId="0" autoUpdateAnimBg="0"/>
      <p:bldP spid="16434" grpId="0"/>
      <p:bldP spid="16435" grpId="0" animBg="1"/>
      <p:bldP spid="16436" grpId="0"/>
      <p:bldP spid="1643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p:cNvSpPr txBox="1">
            <a:spLocks noChangeArrowheads="1"/>
          </p:cNvSpPr>
          <p:nvPr/>
        </p:nvSpPr>
        <p:spPr bwMode="auto">
          <a:xfrm>
            <a:off x="161925" y="536575"/>
            <a:ext cx="762000"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Times New Roman" pitchFamily="18" charset="0"/>
              </a:rPr>
              <a:t>例</a:t>
            </a:r>
          </a:p>
        </p:txBody>
      </p:sp>
      <p:sp>
        <p:nvSpPr>
          <p:cNvPr id="67587" name="Text Box 3"/>
          <p:cNvSpPr txBox="1">
            <a:spLocks noChangeArrowheads="1"/>
          </p:cNvSpPr>
          <p:nvPr/>
        </p:nvSpPr>
        <p:spPr bwMode="auto">
          <a:xfrm>
            <a:off x="596900" y="498475"/>
            <a:ext cx="8077200" cy="519113"/>
          </a:xfrm>
          <a:prstGeom prst="rect">
            <a:avLst/>
          </a:prstGeom>
          <a:noFill/>
          <a:ln w="9525">
            <a:noFill/>
            <a:miter lim="800000"/>
            <a:headEnd/>
            <a:tailEnd/>
          </a:ln>
        </p:spPr>
        <p:txBody>
          <a:bodyPr>
            <a:spAutoFit/>
          </a:bodyPr>
          <a:lstStyle/>
          <a:p>
            <a:pPr algn="l"/>
            <a:r>
              <a:rPr kumimoji="1" lang="zh-CN" altLang="en-US" sz="2400" b="1">
                <a:latin typeface="Times New Roman" pitchFamily="18" charset="0"/>
              </a:rPr>
              <a:t>在匀强磁场 </a:t>
            </a:r>
            <a:r>
              <a:rPr kumimoji="1" lang="en-US" altLang="zh-CN" sz="2400" b="1" i="1">
                <a:solidFill>
                  <a:srgbClr val="FF3300"/>
                </a:solidFill>
                <a:latin typeface="Times New Roman" pitchFamily="18" charset="0"/>
              </a:rPr>
              <a:t>B</a:t>
            </a:r>
            <a:r>
              <a:rPr kumimoji="1" lang="en-US" altLang="zh-CN" sz="2400" b="1">
                <a:latin typeface="Times New Roman" pitchFamily="18" charset="0"/>
              </a:rPr>
              <a:t> </a:t>
            </a:r>
            <a:r>
              <a:rPr kumimoji="1" lang="zh-CN" altLang="en-US" sz="2400" b="1">
                <a:latin typeface="Times New Roman" pitchFamily="18" charset="0"/>
              </a:rPr>
              <a:t>中，长 </a:t>
            </a:r>
            <a:r>
              <a:rPr kumimoji="1" lang="en-US" altLang="zh-CN" sz="2400" b="1" i="1">
                <a:latin typeface="Times New Roman" pitchFamily="18" charset="0"/>
              </a:rPr>
              <a:t>R</a:t>
            </a:r>
            <a:r>
              <a:rPr kumimoji="1" lang="en-US" altLang="zh-CN" sz="2400" b="1">
                <a:latin typeface="Times New Roman" pitchFamily="18" charset="0"/>
              </a:rPr>
              <a:t> </a:t>
            </a:r>
            <a:r>
              <a:rPr kumimoji="1" lang="zh-CN" altLang="en-US" sz="2400" b="1">
                <a:latin typeface="Times New Roman" pitchFamily="18" charset="0"/>
              </a:rPr>
              <a:t>的铜棒绕其一端</a:t>
            </a:r>
            <a:r>
              <a:rPr kumimoji="1" lang="zh-CN" altLang="en-US" sz="2800" b="1">
                <a:latin typeface="Times New Roman" pitchFamily="18" charset="0"/>
              </a:rPr>
              <a:t> </a:t>
            </a:r>
            <a:r>
              <a:rPr kumimoji="1" lang="en-US" altLang="zh-CN" sz="2400" b="1" i="1">
                <a:solidFill>
                  <a:srgbClr val="FF3300"/>
                </a:solidFill>
                <a:latin typeface="Times New Roman" pitchFamily="18" charset="0"/>
              </a:rPr>
              <a:t>O </a:t>
            </a:r>
            <a:r>
              <a:rPr kumimoji="1" lang="zh-CN" altLang="en-US" sz="2400" b="1">
                <a:latin typeface="Times New Roman" pitchFamily="18" charset="0"/>
              </a:rPr>
              <a:t>在垂直于</a:t>
            </a:r>
            <a:r>
              <a:rPr kumimoji="1" lang="zh-CN" altLang="en-US" sz="2800" b="1">
                <a:solidFill>
                  <a:srgbClr val="FF3300"/>
                </a:solidFill>
                <a:latin typeface="Times New Roman" pitchFamily="18" charset="0"/>
              </a:rPr>
              <a:t> </a:t>
            </a:r>
            <a:r>
              <a:rPr kumimoji="1" lang="en-US" altLang="zh-CN" sz="2400" b="1" i="1">
                <a:solidFill>
                  <a:srgbClr val="FF3300"/>
                </a:solidFill>
                <a:latin typeface="Times New Roman" pitchFamily="18" charset="0"/>
                <a:cs typeface="Times New Roman" pitchFamily="18" charset="0"/>
              </a:rPr>
              <a:t>B</a:t>
            </a:r>
            <a:r>
              <a:rPr kumimoji="1" lang="en-US" altLang="zh-CN" sz="2800" b="1">
                <a:latin typeface="Times New Roman" pitchFamily="18" charset="0"/>
              </a:rPr>
              <a:t> </a:t>
            </a:r>
            <a:r>
              <a:rPr kumimoji="1" lang="zh-CN" altLang="en-US" sz="2400" b="1">
                <a:latin typeface="Times New Roman" pitchFamily="18" charset="0"/>
              </a:rPr>
              <a:t>的</a:t>
            </a:r>
            <a:endParaRPr kumimoji="1" lang="zh-CN" altLang="en-US" sz="2800" b="1">
              <a:latin typeface="Times New Roman" pitchFamily="18" charset="0"/>
            </a:endParaRPr>
          </a:p>
        </p:txBody>
      </p:sp>
      <p:sp>
        <p:nvSpPr>
          <p:cNvPr id="67588" name="Rectangle 4"/>
          <p:cNvSpPr>
            <a:spLocks noChangeArrowheads="1"/>
          </p:cNvSpPr>
          <p:nvPr/>
        </p:nvSpPr>
        <p:spPr bwMode="auto">
          <a:xfrm>
            <a:off x="596900" y="974725"/>
            <a:ext cx="4452938" cy="519113"/>
          </a:xfrm>
          <a:prstGeom prst="rect">
            <a:avLst/>
          </a:prstGeom>
          <a:noFill/>
          <a:ln w="9525">
            <a:noFill/>
            <a:miter lim="800000"/>
            <a:headEnd/>
            <a:tailEnd/>
          </a:ln>
        </p:spPr>
        <p:txBody>
          <a:bodyPr>
            <a:spAutoFit/>
          </a:bodyPr>
          <a:lstStyle/>
          <a:p>
            <a:pPr algn="l"/>
            <a:r>
              <a:rPr kumimoji="1" lang="zh-CN" altLang="en-US" sz="2400" b="1">
                <a:latin typeface="Times New Roman" pitchFamily="18" charset="0"/>
              </a:rPr>
              <a:t>平面内转动，角速度为</a:t>
            </a:r>
            <a:r>
              <a:rPr kumimoji="1" lang="zh-CN" altLang="en-US" sz="2800" b="1">
                <a:latin typeface="Times New Roman" pitchFamily="18" charset="0"/>
              </a:rPr>
              <a:t> </a:t>
            </a:r>
            <a:r>
              <a:rPr kumimoji="1" lang="zh-CN" altLang="en-US" sz="2400" b="1" i="1">
                <a:solidFill>
                  <a:srgbClr val="FF3300"/>
                </a:solidFill>
                <a:latin typeface="Times New Roman" pitchFamily="18" charset="0"/>
                <a:sym typeface="Symbol" pitchFamily="18" charset="2"/>
              </a:rPr>
              <a:t></a:t>
            </a:r>
            <a:endParaRPr kumimoji="1" lang="zh-CN" altLang="en-US" sz="2400" b="1">
              <a:solidFill>
                <a:srgbClr val="FF3300"/>
              </a:solidFill>
              <a:latin typeface="Times New Roman" pitchFamily="18" charset="0"/>
              <a:sym typeface="Symbol" pitchFamily="18" charset="2"/>
            </a:endParaRPr>
          </a:p>
        </p:txBody>
      </p:sp>
      <p:sp>
        <p:nvSpPr>
          <p:cNvPr id="67589" name="Oval 5"/>
          <p:cNvSpPr>
            <a:spLocks noChangeArrowheads="1"/>
          </p:cNvSpPr>
          <p:nvPr/>
        </p:nvSpPr>
        <p:spPr bwMode="auto">
          <a:xfrm>
            <a:off x="5086350" y="1295400"/>
            <a:ext cx="3124200" cy="3048000"/>
          </a:xfrm>
          <a:prstGeom prst="ellipse">
            <a:avLst/>
          </a:prstGeom>
          <a:noFill/>
          <a:ln w="19050">
            <a:solidFill>
              <a:srgbClr val="0000FF"/>
            </a:solidFill>
            <a:prstDash val="dash"/>
            <a:round/>
            <a:headEnd/>
            <a:tailEnd/>
          </a:ln>
        </p:spPr>
        <p:txBody>
          <a:bodyPr wrap="none" anchor="ctr"/>
          <a:lstStyle/>
          <a:p>
            <a:endParaRPr lang="zh-CN" altLang="en-US"/>
          </a:p>
        </p:txBody>
      </p:sp>
      <p:sp>
        <p:nvSpPr>
          <p:cNvPr id="67590" name="Rectangle 6"/>
          <p:cNvSpPr>
            <a:spLocks noChangeArrowheads="1"/>
          </p:cNvSpPr>
          <p:nvPr/>
        </p:nvSpPr>
        <p:spPr bwMode="auto">
          <a:xfrm>
            <a:off x="6610350" y="2743200"/>
            <a:ext cx="1600200" cy="152400"/>
          </a:xfrm>
          <a:prstGeom prst="rect">
            <a:avLst/>
          </a:prstGeom>
          <a:gradFill rotWithShape="0">
            <a:gsLst>
              <a:gs pos="0">
                <a:srgbClr val="003939"/>
              </a:gs>
              <a:gs pos="50000">
                <a:srgbClr val="00FFFF"/>
              </a:gs>
              <a:gs pos="100000">
                <a:srgbClr val="003939"/>
              </a:gs>
            </a:gsLst>
            <a:lin ang="5400000" scaled="1"/>
          </a:gradFill>
          <a:ln w="9525">
            <a:solidFill>
              <a:schemeClr val="tx1"/>
            </a:solidFill>
            <a:miter lim="800000"/>
            <a:headEnd/>
            <a:tailEnd/>
          </a:ln>
        </p:spPr>
        <p:txBody>
          <a:bodyPr wrap="none" anchor="ctr"/>
          <a:lstStyle/>
          <a:p>
            <a:endParaRPr lang="zh-CN" altLang="en-US"/>
          </a:p>
        </p:txBody>
      </p:sp>
      <p:grpSp>
        <p:nvGrpSpPr>
          <p:cNvPr id="2" name="Group 7"/>
          <p:cNvGrpSpPr>
            <a:grpSpLocks/>
          </p:cNvGrpSpPr>
          <p:nvPr/>
        </p:nvGrpSpPr>
        <p:grpSpPr bwMode="auto">
          <a:xfrm>
            <a:off x="5619750" y="1905000"/>
            <a:ext cx="533400" cy="533400"/>
            <a:chOff x="624" y="3072"/>
            <a:chExt cx="336" cy="336"/>
          </a:xfrm>
        </p:grpSpPr>
        <p:sp>
          <p:nvSpPr>
            <p:cNvPr id="9257" name="Oval 8"/>
            <p:cNvSpPr>
              <a:spLocks noChangeArrowheads="1"/>
            </p:cNvSpPr>
            <p:nvPr/>
          </p:nvSpPr>
          <p:spPr bwMode="auto">
            <a:xfrm>
              <a:off x="624" y="3072"/>
              <a:ext cx="336" cy="336"/>
            </a:xfrm>
            <a:prstGeom prst="ellipse">
              <a:avLst/>
            </a:prstGeom>
            <a:noFill/>
            <a:ln w="38100">
              <a:solidFill>
                <a:schemeClr val="tx1"/>
              </a:solidFill>
              <a:round/>
              <a:headEnd/>
              <a:tailEnd/>
            </a:ln>
          </p:spPr>
          <p:txBody>
            <a:bodyPr wrap="none" anchor="ctr"/>
            <a:lstStyle/>
            <a:p>
              <a:endParaRPr lang="zh-CN" altLang="en-US"/>
            </a:p>
          </p:txBody>
        </p:sp>
        <p:sp>
          <p:nvSpPr>
            <p:cNvPr id="9258" name="Line 9"/>
            <p:cNvSpPr>
              <a:spLocks noChangeShapeType="1"/>
            </p:cNvSpPr>
            <p:nvPr/>
          </p:nvSpPr>
          <p:spPr bwMode="auto">
            <a:xfrm>
              <a:off x="672" y="3120"/>
              <a:ext cx="240" cy="240"/>
            </a:xfrm>
            <a:prstGeom prst="line">
              <a:avLst/>
            </a:prstGeom>
            <a:noFill/>
            <a:ln w="38100">
              <a:solidFill>
                <a:schemeClr val="tx1"/>
              </a:solidFill>
              <a:round/>
              <a:headEnd/>
              <a:tailEnd/>
            </a:ln>
          </p:spPr>
          <p:txBody>
            <a:bodyPr/>
            <a:lstStyle/>
            <a:p>
              <a:endParaRPr lang="zh-CN" altLang="en-US"/>
            </a:p>
          </p:txBody>
        </p:sp>
        <p:sp>
          <p:nvSpPr>
            <p:cNvPr id="9259" name="Line 10"/>
            <p:cNvSpPr>
              <a:spLocks noChangeShapeType="1"/>
            </p:cNvSpPr>
            <p:nvPr/>
          </p:nvSpPr>
          <p:spPr bwMode="auto">
            <a:xfrm flipH="1">
              <a:off x="672" y="3120"/>
              <a:ext cx="240" cy="240"/>
            </a:xfrm>
            <a:prstGeom prst="line">
              <a:avLst/>
            </a:prstGeom>
            <a:noFill/>
            <a:ln w="38100">
              <a:solidFill>
                <a:schemeClr val="tx1"/>
              </a:solidFill>
              <a:round/>
              <a:headEnd/>
              <a:tailEnd/>
            </a:ln>
          </p:spPr>
          <p:txBody>
            <a:bodyPr/>
            <a:lstStyle/>
            <a:p>
              <a:endParaRPr lang="zh-CN" altLang="en-US"/>
            </a:p>
          </p:txBody>
        </p:sp>
      </p:grpSp>
      <p:graphicFrame>
        <p:nvGraphicFramePr>
          <p:cNvPr id="67595" name="Object 11"/>
          <p:cNvGraphicFramePr>
            <a:graphicFrameLocks noChangeAspect="1"/>
          </p:cNvGraphicFramePr>
          <p:nvPr/>
        </p:nvGraphicFramePr>
        <p:xfrm>
          <a:off x="6057900" y="1593850"/>
          <a:ext cx="298450" cy="365125"/>
        </p:xfrm>
        <a:graphic>
          <a:graphicData uri="http://schemas.openxmlformats.org/presentationml/2006/ole">
            <p:oleObj spid="_x0000_s9218" name="公式" r:id="rId3" imgW="123721" imgH="162000" progId="Equation.3">
              <p:embed/>
            </p:oleObj>
          </a:graphicData>
        </a:graphic>
      </p:graphicFrame>
      <p:sp>
        <p:nvSpPr>
          <p:cNvPr id="67596" name="Rectangle 12"/>
          <p:cNvSpPr>
            <a:spLocks noChangeArrowheads="1"/>
          </p:cNvSpPr>
          <p:nvPr/>
        </p:nvSpPr>
        <p:spPr bwMode="auto">
          <a:xfrm>
            <a:off x="8148638" y="3357563"/>
            <a:ext cx="671512" cy="457200"/>
          </a:xfrm>
          <a:prstGeom prst="rect">
            <a:avLst/>
          </a:prstGeom>
          <a:noFill/>
          <a:ln w="9525">
            <a:noFill/>
            <a:miter lim="800000"/>
            <a:headEnd/>
            <a:tailEnd/>
          </a:ln>
        </p:spPr>
        <p:txBody>
          <a:bodyPr>
            <a:spAutoFit/>
          </a:bodyPr>
          <a:lstStyle/>
          <a:p>
            <a:pPr algn="l"/>
            <a:r>
              <a:rPr kumimoji="1" lang="en-US" altLang="zh-CN" sz="2400" b="1" i="1">
                <a:solidFill>
                  <a:srgbClr val="FF0000"/>
                </a:solidFill>
                <a:latin typeface="Times New Roman" pitchFamily="18" charset="0"/>
                <a:sym typeface="Symbol" pitchFamily="18" charset="2"/>
              </a:rPr>
              <a:t></a:t>
            </a:r>
          </a:p>
        </p:txBody>
      </p:sp>
      <p:sp>
        <p:nvSpPr>
          <p:cNvPr id="67597" name="Rectangle 13"/>
          <p:cNvSpPr>
            <a:spLocks noChangeArrowheads="1"/>
          </p:cNvSpPr>
          <p:nvPr/>
        </p:nvSpPr>
        <p:spPr bwMode="auto">
          <a:xfrm>
            <a:off x="6172200" y="2527300"/>
            <a:ext cx="404813" cy="457200"/>
          </a:xfrm>
          <a:prstGeom prst="rect">
            <a:avLst/>
          </a:prstGeom>
          <a:noFill/>
          <a:ln w="9525">
            <a:noFill/>
            <a:miter lim="800000"/>
            <a:headEnd/>
            <a:tailEnd/>
          </a:ln>
        </p:spPr>
        <p:txBody>
          <a:bodyPr wrap="none">
            <a:spAutoFit/>
          </a:bodyPr>
          <a:lstStyle/>
          <a:p>
            <a:pPr algn="l"/>
            <a:r>
              <a:rPr kumimoji="1" lang="en-US" altLang="zh-CN" sz="2400" b="1" i="1">
                <a:latin typeface="Times New Roman" pitchFamily="18" charset="0"/>
              </a:rPr>
              <a:t>O</a:t>
            </a:r>
          </a:p>
        </p:txBody>
      </p:sp>
      <p:sp>
        <p:nvSpPr>
          <p:cNvPr id="67598" name="Rectangle 14"/>
          <p:cNvSpPr>
            <a:spLocks noChangeArrowheads="1"/>
          </p:cNvSpPr>
          <p:nvPr/>
        </p:nvSpPr>
        <p:spPr bwMode="auto">
          <a:xfrm>
            <a:off x="7677150" y="2946400"/>
            <a:ext cx="387350" cy="457200"/>
          </a:xfrm>
          <a:prstGeom prst="rect">
            <a:avLst/>
          </a:prstGeom>
          <a:noFill/>
          <a:ln w="9525">
            <a:noFill/>
            <a:miter lim="800000"/>
            <a:headEnd/>
            <a:tailEnd/>
          </a:ln>
        </p:spPr>
        <p:txBody>
          <a:bodyPr wrap="none">
            <a:spAutoFit/>
          </a:bodyPr>
          <a:lstStyle/>
          <a:p>
            <a:pPr algn="l"/>
            <a:r>
              <a:rPr kumimoji="1" lang="en-US" altLang="zh-CN" sz="2400" b="1" i="1">
                <a:solidFill>
                  <a:srgbClr val="3333CC"/>
                </a:solidFill>
                <a:latin typeface="Times New Roman" pitchFamily="18" charset="0"/>
              </a:rPr>
              <a:t>R</a:t>
            </a:r>
          </a:p>
        </p:txBody>
      </p:sp>
      <p:sp>
        <p:nvSpPr>
          <p:cNvPr id="67599" name="Rectangle 15"/>
          <p:cNvSpPr>
            <a:spLocks noChangeArrowheads="1"/>
          </p:cNvSpPr>
          <p:nvPr/>
        </p:nvSpPr>
        <p:spPr bwMode="auto">
          <a:xfrm>
            <a:off x="161925" y="1531938"/>
            <a:ext cx="3473450"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Times New Roman" pitchFamily="18" charset="0"/>
              </a:rPr>
              <a:t>求</a:t>
            </a:r>
            <a:r>
              <a:rPr kumimoji="1" lang="zh-CN" altLang="en-US" sz="2400" b="1">
                <a:latin typeface="Times New Roman" pitchFamily="18" charset="0"/>
              </a:rPr>
              <a:t>  棒上的电动势</a:t>
            </a:r>
            <a:endParaRPr kumimoji="1" lang="zh-CN" altLang="en-US" sz="2800" b="1">
              <a:latin typeface="Times New Roman" pitchFamily="18" charset="0"/>
              <a:sym typeface="Symbol" pitchFamily="18" charset="2"/>
            </a:endParaRPr>
          </a:p>
        </p:txBody>
      </p:sp>
      <p:sp>
        <p:nvSpPr>
          <p:cNvPr id="67600" name="Rectangle 16"/>
          <p:cNvSpPr>
            <a:spLocks noChangeArrowheads="1"/>
          </p:cNvSpPr>
          <p:nvPr/>
        </p:nvSpPr>
        <p:spPr bwMode="auto">
          <a:xfrm>
            <a:off x="161925" y="2116138"/>
            <a:ext cx="492125"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sym typeface="Symbol" pitchFamily="18" charset="2"/>
              </a:rPr>
              <a:t>解</a:t>
            </a:r>
          </a:p>
        </p:txBody>
      </p:sp>
      <p:sp>
        <p:nvSpPr>
          <p:cNvPr id="67601" name="Rectangle 17"/>
          <p:cNvSpPr>
            <a:spLocks noChangeArrowheads="1"/>
          </p:cNvSpPr>
          <p:nvPr/>
        </p:nvSpPr>
        <p:spPr bwMode="auto">
          <a:xfrm>
            <a:off x="596900" y="2106613"/>
            <a:ext cx="325120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楷体_GB2312" pitchFamily="49" charset="-122"/>
                <a:ea typeface="楷体_GB2312" pitchFamily="49" charset="-122"/>
                <a:sym typeface="Symbol" pitchFamily="18" charset="2"/>
              </a:rPr>
              <a:t>方法一</a:t>
            </a:r>
            <a:r>
              <a:rPr kumimoji="1" lang="zh-CN" altLang="en-US" sz="2400" b="1">
                <a:solidFill>
                  <a:srgbClr val="66FFFF"/>
                </a:solidFill>
                <a:latin typeface="楷体_GB2312" pitchFamily="49" charset="-122"/>
                <a:ea typeface="楷体_GB2312" pitchFamily="49" charset="-122"/>
                <a:sym typeface="Symbol" pitchFamily="18" charset="2"/>
              </a:rPr>
              <a:t> </a:t>
            </a:r>
            <a:r>
              <a:rPr kumimoji="1" lang="en-US" altLang="zh-CN" sz="2400" b="1">
                <a:latin typeface="楷体_GB2312" pitchFamily="49" charset="-122"/>
                <a:ea typeface="楷体_GB2312" pitchFamily="49" charset="-122"/>
                <a:sym typeface="Symbol" pitchFamily="18" charset="2"/>
              </a:rPr>
              <a:t>(</a:t>
            </a:r>
            <a:r>
              <a:rPr kumimoji="1" lang="zh-CN" altLang="en-US" sz="2400" b="1">
                <a:latin typeface="楷体_GB2312" pitchFamily="49" charset="-122"/>
                <a:ea typeface="楷体_GB2312" pitchFamily="49" charset="-122"/>
                <a:sym typeface="Symbol" pitchFamily="18" charset="2"/>
              </a:rPr>
              <a:t>动生电动势</a:t>
            </a:r>
            <a:r>
              <a:rPr kumimoji="1" lang="en-US" altLang="zh-CN" sz="2400" b="1">
                <a:latin typeface="楷体_GB2312" pitchFamily="49" charset="-122"/>
                <a:ea typeface="楷体_GB2312" pitchFamily="49" charset="-122"/>
                <a:sym typeface="Symbol" pitchFamily="18" charset="2"/>
              </a:rPr>
              <a:t>):</a:t>
            </a:r>
          </a:p>
        </p:txBody>
      </p:sp>
      <p:sp>
        <p:nvSpPr>
          <p:cNvPr id="67602" name="AutoShape 18"/>
          <p:cNvSpPr>
            <a:spLocks noChangeArrowheads="1"/>
          </p:cNvSpPr>
          <p:nvPr/>
        </p:nvSpPr>
        <p:spPr bwMode="auto">
          <a:xfrm>
            <a:off x="7143750" y="2693988"/>
            <a:ext cx="457200" cy="249237"/>
          </a:xfrm>
          <a:prstGeom prst="rightArrow">
            <a:avLst>
              <a:gd name="adj1" fmla="val 50000"/>
              <a:gd name="adj2" fmla="val 45860"/>
            </a:avLst>
          </a:prstGeom>
          <a:gradFill rotWithShape="0">
            <a:gsLst>
              <a:gs pos="0">
                <a:srgbClr val="762F00"/>
              </a:gs>
              <a:gs pos="50000">
                <a:srgbClr val="FF6600"/>
              </a:gs>
              <a:gs pos="100000">
                <a:srgbClr val="762F00"/>
              </a:gs>
            </a:gsLst>
            <a:lin ang="5400000" scaled="1"/>
          </a:gradFill>
          <a:ln w="9525">
            <a:solidFill>
              <a:schemeClr val="tx1"/>
            </a:solidFill>
            <a:miter lim="800000"/>
            <a:headEnd/>
            <a:tailEnd/>
          </a:ln>
        </p:spPr>
        <p:txBody>
          <a:bodyPr wrap="none" anchor="ctr"/>
          <a:lstStyle/>
          <a:p>
            <a:endParaRPr lang="zh-CN" altLang="en-US"/>
          </a:p>
        </p:txBody>
      </p:sp>
      <p:sp>
        <p:nvSpPr>
          <p:cNvPr id="67603" name="Rectangle 19"/>
          <p:cNvSpPr>
            <a:spLocks noChangeArrowheads="1"/>
          </p:cNvSpPr>
          <p:nvPr/>
        </p:nvSpPr>
        <p:spPr bwMode="auto">
          <a:xfrm>
            <a:off x="7505700" y="2305050"/>
            <a:ext cx="609600" cy="457200"/>
          </a:xfrm>
          <a:prstGeom prst="rect">
            <a:avLst/>
          </a:prstGeom>
          <a:noFill/>
          <a:ln w="9525">
            <a:noFill/>
            <a:miter lim="800000"/>
            <a:headEnd/>
            <a:tailEnd/>
          </a:ln>
        </p:spPr>
        <p:txBody>
          <a:bodyPr>
            <a:spAutoFit/>
          </a:bodyPr>
          <a:lstStyle/>
          <a:p>
            <a:pPr algn="l"/>
            <a:r>
              <a:rPr kumimoji="1" lang="en-US" altLang="zh-CN" sz="2400" b="1">
                <a:solidFill>
                  <a:srgbClr val="3333CC"/>
                </a:solidFill>
                <a:latin typeface="Times New Roman" pitchFamily="18" charset="0"/>
              </a:rPr>
              <a:t>d</a:t>
            </a:r>
            <a:r>
              <a:rPr kumimoji="1" lang="en-US" altLang="zh-CN" sz="2400" b="1" i="1">
                <a:solidFill>
                  <a:srgbClr val="3333CC"/>
                </a:solidFill>
                <a:latin typeface="Times New Roman" pitchFamily="18" charset="0"/>
              </a:rPr>
              <a:t>l</a:t>
            </a:r>
          </a:p>
        </p:txBody>
      </p:sp>
      <p:graphicFrame>
        <p:nvGraphicFramePr>
          <p:cNvPr id="67604" name="Object 20"/>
          <p:cNvGraphicFramePr>
            <a:graphicFrameLocks noChangeAspect="1"/>
          </p:cNvGraphicFramePr>
          <p:nvPr/>
        </p:nvGraphicFramePr>
        <p:xfrm>
          <a:off x="8216900" y="2663825"/>
          <a:ext cx="295275" cy="295275"/>
        </p:xfrm>
        <a:graphic>
          <a:graphicData uri="http://schemas.openxmlformats.org/presentationml/2006/ole">
            <p:oleObj spid="_x0000_s9219" name="公式" r:id="rId4" imgW="123721" imgH="123930" progId="Equation.3">
              <p:embed/>
            </p:oleObj>
          </a:graphicData>
        </a:graphic>
      </p:graphicFrame>
      <p:graphicFrame>
        <p:nvGraphicFramePr>
          <p:cNvPr id="67605" name="Object 21"/>
          <p:cNvGraphicFramePr>
            <a:graphicFrameLocks noChangeAspect="1"/>
          </p:cNvGraphicFramePr>
          <p:nvPr/>
        </p:nvGraphicFramePr>
        <p:xfrm>
          <a:off x="6865938" y="2438400"/>
          <a:ext cx="184150" cy="320675"/>
        </p:xfrm>
        <a:graphic>
          <a:graphicData uri="http://schemas.openxmlformats.org/presentationml/2006/ole">
            <p:oleObj spid="_x0000_s9220" name="公式" r:id="rId5" imgW="66723" imgH="142830" progId="Equation.3">
              <p:embed/>
            </p:oleObj>
          </a:graphicData>
        </a:graphic>
      </p:graphicFrame>
      <p:graphicFrame>
        <p:nvGraphicFramePr>
          <p:cNvPr id="67606" name="Object 22"/>
          <p:cNvGraphicFramePr>
            <a:graphicFrameLocks noChangeAspect="1"/>
          </p:cNvGraphicFramePr>
          <p:nvPr/>
        </p:nvGraphicFramePr>
        <p:xfrm>
          <a:off x="1050925" y="2622550"/>
          <a:ext cx="1936750" cy="590550"/>
        </p:xfrm>
        <a:graphic>
          <a:graphicData uri="http://schemas.openxmlformats.org/presentationml/2006/ole">
            <p:oleObj spid="_x0000_s9221" name="公式" r:id="rId6" imgW="1038121" imgH="295380" progId="Equation.3">
              <p:embed/>
            </p:oleObj>
          </a:graphicData>
        </a:graphic>
      </p:graphicFrame>
      <p:graphicFrame>
        <p:nvGraphicFramePr>
          <p:cNvPr id="67607" name="Object 23"/>
          <p:cNvGraphicFramePr>
            <a:graphicFrameLocks noChangeAspect="1"/>
          </p:cNvGraphicFramePr>
          <p:nvPr/>
        </p:nvGraphicFramePr>
        <p:xfrm>
          <a:off x="1241425" y="3338513"/>
          <a:ext cx="1317625" cy="590550"/>
        </p:xfrm>
        <a:graphic>
          <a:graphicData uri="http://schemas.openxmlformats.org/presentationml/2006/ole">
            <p:oleObj spid="_x0000_s9222" name="公式" r:id="rId7" imgW="695322" imgH="295380" progId="Equation.3">
              <p:embed/>
            </p:oleObj>
          </a:graphicData>
        </a:graphic>
      </p:graphicFrame>
      <p:graphicFrame>
        <p:nvGraphicFramePr>
          <p:cNvPr id="67608" name="Object 24"/>
          <p:cNvGraphicFramePr>
            <a:graphicFrameLocks noChangeAspect="1"/>
          </p:cNvGraphicFramePr>
          <p:nvPr/>
        </p:nvGraphicFramePr>
        <p:xfrm>
          <a:off x="2681288" y="3338513"/>
          <a:ext cx="1479550" cy="590550"/>
        </p:xfrm>
        <a:graphic>
          <a:graphicData uri="http://schemas.openxmlformats.org/presentationml/2006/ole">
            <p:oleObj spid="_x0000_s9223" name="公式" r:id="rId8" imgW="790679" imgH="295380" progId="Equation.3">
              <p:embed/>
            </p:oleObj>
          </a:graphicData>
        </a:graphic>
      </p:graphicFrame>
      <p:graphicFrame>
        <p:nvGraphicFramePr>
          <p:cNvPr id="67609" name="Object 25"/>
          <p:cNvGraphicFramePr>
            <a:graphicFrameLocks noChangeAspect="1"/>
          </p:cNvGraphicFramePr>
          <p:nvPr/>
        </p:nvGraphicFramePr>
        <p:xfrm>
          <a:off x="1285875" y="4014788"/>
          <a:ext cx="1277938" cy="757237"/>
        </p:xfrm>
        <a:graphic>
          <a:graphicData uri="http://schemas.openxmlformats.org/presentationml/2006/ole">
            <p:oleObj spid="_x0000_s9224" name="公式" r:id="rId9" imgW="676143" imgH="380970" progId="Equation.3">
              <p:embed/>
            </p:oleObj>
          </a:graphicData>
        </a:graphic>
      </p:graphicFrame>
      <p:sp>
        <p:nvSpPr>
          <p:cNvPr id="67610" name="Rectangle 26"/>
          <p:cNvSpPr>
            <a:spLocks noChangeArrowheads="1"/>
          </p:cNvSpPr>
          <p:nvPr/>
        </p:nvSpPr>
        <p:spPr bwMode="auto">
          <a:xfrm>
            <a:off x="3200400" y="4097338"/>
            <a:ext cx="89852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sym typeface="Symbol" pitchFamily="18" charset="2"/>
              </a:rPr>
              <a:t>方向</a:t>
            </a:r>
          </a:p>
        </p:txBody>
      </p:sp>
      <p:graphicFrame>
        <p:nvGraphicFramePr>
          <p:cNvPr id="67611" name="Object 27"/>
          <p:cNvGraphicFramePr>
            <a:graphicFrameLocks noChangeAspect="1"/>
          </p:cNvGraphicFramePr>
          <p:nvPr/>
        </p:nvGraphicFramePr>
        <p:xfrm>
          <a:off x="4122738" y="4194175"/>
          <a:ext cx="968375" cy="320675"/>
        </p:xfrm>
        <a:graphic>
          <a:graphicData uri="http://schemas.openxmlformats.org/presentationml/2006/ole">
            <p:oleObj spid="_x0000_s9225" name="公式" r:id="rId10" imgW="495424" imgH="142830" progId="Equation.3">
              <p:embed/>
            </p:oleObj>
          </a:graphicData>
        </a:graphic>
      </p:graphicFrame>
      <p:sp>
        <p:nvSpPr>
          <p:cNvPr id="67612" name="Rectangle 28"/>
          <p:cNvSpPr>
            <a:spLocks noChangeArrowheads="1"/>
          </p:cNvSpPr>
          <p:nvPr/>
        </p:nvSpPr>
        <p:spPr bwMode="auto">
          <a:xfrm>
            <a:off x="704850" y="4727575"/>
            <a:ext cx="5324475"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楷体_GB2312" pitchFamily="49" charset="-122"/>
                <a:ea typeface="楷体_GB2312" pitchFamily="49" charset="-122"/>
                <a:sym typeface="Symbol" pitchFamily="18" charset="2"/>
              </a:rPr>
              <a:t>方法二</a:t>
            </a:r>
            <a:r>
              <a:rPr kumimoji="1" lang="en-US" altLang="zh-CN" sz="2400" b="1">
                <a:latin typeface="楷体_GB2312" pitchFamily="49" charset="-122"/>
                <a:ea typeface="楷体_GB2312" pitchFamily="49" charset="-122"/>
                <a:sym typeface="Symbol" pitchFamily="18" charset="2"/>
              </a:rPr>
              <a:t>(</a:t>
            </a:r>
            <a:r>
              <a:rPr lang="zh-CN" altLang="en-US" sz="2400" b="1">
                <a:latin typeface="楷体_GB2312" pitchFamily="49" charset="-122"/>
                <a:ea typeface="楷体_GB2312" pitchFamily="49" charset="-122"/>
              </a:rPr>
              <a:t>法拉第电磁感应定律</a:t>
            </a:r>
            <a:r>
              <a:rPr lang="en-US" altLang="zh-CN" sz="2400" b="1">
                <a:latin typeface="楷体_GB2312" pitchFamily="49" charset="-122"/>
                <a:ea typeface="楷体_GB2312" pitchFamily="49" charset="-122"/>
              </a:rPr>
              <a:t>):</a:t>
            </a:r>
            <a:endParaRPr kumimoji="1" lang="en-US" altLang="zh-CN" sz="2400" b="1">
              <a:latin typeface="楷体_GB2312" pitchFamily="49" charset="-122"/>
              <a:ea typeface="楷体_GB2312" pitchFamily="49" charset="-122"/>
              <a:sym typeface="Symbol" pitchFamily="18" charset="2"/>
            </a:endParaRPr>
          </a:p>
        </p:txBody>
      </p:sp>
      <p:graphicFrame>
        <p:nvGraphicFramePr>
          <p:cNvPr id="67613" name="Object 29"/>
          <p:cNvGraphicFramePr>
            <a:graphicFrameLocks noChangeAspect="1"/>
          </p:cNvGraphicFramePr>
          <p:nvPr/>
        </p:nvGraphicFramePr>
        <p:xfrm>
          <a:off x="5078413" y="5202238"/>
          <a:ext cx="681037" cy="455612"/>
        </p:xfrm>
        <a:graphic>
          <a:graphicData uri="http://schemas.openxmlformats.org/presentationml/2006/ole">
            <p:oleObj spid="_x0000_s9226" name="公式" r:id="rId11" imgW="342799" imgH="218970" progId="Equation.3">
              <p:embed/>
            </p:oleObj>
          </a:graphicData>
        </a:graphic>
      </p:graphicFrame>
      <p:sp>
        <p:nvSpPr>
          <p:cNvPr id="67614" name="Rectangle 30"/>
          <p:cNvSpPr>
            <a:spLocks noChangeArrowheads="1"/>
          </p:cNvSpPr>
          <p:nvPr/>
        </p:nvSpPr>
        <p:spPr bwMode="auto">
          <a:xfrm>
            <a:off x="685800" y="5176838"/>
            <a:ext cx="4267200" cy="457200"/>
          </a:xfrm>
          <a:prstGeom prst="rect">
            <a:avLst/>
          </a:prstGeom>
          <a:noFill/>
          <a:ln w="9525">
            <a:noFill/>
            <a:miter lim="800000"/>
            <a:headEnd/>
            <a:tailEnd/>
          </a:ln>
        </p:spPr>
        <p:txBody>
          <a:bodyPr wrap="none">
            <a:spAutoFit/>
          </a:bodyPr>
          <a:lstStyle/>
          <a:p>
            <a:pPr algn="l"/>
            <a:r>
              <a:rPr kumimoji="1" lang="zh-CN" altLang="en-US" sz="2400" b="1">
                <a:latin typeface="Times New Roman" pitchFamily="18" charset="0"/>
                <a:ea typeface="楷体_GB2312" pitchFamily="49" charset="-122"/>
                <a:sym typeface="Symbol" pitchFamily="18" charset="2"/>
              </a:rPr>
              <a:t>在</a:t>
            </a:r>
            <a:r>
              <a:rPr kumimoji="1" lang="zh-CN" altLang="en-US" sz="2400" b="1">
                <a:solidFill>
                  <a:srgbClr val="FF3300"/>
                </a:solidFill>
                <a:latin typeface="Times New Roman" pitchFamily="18" charset="0"/>
                <a:ea typeface="楷体_GB2312" pitchFamily="49" charset="-122"/>
                <a:sym typeface="Symbol" pitchFamily="18" charset="2"/>
              </a:rPr>
              <a:t> </a:t>
            </a:r>
            <a:r>
              <a:rPr kumimoji="1" lang="en-US" altLang="zh-CN" sz="2400" b="1">
                <a:solidFill>
                  <a:srgbClr val="FF3300"/>
                </a:solidFill>
                <a:latin typeface="Times New Roman" pitchFamily="18" charset="0"/>
                <a:ea typeface="楷体_GB2312" pitchFamily="49" charset="-122"/>
                <a:sym typeface="Symbol" pitchFamily="18" charset="2"/>
              </a:rPr>
              <a:t>d</a:t>
            </a:r>
            <a:r>
              <a:rPr kumimoji="1" lang="en-US" altLang="zh-CN" sz="2400" b="1" i="1">
                <a:solidFill>
                  <a:srgbClr val="FF3300"/>
                </a:solidFill>
                <a:latin typeface="Times New Roman" pitchFamily="18" charset="0"/>
                <a:ea typeface="楷体_GB2312" pitchFamily="49" charset="-122"/>
                <a:sym typeface="Symbol" pitchFamily="18" charset="2"/>
              </a:rPr>
              <a:t>t </a:t>
            </a:r>
            <a:r>
              <a:rPr kumimoji="1" lang="zh-CN" altLang="en-US" sz="2400" b="1">
                <a:latin typeface="Times New Roman" pitchFamily="18" charset="0"/>
                <a:ea typeface="楷体_GB2312" pitchFamily="49" charset="-122"/>
                <a:sym typeface="Symbol" pitchFamily="18" charset="2"/>
              </a:rPr>
              <a:t>时间内导体棒切割磁场线</a:t>
            </a:r>
          </a:p>
        </p:txBody>
      </p:sp>
      <p:sp>
        <p:nvSpPr>
          <p:cNvPr id="67615" name="Rectangle 31"/>
          <p:cNvSpPr>
            <a:spLocks noChangeArrowheads="1"/>
          </p:cNvSpPr>
          <p:nvPr/>
        </p:nvSpPr>
        <p:spPr bwMode="auto">
          <a:xfrm rot="3354240">
            <a:off x="6254750" y="3352800"/>
            <a:ext cx="1600200" cy="152400"/>
          </a:xfrm>
          <a:prstGeom prst="rect">
            <a:avLst/>
          </a:prstGeom>
          <a:gradFill rotWithShape="1">
            <a:gsLst>
              <a:gs pos="0">
                <a:srgbClr val="00FFFF">
                  <a:alpha val="50000"/>
                </a:srgbClr>
              </a:gs>
              <a:gs pos="100000">
                <a:srgbClr val="001010"/>
              </a:gs>
            </a:gsLst>
            <a:lin ang="5400000" scaled="1"/>
          </a:gradFill>
          <a:ln w="9525">
            <a:noFill/>
            <a:miter lim="800000"/>
            <a:headEnd/>
            <a:tailEnd/>
          </a:ln>
        </p:spPr>
        <p:txBody>
          <a:bodyPr wrap="none" anchor="ctr"/>
          <a:lstStyle/>
          <a:p>
            <a:endParaRPr lang="zh-CN" altLang="en-US"/>
          </a:p>
        </p:txBody>
      </p:sp>
      <p:graphicFrame>
        <p:nvGraphicFramePr>
          <p:cNvPr id="67616" name="Object 32"/>
          <p:cNvGraphicFramePr>
            <a:graphicFrameLocks noChangeAspect="1"/>
          </p:cNvGraphicFramePr>
          <p:nvPr/>
        </p:nvGraphicFramePr>
        <p:xfrm>
          <a:off x="7092950" y="2054225"/>
          <a:ext cx="230188" cy="320675"/>
        </p:xfrm>
        <a:graphic>
          <a:graphicData uri="http://schemas.openxmlformats.org/presentationml/2006/ole">
            <p:oleObj spid="_x0000_s9227" name="公式" r:id="rId12" imgW="85632" imgH="142830" progId="Equation.3">
              <p:embed/>
            </p:oleObj>
          </a:graphicData>
        </a:graphic>
      </p:graphicFrame>
      <p:sp>
        <p:nvSpPr>
          <p:cNvPr id="67617" name="Line 33"/>
          <p:cNvSpPr>
            <a:spLocks noChangeShapeType="1"/>
          </p:cNvSpPr>
          <p:nvPr/>
        </p:nvSpPr>
        <p:spPr bwMode="auto">
          <a:xfrm flipV="1">
            <a:off x="7372350" y="2057400"/>
            <a:ext cx="0" cy="685800"/>
          </a:xfrm>
          <a:prstGeom prst="line">
            <a:avLst/>
          </a:prstGeom>
          <a:noFill/>
          <a:ln w="25400">
            <a:solidFill>
              <a:srgbClr val="008000"/>
            </a:solidFill>
            <a:round/>
            <a:headEnd/>
            <a:tailEnd type="triangle" w="med" len="med"/>
          </a:ln>
        </p:spPr>
        <p:txBody>
          <a:bodyPr/>
          <a:lstStyle/>
          <a:p>
            <a:endParaRPr lang="zh-CN" altLang="en-US"/>
          </a:p>
        </p:txBody>
      </p:sp>
      <p:graphicFrame>
        <p:nvGraphicFramePr>
          <p:cNvPr id="67618" name="Object 34"/>
          <p:cNvGraphicFramePr>
            <a:graphicFrameLocks noChangeAspect="1"/>
          </p:cNvGraphicFramePr>
          <p:nvPr/>
        </p:nvGraphicFramePr>
        <p:xfrm>
          <a:off x="7046913" y="2979738"/>
          <a:ext cx="409575" cy="319087"/>
        </p:xfrm>
        <a:graphic>
          <a:graphicData uri="http://schemas.openxmlformats.org/presentationml/2006/ole">
            <p:oleObj spid="_x0000_s9228" name="公式" r:id="rId13" imgW="190444" imgH="142830" progId="Equation.3">
              <p:embed/>
            </p:oleObj>
          </a:graphicData>
        </a:graphic>
      </p:graphicFrame>
      <p:graphicFrame>
        <p:nvGraphicFramePr>
          <p:cNvPr id="67619" name="Object 35"/>
          <p:cNvGraphicFramePr>
            <a:graphicFrameLocks noChangeAspect="1"/>
          </p:cNvGraphicFramePr>
          <p:nvPr/>
        </p:nvGraphicFramePr>
        <p:xfrm>
          <a:off x="5708650" y="5049838"/>
          <a:ext cx="1398588" cy="735012"/>
        </p:xfrm>
        <a:graphic>
          <a:graphicData uri="http://schemas.openxmlformats.org/presentationml/2006/ole">
            <p:oleObj spid="_x0000_s9229" name="公式" r:id="rId14" imgW="733411" imgH="371520" progId="Equation.3">
              <p:embed/>
            </p:oleObj>
          </a:graphicData>
        </a:graphic>
      </p:graphicFrame>
      <p:graphicFrame>
        <p:nvGraphicFramePr>
          <p:cNvPr id="67620" name="Object 36"/>
          <p:cNvGraphicFramePr>
            <a:graphicFrameLocks noChangeAspect="1"/>
          </p:cNvGraphicFramePr>
          <p:nvPr/>
        </p:nvGraphicFramePr>
        <p:xfrm>
          <a:off x="830263" y="5676900"/>
          <a:ext cx="1301750" cy="798513"/>
        </p:xfrm>
        <a:graphic>
          <a:graphicData uri="http://schemas.openxmlformats.org/presentationml/2006/ole">
            <p:oleObj spid="_x0000_s9230" name="公式" r:id="rId15" imgW="685868" imgH="409590" progId="Equation.3">
              <p:embed/>
            </p:oleObj>
          </a:graphicData>
        </a:graphic>
      </p:graphicFrame>
      <p:graphicFrame>
        <p:nvGraphicFramePr>
          <p:cNvPr id="67621" name="Object 37"/>
          <p:cNvGraphicFramePr>
            <a:graphicFrameLocks noChangeAspect="1"/>
          </p:cNvGraphicFramePr>
          <p:nvPr/>
        </p:nvGraphicFramePr>
        <p:xfrm>
          <a:off x="2147888" y="5678488"/>
          <a:ext cx="1611312" cy="735012"/>
        </p:xfrm>
        <a:graphic>
          <a:graphicData uri="http://schemas.openxmlformats.org/presentationml/2006/ole">
            <p:oleObj spid="_x0000_s9231" name="公式" r:id="rId16" imgW="847677" imgH="371520" progId="Equation.3">
              <p:embed/>
            </p:oleObj>
          </a:graphicData>
        </a:graphic>
      </p:graphicFrame>
      <p:graphicFrame>
        <p:nvGraphicFramePr>
          <p:cNvPr id="67622" name="Object 38"/>
          <p:cNvGraphicFramePr>
            <a:graphicFrameLocks noChangeAspect="1"/>
          </p:cNvGraphicFramePr>
          <p:nvPr/>
        </p:nvGraphicFramePr>
        <p:xfrm>
          <a:off x="3836988" y="5678488"/>
          <a:ext cx="1400175" cy="735012"/>
        </p:xfrm>
        <a:graphic>
          <a:graphicData uri="http://schemas.openxmlformats.org/presentationml/2006/ole">
            <p:oleObj spid="_x0000_s9232" name="公式" r:id="rId17" imgW="733411" imgH="371520" progId="Equation.3">
              <p:embed/>
            </p:oleObj>
          </a:graphicData>
        </a:graphic>
      </p:graphicFrame>
      <p:sp>
        <p:nvSpPr>
          <p:cNvPr id="67623" name="Rectangle 39"/>
          <p:cNvSpPr>
            <a:spLocks noChangeArrowheads="1"/>
          </p:cNvSpPr>
          <p:nvPr/>
        </p:nvSpPr>
        <p:spPr bwMode="auto">
          <a:xfrm>
            <a:off x="5430838" y="5875338"/>
            <a:ext cx="3028950" cy="457200"/>
          </a:xfrm>
          <a:prstGeom prst="rect">
            <a:avLst/>
          </a:prstGeom>
          <a:noFill/>
          <a:ln w="9525">
            <a:noFill/>
            <a:miter lim="800000"/>
            <a:headEnd/>
            <a:tailEnd/>
          </a:ln>
        </p:spPr>
        <p:txBody>
          <a:bodyPr>
            <a:spAutoFit/>
          </a:bodyPr>
          <a:lstStyle/>
          <a:p>
            <a:pPr algn="l"/>
            <a:r>
              <a:rPr kumimoji="1" lang="zh-CN" altLang="en-US" sz="2400" b="1">
                <a:solidFill>
                  <a:srgbClr val="FF6600"/>
                </a:solidFill>
                <a:latin typeface="Times New Roman" pitchFamily="18" charset="0"/>
                <a:ea typeface="楷体_GB2312" pitchFamily="49" charset="-122"/>
                <a:sym typeface="Symbol" pitchFamily="18" charset="2"/>
              </a:rPr>
              <a:t>方向由楞次定律确定</a:t>
            </a:r>
          </a:p>
        </p:txBody>
      </p:sp>
      <p:sp>
        <p:nvSpPr>
          <p:cNvPr id="67624" name="Arc 40"/>
          <p:cNvSpPr>
            <a:spLocks/>
          </p:cNvSpPr>
          <p:nvPr/>
        </p:nvSpPr>
        <p:spPr bwMode="auto">
          <a:xfrm>
            <a:off x="6302375" y="2439988"/>
            <a:ext cx="781050" cy="677862"/>
          </a:xfrm>
          <a:custGeom>
            <a:avLst/>
            <a:gdLst>
              <a:gd name="T0" fmla="*/ 2147483647 w 18747"/>
              <a:gd name="T1" fmla="*/ 2147483647 h 15641"/>
              <a:gd name="T2" fmla="*/ 2147483647 w 18747"/>
              <a:gd name="T3" fmla="*/ 2147483647 h 15641"/>
              <a:gd name="T4" fmla="*/ 0 w 18747"/>
              <a:gd name="T5" fmla="*/ 0 h 15641"/>
              <a:gd name="T6" fmla="*/ 0 60000 65536"/>
              <a:gd name="T7" fmla="*/ 0 60000 65536"/>
              <a:gd name="T8" fmla="*/ 0 60000 65536"/>
              <a:gd name="T9" fmla="*/ 0 w 18747"/>
              <a:gd name="T10" fmla="*/ 0 h 15641"/>
              <a:gd name="T11" fmla="*/ 18747 w 18747"/>
              <a:gd name="T12" fmla="*/ 15641 h 15641"/>
            </a:gdLst>
            <a:ahLst/>
            <a:cxnLst>
              <a:cxn ang="T6">
                <a:pos x="T0" y="T1"/>
              </a:cxn>
              <a:cxn ang="T7">
                <a:pos x="T2" y="T3"/>
              </a:cxn>
              <a:cxn ang="T8">
                <a:pos x="T4" y="T5"/>
              </a:cxn>
            </a:cxnLst>
            <a:rect l="T9" t="T10" r="T11" b="T12"/>
            <a:pathLst>
              <a:path w="18747" h="15641" fill="none" extrusionOk="0">
                <a:moveTo>
                  <a:pt x="18746" y="10729"/>
                </a:moveTo>
                <a:cubicBezTo>
                  <a:pt x="17707" y="12544"/>
                  <a:pt x="16411" y="14198"/>
                  <a:pt x="14896" y="15640"/>
                </a:cubicBezTo>
              </a:path>
              <a:path w="18747" h="15641" stroke="0" extrusionOk="0">
                <a:moveTo>
                  <a:pt x="18746" y="10729"/>
                </a:moveTo>
                <a:cubicBezTo>
                  <a:pt x="17707" y="12544"/>
                  <a:pt x="16411" y="14198"/>
                  <a:pt x="14896" y="15640"/>
                </a:cubicBezTo>
                <a:lnTo>
                  <a:pt x="0" y="0"/>
                </a:lnTo>
                <a:lnTo>
                  <a:pt x="18746" y="10729"/>
                </a:lnTo>
                <a:close/>
              </a:path>
            </a:pathLst>
          </a:custGeom>
          <a:noFill/>
          <a:ln w="28575">
            <a:solidFill>
              <a:srgbClr val="800080"/>
            </a:solidFill>
            <a:round/>
            <a:headEnd/>
            <a:tailEnd/>
          </a:ln>
        </p:spPr>
        <p:txBody>
          <a:bodyPr wrap="none" anchor="ctr"/>
          <a:lstStyle/>
          <a:p>
            <a:endParaRPr lang="zh-CN" altLang="en-US"/>
          </a:p>
        </p:txBody>
      </p:sp>
      <p:sp>
        <p:nvSpPr>
          <p:cNvPr id="67625" name="Arc 41"/>
          <p:cNvSpPr>
            <a:spLocks/>
          </p:cNvSpPr>
          <p:nvPr/>
        </p:nvSpPr>
        <p:spPr bwMode="auto">
          <a:xfrm rot="591254">
            <a:off x="6899275" y="3028950"/>
            <a:ext cx="1328738" cy="1073150"/>
          </a:xfrm>
          <a:custGeom>
            <a:avLst/>
            <a:gdLst>
              <a:gd name="T0" fmla="*/ 2147483647 w 21518"/>
              <a:gd name="T1" fmla="*/ 2147483647 h 14960"/>
              <a:gd name="T2" fmla="*/ 2147483647 w 21518"/>
              <a:gd name="T3" fmla="*/ 2147483647 h 14960"/>
              <a:gd name="T4" fmla="*/ 0 w 21518"/>
              <a:gd name="T5" fmla="*/ 0 h 14960"/>
              <a:gd name="T6" fmla="*/ 0 60000 65536"/>
              <a:gd name="T7" fmla="*/ 0 60000 65536"/>
              <a:gd name="T8" fmla="*/ 0 60000 65536"/>
              <a:gd name="T9" fmla="*/ 0 w 21518"/>
              <a:gd name="T10" fmla="*/ 0 h 14960"/>
              <a:gd name="T11" fmla="*/ 21518 w 21518"/>
              <a:gd name="T12" fmla="*/ 14960 h 14960"/>
            </a:gdLst>
            <a:ahLst/>
            <a:cxnLst>
              <a:cxn ang="T6">
                <a:pos x="T0" y="T1"/>
              </a:cxn>
              <a:cxn ang="T7">
                <a:pos x="T2" y="T3"/>
              </a:cxn>
              <a:cxn ang="T8">
                <a:pos x="T4" y="T5"/>
              </a:cxn>
            </a:cxnLst>
            <a:rect l="T9" t="T10" r="T11" b="T12"/>
            <a:pathLst>
              <a:path w="21518" h="14960" fill="none" extrusionOk="0">
                <a:moveTo>
                  <a:pt x="21518" y="1879"/>
                </a:moveTo>
                <a:cubicBezTo>
                  <a:pt x="21089" y="6789"/>
                  <a:pt x="18994" y="11405"/>
                  <a:pt x="15580" y="14960"/>
                </a:cubicBezTo>
              </a:path>
              <a:path w="21518" h="14960" stroke="0" extrusionOk="0">
                <a:moveTo>
                  <a:pt x="21518" y="1879"/>
                </a:moveTo>
                <a:cubicBezTo>
                  <a:pt x="21089" y="6789"/>
                  <a:pt x="18994" y="11405"/>
                  <a:pt x="15580" y="14960"/>
                </a:cubicBezTo>
                <a:lnTo>
                  <a:pt x="0" y="0"/>
                </a:lnTo>
                <a:lnTo>
                  <a:pt x="21518" y="1879"/>
                </a:lnTo>
                <a:close/>
              </a:path>
            </a:pathLst>
          </a:custGeom>
          <a:noFill/>
          <a:ln w="38100">
            <a:solidFill>
              <a:srgbClr val="FF0000"/>
            </a:solidFill>
            <a:round/>
            <a:headEnd type="triangle" w="med" len="med"/>
            <a:tailEnd/>
          </a:ln>
        </p:spPr>
        <p:txBody>
          <a:bodyPr wrap="none" anchor="ctr"/>
          <a:lstStyle/>
          <a:p>
            <a:endParaRPr lang="zh-CN" altLang="en-US"/>
          </a:p>
        </p:txBody>
      </p:sp>
      <p:sp>
        <p:nvSpPr>
          <p:cNvPr id="67626" name="Line 42"/>
          <p:cNvSpPr>
            <a:spLocks noChangeShapeType="1"/>
          </p:cNvSpPr>
          <p:nvPr/>
        </p:nvSpPr>
        <p:spPr bwMode="auto">
          <a:xfrm>
            <a:off x="2286000" y="593725"/>
            <a:ext cx="215900" cy="0"/>
          </a:xfrm>
          <a:prstGeom prst="line">
            <a:avLst/>
          </a:prstGeom>
          <a:noFill/>
          <a:ln w="9525">
            <a:solidFill>
              <a:srgbClr val="FF6600"/>
            </a:solidFill>
            <a:round/>
            <a:headEnd/>
            <a:tailEnd type="triangle" w="med" len="med"/>
          </a:ln>
        </p:spPr>
        <p:txBody>
          <a:bodyPr wrap="none">
            <a:spAutoFit/>
          </a:bodyPr>
          <a:lstStyle/>
          <a:p>
            <a:endParaRPr lang="zh-CN" altLang="en-US"/>
          </a:p>
        </p:txBody>
      </p:sp>
      <p:sp>
        <p:nvSpPr>
          <p:cNvPr id="67627" name="Line 43"/>
          <p:cNvSpPr>
            <a:spLocks noChangeShapeType="1"/>
          </p:cNvSpPr>
          <p:nvPr/>
        </p:nvSpPr>
        <p:spPr bwMode="auto">
          <a:xfrm>
            <a:off x="7686675" y="593725"/>
            <a:ext cx="215900" cy="0"/>
          </a:xfrm>
          <a:prstGeom prst="line">
            <a:avLst/>
          </a:prstGeom>
          <a:noFill/>
          <a:ln w="9525">
            <a:solidFill>
              <a:srgbClr val="FF6600"/>
            </a:solidFill>
            <a:round/>
            <a:headEnd/>
            <a:tailEnd type="triangle" w="med" len="med"/>
          </a:ln>
        </p:spPr>
        <p:txBody>
          <a:bodyPr wrap="none">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left)">
                                      <p:cBhvr>
                                        <p:cTn id="7" dur="500"/>
                                        <p:tgtEl>
                                          <p:spTgt spid="67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87"/>
                                        </p:tgtEl>
                                        <p:attrNameLst>
                                          <p:attrName>style.visibility</p:attrName>
                                        </p:attrNameLst>
                                      </p:cBhvr>
                                      <p:to>
                                        <p:strVal val="visible"/>
                                      </p:to>
                                    </p:set>
                                    <p:animEffect transition="in" filter="wipe(left)">
                                      <p:cBhvr>
                                        <p:cTn id="12" dur="500"/>
                                        <p:tgtEl>
                                          <p:spTgt spid="67587"/>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7626"/>
                                        </p:tgtEl>
                                        <p:attrNameLst>
                                          <p:attrName>style.visibility</p:attrName>
                                        </p:attrNameLst>
                                      </p:cBhvr>
                                      <p:to>
                                        <p:strVal val="visible"/>
                                      </p:to>
                                    </p:set>
                                    <p:animEffect transition="in" filter="wipe(left)">
                                      <p:cBhvr>
                                        <p:cTn id="15" dur="500"/>
                                        <p:tgtEl>
                                          <p:spTgt spid="6762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7627"/>
                                        </p:tgtEl>
                                        <p:attrNameLst>
                                          <p:attrName>style.visibility</p:attrName>
                                        </p:attrNameLst>
                                      </p:cBhvr>
                                      <p:to>
                                        <p:strVal val="visible"/>
                                      </p:to>
                                    </p:set>
                                    <p:animEffect transition="in" filter="wipe(left)">
                                      <p:cBhvr>
                                        <p:cTn id="18" dur="500"/>
                                        <p:tgtEl>
                                          <p:spTgt spid="67627"/>
                                        </p:tgtEl>
                                      </p:cBhvr>
                                    </p:animEffect>
                                  </p:childTnLst>
                                </p:cTn>
                              </p:par>
                            </p:childTnLst>
                          </p:cTn>
                        </p:par>
                        <p:par>
                          <p:cTn id="19" fill="hold" nodeType="afterGroup">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67588"/>
                                        </p:tgtEl>
                                        <p:attrNameLst>
                                          <p:attrName>style.visibility</p:attrName>
                                        </p:attrNameLst>
                                      </p:cBhvr>
                                      <p:to>
                                        <p:strVal val="visible"/>
                                      </p:to>
                                    </p:set>
                                    <p:animEffect transition="in" filter="wipe(left)">
                                      <p:cBhvr>
                                        <p:cTn id="22" dur="500"/>
                                        <p:tgtEl>
                                          <p:spTgt spid="675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67590"/>
                                        </p:tgtEl>
                                        <p:attrNameLst>
                                          <p:attrName>style.visibility</p:attrName>
                                        </p:attrNameLst>
                                      </p:cBhvr>
                                      <p:to>
                                        <p:strVal val="visible"/>
                                      </p:to>
                                    </p:set>
                                    <p:animEffect transition="in" filter="slide(fromLeft)">
                                      <p:cBhvr>
                                        <p:cTn id="27" dur="500"/>
                                        <p:tgtEl>
                                          <p:spTgt spid="675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67598"/>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67597"/>
                                        </p:tgtEl>
                                        <p:attrNameLst>
                                          <p:attrName>style.visibility</p:attrName>
                                        </p:attrNameLst>
                                      </p:cBhvr>
                                      <p:to>
                                        <p:strVal val="visible"/>
                                      </p:to>
                                    </p:set>
                                  </p:childTnLst>
                                </p:cTn>
                              </p:par>
                            </p:childTnLst>
                          </p:cTn>
                        </p:par>
                        <p:par>
                          <p:cTn id="36" fill="hold" nodeType="afterGroup">
                            <p:stCondLst>
                              <p:cond delay="500"/>
                            </p:stCondLst>
                            <p:childTnLst>
                              <p:par>
                                <p:cTn id="37" presetID="1" presetClass="entr" presetSubtype="0" fill="hold" nodeType="afterEffect">
                                  <p:stCondLst>
                                    <p:cond delay="0"/>
                                  </p:stCondLst>
                                  <p:childTnLst>
                                    <p:set>
                                      <p:cBhvr>
                                        <p:cTn id="38" dur="1" fill="hold">
                                          <p:stCondLst>
                                            <p:cond delay="499"/>
                                          </p:stCondLst>
                                        </p:cTn>
                                        <p:tgtEl>
                                          <p:spTgt spid="6760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9" presetClass="entr" presetSubtype="0"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dissolve">
                                      <p:cBhvr>
                                        <p:cTn id="43" dur="500"/>
                                        <p:tgtEl>
                                          <p:spTgt spid="2"/>
                                        </p:tgtEl>
                                      </p:cBhvr>
                                    </p:animEffect>
                                  </p:childTnLst>
                                </p:cTn>
                              </p:par>
                            </p:childTnLst>
                          </p:cTn>
                        </p:par>
                        <p:par>
                          <p:cTn id="44" fill="hold" nodeType="afterGroup">
                            <p:stCondLst>
                              <p:cond delay="500"/>
                            </p:stCondLst>
                            <p:childTnLst>
                              <p:par>
                                <p:cTn id="45" presetID="1" presetClass="entr" presetSubtype="0" fill="hold" nodeType="afterEffect">
                                  <p:stCondLst>
                                    <p:cond delay="0"/>
                                  </p:stCondLst>
                                  <p:childTnLst>
                                    <p:set>
                                      <p:cBhvr>
                                        <p:cTn id="46" dur="1" fill="hold">
                                          <p:stCondLst>
                                            <p:cond delay="499"/>
                                          </p:stCondLst>
                                        </p:cTn>
                                        <p:tgtEl>
                                          <p:spTgt spid="67595"/>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67589"/>
                                        </p:tgtEl>
                                        <p:attrNameLst>
                                          <p:attrName>style.visibility</p:attrName>
                                        </p:attrNameLst>
                                      </p:cBhvr>
                                      <p:to>
                                        <p:strVal val="visible"/>
                                      </p:to>
                                    </p:set>
                                    <p:anim calcmode="lin" valueType="num">
                                      <p:cBhvr>
                                        <p:cTn id="51" dur="500" fill="hold"/>
                                        <p:tgtEl>
                                          <p:spTgt spid="67589"/>
                                        </p:tgtEl>
                                        <p:attrNameLst>
                                          <p:attrName>ppt_w</p:attrName>
                                        </p:attrNameLst>
                                      </p:cBhvr>
                                      <p:tavLst>
                                        <p:tav tm="0">
                                          <p:val>
                                            <p:fltVal val="0"/>
                                          </p:val>
                                        </p:tav>
                                        <p:tav tm="100000">
                                          <p:val>
                                            <p:strVal val="#ppt_w"/>
                                          </p:val>
                                        </p:tav>
                                      </p:tavLst>
                                    </p:anim>
                                    <p:anim calcmode="lin" valueType="num">
                                      <p:cBhvr>
                                        <p:cTn id="52" dur="500" fill="hold"/>
                                        <p:tgtEl>
                                          <p:spTgt spid="67589"/>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67625"/>
                                        </p:tgtEl>
                                        <p:attrNameLst>
                                          <p:attrName>style.visibility</p:attrName>
                                        </p:attrNameLst>
                                      </p:cBhvr>
                                      <p:to>
                                        <p:strVal val="visible"/>
                                      </p:to>
                                    </p:set>
                                    <p:animEffect transition="in" filter="wipe(down)">
                                      <p:cBhvr>
                                        <p:cTn id="57" dur="500"/>
                                        <p:tgtEl>
                                          <p:spTgt spid="67625"/>
                                        </p:tgtEl>
                                      </p:cBhvr>
                                    </p:animEffect>
                                  </p:childTnLst>
                                </p:cTn>
                              </p:par>
                            </p:childTnLst>
                          </p:cTn>
                        </p:par>
                        <p:par>
                          <p:cTn id="58" fill="hold" nodeType="afterGroup">
                            <p:stCondLst>
                              <p:cond delay="500"/>
                            </p:stCondLst>
                            <p:childTnLst>
                              <p:par>
                                <p:cTn id="59" presetID="1" presetClass="entr" presetSubtype="0" fill="hold" grpId="0" nodeType="afterEffect">
                                  <p:stCondLst>
                                    <p:cond delay="0"/>
                                  </p:stCondLst>
                                  <p:childTnLst>
                                    <p:set>
                                      <p:cBhvr>
                                        <p:cTn id="60" dur="1" fill="hold">
                                          <p:stCondLst>
                                            <p:cond delay="499"/>
                                          </p:stCondLst>
                                        </p:cTn>
                                        <p:tgtEl>
                                          <p:spTgt spid="67596"/>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67599"/>
                                        </p:tgtEl>
                                        <p:attrNameLst>
                                          <p:attrName>style.visibility</p:attrName>
                                        </p:attrNameLst>
                                      </p:cBhvr>
                                      <p:to>
                                        <p:strVal val="visible"/>
                                      </p:to>
                                    </p:set>
                                    <p:animEffect transition="in" filter="wipe(left)">
                                      <p:cBhvr>
                                        <p:cTn id="65" dur="500"/>
                                        <p:tgtEl>
                                          <p:spTgt spid="67599"/>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67600"/>
                                        </p:tgtEl>
                                        <p:attrNameLst>
                                          <p:attrName>style.visibility</p:attrName>
                                        </p:attrNameLst>
                                      </p:cBhvr>
                                      <p:to>
                                        <p:strVal val="visible"/>
                                      </p:to>
                                    </p:set>
                                    <p:animEffect transition="in" filter="wipe(left)">
                                      <p:cBhvr>
                                        <p:cTn id="70" dur="500"/>
                                        <p:tgtEl>
                                          <p:spTgt spid="67600"/>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7601"/>
                                        </p:tgtEl>
                                        <p:attrNameLst>
                                          <p:attrName>style.visibility</p:attrName>
                                        </p:attrNameLst>
                                      </p:cBhvr>
                                      <p:to>
                                        <p:strVal val="visible"/>
                                      </p:to>
                                    </p:set>
                                    <p:animEffect transition="in" filter="wipe(left)">
                                      <p:cBhvr>
                                        <p:cTn id="75" dur="500"/>
                                        <p:tgtEl>
                                          <p:spTgt spid="6760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67606"/>
                                        </p:tgtEl>
                                        <p:attrNameLst>
                                          <p:attrName>style.visibility</p:attrName>
                                        </p:attrNameLst>
                                      </p:cBhvr>
                                      <p:to>
                                        <p:strVal val="visible"/>
                                      </p:to>
                                    </p:set>
                                    <p:animEffect transition="in" filter="wipe(left)">
                                      <p:cBhvr>
                                        <p:cTn id="80" dur="500"/>
                                        <p:tgtEl>
                                          <p:spTgt spid="67606"/>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2" presetClass="entr" presetSubtype="8" fill="hold" grpId="0" nodeType="clickEffect">
                                  <p:stCondLst>
                                    <p:cond delay="0"/>
                                  </p:stCondLst>
                                  <p:childTnLst>
                                    <p:set>
                                      <p:cBhvr>
                                        <p:cTn id="84" dur="1" fill="hold">
                                          <p:stCondLst>
                                            <p:cond delay="0"/>
                                          </p:stCondLst>
                                        </p:cTn>
                                        <p:tgtEl>
                                          <p:spTgt spid="67602"/>
                                        </p:tgtEl>
                                        <p:attrNameLst>
                                          <p:attrName>style.visibility</p:attrName>
                                        </p:attrNameLst>
                                      </p:cBhvr>
                                      <p:to>
                                        <p:strVal val="visible"/>
                                      </p:to>
                                    </p:set>
                                    <p:animEffect transition="in" filter="slide(fromLeft)">
                                      <p:cBhvr>
                                        <p:cTn id="85" dur="500"/>
                                        <p:tgtEl>
                                          <p:spTgt spid="67602"/>
                                        </p:tgtEl>
                                      </p:cBhvr>
                                    </p:animEffect>
                                  </p:childTnLst>
                                </p:cTn>
                              </p:par>
                            </p:childTnLst>
                          </p:cTn>
                        </p:par>
                        <p:par>
                          <p:cTn id="86" fill="hold" nodeType="afterGroup">
                            <p:stCondLst>
                              <p:cond delay="500"/>
                            </p:stCondLst>
                            <p:childTnLst>
                              <p:par>
                                <p:cTn id="87" presetID="1" presetClass="entr" presetSubtype="0" fill="hold" grpId="0" nodeType="afterEffect">
                                  <p:stCondLst>
                                    <p:cond delay="0"/>
                                  </p:stCondLst>
                                  <p:childTnLst>
                                    <p:set>
                                      <p:cBhvr>
                                        <p:cTn id="88" dur="1" fill="hold">
                                          <p:stCondLst>
                                            <p:cond delay="499"/>
                                          </p:stCondLst>
                                        </p:cTn>
                                        <p:tgtEl>
                                          <p:spTgt spid="67603"/>
                                        </p:tgtEl>
                                        <p:attrNameLst>
                                          <p:attrName>style.visibility</p:attrName>
                                        </p:attrNameLst>
                                      </p:cBhvr>
                                      <p:to>
                                        <p:strVal val="visible"/>
                                      </p:to>
                                    </p:set>
                                  </p:childTnLst>
                                </p:cTn>
                              </p:par>
                            </p:childTnLst>
                          </p:cTn>
                        </p:par>
                      </p:childTnLst>
                    </p:cTn>
                  </p:par>
                  <p:par>
                    <p:cTn id="89" fill="hold" nodeType="clickPar">
                      <p:stCondLst>
                        <p:cond delay="indefinite"/>
                      </p:stCondLst>
                      <p:childTnLst>
                        <p:par>
                          <p:cTn id="90" fill="hold" nodeType="withGroup">
                            <p:stCondLst>
                              <p:cond delay="0"/>
                            </p:stCondLst>
                            <p:childTnLst>
                              <p:par>
                                <p:cTn id="91" presetID="1" presetClass="entr" presetSubtype="0" fill="hold" nodeType="clickEffect">
                                  <p:stCondLst>
                                    <p:cond delay="0"/>
                                  </p:stCondLst>
                                  <p:childTnLst>
                                    <p:set>
                                      <p:cBhvr>
                                        <p:cTn id="92" dur="1" fill="hold">
                                          <p:stCondLst>
                                            <p:cond delay="499"/>
                                          </p:stCondLst>
                                        </p:cTn>
                                        <p:tgtEl>
                                          <p:spTgt spid="67605"/>
                                        </p:tgtEl>
                                        <p:attrNameLst>
                                          <p:attrName>style.visibility</p:attrName>
                                        </p:attrNameLst>
                                      </p:cBhvr>
                                      <p:to>
                                        <p:strVal val="visible"/>
                                      </p:to>
                                    </p:set>
                                  </p:childTnLst>
                                </p:cTn>
                              </p:par>
                            </p:childTnLst>
                          </p:cTn>
                        </p:par>
                      </p:childTnLst>
                    </p:cTn>
                  </p:par>
                  <p:par>
                    <p:cTn id="93" fill="hold" nodeType="clickPar">
                      <p:stCondLst>
                        <p:cond delay="indefinite"/>
                      </p:stCondLst>
                      <p:childTnLst>
                        <p:par>
                          <p:cTn id="94" fill="hold" nodeType="withGroup">
                            <p:stCondLst>
                              <p:cond delay="0"/>
                            </p:stCondLst>
                            <p:childTnLst>
                              <p:par>
                                <p:cTn id="95" presetID="12" presetClass="entr" presetSubtype="4" fill="hold" grpId="0" nodeType="clickEffect">
                                  <p:stCondLst>
                                    <p:cond delay="0"/>
                                  </p:stCondLst>
                                  <p:childTnLst>
                                    <p:set>
                                      <p:cBhvr>
                                        <p:cTn id="96" dur="1" fill="hold">
                                          <p:stCondLst>
                                            <p:cond delay="0"/>
                                          </p:stCondLst>
                                        </p:cTn>
                                        <p:tgtEl>
                                          <p:spTgt spid="67617"/>
                                        </p:tgtEl>
                                        <p:attrNameLst>
                                          <p:attrName>style.visibility</p:attrName>
                                        </p:attrNameLst>
                                      </p:cBhvr>
                                      <p:to>
                                        <p:strVal val="visible"/>
                                      </p:to>
                                    </p:set>
                                    <p:animEffect transition="in" filter="slide(fromBottom)">
                                      <p:cBhvr>
                                        <p:cTn id="97" dur="500"/>
                                        <p:tgtEl>
                                          <p:spTgt spid="67617"/>
                                        </p:tgtEl>
                                      </p:cBhvr>
                                    </p:animEffect>
                                  </p:childTnLst>
                                </p:cTn>
                              </p:par>
                            </p:childTnLst>
                          </p:cTn>
                        </p:par>
                        <p:par>
                          <p:cTn id="98" fill="hold" nodeType="afterGroup">
                            <p:stCondLst>
                              <p:cond delay="500"/>
                            </p:stCondLst>
                            <p:childTnLst>
                              <p:par>
                                <p:cTn id="99" presetID="1" presetClass="entr" presetSubtype="0" fill="hold" nodeType="afterEffect">
                                  <p:stCondLst>
                                    <p:cond delay="0"/>
                                  </p:stCondLst>
                                  <p:childTnLst>
                                    <p:set>
                                      <p:cBhvr>
                                        <p:cTn id="100" dur="1" fill="hold">
                                          <p:stCondLst>
                                            <p:cond delay="499"/>
                                          </p:stCondLst>
                                        </p:cTn>
                                        <p:tgtEl>
                                          <p:spTgt spid="67616"/>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67607"/>
                                        </p:tgtEl>
                                        <p:attrNameLst>
                                          <p:attrName>style.visibility</p:attrName>
                                        </p:attrNameLst>
                                      </p:cBhvr>
                                      <p:to>
                                        <p:strVal val="visible"/>
                                      </p:to>
                                    </p:set>
                                    <p:animEffect transition="in" filter="wipe(left)">
                                      <p:cBhvr>
                                        <p:cTn id="105" dur="500"/>
                                        <p:tgtEl>
                                          <p:spTgt spid="67607"/>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67608"/>
                                        </p:tgtEl>
                                        <p:attrNameLst>
                                          <p:attrName>style.visibility</p:attrName>
                                        </p:attrNameLst>
                                      </p:cBhvr>
                                      <p:to>
                                        <p:strVal val="visible"/>
                                      </p:to>
                                    </p:set>
                                    <p:animEffect transition="in" filter="wipe(left)">
                                      <p:cBhvr>
                                        <p:cTn id="110" dur="500"/>
                                        <p:tgtEl>
                                          <p:spTgt spid="67608"/>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67609"/>
                                        </p:tgtEl>
                                        <p:attrNameLst>
                                          <p:attrName>style.visibility</p:attrName>
                                        </p:attrNameLst>
                                      </p:cBhvr>
                                      <p:to>
                                        <p:strVal val="visible"/>
                                      </p:to>
                                    </p:set>
                                    <p:animEffect transition="in" filter="wipe(left)">
                                      <p:cBhvr>
                                        <p:cTn id="115" dur="500"/>
                                        <p:tgtEl>
                                          <p:spTgt spid="67609"/>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grpId="0" nodeType="clickEffect">
                                  <p:stCondLst>
                                    <p:cond delay="0"/>
                                  </p:stCondLst>
                                  <p:childTnLst>
                                    <p:set>
                                      <p:cBhvr>
                                        <p:cTn id="119" dur="1" fill="hold">
                                          <p:stCondLst>
                                            <p:cond delay="0"/>
                                          </p:stCondLst>
                                        </p:cTn>
                                        <p:tgtEl>
                                          <p:spTgt spid="67610"/>
                                        </p:tgtEl>
                                        <p:attrNameLst>
                                          <p:attrName>style.visibility</p:attrName>
                                        </p:attrNameLst>
                                      </p:cBhvr>
                                      <p:to>
                                        <p:strVal val="visible"/>
                                      </p:to>
                                    </p:set>
                                    <p:animEffect transition="in" filter="wipe(left)">
                                      <p:cBhvr>
                                        <p:cTn id="120" dur="500"/>
                                        <p:tgtEl>
                                          <p:spTgt spid="67610"/>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67611"/>
                                        </p:tgtEl>
                                        <p:attrNameLst>
                                          <p:attrName>style.visibility</p:attrName>
                                        </p:attrNameLst>
                                      </p:cBhvr>
                                      <p:to>
                                        <p:strVal val="visible"/>
                                      </p:to>
                                    </p:set>
                                    <p:animEffect transition="in" filter="wipe(left)">
                                      <p:cBhvr>
                                        <p:cTn id="125" dur="500"/>
                                        <p:tgtEl>
                                          <p:spTgt spid="6761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67612"/>
                                        </p:tgtEl>
                                        <p:attrNameLst>
                                          <p:attrName>style.visibility</p:attrName>
                                        </p:attrNameLst>
                                      </p:cBhvr>
                                      <p:to>
                                        <p:strVal val="visible"/>
                                      </p:to>
                                    </p:set>
                                    <p:animEffect transition="in" filter="wipe(left)">
                                      <p:cBhvr>
                                        <p:cTn id="130" dur="500"/>
                                        <p:tgtEl>
                                          <p:spTgt spid="67612"/>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9" presetClass="entr" presetSubtype="0" fill="hold" grpId="0" nodeType="clickEffect">
                                  <p:stCondLst>
                                    <p:cond delay="0"/>
                                  </p:stCondLst>
                                  <p:childTnLst>
                                    <p:set>
                                      <p:cBhvr>
                                        <p:cTn id="134" dur="1" fill="hold">
                                          <p:stCondLst>
                                            <p:cond delay="0"/>
                                          </p:stCondLst>
                                        </p:cTn>
                                        <p:tgtEl>
                                          <p:spTgt spid="67615"/>
                                        </p:tgtEl>
                                        <p:attrNameLst>
                                          <p:attrName>style.visibility</p:attrName>
                                        </p:attrNameLst>
                                      </p:cBhvr>
                                      <p:to>
                                        <p:strVal val="visible"/>
                                      </p:to>
                                    </p:set>
                                    <p:animEffect transition="in" filter="dissolve">
                                      <p:cBhvr>
                                        <p:cTn id="135" dur="500"/>
                                        <p:tgtEl>
                                          <p:spTgt spid="67615"/>
                                        </p:tgtEl>
                                      </p:cBhvr>
                                    </p:animEffect>
                                  </p:childTnLst>
                                </p:cTn>
                              </p:par>
                            </p:childTnLst>
                          </p:cTn>
                        </p:par>
                      </p:childTnLst>
                    </p:cTn>
                  </p:par>
                  <p:par>
                    <p:cTn id="136" fill="hold" nodeType="clickPar">
                      <p:stCondLst>
                        <p:cond delay="indefinite"/>
                      </p:stCondLst>
                      <p:childTnLst>
                        <p:par>
                          <p:cTn id="137" fill="hold" nodeType="withGroup">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67624"/>
                                        </p:tgtEl>
                                        <p:attrNameLst>
                                          <p:attrName>style.visibility</p:attrName>
                                        </p:attrNameLst>
                                      </p:cBhvr>
                                      <p:to>
                                        <p:strVal val="visible"/>
                                      </p:to>
                                    </p:set>
                                    <p:animEffect transition="in" filter="wipe(down)">
                                      <p:cBhvr>
                                        <p:cTn id="140" dur="500"/>
                                        <p:tgtEl>
                                          <p:spTgt spid="67624"/>
                                        </p:tgtEl>
                                      </p:cBhvr>
                                    </p:animEffect>
                                  </p:childTnLst>
                                </p:cTn>
                              </p:par>
                            </p:childTnLst>
                          </p:cTn>
                        </p:par>
                        <p:par>
                          <p:cTn id="141" fill="hold" nodeType="afterGroup">
                            <p:stCondLst>
                              <p:cond delay="500"/>
                            </p:stCondLst>
                            <p:childTnLst>
                              <p:par>
                                <p:cTn id="142" presetID="1" presetClass="entr" presetSubtype="0" fill="hold" nodeType="afterEffect">
                                  <p:stCondLst>
                                    <p:cond delay="0"/>
                                  </p:stCondLst>
                                  <p:childTnLst>
                                    <p:set>
                                      <p:cBhvr>
                                        <p:cTn id="143" dur="1" fill="hold">
                                          <p:stCondLst>
                                            <p:cond delay="499"/>
                                          </p:stCondLst>
                                        </p:cTn>
                                        <p:tgtEl>
                                          <p:spTgt spid="67618"/>
                                        </p:tgtEl>
                                        <p:attrNameLst>
                                          <p:attrName>style.visibility</p:attrName>
                                        </p:attrNameLst>
                                      </p:cBhvr>
                                      <p:to>
                                        <p:strVal val="visible"/>
                                      </p:to>
                                    </p:se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grpId="0" nodeType="clickEffect">
                                  <p:stCondLst>
                                    <p:cond delay="0"/>
                                  </p:stCondLst>
                                  <p:childTnLst>
                                    <p:set>
                                      <p:cBhvr>
                                        <p:cTn id="147" dur="1" fill="hold">
                                          <p:stCondLst>
                                            <p:cond delay="0"/>
                                          </p:stCondLst>
                                        </p:cTn>
                                        <p:tgtEl>
                                          <p:spTgt spid="67614"/>
                                        </p:tgtEl>
                                        <p:attrNameLst>
                                          <p:attrName>style.visibility</p:attrName>
                                        </p:attrNameLst>
                                      </p:cBhvr>
                                      <p:to>
                                        <p:strVal val="visible"/>
                                      </p:to>
                                    </p:set>
                                    <p:animEffect transition="in" filter="wipe(left)">
                                      <p:cBhvr>
                                        <p:cTn id="148" dur="500"/>
                                        <p:tgtEl>
                                          <p:spTgt spid="67614"/>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nodeType="clickEffect">
                                  <p:stCondLst>
                                    <p:cond delay="0"/>
                                  </p:stCondLst>
                                  <p:childTnLst>
                                    <p:set>
                                      <p:cBhvr>
                                        <p:cTn id="152" dur="1" fill="hold">
                                          <p:stCondLst>
                                            <p:cond delay="0"/>
                                          </p:stCondLst>
                                        </p:cTn>
                                        <p:tgtEl>
                                          <p:spTgt spid="67613"/>
                                        </p:tgtEl>
                                        <p:attrNameLst>
                                          <p:attrName>style.visibility</p:attrName>
                                        </p:attrNameLst>
                                      </p:cBhvr>
                                      <p:to>
                                        <p:strVal val="visible"/>
                                      </p:to>
                                    </p:set>
                                    <p:animEffect transition="in" filter="wipe(left)">
                                      <p:cBhvr>
                                        <p:cTn id="153" dur="500"/>
                                        <p:tgtEl>
                                          <p:spTgt spid="67613"/>
                                        </p:tgtEl>
                                      </p:cBhvr>
                                    </p:animEffect>
                                  </p:childTnLst>
                                </p:cTn>
                              </p:par>
                            </p:childTnLst>
                          </p:cTn>
                        </p:par>
                      </p:childTnLst>
                    </p:cTn>
                  </p:par>
                  <p:par>
                    <p:cTn id="154" fill="hold" nodeType="clickPar">
                      <p:stCondLst>
                        <p:cond delay="indefinite"/>
                      </p:stCondLst>
                      <p:childTnLst>
                        <p:par>
                          <p:cTn id="155" fill="hold" nodeType="withGroup">
                            <p:stCondLst>
                              <p:cond delay="0"/>
                            </p:stCondLst>
                            <p:childTnLst>
                              <p:par>
                                <p:cTn id="156" presetID="22" presetClass="entr" presetSubtype="8" fill="hold" nodeType="clickEffect">
                                  <p:stCondLst>
                                    <p:cond delay="0"/>
                                  </p:stCondLst>
                                  <p:childTnLst>
                                    <p:set>
                                      <p:cBhvr>
                                        <p:cTn id="157" dur="1" fill="hold">
                                          <p:stCondLst>
                                            <p:cond delay="0"/>
                                          </p:stCondLst>
                                        </p:cTn>
                                        <p:tgtEl>
                                          <p:spTgt spid="67619"/>
                                        </p:tgtEl>
                                        <p:attrNameLst>
                                          <p:attrName>style.visibility</p:attrName>
                                        </p:attrNameLst>
                                      </p:cBhvr>
                                      <p:to>
                                        <p:strVal val="visible"/>
                                      </p:to>
                                    </p:set>
                                    <p:animEffect transition="in" filter="wipe(left)">
                                      <p:cBhvr>
                                        <p:cTn id="158" dur="500"/>
                                        <p:tgtEl>
                                          <p:spTgt spid="67619"/>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22" presetClass="entr" presetSubtype="8" fill="hold" nodeType="clickEffect">
                                  <p:stCondLst>
                                    <p:cond delay="0"/>
                                  </p:stCondLst>
                                  <p:childTnLst>
                                    <p:set>
                                      <p:cBhvr>
                                        <p:cTn id="162" dur="1" fill="hold">
                                          <p:stCondLst>
                                            <p:cond delay="0"/>
                                          </p:stCondLst>
                                        </p:cTn>
                                        <p:tgtEl>
                                          <p:spTgt spid="67620"/>
                                        </p:tgtEl>
                                        <p:attrNameLst>
                                          <p:attrName>style.visibility</p:attrName>
                                        </p:attrNameLst>
                                      </p:cBhvr>
                                      <p:to>
                                        <p:strVal val="visible"/>
                                      </p:to>
                                    </p:set>
                                    <p:animEffect transition="in" filter="wipe(left)">
                                      <p:cBhvr>
                                        <p:cTn id="163" dur="500"/>
                                        <p:tgtEl>
                                          <p:spTgt spid="67620"/>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2" presetClass="entr" presetSubtype="8" fill="hold" nodeType="clickEffect">
                                  <p:stCondLst>
                                    <p:cond delay="0"/>
                                  </p:stCondLst>
                                  <p:childTnLst>
                                    <p:set>
                                      <p:cBhvr>
                                        <p:cTn id="167" dur="1" fill="hold">
                                          <p:stCondLst>
                                            <p:cond delay="0"/>
                                          </p:stCondLst>
                                        </p:cTn>
                                        <p:tgtEl>
                                          <p:spTgt spid="67621"/>
                                        </p:tgtEl>
                                        <p:attrNameLst>
                                          <p:attrName>style.visibility</p:attrName>
                                        </p:attrNameLst>
                                      </p:cBhvr>
                                      <p:to>
                                        <p:strVal val="visible"/>
                                      </p:to>
                                    </p:set>
                                    <p:animEffect transition="in" filter="wipe(left)">
                                      <p:cBhvr>
                                        <p:cTn id="168" dur="500"/>
                                        <p:tgtEl>
                                          <p:spTgt spid="67621"/>
                                        </p:tgtEl>
                                      </p:cBhvr>
                                    </p:animEffec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2" presetClass="entr" presetSubtype="8" fill="hold" nodeType="clickEffect">
                                  <p:stCondLst>
                                    <p:cond delay="0"/>
                                  </p:stCondLst>
                                  <p:childTnLst>
                                    <p:set>
                                      <p:cBhvr>
                                        <p:cTn id="172" dur="1" fill="hold">
                                          <p:stCondLst>
                                            <p:cond delay="0"/>
                                          </p:stCondLst>
                                        </p:cTn>
                                        <p:tgtEl>
                                          <p:spTgt spid="67622"/>
                                        </p:tgtEl>
                                        <p:attrNameLst>
                                          <p:attrName>style.visibility</p:attrName>
                                        </p:attrNameLst>
                                      </p:cBhvr>
                                      <p:to>
                                        <p:strVal val="visible"/>
                                      </p:to>
                                    </p:set>
                                    <p:animEffect transition="in" filter="wipe(left)">
                                      <p:cBhvr>
                                        <p:cTn id="173" dur="500"/>
                                        <p:tgtEl>
                                          <p:spTgt spid="67622"/>
                                        </p:tgtEl>
                                      </p:cBhvr>
                                    </p:animEffec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22" presetClass="entr" presetSubtype="8" fill="hold" grpId="0" nodeType="clickEffect">
                                  <p:stCondLst>
                                    <p:cond delay="0"/>
                                  </p:stCondLst>
                                  <p:childTnLst>
                                    <p:set>
                                      <p:cBhvr>
                                        <p:cTn id="177" dur="1" fill="hold">
                                          <p:stCondLst>
                                            <p:cond delay="0"/>
                                          </p:stCondLst>
                                        </p:cTn>
                                        <p:tgtEl>
                                          <p:spTgt spid="67623"/>
                                        </p:tgtEl>
                                        <p:attrNameLst>
                                          <p:attrName>style.visibility</p:attrName>
                                        </p:attrNameLst>
                                      </p:cBhvr>
                                      <p:to>
                                        <p:strVal val="visible"/>
                                      </p:to>
                                    </p:set>
                                    <p:animEffect transition="in" filter="wipe(left)">
                                      <p:cBhvr>
                                        <p:cTn id="178" dur="500"/>
                                        <p:tgtEl>
                                          <p:spTgt spid="676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utoUpdateAnimBg="0"/>
      <p:bldP spid="67587" grpId="0" autoUpdateAnimBg="0"/>
      <p:bldP spid="67588" grpId="0" autoUpdateAnimBg="0"/>
      <p:bldP spid="67589" grpId="0" animBg="1"/>
      <p:bldP spid="67590" grpId="0" animBg="1"/>
      <p:bldP spid="67596" grpId="0" autoUpdateAnimBg="0"/>
      <p:bldP spid="67597" grpId="0" autoUpdateAnimBg="0"/>
      <p:bldP spid="67598" grpId="0" autoUpdateAnimBg="0"/>
      <p:bldP spid="67599" grpId="0" autoUpdateAnimBg="0"/>
      <p:bldP spid="67600" grpId="0" autoUpdateAnimBg="0"/>
      <p:bldP spid="67601" grpId="0" autoUpdateAnimBg="0"/>
      <p:bldP spid="67602" grpId="0" animBg="1"/>
      <p:bldP spid="67603" grpId="0" autoUpdateAnimBg="0"/>
      <p:bldP spid="67610" grpId="0" autoUpdateAnimBg="0"/>
      <p:bldP spid="67612" grpId="0" autoUpdateAnimBg="0"/>
      <p:bldP spid="67614" grpId="0" autoUpdateAnimBg="0"/>
      <p:bldP spid="67615" grpId="0" animBg="1"/>
      <p:bldP spid="67617" grpId="0" animBg="1"/>
      <p:bldP spid="67623" grpId="0" autoUpdateAnimBg="0"/>
      <p:bldP spid="67624" grpId="0" animBg="1"/>
      <p:bldP spid="67625" grpId="0" animBg="1"/>
      <p:bldP spid="67626" grpId="0" animBg="1"/>
      <p:bldP spid="676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4"/>
          <p:cNvSpPr txBox="1">
            <a:spLocks noChangeArrowheads="1"/>
          </p:cNvSpPr>
          <p:nvPr/>
        </p:nvSpPr>
        <p:spPr bwMode="auto">
          <a:xfrm>
            <a:off x="179388" y="450850"/>
            <a:ext cx="4537075" cy="5302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00FF"/>
                </a:solidFill>
                <a:latin typeface="Times New Roman" pitchFamily="18" charset="0"/>
              </a:rPr>
              <a:t>11.2.2  </a:t>
            </a:r>
            <a:r>
              <a:rPr kumimoji="1" lang="zh-CN" altLang="en-US" sz="2400" b="1">
                <a:solidFill>
                  <a:srgbClr val="0000FF"/>
                </a:solidFill>
                <a:latin typeface="Times New Roman" pitchFamily="18" charset="0"/>
              </a:rPr>
              <a:t>感生电动势   有旋电场</a:t>
            </a:r>
          </a:p>
        </p:txBody>
      </p:sp>
      <p:sp>
        <p:nvSpPr>
          <p:cNvPr id="15365" name="Text Box 5"/>
          <p:cNvSpPr txBox="1">
            <a:spLocks noChangeArrowheads="1"/>
          </p:cNvSpPr>
          <p:nvPr/>
        </p:nvSpPr>
        <p:spPr bwMode="auto">
          <a:xfrm>
            <a:off x="179388" y="1027113"/>
            <a:ext cx="8135937" cy="530225"/>
          </a:xfrm>
          <a:prstGeom prst="rect">
            <a:avLst/>
          </a:prstGeom>
          <a:noFill/>
          <a:ln w="9525">
            <a:noFill/>
            <a:miter lim="800000"/>
            <a:headEnd/>
            <a:tailEnd/>
          </a:ln>
        </p:spPr>
        <p:txBody>
          <a:bodyPr>
            <a:spAutoFit/>
          </a:bodyPr>
          <a:lstStyle/>
          <a:p>
            <a:pPr algn="l">
              <a:lnSpc>
                <a:spcPct val="120000"/>
              </a:lnSpc>
              <a:buClr>
                <a:srgbClr val="FF0000"/>
              </a:buClr>
              <a:buFont typeface="Wingdings" pitchFamily="2" charset="2"/>
              <a:buNone/>
            </a:pPr>
            <a:r>
              <a:rPr kumimoji="1" lang="zh-CN" altLang="en-US" sz="2400" b="1">
                <a:solidFill>
                  <a:srgbClr val="FF0000"/>
                </a:solidFill>
                <a:latin typeface="Times New Roman" pitchFamily="18" charset="0"/>
              </a:rPr>
              <a:t>感生电动势</a:t>
            </a:r>
            <a:r>
              <a:rPr kumimoji="1" lang="zh-CN" altLang="en-US" sz="2400" b="1">
                <a:solidFill>
                  <a:srgbClr val="FF3300"/>
                </a:solidFill>
                <a:latin typeface="Times New Roman" pitchFamily="18" charset="0"/>
              </a:rPr>
              <a:t>：</a:t>
            </a:r>
            <a:r>
              <a:rPr kumimoji="1" lang="zh-CN" altLang="en-US" sz="2400" b="1">
                <a:latin typeface="Times New Roman" pitchFamily="18" charset="0"/>
                <a:ea typeface="楷体_GB2312" pitchFamily="49" charset="-122"/>
              </a:rPr>
              <a:t>由于</a:t>
            </a:r>
            <a:r>
              <a:rPr kumimoji="1" lang="zh-CN" altLang="en-US" sz="2400" b="1">
                <a:solidFill>
                  <a:srgbClr val="FF3300"/>
                </a:solidFill>
                <a:latin typeface="Times New Roman" pitchFamily="18" charset="0"/>
                <a:ea typeface="楷体_GB2312" pitchFamily="49" charset="-122"/>
              </a:rPr>
              <a:t>磁场变化</a:t>
            </a:r>
            <a:r>
              <a:rPr kumimoji="1" lang="zh-CN" altLang="en-US" sz="2400" b="1">
                <a:latin typeface="Times New Roman" pitchFamily="18" charset="0"/>
                <a:ea typeface="楷体_GB2312" pitchFamily="49" charset="-122"/>
              </a:rPr>
              <a:t>在</a:t>
            </a:r>
            <a:r>
              <a:rPr kumimoji="1" lang="zh-CN" altLang="en-US" sz="2400" b="1">
                <a:solidFill>
                  <a:srgbClr val="008000"/>
                </a:solidFill>
                <a:latin typeface="Times New Roman" pitchFamily="18" charset="0"/>
                <a:ea typeface="楷体_GB2312" pitchFamily="49" charset="-122"/>
              </a:rPr>
              <a:t>导体回路</a:t>
            </a:r>
            <a:r>
              <a:rPr kumimoji="1" lang="zh-CN" altLang="en-US" sz="2400" b="1">
                <a:latin typeface="Times New Roman" pitchFamily="18" charset="0"/>
                <a:ea typeface="楷体_GB2312" pitchFamily="49" charset="-122"/>
              </a:rPr>
              <a:t>中产生的电动势</a:t>
            </a:r>
          </a:p>
        </p:txBody>
      </p:sp>
      <p:sp>
        <p:nvSpPr>
          <p:cNvPr id="15366" name="Text Box 6"/>
          <p:cNvSpPr txBox="1">
            <a:spLocks noChangeArrowheads="1"/>
          </p:cNvSpPr>
          <p:nvPr/>
        </p:nvSpPr>
        <p:spPr bwMode="auto">
          <a:xfrm>
            <a:off x="712788" y="1781175"/>
            <a:ext cx="3049587"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008000"/>
                </a:solidFill>
                <a:latin typeface="Times New Roman" pitchFamily="18" charset="0"/>
                <a:ea typeface="楷体_GB2312" pitchFamily="49" charset="-122"/>
              </a:rPr>
              <a:t>谁提供非静电力？</a:t>
            </a:r>
          </a:p>
        </p:txBody>
      </p:sp>
      <p:grpSp>
        <p:nvGrpSpPr>
          <p:cNvPr id="2" name="Group 7"/>
          <p:cNvGrpSpPr>
            <a:grpSpLocks/>
          </p:cNvGrpSpPr>
          <p:nvPr/>
        </p:nvGrpSpPr>
        <p:grpSpPr bwMode="auto">
          <a:xfrm>
            <a:off x="3492500" y="1520825"/>
            <a:ext cx="2209800" cy="1187450"/>
            <a:chOff x="3264" y="960"/>
            <a:chExt cx="1392" cy="768"/>
          </a:xfrm>
        </p:grpSpPr>
        <p:sp>
          <p:nvSpPr>
            <p:cNvPr id="10263" name="AutoShape 8"/>
            <p:cNvSpPr>
              <a:spLocks noChangeArrowheads="1"/>
            </p:cNvSpPr>
            <p:nvPr/>
          </p:nvSpPr>
          <p:spPr bwMode="auto">
            <a:xfrm>
              <a:off x="3264" y="960"/>
              <a:ext cx="1392" cy="768"/>
            </a:xfrm>
            <a:prstGeom prst="irregularSeal1">
              <a:avLst/>
            </a:prstGeom>
            <a:gradFill rotWithShape="0">
              <a:gsLst>
                <a:gs pos="0">
                  <a:srgbClr val="FF66CC"/>
                </a:gs>
                <a:gs pos="50000">
                  <a:srgbClr val="66FFCC"/>
                </a:gs>
                <a:gs pos="100000">
                  <a:srgbClr val="FF66CC"/>
                </a:gs>
              </a:gsLst>
              <a:lin ang="5400000" scaled="1"/>
            </a:gradFill>
            <a:ln w="9525">
              <a:solidFill>
                <a:srgbClr val="00FF99"/>
              </a:solidFill>
              <a:miter lim="800000"/>
              <a:headEnd/>
              <a:tailEnd/>
            </a:ln>
          </p:spPr>
          <p:txBody>
            <a:bodyPr wrap="none" anchor="ctr"/>
            <a:lstStyle/>
            <a:p>
              <a:endParaRPr lang="zh-CN" altLang="en-US"/>
            </a:p>
          </p:txBody>
        </p:sp>
        <p:sp>
          <p:nvSpPr>
            <p:cNvPr id="10264" name="Text Box 9"/>
            <p:cNvSpPr txBox="1">
              <a:spLocks noChangeArrowheads="1"/>
            </p:cNvSpPr>
            <p:nvPr/>
          </p:nvSpPr>
          <p:spPr bwMode="auto">
            <a:xfrm>
              <a:off x="3504" y="1200"/>
              <a:ext cx="892" cy="296"/>
            </a:xfrm>
            <a:prstGeom prst="rect">
              <a:avLst/>
            </a:prstGeom>
            <a:noFill/>
            <a:ln w="9525">
              <a:noFill/>
              <a:miter lim="800000"/>
              <a:headEnd/>
              <a:tailEnd/>
            </a:ln>
          </p:spPr>
          <p:txBody>
            <a:bodyPr>
              <a:spAutoFit/>
            </a:bodyPr>
            <a:lstStyle/>
            <a:p>
              <a:pPr algn="l"/>
              <a:r>
                <a:rPr kumimoji="1" lang="zh-CN" altLang="en-US" sz="2400" b="1">
                  <a:solidFill>
                    <a:srgbClr val="FF0000"/>
                  </a:solidFill>
                  <a:latin typeface="Times New Roman" pitchFamily="18" charset="0"/>
                  <a:ea typeface="楷体_GB2312" pitchFamily="49" charset="-122"/>
                </a:rPr>
                <a:t>有旋电场</a:t>
              </a:r>
            </a:p>
          </p:txBody>
        </p:sp>
      </p:grpSp>
      <p:sp>
        <p:nvSpPr>
          <p:cNvPr id="15370" name="Text Box 10"/>
          <p:cNvSpPr txBox="1">
            <a:spLocks noChangeArrowheads="1"/>
          </p:cNvSpPr>
          <p:nvPr/>
        </p:nvSpPr>
        <p:spPr bwMode="auto">
          <a:xfrm>
            <a:off x="179388" y="2609850"/>
            <a:ext cx="5200650" cy="1422400"/>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660066"/>
                </a:solidFill>
                <a:latin typeface="Times New Roman" pitchFamily="18" charset="0"/>
                <a:ea typeface="楷体_GB2312" pitchFamily="49" charset="-122"/>
              </a:rPr>
              <a:t>麦克斯韦提出</a:t>
            </a:r>
            <a:r>
              <a:rPr kumimoji="1" lang="en-US" altLang="zh-CN" sz="2400" b="1">
                <a:solidFill>
                  <a:srgbClr val="660066"/>
                </a:solidFill>
                <a:latin typeface="Times New Roman" pitchFamily="18" charset="0"/>
                <a:ea typeface="楷体_GB2312" pitchFamily="49" charset="-122"/>
              </a:rPr>
              <a:t>:</a:t>
            </a: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不论有无导体或导体回路，变化的磁场都将在其周围空间产生具有</a:t>
            </a:r>
            <a:r>
              <a:rPr kumimoji="1" lang="zh-CN" altLang="en-US" sz="2400" b="1">
                <a:solidFill>
                  <a:srgbClr val="FF3300"/>
                </a:solidFill>
                <a:latin typeface="Times New Roman" pitchFamily="18" charset="0"/>
                <a:ea typeface="楷体_GB2312" pitchFamily="49" charset="-122"/>
              </a:rPr>
              <a:t>闭合电场线</a:t>
            </a:r>
            <a:r>
              <a:rPr kumimoji="1" lang="zh-CN" altLang="en-US" sz="2400" b="1">
                <a:latin typeface="Times New Roman" pitchFamily="18" charset="0"/>
                <a:ea typeface="楷体_GB2312" pitchFamily="49" charset="-122"/>
              </a:rPr>
              <a:t>的电场</a:t>
            </a:r>
          </a:p>
        </p:txBody>
      </p:sp>
      <p:sp>
        <p:nvSpPr>
          <p:cNvPr id="15371" name="Rectangle 11"/>
          <p:cNvSpPr>
            <a:spLocks noChangeArrowheads="1"/>
          </p:cNvSpPr>
          <p:nvPr/>
        </p:nvSpPr>
        <p:spPr bwMode="auto">
          <a:xfrm>
            <a:off x="409575" y="4779963"/>
            <a:ext cx="2038350" cy="979487"/>
          </a:xfrm>
          <a:prstGeom prst="rect">
            <a:avLst/>
          </a:prstGeom>
          <a:noFill/>
          <a:ln w="9525">
            <a:noFill/>
            <a:miter lim="800000"/>
            <a:headEnd/>
            <a:tailEnd/>
          </a:ln>
        </p:spPr>
        <p:txBody>
          <a:bodyPr>
            <a:spAutoFit/>
          </a:bodyPr>
          <a:lstStyle/>
          <a:p>
            <a:pPr>
              <a:lnSpc>
                <a:spcPct val="120000"/>
              </a:lnSpc>
            </a:pPr>
            <a:r>
              <a:rPr kumimoji="1" lang="zh-CN" altLang="en-US" sz="2400" b="1">
                <a:solidFill>
                  <a:srgbClr val="990099"/>
                </a:solidFill>
                <a:latin typeface="Times New Roman" pitchFamily="18" charset="0"/>
                <a:ea typeface="楷体_GB2312" pitchFamily="49" charset="-122"/>
              </a:rPr>
              <a:t>有旋电场</a:t>
            </a:r>
            <a:r>
              <a:rPr kumimoji="1" lang="zh-CN" altLang="en-US" sz="2400" b="1">
                <a:latin typeface="Times New Roman" pitchFamily="18" charset="0"/>
                <a:ea typeface="楷体_GB2312" pitchFamily="49" charset="-122"/>
              </a:rPr>
              <a:t>与</a:t>
            </a:r>
            <a:r>
              <a:rPr kumimoji="1" lang="zh-CN" altLang="en-US" sz="2400" b="1">
                <a:solidFill>
                  <a:srgbClr val="990099"/>
                </a:solidFill>
                <a:latin typeface="Times New Roman" pitchFamily="18" charset="0"/>
                <a:ea typeface="楷体_GB2312" pitchFamily="49" charset="-122"/>
              </a:rPr>
              <a:t>静电场</a:t>
            </a:r>
            <a:r>
              <a:rPr kumimoji="1" lang="zh-CN" altLang="en-US" sz="2400" b="1">
                <a:latin typeface="楷体_GB2312" pitchFamily="49" charset="-122"/>
                <a:ea typeface="楷体_GB2312" pitchFamily="49" charset="-122"/>
              </a:rPr>
              <a:t>的比较</a:t>
            </a:r>
            <a:endParaRPr kumimoji="1" lang="zh-CN" altLang="en-US" sz="2400" b="1">
              <a:latin typeface="Times New Roman" pitchFamily="18" charset="0"/>
              <a:ea typeface="楷体_GB2312" pitchFamily="49" charset="-122"/>
            </a:endParaRPr>
          </a:p>
        </p:txBody>
      </p:sp>
      <p:sp>
        <p:nvSpPr>
          <p:cNvPr id="15372" name="AutoShape 12"/>
          <p:cNvSpPr>
            <a:spLocks/>
          </p:cNvSpPr>
          <p:nvPr/>
        </p:nvSpPr>
        <p:spPr bwMode="auto">
          <a:xfrm>
            <a:off x="2506663" y="4679950"/>
            <a:ext cx="215900" cy="936625"/>
          </a:xfrm>
          <a:prstGeom prst="leftBrace">
            <a:avLst>
              <a:gd name="adj1" fmla="val 36152"/>
              <a:gd name="adj2" fmla="val 50000"/>
            </a:avLst>
          </a:prstGeom>
          <a:noFill/>
          <a:ln w="38100">
            <a:solidFill>
              <a:srgbClr val="FF0000"/>
            </a:solidFill>
            <a:round/>
            <a:headEnd/>
            <a:tailEnd/>
          </a:ln>
        </p:spPr>
        <p:txBody>
          <a:bodyPr wrap="none" anchor="ctr"/>
          <a:lstStyle/>
          <a:p>
            <a:endParaRPr kumimoji="1" lang="zh-CN" altLang="zh-CN" sz="2200">
              <a:latin typeface="Times New Roman" pitchFamily="18" charset="0"/>
              <a:ea typeface="楷体_GB2312" pitchFamily="49" charset="-122"/>
            </a:endParaRPr>
          </a:p>
        </p:txBody>
      </p:sp>
      <p:sp>
        <p:nvSpPr>
          <p:cNvPr id="15373" name="Text Box 13"/>
          <p:cNvSpPr txBox="1">
            <a:spLocks noChangeArrowheads="1"/>
          </p:cNvSpPr>
          <p:nvPr/>
        </p:nvSpPr>
        <p:spPr bwMode="auto">
          <a:xfrm>
            <a:off x="2722563" y="4346575"/>
            <a:ext cx="1368425" cy="53657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相同</a:t>
            </a:r>
          </a:p>
        </p:txBody>
      </p:sp>
      <p:sp>
        <p:nvSpPr>
          <p:cNvPr id="15374" name="Text Box 14"/>
          <p:cNvSpPr txBox="1">
            <a:spLocks noChangeArrowheads="1"/>
          </p:cNvSpPr>
          <p:nvPr/>
        </p:nvSpPr>
        <p:spPr bwMode="auto">
          <a:xfrm>
            <a:off x="3770313" y="4032250"/>
            <a:ext cx="1447800" cy="53657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客观存在</a:t>
            </a:r>
          </a:p>
        </p:txBody>
      </p:sp>
      <p:sp>
        <p:nvSpPr>
          <p:cNvPr id="15375" name="Text Box 15"/>
          <p:cNvSpPr txBox="1">
            <a:spLocks noChangeArrowheads="1"/>
          </p:cNvSpPr>
          <p:nvPr/>
        </p:nvSpPr>
        <p:spPr bwMode="auto">
          <a:xfrm>
            <a:off x="3770313" y="4583113"/>
            <a:ext cx="4762500" cy="53657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对处于其中的电荷施加力的作用</a:t>
            </a:r>
          </a:p>
        </p:txBody>
      </p:sp>
      <p:sp>
        <p:nvSpPr>
          <p:cNvPr id="15376" name="Text Box 16"/>
          <p:cNvSpPr txBox="1">
            <a:spLocks noChangeArrowheads="1"/>
          </p:cNvSpPr>
          <p:nvPr/>
        </p:nvSpPr>
        <p:spPr bwMode="auto">
          <a:xfrm>
            <a:off x="2728913" y="5386388"/>
            <a:ext cx="1730375" cy="53657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不同</a:t>
            </a:r>
          </a:p>
        </p:txBody>
      </p:sp>
      <p:sp>
        <p:nvSpPr>
          <p:cNvPr id="15377" name="Text Box 17"/>
          <p:cNvSpPr txBox="1">
            <a:spLocks noChangeArrowheads="1"/>
          </p:cNvSpPr>
          <p:nvPr/>
        </p:nvSpPr>
        <p:spPr bwMode="auto">
          <a:xfrm>
            <a:off x="3794125" y="5562600"/>
            <a:ext cx="3997325" cy="53657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有旋电场线为</a:t>
            </a:r>
            <a:r>
              <a:rPr kumimoji="1" lang="zh-CN" altLang="en-US" sz="2400" b="1">
                <a:solidFill>
                  <a:srgbClr val="FF0000"/>
                </a:solidFill>
                <a:latin typeface="Times New Roman" pitchFamily="18" charset="0"/>
                <a:ea typeface="楷体_GB2312" pitchFamily="49" charset="-122"/>
              </a:rPr>
              <a:t>闭合曲线</a:t>
            </a:r>
            <a:r>
              <a:rPr kumimoji="1" lang="zh-CN" altLang="en-US" sz="2400" b="1">
                <a:latin typeface="Times New Roman" pitchFamily="18" charset="0"/>
                <a:ea typeface="楷体_GB2312" pitchFamily="49" charset="-122"/>
              </a:rPr>
              <a:t>，</a:t>
            </a:r>
          </a:p>
        </p:txBody>
      </p:sp>
      <p:graphicFrame>
        <p:nvGraphicFramePr>
          <p:cNvPr id="15378" name="Object 18"/>
          <p:cNvGraphicFramePr>
            <a:graphicFrameLocks noChangeAspect="1"/>
          </p:cNvGraphicFramePr>
          <p:nvPr/>
        </p:nvGraphicFramePr>
        <p:xfrm>
          <a:off x="6442075" y="6021388"/>
          <a:ext cx="1522413" cy="547687"/>
        </p:xfrm>
        <a:graphic>
          <a:graphicData uri="http://schemas.openxmlformats.org/presentationml/2006/ole">
            <p:oleObj spid="_x0000_s10242" name="公式" r:id="rId3" imgW="809588" imgH="266760" progId="Equation.3">
              <p:embed/>
            </p:oleObj>
          </a:graphicData>
        </a:graphic>
      </p:graphicFrame>
      <p:graphicFrame>
        <p:nvGraphicFramePr>
          <p:cNvPr id="15379" name="Object 19"/>
          <p:cNvGraphicFramePr>
            <a:graphicFrameLocks noChangeAspect="1"/>
          </p:cNvGraphicFramePr>
          <p:nvPr/>
        </p:nvGraphicFramePr>
        <p:xfrm>
          <a:off x="4427538" y="6054725"/>
          <a:ext cx="1533525" cy="547688"/>
        </p:xfrm>
        <a:graphic>
          <a:graphicData uri="http://schemas.openxmlformats.org/presentationml/2006/ole">
            <p:oleObj spid="_x0000_s10243" name="公式" r:id="rId4" imgW="828768" imgH="266760" progId="Equation.3">
              <p:embed/>
            </p:oleObj>
          </a:graphicData>
        </a:graphic>
      </p:graphicFrame>
      <p:sp>
        <p:nvSpPr>
          <p:cNvPr id="15380" name="Text Box 20"/>
          <p:cNvSpPr txBox="1">
            <a:spLocks noChangeArrowheads="1"/>
          </p:cNvSpPr>
          <p:nvPr/>
        </p:nvSpPr>
        <p:spPr bwMode="auto">
          <a:xfrm>
            <a:off x="6407150" y="2730500"/>
            <a:ext cx="1908175" cy="895350"/>
          </a:xfrm>
          <a:prstGeom prst="rect">
            <a:avLst/>
          </a:prstGeom>
          <a:noFill/>
          <a:ln w="9525">
            <a:noFill/>
            <a:miter lim="800000"/>
            <a:headEnd/>
            <a:tailEnd/>
          </a:ln>
        </p:spPr>
        <p:txBody>
          <a:bodyPr>
            <a:spAutoFit/>
          </a:bodyPr>
          <a:lstStyle/>
          <a:p>
            <a:pPr algn="l">
              <a:lnSpc>
                <a:spcPct val="120000"/>
              </a:lnSpc>
            </a:pPr>
            <a:r>
              <a:rPr kumimoji="1" lang="zh-CN" altLang="en-US" sz="2200" b="1">
                <a:solidFill>
                  <a:srgbClr val="FF3300"/>
                </a:solidFill>
                <a:latin typeface="Times New Roman" pitchFamily="18" charset="0"/>
                <a:ea typeface="楷体_GB2312" pitchFamily="49" charset="-122"/>
              </a:rPr>
              <a:t>感生电场</a:t>
            </a:r>
            <a:r>
              <a:rPr kumimoji="1" lang="zh-CN" altLang="en-US" sz="2200" b="1">
                <a:latin typeface="Times New Roman" pitchFamily="18" charset="0"/>
                <a:ea typeface="楷体_GB2312" pitchFamily="49" charset="-122"/>
              </a:rPr>
              <a:t>或</a:t>
            </a:r>
            <a:r>
              <a:rPr kumimoji="1" lang="zh-CN" altLang="en-US" sz="2200" b="1">
                <a:solidFill>
                  <a:srgbClr val="FF3300"/>
                </a:solidFill>
                <a:latin typeface="Times New Roman" pitchFamily="18" charset="0"/>
                <a:ea typeface="楷体_GB2312" pitchFamily="49" charset="-122"/>
              </a:rPr>
              <a:t>有旋电场</a:t>
            </a:r>
          </a:p>
        </p:txBody>
      </p:sp>
      <p:sp>
        <p:nvSpPr>
          <p:cNvPr id="15381" name="AutoShape 21"/>
          <p:cNvSpPr>
            <a:spLocks noChangeArrowheads="1"/>
          </p:cNvSpPr>
          <p:nvPr/>
        </p:nvSpPr>
        <p:spPr bwMode="auto">
          <a:xfrm>
            <a:off x="5430838" y="3033713"/>
            <a:ext cx="720725" cy="287337"/>
          </a:xfrm>
          <a:prstGeom prst="rightArrow">
            <a:avLst>
              <a:gd name="adj1" fmla="val 50000"/>
              <a:gd name="adj2" fmla="val 62707"/>
            </a:avLst>
          </a:prstGeom>
          <a:solidFill>
            <a:srgbClr val="0000CC"/>
          </a:solidFill>
          <a:ln w="9525" algn="ctr">
            <a:solidFill>
              <a:schemeClr val="tx1"/>
            </a:solidFill>
            <a:miter lim="800000"/>
            <a:headEnd/>
            <a:tailEnd/>
          </a:ln>
        </p:spPr>
        <p:txBody>
          <a:bodyPr wrap="none" anchor="ctr">
            <a:spAutoFit/>
          </a:bodyPr>
          <a:lstStyle/>
          <a:p>
            <a:endParaRPr lang="zh-CN" altLang="en-US"/>
          </a:p>
        </p:txBody>
      </p:sp>
      <p:sp>
        <p:nvSpPr>
          <p:cNvPr id="15382" name="AutoShape 22"/>
          <p:cNvSpPr>
            <a:spLocks/>
          </p:cNvSpPr>
          <p:nvPr/>
        </p:nvSpPr>
        <p:spPr bwMode="auto">
          <a:xfrm>
            <a:off x="3527425" y="4394200"/>
            <a:ext cx="201613" cy="549275"/>
          </a:xfrm>
          <a:prstGeom prst="leftBrace">
            <a:avLst>
              <a:gd name="adj1" fmla="val 22703"/>
              <a:gd name="adj2" fmla="val 50000"/>
            </a:avLst>
          </a:prstGeom>
          <a:noFill/>
          <a:ln w="38100">
            <a:solidFill>
              <a:srgbClr val="FF0000"/>
            </a:solidFill>
            <a:round/>
            <a:headEnd/>
            <a:tailEnd/>
          </a:ln>
        </p:spPr>
        <p:txBody>
          <a:bodyPr wrap="none" anchor="ctr"/>
          <a:lstStyle/>
          <a:p>
            <a:endParaRPr kumimoji="1" lang="zh-CN" altLang="zh-CN" sz="2200">
              <a:solidFill>
                <a:srgbClr val="FF0000"/>
              </a:solidFill>
              <a:latin typeface="Times New Roman" pitchFamily="18" charset="0"/>
              <a:ea typeface="楷体_GB2312" pitchFamily="49" charset="-122"/>
            </a:endParaRPr>
          </a:p>
        </p:txBody>
      </p:sp>
      <p:sp>
        <p:nvSpPr>
          <p:cNvPr id="15383" name="Text Box 23"/>
          <p:cNvSpPr txBox="1">
            <a:spLocks noChangeArrowheads="1"/>
          </p:cNvSpPr>
          <p:nvPr/>
        </p:nvSpPr>
        <p:spPr bwMode="auto">
          <a:xfrm>
            <a:off x="3814763" y="5068888"/>
            <a:ext cx="3997325" cy="53657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激励源不同</a:t>
            </a:r>
          </a:p>
        </p:txBody>
      </p:sp>
      <p:sp>
        <p:nvSpPr>
          <p:cNvPr id="15384" name="AutoShape 24"/>
          <p:cNvSpPr>
            <a:spLocks/>
          </p:cNvSpPr>
          <p:nvPr/>
        </p:nvSpPr>
        <p:spPr bwMode="auto">
          <a:xfrm>
            <a:off x="3563938" y="5299075"/>
            <a:ext cx="206375" cy="635000"/>
          </a:xfrm>
          <a:prstGeom prst="leftBrace">
            <a:avLst>
              <a:gd name="adj1" fmla="val 22735"/>
              <a:gd name="adj2" fmla="val 50000"/>
            </a:avLst>
          </a:prstGeom>
          <a:noFill/>
          <a:ln w="38100">
            <a:solidFill>
              <a:srgbClr val="FF0000"/>
            </a:solidFill>
            <a:round/>
            <a:headEnd/>
            <a:tailEnd/>
          </a:ln>
        </p:spPr>
        <p:txBody>
          <a:bodyPr wrap="none" anchor="ctr"/>
          <a:lstStyle/>
          <a:p>
            <a:endParaRPr kumimoji="1" lang="zh-CN" altLang="zh-CN" sz="2200">
              <a:solidFill>
                <a:srgbClr val="FF0000"/>
              </a:solidFill>
              <a:latin typeface="Times New Roman" pitchFamily="18" charset="0"/>
              <a:ea typeface="楷体_GB2312" pitchFamily="49" charset="-122"/>
            </a:endParaRPr>
          </a:p>
        </p:txBody>
      </p:sp>
      <p:sp>
        <p:nvSpPr>
          <p:cNvPr id="15385" name="Text Box 25"/>
          <p:cNvSpPr txBox="1">
            <a:spLocks noChangeArrowheads="1"/>
          </p:cNvSpPr>
          <p:nvPr/>
        </p:nvSpPr>
        <p:spPr bwMode="auto">
          <a:xfrm>
            <a:off x="7010400" y="5534025"/>
            <a:ext cx="1603375" cy="534988"/>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008000"/>
                </a:solidFill>
                <a:latin typeface="Times New Roman" pitchFamily="18" charset="0"/>
                <a:ea typeface="楷体_GB2312" pitchFamily="49" charset="-122"/>
              </a:rPr>
              <a:t>非保守场</a:t>
            </a:r>
          </a:p>
        </p:txBody>
      </p:sp>
      <p:graphicFrame>
        <p:nvGraphicFramePr>
          <p:cNvPr id="15386" name="Object 26"/>
          <p:cNvGraphicFramePr>
            <a:graphicFrameLocks noChangeAspect="1"/>
          </p:cNvGraphicFramePr>
          <p:nvPr/>
        </p:nvGraphicFramePr>
        <p:xfrm>
          <a:off x="7470775" y="3189288"/>
          <a:ext cx="414338" cy="436562"/>
        </p:xfrm>
        <a:graphic>
          <a:graphicData uri="http://schemas.openxmlformats.org/presentationml/2006/ole">
            <p:oleObj spid="_x0000_s10244" name="公式" r:id="rId5" imgW="190444" imgH="20007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4"/>
                                        </p:tgtEl>
                                        <p:attrNameLst>
                                          <p:attrName>style.visibility</p:attrName>
                                        </p:attrNameLst>
                                      </p:cBhvr>
                                      <p:to>
                                        <p:strVal val="visible"/>
                                      </p:to>
                                    </p:set>
                                    <p:animEffect transition="in" filter="wipe(left)">
                                      <p:cBhvr>
                                        <p:cTn id="7" dur="2000"/>
                                        <p:tgtEl>
                                          <p:spTgt spid="1536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5"/>
                                        </p:tgtEl>
                                        <p:attrNameLst>
                                          <p:attrName>style.visibility</p:attrName>
                                        </p:attrNameLst>
                                      </p:cBhvr>
                                      <p:to>
                                        <p:strVal val="visible"/>
                                      </p:to>
                                    </p:set>
                                    <p:animEffect transition="in" filter="wipe(left)">
                                      <p:cBhvr>
                                        <p:cTn id="12" dur="2000"/>
                                        <p:tgtEl>
                                          <p:spTgt spid="1536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6"/>
                                        </p:tgtEl>
                                        <p:attrNameLst>
                                          <p:attrName>style.visibility</p:attrName>
                                        </p:attrNameLst>
                                      </p:cBhvr>
                                      <p:to>
                                        <p:strVal val="visible"/>
                                      </p:to>
                                    </p:set>
                                    <p:animEffect transition="in" filter="wipe(left)">
                                      <p:cBhvr>
                                        <p:cTn id="17" dur="2000"/>
                                        <p:tgtEl>
                                          <p:spTgt spid="153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370"/>
                                        </p:tgtEl>
                                        <p:attrNameLst>
                                          <p:attrName>style.visibility</p:attrName>
                                        </p:attrNameLst>
                                      </p:cBhvr>
                                      <p:to>
                                        <p:strVal val="visible"/>
                                      </p:to>
                                    </p:set>
                                    <p:animEffect transition="in" filter="wipe(left)">
                                      <p:cBhvr>
                                        <p:cTn id="27" dur="500"/>
                                        <p:tgtEl>
                                          <p:spTgt spid="153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381"/>
                                        </p:tgtEl>
                                        <p:attrNameLst>
                                          <p:attrName>style.visibility</p:attrName>
                                        </p:attrNameLst>
                                      </p:cBhvr>
                                      <p:to>
                                        <p:strVal val="visible"/>
                                      </p:to>
                                    </p:set>
                                    <p:animEffect transition="in" filter="wipe(left)">
                                      <p:cBhvr>
                                        <p:cTn id="32" dur="500"/>
                                        <p:tgtEl>
                                          <p:spTgt spid="153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380"/>
                                        </p:tgtEl>
                                        <p:attrNameLst>
                                          <p:attrName>style.visibility</p:attrName>
                                        </p:attrNameLst>
                                      </p:cBhvr>
                                      <p:to>
                                        <p:strVal val="visible"/>
                                      </p:to>
                                    </p:set>
                                    <p:animEffect transition="in" filter="wipe(left)">
                                      <p:cBhvr>
                                        <p:cTn id="37" dur="500"/>
                                        <p:tgtEl>
                                          <p:spTgt spid="15380"/>
                                        </p:tgtEl>
                                      </p:cBhvr>
                                    </p:animEffect>
                                  </p:childTnLst>
                                </p:cTn>
                              </p:par>
                            </p:childTnLst>
                          </p:cTn>
                        </p:par>
                        <p:par>
                          <p:cTn id="38" fill="hold" nodeType="afterGroup">
                            <p:stCondLst>
                              <p:cond delay="500"/>
                            </p:stCondLst>
                            <p:childTnLst>
                              <p:par>
                                <p:cTn id="39" presetID="22" presetClass="entr" presetSubtype="8" fill="hold" nodeType="afterEffect">
                                  <p:stCondLst>
                                    <p:cond delay="0"/>
                                  </p:stCondLst>
                                  <p:childTnLst>
                                    <p:set>
                                      <p:cBhvr>
                                        <p:cTn id="40" dur="1" fill="hold">
                                          <p:stCondLst>
                                            <p:cond delay="0"/>
                                          </p:stCondLst>
                                        </p:cTn>
                                        <p:tgtEl>
                                          <p:spTgt spid="15386"/>
                                        </p:tgtEl>
                                        <p:attrNameLst>
                                          <p:attrName>style.visibility</p:attrName>
                                        </p:attrNameLst>
                                      </p:cBhvr>
                                      <p:to>
                                        <p:strVal val="visible"/>
                                      </p:to>
                                    </p:set>
                                    <p:animEffect transition="in" filter="wipe(left)">
                                      <p:cBhvr>
                                        <p:cTn id="41" dur="2000"/>
                                        <p:tgtEl>
                                          <p:spTgt spid="1538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5371"/>
                                        </p:tgtEl>
                                        <p:attrNameLst>
                                          <p:attrName>style.visibility</p:attrName>
                                        </p:attrNameLst>
                                      </p:cBhvr>
                                      <p:to>
                                        <p:strVal val="visible"/>
                                      </p:to>
                                    </p:set>
                                    <p:animEffect transition="in" filter="wipe(left)">
                                      <p:cBhvr>
                                        <p:cTn id="46" dur="2000"/>
                                        <p:tgtEl>
                                          <p:spTgt spid="1537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5372"/>
                                        </p:tgtEl>
                                        <p:attrNameLst>
                                          <p:attrName>style.visibility</p:attrName>
                                        </p:attrNameLst>
                                      </p:cBhvr>
                                      <p:to>
                                        <p:strVal val="visible"/>
                                      </p:to>
                                    </p:set>
                                    <p:animEffect transition="in" filter="dissolve">
                                      <p:cBhvr>
                                        <p:cTn id="51" dur="500"/>
                                        <p:tgtEl>
                                          <p:spTgt spid="1537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5373"/>
                                        </p:tgtEl>
                                        <p:attrNameLst>
                                          <p:attrName>style.visibility</p:attrName>
                                        </p:attrNameLst>
                                      </p:cBhvr>
                                      <p:to>
                                        <p:strVal val="visible"/>
                                      </p:to>
                                    </p:set>
                                    <p:animEffect transition="in" filter="wipe(left)">
                                      <p:cBhvr>
                                        <p:cTn id="56" dur="2000"/>
                                        <p:tgtEl>
                                          <p:spTgt spid="15373"/>
                                        </p:tgtEl>
                                      </p:cBhvr>
                                    </p:animEffect>
                                  </p:childTnLst>
                                </p:cTn>
                              </p:par>
                            </p:childTnLst>
                          </p:cTn>
                        </p:par>
                        <p:par>
                          <p:cTn id="57" fill="hold" nodeType="afterGroup">
                            <p:stCondLst>
                              <p:cond delay="2000"/>
                            </p:stCondLst>
                            <p:childTnLst>
                              <p:par>
                                <p:cTn id="58" presetID="22" presetClass="entr" presetSubtype="8" fill="hold" grpId="0" nodeType="afterEffect">
                                  <p:stCondLst>
                                    <p:cond delay="0"/>
                                  </p:stCondLst>
                                  <p:childTnLst>
                                    <p:set>
                                      <p:cBhvr>
                                        <p:cTn id="59" dur="1" fill="hold">
                                          <p:stCondLst>
                                            <p:cond delay="0"/>
                                          </p:stCondLst>
                                        </p:cTn>
                                        <p:tgtEl>
                                          <p:spTgt spid="15382"/>
                                        </p:tgtEl>
                                        <p:attrNameLst>
                                          <p:attrName>style.visibility</p:attrName>
                                        </p:attrNameLst>
                                      </p:cBhvr>
                                      <p:to>
                                        <p:strVal val="visible"/>
                                      </p:to>
                                    </p:set>
                                    <p:animEffect transition="in" filter="wipe(left)">
                                      <p:cBhvr>
                                        <p:cTn id="60" dur="500"/>
                                        <p:tgtEl>
                                          <p:spTgt spid="1538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5374"/>
                                        </p:tgtEl>
                                        <p:attrNameLst>
                                          <p:attrName>style.visibility</p:attrName>
                                        </p:attrNameLst>
                                      </p:cBhvr>
                                      <p:to>
                                        <p:strVal val="visible"/>
                                      </p:to>
                                    </p:set>
                                    <p:animEffect transition="in" filter="wipe(left)">
                                      <p:cBhvr>
                                        <p:cTn id="65" dur="2000"/>
                                        <p:tgtEl>
                                          <p:spTgt spid="1537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5375"/>
                                        </p:tgtEl>
                                        <p:attrNameLst>
                                          <p:attrName>style.visibility</p:attrName>
                                        </p:attrNameLst>
                                      </p:cBhvr>
                                      <p:to>
                                        <p:strVal val="visible"/>
                                      </p:to>
                                    </p:set>
                                    <p:animEffect transition="in" filter="wipe(left)">
                                      <p:cBhvr>
                                        <p:cTn id="70" dur="2000"/>
                                        <p:tgtEl>
                                          <p:spTgt spid="1537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5376"/>
                                        </p:tgtEl>
                                        <p:attrNameLst>
                                          <p:attrName>style.visibility</p:attrName>
                                        </p:attrNameLst>
                                      </p:cBhvr>
                                      <p:to>
                                        <p:strVal val="visible"/>
                                      </p:to>
                                    </p:set>
                                    <p:animEffect transition="in" filter="wipe(left)">
                                      <p:cBhvr>
                                        <p:cTn id="75" dur="2000"/>
                                        <p:tgtEl>
                                          <p:spTgt spid="15376"/>
                                        </p:tgtEl>
                                      </p:cBhvr>
                                    </p:animEffect>
                                  </p:childTnLst>
                                </p:cTn>
                              </p:par>
                            </p:childTnLst>
                          </p:cTn>
                        </p:par>
                        <p:par>
                          <p:cTn id="76" fill="hold" nodeType="afterGroup">
                            <p:stCondLst>
                              <p:cond delay="2000"/>
                            </p:stCondLst>
                            <p:childTnLst>
                              <p:par>
                                <p:cTn id="77" presetID="22" presetClass="entr" presetSubtype="8" fill="hold" grpId="0" nodeType="afterEffect">
                                  <p:stCondLst>
                                    <p:cond delay="0"/>
                                  </p:stCondLst>
                                  <p:childTnLst>
                                    <p:set>
                                      <p:cBhvr>
                                        <p:cTn id="78" dur="1" fill="hold">
                                          <p:stCondLst>
                                            <p:cond delay="0"/>
                                          </p:stCondLst>
                                        </p:cTn>
                                        <p:tgtEl>
                                          <p:spTgt spid="15384"/>
                                        </p:tgtEl>
                                        <p:attrNameLst>
                                          <p:attrName>style.visibility</p:attrName>
                                        </p:attrNameLst>
                                      </p:cBhvr>
                                      <p:to>
                                        <p:strVal val="visible"/>
                                      </p:to>
                                    </p:set>
                                    <p:animEffect transition="in" filter="wipe(left)">
                                      <p:cBhvr>
                                        <p:cTn id="79" dur="500"/>
                                        <p:tgtEl>
                                          <p:spTgt spid="15384"/>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5383"/>
                                        </p:tgtEl>
                                        <p:attrNameLst>
                                          <p:attrName>style.visibility</p:attrName>
                                        </p:attrNameLst>
                                      </p:cBhvr>
                                      <p:to>
                                        <p:strVal val="visible"/>
                                      </p:to>
                                    </p:set>
                                    <p:animEffect transition="in" filter="wipe(left)">
                                      <p:cBhvr>
                                        <p:cTn id="84" dur="2000"/>
                                        <p:tgtEl>
                                          <p:spTgt spid="15383"/>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5377"/>
                                        </p:tgtEl>
                                        <p:attrNameLst>
                                          <p:attrName>style.visibility</p:attrName>
                                        </p:attrNameLst>
                                      </p:cBhvr>
                                      <p:to>
                                        <p:strVal val="visible"/>
                                      </p:to>
                                    </p:set>
                                    <p:animEffect transition="in" filter="wipe(left)">
                                      <p:cBhvr>
                                        <p:cTn id="89" dur="2000"/>
                                        <p:tgtEl>
                                          <p:spTgt spid="15377"/>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nodeType="clickEffect">
                                  <p:stCondLst>
                                    <p:cond delay="0"/>
                                  </p:stCondLst>
                                  <p:childTnLst>
                                    <p:set>
                                      <p:cBhvr>
                                        <p:cTn id="93" dur="1" fill="hold">
                                          <p:stCondLst>
                                            <p:cond delay="0"/>
                                          </p:stCondLst>
                                        </p:cTn>
                                        <p:tgtEl>
                                          <p:spTgt spid="15379"/>
                                        </p:tgtEl>
                                        <p:attrNameLst>
                                          <p:attrName>style.visibility</p:attrName>
                                        </p:attrNameLst>
                                      </p:cBhvr>
                                      <p:to>
                                        <p:strVal val="visible"/>
                                      </p:to>
                                    </p:set>
                                    <p:animEffect transition="in" filter="wipe(left)">
                                      <p:cBhvr>
                                        <p:cTn id="94" dur="2000"/>
                                        <p:tgtEl>
                                          <p:spTgt spid="15379"/>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15385"/>
                                        </p:tgtEl>
                                        <p:attrNameLst>
                                          <p:attrName>style.visibility</p:attrName>
                                        </p:attrNameLst>
                                      </p:cBhvr>
                                      <p:to>
                                        <p:strVal val="visible"/>
                                      </p:to>
                                    </p:set>
                                    <p:animEffect transition="in" filter="wipe(left)">
                                      <p:cBhvr>
                                        <p:cTn id="99" dur="2000"/>
                                        <p:tgtEl>
                                          <p:spTgt spid="15385"/>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nodeType="clickEffect">
                                  <p:stCondLst>
                                    <p:cond delay="0"/>
                                  </p:stCondLst>
                                  <p:childTnLst>
                                    <p:set>
                                      <p:cBhvr>
                                        <p:cTn id="103" dur="1" fill="hold">
                                          <p:stCondLst>
                                            <p:cond delay="0"/>
                                          </p:stCondLst>
                                        </p:cTn>
                                        <p:tgtEl>
                                          <p:spTgt spid="15378"/>
                                        </p:tgtEl>
                                        <p:attrNameLst>
                                          <p:attrName>style.visibility</p:attrName>
                                        </p:attrNameLst>
                                      </p:cBhvr>
                                      <p:to>
                                        <p:strVal val="visible"/>
                                      </p:to>
                                    </p:set>
                                    <p:animEffect transition="in" filter="wipe(left)">
                                      <p:cBhvr>
                                        <p:cTn id="104" dur="2000"/>
                                        <p:tgtEl>
                                          <p:spTgt spid="15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4" grpId="0" autoUpdateAnimBg="0"/>
      <p:bldP spid="15365" grpId="0" autoUpdateAnimBg="0"/>
      <p:bldP spid="15366" grpId="0"/>
      <p:bldP spid="15370" grpId="0"/>
      <p:bldP spid="15371" grpId="0"/>
      <p:bldP spid="15372" grpId="0" animBg="1" autoUpdateAnimBg="0"/>
      <p:bldP spid="15373" grpId="0" autoUpdateAnimBg="0"/>
      <p:bldP spid="15374" grpId="0" autoUpdateAnimBg="0"/>
      <p:bldP spid="15375" grpId="0" autoUpdateAnimBg="0"/>
      <p:bldP spid="15376" grpId="0" autoUpdateAnimBg="0"/>
      <p:bldP spid="15377" grpId="0" autoUpdateAnimBg="0"/>
      <p:bldP spid="15380" grpId="0"/>
      <p:bldP spid="15381" grpId="0" animBg="1"/>
      <p:bldP spid="15382" grpId="0" animBg="1" autoUpdateAnimBg="0"/>
      <p:bldP spid="15383" grpId="0" autoUpdateAnimBg="0"/>
      <p:bldP spid="15384" grpId="0" animBg="1" autoUpdateAnimBg="0"/>
      <p:bldP spid="15385"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22263" y="4945063"/>
            <a:ext cx="8208962" cy="1076325"/>
          </a:xfrm>
          <a:prstGeom prst="rect">
            <a:avLst/>
          </a:prstGeom>
          <a:solidFill>
            <a:srgbClr val="CCFFFF"/>
          </a:solidFill>
          <a:ln w="9525" algn="ctr">
            <a:solidFill>
              <a:srgbClr val="00FFFF">
                <a:alpha val="80000"/>
              </a:srgbClr>
            </a:solidFill>
            <a:miter lim="800000"/>
            <a:headEnd/>
            <a:tailEnd/>
          </a:ln>
          <a:effectLst/>
          <a:extLst>
            <a:ext uri="{AF507438-7753-43E0-B8FC-AC1667EBCBE1}"/>
          </a:extLst>
        </p:spPr>
        <p:txBody>
          <a:bodyPr anchor="ctr">
            <a:spAutoFit/>
          </a:bodyPr>
          <a:lstStyle/>
          <a:p>
            <a:pPr>
              <a:defRPr/>
            </a:pPr>
            <a:endParaRPr lang="en-US" altLang="zh-CN" sz="3200">
              <a:solidFill>
                <a:srgbClr val="CCFFFF"/>
              </a:solidFill>
              <a:effectDag name="">
                <a:cont type="tree" name="">
                  <a:effect ref="fillLine"/>
                  <a:outerShdw dist="38100" dir="13500000" algn="br">
                    <a:srgbClr val="DDFFFF"/>
                  </a:outerShdw>
                </a:cont>
                <a:cont type="tree" name="">
                  <a:effect ref="fillLine"/>
                  <a:outerShdw dist="38100" dir="2700000" algn="tl">
                    <a:srgbClr val="7A9999"/>
                  </a:outerShdw>
                </a:cont>
                <a:effect ref="fillLine"/>
              </a:effectDag>
              <a:latin typeface="Times New Roman" pitchFamily="18" charset="0"/>
            </a:endParaRPr>
          </a:p>
          <a:p>
            <a:pPr>
              <a:defRPr/>
            </a:pPr>
            <a:endParaRPr lang="en-US" altLang="zh-CN" sz="3200">
              <a:solidFill>
                <a:srgbClr val="CCFFFF"/>
              </a:solidFill>
              <a:effectDag name="">
                <a:cont type="tree" name="">
                  <a:effect ref="fillLine"/>
                  <a:outerShdw dist="38100" dir="13500000" algn="br">
                    <a:srgbClr val="DDFFFF"/>
                  </a:outerShdw>
                </a:cont>
                <a:cont type="tree" name="">
                  <a:effect ref="fillLine"/>
                  <a:outerShdw dist="38100" dir="2700000" algn="tl">
                    <a:srgbClr val="7A9999"/>
                  </a:outerShdw>
                </a:cont>
                <a:effect ref="fillLine"/>
              </a:effectDag>
              <a:latin typeface="Times New Roman" pitchFamily="18" charset="0"/>
            </a:endParaRPr>
          </a:p>
        </p:txBody>
      </p:sp>
      <p:sp>
        <p:nvSpPr>
          <p:cNvPr id="19459" name="AutoShape 3"/>
          <p:cNvSpPr>
            <a:spLocks noChangeArrowheads="1"/>
          </p:cNvSpPr>
          <p:nvPr/>
        </p:nvSpPr>
        <p:spPr bwMode="auto">
          <a:xfrm>
            <a:off x="2555875" y="3644900"/>
            <a:ext cx="3600450" cy="863600"/>
          </a:xfrm>
          <a:prstGeom prst="bevel">
            <a:avLst>
              <a:gd name="adj" fmla="val 4847"/>
            </a:avLst>
          </a:prstGeom>
          <a:solidFill>
            <a:srgbClr val="CCFFCC"/>
          </a:solidFill>
          <a:ln w="9525">
            <a:solidFill>
              <a:srgbClr val="00FF00"/>
            </a:solidFill>
            <a:miter lim="800000"/>
            <a:headEnd/>
            <a:tailEnd/>
          </a:ln>
        </p:spPr>
        <p:txBody>
          <a:bodyPr wrap="none" anchor="ctr"/>
          <a:lstStyle/>
          <a:p>
            <a:endParaRPr lang="zh-CN" altLang="en-US"/>
          </a:p>
        </p:txBody>
      </p:sp>
      <p:sp>
        <p:nvSpPr>
          <p:cNvPr id="19460" name="Text Box 4"/>
          <p:cNvSpPr txBox="1">
            <a:spLocks noChangeArrowheads="1"/>
          </p:cNvSpPr>
          <p:nvPr/>
        </p:nvSpPr>
        <p:spPr bwMode="auto">
          <a:xfrm>
            <a:off x="3251200" y="1314450"/>
            <a:ext cx="3644900"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和</a:t>
            </a:r>
            <a:r>
              <a:rPr kumimoji="1" lang="zh-CN" altLang="en-US" sz="2400" b="1">
                <a:solidFill>
                  <a:srgbClr val="FF3300"/>
                </a:solidFill>
                <a:latin typeface="Times New Roman" pitchFamily="18" charset="0"/>
                <a:ea typeface="楷体_GB2312" pitchFamily="49" charset="-122"/>
              </a:rPr>
              <a:t>法拉第电磁感应定律</a:t>
            </a:r>
            <a:r>
              <a:rPr kumimoji="1" lang="zh-CN" altLang="en-US" sz="2400" b="1">
                <a:latin typeface="Times New Roman" pitchFamily="18" charset="0"/>
                <a:ea typeface="楷体_GB2312" pitchFamily="49" charset="-122"/>
              </a:rPr>
              <a:t> </a:t>
            </a:r>
          </a:p>
        </p:txBody>
      </p:sp>
      <p:graphicFrame>
        <p:nvGraphicFramePr>
          <p:cNvPr id="19461" name="Object 5"/>
          <p:cNvGraphicFramePr>
            <a:graphicFrameLocks/>
          </p:cNvGraphicFramePr>
          <p:nvPr/>
        </p:nvGraphicFramePr>
        <p:xfrm>
          <a:off x="1641475" y="2035175"/>
          <a:ext cx="1598613" cy="550863"/>
        </p:xfrm>
        <a:graphic>
          <a:graphicData uri="http://schemas.openxmlformats.org/presentationml/2006/ole">
            <p:oleObj spid="_x0000_s11266" name="公式" r:id="rId3" imgW="847677" imgH="266760" progId="Equation.3">
              <p:embed/>
            </p:oleObj>
          </a:graphicData>
        </a:graphic>
      </p:graphicFrame>
      <p:sp>
        <p:nvSpPr>
          <p:cNvPr id="19462" name="Rectangle 6"/>
          <p:cNvSpPr>
            <a:spLocks noChangeArrowheads="1"/>
          </p:cNvSpPr>
          <p:nvPr/>
        </p:nvSpPr>
        <p:spPr bwMode="auto">
          <a:xfrm>
            <a:off x="179388" y="522288"/>
            <a:ext cx="3810000" cy="530225"/>
          </a:xfrm>
          <a:prstGeom prst="rect">
            <a:avLst/>
          </a:prstGeom>
          <a:noFill/>
          <a:ln w="9525">
            <a:noFill/>
            <a:miter lim="800000"/>
            <a:headEnd/>
            <a:tailEnd/>
          </a:ln>
        </p:spPr>
        <p:txBody>
          <a:bodyPr>
            <a:spAutoFit/>
          </a:bodyPr>
          <a:lstStyle/>
          <a:p>
            <a:pPr algn="l">
              <a:lnSpc>
                <a:spcPct val="120000"/>
              </a:lnSpc>
              <a:buClr>
                <a:srgbClr val="FF0000"/>
              </a:buClr>
              <a:buFont typeface="Wingdings" pitchFamily="2" charset="2"/>
              <a:buNone/>
            </a:pPr>
            <a:r>
              <a:rPr kumimoji="1" lang="zh-CN" altLang="en-US" sz="2400" b="1">
                <a:solidFill>
                  <a:srgbClr val="FF0000"/>
                </a:solidFill>
                <a:latin typeface="Times New Roman" pitchFamily="18" charset="0"/>
              </a:rPr>
              <a:t>感生电动势的计算</a:t>
            </a:r>
          </a:p>
        </p:txBody>
      </p:sp>
      <p:graphicFrame>
        <p:nvGraphicFramePr>
          <p:cNvPr id="19463" name="Object 7"/>
          <p:cNvGraphicFramePr>
            <a:graphicFrameLocks/>
          </p:cNvGraphicFramePr>
          <p:nvPr/>
        </p:nvGraphicFramePr>
        <p:xfrm>
          <a:off x="4341813" y="1906588"/>
          <a:ext cx="1979612" cy="730250"/>
        </p:xfrm>
        <a:graphic>
          <a:graphicData uri="http://schemas.openxmlformats.org/presentationml/2006/ole">
            <p:oleObj spid="_x0000_s11267" name="公式" r:id="rId4" imgW="1066755" imgH="371520" progId="Equation.3">
              <p:embed/>
            </p:oleObj>
          </a:graphicData>
        </a:graphic>
      </p:graphicFrame>
      <p:graphicFrame>
        <p:nvGraphicFramePr>
          <p:cNvPr id="19464" name="Object 8"/>
          <p:cNvGraphicFramePr>
            <a:graphicFrameLocks/>
          </p:cNvGraphicFramePr>
          <p:nvPr/>
        </p:nvGraphicFramePr>
        <p:xfrm>
          <a:off x="3276600" y="1920875"/>
          <a:ext cx="1073150" cy="730250"/>
        </p:xfrm>
        <a:graphic>
          <a:graphicData uri="http://schemas.openxmlformats.org/presentationml/2006/ole">
            <p:oleObj spid="_x0000_s11268" name="公式" r:id="rId5" imgW="561877" imgH="371520" progId="Equation.3">
              <p:embed/>
            </p:oleObj>
          </a:graphicData>
        </a:graphic>
      </p:graphicFrame>
      <p:sp>
        <p:nvSpPr>
          <p:cNvPr id="19465" name="Text Box 9"/>
          <p:cNvSpPr txBox="1">
            <a:spLocks noChangeArrowheads="1"/>
          </p:cNvSpPr>
          <p:nvPr/>
        </p:nvSpPr>
        <p:spPr bwMode="auto">
          <a:xfrm>
            <a:off x="120650" y="2867025"/>
            <a:ext cx="8772525"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因为回路固定不动，上式积分与</a:t>
            </a:r>
            <a:r>
              <a:rPr kumimoji="1" lang="zh-CN" altLang="en-US" sz="2400" b="1">
                <a:solidFill>
                  <a:srgbClr val="FF3300"/>
                </a:solidFill>
                <a:latin typeface="Times New Roman" pitchFamily="18" charset="0"/>
                <a:ea typeface="楷体_GB2312" pitchFamily="49" charset="-122"/>
              </a:rPr>
              <a:t>面源 </a:t>
            </a:r>
            <a:r>
              <a:rPr kumimoji="1" lang="en-US" altLang="zh-CN" sz="2400" b="1" i="1">
                <a:solidFill>
                  <a:srgbClr val="FF3300"/>
                </a:solidFill>
                <a:latin typeface="Times New Roman" pitchFamily="18" charset="0"/>
                <a:ea typeface="楷体_GB2312" pitchFamily="49" charset="-122"/>
              </a:rPr>
              <a:t>S </a:t>
            </a:r>
            <a:r>
              <a:rPr kumimoji="1" lang="zh-CN" altLang="en-US" sz="2400" b="1">
                <a:latin typeface="Times New Roman" pitchFamily="18" charset="0"/>
                <a:ea typeface="楷体_GB2312" pitchFamily="49" charset="-122"/>
              </a:rPr>
              <a:t>及</a:t>
            </a:r>
            <a:r>
              <a:rPr kumimoji="1" lang="zh-CN" altLang="en-US" sz="2400" b="1">
                <a:solidFill>
                  <a:srgbClr val="FF3300"/>
                </a:solidFill>
                <a:latin typeface="Times New Roman" pitchFamily="18" charset="0"/>
                <a:ea typeface="楷体_GB2312" pitchFamily="49" charset="-122"/>
              </a:rPr>
              <a:t>夹角</a:t>
            </a:r>
            <a:r>
              <a:rPr kumimoji="1" lang="en-US" altLang="zh-CN" sz="2400" b="1" i="1">
                <a:solidFill>
                  <a:srgbClr val="FF3300"/>
                </a:solidFill>
                <a:latin typeface="Times New Roman" pitchFamily="18" charset="0"/>
                <a:ea typeface="楷体_GB2312" pitchFamily="49" charset="-122"/>
              </a:rPr>
              <a:t>θ </a:t>
            </a:r>
            <a:r>
              <a:rPr kumimoji="1" lang="zh-CN" altLang="en-US" sz="2400" b="1">
                <a:latin typeface="Times New Roman" pitchFamily="18" charset="0"/>
                <a:ea typeface="楷体_GB2312" pitchFamily="49" charset="-122"/>
              </a:rPr>
              <a:t>与</a:t>
            </a:r>
            <a:r>
              <a:rPr kumimoji="1" lang="zh-CN" altLang="en-US" sz="2400" b="1">
                <a:solidFill>
                  <a:srgbClr val="FF3300"/>
                </a:solidFill>
                <a:latin typeface="Times New Roman" pitchFamily="18" charset="0"/>
                <a:ea typeface="楷体_GB2312" pitchFamily="49" charset="-122"/>
              </a:rPr>
              <a:t>时间 </a:t>
            </a:r>
            <a:r>
              <a:rPr kumimoji="1" lang="en-US" altLang="zh-CN" sz="2400" b="1" i="1">
                <a:solidFill>
                  <a:srgbClr val="FF3300"/>
                </a:solidFill>
                <a:latin typeface="Times New Roman" pitchFamily="18" charset="0"/>
                <a:ea typeface="楷体_GB2312" pitchFamily="49" charset="-122"/>
              </a:rPr>
              <a:t>t </a:t>
            </a:r>
            <a:r>
              <a:rPr kumimoji="1" lang="zh-CN" altLang="en-US" sz="2400" b="1">
                <a:latin typeface="Times New Roman" pitchFamily="18" charset="0"/>
                <a:ea typeface="楷体_GB2312" pitchFamily="49" charset="-122"/>
              </a:rPr>
              <a:t>无关</a:t>
            </a:r>
            <a:r>
              <a:rPr kumimoji="1" lang="zh-CN" altLang="en-US" sz="2400">
                <a:latin typeface="Times New Roman" pitchFamily="18" charset="0"/>
                <a:ea typeface="楷体_GB2312" pitchFamily="49" charset="-122"/>
              </a:rPr>
              <a:t> </a:t>
            </a:r>
          </a:p>
        </p:txBody>
      </p:sp>
      <p:graphicFrame>
        <p:nvGraphicFramePr>
          <p:cNvPr id="19466" name="Object 10"/>
          <p:cNvGraphicFramePr>
            <a:graphicFrameLocks noChangeAspect="1"/>
          </p:cNvGraphicFramePr>
          <p:nvPr/>
        </p:nvGraphicFramePr>
        <p:xfrm>
          <a:off x="2678113" y="3716338"/>
          <a:ext cx="3346450" cy="752475"/>
        </p:xfrm>
        <a:graphic>
          <a:graphicData uri="http://schemas.openxmlformats.org/presentationml/2006/ole">
            <p:oleObj spid="_x0000_s11269" name="公式" r:id="rId6" imgW="1866889" imgH="380970" progId="Equation.3">
              <p:embed/>
            </p:oleObj>
          </a:graphicData>
        </a:graphic>
      </p:graphicFrame>
      <p:sp>
        <p:nvSpPr>
          <p:cNvPr id="19467" name="Text Box 11"/>
          <p:cNvSpPr txBox="1">
            <a:spLocks noChangeArrowheads="1"/>
          </p:cNvSpPr>
          <p:nvPr/>
        </p:nvSpPr>
        <p:spPr bwMode="auto">
          <a:xfrm>
            <a:off x="250825" y="4945063"/>
            <a:ext cx="8424863" cy="968375"/>
          </a:xfrm>
          <a:prstGeom prst="rect">
            <a:avLst/>
          </a:prstGeom>
          <a:noFill/>
          <a:ln w="9525">
            <a:noFill/>
            <a:miter lim="800000"/>
            <a:headEnd/>
            <a:tailEnd/>
          </a:ln>
        </p:spPr>
        <p:txBody>
          <a:bodyPr>
            <a:spAutoFit/>
          </a:bodyPr>
          <a:lstStyle/>
          <a:p>
            <a:pPr>
              <a:lnSpc>
                <a:spcPct val="120000"/>
              </a:lnSpc>
            </a:pPr>
            <a:r>
              <a:rPr kumimoji="1" lang="zh-CN" altLang="en-US" sz="2400" b="1">
                <a:latin typeface="Times New Roman" pitchFamily="18" charset="0"/>
                <a:ea typeface="楷体_GB2312" pitchFamily="49" charset="-122"/>
              </a:rPr>
              <a:t>在</a:t>
            </a:r>
            <a:r>
              <a:rPr kumimoji="1" lang="zh-CN" altLang="en-US" sz="2400" b="1">
                <a:solidFill>
                  <a:srgbClr val="FF3300"/>
                </a:solidFill>
                <a:latin typeface="Times New Roman" pitchFamily="18" charset="0"/>
                <a:ea typeface="楷体_GB2312" pitchFamily="49" charset="-122"/>
              </a:rPr>
              <a:t>变化的磁场</a:t>
            </a:r>
            <a:r>
              <a:rPr kumimoji="1" lang="zh-CN" altLang="en-US" sz="2400" b="1">
                <a:latin typeface="Times New Roman" pitchFamily="18" charset="0"/>
                <a:ea typeface="楷体_GB2312" pitchFamily="49" charset="-122"/>
              </a:rPr>
              <a:t>中，有旋电场强度对任意闭合路径</a:t>
            </a:r>
            <a:r>
              <a:rPr kumimoji="1" lang="zh-CN" altLang="en-US" sz="2400" b="1">
                <a:solidFill>
                  <a:srgbClr val="FF3300"/>
                </a:solidFill>
                <a:latin typeface="Times New Roman" pitchFamily="18" charset="0"/>
                <a:ea typeface="楷体_GB2312" pitchFamily="49" charset="-122"/>
              </a:rPr>
              <a:t> </a:t>
            </a:r>
            <a:r>
              <a:rPr kumimoji="1" lang="en-US" altLang="zh-CN" sz="2400" b="1" i="1">
                <a:solidFill>
                  <a:srgbClr val="FF3300"/>
                </a:solidFill>
                <a:latin typeface="Times New Roman" pitchFamily="18" charset="0"/>
                <a:ea typeface="楷体_GB2312" pitchFamily="49" charset="-122"/>
              </a:rPr>
              <a:t>L </a:t>
            </a:r>
            <a:r>
              <a:rPr kumimoji="1" lang="zh-CN" altLang="en-US" sz="2400" b="1">
                <a:latin typeface="Times New Roman" pitchFamily="18" charset="0"/>
                <a:ea typeface="楷体_GB2312" pitchFamily="49" charset="-122"/>
              </a:rPr>
              <a:t>的线积分</a:t>
            </a:r>
          </a:p>
          <a:p>
            <a:pPr>
              <a:lnSpc>
                <a:spcPct val="120000"/>
              </a:lnSpc>
            </a:pPr>
            <a:r>
              <a:rPr kumimoji="1" lang="zh-CN" altLang="en-US" sz="2400" b="1">
                <a:latin typeface="Times New Roman" pitchFamily="18" charset="0"/>
                <a:ea typeface="楷体_GB2312" pitchFamily="49" charset="-122"/>
              </a:rPr>
              <a:t>等于这一闭合路径所包围面积上</a:t>
            </a:r>
            <a:r>
              <a:rPr kumimoji="1" lang="zh-CN" altLang="en-US" sz="2400" b="1">
                <a:solidFill>
                  <a:srgbClr val="FF3300"/>
                </a:solidFill>
                <a:latin typeface="Times New Roman" pitchFamily="18" charset="0"/>
                <a:ea typeface="楷体_GB2312" pitchFamily="49" charset="-122"/>
              </a:rPr>
              <a:t>磁通量的变化率</a:t>
            </a:r>
            <a:r>
              <a:rPr kumimoji="1" lang="zh-CN" altLang="en-US" sz="2400" b="1">
                <a:latin typeface="Times New Roman" pitchFamily="18" charset="0"/>
                <a:ea typeface="楷体_GB2312" pitchFamily="49" charset="-122"/>
              </a:rPr>
              <a:t>。</a:t>
            </a:r>
            <a:endParaRPr kumimoji="1" lang="zh-CN" altLang="en-US" sz="2400">
              <a:latin typeface="Times New Roman" pitchFamily="18" charset="0"/>
              <a:ea typeface="楷体_GB2312" pitchFamily="49" charset="-122"/>
            </a:endParaRPr>
          </a:p>
        </p:txBody>
      </p:sp>
      <p:sp>
        <p:nvSpPr>
          <p:cNvPr id="19468" name="Text Box 12"/>
          <p:cNvSpPr txBox="1">
            <a:spLocks noChangeArrowheads="1"/>
          </p:cNvSpPr>
          <p:nvPr/>
        </p:nvSpPr>
        <p:spPr bwMode="auto">
          <a:xfrm>
            <a:off x="741363" y="1276350"/>
            <a:ext cx="2857500"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根据</a:t>
            </a:r>
            <a:r>
              <a:rPr kumimoji="1" lang="zh-CN" altLang="en-US" sz="2400" b="1">
                <a:solidFill>
                  <a:srgbClr val="FF3300"/>
                </a:solidFill>
                <a:latin typeface="Times New Roman" pitchFamily="18" charset="0"/>
                <a:ea typeface="楷体_GB2312" pitchFamily="49" charset="-122"/>
              </a:rPr>
              <a:t>电动势的定义</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animEffect transition="in" filter="wipe(left)">
                                      <p:cBhvr>
                                        <p:cTn id="7" dur="500"/>
                                        <p:tgtEl>
                                          <p:spTgt spid="194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8"/>
                                        </p:tgtEl>
                                        <p:attrNameLst>
                                          <p:attrName>style.visibility</p:attrName>
                                        </p:attrNameLst>
                                      </p:cBhvr>
                                      <p:to>
                                        <p:strVal val="visible"/>
                                      </p:to>
                                    </p:set>
                                    <p:animEffect transition="in" filter="wipe(left)">
                                      <p:cBhvr>
                                        <p:cTn id="12" dur="500"/>
                                        <p:tgtEl>
                                          <p:spTgt spid="194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9461"/>
                                        </p:tgtEl>
                                        <p:attrNameLst>
                                          <p:attrName>style.visibility</p:attrName>
                                        </p:attrNameLst>
                                      </p:cBhvr>
                                      <p:to>
                                        <p:strVal val="visible"/>
                                      </p:to>
                                    </p:set>
                                    <p:animEffect transition="in" filter="wipe(left)">
                                      <p:cBhvr>
                                        <p:cTn id="17" dur="2000"/>
                                        <p:tgtEl>
                                          <p:spTgt spid="194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60"/>
                                        </p:tgtEl>
                                        <p:attrNameLst>
                                          <p:attrName>style.visibility</p:attrName>
                                        </p:attrNameLst>
                                      </p:cBhvr>
                                      <p:to>
                                        <p:strVal val="visible"/>
                                      </p:to>
                                    </p:set>
                                    <p:animEffect transition="in" filter="wipe(left)">
                                      <p:cBhvr>
                                        <p:cTn id="22" dur="500"/>
                                        <p:tgtEl>
                                          <p:spTgt spid="1946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9464"/>
                                        </p:tgtEl>
                                        <p:attrNameLst>
                                          <p:attrName>style.visibility</p:attrName>
                                        </p:attrNameLst>
                                      </p:cBhvr>
                                      <p:to>
                                        <p:strVal val="visible"/>
                                      </p:to>
                                    </p:set>
                                    <p:animEffect transition="in" filter="wipe(left)">
                                      <p:cBhvr>
                                        <p:cTn id="27" dur="2000"/>
                                        <p:tgtEl>
                                          <p:spTgt spid="1946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9463"/>
                                        </p:tgtEl>
                                        <p:attrNameLst>
                                          <p:attrName>style.visibility</p:attrName>
                                        </p:attrNameLst>
                                      </p:cBhvr>
                                      <p:to>
                                        <p:strVal val="visible"/>
                                      </p:to>
                                    </p:set>
                                    <p:animEffect transition="in" filter="wipe(left)">
                                      <p:cBhvr>
                                        <p:cTn id="32" dur="2000"/>
                                        <p:tgtEl>
                                          <p:spTgt spid="194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9465"/>
                                        </p:tgtEl>
                                        <p:attrNameLst>
                                          <p:attrName>style.visibility</p:attrName>
                                        </p:attrNameLst>
                                      </p:cBhvr>
                                      <p:to>
                                        <p:strVal val="visible"/>
                                      </p:to>
                                    </p:set>
                                    <p:animEffect transition="in" filter="wipe(left)">
                                      <p:cBhvr>
                                        <p:cTn id="37" dur="2000"/>
                                        <p:tgtEl>
                                          <p:spTgt spid="1946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9466"/>
                                        </p:tgtEl>
                                        <p:attrNameLst>
                                          <p:attrName>style.visibility</p:attrName>
                                        </p:attrNameLst>
                                      </p:cBhvr>
                                      <p:to>
                                        <p:strVal val="visible"/>
                                      </p:to>
                                    </p:set>
                                    <p:animEffect transition="in" filter="wipe(left)">
                                      <p:cBhvr>
                                        <p:cTn id="42" dur="2000"/>
                                        <p:tgtEl>
                                          <p:spTgt spid="19466"/>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19459"/>
                                        </p:tgtEl>
                                        <p:attrNameLst>
                                          <p:attrName>style.visibility</p:attrName>
                                        </p:attrNameLst>
                                      </p:cBhvr>
                                      <p:to>
                                        <p:strVal val="visible"/>
                                      </p:to>
                                    </p:set>
                                    <p:animEffect transition="in" filter="dissolve">
                                      <p:cBhvr>
                                        <p:cTn id="45" dur="2000"/>
                                        <p:tgtEl>
                                          <p:spTgt spid="1945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iterate type="wd">
                                    <p:tmPct val="36000"/>
                                  </p:iterate>
                                  <p:childTnLst>
                                    <p:set>
                                      <p:cBhvr>
                                        <p:cTn id="49" dur="1" fill="hold">
                                          <p:stCondLst>
                                            <p:cond delay="0"/>
                                          </p:stCondLst>
                                        </p:cTn>
                                        <p:tgtEl>
                                          <p:spTgt spid="19467"/>
                                        </p:tgtEl>
                                        <p:attrNameLst>
                                          <p:attrName>style.visibility</p:attrName>
                                        </p:attrNameLst>
                                      </p:cBhvr>
                                      <p:to>
                                        <p:strVal val="visible"/>
                                      </p:to>
                                    </p:set>
                                    <p:animEffect transition="in" filter="blinds(horizontal)">
                                      <p:cBhvr>
                                        <p:cTn id="50" dur="500"/>
                                        <p:tgtEl>
                                          <p:spTgt spid="19467"/>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19458"/>
                                        </p:tgtEl>
                                        <p:attrNameLst>
                                          <p:attrName>style.visibility</p:attrName>
                                        </p:attrNameLst>
                                      </p:cBhvr>
                                      <p:to>
                                        <p:strVal val="visible"/>
                                      </p:to>
                                    </p:set>
                                    <p:animEffect transition="in" filter="box(in)">
                                      <p:cBhvr>
                                        <p:cTn id="53" dur="2000"/>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animBg="1"/>
      <p:bldP spid="19459" grpId="0" animBg="1"/>
      <p:bldP spid="19460" grpId="0" autoUpdateAnimBg="0"/>
      <p:bldP spid="19462" grpId="0"/>
      <p:bldP spid="19465" grpId="0" autoUpdateAnimBg="0"/>
      <p:bldP spid="19467" grpId="0" autoUpdateAnimBg="0"/>
      <p:bldP spid="19468"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482" name="Object 2"/>
          <p:cNvGraphicFramePr>
            <a:graphicFrameLocks noChangeAspect="1"/>
          </p:cNvGraphicFramePr>
          <p:nvPr/>
        </p:nvGraphicFramePr>
        <p:xfrm>
          <a:off x="900113" y="1089025"/>
          <a:ext cx="3433762" cy="755650"/>
        </p:xfrm>
        <a:graphic>
          <a:graphicData uri="http://schemas.openxmlformats.org/presentationml/2006/ole">
            <p:oleObj spid="_x0000_s12290" name="公式" r:id="rId3" imgW="1866889" imgH="380970" progId="Equation.3">
              <p:embed/>
            </p:oleObj>
          </a:graphicData>
        </a:graphic>
      </p:graphicFrame>
      <p:sp>
        <p:nvSpPr>
          <p:cNvPr id="20483" name="Text Box 3"/>
          <p:cNvSpPr txBox="1">
            <a:spLocks noChangeArrowheads="1"/>
          </p:cNvSpPr>
          <p:nvPr/>
        </p:nvSpPr>
        <p:spPr bwMode="auto">
          <a:xfrm>
            <a:off x="609600" y="555625"/>
            <a:ext cx="1511300" cy="457200"/>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buClr>
                <a:srgbClr val="00FFFF"/>
              </a:buClr>
              <a:buSzPts val="2400"/>
              <a:buFont typeface="Wingdings" pitchFamily="2" charset="2"/>
              <a:buNone/>
              <a:defRPr/>
            </a:pPr>
            <a:r>
              <a:rPr lang="zh-CN" altLang="en-US" sz="2400" b="1">
                <a:solidFill>
                  <a:srgbClr val="FF6600"/>
                </a:solidFill>
                <a:latin typeface="宋体" pitchFamily="2" charset="-122"/>
              </a:rPr>
              <a:t>说明</a:t>
            </a:r>
            <a:endParaRPr lang="zh-CN" altLang="en-US"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sp>
        <p:nvSpPr>
          <p:cNvPr id="20484" name="Oval 4"/>
          <p:cNvSpPr>
            <a:spLocks noChangeArrowheads="1"/>
          </p:cNvSpPr>
          <p:nvPr/>
        </p:nvSpPr>
        <p:spPr bwMode="auto">
          <a:xfrm>
            <a:off x="1682750" y="4460875"/>
            <a:ext cx="2209800" cy="914400"/>
          </a:xfrm>
          <a:prstGeom prst="ellipse">
            <a:avLst/>
          </a:prstGeom>
          <a:gradFill rotWithShape="1">
            <a:gsLst>
              <a:gs pos="0">
                <a:schemeClr val="accent1">
                  <a:alpha val="64000"/>
                </a:schemeClr>
              </a:gs>
              <a:gs pos="100000">
                <a:schemeClr val="accent1">
                  <a:gamma/>
                  <a:shade val="46275"/>
                  <a:invGamma/>
                  <a:alpha val="71001"/>
                </a:schemeClr>
              </a:gs>
            </a:gsLst>
            <a:path path="shape">
              <a:fillToRect l="50000" t="50000" r="50000" b="50000"/>
            </a:path>
          </a:gradFill>
          <a:ln w="9525">
            <a:solidFill>
              <a:schemeClr val="tx1"/>
            </a:solidFill>
            <a:round/>
            <a:headEnd/>
            <a:tailEnd/>
          </a:ln>
          <a:effectLst/>
          <a:extLst>
            <a:ext uri="{AF507438-7753-43E0-B8FC-AC1667EBCBE1}"/>
          </a:extLst>
        </p:spPr>
        <p:txBody>
          <a:bodyPr wrap="none" anchor="ctr"/>
          <a:lstStyle/>
          <a:p>
            <a:pPr>
              <a:defRPr/>
            </a:pPr>
            <a:endParaRPr lang="zh-CN" altLang="en-US"/>
          </a:p>
        </p:txBody>
      </p:sp>
      <p:grpSp>
        <p:nvGrpSpPr>
          <p:cNvPr id="2" name="Group 5"/>
          <p:cNvGrpSpPr>
            <a:grpSpLocks/>
          </p:cNvGrpSpPr>
          <p:nvPr/>
        </p:nvGrpSpPr>
        <p:grpSpPr bwMode="auto">
          <a:xfrm>
            <a:off x="1606550" y="3622675"/>
            <a:ext cx="2301875" cy="2286000"/>
            <a:chOff x="4166" y="768"/>
            <a:chExt cx="1450" cy="1440"/>
          </a:xfrm>
        </p:grpSpPr>
        <p:sp>
          <p:nvSpPr>
            <p:cNvPr id="12321" name="Line 6"/>
            <p:cNvSpPr>
              <a:spLocks noChangeShapeType="1"/>
            </p:cNvSpPr>
            <p:nvPr/>
          </p:nvSpPr>
          <p:spPr bwMode="auto">
            <a:xfrm flipV="1">
              <a:off x="4512" y="768"/>
              <a:ext cx="0" cy="768"/>
            </a:xfrm>
            <a:prstGeom prst="line">
              <a:avLst/>
            </a:prstGeom>
            <a:noFill/>
            <a:ln w="19050">
              <a:solidFill>
                <a:srgbClr val="0000FF"/>
              </a:solidFill>
              <a:round/>
              <a:headEnd/>
              <a:tailEnd type="triangle" w="med" len="med"/>
            </a:ln>
          </p:spPr>
          <p:txBody>
            <a:bodyPr/>
            <a:lstStyle/>
            <a:p>
              <a:endParaRPr lang="zh-CN" altLang="en-US"/>
            </a:p>
          </p:txBody>
        </p:sp>
        <p:sp>
          <p:nvSpPr>
            <p:cNvPr id="12322" name="Line 7"/>
            <p:cNvSpPr>
              <a:spLocks noChangeShapeType="1"/>
            </p:cNvSpPr>
            <p:nvPr/>
          </p:nvSpPr>
          <p:spPr bwMode="auto">
            <a:xfrm flipV="1">
              <a:off x="4848" y="768"/>
              <a:ext cx="0" cy="768"/>
            </a:xfrm>
            <a:prstGeom prst="line">
              <a:avLst/>
            </a:prstGeom>
            <a:noFill/>
            <a:ln w="19050">
              <a:solidFill>
                <a:srgbClr val="0000FF"/>
              </a:solidFill>
              <a:round/>
              <a:headEnd/>
              <a:tailEnd type="triangle" w="med" len="med"/>
            </a:ln>
          </p:spPr>
          <p:txBody>
            <a:bodyPr/>
            <a:lstStyle/>
            <a:p>
              <a:endParaRPr lang="zh-CN" altLang="en-US"/>
            </a:p>
          </p:txBody>
        </p:sp>
        <p:sp>
          <p:nvSpPr>
            <p:cNvPr id="12323" name="Line 8"/>
            <p:cNvSpPr>
              <a:spLocks noChangeShapeType="1"/>
            </p:cNvSpPr>
            <p:nvPr/>
          </p:nvSpPr>
          <p:spPr bwMode="auto">
            <a:xfrm flipV="1">
              <a:off x="5136" y="768"/>
              <a:ext cx="0" cy="768"/>
            </a:xfrm>
            <a:prstGeom prst="line">
              <a:avLst/>
            </a:prstGeom>
            <a:noFill/>
            <a:ln w="19050">
              <a:solidFill>
                <a:srgbClr val="0000FF"/>
              </a:solidFill>
              <a:round/>
              <a:headEnd/>
              <a:tailEnd type="triangle" w="med" len="med"/>
            </a:ln>
          </p:spPr>
          <p:txBody>
            <a:bodyPr/>
            <a:lstStyle/>
            <a:p>
              <a:endParaRPr lang="zh-CN" altLang="en-US"/>
            </a:p>
          </p:txBody>
        </p:sp>
        <p:sp>
          <p:nvSpPr>
            <p:cNvPr id="12324" name="Line 9"/>
            <p:cNvSpPr>
              <a:spLocks noChangeShapeType="1"/>
            </p:cNvSpPr>
            <p:nvPr/>
          </p:nvSpPr>
          <p:spPr bwMode="auto">
            <a:xfrm flipV="1">
              <a:off x="5424" y="768"/>
              <a:ext cx="0" cy="768"/>
            </a:xfrm>
            <a:prstGeom prst="line">
              <a:avLst/>
            </a:prstGeom>
            <a:noFill/>
            <a:ln w="19050">
              <a:solidFill>
                <a:srgbClr val="0000FF"/>
              </a:solidFill>
              <a:round/>
              <a:headEnd/>
              <a:tailEnd type="triangle" w="med" len="med"/>
            </a:ln>
          </p:spPr>
          <p:txBody>
            <a:bodyPr/>
            <a:lstStyle/>
            <a:p>
              <a:endParaRPr lang="zh-CN" altLang="en-US"/>
            </a:p>
          </p:txBody>
        </p:sp>
        <p:sp>
          <p:nvSpPr>
            <p:cNvPr id="12325" name="Text Box 10"/>
            <p:cNvSpPr txBox="1">
              <a:spLocks noChangeArrowheads="1"/>
            </p:cNvSpPr>
            <p:nvPr/>
          </p:nvSpPr>
          <p:spPr bwMode="auto">
            <a:xfrm>
              <a:off x="4166" y="794"/>
              <a:ext cx="244" cy="288"/>
            </a:xfrm>
            <a:prstGeom prst="rect">
              <a:avLst/>
            </a:prstGeom>
            <a:noFill/>
            <a:ln w="9525">
              <a:noFill/>
              <a:miter lim="800000"/>
              <a:headEnd/>
              <a:tailEnd/>
            </a:ln>
          </p:spPr>
          <p:txBody>
            <a:bodyPr wrap="none">
              <a:spAutoFit/>
            </a:bodyPr>
            <a:lstStyle/>
            <a:p>
              <a:pPr algn="l"/>
              <a:r>
                <a:rPr kumimoji="1" lang="en-US" altLang="zh-CN" sz="2400" b="1" i="1">
                  <a:latin typeface="Times New Roman" pitchFamily="18" charset="0"/>
                </a:rPr>
                <a:t>B</a:t>
              </a:r>
            </a:p>
          </p:txBody>
        </p:sp>
        <p:sp>
          <p:nvSpPr>
            <p:cNvPr id="12326" name="Oval 11"/>
            <p:cNvSpPr>
              <a:spLocks noChangeArrowheads="1"/>
            </p:cNvSpPr>
            <p:nvPr/>
          </p:nvSpPr>
          <p:spPr bwMode="auto">
            <a:xfrm>
              <a:off x="4224" y="1296"/>
              <a:ext cx="1392" cy="576"/>
            </a:xfrm>
            <a:prstGeom prst="ellipse">
              <a:avLst/>
            </a:prstGeom>
            <a:noFill/>
            <a:ln w="28575">
              <a:solidFill>
                <a:srgbClr val="FF0000"/>
              </a:solidFill>
              <a:round/>
              <a:headEnd/>
              <a:tailEnd/>
            </a:ln>
          </p:spPr>
          <p:txBody>
            <a:bodyPr wrap="none" anchor="ctr"/>
            <a:lstStyle/>
            <a:p>
              <a:endParaRPr lang="zh-CN" altLang="en-US"/>
            </a:p>
          </p:txBody>
        </p:sp>
        <p:sp>
          <p:nvSpPr>
            <p:cNvPr id="12327" name="Line 12"/>
            <p:cNvSpPr>
              <a:spLocks noChangeShapeType="1"/>
            </p:cNvSpPr>
            <p:nvPr/>
          </p:nvSpPr>
          <p:spPr bwMode="auto">
            <a:xfrm>
              <a:off x="4512" y="1824"/>
              <a:ext cx="0" cy="336"/>
            </a:xfrm>
            <a:prstGeom prst="line">
              <a:avLst/>
            </a:prstGeom>
            <a:noFill/>
            <a:ln w="9525">
              <a:solidFill>
                <a:srgbClr val="0000FF"/>
              </a:solidFill>
              <a:round/>
              <a:headEnd/>
              <a:tailEnd/>
            </a:ln>
          </p:spPr>
          <p:txBody>
            <a:bodyPr/>
            <a:lstStyle/>
            <a:p>
              <a:endParaRPr lang="zh-CN" altLang="en-US"/>
            </a:p>
          </p:txBody>
        </p:sp>
        <p:sp>
          <p:nvSpPr>
            <p:cNvPr id="12328" name="Line 13"/>
            <p:cNvSpPr>
              <a:spLocks noChangeShapeType="1"/>
            </p:cNvSpPr>
            <p:nvPr/>
          </p:nvSpPr>
          <p:spPr bwMode="auto">
            <a:xfrm>
              <a:off x="4848" y="1872"/>
              <a:ext cx="0" cy="336"/>
            </a:xfrm>
            <a:prstGeom prst="line">
              <a:avLst/>
            </a:prstGeom>
            <a:noFill/>
            <a:ln w="9525">
              <a:solidFill>
                <a:srgbClr val="0000FF"/>
              </a:solidFill>
              <a:round/>
              <a:headEnd/>
              <a:tailEnd/>
            </a:ln>
          </p:spPr>
          <p:txBody>
            <a:bodyPr/>
            <a:lstStyle/>
            <a:p>
              <a:endParaRPr lang="zh-CN" altLang="en-US"/>
            </a:p>
          </p:txBody>
        </p:sp>
        <p:sp>
          <p:nvSpPr>
            <p:cNvPr id="12329" name="Line 14"/>
            <p:cNvSpPr>
              <a:spLocks noChangeShapeType="1"/>
            </p:cNvSpPr>
            <p:nvPr/>
          </p:nvSpPr>
          <p:spPr bwMode="auto">
            <a:xfrm>
              <a:off x="5136" y="1872"/>
              <a:ext cx="0" cy="336"/>
            </a:xfrm>
            <a:prstGeom prst="line">
              <a:avLst/>
            </a:prstGeom>
            <a:noFill/>
            <a:ln w="9525">
              <a:solidFill>
                <a:srgbClr val="0000FF"/>
              </a:solidFill>
              <a:round/>
              <a:headEnd/>
              <a:tailEnd/>
            </a:ln>
          </p:spPr>
          <p:txBody>
            <a:bodyPr/>
            <a:lstStyle/>
            <a:p>
              <a:endParaRPr lang="zh-CN" altLang="en-US"/>
            </a:p>
          </p:txBody>
        </p:sp>
        <p:sp>
          <p:nvSpPr>
            <p:cNvPr id="12330" name="Line 15"/>
            <p:cNvSpPr>
              <a:spLocks noChangeShapeType="1"/>
            </p:cNvSpPr>
            <p:nvPr/>
          </p:nvSpPr>
          <p:spPr bwMode="auto">
            <a:xfrm>
              <a:off x="5424" y="1824"/>
              <a:ext cx="0" cy="336"/>
            </a:xfrm>
            <a:prstGeom prst="line">
              <a:avLst/>
            </a:prstGeom>
            <a:noFill/>
            <a:ln w="9525">
              <a:solidFill>
                <a:srgbClr val="0000FF"/>
              </a:solidFill>
              <a:round/>
              <a:headEnd/>
              <a:tailEnd/>
            </a:ln>
          </p:spPr>
          <p:txBody>
            <a:bodyPr/>
            <a:lstStyle/>
            <a:p>
              <a:endParaRPr lang="zh-CN" altLang="en-US"/>
            </a:p>
          </p:txBody>
        </p:sp>
      </p:grpSp>
      <p:grpSp>
        <p:nvGrpSpPr>
          <p:cNvPr id="3" name="Group 16"/>
          <p:cNvGrpSpPr>
            <a:grpSpLocks/>
          </p:cNvGrpSpPr>
          <p:nvPr/>
        </p:nvGrpSpPr>
        <p:grpSpPr bwMode="auto">
          <a:xfrm>
            <a:off x="2917825" y="2997200"/>
            <a:ext cx="855663" cy="1228725"/>
            <a:chOff x="4954" y="1914"/>
            <a:chExt cx="539" cy="774"/>
          </a:xfrm>
        </p:grpSpPr>
        <p:sp>
          <p:nvSpPr>
            <p:cNvPr id="12320" name="Line 17"/>
            <p:cNvSpPr>
              <a:spLocks noChangeShapeType="1"/>
            </p:cNvSpPr>
            <p:nvPr/>
          </p:nvSpPr>
          <p:spPr bwMode="auto">
            <a:xfrm flipV="1">
              <a:off x="4954" y="2112"/>
              <a:ext cx="0" cy="576"/>
            </a:xfrm>
            <a:prstGeom prst="line">
              <a:avLst/>
            </a:prstGeom>
            <a:noFill/>
            <a:ln w="38100">
              <a:solidFill>
                <a:srgbClr val="000099"/>
              </a:solidFill>
              <a:round/>
              <a:headEnd/>
              <a:tailEnd type="triangle" w="med" len="med"/>
            </a:ln>
          </p:spPr>
          <p:txBody>
            <a:bodyPr/>
            <a:lstStyle/>
            <a:p>
              <a:endParaRPr lang="zh-CN" altLang="en-US"/>
            </a:p>
          </p:txBody>
        </p:sp>
        <p:graphicFrame>
          <p:nvGraphicFramePr>
            <p:cNvPr id="12294" name="Object 18"/>
            <p:cNvGraphicFramePr>
              <a:graphicFrameLocks noChangeAspect="1"/>
            </p:cNvGraphicFramePr>
            <p:nvPr/>
          </p:nvGraphicFramePr>
          <p:xfrm>
            <a:off x="5002" y="1914"/>
            <a:ext cx="491" cy="438"/>
          </p:xfrm>
          <a:graphic>
            <a:graphicData uri="http://schemas.openxmlformats.org/presentationml/2006/ole">
              <p:oleObj spid="_x0000_s12294" name="Equation" r:id="rId4" imgW="314435" imgH="276210" progId="Equation.3">
                <p:embed/>
              </p:oleObj>
            </a:graphicData>
          </a:graphic>
        </p:graphicFrame>
      </p:grpSp>
      <p:sp>
        <p:nvSpPr>
          <p:cNvPr id="20499" name="Rectangle 19"/>
          <p:cNvSpPr>
            <a:spLocks noChangeArrowheads="1"/>
          </p:cNvSpPr>
          <p:nvPr/>
        </p:nvSpPr>
        <p:spPr bwMode="auto">
          <a:xfrm>
            <a:off x="1535113" y="5200650"/>
            <a:ext cx="522287" cy="457200"/>
          </a:xfrm>
          <a:prstGeom prst="rect">
            <a:avLst/>
          </a:prstGeom>
          <a:noFill/>
          <a:ln w="9525">
            <a:noFill/>
            <a:miter lim="800000"/>
            <a:headEnd/>
            <a:tailEnd/>
          </a:ln>
        </p:spPr>
        <p:txBody>
          <a:bodyPr wrap="none">
            <a:spAutoFit/>
          </a:bodyPr>
          <a:lstStyle/>
          <a:p>
            <a:pPr algn="l"/>
            <a:r>
              <a:rPr kumimoji="1" lang="en-US" altLang="zh-CN" sz="2400" b="1" i="1">
                <a:solidFill>
                  <a:srgbClr val="FF3300"/>
                </a:solidFill>
                <a:latin typeface="Times New Roman" pitchFamily="18" charset="0"/>
              </a:rPr>
              <a:t>E</a:t>
            </a:r>
            <a:r>
              <a:rPr kumimoji="1" lang="en-US" altLang="zh-CN" sz="2400" b="1" i="1" baseline="-25000">
                <a:solidFill>
                  <a:srgbClr val="FF3300"/>
                </a:solidFill>
                <a:latin typeface="Times New Roman" pitchFamily="18" charset="0"/>
              </a:rPr>
              <a:t>w</a:t>
            </a:r>
          </a:p>
        </p:txBody>
      </p:sp>
      <p:sp>
        <p:nvSpPr>
          <p:cNvPr id="20500" name="Line 20"/>
          <p:cNvSpPr>
            <a:spLocks noChangeShapeType="1"/>
          </p:cNvSpPr>
          <p:nvPr/>
        </p:nvSpPr>
        <p:spPr bwMode="auto">
          <a:xfrm rot="2589998" flipH="1">
            <a:off x="1789113" y="5157788"/>
            <a:ext cx="222250" cy="52387"/>
          </a:xfrm>
          <a:prstGeom prst="line">
            <a:avLst/>
          </a:prstGeom>
          <a:noFill/>
          <a:ln w="28575">
            <a:solidFill>
              <a:schemeClr val="tx1"/>
            </a:solidFill>
            <a:round/>
            <a:headEnd/>
            <a:tailEnd type="triangle" w="med" len="lg"/>
          </a:ln>
        </p:spPr>
        <p:txBody>
          <a:bodyPr/>
          <a:lstStyle/>
          <a:p>
            <a:endParaRPr lang="zh-CN" altLang="en-US"/>
          </a:p>
        </p:txBody>
      </p:sp>
      <p:sp>
        <p:nvSpPr>
          <p:cNvPr id="20501" name="Oval 21"/>
          <p:cNvSpPr>
            <a:spLocks noChangeArrowheads="1"/>
          </p:cNvSpPr>
          <p:nvPr/>
        </p:nvSpPr>
        <p:spPr bwMode="auto">
          <a:xfrm>
            <a:off x="5440363" y="4549775"/>
            <a:ext cx="2209800" cy="914400"/>
          </a:xfrm>
          <a:prstGeom prst="ellipse">
            <a:avLst/>
          </a:prstGeom>
          <a:gradFill rotWithShape="1">
            <a:gsLst>
              <a:gs pos="0">
                <a:schemeClr val="accent1">
                  <a:alpha val="64000"/>
                </a:schemeClr>
              </a:gs>
              <a:gs pos="100000">
                <a:schemeClr val="accent1">
                  <a:gamma/>
                  <a:shade val="46275"/>
                  <a:invGamma/>
                  <a:alpha val="71001"/>
                </a:schemeClr>
              </a:gs>
            </a:gsLst>
            <a:path path="shape">
              <a:fillToRect l="50000" t="50000" r="50000" b="50000"/>
            </a:path>
          </a:gradFill>
          <a:ln w="9525">
            <a:solidFill>
              <a:schemeClr val="tx1"/>
            </a:solidFill>
            <a:round/>
            <a:headEnd/>
            <a:tailEnd/>
          </a:ln>
          <a:effectLst/>
          <a:extLst>
            <a:ext uri="{AF507438-7753-43E0-B8FC-AC1667EBCBE1}"/>
          </a:extLst>
        </p:spPr>
        <p:txBody>
          <a:bodyPr wrap="none" anchor="ctr"/>
          <a:lstStyle/>
          <a:p>
            <a:pPr>
              <a:defRPr/>
            </a:pPr>
            <a:endParaRPr lang="zh-CN" altLang="en-US"/>
          </a:p>
        </p:txBody>
      </p:sp>
      <p:grpSp>
        <p:nvGrpSpPr>
          <p:cNvPr id="4" name="Group 22"/>
          <p:cNvGrpSpPr>
            <a:grpSpLocks/>
          </p:cNvGrpSpPr>
          <p:nvPr/>
        </p:nvGrpSpPr>
        <p:grpSpPr bwMode="auto">
          <a:xfrm>
            <a:off x="5364163" y="3711575"/>
            <a:ext cx="2301875" cy="2286000"/>
            <a:chOff x="4166" y="768"/>
            <a:chExt cx="1450" cy="1440"/>
          </a:xfrm>
        </p:grpSpPr>
        <p:sp>
          <p:nvSpPr>
            <p:cNvPr id="12310" name="Line 23"/>
            <p:cNvSpPr>
              <a:spLocks noChangeShapeType="1"/>
            </p:cNvSpPr>
            <p:nvPr/>
          </p:nvSpPr>
          <p:spPr bwMode="auto">
            <a:xfrm flipV="1">
              <a:off x="4512" y="768"/>
              <a:ext cx="0" cy="768"/>
            </a:xfrm>
            <a:prstGeom prst="line">
              <a:avLst/>
            </a:prstGeom>
            <a:noFill/>
            <a:ln w="19050">
              <a:solidFill>
                <a:srgbClr val="0000FF"/>
              </a:solidFill>
              <a:round/>
              <a:headEnd/>
              <a:tailEnd type="triangle" w="med" len="med"/>
            </a:ln>
          </p:spPr>
          <p:txBody>
            <a:bodyPr/>
            <a:lstStyle/>
            <a:p>
              <a:endParaRPr lang="zh-CN" altLang="en-US"/>
            </a:p>
          </p:txBody>
        </p:sp>
        <p:sp>
          <p:nvSpPr>
            <p:cNvPr id="12311" name="Line 24"/>
            <p:cNvSpPr>
              <a:spLocks noChangeShapeType="1"/>
            </p:cNvSpPr>
            <p:nvPr/>
          </p:nvSpPr>
          <p:spPr bwMode="auto">
            <a:xfrm flipV="1">
              <a:off x="4848" y="768"/>
              <a:ext cx="0" cy="768"/>
            </a:xfrm>
            <a:prstGeom prst="line">
              <a:avLst/>
            </a:prstGeom>
            <a:noFill/>
            <a:ln w="19050">
              <a:solidFill>
                <a:srgbClr val="0000FF"/>
              </a:solidFill>
              <a:round/>
              <a:headEnd/>
              <a:tailEnd type="triangle" w="med" len="med"/>
            </a:ln>
          </p:spPr>
          <p:txBody>
            <a:bodyPr/>
            <a:lstStyle/>
            <a:p>
              <a:endParaRPr lang="zh-CN" altLang="en-US"/>
            </a:p>
          </p:txBody>
        </p:sp>
        <p:sp>
          <p:nvSpPr>
            <p:cNvPr id="12312" name="Line 25"/>
            <p:cNvSpPr>
              <a:spLocks noChangeShapeType="1"/>
            </p:cNvSpPr>
            <p:nvPr/>
          </p:nvSpPr>
          <p:spPr bwMode="auto">
            <a:xfrm flipV="1">
              <a:off x="5136" y="768"/>
              <a:ext cx="0" cy="768"/>
            </a:xfrm>
            <a:prstGeom prst="line">
              <a:avLst/>
            </a:prstGeom>
            <a:noFill/>
            <a:ln w="19050">
              <a:solidFill>
                <a:srgbClr val="0000FF"/>
              </a:solidFill>
              <a:round/>
              <a:headEnd/>
              <a:tailEnd type="triangle" w="med" len="med"/>
            </a:ln>
          </p:spPr>
          <p:txBody>
            <a:bodyPr/>
            <a:lstStyle/>
            <a:p>
              <a:endParaRPr lang="zh-CN" altLang="en-US"/>
            </a:p>
          </p:txBody>
        </p:sp>
        <p:sp>
          <p:nvSpPr>
            <p:cNvPr id="12313" name="Line 26"/>
            <p:cNvSpPr>
              <a:spLocks noChangeShapeType="1"/>
            </p:cNvSpPr>
            <p:nvPr/>
          </p:nvSpPr>
          <p:spPr bwMode="auto">
            <a:xfrm flipV="1">
              <a:off x="5424" y="768"/>
              <a:ext cx="0" cy="768"/>
            </a:xfrm>
            <a:prstGeom prst="line">
              <a:avLst/>
            </a:prstGeom>
            <a:noFill/>
            <a:ln w="19050">
              <a:solidFill>
                <a:srgbClr val="0000FF"/>
              </a:solidFill>
              <a:round/>
              <a:headEnd/>
              <a:tailEnd type="triangle" w="med" len="med"/>
            </a:ln>
          </p:spPr>
          <p:txBody>
            <a:bodyPr/>
            <a:lstStyle/>
            <a:p>
              <a:endParaRPr lang="zh-CN" altLang="en-US"/>
            </a:p>
          </p:txBody>
        </p:sp>
        <p:sp>
          <p:nvSpPr>
            <p:cNvPr id="12314" name="Text Box 27"/>
            <p:cNvSpPr txBox="1">
              <a:spLocks noChangeArrowheads="1"/>
            </p:cNvSpPr>
            <p:nvPr/>
          </p:nvSpPr>
          <p:spPr bwMode="auto">
            <a:xfrm>
              <a:off x="4166" y="794"/>
              <a:ext cx="244" cy="288"/>
            </a:xfrm>
            <a:prstGeom prst="rect">
              <a:avLst/>
            </a:prstGeom>
            <a:noFill/>
            <a:ln w="9525">
              <a:noFill/>
              <a:miter lim="800000"/>
              <a:headEnd/>
              <a:tailEnd/>
            </a:ln>
          </p:spPr>
          <p:txBody>
            <a:bodyPr wrap="none">
              <a:spAutoFit/>
            </a:bodyPr>
            <a:lstStyle/>
            <a:p>
              <a:pPr algn="l"/>
              <a:r>
                <a:rPr kumimoji="1" lang="en-US" altLang="zh-CN" sz="2400" b="1" i="1">
                  <a:latin typeface="Times New Roman" pitchFamily="18" charset="0"/>
                </a:rPr>
                <a:t>B</a:t>
              </a:r>
            </a:p>
          </p:txBody>
        </p:sp>
        <p:sp>
          <p:nvSpPr>
            <p:cNvPr id="12315" name="Oval 28"/>
            <p:cNvSpPr>
              <a:spLocks noChangeArrowheads="1"/>
            </p:cNvSpPr>
            <p:nvPr/>
          </p:nvSpPr>
          <p:spPr bwMode="auto">
            <a:xfrm>
              <a:off x="4224" y="1296"/>
              <a:ext cx="1392" cy="576"/>
            </a:xfrm>
            <a:prstGeom prst="ellipse">
              <a:avLst/>
            </a:prstGeom>
            <a:noFill/>
            <a:ln w="28575">
              <a:solidFill>
                <a:srgbClr val="FF0000"/>
              </a:solidFill>
              <a:round/>
              <a:headEnd/>
              <a:tailEnd/>
            </a:ln>
          </p:spPr>
          <p:txBody>
            <a:bodyPr wrap="none" anchor="ctr"/>
            <a:lstStyle/>
            <a:p>
              <a:endParaRPr lang="zh-CN" altLang="en-US"/>
            </a:p>
          </p:txBody>
        </p:sp>
        <p:sp>
          <p:nvSpPr>
            <p:cNvPr id="12316" name="Line 29"/>
            <p:cNvSpPr>
              <a:spLocks noChangeShapeType="1"/>
            </p:cNvSpPr>
            <p:nvPr/>
          </p:nvSpPr>
          <p:spPr bwMode="auto">
            <a:xfrm>
              <a:off x="4512" y="1824"/>
              <a:ext cx="0" cy="336"/>
            </a:xfrm>
            <a:prstGeom prst="line">
              <a:avLst/>
            </a:prstGeom>
            <a:noFill/>
            <a:ln w="9525">
              <a:solidFill>
                <a:srgbClr val="0000FF"/>
              </a:solidFill>
              <a:round/>
              <a:headEnd/>
              <a:tailEnd/>
            </a:ln>
          </p:spPr>
          <p:txBody>
            <a:bodyPr/>
            <a:lstStyle/>
            <a:p>
              <a:endParaRPr lang="zh-CN" altLang="en-US"/>
            </a:p>
          </p:txBody>
        </p:sp>
        <p:sp>
          <p:nvSpPr>
            <p:cNvPr id="12317" name="Line 30"/>
            <p:cNvSpPr>
              <a:spLocks noChangeShapeType="1"/>
            </p:cNvSpPr>
            <p:nvPr/>
          </p:nvSpPr>
          <p:spPr bwMode="auto">
            <a:xfrm>
              <a:off x="4848" y="1872"/>
              <a:ext cx="0" cy="336"/>
            </a:xfrm>
            <a:prstGeom prst="line">
              <a:avLst/>
            </a:prstGeom>
            <a:noFill/>
            <a:ln w="9525">
              <a:solidFill>
                <a:srgbClr val="0000FF"/>
              </a:solidFill>
              <a:round/>
              <a:headEnd/>
              <a:tailEnd/>
            </a:ln>
          </p:spPr>
          <p:txBody>
            <a:bodyPr/>
            <a:lstStyle/>
            <a:p>
              <a:endParaRPr lang="zh-CN" altLang="en-US"/>
            </a:p>
          </p:txBody>
        </p:sp>
        <p:sp>
          <p:nvSpPr>
            <p:cNvPr id="12318" name="Line 31"/>
            <p:cNvSpPr>
              <a:spLocks noChangeShapeType="1"/>
            </p:cNvSpPr>
            <p:nvPr/>
          </p:nvSpPr>
          <p:spPr bwMode="auto">
            <a:xfrm>
              <a:off x="5136" y="1872"/>
              <a:ext cx="0" cy="336"/>
            </a:xfrm>
            <a:prstGeom prst="line">
              <a:avLst/>
            </a:prstGeom>
            <a:noFill/>
            <a:ln w="9525">
              <a:solidFill>
                <a:srgbClr val="0000FF"/>
              </a:solidFill>
              <a:round/>
              <a:headEnd/>
              <a:tailEnd/>
            </a:ln>
          </p:spPr>
          <p:txBody>
            <a:bodyPr/>
            <a:lstStyle/>
            <a:p>
              <a:endParaRPr lang="zh-CN" altLang="en-US"/>
            </a:p>
          </p:txBody>
        </p:sp>
        <p:sp>
          <p:nvSpPr>
            <p:cNvPr id="12319" name="Line 32"/>
            <p:cNvSpPr>
              <a:spLocks noChangeShapeType="1"/>
            </p:cNvSpPr>
            <p:nvPr/>
          </p:nvSpPr>
          <p:spPr bwMode="auto">
            <a:xfrm>
              <a:off x="5424" y="1824"/>
              <a:ext cx="0" cy="336"/>
            </a:xfrm>
            <a:prstGeom prst="line">
              <a:avLst/>
            </a:prstGeom>
            <a:noFill/>
            <a:ln w="9525">
              <a:solidFill>
                <a:srgbClr val="0000FF"/>
              </a:solidFill>
              <a:round/>
              <a:headEnd/>
              <a:tailEnd/>
            </a:ln>
          </p:spPr>
          <p:txBody>
            <a:bodyPr/>
            <a:lstStyle/>
            <a:p>
              <a:endParaRPr lang="zh-CN" altLang="en-US"/>
            </a:p>
          </p:txBody>
        </p:sp>
      </p:grpSp>
      <p:grpSp>
        <p:nvGrpSpPr>
          <p:cNvPr id="5" name="Group 33"/>
          <p:cNvGrpSpPr>
            <a:grpSpLocks/>
          </p:cNvGrpSpPr>
          <p:nvPr/>
        </p:nvGrpSpPr>
        <p:grpSpPr bwMode="auto">
          <a:xfrm>
            <a:off x="6675438" y="3086100"/>
            <a:ext cx="855662" cy="1228725"/>
            <a:chOff x="3199" y="184"/>
            <a:chExt cx="539" cy="774"/>
          </a:xfrm>
        </p:grpSpPr>
        <p:sp>
          <p:nvSpPr>
            <p:cNvPr id="12309" name="Line 34"/>
            <p:cNvSpPr>
              <a:spLocks noChangeShapeType="1"/>
            </p:cNvSpPr>
            <p:nvPr/>
          </p:nvSpPr>
          <p:spPr bwMode="auto">
            <a:xfrm flipV="1">
              <a:off x="3199" y="382"/>
              <a:ext cx="0" cy="576"/>
            </a:xfrm>
            <a:prstGeom prst="line">
              <a:avLst/>
            </a:prstGeom>
            <a:noFill/>
            <a:ln w="38100">
              <a:solidFill>
                <a:srgbClr val="000099"/>
              </a:solidFill>
              <a:round/>
              <a:headEnd type="triangle" w="med" len="med"/>
              <a:tailEnd/>
            </a:ln>
          </p:spPr>
          <p:txBody>
            <a:bodyPr/>
            <a:lstStyle/>
            <a:p>
              <a:endParaRPr lang="zh-CN" altLang="en-US"/>
            </a:p>
          </p:txBody>
        </p:sp>
        <p:graphicFrame>
          <p:nvGraphicFramePr>
            <p:cNvPr id="12293" name="Object 35"/>
            <p:cNvGraphicFramePr>
              <a:graphicFrameLocks noChangeAspect="1"/>
            </p:cNvGraphicFramePr>
            <p:nvPr/>
          </p:nvGraphicFramePr>
          <p:xfrm>
            <a:off x="3247" y="184"/>
            <a:ext cx="491" cy="438"/>
          </p:xfrm>
          <a:graphic>
            <a:graphicData uri="http://schemas.openxmlformats.org/presentationml/2006/ole">
              <p:oleObj spid="_x0000_s12293" name="Equation" r:id="rId5" imgW="314435" imgH="276210" progId="Equation.3">
                <p:embed/>
              </p:oleObj>
            </a:graphicData>
          </a:graphic>
        </p:graphicFrame>
      </p:grpSp>
      <p:sp>
        <p:nvSpPr>
          <p:cNvPr id="20516" name="Rectangle 36"/>
          <p:cNvSpPr>
            <a:spLocks noChangeArrowheads="1"/>
          </p:cNvSpPr>
          <p:nvPr/>
        </p:nvSpPr>
        <p:spPr bwMode="auto">
          <a:xfrm>
            <a:off x="5345113" y="5276850"/>
            <a:ext cx="522287" cy="457200"/>
          </a:xfrm>
          <a:prstGeom prst="rect">
            <a:avLst/>
          </a:prstGeom>
          <a:noFill/>
          <a:ln w="9525">
            <a:noFill/>
            <a:miter lim="800000"/>
            <a:headEnd/>
            <a:tailEnd/>
          </a:ln>
        </p:spPr>
        <p:txBody>
          <a:bodyPr wrap="none">
            <a:spAutoFit/>
          </a:bodyPr>
          <a:lstStyle/>
          <a:p>
            <a:pPr algn="l"/>
            <a:r>
              <a:rPr kumimoji="1" lang="en-US" altLang="zh-CN" sz="2400" b="1" i="1">
                <a:solidFill>
                  <a:srgbClr val="FF3300"/>
                </a:solidFill>
                <a:latin typeface="Times New Roman" pitchFamily="18" charset="0"/>
              </a:rPr>
              <a:t>E</a:t>
            </a:r>
            <a:r>
              <a:rPr kumimoji="1" lang="en-US" altLang="zh-CN" sz="2400" b="1" i="1" baseline="-25000">
                <a:solidFill>
                  <a:srgbClr val="FF3300"/>
                </a:solidFill>
                <a:latin typeface="Times New Roman" pitchFamily="18" charset="0"/>
              </a:rPr>
              <a:t>w</a:t>
            </a:r>
          </a:p>
        </p:txBody>
      </p:sp>
      <p:sp>
        <p:nvSpPr>
          <p:cNvPr id="20517" name="Line 37"/>
          <p:cNvSpPr>
            <a:spLocks noChangeShapeType="1"/>
          </p:cNvSpPr>
          <p:nvPr/>
        </p:nvSpPr>
        <p:spPr bwMode="auto">
          <a:xfrm rot="-234229">
            <a:off x="5605463" y="5238750"/>
            <a:ext cx="230187" cy="133350"/>
          </a:xfrm>
          <a:prstGeom prst="line">
            <a:avLst/>
          </a:prstGeom>
          <a:noFill/>
          <a:ln w="28575">
            <a:solidFill>
              <a:schemeClr val="tx1"/>
            </a:solidFill>
            <a:round/>
            <a:headEnd/>
            <a:tailEnd type="triangle" w="med" len="lg"/>
          </a:ln>
        </p:spPr>
        <p:txBody>
          <a:bodyPr/>
          <a:lstStyle/>
          <a:p>
            <a:endParaRPr lang="zh-CN" altLang="en-US"/>
          </a:p>
        </p:txBody>
      </p:sp>
      <p:graphicFrame>
        <p:nvGraphicFramePr>
          <p:cNvPr id="20518" name="Object 38"/>
          <p:cNvGraphicFramePr>
            <a:graphicFrameLocks noChangeAspect="1"/>
          </p:cNvGraphicFramePr>
          <p:nvPr/>
        </p:nvGraphicFramePr>
        <p:xfrm>
          <a:off x="827088" y="2241550"/>
          <a:ext cx="417512" cy="438150"/>
        </p:xfrm>
        <a:graphic>
          <a:graphicData uri="http://schemas.openxmlformats.org/presentationml/2006/ole">
            <p:oleObj spid="_x0000_s12291" name="公式" r:id="rId6" imgW="190444" imgH="200070" progId="Equation.3">
              <p:embed/>
            </p:oleObj>
          </a:graphicData>
        </a:graphic>
      </p:graphicFrame>
      <p:graphicFrame>
        <p:nvGraphicFramePr>
          <p:cNvPr id="20519" name="Object 39"/>
          <p:cNvGraphicFramePr>
            <a:graphicFrameLocks noChangeAspect="1"/>
          </p:cNvGraphicFramePr>
          <p:nvPr/>
        </p:nvGraphicFramePr>
        <p:xfrm>
          <a:off x="1631950" y="2025650"/>
          <a:ext cx="457200" cy="755650"/>
        </p:xfrm>
        <a:graphic>
          <a:graphicData uri="http://schemas.openxmlformats.org/presentationml/2006/ole">
            <p:oleObj spid="_x0000_s12292" name="公式" r:id="rId7" imgW="219078" imgH="380970" progId="Equation.3">
              <p:embed/>
            </p:oleObj>
          </a:graphicData>
        </a:graphic>
      </p:graphicFrame>
      <p:sp>
        <p:nvSpPr>
          <p:cNvPr id="20520" name="Text Box 40"/>
          <p:cNvSpPr txBox="1">
            <a:spLocks noChangeArrowheads="1"/>
          </p:cNvSpPr>
          <p:nvPr/>
        </p:nvSpPr>
        <p:spPr bwMode="auto">
          <a:xfrm>
            <a:off x="2032000" y="2198688"/>
            <a:ext cx="6049963" cy="457200"/>
          </a:xfrm>
          <a:prstGeom prst="rect">
            <a:avLst/>
          </a:prstGeom>
          <a:noFill/>
          <a:ln w="9525">
            <a:noFill/>
            <a:miter lim="800000"/>
            <a:headEnd/>
            <a:tailEnd/>
          </a:ln>
        </p:spPr>
        <p:txBody>
          <a:bodyPr>
            <a:spAutoFit/>
          </a:bodyPr>
          <a:lstStyle/>
          <a:p>
            <a:pPr algn="l"/>
            <a:r>
              <a:rPr kumimoji="1" lang="zh-CN" altLang="en-US" sz="2400" b="1">
                <a:latin typeface="楷体_GB2312" pitchFamily="49" charset="-122"/>
                <a:ea typeface="楷体_GB2312" pitchFamily="49" charset="-122"/>
              </a:rPr>
              <a:t>符合</a:t>
            </a:r>
            <a:r>
              <a:rPr kumimoji="1" lang="zh-CN" altLang="en-US" sz="2400" b="1">
                <a:solidFill>
                  <a:srgbClr val="FF3300"/>
                </a:solidFill>
                <a:latin typeface="楷体_GB2312" pitchFamily="49" charset="-122"/>
                <a:ea typeface="楷体_GB2312" pitchFamily="49" charset="-122"/>
              </a:rPr>
              <a:t>左螺旋法则</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此关系满足楞次定律</a:t>
            </a:r>
          </a:p>
        </p:txBody>
      </p:sp>
      <p:sp>
        <p:nvSpPr>
          <p:cNvPr id="20521" name="Text Box 41"/>
          <p:cNvSpPr txBox="1">
            <a:spLocks noChangeArrowheads="1"/>
          </p:cNvSpPr>
          <p:nvPr/>
        </p:nvSpPr>
        <p:spPr bwMode="auto">
          <a:xfrm>
            <a:off x="1127125" y="2170113"/>
            <a:ext cx="1584325" cy="457200"/>
          </a:xfrm>
          <a:prstGeom prst="rect">
            <a:avLst/>
          </a:prstGeom>
          <a:noFill/>
          <a:ln w="9525">
            <a:noFill/>
            <a:miter lim="800000"/>
            <a:headEnd/>
            <a:tailEnd/>
          </a:ln>
        </p:spPr>
        <p:txBody>
          <a:bodyPr>
            <a:spAutoFit/>
          </a:bodyPr>
          <a:lstStyle/>
          <a:p>
            <a:pPr algn="l"/>
            <a:r>
              <a:rPr kumimoji="1" lang="zh-CN" altLang="en-US" sz="2400" b="1">
                <a:latin typeface="楷体_GB2312" pitchFamily="49" charset="-122"/>
                <a:ea typeface="楷体_GB2312" pitchFamily="49" charset="-122"/>
              </a:rPr>
              <a:t>与</a:t>
            </a:r>
            <a:endParaRPr kumimoji="1" lang="zh-CN" altLang="en-US" sz="2400">
              <a:latin typeface="楷体_GB2312" pitchFamily="49" charset="-122"/>
              <a:ea typeface="楷体_GB2312" pitchFamily="49" charset="-122"/>
            </a:endParaRPr>
          </a:p>
        </p:txBody>
      </p:sp>
      <p:sp>
        <p:nvSpPr>
          <p:cNvPr id="20522" name="AutoShape 42"/>
          <p:cNvSpPr>
            <a:spLocks noChangeArrowheads="1"/>
          </p:cNvSpPr>
          <p:nvPr/>
        </p:nvSpPr>
        <p:spPr bwMode="auto">
          <a:xfrm>
            <a:off x="250825" y="50323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22"/>
                                        </p:tgtEl>
                                        <p:attrNameLst>
                                          <p:attrName>style.visibility</p:attrName>
                                        </p:attrNameLst>
                                      </p:cBhvr>
                                      <p:to>
                                        <p:strVal val="visible"/>
                                      </p:to>
                                    </p:set>
                                    <p:animEffect transition="in" filter="dissolve">
                                      <p:cBhvr>
                                        <p:cTn id="7" dur="1000"/>
                                        <p:tgtEl>
                                          <p:spTgt spid="20522"/>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0483"/>
                                        </p:tgtEl>
                                        <p:attrNameLst>
                                          <p:attrName>style.visibility</p:attrName>
                                        </p:attrNameLst>
                                      </p:cBhvr>
                                      <p:to>
                                        <p:strVal val="visible"/>
                                      </p:to>
                                    </p:set>
                                    <p:animEffect transition="in" filter="wipe(left)">
                                      <p:cBhvr>
                                        <p:cTn id="11" dur="500"/>
                                        <p:tgtEl>
                                          <p:spTgt spid="2048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0482"/>
                                        </p:tgtEl>
                                        <p:attrNameLst>
                                          <p:attrName>style.visibility</p:attrName>
                                        </p:attrNameLst>
                                      </p:cBhvr>
                                      <p:to>
                                        <p:strVal val="visible"/>
                                      </p:to>
                                    </p:set>
                                    <p:animEffect transition="in" filter="wipe(left)">
                                      <p:cBhvr>
                                        <p:cTn id="16" dur="2000"/>
                                        <p:tgtEl>
                                          <p:spTgt spid="2048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20518"/>
                                        </p:tgtEl>
                                        <p:attrNameLst>
                                          <p:attrName>style.visibility</p:attrName>
                                        </p:attrNameLst>
                                      </p:cBhvr>
                                      <p:to>
                                        <p:strVal val="visible"/>
                                      </p:to>
                                    </p:set>
                                    <p:animEffect transition="in" filter="wipe(left)">
                                      <p:cBhvr>
                                        <p:cTn id="21" dur="500"/>
                                        <p:tgtEl>
                                          <p:spTgt spid="20518"/>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20521"/>
                                        </p:tgtEl>
                                        <p:attrNameLst>
                                          <p:attrName>style.visibility</p:attrName>
                                        </p:attrNameLst>
                                      </p:cBhvr>
                                      <p:to>
                                        <p:strVal val="visible"/>
                                      </p:to>
                                    </p:set>
                                    <p:animEffect transition="in" filter="wipe(left)">
                                      <p:cBhvr>
                                        <p:cTn id="25" dur="500"/>
                                        <p:tgtEl>
                                          <p:spTgt spid="20521"/>
                                        </p:tgtEl>
                                      </p:cBhvr>
                                    </p:animEffect>
                                  </p:childTnLst>
                                </p:cTn>
                              </p:par>
                            </p:childTnLst>
                          </p:cTn>
                        </p:par>
                        <p:par>
                          <p:cTn id="26" fill="hold" nodeType="afterGroup">
                            <p:stCondLst>
                              <p:cond delay="1000"/>
                            </p:stCondLst>
                            <p:childTnLst>
                              <p:par>
                                <p:cTn id="27" presetID="22" presetClass="entr" presetSubtype="8" fill="hold" nodeType="afterEffect">
                                  <p:stCondLst>
                                    <p:cond delay="0"/>
                                  </p:stCondLst>
                                  <p:childTnLst>
                                    <p:set>
                                      <p:cBhvr>
                                        <p:cTn id="28" dur="1" fill="hold">
                                          <p:stCondLst>
                                            <p:cond delay="0"/>
                                          </p:stCondLst>
                                        </p:cTn>
                                        <p:tgtEl>
                                          <p:spTgt spid="20519"/>
                                        </p:tgtEl>
                                        <p:attrNameLst>
                                          <p:attrName>style.visibility</p:attrName>
                                        </p:attrNameLst>
                                      </p:cBhvr>
                                      <p:to>
                                        <p:strVal val="visible"/>
                                      </p:to>
                                    </p:set>
                                    <p:animEffect transition="in" filter="wipe(left)">
                                      <p:cBhvr>
                                        <p:cTn id="29" dur="500"/>
                                        <p:tgtEl>
                                          <p:spTgt spid="20519"/>
                                        </p:tgtEl>
                                      </p:cBhvr>
                                    </p:animEffect>
                                  </p:childTnLst>
                                </p:cTn>
                              </p:par>
                            </p:childTnLst>
                          </p:cTn>
                        </p:par>
                        <p:par>
                          <p:cTn id="30" fill="hold" nodeType="afterGroup">
                            <p:stCondLst>
                              <p:cond delay="1500"/>
                            </p:stCondLst>
                            <p:childTnLst>
                              <p:par>
                                <p:cTn id="31" presetID="22" presetClass="entr" presetSubtype="8" fill="hold" grpId="0" nodeType="afterEffect">
                                  <p:stCondLst>
                                    <p:cond delay="0"/>
                                  </p:stCondLst>
                                  <p:childTnLst>
                                    <p:set>
                                      <p:cBhvr>
                                        <p:cTn id="32" dur="1" fill="hold">
                                          <p:stCondLst>
                                            <p:cond delay="0"/>
                                          </p:stCondLst>
                                        </p:cTn>
                                        <p:tgtEl>
                                          <p:spTgt spid="20520"/>
                                        </p:tgtEl>
                                        <p:attrNameLst>
                                          <p:attrName>style.visibility</p:attrName>
                                        </p:attrNameLst>
                                      </p:cBhvr>
                                      <p:to>
                                        <p:strVal val="visible"/>
                                      </p:to>
                                    </p:set>
                                    <p:animEffect transition="in" filter="wipe(left)">
                                      <p:cBhvr>
                                        <p:cTn id="33" dur="500"/>
                                        <p:tgtEl>
                                          <p:spTgt spid="2052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nodeType="clickEffect">
                                  <p:stCondLst>
                                    <p:cond delay="0"/>
                                  </p:stCondLst>
                                  <p:childTnLst>
                                    <p:set>
                                      <p:cBhvr>
                                        <p:cTn id="37" dur="1" fill="hold">
                                          <p:stCondLst>
                                            <p:cond delay="499"/>
                                          </p:stCondLst>
                                        </p:cTn>
                                        <p:tgtEl>
                                          <p:spTgt spid="2"/>
                                        </p:tgtEl>
                                        <p:attrNameLst>
                                          <p:attrName>style.visibility</p:attrName>
                                        </p:attrNameLst>
                                      </p:cBhvr>
                                      <p:to>
                                        <p:strVal val="visible"/>
                                      </p:to>
                                    </p:set>
                                  </p:childTnLst>
                                </p:cTn>
                              </p:par>
                            </p:childTnLst>
                          </p:cTn>
                        </p:par>
                        <p:par>
                          <p:cTn id="38" fill="hold" nodeType="afterGroup">
                            <p:stCondLst>
                              <p:cond delay="500"/>
                            </p:stCondLst>
                            <p:childTnLst>
                              <p:par>
                                <p:cTn id="39" presetID="1" presetClass="entr" presetSubtype="0" fill="hold" grpId="0" nodeType="afterEffect">
                                  <p:stCondLst>
                                    <p:cond delay="0"/>
                                  </p:stCondLst>
                                  <p:childTnLst>
                                    <p:set>
                                      <p:cBhvr>
                                        <p:cTn id="40" dur="1" fill="hold">
                                          <p:stCondLst>
                                            <p:cond delay="0"/>
                                          </p:stCondLst>
                                        </p:cTn>
                                        <p:tgtEl>
                                          <p:spTgt spid="20484"/>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4"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down)">
                                      <p:cBhvr>
                                        <p:cTn id="45" dur="5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0499"/>
                                        </p:tgtEl>
                                        <p:attrNameLst>
                                          <p:attrName>style.visibility</p:attrName>
                                        </p:attrNameLst>
                                      </p:cBhvr>
                                      <p:to>
                                        <p:strVal val="visible"/>
                                      </p:to>
                                    </p:set>
                                  </p:childTnLst>
                                </p:cTn>
                              </p:par>
                              <p:par>
                                <p:cTn id="50" presetID="22" presetClass="entr" presetSubtype="2" fill="hold" grpId="0" nodeType="withEffect">
                                  <p:stCondLst>
                                    <p:cond delay="0"/>
                                  </p:stCondLst>
                                  <p:childTnLst>
                                    <p:set>
                                      <p:cBhvr>
                                        <p:cTn id="51" dur="1" fill="hold">
                                          <p:stCondLst>
                                            <p:cond delay="0"/>
                                          </p:stCondLst>
                                        </p:cTn>
                                        <p:tgtEl>
                                          <p:spTgt spid="20500"/>
                                        </p:tgtEl>
                                        <p:attrNameLst>
                                          <p:attrName>style.visibility</p:attrName>
                                        </p:attrNameLst>
                                      </p:cBhvr>
                                      <p:to>
                                        <p:strVal val="visible"/>
                                      </p:to>
                                    </p:set>
                                    <p:animEffect transition="in" filter="wipe(right)">
                                      <p:cBhvr>
                                        <p:cTn id="52" dur="500"/>
                                        <p:tgtEl>
                                          <p:spTgt spid="2050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499"/>
                                          </p:stCondLst>
                                        </p:cTn>
                                        <p:tgtEl>
                                          <p:spTgt spid="4"/>
                                        </p:tgtEl>
                                        <p:attrNameLst>
                                          <p:attrName>style.visibility</p:attrName>
                                        </p:attrNameLst>
                                      </p:cBhvr>
                                      <p:to>
                                        <p:strVal val="visible"/>
                                      </p:to>
                                    </p:set>
                                  </p:childTnLst>
                                </p:cTn>
                              </p:par>
                            </p:childTnLst>
                          </p:cTn>
                        </p:par>
                        <p:par>
                          <p:cTn id="57" fill="hold" nodeType="afterGroup">
                            <p:stCondLst>
                              <p:cond delay="500"/>
                            </p:stCondLst>
                            <p:childTnLst>
                              <p:par>
                                <p:cTn id="58" presetID="1" presetClass="entr" presetSubtype="0" fill="hold" grpId="0" nodeType="afterEffect">
                                  <p:stCondLst>
                                    <p:cond delay="0"/>
                                  </p:stCondLst>
                                  <p:childTnLst>
                                    <p:set>
                                      <p:cBhvr>
                                        <p:cTn id="59" dur="1" fill="hold">
                                          <p:stCondLst>
                                            <p:cond delay="0"/>
                                          </p:stCondLst>
                                        </p:cTn>
                                        <p:tgtEl>
                                          <p:spTgt spid="20501"/>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5"/>
                                        </p:tgtEl>
                                        <p:attrNameLst>
                                          <p:attrName>style.visibility</p:attrName>
                                        </p:attrNameLst>
                                      </p:cBhvr>
                                      <p:to>
                                        <p:strVal val="visible"/>
                                      </p:to>
                                    </p:set>
                                    <p:animEffect transition="in" filter="wipe(up)">
                                      <p:cBhvr>
                                        <p:cTn id="64" dur="500"/>
                                        <p:tgtEl>
                                          <p:spTgt spid="5"/>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0516"/>
                                        </p:tgtEl>
                                        <p:attrNameLst>
                                          <p:attrName>style.visibility</p:attrName>
                                        </p:attrNameLst>
                                      </p:cBhvr>
                                      <p:to>
                                        <p:strVal val="visible"/>
                                      </p:to>
                                    </p:set>
                                  </p:childTnLst>
                                </p:cTn>
                              </p:par>
                              <p:par>
                                <p:cTn id="69" presetID="22" presetClass="entr" presetSubtype="8" fill="hold" grpId="0" nodeType="withEffect">
                                  <p:stCondLst>
                                    <p:cond delay="0"/>
                                  </p:stCondLst>
                                  <p:childTnLst>
                                    <p:set>
                                      <p:cBhvr>
                                        <p:cTn id="70" dur="1" fill="hold">
                                          <p:stCondLst>
                                            <p:cond delay="0"/>
                                          </p:stCondLst>
                                        </p:cTn>
                                        <p:tgtEl>
                                          <p:spTgt spid="20517"/>
                                        </p:tgtEl>
                                        <p:attrNameLst>
                                          <p:attrName>style.visibility</p:attrName>
                                        </p:attrNameLst>
                                      </p:cBhvr>
                                      <p:to>
                                        <p:strVal val="visible"/>
                                      </p:to>
                                    </p:set>
                                    <p:animEffect transition="in" filter="wipe(left)">
                                      <p:cBhvr>
                                        <p:cTn id="71" dur="500"/>
                                        <p:tgtEl>
                                          <p:spTgt spid="20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autoUpdateAnimBg="0"/>
      <p:bldP spid="20484" grpId="0" animBg="1"/>
      <p:bldP spid="20499" grpId="0"/>
      <p:bldP spid="20500" grpId="0" animBg="1"/>
      <p:bldP spid="20501" grpId="0" animBg="1"/>
      <p:bldP spid="20516" grpId="0"/>
      <p:bldP spid="20517" grpId="0" animBg="1"/>
      <p:bldP spid="20520" grpId="0" autoUpdateAnimBg="0"/>
      <p:bldP spid="20521" grpId="0" autoUpdateAnimBg="0"/>
      <p:bldP spid="2052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6305550" y="1644650"/>
            <a:ext cx="2335213" cy="1905000"/>
            <a:chOff x="3972" y="1036"/>
            <a:chExt cx="1471" cy="1200"/>
          </a:xfrm>
        </p:grpSpPr>
        <p:sp>
          <p:nvSpPr>
            <p:cNvPr id="13357" name="Oval 3"/>
            <p:cNvSpPr>
              <a:spLocks noChangeArrowheads="1"/>
            </p:cNvSpPr>
            <p:nvPr/>
          </p:nvSpPr>
          <p:spPr bwMode="auto">
            <a:xfrm>
              <a:off x="3972" y="1036"/>
              <a:ext cx="1200" cy="1200"/>
            </a:xfrm>
            <a:prstGeom prst="ellipse">
              <a:avLst/>
            </a:prstGeom>
            <a:gradFill rotWithShape="1">
              <a:gsLst>
                <a:gs pos="0">
                  <a:srgbClr val="CCFFFF"/>
                </a:gs>
                <a:gs pos="100000">
                  <a:srgbClr val="688282"/>
                </a:gs>
              </a:gsLst>
              <a:lin ang="5400000" scaled="1"/>
            </a:gradFill>
            <a:ln w="28575">
              <a:solidFill>
                <a:schemeClr val="bg1"/>
              </a:solidFill>
              <a:round/>
              <a:headEnd/>
              <a:tailEnd/>
            </a:ln>
          </p:spPr>
          <p:txBody>
            <a:bodyPr wrap="none" anchor="ctr"/>
            <a:lstStyle/>
            <a:p>
              <a:endParaRPr lang="zh-CN" altLang="en-US"/>
            </a:p>
          </p:txBody>
        </p:sp>
        <p:sp>
          <p:nvSpPr>
            <p:cNvPr id="13358" name="Line 4"/>
            <p:cNvSpPr>
              <a:spLocks noChangeShapeType="1"/>
            </p:cNvSpPr>
            <p:nvPr/>
          </p:nvSpPr>
          <p:spPr bwMode="auto">
            <a:xfrm>
              <a:off x="4535" y="1616"/>
              <a:ext cx="589" cy="284"/>
            </a:xfrm>
            <a:prstGeom prst="line">
              <a:avLst/>
            </a:prstGeom>
            <a:noFill/>
            <a:ln w="28575">
              <a:solidFill>
                <a:srgbClr val="FF0000"/>
              </a:solidFill>
              <a:round/>
              <a:headEnd/>
              <a:tailEnd type="triangle" w="med" len="med"/>
            </a:ln>
          </p:spPr>
          <p:txBody>
            <a:bodyPr/>
            <a:lstStyle/>
            <a:p>
              <a:endParaRPr lang="zh-CN" altLang="en-US"/>
            </a:p>
          </p:txBody>
        </p:sp>
        <p:sp>
          <p:nvSpPr>
            <p:cNvPr id="13359" name="Text Box 5"/>
            <p:cNvSpPr txBox="1">
              <a:spLocks noChangeArrowheads="1"/>
            </p:cNvSpPr>
            <p:nvPr/>
          </p:nvSpPr>
          <p:spPr bwMode="auto">
            <a:xfrm>
              <a:off x="5210" y="1830"/>
              <a:ext cx="233" cy="288"/>
            </a:xfrm>
            <a:prstGeom prst="rect">
              <a:avLst/>
            </a:prstGeom>
            <a:noFill/>
            <a:ln w="9525">
              <a:noFill/>
              <a:miter lim="800000"/>
              <a:headEnd/>
              <a:tailEnd/>
            </a:ln>
          </p:spPr>
          <p:txBody>
            <a:bodyPr wrap="none">
              <a:spAutoFit/>
            </a:bodyPr>
            <a:lstStyle/>
            <a:p>
              <a:pPr algn="l"/>
              <a:r>
                <a:rPr kumimoji="1" lang="en-US" altLang="zh-CN" sz="2400" i="1">
                  <a:solidFill>
                    <a:srgbClr val="FF0000"/>
                  </a:solidFill>
                  <a:latin typeface="Times New Roman" pitchFamily="18" charset="0"/>
                </a:rPr>
                <a:t>R</a:t>
              </a:r>
            </a:p>
          </p:txBody>
        </p:sp>
        <p:graphicFrame>
          <p:nvGraphicFramePr>
            <p:cNvPr id="13322" name="Object 6"/>
            <p:cNvGraphicFramePr>
              <a:graphicFrameLocks noChangeAspect="1"/>
            </p:cNvGraphicFramePr>
            <p:nvPr/>
          </p:nvGraphicFramePr>
          <p:xfrm>
            <a:off x="4311" y="1217"/>
            <a:ext cx="182" cy="168"/>
          </p:xfrm>
          <a:graphic>
            <a:graphicData uri="http://schemas.openxmlformats.org/presentationml/2006/ole">
              <p:oleObj spid="_x0000_s13322" name="公式" r:id="rId3" imgW="161810" imgH="190620" progId="Equation.3">
                <p:embed/>
              </p:oleObj>
            </a:graphicData>
          </a:graphic>
        </p:graphicFrame>
        <p:graphicFrame>
          <p:nvGraphicFramePr>
            <p:cNvPr id="13323" name="Object 7"/>
            <p:cNvGraphicFramePr>
              <a:graphicFrameLocks noChangeAspect="1"/>
            </p:cNvGraphicFramePr>
            <p:nvPr/>
          </p:nvGraphicFramePr>
          <p:xfrm>
            <a:off x="4629" y="1217"/>
            <a:ext cx="182" cy="168"/>
          </p:xfrm>
          <a:graphic>
            <a:graphicData uri="http://schemas.openxmlformats.org/presentationml/2006/ole">
              <p:oleObj spid="_x0000_s13323" name="公式" r:id="rId4" imgW="161810" imgH="190620" progId="Equation.3">
                <p:embed/>
              </p:oleObj>
            </a:graphicData>
          </a:graphic>
        </p:graphicFrame>
        <p:graphicFrame>
          <p:nvGraphicFramePr>
            <p:cNvPr id="13324" name="Object 8"/>
            <p:cNvGraphicFramePr>
              <a:graphicFrameLocks noChangeAspect="1"/>
            </p:cNvGraphicFramePr>
            <p:nvPr/>
          </p:nvGraphicFramePr>
          <p:xfrm>
            <a:off x="4108" y="1562"/>
            <a:ext cx="182" cy="168"/>
          </p:xfrm>
          <a:graphic>
            <a:graphicData uri="http://schemas.openxmlformats.org/presentationml/2006/ole">
              <p:oleObj spid="_x0000_s13324" name="公式" r:id="rId5" imgW="161810" imgH="190620" progId="Equation.3">
                <p:embed/>
              </p:oleObj>
            </a:graphicData>
          </a:graphic>
        </p:graphicFrame>
        <p:graphicFrame>
          <p:nvGraphicFramePr>
            <p:cNvPr id="13325" name="Object 9"/>
            <p:cNvGraphicFramePr>
              <a:graphicFrameLocks noChangeAspect="1"/>
            </p:cNvGraphicFramePr>
            <p:nvPr/>
          </p:nvGraphicFramePr>
          <p:xfrm>
            <a:off x="4482" y="1547"/>
            <a:ext cx="182" cy="168"/>
          </p:xfrm>
          <a:graphic>
            <a:graphicData uri="http://schemas.openxmlformats.org/presentationml/2006/ole">
              <p:oleObj spid="_x0000_s13325" name="公式" r:id="rId6" imgW="161810" imgH="190620" progId="Equation.3">
                <p:embed/>
              </p:oleObj>
            </a:graphicData>
          </a:graphic>
        </p:graphicFrame>
        <p:graphicFrame>
          <p:nvGraphicFramePr>
            <p:cNvPr id="13326" name="Object 10"/>
            <p:cNvGraphicFramePr>
              <a:graphicFrameLocks noChangeAspect="1"/>
            </p:cNvGraphicFramePr>
            <p:nvPr/>
          </p:nvGraphicFramePr>
          <p:xfrm>
            <a:off x="4888" y="1557"/>
            <a:ext cx="182" cy="168"/>
          </p:xfrm>
          <a:graphic>
            <a:graphicData uri="http://schemas.openxmlformats.org/presentationml/2006/ole">
              <p:oleObj spid="_x0000_s13326" name="公式" r:id="rId7" imgW="161810" imgH="190620" progId="Equation.3">
                <p:embed/>
              </p:oleObj>
            </a:graphicData>
          </a:graphic>
        </p:graphicFrame>
        <p:graphicFrame>
          <p:nvGraphicFramePr>
            <p:cNvPr id="13327" name="Object 11"/>
            <p:cNvGraphicFramePr>
              <a:graphicFrameLocks noChangeAspect="1"/>
            </p:cNvGraphicFramePr>
            <p:nvPr/>
          </p:nvGraphicFramePr>
          <p:xfrm>
            <a:off x="4663" y="1895"/>
            <a:ext cx="182" cy="168"/>
          </p:xfrm>
          <a:graphic>
            <a:graphicData uri="http://schemas.openxmlformats.org/presentationml/2006/ole">
              <p:oleObj spid="_x0000_s13327" name="公式" r:id="rId8" imgW="161810" imgH="190620" progId="Equation.3">
                <p:embed/>
              </p:oleObj>
            </a:graphicData>
          </a:graphic>
        </p:graphicFrame>
        <p:graphicFrame>
          <p:nvGraphicFramePr>
            <p:cNvPr id="13328" name="Object 12"/>
            <p:cNvGraphicFramePr>
              <a:graphicFrameLocks noChangeAspect="1"/>
            </p:cNvGraphicFramePr>
            <p:nvPr/>
          </p:nvGraphicFramePr>
          <p:xfrm>
            <a:off x="4334" y="1899"/>
            <a:ext cx="182" cy="168"/>
          </p:xfrm>
          <a:graphic>
            <a:graphicData uri="http://schemas.openxmlformats.org/presentationml/2006/ole">
              <p:oleObj spid="_x0000_s13328" name="公式" r:id="rId9" imgW="161810" imgH="190620" progId="Equation.3">
                <p:embed/>
              </p:oleObj>
            </a:graphicData>
          </a:graphic>
        </p:graphicFrame>
      </p:grpSp>
      <p:sp>
        <p:nvSpPr>
          <p:cNvPr id="21518" name="Text Box 14"/>
          <p:cNvSpPr txBox="1">
            <a:spLocks noChangeArrowheads="1"/>
          </p:cNvSpPr>
          <p:nvPr/>
        </p:nvSpPr>
        <p:spPr bwMode="auto">
          <a:xfrm>
            <a:off x="134938" y="593725"/>
            <a:ext cx="490537" cy="457200"/>
          </a:xfrm>
          <a:prstGeom prst="rect">
            <a:avLst/>
          </a:prstGeom>
          <a:noFill/>
          <a:ln w="9525">
            <a:noFill/>
            <a:miter lim="800000"/>
            <a:headEnd/>
            <a:tailEnd/>
          </a:ln>
        </p:spPr>
        <p:txBody>
          <a:bodyPr wrap="none">
            <a:spAutoFit/>
          </a:bodyPr>
          <a:lstStyle/>
          <a:p>
            <a:pPr algn="l"/>
            <a:r>
              <a:rPr lang="zh-CN" altLang="en-US" sz="2400" b="1">
                <a:solidFill>
                  <a:srgbClr val="FF0000"/>
                </a:solidFill>
                <a:latin typeface="Times New Roman" pitchFamily="18" charset="0"/>
              </a:rPr>
              <a:t>例</a:t>
            </a:r>
          </a:p>
        </p:txBody>
      </p:sp>
      <p:sp>
        <p:nvSpPr>
          <p:cNvPr id="21519" name="Text Box 15"/>
          <p:cNvSpPr txBox="1">
            <a:spLocks noChangeArrowheads="1"/>
          </p:cNvSpPr>
          <p:nvPr/>
        </p:nvSpPr>
        <p:spPr bwMode="auto">
          <a:xfrm>
            <a:off x="95250" y="1801813"/>
            <a:ext cx="1871663" cy="457200"/>
          </a:xfrm>
          <a:prstGeom prst="rect">
            <a:avLst/>
          </a:prstGeom>
          <a:noFill/>
          <a:ln w="12700">
            <a:noFill/>
            <a:miter lim="800000"/>
            <a:headEnd type="none" w="sm" len="sm"/>
            <a:tailEnd type="none" w="sm" len="sm"/>
          </a:ln>
        </p:spPr>
        <p:txBody>
          <a:bodyPr>
            <a:spAutoFit/>
          </a:bodyPr>
          <a:lstStyle/>
          <a:p>
            <a:pPr algn="l" defTabSz="762000" eaLnBrk="0" hangingPunct="0">
              <a:spcBef>
                <a:spcPct val="50000"/>
              </a:spcBef>
            </a:pPr>
            <a:r>
              <a:rPr kumimoji="1" lang="zh-CN" altLang="en-US" sz="2400" b="1">
                <a:solidFill>
                  <a:srgbClr val="FF0000"/>
                </a:solidFill>
                <a:latin typeface="Times New Roman" pitchFamily="18" charset="0"/>
              </a:rPr>
              <a:t>求</a:t>
            </a:r>
          </a:p>
        </p:txBody>
      </p:sp>
      <p:sp>
        <p:nvSpPr>
          <p:cNvPr id="21520" name="Rectangle 16"/>
          <p:cNvSpPr>
            <a:spLocks noChangeArrowheads="1"/>
          </p:cNvSpPr>
          <p:nvPr/>
        </p:nvSpPr>
        <p:spPr bwMode="auto">
          <a:xfrm>
            <a:off x="123825" y="2432050"/>
            <a:ext cx="1387475" cy="457200"/>
          </a:xfrm>
          <a:prstGeom prst="rect">
            <a:avLst/>
          </a:prstGeom>
          <a:noFill/>
          <a:ln w="9525">
            <a:noFill/>
            <a:miter lim="800000"/>
            <a:headEnd/>
            <a:tailEnd/>
          </a:ln>
        </p:spPr>
        <p:txBody>
          <a:bodyPr lIns="92075" tIns="46038" rIns="92075" bIns="46038">
            <a:spAutoFit/>
          </a:bodyPr>
          <a:lstStyle/>
          <a:p>
            <a:pPr algn="l" defTabSz="762000" eaLnBrk="0" hangingPunct="0">
              <a:spcBef>
                <a:spcPct val="50000"/>
              </a:spcBef>
            </a:pPr>
            <a:r>
              <a:rPr kumimoji="1" lang="zh-CN" altLang="en-US" sz="2400" b="1">
                <a:solidFill>
                  <a:srgbClr val="FF0000"/>
                </a:solidFill>
                <a:latin typeface="宋体" pitchFamily="2" charset="-122"/>
              </a:rPr>
              <a:t>解</a:t>
            </a:r>
          </a:p>
        </p:txBody>
      </p:sp>
      <p:grpSp>
        <p:nvGrpSpPr>
          <p:cNvPr id="3" name="Group 49"/>
          <p:cNvGrpSpPr>
            <a:grpSpLocks/>
          </p:cNvGrpSpPr>
          <p:nvPr/>
        </p:nvGrpSpPr>
        <p:grpSpPr bwMode="auto">
          <a:xfrm>
            <a:off x="657225" y="614363"/>
            <a:ext cx="8459788" cy="962025"/>
            <a:chOff x="414" y="387"/>
            <a:chExt cx="5329" cy="606"/>
          </a:xfrm>
        </p:grpSpPr>
        <p:graphicFrame>
          <p:nvGraphicFramePr>
            <p:cNvPr id="13321" name="Object 13"/>
            <p:cNvGraphicFramePr>
              <a:graphicFrameLocks noChangeAspect="1"/>
            </p:cNvGraphicFramePr>
            <p:nvPr/>
          </p:nvGraphicFramePr>
          <p:xfrm>
            <a:off x="1319" y="775"/>
            <a:ext cx="506" cy="202"/>
          </p:xfrm>
          <a:graphic>
            <a:graphicData uri="http://schemas.openxmlformats.org/presentationml/2006/ole">
              <p:oleObj spid="_x0000_s13321" name="公式" r:id="rId10" imgW="409522" imgH="142830" progId="Equation.3">
                <p:embed/>
              </p:oleObj>
            </a:graphicData>
          </a:graphic>
        </p:graphicFrame>
        <p:sp>
          <p:nvSpPr>
            <p:cNvPr id="13354" name="Rectangle 17"/>
            <p:cNvSpPr>
              <a:spLocks noChangeArrowheads="1"/>
            </p:cNvSpPr>
            <p:nvPr/>
          </p:nvSpPr>
          <p:spPr bwMode="auto">
            <a:xfrm>
              <a:off x="459" y="387"/>
              <a:ext cx="5284" cy="288"/>
            </a:xfrm>
            <a:prstGeom prst="rect">
              <a:avLst/>
            </a:prstGeom>
            <a:noFill/>
            <a:ln w="9525">
              <a:noFill/>
              <a:miter lim="800000"/>
              <a:headEnd/>
              <a:tailEnd/>
            </a:ln>
          </p:spPr>
          <p:txBody>
            <a:bodyPr>
              <a:spAutoFit/>
            </a:bodyPr>
            <a:lstStyle/>
            <a:p>
              <a:pPr algn="l"/>
              <a:r>
                <a:rPr kumimoji="1" lang="zh-CN" altLang="en-US" sz="2400" b="1">
                  <a:latin typeface="Times New Roman" pitchFamily="18" charset="0"/>
                </a:rPr>
                <a:t>一半径为 </a:t>
              </a:r>
              <a:r>
                <a:rPr kumimoji="1" lang="en-US" altLang="zh-CN" sz="2400" b="1" i="1">
                  <a:solidFill>
                    <a:srgbClr val="FF3300"/>
                  </a:solidFill>
                  <a:latin typeface="Times New Roman" pitchFamily="18" charset="0"/>
                </a:rPr>
                <a:t>R</a:t>
              </a:r>
              <a:r>
                <a:rPr kumimoji="1" lang="en-US" altLang="zh-CN" sz="2400" b="1" i="1">
                  <a:latin typeface="Times New Roman" pitchFamily="18" charset="0"/>
                </a:rPr>
                <a:t> </a:t>
              </a:r>
              <a:r>
                <a:rPr kumimoji="1" lang="zh-CN" altLang="en-US" sz="2400" b="1">
                  <a:latin typeface="Times New Roman" pitchFamily="18" charset="0"/>
                </a:rPr>
                <a:t>的长直螺线管中载有变化电流，当磁感应强度</a:t>
              </a:r>
            </a:p>
          </p:txBody>
        </p:sp>
        <p:sp>
          <p:nvSpPr>
            <p:cNvPr id="13355" name="Rectangle 18"/>
            <p:cNvSpPr>
              <a:spLocks noChangeArrowheads="1"/>
            </p:cNvSpPr>
            <p:nvPr/>
          </p:nvSpPr>
          <p:spPr bwMode="auto">
            <a:xfrm>
              <a:off x="414" y="705"/>
              <a:ext cx="888" cy="288"/>
            </a:xfrm>
            <a:prstGeom prst="rect">
              <a:avLst/>
            </a:prstGeom>
            <a:noFill/>
            <a:ln w="9525">
              <a:noFill/>
              <a:miter lim="800000"/>
              <a:headEnd/>
              <a:tailEnd/>
            </a:ln>
          </p:spPr>
          <p:txBody>
            <a:bodyPr wrap="none">
              <a:spAutoFit/>
            </a:bodyPr>
            <a:lstStyle/>
            <a:p>
              <a:pPr algn="l"/>
              <a:r>
                <a:rPr kumimoji="1" lang="zh-CN" altLang="en-US" sz="2400" b="1">
                  <a:latin typeface="Times New Roman" pitchFamily="18" charset="0"/>
                </a:rPr>
                <a:t>的变化率</a:t>
              </a:r>
            </a:p>
          </p:txBody>
        </p:sp>
        <p:sp>
          <p:nvSpPr>
            <p:cNvPr id="13356" name="Rectangle 19"/>
            <p:cNvSpPr>
              <a:spLocks noChangeArrowheads="1"/>
            </p:cNvSpPr>
            <p:nvPr/>
          </p:nvSpPr>
          <p:spPr bwMode="auto">
            <a:xfrm>
              <a:off x="1820" y="705"/>
              <a:ext cx="2302" cy="288"/>
            </a:xfrm>
            <a:prstGeom prst="rect">
              <a:avLst/>
            </a:prstGeom>
            <a:noFill/>
            <a:ln w="9525">
              <a:noFill/>
              <a:miter lim="800000"/>
              <a:headEnd/>
              <a:tailEnd/>
            </a:ln>
          </p:spPr>
          <p:txBody>
            <a:bodyPr>
              <a:spAutoFit/>
            </a:bodyPr>
            <a:lstStyle/>
            <a:p>
              <a:pPr algn="l"/>
              <a:r>
                <a:rPr kumimoji="1" lang="zh-CN" altLang="en-US" sz="2400" b="1">
                  <a:latin typeface="Times New Roman" pitchFamily="18" charset="0"/>
                </a:rPr>
                <a:t>以恒定的速率增加时，</a:t>
              </a:r>
            </a:p>
          </p:txBody>
        </p:sp>
      </p:grpSp>
      <p:grpSp>
        <p:nvGrpSpPr>
          <p:cNvPr id="4" name="Group 48"/>
          <p:cNvGrpSpPr>
            <a:grpSpLocks/>
          </p:cNvGrpSpPr>
          <p:nvPr/>
        </p:nvGrpSpPr>
        <p:grpSpPr bwMode="auto">
          <a:xfrm>
            <a:off x="615950" y="1801813"/>
            <a:ext cx="1706563" cy="457200"/>
            <a:chOff x="388" y="1135"/>
            <a:chExt cx="1075" cy="288"/>
          </a:xfrm>
        </p:grpSpPr>
        <p:sp>
          <p:nvSpPr>
            <p:cNvPr id="13353" name="Rectangle 20"/>
            <p:cNvSpPr>
              <a:spLocks noChangeArrowheads="1"/>
            </p:cNvSpPr>
            <p:nvPr/>
          </p:nvSpPr>
          <p:spPr bwMode="auto">
            <a:xfrm>
              <a:off x="388" y="1135"/>
              <a:ext cx="888" cy="288"/>
            </a:xfrm>
            <a:prstGeom prst="rect">
              <a:avLst/>
            </a:prstGeom>
            <a:noFill/>
            <a:ln w="9525">
              <a:noFill/>
              <a:miter lim="800000"/>
              <a:headEnd/>
              <a:tailEnd/>
            </a:ln>
          </p:spPr>
          <p:txBody>
            <a:bodyPr wrap="none">
              <a:spAutoFit/>
            </a:bodyPr>
            <a:lstStyle/>
            <a:p>
              <a:pPr algn="l"/>
              <a:r>
                <a:rPr kumimoji="1" lang="zh-CN" altLang="en-US" sz="2400" b="1">
                  <a:latin typeface="Times New Roman" pitchFamily="18" charset="0"/>
                </a:rPr>
                <a:t>管内外的</a:t>
              </a:r>
            </a:p>
          </p:txBody>
        </p:sp>
        <p:graphicFrame>
          <p:nvGraphicFramePr>
            <p:cNvPr id="13320" name="Object 21"/>
            <p:cNvGraphicFramePr>
              <a:graphicFrameLocks noChangeAspect="1"/>
            </p:cNvGraphicFramePr>
            <p:nvPr/>
          </p:nvGraphicFramePr>
          <p:xfrm>
            <a:off x="1205" y="1163"/>
            <a:ext cx="258" cy="258"/>
          </p:xfrm>
          <a:graphic>
            <a:graphicData uri="http://schemas.openxmlformats.org/presentationml/2006/ole">
              <p:oleObj spid="_x0000_s13320" name="公式" r:id="rId11" imgW="190444" imgH="190620" progId="Equation.3">
                <p:embed/>
              </p:oleObj>
            </a:graphicData>
          </a:graphic>
        </p:graphicFrame>
      </p:grpSp>
      <p:grpSp>
        <p:nvGrpSpPr>
          <p:cNvPr id="5" name="Group 22"/>
          <p:cNvGrpSpPr>
            <a:grpSpLocks/>
          </p:cNvGrpSpPr>
          <p:nvPr/>
        </p:nvGrpSpPr>
        <p:grpSpPr bwMode="auto">
          <a:xfrm>
            <a:off x="6702425" y="2062163"/>
            <a:ext cx="1373188" cy="1066800"/>
            <a:chOff x="4222" y="1299"/>
            <a:chExt cx="865" cy="672"/>
          </a:xfrm>
        </p:grpSpPr>
        <p:sp>
          <p:nvSpPr>
            <p:cNvPr id="13350" name="Oval 23"/>
            <p:cNvSpPr>
              <a:spLocks noChangeArrowheads="1"/>
            </p:cNvSpPr>
            <p:nvPr/>
          </p:nvSpPr>
          <p:spPr bwMode="auto">
            <a:xfrm>
              <a:off x="4222" y="1299"/>
              <a:ext cx="672" cy="672"/>
            </a:xfrm>
            <a:prstGeom prst="ellipse">
              <a:avLst/>
            </a:prstGeom>
            <a:noFill/>
            <a:ln w="28575">
              <a:solidFill>
                <a:srgbClr val="0000FF"/>
              </a:solidFill>
              <a:round/>
              <a:headEnd/>
              <a:tailEnd/>
            </a:ln>
          </p:spPr>
          <p:txBody>
            <a:bodyPr wrap="none" anchor="ctr"/>
            <a:lstStyle/>
            <a:p>
              <a:endParaRPr lang="zh-CN" altLang="en-US"/>
            </a:p>
          </p:txBody>
        </p:sp>
        <p:sp>
          <p:nvSpPr>
            <p:cNvPr id="13351" name="Line 24"/>
            <p:cNvSpPr>
              <a:spLocks noChangeShapeType="1"/>
            </p:cNvSpPr>
            <p:nvPr/>
          </p:nvSpPr>
          <p:spPr bwMode="auto">
            <a:xfrm flipV="1">
              <a:off x="4594" y="1511"/>
              <a:ext cx="270" cy="108"/>
            </a:xfrm>
            <a:prstGeom prst="line">
              <a:avLst/>
            </a:prstGeom>
            <a:noFill/>
            <a:ln w="28575">
              <a:solidFill>
                <a:schemeClr val="tx1"/>
              </a:solidFill>
              <a:round/>
              <a:headEnd/>
              <a:tailEnd type="triangle" w="med" len="med"/>
            </a:ln>
          </p:spPr>
          <p:txBody>
            <a:bodyPr/>
            <a:lstStyle/>
            <a:p>
              <a:endParaRPr lang="zh-CN" altLang="en-US"/>
            </a:p>
          </p:txBody>
        </p:sp>
        <p:sp>
          <p:nvSpPr>
            <p:cNvPr id="13352" name="Text Box 25"/>
            <p:cNvSpPr txBox="1">
              <a:spLocks noChangeArrowheads="1"/>
            </p:cNvSpPr>
            <p:nvPr/>
          </p:nvSpPr>
          <p:spPr bwMode="auto">
            <a:xfrm>
              <a:off x="4884" y="1341"/>
              <a:ext cx="203" cy="327"/>
            </a:xfrm>
            <a:prstGeom prst="rect">
              <a:avLst/>
            </a:prstGeom>
            <a:noFill/>
            <a:ln w="28575">
              <a:noFill/>
              <a:miter lim="800000"/>
              <a:headEnd/>
              <a:tailEnd/>
            </a:ln>
          </p:spPr>
          <p:txBody>
            <a:bodyPr wrap="none">
              <a:spAutoFit/>
            </a:bodyPr>
            <a:lstStyle/>
            <a:p>
              <a:pPr algn="l"/>
              <a:r>
                <a:rPr kumimoji="1" lang="en-US" altLang="zh-CN" sz="2800" i="1">
                  <a:latin typeface="Times New Roman" pitchFamily="18" charset="0"/>
                </a:rPr>
                <a:t>r</a:t>
              </a:r>
            </a:p>
          </p:txBody>
        </p:sp>
      </p:grpSp>
      <p:sp>
        <p:nvSpPr>
          <p:cNvPr id="21530" name="Line 26"/>
          <p:cNvSpPr>
            <a:spLocks noChangeShapeType="1"/>
          </p:cNvSpPr>
          <p:nvPr/>
        </p:nvSpPr>
        <p:spPr bwMode="auto">
          <a:xfrm flipH="1">
            <a:off x="6570663" y="2058988"/>
            <a:ext cx="685800" cy="1587"/>
          </a:xfrm>
          <a:prstGeom prst="line">
            <a:avLst/>
          </a:prstGeom>
          <a:noFill/>
          <a:ln w="25400">
            <a:solidFill>
              <a:srgbClr val="FF6600"/>
            </a:solidFill>
            <a:round/>
            <a:headEnd/>
            <a:tailEnd type="triangle" w="med" len="med"/>
          </a:ln>
        </p:spPr>
        <p:txBody>
          <a:bodyPr/>
          <a:lstStyle/>
          <a:p>
            <a:endParaRPr lang="zh-CN" altLang="en-US"/>
          </a:p>
        </p:txBody>
      </p:sp>
      <p:sp>
        <p:nvSpPr>
          <p:cNvPr id="21531" name="Text Box 27"/>
          <p:cNvSpPr txBox="1">
            <a:spLocks noChangeArrowheads="1"/>
          </p:cNvSpPr>
          <p:nvPr/>
        </p:nvSpPr>
        <p:spPr bwMode="auto">
          <a:xfrm>
            <a:off x="6804025" y="1176338"/>
            <a:ext cx="522288" cy="457200"/>
          </a:xfrm>
          <a:prstGeom prst="rect">
            <a:avLst/>
          </a:prstGeom>
          <a:noFill/>
          <a:ln w="9525">
            <a:noFill/>
            <a:miter lim="800000"/>
            <a:headEnd/>
            <a:tailEnd/>
          </a:ln>
        </p:spPr>
        <p:txBody>
          <a:bodyPr wrap="none">
            <a:spAutoFit/>
          </a:bodyPr>
          <a:lstStyle/>
          <a:p>
            <a:pPr algn="l"/>
            <a:r>
              <a:rPr kumimoji="1" lang="en-US" altLang="zh-CN" sz="2400" b="1" i="1">
                <a:solidFill>
                  <a:srgbClr val="FF6600"/>
                </a:solidFill>
                <a:latin typeface="Times New Roman" pitchFamily="18" charset="0"/>
              </a:rPr>
              <a:t>E</a:t>
            </a:r>
            <a:r>
              <a:rPr kumimoji="1" lang="en-US" altLang="zh-CN" sz="2400" b="1" i="1" baseline="-25000">
                <a:solidFill>
                  <a:srgbClr val="FF6600"/>
                </a:solidFill>
                <a:latin typeface="Times New Roman" pitchFamily="18" charset="0"/>
              </a:rPr>
              <a:t>w</a:t>
            </a:r>
            <a:endParaRPr kumimoji="1" lang="en-US" altLang="zh-CN" sz="2400" b="1" i="1">
              <a:solidFill>
                <a:srgbClr val="FF6600"/>
              </a:solidFill>
              <a:latin typeface="Times New Roman" pitchFamily="18" charset="0"/>
            </a:endParaRPr>
          </a:p>
        </p:txBody>
      </p:sp>
      <p:sp>
        <p:nvSpPr>
          <p:cNvPr id="21532" name="Text Box 28"/>
          <p:cNvSpPr txBox="1">
            <a:spLocks noChangeArrowheads="1"/>
          </p:cNvSpPr>
          <p:nvPr/>
        </p:nvSpPr>
        <p:spPr bwMode="auto">
          <a:xfrm>
            <a:off x="730250" y="2432050"/>
            <a:ext cx="150177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管内：</a:t>
            </a:r>
          </a:p>
        </p:txBody>
      </p:sp>
      <p:graphicFrame>
        <p:nvGraphicFramePr>
          <p:cNvPr id="21533" name="Object 29"/>
          <p:cNvGraphicFramePr>
            <a:graphicFrameLocks noChangeAspect="1"/>
          </p:cNvGraphicFramePr>
          <p:nvPr/>
        </p:nvGraphicFramePr>
        <p:xfrm>
          <a:off x="1692275" y="2276475"/>
          <a:ext cx="3044825" cy="755650"/>
        </p:xfrm>
        <a:graphic>
          <a:graphicData uri="http://schemas.openxmlformats.org/presentationml/2006/ole">
            <p:oleObj spid="_x0000_s13314" name="公式" r:id="rId12" imgW="1638356" imgH="380970" progId="Equation.3">
              <p:embed/>
            </p:oleObj>
          </a:graphicData>
        </a:graphic>
      </p:graphicFrame>
      <p:graphicFrame>
        <p:nvGraphicFramePr>
          <p:cNvPr id="21534" name="Object 30"/>
          <p:cNvGraphicFramePr>
            <a:graphicFrameLocks noChangeAspect="1"/>
          </p:cNvGraphicFramePr>
          <p:nvPr/>
        </p:nvGraphicFramePr>
        <p:xfrm>
          <a:off x="1557338" y="3189288"/>
          <a:ext cx="2835275" cy="736600"/>
        </p:xfrm>
        <a:graphic>
          <a:graphicData uri="http://schemas.openxmlformats.org/presentationml/2006/ole">
            <p:oleObj spid="_x0000_s13315" name="公式" r:id="rId13" imgW="1219110" imgH="371520" progId="Equation.3">
              <p:embed/>
            </p:oleObj>
          </a:graphicData>
        </a:graphic>
      </p:graphicFrame>
      <p:graphicFrame>
        <p:nvGraphicFramePr>
          <p:cNvPr id="21535" name="Object 31"/>
          <p:cNvGraphicFramePr>
            <a:graphicFrameLocks noChangeAspect="1"/>
          </p:cNvGraphicFramePr>
          <p:nvPr/>
        </p:nvGraphicFramePr>
        <p:xfrm>
          <a:off x="1852613" y="4014788"/>
          <a:ext cx="1833562" cy="727075"/>
        </p:xfrm>
        <a:graphic>
          <a:graphicData uri="http://schemas.openxmlformats.org/presentationml/2006/ole">
            <p:oleObj spid="_x0000_s13316" name="公式" r:id="rId14" imgW="800134" imgH="371520" progId="Equation.3">
              <p:embed/>
            </p:oleObj>
          </a:graphicData>
        </a:graphic>
      </p:graphicFrame>
      <p:sp>
        <p:nvSpPr>
          <p:cNvPr id="21536" name="Text Box 32"/>
          <p:cNvSpPr txBox="1">
            <a:spLocks noChangeArrowheads="1"/>
          </p:cNvSpPr>
          <p:nvPr/>
        </p:nvSpPr>
        <p:spPr bwMode="auto">
          <a:xfrm>
            <a:off x="611188" y="4979988"/>
            <a:ext cx="171132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管外：</a:t>
            </a:r>
          </a:p>
        </p:txBody>
      </p:sp>
      <p:graphicFrame>
        <p:nvGraphicFramePr>
          <p:cNvPr id="21537" name="Object 33"/>
          <p:cNvGraphicFramePr>
            <a:graphicFrameLocks noChangeAspect="1"/>
          </p:cNvGraphicFramePr>
          <p:nvPr/>
        </p:nvGraphicFramePr>
        <p:xfrm>
          <a:off x="1590675" y="4914900"/>
          <a:ext cx="2366963" cy="735013"/>
        </p:xfrm>
        <a:graphic>
          <a:graphicData uri="http://schemas.openxmlformats.org/presentationml/2006/ole">
            <p:oleObj spid="_x0000_s13317" name="公式" r:id="rId15" imgW="1257199" imgH="371520" progId="Equation.3">
              <p:embed/>
            </p:oleObj>
          </a:graphicData>
        </a:graphic>
      </p:graphicFrame>
      <p:graphicFrame>
        <p:nvGraphicFramePr>
          <p:cNvPr id="21538" name="Object 34"/>
          <p:cNvGraphicFramePr>
            <a:graphicFrameLocks noChangeAspect="1"/>
          </p:cNvGraphicFramePr>
          <p:nvPr/>
        </p:nvGraphicFramePr>
        <p:xfrm>
          <a:off x="1871663" y="5691188"/>
          <a:ext cx="2073275" cy="752475"/>
        </p:xfrm>
        <a:graphic>
          <a:graphicData uri="http://schemas.openxmlformats.org/presentationml/2006/ole">
            <p:oleObj spid="_x0000_s13318" name="公式" r:id="rId16" imgW="904945" imgH="380970" progId="Equation.3">
              <p:embed/>
            </p:oleObj>
          </a:graphicData>
        </a:graphic>
      </p:graphicFrame>
      <p:sp>
        <p:nvSpPr>
          <p:cNvPr id="21546" name="Line 42"/>
          <p:cNvSpPr>
            <a:spLocks noChangeShapeType="1"/>
          </p:cNvSpPr>
          <p:nvPr/>
        </p:nvSpPr>
        <p:spPr bwMode="auto">
          <a:xfrm flipV="1">
            <a:off x="5670550" y="3851275"/>
            <a:ext cx="1143000" cy="2209800"/>
          </a:xfrm>
          <a:prstGeom prst="line">
            <a:avLst/>
          </a:prstGeom>
          <a:noFill/>
          <a:ln w="28575">
            <a:solidFill>
              <a:srgbClr val="0000FF"/>
            </a:solidFill>
            <a:round/>
            <a:headEnd/>
            <a:tailEnd/>
          </a:ln>
        </p:spPr>
        <p:txBody>
          <a:bodyPr/>
          <a:lstStyle/>
          <a:p>
            <a:endParaRPr lang="zh-CN" altLang="en-US"/>
          </a:p>
        </p:txBody>
      </p:sp>
      <p:grpSp>
        <p:nvGrpSpPr>
          <p:cNvPr id="6" name="Group 43"/>
          <p:cNvGrpSpPr>
            <a:grpSpLocks/>
          </p:cNvGrpSpPr>
          <p:nvPr/>
        </p:nvGrpSpPr>
        <p:grpSpPr bwMode="auto">
          <a:xfrm>
            <a:off x="6645275" y="3851275"/>
            <a:ext cx="369888" cy="2784475"/>
            <a:chOff x="4358" y="2544"/>
            <a:chExt cx="233" cy="1754"/>
          </a:xfrm>
        </p:grpSpPr>
        <p:sp>
          <p:nvSpPr>
            <p:cNvPr id="13348" name="Line 44"/>
            <p:cNvSpPr>
              <a:spLocks noChangeShapeType="1"/>
            </p:cNvSpPr>
            <p:nvPr/>
          </p:nvSpPr>
          <p:spPr bwMode="auto">
            <a:xfrm>
              <a:off x="4464" y="2544"/>
              <a:ext cx="0" cy="1392"/>
            </a:xfrm>
            <a:prstGeom prst="line">
              <a:avLst/>
            </a:prstGeom>
            <a:noFill/>
            <a:ln w="19050">
              <a:solidFill>
                <a:srgbClr val="FF0000"/>
              </a:solidFill>
              <a:prstDash val="dash"/>
              <a:round/>
              <a:headEnd/>
              <a:tailEnd/>
            </a:ln>
          </p:spPr>
          <p:txBody>
            <a:bodyPr/>
            <a:lstStyle/>
            <a:p>
              <a:endParaRPr lang="zh-CN" altLang="en-US"/>
            </a:p>
          </p:txBody>
        </p:sp>
        <p:sp>
          <p:nvSpPr>
            <p:cNvPr id="13349" name="Text Box 45"/>
            <p:cNvSpPr txBox="1">
              <a:spLocks noChangeArrowheads="1"/>
            </p:cNvSpPr>
            <p:nvPr/>
          </p:nvSpPr>
          <p:spPr bwMode="auto">
            <a:xfrm>
              <a:off x="4358" y="4010"/>
              <a:ext cx="233" cy="288"/>
            </a:xfrm>
            <a:prstGeom prst="rect">
              <a:avLst/>
            </a:prstGeom>
            <a:noFill/>
            <a:ln w="9525">
              <a:noFill/>
              <a:miter lim="800000"/>
              <a:headEnd/>
              <a:tailEnd/>
            </a:ln>
          </p:spPr>
          <p:txBody>
            <a:bodyPr wrap="none">
              <a:spAutoFit/>
            </a:bodyPr>
            <a:lstStyle/>
            <a:p>
              <a:pPr algn="l"/>
              <a:r>
                <a:rPr kumimoji="1" lang="en-US" altLang="zh-CN" sz="2400" i="1">
                  <a:solidFill>
                    <a:schemeClr val="bg1"/>
                  </a:solidFill>
                  <a:latin typeface="Times New Roman" pitchFamily="18" charset="0"/>
                </a:rPr>
                <a:t>R</a:t>
              </a:r>
            </a:p>
          </p:txBody>
        </p:sp>
      </p:grpSp>
      <p:sp>
        <p:nvSpPr>
          <p:cNvPr id="21550" name="Freeform 46"/>
          <p:cNvSpPr>
            <a:spLocks/>
          </p:cNvSpPr>
          <p:nvPr/>
        </p:nvSpPr>
        <p:spPr bwMode="auto">
          <a:xfrm>
            <a:off x="6800850" y="3848100"/>
            <a:ext cx="1944688" cy="1439863"/>
          </a:xfrm>
          <a:custGeom>
            <a:avLst/>
            <a:gdLst>
              <a:gd name="T0" fmla="*/ 0 w 864"/>
              <a:gd name="T1" fmla="*/ 0 h 768"/>
              <a:gd name="T2" fmla="*/ 2147483647 w 864"/>
              <a:gd name="T3" fmla="*/ 2147483647 h 768"/>
              <a:gd name="T4" fmla="*/ 2147483647 w 864"/>
              <a:gd name="T5" fmla="*/ 2147483647 h 768"/>
              <a:gd name="T6" fmla="*/ 0 60000 65536"/>
              <a:gd name="T7" fmla="*/ 0 60000 65536"/>
              <a:gd name="T8" fmla="*/ 0 60000 65536"/>
              <a:gd name="T9" fmla="*/ 0 w 864"/>
              <a:gd name="T10" fmla="*/ 0 h 768"/>
              <a:gd name="T11" fmla="*/ 864 w 864"/>
              <a:gd name="T12" fmla="*/ 768 h 768"/>
            </a:gdLst>
            <a:ahLst/>
            <a:cxnLst>
              <a:cxn ang="T6">
                <a:pos x="T0" y="T1"/>
              </a:cxn>
              <a:cxn ang="T7">
                <a:pos x="T2" y="T3"/>
              </a:cxn>
              <a:cxn ang="T8">
                <a:pos x="T4" y="T5"/>
              </a:cxn>
            </a:cxnLst>
            <a:rect l="T9" t="T10" r="T11" b="T12"/>
            <a:pathLst>
              <a:path w="864" h="768">
                <a:moveTo>
                  <a:pt x="0" y="0"/>
                </a:moveTo>
                <a:cubicBezTo>
                  <a:pt x="48" y="176"/>
                  <a:pt x="96" y="352"/>
                  <a:pt x="240" y="480"/>
                </a:cubicBezTo>
                <a:cubicBezTo>
                  <a:pt x="384" y="608"/>
                  <a:pt x="624" y="688"/>
                  <a:pt x="864" y="768"/>
                </a:cubicBezTo>
              </a:path>
            </a:pathLst>
          </a:custGeom>
          <a:noFill/>
          <a:ln w="28575">
            <a:solidFill>
              <a:srgbClr val="0000FF"/>
            </a:solidFill>
            <a:round/>
            <a:headEnd/>
            <a:tailEnd/>
          </a:ln>
        </p:spPr>
        <p:txBody>
          <a:bodyPr/>
          <a:lstStyle/>
          <a:p>
            <a:endParaRPr lang="zh-CN" altLang="en-US"/>
          </a:p>
        </p:txBody>
      </p:sp>
      <p:grpSp>
        <p:nvGrpSpPr>
          <p:cNvPr id="7" name="Group 50"/>
          <p:cNvGrpSpPr>
            <a:grpSpLocks/>
          </p:cNvGrpSpPr>
          <p:nvPr/>
        </p:nvGrpSpPr>
        <p:grpSpPr bwMode="auto">
          <a:xfrm>
            <a:off x="5148263" y="2997200"/>
            <a:ext cx="3744912" cy="3527425"/>
            <a:chOff x="3243" y="1888"/>
            <a:chExt cx="2359" cy="2222"/>
          </a:xfrm>
        </p:grpSpPr>
        <p:sp>
          <p:nvSpPr>
            <p:cNvPr id="13344" name="Line 51"/>
            <p:cNvSpPr>
              <a:spLocks noChangeShapeType="1"/>
            </p:cNvSpPr>
            <p:nvPr/>
          </p:nvSpPr>
          <p:spPr bwMode="auto">
            <a:xfrm>
              <a:off x="3556" y="3839"/>
              <a:ext cx="2016" cy="0"/>
            </a:xfrm>
            <a:prstGeom prst="line">
              <a:avLst/>
            </a:prstGeom>
            <a:noFill/>
            <a:ln w="28575">
              <a:solidFill>
                <a:schemeClr val="tx1"/>
              </a:solidFill>
              <a:round/>
              <a:headEnd/>
              <a:tailEnd type="triangle" w="med" len="lg"/>
            </a:ln>
          </p:spPr>
          <p:txBody>
            <a:bodyPr/>
            <a:lstStyle/>
            <a:p>
              <a:endParaRPr lang="zh-CN" altLang="en-US"/>
            </a:p>
          </p:txBody>
        </p:sp>
        <p:sp>
          <p:nvSpPr>
            <p:cNvPr id="13345" name="Line 52"/>
            <p:cNvSpPr>
              <a:spLocks noChangeShapeType="1"/>
            </p:cNvSpPr>
            <p:nvPr/>
          </p:nvSpPr>
          <p:spPr bwMode="auto">
            <a:xfrm flipV="1">
              <a:off x="3556" y="1967"/>
              <a:ext cx="0" cy="1872"/>
            </a:xfrm>
            <a:prstGeom prst="line">
              <a:avLst/>
            </a:prstGeom>
            <a:noFill/>
            <a:ln w="28575">
              <a:solidFill>
                <a:schemeClr val="tx1"/>
              </a:solidFill>
              <a:round/>
              <a:headEnd/>
              <a:tailEnd type="triangle" w="med" len="lg"/>
            </a:ln>
          </p:spPr>
          <p:txBody>
            <a:bodyPr/>
            <a:lstStyle/>
            <a:p>
              <a:endParaRPr lang="zh-CN" altLang="en-US"/>
            </a:p>
          </p:txBody>
        </p:sp>
        <p:sp>
          <p:nvSpPr>
            <p:cNvPr id="13346" name="Text Box 53"/>
            <p:cNvSpPr txBox="1">
              <a:spLocks noChangeArrowheads="1"/>
            </p:cNvSpPr>
            <p:nvPr/>
          </p:nvSpPr>
          <p:spPr bwMode="auto">
            <a:xfrm>
              <a:off x="3258" y="3737"/>
              <a:ext cx="278" cy="327"/>
            </a:xfrm>
            <a:prstGeom prst="rect">
              <a:avLst/>
            </a:prstGeom>
            <a:noFill/>
            <a:ln w="9525">
              <a:noFill/>
              <a:miter lim="800000"/>
              <a:headEnd/>
              <a:tailEnd/>
            </a:ln>
          </p:spPr>
          <p:txBody>
            <a:bodyPr wrap="none">
              <a:spAutoFit/>
            </a:bodyPr>
            <a:lstStyle/>
            <a:p>
              <a:pPr algn="l"/>
              <a:r>
                <a:rPr kumimoji="1" lang="en-US" altLang="zh-CN" sz="2800" b="1" i="1">
                  <a:latin typeface="Times New Roman" pitchFamily="18" charset="0"/>
                </a:rPr>
                <a:t>O</a:t>
              </a:r>
            </a:p>
          </p:txBody>
        </p:sp>
        <p:sp>
          <p:nvSpPr>
            <p:cNvPr id="13347" name="Text Box 54"/>
            <p:cNvSpPr txBox="1">
              <a:spLocks noChangeArrowheads="1"/>
            </p:cNvSpPr>
            <p:nvPr/>
          </p:nvSpPr>
          <p:spPr bwMode="auto">
            <a:xfrm>
              <a:off x="5411" y="3822"/>
              <a:ext cx="191" cy="288"/>
            </a:xfrm>
            <a:prstGeom prst="rect">
              <a:avLst/>
            </a:prstGeom>
            <a:noFill/>
            <a:ln w="9525">
              <a:noFill/>
              <a:miter lim="800000"/>
              <a:headEnd/>
              <a:tailEnd/>
            </a:ln>
          </p:spPr>
          <p:txBody>
            <a:bodyPr wrap="none">
              <a:spAutoFit/>
            </a:bodyPr>
            <a:lstStyle/>
            <a:p>
              <a:pPr algn="l"/>
              <a:r>
                <a:rPr kumimoji="1" lang="en-US" altLang="zh-CN" sz="2400" b="1" i="1">
                  <a:latin typeface="Times New Roman" pitchFamily="18" charset="0"/>
                </a:rPr>
                <a:t>r</a:t>
              </a:r>
            </a:p>
          </p:txBody>
        </p:sp>
        <p:graphicFrame>
          <p:nvGraphicFramePr>
            <p:cNvPr id="13319" name="Object 55"/>
            <p:cNvGraphicFramePr>
              <a:graphicFrameLocks noChangeAspect="1"/>
            </p:cNvGraphicFramePr>
            <p:nvPr/>
          </p:nvGraphicFramePr>
          <p:xfrm>
            <a:off x="3243" y="1888"/>
            <a:ext cx="288" cy="288"/>
          </p:xfrm>
          <a:graphic>
            <a:graphicData uri="http://schemas.openxmlformats.org/presentationml/2006/ole">
              <p:oleObj spid="_x0000_s13319" name="公式" r:id="rId17" imgW="190444" imgH="19062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518"/>
                                        </p:tgtEl>
                                        <p:attrNameLst>
                                          <p:attrName>style.visibility</p:attrName>
                                        </p:attrNameLst>
                                      </p:cBhvr>
                                      <p:to>
                                        <p:strVal val="visible"/>
                                      </p:to>
                                    </p:set>
                                    <p:animEffect transition="in" filter="wipe(left)">
                                      <p:cBhvr>
                                        <p:cTn id="7" dur="500"/>
                                        <p:tgtEl>
                                          <p:spTgt spid="21518"/>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linds(horizontal)">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1519"/>
                                        </p:tgtEl>
                                        <p:attrNameLst>
                                          <p:attrName>style.visibility</p:attrName>
                                        </p:attrNameLst>
                                      </p:cBhvr>
                                      <p:to>
                                        <p:strVal val="visible"/>
                                      </p:to>
                                    </p:set>
                                    <p:animEffect transition="in" filter="wipe(left)">
                                      <p:cBhvr>
                                        <p:cTn id="21" dur="500"/>
                                        <p:tgtEl>
                                          <p:spTgt spid="21519"/>
                                        </p:tgtEl>
                                      </p:cBhvr>
                                    </p:animEffect>
                                  </p:childTnLst>
                                </p:cTn>
                              </p:par>
                              <p:par>
                                <p:cTn id="22" presetID="22" presetClass="entr" presetSubtype="8" fill="hold"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left)">
                                      <p:cBhvr>
                                        <p:cTn id="24" dur="500"/>
                                        <p:tgtEl>
                                          <p:spTgt spid="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1520"/>
                                        </p:tgtEl>
                                        <p:attrNameLst>
                                          <p:attrName>style.visibility</p:attrName>
                                        </p:attrNameLst>
                                      </p:cBhvr>
                                      <p:to>
                                        <p:strVal val="visible"/>
                                      </p:to>
                                    </p:set>
                                    <p:animEffect transition="in" filter="wipe(left)">
                                      <p:cBhvr>
                                        <p:cTn id="29" dur="500"/>
                                        <p:tgtEl>
                                          <p:spTgt spid="2152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21532"/>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p:cTn id="38" dur="500" fill="hold"/>
                                        <p:tgtEl>
                                          <p:spTgt spid="5"/>
                                        </p:tgtEl>
                                        <p:attrNameLst>
                                          <p:attrName>ppt_w</p:attrName>
                                        </p:attrNameLst>
                                      </p:cBhvr>
                                      <p:tavLst>
                                        <p:tav tm="0">
                                          <p:val>
                                            <p:fltVal val="0"/>
                                          </p:val>
                                        </p:tav>
                                        <p:tav tm="100000">
                                          <p:val>
                                            <p:strVal val="#ppt_w"/>
                                          </p:val>
                                        </p:tav>
                                      </p:tavLst>
                                    </p:anim>
                                    <p:anim calcmode="lin" valueType="num">
                                      <p:cBhvr>
                                        <p:cTn id="39"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21530"/>
                                        </p:tgtEl>
                                        <p:attrNameLst>
                                          <p:attrName>style.visibility</p:attrName>
                                        </p:attrNameLst>
                                      </p:cBhvr>
                                      <p:to>
                                        <p:strVal val="visible"/>
                                      </p:to>
                                    </p:set>
                                    <p:animEffect transition="in" filter="wipe(right)">
                                      <p:cBhvr>
                                        <p:cTn id="44" dur="500"/>
                                        <p:tgtEl>
                                          <p:spTgt spid="21530"/>
                                        </p:tgtEl>
                                      </p:cBhvr>
                                    </p:animEffect>
                                  </p:childTnLst>
                                </p:cTn>
                              </p:par>
                            </p:childTnLst>
                          </p:cTn>
                        </p:par>
                        <p:par>
                          <p:cTn id="45" fill="hold" nodeType="afterGroup">
                            <p:stCondLst>
                              <p:cond delay="500"/>
                            </p:stCondLst>
                            <p:childTnLst>
                              <p:par>
                                <p:cTn id="46" presetID="22" presetClass="entr" presetSubtype="2" fill="hold" grpId="0" nodeType="afterEffect">
                                  <p:stCondLst>
                                    <p:cond delay="0"/>
                                  </p:stCondLst>
                                  <p:childTnLst>
                                    <p:set>
                                      <p:cBhvr>
                                        <p:cTn id="47" dur="1" fill="hold">
                                          <p:stCondLst>
                                            <p:cond delay="0"/>
                                          </p:stCondLst>
                                        </p:cTn>
                                        <p:tgtEl>
                                          <p:spTgt spid="21531"/>
                                        </p:tgtEl>
                                        <p:attrNameLst>
                                          <p:attrName>style.visibility</p:attrName>
                                        </p:attrNameLst>
                                      </p:cBhvr>
                                      <p:to>
                                        <p:strVal val="visible"/>
                                      </p:to>
                                    </p:set>
                                    <p:animEffect transition="in" filter="wipe(right)">
                                      <p:cBhvr>
                                        <p:cTn id="48" dur="500"/>
                                        <p:tgtEl>
                                          <p:spTgt spid="21531"/>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1533"/>
                                        </p:tgtEl>
                                        <p:attrNameLst>
                                          <p:attrName>style.visibility</p:attrName>
                                        </p:attrNameLst>
                                      </p:cBhvr>
                                      <p:to>
                                        <p:strVal val="visible"/>
                                      </p:to>
                                    </p:set>
                                    <p:animEffect transition="in" filter="wipe(left)">
                                      <p:cBhvr>
                                        <p:cTn id="53" dur="2000"/>
                                        <p:tgtEl>
                                          <p:spTgt spid="2153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1534"/>
                                        </p:tgtEl>
                                        <p:attrNameLst>
                                          <p:attrName>style.visibility</p:attrName>
                                        </p:attrNameLst>
                                      </p:cBhvr>
                                      <p:to>
                                        <p:strVal val="visible"/>
                                      </p:to>
                                    </p:set>
                                    <p:animEffect transition="in" filter="wipe(left)">
                                      <p:cBhvr>
                                        <p:cTn id="58" dur="2000"/>
                                        <p:tgtEl>
                                          <p:spTgt spid="2153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1535"/>
                                        </p:tgtEl>
                                        <p:attrNameLst>
                                          <p:attrName>style.visibility</p:attrName>
                                        </p:attrNameLst>
                                      </p:cBhvr>
                                      <p:to>
                                        <p:strVal val="visible"/>
                                      </p:to>
                                    </p:set>
                                    <p:animEffect transition="in" filter="wipe(left)">
                                      <p:cBhvr>
                                        <p:cTn id="63" dur="2000"/>
                                        <p:tgtEl>
                                          <p:spTgt spid="2153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1536"/>
                                        </p:tgtEl>
                                        <p:attrNameLst>
                                          <p:attrName>style.visibility</p:attrName>
                                        </p:attrNameLst>
                                      </p:cBhvr>
                                      <p:to>
                                        <p:strVal val="visible"/>
                                      </p:to>
                                    </p:set>
                                    <p:animEffect transition="in" filter="wipe(left)">
                                      <p:cBhvr>
                                        <p:cTn id="68" dur="500"/>
                                        <p:tgtEl>
                                          <p:spTgt spid="21536"/>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21537"/>
                                        </p:tgtEl>
                                        <p:attrNameLst>
                                          <p:attrName>style.visibility</p:attrName>
                                        </p:attrNameLst>
                                      </p:cBhvr>
                                      <p:to>
                                        <p:strVal val="visible"/>
                                      </p:to>
                                    </p:set>
                                    <p:animEffect transition="in" filter="wipe(left)">
                                      <p:cBhvr>
                                        <p:cTn id="73" dur="2000"/>
                                        <p:tgtEl>
                                          <p:spTgt spid="21537"/>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21538"/>
                                        </p:tgtEl>
                                        <p:attrNameLst>
                                          <p:attrName>style.visibility</p:attrName>
                                        </p:attrNameLst>
                                      </p:cBhvr>
                                      <p:to>
                                        <p:strVal val="visible"/>
                                      </p:to>
                                    </p:set>
                                    <p:animEffect transition="in" filter="wipe(left)">
                                      <p:cBhvr>
                                        <p:cTn id="78" dur="2000"/>
                                        <p:tgtEl>
                                          <p:spTgt spid="2153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7"/>
                                        </p:tgtEl>
                                        <p:attrNameLst>
                                          <p:attrName>style.visibility</p:attrName>
                                        </p:attrNameLst>
                                      </p:cBhvr>
                                      <p:to>
                                        <p:strVal val="visible"/>
                                      </p:to>
                                    </p:set>
                                    <p:animEffect transition="in" filter="wipe(left)">
                                      <p:cBhvr>
                                        <p:cTn id="83" dur="500"/>
                                        <p:tgtEl>
                                          <p:spTgt spid="7"/>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1" fill="hold" nodeType="clickEffect">
                                  <p:stCondLst>
                                    <p:cond delay="0"/>
                                  </p:stCondLst>
                                  <p:childTnLst>
                                    <p:set>
                                      <p:cBhvr>
                                        <p:cTn id="87" dur="1" fill="hold">
                                          <p:stCondLst>
                                            <p:cond delay="0"/>
                                          </p:stCondLst>
                                        </p:cTn>
                                        <p:tgtEl>
                                          <p:spTgt spid="6"/>
                                        </p:tgtEl>
                                        <p:attrNameLst>
                                          <p:attrName>style.visibility</p:attrName>
                                        </p:attrNameLst>
                                      </p:cBhvr>
                                      <p:to>
                                        <p:strVal val="visible"/>
                                      </p:to>
                                    </p:set>
                                    <p:animEffect transition="in" filter="wipe(up)">
                                      <p:cBhvr>
                                        <p:cTn id="88" dur="500"/>
                                        <p:tgtEl>
                                          <p:spTgt spid="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1546"/>
                                        </p:tgtEl>
                                        <p:attrNameLst>
                                          <p:attrName>style.visibility</p:attrName>
                                        </p:attrNameLst>
                                      </p:cBhvr>
                                      <p:to>
                                        <p:strVal val="visible"/>
                                      </p:to>
                                    </p:set>
                                    <p:animEffect transition="in" filter="wipe(left)">
                                      <p:cBhvr>
                                        <p:cTn id="93" dur="500"/>
                                        <p:tgtEl>
                                          <p:spTgt spid="21546"/>
                                        </p:tgtEl>
                                      </p:cBhvr>
                                    </p:animEffect>
                                  </p:childTnLst>
                                </p:cTn>
                              </p:par>
                            </p:childTnLst>
                          </p:cTn>
                        </p:par>
                        <p:par>
                          <p:cTn id="94" fill="hold" nodeType="afterGroup">
                            <p:stCondLst>
                              <p:cond delay="500"/>
                            </p:stCondLst>
                            <p:childTnLst>
                              <p:par>
                                <p:cTn id="95" presetID="18" presetClass="entr" presetSubtype="6" fill="hold" grpId="0" nodeType="afterEffect">
                                  <p:stCondLst>
                                    <p:cond delay="0"/>
                                  </p:stCondLst>
                                  <p:childTnLst>
                                    <p:set>
                                      <p:cBhvr>
                                        <p:cTn id="96" dur="1" fill="hold">
                                          <p:stCondLst>
                                            <p:cond delay="0"/>
                                          </p:stCondLst>
                                        </p:cTn>
                                        <p:tgtEl>
                                          <p:spTgt spid="21550"/>
                                        </p:tgtEl>
                                        <p:attrNameLst>
                                          <p:attrName>style.visibility</p:attrName>
                                        </p:attrNameLst>
                                      </p:cBhvr>
                                      <p:to>
                                        <p:strVal val="visible"/>
                                      </p:to>
                                    </p:set>
                                    <p:animEffect transition="in" filter="strips(downRight)">
                                      <p:cBhvr>
                                        <p:cTn id="97" dur="500"/>
                                        <p:tgtEl>
                                          <p:spTgt spid="215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8" grpId="0"/>
      <p:bldP spid="21519" grpId="0"/>
      <p:bldP spid="21520" grpId="0"/>
      <p:bldP spid="21530" grpId="0" animBg="1"/>
      <p:bldP spid="21531" grpId="0"/>
      <p:bldP spid="21532" grpId="0" autoUpdateAnimBg="0"/>
      <p:bldP spid="21536" grpId="0" autoUpdateAnimBg="0"/>
      <p:bldP spid="21546" grpId="0" animBg="1"/>
      <p:bldP spid="2155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5818188" y="2968625"/>
            <a:ext cx="2560637" cy="2459038"/>
            <a:chOff x="4031" y="2256"/>
            <a:chExt cx="1592" cy="1549"/>
          </a:xfrm>
        </p:grpSpPr>
        <p:sp>
          <p:nvSpPr>
            <p:cNvPr id="14402" name="Line 3"/>
            <p:cNvSpPr>
              <a:spLocks noChangeShapeType="1"/>
            </p:cNvSpPr>
            <p:nvPr/>
          </p:nvSpPr>
          <p:spPr bwMode="auto">
            <a:xfrm>
              <a:off x="4368" y="3120"/>
              <a:ext cx="1056" cy="0"/>
            </a:xfrm>
            <a:prstGeom prst="line">
              <a:avLst/>
            </a:prstGeom>
            <a:noFill/>
            <a:ln w="57150">
              <a:solidFill>
                <a:srgbClr val="FFFF00"/>
              </a:solidFill>
              <a:round/>
              <a:headEnd/>
              <a:tailEnd/>
            </a:ln>
          </p:spPr>
          <p:txBody>
            <a:bodyPr/>
            <a:lstStyle/>
            <a:p>
              <a:endParaRPr lang="zh-CN" altLang="en-US"/>
            </a:p>
          </p:txBody>
        </p:sp>
        <p:sp>
          <p:nvSpPr>
            <p:cNvPr id="14403" name="Oval 4"/>
            <p:cNvSpPr>
              <a:spLocks noChangeArrowheads="1"/>
            </p:cNvSpPr>
            <p:nvPr/>
          </p:nvSpPr>
          <p:spPr bwMode="auto">
            <a:xfrm>
              <a:off x="4272" y="2256"/>
              <a:ext cx="1200" cy="1200"/>
            </a:xfrm>
            <a:prstGeom prst="ellipse">
              <a:avLst/>
            </a:prstGeom>
            <a:noFill/>
            <a:ln w="38100">
              <a:solidFill>
                <a:srgbClr val="FF6600"/>
              </a:solidFill>
              <a:round/>
              <a:headEnd/>
              <a:tailEnd/>
            </a:ln>
          </p:spPr>
          <p:txBody>
            <a:bodyPr wrap="none" anchor="ctr"/>
            <a:lstStyle/>
            <a:p>
              <a:endParaRPr lang="zh-CN" altLang="en-US"/>
            </a:p>
          </p:txBody>
        </p:sp>
        <p:sp>
          <p:nvSpPr>
            <p:cNvPr id="14404" name="Line 5"/>
            <p:cNvSpPr>
              <a:spLocks noChangeShapeType="1"/>
            </p:cNvSpPr>
            <p:nvPr/>
          </p:nvSpPr>
          <p:spPr bwMode="auto">
            <a:xfrm>
              <a:off x="4891" y="2832"/>
              <a:ext cx="528" cy="288"/>
            </a:xfrm>
            <a:prstGeom prst="line">
              <a:avLst/>
            </a:prstGeom>
            <a:noFill/>
            <a:ln w="28575">
              <a:solidFill>
                <a:srgbClr val="00FF99"/>
              </a:solidFill>
              <a:round/>
              <a:headEnd/>
              <a:tailEnd/>
            </a:ln>
          </p:spPr>
          <p:txBody>
            <a:bodyPr/>
            <a:lstStyle/>
            <a:p>
              <a:endParaRPr lang="zh-CN" altLang="en-US"/>
            </a:p>
          </p:txBody>
        </p:sp>
        <p:sp>
          <p:nvSpPr>
            <p:cNvPr id="14405" name="Text Box 6"/>
            <p:cNvSpPr txBox="1">
              <a:spLocks noChangeArrowheads="1"/>
            </p:cNvSpPr>
            <p:nvPr/>
          </p:nvSpPr>
          <p:spPr bwMode="auto">
            <a:xfrm>
              <a:off x="5136" y="2640"/>
              <a:ext cx="252" cy="288"/>
            </a:xfrm>
            <a:prstGeom prst="rect">
              <a:avLst/>
            </a:prstGeom>
            <a:noFill/>
            <a:ln w="9525">
              <a:noFill/>
              <a:miter lim="800000"/>
              <a:headEnd/>
              <a:tailEnd/>
            </a:ln>
          </p:spPr>
          <p:txBody>
            <a:bodyPr wrap="none">
              <a:spAutoFit/>
            </a:bodyPr>
            <a:lstStyle/>
            <a:p>
              <a:pPr algn="l"/>
              <a:r>
                <a:rPr kumimoji="1" lang="en-US" altLang="zh-CN" sz="2400" b="1">
                  <a:solidFill>
                    <a:srgbClr val="00FF99"/>
                  </a:solidFill>
                  <a:latin typeface="Times New Roman" pitchFamily="18" charset="0"/>
                </a:rPr>
                <a:t>R</a:t>
              </a:r>
            </a:p>
          </p:txBody>
        </p:sp>
        <p:sp>
          <p:nvSpPr>
            <p:cNvPr id="14406" name="Text Box 7"/>
            <p:cNvSpPr txBox="1">
              <a:spLocks noChangeArrowheads="1"/>
            </p:cNvSpPr>
            <p:nvPr/>
          </p:nvSpPr>
          <p:spPr bwMode="auto">
            <a:xfrm>
              <a:off x="5414" y="3002"/>
              <a:ext cx="209" cy="288"/>
            </a:xfrm>
            <a:prstGeom prst="rect">
              <a:avLst/>
            </a:prstGeom>
            <a:noFill/>
            <a:ln w="9525">
              <a:noFill/>
              <a:miter lim="800000"/>
              <a:headEnd/>
              <a:tailEnd/>
            </a:ln>
          </p:spPr>
          <p:txBody>
            <a:bodyPr wrap="none">
              <a:spAutoFit/>
            </a:bodyPr>
            <a:lstStyle/>
            <a:p>
              <a:pPr algn="l"/>
              <a:r>
                <a:rPr kumimoji="1" lang="en-US" altLang="zh-CN" sz="2400" b="1" i="1">
                  <a:solidFill>
                    <a:srgbClr val="008000"/>
                  </a:solidFill>
                  <a:latin typeface="Times New Roman" pitchFamily="18" charset="0"/>
                </a:rPr>
                <a:t>b</a:t>
              </a:r>
            </a:p>
          </p:txBody>
        </p:sp>
        <p:sp>
          <p:nvSpPr>
            <p:cNvPr id="14407" name="Text Box 8"/>
            <p:cNvSpPr txBox="1">
              <a:spLocks noChangeArrowheads="1"/>
            </p:cNvSpPr>
            <p:nvPr/>
          </p:nvSpPr>
          <p:spPr bwMode="auto">
            <a:xfrm>
              <a:off x="4031" y="3002"/>
              <a:ext cx="209" cy="288"/>
            </a:xfrm>
            <a:prstGeom prst="rect">
              <a:avLst/>
            </a:prstGeom>
            <a:noFill/>
            <a:ln w="9525">
              <a:noFill/>
              <a:miter lim="800000"/>
              <a:headEnd/>
              <a:tailEnd/>
            </a:ln>
          </p:spPr>
          <p:txBody>
            <a:bodyPr wrap="none">
              <a:spAutoFit/>
            </a:bodyPr>
            <a:lstStyle/>
            <a:p>
              <a:pPr algn="l"/>
              <a:r>
                <a:rPr kumimoji="1" lang="en-US" altLang="zh-CN" sz="2400" b="1" i="1">
                  <a:solidFill>
                    <a:srgbClr val="008000"/>
                  </a:solidFill>
                  <a:latin typeface="Times New Roman" pitchFamily="18" charset="0"/>
                </a:rPr>
                <a:t>a</a:t>
              </a:r>
            </a:p>
          </p:txBody>
        </p:sp>
        <p:sp>
          <p:nvSpPr>
            <p:cNvPr id="14408" name="Text Box 9"/>
            <p:cNvSpPr txBox="1">
              <a:spLocks noChangeArrowheads="1"/>
            </p:cNvSpPr>
            <p:nvPr/>
          </p:nvSpPr>
          <p:spPr bwMode="auto">
            <a:xfrm>
              <a:off x="4694" y="3517"/>
              <a:ext cx="116" cy="288"/>
            </a:xfrm>
            <a:prstGeom prst="rect">
              <a:avLst/>
            </a:prstGeom>
            <a:noFill/>
            <a:ln w="9525">
              <a:noFill/>
              <a:miter lim="800000"/>
              <a:headEnd/>
              <a:tailEnd/>
            </a:ln>
          </p:spPr>
          <p:txBody>
            <a:bodyPr wrap="none">
              <a:spAutoFit/>
            </a:bodyPr>
            <a:lstStyle/>
            <a:p>
              <a:pPr algn="l"/>
              <a:endParaRPr kumimoji="1" lang="zh-CN" altLang="zh-CN" sz="2400" b="1">
                <a:solidFill>
                  <a:srgbClr val="66FFFF"/>
                </a:solidFill>
                <a:latin typeface="Times New Roman" pitchFamily="18" charset="0"/>
              </a:endParaRPr>
            </a:p>
          </p:txBody>
        </p:sp>
        <p:sp>
          <p:nvSpPr>
            <p:cNvPr id="14409" name="Text Box 10"/>
            <p:cNvSpPr txBox="1">
              <a:spLocks noChangeArrowheads="1"/>
            </p:cNvSpPr>
            <p:nvPr/>
          </p:nvSpPr>
          <p:spPr bwMode="auto">
            <a:xfrm>
              <a:off x="4224" y="2256"/>
              <a:ext cx="1316" cy="1208"/>
            </a:xfrm>
            <a:prstGeom prst="rect">
              <a:avLst/>
            </a:prstGeom>
            <a:noFill/>
            <a:ln w="9525">
              <a:noFill/>
              <a:miter lim="800000"/>
              <a:headEnd/>
              <a:tailEnd/>
            </a:ln>
          </p:spPr>
          <p:txBody>
            <a:bodyPr>
              <a:spAutoFit/>
            </a:bodyPr>
            <a:lstStyle/>
            <a:p>
              <a:pPr algn="l"/>
              <a:r>
                <a:rPr kumimoji="1" lang="en-US" altLang="zh-CN" sz="2400" b="1">
                  <a:latin typeface="Times New Roman" pitchFamily="18" charset="0"/>
                </a:rPr>
                <a:t>      ×   ×   </a:t>
              </a:r>
            </a:p>
            <a:p>
              <a:pPr algn="l"/>
              <a:endParaRPr kumimoji="1" lang="en-US" altLang="zh-CN" sz="2400" b="1">
                <a:latin typeface="Times New Roman" pitchFamily="18" charset="0"/>
              </a:endParaRPr>
            </a:p>
            <a:p>
              <a:pPr algn="l"/>
              <a:r>
                <a:rPr kumimoji="1" lang="en-US" altLang="zh-CN" sz="2400" b="1">
                  <a:latin typeface="Times New Roman" pitchFamily="18" charset="0"/>
                </a:rPr>
                <a:t>×   ×   ×   ×</a:t>
              </a:r>
            </a:p>
            <a:p>
              <a:pPr algn="l"/>
              <a:endParaRPr kumimoji="1" lang="en-US" altLang="zh-CN" sz="2400" b="1">
                <a:latin typeface="Times New Roman" pitchFamily="18" charset="0"/>
              </a:endParaRPr>
            </a:p>
            <a:p>
              <a:pPr algn="l"/>
              <a:r>
                <a:rPr kumimoji="1" lang="en-US" altLang="zh-CN" sz="2400" b="1">
                  <a:latin typeface="Times New Roman" pitchFamily="18" charset="0"/>
                </a:rPr>
                <a:t>      ×   ×   </a:t>
              </a:r>
            </a:p>
          </p:txBody>
        </p:sp>
      </p:grpSp>
      <p:grpSp>
        <p:nvGrpSpPr>
          <p:cNvPr id="3" name="Group 72"/>
          <p:cNvGrpSpPr>
            <a:grpSpLocks/>
          </p:cNvGrpSpPr>
          <p:nvPr/>
        </p:nvGrpSpPr>
        <p:grpSpPr bwMode="auto">
          <a:xfrm>
            <a:off x="161925" y="541338"/>
            <a:ext cx="4635500" cy="465137"/>
            <a:chOff x="102" y="341"/>
            <a:chExt cx="2920" cy="293"/>
          </a:xfrm>
        </p:grpSpPr>
        <p:graphicFrame>
          <p:nvGraphicFramePr>
            <p:cNvPr id="14349" name="Object 11"/>
            <p:cNvGraphicFramePr>
              <a:graphicFrameLocks noChangeAspect="1"/>
            </p:cNvGraphicFramePr>
            <p:nvPr/>
          </p:nvGraphicFramePr>
          <p:xfrm>
            <a:off x="1986" y="368"/>
            <a:ext cx="1036" cy="245"/>
          </p:xfrm>
          <a:graphic>
            <a:graphicData uri="http://schemas.openxmlformats.org/presentationml/2006/ole">
              <p:oleObj spid="_x0000_s14349" name="公式" r:id="rId3" imgW="876311" imgH="180900" progId="Equation.3">
                <p:embed/>
              </p:oleObj>
            </a:graphicData>
          </a:graphic>
        </p:graphicFrame>
        <p:sp>
          <p:nvSpPr>
            <p:cNvPr id="14400" name="Rectangle 12"/>
            <p:cNvSpPr>
              <a:spLocks noChangeArrowheads="1"/>
            </p:cNvSpPr>
            <p:nvPr/>
          </p:nvSpPr>
          <p:spPr bwMode="auto">
            <a:xfrm>
              <a:off x="513" y="341"/>
              <a:ext cx="2404" cy="288"/>
            </a:xfrm>
            <a:prstGeom prst="rect">
              <a:avLst/>
            </a:prstGeom>
            <a:noFill/>
            <a:ln w="9525">
              <a:noFill/>
              <a:miter lim="800000"/>
              <a:headEnd/>
              <a:tailEnd/>
            </a:ln>
          </p:spPr>
          <p:txBody>
            <a:bodyPr>
              <a:spAutoFit/>
            </a:bodyPr>
            <a:lstStyle/>
            <a:p>
              <a:pPr algn="l"/>
              <a:r>
                <a:rPr kumimoji="1" lang="zh-CN" altLang="en-US" sz="2400" b="1">
                  <a:latin typeface="Times New Roman" pitchFamily="18" charset="0"/>
                </a:rPr>
                <a:t>长直螺线管磁场</a:t>
              </a:r>
            </a:p>
          </p:txBody>
        </p:sp>
        <p:sp>
          <p:nvSpPr>
            <p:cNvPr id="14401" name="Text Box 14"/>
            <p:cNvSpPr txBox="1">
              <a:spLocks noChangeArrowheads="1"/>
            </p:cNvSpPr>
            <p:nvPr/>
          </p:nvSpPr>
          <p:spPr bwMode="auto">
            <a:xfrm>
              <a:off x="102" y="346"/>
              <a:ext cx="309" cy="288"/>
            </a:xfrm>
            <a:prstGeom prst="rect">
              <a:avLst/>
            </a:prstGeom>
            <a:noFill/>
            <a:ln w="9525">
              <a:noFill/>
              <a:miter lim="800000"/>
              <a:headEnd/>
              <a:tailEnd/>
            </a:ln>
          </p:spPr>
          <p:txBody>
            <a:bodyPr wrap="none">
              <a:spAutoFit/>
            </a:bodyPr>
            <a:lstStyle/>
            <a:p>
              <a:pPr algn="l"/>
              <a:r>
                <a:rPr lang="zh-CN" altLang="en-US" sz="2400" b="1">
                  <a:solidFill>
                    <a:srgbClr val="FF0000"/>
                  </a:solidFill>
                  <a:latin typeface="Times New Roman" pitchFamily="18" charset="0"/>
                </a:rPr>
                <a:t>例</a:t>
              </a:r>
            </a:p>
          </p:txBody>
        </p:sp>
      </p:grpSp>
      <p:sp>
        <p:nvSpPr>
          <p:cNvPr id="22543" name="Text Box 15"/>
          <p:cNvSpPr txBox="1">
            <a:spLocks noChangeArrowheads="1"/>
          </p:cNvSpPr>
          <p:nvPr/>
        </p:nvSpPr>
        <p:spPr bwMode="auto">
          <a:xfrm>
            <a:off x="134938" y="1171575"/>
            <a:ext cx="1871662" cy="457200"/>
          </a:xfrm>
          <a:prstGeom prst="rect">
            <a:avLst/>
          </a:prstGeom>
          <a:noFill/>
          <a:ln w="12700">
            <a:noFill/>
            <a:miter lim="800000"/>
            <a:headEnd type="none" w="sm" len="sm"/>
            <a:tailEnd type="none" w="sm" len="sm"/>
          </a:ln>
        </p:spPr>
        <p:txBody>
          <a:bodyPr>
            <a:spAutoFit/>
          </a:bodyPr>
          <a:lstStyle/>
          <a:p>
            <a:pPr algn="l" defTabSz="762000" eaLnBrk="0" hangingPunct="0">
              <a:spcBef>
                <a:spcPct val="50000"/>
              </a:spcBef>
            </a:pPr>
            <a:r>
              <a:rPr kumimoji="1" lang="zh-CN" altLang="en-US" sz="2400" b="1">
                <a:solidFill>
                  <a:srgbClr val="FF0000"/>
                </a:solidFill>
                <a:latin typeface="Times New Roman" pitchFamily="18" charset="0"/>
              </a:rPr>
              <a:t>求</a:t>
            </a:r>
          </a:p>
        </p:txBody>
      </p:sp>
      <p:sp>
        <p:nvSpPr>
          <p:cNvPr id="22544" name="Rectangle 16"/>
          <p:cNvSpPr>
            <a:spLocks noChangeArrowheads="1"/>
          </p:cNvSpPr>
          <p:nvPr/>
        </p:nvSpPr>
        <p:spPr bwMode="auto">
          <a:xfrm>
            <a:off x="250825" y="2420938"/>
            <a:ext cx="1387475" cy="457200"/>
          </a:xfrm>
          <a:prstGeom prst="rect">
            <a:avLst/>
          </a:prstGeom>
          <a:noFill/>
          <a:ln w="9525">
            <a:noFill/>
            <a:miter lim="800000"/>
            <a:headEnd/>
            <a:tailEnd/>
          </a:ln>
        </p:spPr>
        <p:txBody>
          <a:bodyPr lIns="92075" tIns="46038" rIns="92075" bIns="46038">
            <a:spAutoFit/>
          </a:bodyPr>
          <a:lstStyle/>
          <a:p>
            <a:pPr algn="l" defTabSz="762000" eaLnBrk="0" hangingPunct="0">
              <a:spcBef>
                <a:spcPct val="50000"/>
              </a:spcBef>
            </a:pPr>
            <a:r>
              <a:rPr kumimoji="1" lang="zh-CN" altLang="en-US" sz="2400" b="1">
                <a:solidFill>
                  <a:srgbClr val="FF0000"/>
                </a:solidFill>
                <a:latin typeface="宋体" pitchFamily="2" charset="-122"/>
              </a:rPr>
              <a:t>解</a:t>
            </a:r>
          </a:p>
        </p:txBody>
      </p:sp>
      <p:grpSp>
        <p:nvGrpSpPr>
          <p:cNvPr id="4" name="Group 73"/>
          <p:cNvGrpSpPr>
            <a:grpSpLocks/>
          </p:cNvGrpSpPr>
          <p:nvPr/>
        </p:nvGrpSpPr>
        <p:grpSpPr bwMode="auto">
          <a:xfrm>
            <a:off x="723900" y="1171575"/>
            <a:ext cx="4883150" cy="457200"/>
            <a:chOff x="456" y="738"/>
            <a:chExt cx="3076" cy="288"/>
          </a:xfrm>
        </p:grpSpPr>
        <p:sp>
          <p:nvSpPr>
            <p:cNvPr id="14398" name="Rectangle 13"/>
            <p:cNvSpPr>
              <a:spLocks noChangeArrowheads="1"/>
            </p:cNvSpPr>
            <p:nvPr/>
          </p:nvSpPr>
          <p:spPr bwMode="auto">
            <a:xfrm>
              <a:off x="2769" y="738"/>
              <a:ext cx="415" cy="288"/>
            </a:xfrm>
            <a:prstGeom prst="rect">
              <a:avLst/>
            </a:prstGeom>
            <a:noFill/>
            <a:ln w="9525">
              <a:noFill/>
              <a:miter lim="800000"/>
              <a:headEnd/>
              <a:tailEnd/>
            </a:ln>
          </p:spPr>
          <p:txBody>
            <a:bodyPr wrap="none">
              <a:spAutoFit/>
            </a:bodyPr>
            <a:lstStyle/>
            <a:p>
              <a:pPr algn="l"/>
              <a:r>
                <a:rPr kumimoji="1" lang="en-US" altLang="zh-CN" sz="2400" b="1" i="1">
                  <a:solidFill>
                    <a:srgbClr val="FF3300"/>
                  </a:solidFill>
                  <a:latin typeface="Times New Roman" pitchFamily="18" charset="0"/>
                </a:rPr>
                <a:t>U</a:t>
              </a:r>
              <a:r>
                <a:rPr kumimoji="1" lang="en-US" altLang="zh-CN" sz="2400" b="1" i="1" baseline="-25000">
                  <a:solidFill>
                    <a:srgbClr val="FF3300"/>
                  </a:solidFill>
                  <a:latin typeface="Times New Roman" pitchFamily="18" charset="0"/>
                </a:rPr>
                <a:t>ab</a:t>
              </a:r>
              <a:r>
                <a:rPr kumimoji="1" lang="en-US" altLang="zh-CN" sz="2400" b="1" baseline="-25000">
                  <a:solidFill>
                    <a:srgbClr val="FF3300"/>
                  </a:solidFill>
                  <a:latin typeface="Times New Roman" pitchFamily="18" charset="0"/>
                </a:rPr>
                <a:t> </a:t>
              </a:r>
              <a:endParaRPr kumimoji="1" lang="en-US" altLang="zh-CN" sz="2400" b="1">
                <a:solidFill>
                  <a:srgbClr val="FF3300"/>
                </a:solidFill>
                <a:latin typeface="Times New Roman" pitchFamily="18" charset="0"/>
              </a:endParaRPr>
            </a:p>
          </p:txBody>
        </p:sp>
        <p:sp>
          <p:nvSpPr>
            <p:cNvPr id="14399" name="Rectangle 17"/>
            <p:cNvSpPr>
              <a:spLocks noChangeArrowheads="1"/>
            </p:cNvSpPr>
            <p:nvPr/>
          </p:nvSpPr>
          <p:spPr bwMode="auto">
            <a:xfrm>
              <a:off x="456" y="738"/>
              <a:ext cx="3076" cy="288"/>
            </a:xfrm>
            <a:prstGeom prst="rect">
              <a:avLst/>
            </a:prstGeom>
            <a:noFill/>
            <a:ln w="9525">
              <a:noFill/>
              <a:miter lim="800000"/>
              <a:headEnd/>
              <a:tailEnd/>
            </a:ln>
          </p:spPr>
          <p:txBody>
            <a:bodyPr>
              <a:spAutoFit/>
            </a:bodyPr>
            <a:lstStyle/>
            <a:p>
              <a:pPr algn="l"/>
              <a:r>
                <a:rPr kumimoji="1" lang="en-US" altLang="zh-CN" sz="2400" b="1">
                  <a:latin typeface="Times New Roman" pitchFamily="18" charset="0"/>
                </a:rPr>
                <a:t>(1) </a:t>
              </a:r>
              <a:r>
                <a:rPr kumimoji="1" lang="zh-CN" altLang="en-US" sz="2400" b="1">
                  <a:latin typeface="Times New Roman" pitchFamily="18" charset="0"/>
                </a:rPr>
                <a:t>直径上放一导体杆</a:t>
              </a:r>
              <a:r>
                <a:rPr kumimoji="1" lang="zh-CN" altLang="en-US" sz="2400" b="1">
                  <a:solidFill>
                    <a:srgbClr val="FF3300"/>
                  </a:solidFill>
                  <a:latin typeface="Times New Roman" pitchFamily="18" charset="0"/>
                </a:rPr>
                <a:t> </a:t>
              </a:r>
              <a:r>
                <a:rPr kumimoji="1" lang="en-US" altLang="zh-CN" sz="2400" b="1" i="1">
                  <a:solidFill>
                    <a:srgbClr val="FF3300"/>
                  </a:solidFill>
                  <a:latin typeface="Times New Roman" pitchFamily="18" charset="0"/>
                </a:rPr>
                <a:t>ab</a:t>
              </a:r>
              <a:r>
                <a:rPr kumimoji="1" lang="en-US" altLang="zh-CN" sz="2400" b="1" i="1">
                  <a:latin typeface="Times New Roman" pitchFamily="18" charset="0"/>
                </a:rPr>
                <a:t> </a:t>
              </a:r>
              <a:r>
                <a:rPr kumimoji="1" lang="zh-CN" altLang="en-US" sz="2400" b="1">
                  <a:latin typeface="Times New Roman" pitchFamily="18" charset="0"/>
                </a:rPr>
                <a:t>，</a:t>
              </a:r>
            </a:p>
          </p:txBody>
        </p:sp>
      </p:grpSp>
      <p:sp>
        <p:nvSpPr>
          <p:cNvPr id="22546" name="Text Box 18"/>
          <p:cNvSpPr txBox="1">
            <a:spLocks noChangeArrowheads="1"/>
          </p:cNvSpPr>
          <p:nvPr/>
        </p:nvSpPr>
        <p:spPr bwMode="auto">
          <a:xfrm>
            <a:off x="723900" y="1679575"/>
            <a:ext cx="4973638" cy="579438"/>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defRPr/>
            </a:pPr>
            <a:r>
              <a:rPr kumimoji="1" lang="en-US" altLang="zh-CN" sz="2400" b="1">
                <a:latin typeface="Times New Roman" pitchFamily="18" charset="0"/>
              </a:rPr>
              <a:t>(2) </a:t>
            </a:r>
            <a:r>
              <a:rPr kumimoji="1" lang="zh-CN" altLang="en-US" sz="2400" b="1">
                <a:latin typeface="Times New Roman" pitchFamily="18" charset="0"/>
              </a:rPr>
              <a:t>导体杆位置如图时，</a:t>
            </a:r>
            <a:r>
              <a:rPr kumimoji="1" lang="zh-CN" altLang="en-US" sz="3200" b="1" i="1">
                <a:effectLst>
                  <a:outerShdw blurRad="38100" dist="38100" dir="2700000" algn="tl">
                    <a:srgbClr val="C0C0C0"/>
                  </a:outerShdw>
                </a:effectLst>
                <a:latin typeface="Times New Roman" pitchFamily="18" charset="0"/>
              </a:rPr>
              <a:t> </a:t>
            </a:r>
            <a:r>
              <a:rPr kumimoji="1" lang="en-US" altLang="zh-CN" sz="2400" b="1" i="1">
                <a:solidFill>
                  <a:srgbClr val="FF3300"/>
                </a:solidFill>
                <a:latin typeface="Times New Roman" pitchFamily="18" charset="0"/>
              </a:rPr>
              <a:t>U</a:t>
            </a:r>
            <a:r>
              <a:rPr kumimoji="1" lang="en-US" altLang="zh-CN" sz="2400" b="1" i="1" baseline="-25000">
                <a:solidFill>
                  <a:srgbClr val="FF3300"/>
                </a:solidFill>
                <a:latin typeface="Times New Roman" pitchFamily="18" charset="0"/>
              </a:rPr>
              <a:t>ab</a:t>
            </a:r>
          </a:p>
        </p:txBody>
      </p:sp>
      <p:grpSp>
        <p:nvGrpSpPr>
          <p:cNvPr id="5" name="Group 19"/>
          <p:cNvGrpSpPr>
            <a:grpSpLocks/>
          </p:cNvGrpSpPr>
          <p:nvPr/>
        </p:nvGrpSpPr>
        <p:grpSpPr bwMode="auto">
          <a:xfrm>
            <a:off x="6115050" y="476250"/>
            <a:ext cx="1905000" cy="1905000"/>
            <a:chOff x="4129" y="480"/>
            <a:chExt cx="1200" cy="1200"/>
          </a:xfrm>
        </p:grpSpPr>
        <p:sp>
          <p:nvSpPr>
            <p:cNvPr id="14385" name="Oval 20"/>
            <p:cNvSpPr>
              <a:spLocks noChangeArrowheads="1"/>
            </p:cNvSpPr>
            <p:nvPr/>
          </p:nvSpPr>
          <p:spPr bwMode="auto">
            <a:xfrm>
              <a:off x="4129" y="480"/>
              <a:ext cx="1200" cy="1200"/>
            </a:xfrm>
            <a:prstGeom prst="ellipse">
              <a:avLst/>
            </a:prstGeom>
            <a:noFill/>
            <a:ln w="28575">
              <a:solidFill>
                <a:srgbClr val="FF0000"/>
              </a:solidFill>
              <a:round/>
              <a:headEnd/>
              <a:tailEnd/>
            </a:ln>
          </p:spPr>
          <p:txBody>
            <a:bodyPr wrap="none" anchor="ctr"/>
            <a:lstStyle/>
            <a:p>
              <a:endParaRPr lang="zh-CN" altLang="en-US"/>
            </a:p>
          </p:txBody>
        </p:sp>
        <p:grpSp>
          <p:nvGrpSpPr>
            <p:cNvPr id="14386" name="Group 21"/>
            <p:cNvGrpSpPr>
              <a:grpSpLocks/>
            </p:cNvGrpSpPr>
            <p:nvPr/>
          </p:nvGrpSpPr>
          <p:grpSpPr bwMode="auto">
            <a:xfrm rot="2793848">
              <a:off x="4345" y="696"/>
              <a:ext cx="168" cy="216"/>
              <a:chOff x="2016" y="3216"/>
              <a:chExt cx="240" cy="288"/>
            </a:xfrm>
          </p:grpSpPr>
          <p:sp>
            <p:nvSpPr>
              <p:cNvPr id="14396" name="Line 22"/>
              <p:cNvSpPr>
                <a:spLocks noChangeShapeType="1"/>
              </p:cNvSpPr>
              <p:nvPr/>
            </p:nvSpPr>
            <p:spPr bwMode="auto">
              <a:xfrm>
                <a:off x="2016" y="3360"/>
                <a:ext cx="240" cy="0"/>
              </a:xfrm>
              <a:prstGeom prst="line">
                <a:avLst/>
              </a:prstGeom>
              <a:noFill/>
              <a:ln w="28575">
                <a:solidFill>
                  <a:srgbClr val="FF0000"/>
                </a:solidFill>
                <a:round/>
                <a:headEnd/>
                <a:tailEnd/>
              </a:ln>
            </p:spPr>
            <p:txBody>
              <a:bodyPr/>
              <a:lstStyle/>
              <a:p>
                <a:endParaRPr lang="zh-CN" altLang="en-US"/>
              </a:p>
            </p:txBody>
          </p:sp>
          <p:sp>
            <p:nvSpPr>
              <p:cNvPr id="14397" name="Line 23"/>
              <p:cNvSpPr>
                <a:spLocks noChangeShapeType="1"/>
              </p:cNvSpPr>
              <p:nvPr/>
            </p:nvSpPr>
            <p:spPr bwMode="auto">
              <a:xfrm>
                <a:off x="2160" y="3216"/>
                <a:ext cx="0" cy="288"/>
              </a:xfrm>
              <a:prstGeom prst="line">
                <a:avLst/>
              </a:prstGeom>
              <a:noFill/>
              <a:ln w="28575">
                <a:solidFill>
                  <a:srgbClr val="FF0000"/>
                </a:solidFill>
                <a:round/>
                <a:headEnd/>
                <a:tailEnd/>
              </a:ln>
            </p:spPr>
            <p:txBody>
              <a:bodyPr/>
              <a:lstStyle/>
              <a:p>
                <a:endParaRPr lang="zh-CN" altLang="en-US"/>
              </a:p>
            </p:txBody>
          </p:sp>
        </p:grpSp>
        <p:grpSp>
          <p:nvGrpSpPr>
            <p:cNvPr id="14387" name="Group 24"/>
            <p:cNvGrpSpPr>
              <a:grpSpLocks/>
            </p:cNvGrpSpPr>
            <p:nvPr/>
          </p:nvGrpSpPr>
          <p:grpSpPr bwMode="auto">
            <a:xfrm rot="2793848">
              <a:off x="4393" y="1224"/>
              <a:ext cx="168" cy="216"/>
              <a:chOff x="2016" y="3216"/>
              <a:chExt cx="240" cy="288"/>
            </a:xfrm>
          </p:grpSpPr>
          <p:sp>
            <p:nvSpPr>
              <p:cNvPr id="14394" name="Line 25"/>
              <p:cNvSpPr>
                <a:spLocks noChangeShapeType="1"/>
              </p:cNvSpPr>
              <p:nvPr/>
            </p:nvSpPr>
            <p:spPr bwMode="auto">
              <a:xfrm>
                <a:off x="2016" y="3360"/>
                <a:ext cx="240" cy="0"/>
              </a:xfrm>
              <a:prstGeom prst="line">
                <a:avLst/>
              </a:prstGeom>
              <a:noFill/>
              <a:ln w="28575">
                <a:solidFill>
                  <a:srgbClr val="FF0000"/>
                </a:solidFill>
                <a:round/>
                <a:headEnd/>
                <a:tailEnd/>
              </a:ln>
            </p:spPr>
            <p:txBody>
              <a:bodyPr/>
              <a:lstStyle/>
              <a:p>
                <a:endParaRPr lang="zh-CN" altLang="en-US"/>
              </a:p>
            </p:txBody>
          </p:sp>
          <p:sp>
            <p:nvSpPr>
              <p:cNvPr id="14395" name="Line 26"/>
              <p:cNvSpPr>
                <a:spLocks noChangeShapeType="1"/>
              </p:cNvSpPr>
              <p:nvPr/>
            </p:nvSpPr>
            <p:spPr bwMode="auto">
              <a:xfrm>
                <a:off x="2160" y="3216"/>
                <a:ext cx="0" cy="288"/>
              </a:xfrm>
              <a:prstGeom prst="line">
                <a:avLst/>
              </a:prstGeom>
              <a:noFill/>
              <a:ln w="28575">
                <a:solidFill>
                  <a:srgbClr val="FF0000"/>
                </a:solidFill>
                <a:round/>
                <a:headEnd/>
                <a:tailEnd/>
              </a:ln>
            </p:spPr>
            <p:txBody>
              <a:bodyPr/>
              <a:lstStyle/>
              <a:p>
                <a:endParaRPr lang="zh-CN" altLang="en-US"/>
              </a:p>
            </p:txBody>
          </p:sp>
        </p:grpSp>
        <p:grpSp>
          <p:nvGrpSpPr>
            <p:cNvPr id="14388" name="Group 27"/>
            <p:cNvGrpSpPr>
              <a:grpSpLocks/>
            </p:cNvGrpSpPr>
            <p:nvPr/>
          </p:nvGrpSpPr>
          <p:grpSpPr bwMode="auto">
            <a:xfrm rot="2793848">
              <a:off x="4873" y="1224"/>
              <a:ext cx="168" cy="216"/>
              <a:chOff x="2016" y="3216"/>
              <a:chExt cx="240" cy="288"/>
            </a:xfrm>
          </p:grpSpPr>
          <p:sp>
            <p:nvSpPr>
              <p:cNvPr id="14392" name="Line 28"/>
              <p:cNvSpPr>
                <a:spLocks noChangeShapeType="1"/>
              </p:cNvSpPr>
              <p:nvPr/>
            </p:nvSpPr>
            <p:spPr bwMode="auto">
              <a:xfrm>
                <a:off x="2016" y="3360"/>
                <a:ext cx="240" cy="0"/>
              </a:xfrm>
              <a:prstGeom prst="line">
                <a:avLst/>
              </a:prstGeom>
              <a:noFill/>
              <a:ln w="28575">
                <a:solidFill>
                  <a:srgbClr val="FF0000"/>
                </a:solidFill>
                <a:round/>
                <a:headEnd/>
                <a:tailEnd/>
              </a:ln>
            </p:spPr>
            <p:txBody>
              <a:bodyPr/>
              <a:lstStyle/>
              <a:p>
                <a:endParaRPr lang="zh-CN" altLang="en-US"/>
              </a:p>
            </p:txBody>
          </p:sp>
          <p:sp>
            <p:nvSpPr>
              <p:cNvPr id="14393" name="Line 29"/>
              <p:cNvSpPr>
                <a:spLocks noChangeShapeType="1"/>
              </p:cNvSpPr>
              <p:nvPr/>
            </p:nvSpPr>
            <p:spPr bwMode="auto">
              <a:xfrm>
                <a:off x="2160" y="3216"/>
                <a:ext cx="0" cy="288"/>
              </a:xfrm>
              <a:prstGeom prst="line">
                <a:avLst/>
              </a:prstGeom>
              <a:noFill/>
              <a:ln w="28575">
                <a:solidFill>
                  <a:srgbClr val="FF0000"/>
                </a:solidFill>
                <a:round/>
                <a:headEnd/>
                <a:tailEnd/>
              </a:ln>
            </p:spPr>
            <p:txBody>
              <a:bodyPr/>
              <a:lstStyle/>
              <a:p>
                <a:endParaRPr lang="zh-CN" altLang="en-US"/>
              </a:p>
            </p:txBody>
          </p:sp>
        </p:grpSp>
        <p:grpSp>
          <p:nvGrpSpPr>
            <p:cNvPr id="14389" name="Group 30"/>
            <p:cNvGrpSpPr>
              <a:grpSpLocks/>
            </p:cNvGrpSpPr>
            <p:nvPr/>
          </p:nvGrpSpPr>
          <p:grpSpPr bwMode="auto">
            <a:xfrm rot="2793848">
              <a:off x="4873" y="696"/>
              <a:ext cx="168" cy="216"/>
              <a:chOff x="2016" y="3216"/>
              <a:chExt cx="240" cy="288"/>
            </a:xfrm>
          </p:grpSpPr>
          <p:sp>
            <p:nvSpPr>
              <p:cNvPr id="14390" name="Line 31"/>
              <p:cNvSpPr>
                <a:spLocks noChangeShapeType="1"/>
              </p:cNvSpPr>
              <p:nvPr/>
            </p:nvSpPr>
            <p:spPr bwMode="auto">
              <a:xfrm>
                <a:off x="2016" y="3360"/>
                <a:ext cx="240" cy="0"/>
              </a:xfrm>
              <a:prstGeom prst="line">
                <a:avLst/>
              </a:prstGeom>
              <a:noFill/>
              <a:ln w="28575">
                <a:solidFill>
                  <a:srgbClr val="FF0000"/>
                </a:solidFill>
                <a:round/>
                <a:headEnd/>
                <a:tailEnd/>
              </a:ln>
            </p:spPr>
            <p:txBody>
              <a:bodyPr/>
              <a:lstStyle/>
              <a:p>
                <a:endParaRPr lang="zh-CN" altLang="en-US"/>
              </a:p>
            </p:txBody>
          </p:sp>
          <p:sp>
            <p:nvSpPr>
              <p:cNvPr id="14391" name="Line 32"/>
              <p:cNvSpPr>
                <a:spLocks noChangeShapeType="1"/>
              </p:cNvSpPr>
              <p:nvPr/>
            </p:nvSpPr>
            <p:spPr bwMode="auto">
              <a:xfrm>
                <a:off x="2160" y="3216"/>
                <a:ext cx="0" cy="288"/>
              </a:xfrm>
              <a:prstGeom prst="line">
                <a:avLst/>
              </a:prstGeom>
              <a:noFill/>
              <a:ln w="28575">
                <a:solidFill>
                  <a:srgbClr val="FF0000"/>
                </a:solidFill>
                <a:round/>
                <a:headEnd/>
                <a:tailEnd/>
              </a:ln>
            </p:spPr>
            <p:txBody>
              <a:bodyPr/>
              <a:lstStyle/>
              <a:p>
                <a:endParaRPr lang="zh-CN" altLang="en-US"/>
              </a:p>
            </p:txBody>
          </p:sp>
        </p:grpSp>
      </p:grpSp>
      <p:grpSp>
        <p:nvGrpSpPr>
          <p:cNvPr id="14357" name="Group 33"/>
          <p:cNvGrpSpPr>
            <a:grpSpLocks/>
          </p:cNvGrpSpPr>
          <p:nvPr/>
        </p:nvGrpSpPr>
        <p:grpSpPr bwMode="auto">
          <a:xfrm>
            <a:off x="7061200" y="1441450"/>
            <a:ext cx="1406525" cy="752475"/>
            <a:chOff x="4448" y="908"/>
            <a:chExt cx="886" cy="474"/>
          </a:xfrm>
        </p:grpSpPr>
        <p:sp>
          <p:nvSpPr>
            <p:cNvPr id="14383" name="Line 34"/>
            <p:cNvSpPr>
              <a:spLocks noChangeShapeType="1"/>
            </p:cNvSpPr>
            <p:nvPr/>
          </p:nvSpPr>
          <p:spPr bwMode="auto">
            <a:xfrm>
              <a:off x="4448" y="908"/>
              <a:ext cx="528" cy="288"/>
            </a:xfrm>
            <a:prstGeom prst="line">
              <a:avLst/>
            </a:prstGeom>
            <a:noFill/>
            <a:ln w="28575">
              <a:solidFill>
                <a:schemeClr val="bg1"/>
              </a:solidFill>
              <a:round/>
              <a:headEnd/>
              <a:tailEnd type="triangle" w="med" len="med"/>
            </a:ln>
          </p:spPr>
          <p:txBody>
            <a:bodyPr/>
            <a:lstStyle/>
            <a:p>
              <a:endParaRPr lang="zh-CN" altLang="en-US"/>
            </a:p>
          </p:txBody>
        </p:sp>
        <p:sp>
          <p:nvSpPr>
            <p:cNvPr id="14384" name="Text Box 35"/>
            <p:cNvSpPr txBox="1">
              <a:spLocks noChangeArrowheads="1"/>
            </p:cNvSpPr>
            <p:nvPr/>
          </p:nvSpPr>
          <p:spPr bwMode="auto">
            <a:xfrm>
              <a:off x="5090" y="1094"/>
              <a:ext cx="244" cy="288"/>
            </a:xfrm>
            <a:prstGeom prst="rect">
              <a:avLst/>
            </a:prstGeom>
            <a:noFill/>
            <a:ln w="9525">
              <a:noFill/>
              <a:miter lim="800000"/>
              <a:headEnd/>
              <a:tailEnd/>
            </a:ln>
          </p:spPr>
          <p:txBody>
            <a:bodyPr wrap="none">
              <a:spAutoFit/>
            </a:bodyPr>
            <a:lstStyle/>
            <a:p>
              <a:pPr algn="l"/>
              <a:r>
                <a:rPr kumimoji="1" lang="en-US" altLang="zh-CN" sz="2400" b="1" i="1">
                  <a:solidFill>
                    <a:schemeClr val="bg1"/>
                  </a:solidFill>
                  <a:latin typeface="Times New Roman" pitchFamily="18" charset="0"/>
                </a:rPr>
                <a:t>R</a:t>
              </a:r>
            </a:p>
          </p:txBody>
        </p:sp>
      </p:grpSp>
      <p:grpSp>
        <p:nvGrpSpPr>
          <p:cNvPr id="11" name="Group 36"/>
          <p:cNvGrpSpPr>
            <a:grpSpLocks/>
          </p:cNvGrpSpPr>
          <p:nvPr/>
        </p:nvGrpSpPr>
        <p:grpSpPr bwMode="auto">
          <a:xfrm>
            <a:off x="5580063" y="1203325"/>
            <a:ext cx="2836862" cy="533400"/>
            <a:chOff x="3792" y="938"/>
            <a:chExt cx="1787" cy="336"/>
          </a:xfrm>
        </p:grpSpPr>
        <p:sp>
          <p:nvSpPr>
            <p:cNvPr id="14380" name="Line 37"/>
            <p:cNvSpPr>
              <a:spLocks noChangeShapeType="1"/>
            </p:cNvSpPr>
            <p:nvPr/>
          </p:nvSpPr>
          <p:spPr bwMode="auto">
            <a:xfrm>
              <a:off x="4129" y="1104"/>
              <a:ext cx="1200" cy="0"/>
            </a:xfrm>
            <a:prstGeom prst="line">
              <a:avLst/>
            </a:prstGeom>
            <a:noFill/>
            <a:ln w="57150">
              <a:solidFill>
                <a:srgbClr val="008000"/>
              </a:solidFill>
              <a:round/>
              <a:headEnd/>
              <a:tailEnd/>
            </a:ln>
          </p:spPr>
          <p:txBody>
            <a:bodyPr/>
            <a:lstStyle/>
            <a:p>
              <a:endParaRPr lang="zh-CN" altLang="en-US"/>
            </a:p>
          </p:txBody>
        </p:sp>
        <p:sp>
          <p:nvSpPr>
            <p:cNvPr id="14381" name="Text Box 38"/>
            <p:cNvSpPr txBox="1">
              <a:spLocks noChangeArrowheads="1"/>
            </p:cNvSpPr>
            <p:nvPr/>
          </p:nvSpPr>
          <p:spPr bwMode="auto">
            <a:xfrm>
              <a:off x="5367" y="938"/>
              <a:ext cx="212" cy="288"/>
            </a:xfrm>
            <a:prstGeom prst="rect">
              <a:avLst/>
            </a:prstGeom>
            <a:noFill/>
            <a:ln w="9525">
              <a:noFill/>
              <a:miter lim="800000"/>
              <a:headEnd/>
              <a:tailEnd/>
            </a:ln>
          </p:spPr>
          <p:txBody>
            <a:bodyPr wrap="none">
              <a:spAutoFit/>
            </a:bodyPr>
            <a:lstStyle/>
            <a:p>
              <a:pPr algn="l"/>
              <a:r>
                <a:rPr kumimoji="1" lang="en-US" altLang="zh-CN" sz="2400" b="1" i="1">
                  <a:solidFill>
                    <a:srgbClr val="008000"/>
                  </a:solidFill>
                  <a:latin typeface="Times New Roman" pitchFamily="18" charset="0"/>
                </a:rPr>
                <a:t>b</a:t>
              </a:r>
            </a:p>
          </p:txBody>
        </p:sp>
        <p:sp>
          <p:nvSpPr>
            <p:cNvPr id="14382" name="Text Box 39"/>
            <p:cNvSpPr txBox="1">
              <a:spLocks noChangeArrowheads="1"/>
            </p:cNvSpPr>
            <p:nvPr/>
          </p:nvSpPr>
          <p:spPr bwMode="auto">
            <a:xfrm>
              <a:off x="3792" y="986"/>
              <a:ext cx="212" cy="288"/>
            </a:xfrm>
            <a:prstGeom prst="rect">
              <a:avLst/>
            </a:prstGeom>
            <a:noFill/>
            <a:ln w="9525">
              <a:noFill/>
              <a:miter lim="800000"/>
              <a:headEnd/>
              <a:tailEnd/>
            </a:ln>
          </p:spPr>
          <p:txBody>
            <a:bodyPr wrap="none">
              <a:spAutoFit/>
            </a:bodyPr>
            <a:lstStyle/>
            <a:p>
              <a:pPr algn="l"/>
              <a:r>
                <a:rPr kumimoji="1" lang="en-US" altLang="zh-CN" sz="2400" b="1" i="1">
                  <a:solidFill>
                    <a:srgbClr val="008000"/>
                  </a:solidFill>
                  <a:latin typeface="Times New Roman" pitchFamily="18" charset="0"/>
                </a:rPr>
                <a:t>a</a:t>
              </a:r>
            </a:p>
          </p:txBody>
        </p:sp>
      </p:grpSp>
      <p:grpSp>
        <p:nvGrpSpPr>
          <p:cNvPr id="12" name="Group 40"/>
          <p:cNvGrpSpPr>
            <a:grpSpLocks/>
          </p:cNvGrpSpPr>
          <p:nvPr/>
        </p:nvGrpSpPr>
        <p:grpSpPr bwMode="auto">
          <a:xfrm>
            <a:off x="6650038" y="1027113"/>
            <a:ext cx="666750" cy="457200"/>
            <a:chOff x="4464" y="838"/>
            <a:chExt cx="420" cy="288"/>
          </a:xfrm>
        </p:grpSpPr>
        <p:sp>
          <p:nvSpPr>
            <p:cNvPr id="14378" name="Text Box 41"/>
            <p:cNvSpPr txBox="1">
              <a:spLocks noChangeArrowheads="1"/>
            </p:cNvSpPr>
            <p:nvPr/>
          </p:nvSpPr>
          <p:spPr bwMode="auto">
            <a:xfrm>
              <a:off x="4608" y="838"/>
              <a:ext cx="276" cy="288"/>
            </a:xfrm>
            <a:prstGeom prst="rect">
              <a:avLst/>
            </a:prstGeom>
            <a:noFill/>
            <a:ln w="9525">
              <a:noFill/>
              <a:miter lim="800000"/>
              <a:headEnd/>
              <a:tailEnd/>
            </a:ln>
          </p:spPr>
          <p:txBody>
            <a:bodyPr wrap="none">
              <a:spAutoFit/>
            </a:bodyPr>
            <a:lstStyle/>
            <a:p>
              <a:pPr algn="l"/>
              <a:r>
                <a:rPr kumimoji="1" lang="en-US" altLang="zh-CN" sz="2400" b="1">
                  <a:latin typeface="Times New Roman" pitchFamily="18" charset="0"/>
                </a:rPr>
                <a:t>d</a:t>
              </a:r>
              <a:r>
                <a:rPr kumimoji="1" lang="en-US" altLang="zh-CN" sz="2400" b="1" i="1">
                  <a:latin typeface="Times New Roman" pitchFamily="18" charset="0"/>
                </a:rPr>
                <a:t>l</a:t>
              </a:r>
            </a:p>
          </p:txBody>
        </p:sp>
        <p:sp>
          <p:nvSpPr>
            <p:cNvPr id="14379" name="Line 42"/>
            <p:cNvSpPr>
              <a:spLocks noChangeShapeType="1"/>
            </p:cNvSpPr>
            <p:nvPr/>
          </p:nvSpPr>
          <p:spPr bwMode="auto">
            <a:xfrm>
              <a:off x="4464" y="1104"/>
              <a:ext cx="240" cy="0"/>
            </a:xfrm>
            <a:prstGeom prst="line">
              <a:avLst/>
            </a:prstGeom>
            <a:noFill/>
            <a:ln w="38100">
              <a:solidFill>
                <a:schemeClr val="tx1"/>
              </a:solidFill>
              <a:round/>
              <a:headEnd/>
              <a:tailEnd type="triangle" w="med" len="med"/>
            </a:ln>
          </p:spPr>
          <p:txBody>
            <a:bodyPr/>
            <a:lstStyle/>
            <a:p>
              <a:endParaRPr lang="zh-CN" altLang="en-US"/>
            </a:p>
          </p:txBody>
        </p:sp>
      </p:grpSp>
      <p:sp>
        <p:nvSpPr>
          <p:cNvPr id="22571" name="Oval 43"/>
          <p:cNvSpPr>
            <a:spLocks noChangeArrowheads="1"/>
          </p:cNvSpPr>
          <p:nvPr/>
        </p:nvSpPr>
        <p:spPr bwMode="auto">
          <a:xfrm>
            <a:off x="6665913" y="1028700"/>
            <a:ext cx="838200" cy="838200"/>
          </a:xfrm>
          <a:prstGeom prst="ellipse">
            <a:avLst/>
          </a:prstGeom>
          <a:noFill/>
          <a:ln w="28575">
            <a:solidFill>
              <a:srgbClr val="008080"/>
            </a:solidFill>
            <a:round/>
            <a:headEnd/>
            <a:tailEnd/>
          </a:ln>
        </p:spPr>
        <p:txBody>
          <a:bodyPr wrap="none" anchor="ctr"/>
          <a:lstStyle/>
          <a:p>
            <a:endParaRPr lang="zh-CN" altLang="en-US"/>
          </a:p>
        </p:txBody>
      </p:sp>
      <p:grpSp>
        <p:nvGrpSpPr>
          <p:cNvPr id="13" name="Group 44"/>
          <p:cNvGrpSpPr>
            <a:grpSpLocks/>
          </p:cNvGrpSpPr>
          <p:nvPr/>
        </p:nvGrpSpPr>
        <p:grpSpPr bwMode="auto">
          <a:xfrm>
            <a:off x="6642100" y="1460500"/>
            <a:ext cx="522288" cy="903288"/>
            <a:chOff x="4502" y="1104"/>
            <a:chExt cx="329" cy="569"/>
          </a:xfrm>
        </p:grpSpPr>
        <p:sp>
          <p:nvSpPr>
            <p:cNvPr id="14376" name="Text Box 45"/>
            <p:cNvSpPr txBox="1">
              <a:spLocks noChangeArrowheads="1"/>
            </p:cNvSpPr>
            <p:nvPr/>
          </p:nvSpPr>
          <p:spPr bwMode="auto">
            <a:xfrm>
              <a:off x="4502" y="1385"/>
              <a:ext cx="329" cy="288"/>
            </a:xfrm>
            <a:prstGeom prst="rect">
              <a:avLst/>
            </a:prstGeom>
            <a:noFill/>
            <a:ln w="9525">
              <a:noFill/>
              <a:miter lim="800000"/>
              <a:headEnd/>
              <a:tailEnd/>
            </a:ln>
          </p:spPr>
          <p:txBody>
            <a:bodyPr wrap="none">
              <a:spAutoFit/>
            </a:bodyPr>
            <a:lstStyle/>
            <a:p>
              <a:pPr algn="l"/>
              <a:r>
                <a:rPr kumimoji="1" lang="en-US" altLang="zh-CN" sz="2400" b="1" i="1">
                  <a:solidFill>
                    <a:srgbClr val="0000CC"/>
                  </a:solidFill>
                  <a:latin typeface="Times New Roman" pitchFamily="18" charset="0"/>
                </a:rPr>
                <a:t>E</a:t>
              </a:r>
              <a:r>
                <a:rPr kumimoji="1" lang="en-US" altLang="zh-CN" sz="2400" b="1" i="1" baseline="-25000">
                  <a:solidFill>
                    <a:srgbClr val="0000CC"/>
                  </a:solidFill>
                  <a:latin typeface="Times New Roman" pitchFamily="18" charset="0"/>
                </a:rPr>
                <a:t>w</a:t>
              </a:r>
            </a:p>
          </p:txBody>
        </p:sp>
        <p:sp>
          <p:nvSpPr>
            <p:cNvPr id="14377" name="Line 46"/>
            <p:cNvSpPr>
              <a:spLocks noChangeShapeType="1"/>
            </p:cNvSpPr>
            <p:nvPr/>
          </p:nvSpPr>
          <p:spPr bwMode="auto">
            <a:xfrm>
              <a:off x="4512" y="1104"/>
              <a:ext cx="0" cy="336"/>
            </a:xfrm>
            <a:prstGeom prst="line">
              <a:avLst/>
            </a:prstGeom>
            <a:noFill/>
            <a:ln w="38100">
              <a:solidFill>
                <a:srgbClr val="0000CC"/>
              </a:solidFill>
              <a:round/>
              <a:headEnd/>
              <a:tailEnd type="triangle" w="med" len="med"/>
            </a:ln>
          </p:spPr>
          <p:txBody>
            <a:bodyPr/>
            <a:lstStyle/>
            <a:p>
              <a:endParaRPr lang="zh-CN" altLang="en-US"/>
            </a:p>
          </p:txBody>
        </p:sp>
      </p:grpSp>
      <p:graphicFrame>
        <p:nvGraphicFramePr>
          <p:cNvPr id="22575" name="Object 47"/>
          <p:cNvGraphicFramePr>
            <a:graphicFrameLocks/>
          </p:cNvGraphicFramePr>
          <p:nvPr/>
        </p:nvGraphicFramePr>
        <p:xfrm>
          <a:off x="1487488" y="2349500"/>
          <a:ext cx="2555875" cy="593725"/>
        </p:xfrm>
        <a:graphic>
          <a:graphicData uri="http://schemas.openxmlformats.org/presentationml/2006/ole">
            <p:oleObj spid="_x0000_s14338" name="公式" r:id="rId4" imgW="1381190" imgH="295380" progId="Equation.3">
              <p:embed/>
            </p:oleObj>
          </a:graphicData>
        </a:graphic>
      </p:graphicFrame>
      <p:sp>
        <p:nvSpPr>
          <p:cNvPr id="22576" name="Rectangle 48"/>
          <p:cNvSpPr>
            <a:spLocks noChangeArrowheads="1"/>
          </p:cNvSpPr>
          <p:nvPr/>
        </p:nvSpPr>
        <p:spPr bwMode="auto">
          <a:xfrm>
            <a:off x="719138" y="2432050"/>
            <a:ext cx="838200" cy="457200"/>
          </a:xfrm>
          <a:prstGeom prst="rect">
            <a:avLst/>
          </a:prstGeom>
          <a:noFill/>
          <a:ln w="9525">
            <a:noFill/>
            <a:miter lim="800000"/>
            <a:headEnd/>
            <a:tailEnd/>
          </a:ln>
        </p:spPr>
        <p:txBody>
          <a:bodyPr>
            <a:spAutoFit/>
          </a:bodyPr>
          <a:lstStyle/>
          <a:p>
            <a:pPr algn="l"/>
            <a:r>
              <a:rPr kumimoji="1" lang="en-US" altLang="zh-CN" sz="2400" b="1">
                <a:latin typeface="Times New Roman" pitchFamily="18" charset="0"/>
              </a:rPr>
              <a:t>(1)</a:t>
            </a:r>
          </a:p>
        </p:txBody>
      </p:sp>
      <p:sp>
        <p:nvSpPr>
          <p:cNvPr id="22577" name="Rectangle 49"/>
          <p:cNvSpPr>
            <a:spLocks noChangeArrowheads="1"/>
          </p:cNvSpPr>
          <p:nvPr/>
        </p:nvSpPr>
        <p:spPr bwMode="auto">
          <a:xfrm>
            <a:off x="719138" y="3200400"/>
            <a:ext cx="539750" cy="457200"/>
          </a:xfrm>
          <a:prstGeom prst="rect">
            <a:avLst/>
          </a:prstGeom>
          <a:noFill/>
          <a:ln w="9525">
            <a:noFill/>
            <a:miter lim="800000"/>
            <a:headEnd/>
            <a:tailEnd/>
          </a:ln>
        </p:spPr>
        <p:txBody>
          <a:bodyPr wrap="none">
            <a:spAutoFit/>
          </a:bodyPr>
          <a:lstStyle/>
          <a:p>
            <a:pPr algn="l"/>
            <a:r>
              <a:rPr kumimoji="1" lang="en-US" altLang="zh-CN" sz="2400" b="1">
                <a:latin typeface="Times New Roman" pitchFamily="18" charset="0"/>
              </a:rPr>
              <a:t>(2)</a:t>
            </a:r>
          </a:p>
        </p:txBody>
      </p:sp>
      <p:sp>
        <p:nvSpPr>
          <p:cNvPr id="22578" name="Text Box 50"/>
          <p:cNvSpPr txBox="1">
            <a:spLocks noChangeArrowheads="1"/>
          </p:cNvSpPr>
          <p:nvPr/>
        </p:nvSpPr>
        <p:spPr bwMode="auto">
          <a:xfrm>
            <a:off x="1258888" y="3200400"/>
            <a:ext cx="1457325"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楷体_GB2312" pitchFamily="49" charset="-122"/>
                <a:ea typeface="楷体_GB2312" pitchFamily="49" charset="-122"/>
              </a:rPr>
              <a:t>方法</a:t>
            </a:r>
            <a:r>
              <a:rPr kumimoji="1" lang="en-US" altLang="zh-CN" sz="2400" b="1">
                <a:solidFill>
                  <a:srgbClr val="FF0000"/>
                </a:solidFill>
                <a:latin typeface="楷体_GB2312" pitchFamily="49" charset="-122"/>
                <a:ea typeface="楷体_GB2312" pitchFamily="49" charset="-122"/>
              </a:rPr>
              <a:t>1</a:t>
            </a:r>
            <a:r>
              <a:rPr kumimoji="1" lang="zh-CN" altLang="en-US" sz="2400" b="1">
                <a:solidFill>
                  <a:srgbClr val="FF0000"/>
                </a:solidFill>
                <a:latin typeface="楷体_GB2312" pitchFamily="49" charset="-122"/>
                <a:ea typeface="楷体_GB2312" pitchFamily="49" charset="-122"/>
              </a:rPr>
              <a:t>：</a:t>
            </a:r>
          </a:p>
        </p:txBody>
      </p:sp>
      <p:grpSp>
        <p:nvGrpSpPr>
          <p:cNvPr id="14" name="Group 51"/>
          <p:cNvGrpSpPr>
            <a:grpSpLocks/>
          </p:cNvGrpSpPr>
          <p:nvPr/>
        </p:nvGrpSpPr>
        <p:grpSpPr bwMode="auto">
          <a:xfrm>
            <a:off x="6659563" y="4292600"/>
            <a:ext cx="841375" cy="508000"/>
            <a:chOff x="4704" y="3120"/>
            <a:chExt cx="530" cy="320"/>
          </a:xfrm>
        </p:grpSpPr>
        <p:sp>
          <p:nvSpPr>
            <p:cNvPr id="14374" name="Line 52"/>
            <p:cNvSpPr>
              <a:spLocks noChangeShapeType="1"/>
            </p:cNvSpPr>
            <p:nvPr/>
          </p:nvSpPr>
          <p:spPr bwMode="auto">
            <a:xfrm>
              <a:off x="4704" y="3120"/>
              <a:ext cx="240" cy="240"/>
            </a:xfrm>
            <a:prstGeom prst="line">
              <a:avLst/>
            </a:prstGeom>
            <a:noFill/>
            <a:ln w="38100">
              <a:solidFill>
                <a:srgbClr val="0000CC"/>
              </a:solidFill>
              <a:round/>
              <a:headEnd/>
              <a:tailEnd type="triangle" w="med" len="med"/>
            </a:ln>
          </p:spPr>
          <p:txBody>
            <a:bodyPr/>
            <a:lstStyle/>
            <a:p>
              <a:endParaRPr lang="zh-CN" altLang="en-US"/>
            </a:p>
          </p:txBody>
        </p:sp>
        <p:sp>
          <p:nvSpPr>
            <p:cNvPr id="14375" name="Text Box 53"/>
            <p:cNvSpPr txBox="1">
              <a:spLocks noChangeArrowheads="1"/>
            </p:cNvSpPr>
            <p:nvPr/>
          </p:nvSpPr>
          <p:spPr bwMode="auto">
            <a:xfrm>
              <a:off x="4905" y="3152"/>
              <a:ext cx="329" cy="288"/>
            </a:xfrm>
            <a:prstGeom prst="rect">
              <a:avLst/>
            </a:prstGeom>
            <a:noFill/>
            <a:ln w="9525">
              <a:noFill/>
              <a:miter lim="800000"/>
              <a:headEnd/>
              <a:tailEnd/>
            </a:ln>
          </p:spPr>
          <p:txBody>
            <a:bodyPr wrap="none">
              <a:spAutoFit/>
            </a:bodyPr>
            <a:lstStyle/>
            <a:p>
              <a:pPr algn="l"/>
              <a:r>
                <a:rPr kumimoji="1" lang="en-US" altLang="zh-CN" sz="2400" b="1" i="1">
                  <a:solidFill>
                    <a:srgbClr val="0000CC"/>
                  </a:solidFill>
                  <a:latin typeface="Times New Roman" pitchFamily="18" charset="0"/>
                </a:rPr>
                <a:t>E</a:t>
              </a:r>
              <a:r>
                <a:rPr kumimoji="1" lang="en-US" altLang="zh-CN" sz="2400" b="1" i="1" baseline="-25000">
                  <a:solidFill>
                    <a:srgbClr val="0000CC"/>
                  </a:solidFill>
                  <a:latin typeface="Times New Roman" pitchFamily="18" charset="0"/>
                </a:rPr>
                <a:t>w</a:t>
              </a:r>
            </a:p>
          </p:txBody>
        </p:sp>
      </p:grpSp>
      <p:sp>
        <p:nvSpPr>
          <p:cNvPr id="22582" name="Line 54"/>
          <p:cNvSpPr>
            <a:spLocks noChangeShapeType="1"/>
          </p:cNvSpPr>
          <p:nvPr/>
        </p:nvSpPr>
        <p:spPr bwMode="auto">
          <a:xfrm>
            <a:off x="6659563" y="4302125"/>
            <a:ext cx="381000" cy="0"/>
          </a:xfrm>
          <a:prstGeom prst="line">
            <a:avLst/>
          </a:prstGeom>
          <a:noFill/>
          <a:ln w="38100">
            <a:solidFill>
              <a:srgbClr val="FF0000"/>
            </a:solidFill>
            <a:round/>
            <a:headEnd/>
            <a:tailEnd type="triangle" w="med" len="med"/>
          </a:ln>
        </p:spPr>
        <p:txBody>
          <a:bodyPr/>
          <a:lstStyle/>
          <a:p>
            <a:endParaRPr lang="zh-CN" altLang="en-US"/>
          </a:p>
        </p:txBody>
      </p:sp>
      <p:graphicFrame>
        <p:nvGraphicFramePr>
          <p:cNvPr id="22583" name="Object 55"/>
          <p:cNvGraphicFramePr>
            <a:graphicFrameLocks noChangeAspect="1"/>
          </p:cNvGraphicFramePr>
          <p:nvPr/>
        </p:nvGraphicFramePr>
        <p:xfrm>
          <a:off x="6962775" y="4292600"/>
          <a:ext cx="201613" cy="284163"/>
        </p:xfrm>
        <a:graphic>
          <a:graphicData uri="http://schemas.openxmlformats.org/presentationml/2006/ole">
            <p:oleObj spid="_x0000_s14339" name="公式" r:id="rId5" imgW="85632" imgH="142830" progId="Equation.3">
              <p:embed/>
            </p:oleObj>
          </a:graphicData>
        </a:graphic>
      </p:graphicFrame>
      <p:graphicFrame>
        <p:nvGraphicFramePr>
          <p:cNvPr id="22584" name="Object 56"/>
          <p:cNvGraphicFramePr>
            <a:graphicFrameLocks noChangeAspect="1"/>
          </p:cNvGraphicFramePr>
          <p:nvPr/>
        </p:nvGraphicFramePr>
        <p:xfrm>
          <a:off x="2927350" y="3698875"/>
          <a:ext cx="1716088" cy="593725"/>
        </p:xfrm>
        <a:graphic>
          <a:graphicData uri="http://schemas.openxmlformats.org/presentationml/2006/ole">
            <p:oleObj spid="_x0000_s14340" name="公式" r:id="rId6" imgW="943034" imgH="295380" progId="Equation.3">
              <p:embed/>
            </p:oleObj>
          </a:graphicData>
        </a:graphic>
      </p:graphicFrame>
      <p:sp>
        <p:nvSpPr>
          <p:cNvPr id="22585" name="Line 57"/>
          <p:cNvSpPr>
            <a:spLocks noChangeShapeType="1"/>
          </p:cNvSpPr>
          <p:nvPr/>
        </p:nvSpPr>
        <p:spPr bwMode="auto">
          <a:xfrm flipH="1">
            <a:off x="6659563" y="3860800"/>
            <a:ext cx="525462" cy="431800"/>
          </a:xfrm>
          <a:prstGeom prst="line">
            <a:avLst/>
          </a:prstGeom>
          <a:noFill/>
          <a:ln w="38100">
            <a:solidFill>
              <a:srgbClr val="008000"/>
            </a:solidFill>
            <a:round/>
            <a:headEnd/>
            <a:tailEnd/>
          </a:ln>
        </p:spPr>
        <p:txBody>
          <a:bodyPr/>
          <a:lstStyle/>
          <a:p>
            <a:endParaRPr lang="zh-CN" altLang="en-US"/>
          </a:p>
        </p:txBody>
      </p:sp>
      <p:sp>
        <p:nvSpPr>
          <p:cNvPr id="22586" name="Text Box 58"/>
          <p:cNvSpPr txBox="1">
            <a:spLocks noChangeArrowheads="1"/>
          </p:cNvSpPr>
          <p:nvPr/>
        </p:nvSpPr>
        <p:spPr bwMode="auto">
          <a:xfrm>
            <a:off x="6654800" y="3716338"/>
            <a:ext cx="303213" cy="457200"/>
          </a:xfrm>
          <a:prstGeom prst="rect">
            <a:avLst/>
          </a:prstGeom>
          <a:noFill/>
          <a:ln w="9525">
            <a:noFill/>
            <a:miter lim="800000"/>
            <a:headEnd/>
            <a:tailEnd/>
          </a:ln>
        </p:spPr>
        <p:txBody>
          <a:bodyPr wrap="none">
            <a:spAutoFit/>
          </a:bodyPr>
          <a:lstStyle/>
          <a:p>
            <a:pPr algn="l"/>
            <a:r>
              <a:rPr kumimoji="1" lang="en-US" altLang="zh-CN" sz="2400" b="1" i="1">
                <a:solidFill>
                  <a:srgbClr val="006600"/>
                </a:solidFill>
                <a:latin typeface="Times New Roman" pitchFamily="18" charset="0"/>
              </a:rPr>
              <a:t>r</a:t>
            </a:r>
          </a:p>
        </p:txBody>
      </p:sp>
      <p:graphicFrame>
        <p:nvGraphicFramePr>
          <p:cNvPr id="22587" name="Object 59"/>
          <p:cNvGraphicFramePr>
            <a:graphicFrameLocks noChangeAspect="1"/>
          </p:cNvGraphicFramePr>
          <p:nvPr/>
        </p:nvGraphicFramePr>
        <p:xfrm>
          <a:off x="1116013" y="4570413"/>
          <a:ext cx="1857375" cy="730250"/>
        </p:xfrm>
        <a:graphic>
          <a:graphicData uri="http://schemas.openxmlformats.org/presentationml/2006/ole">
            <p:oleObj spid="_x0000_s14341" name="公式" r:id="rId7" imgW="1066755" imgH="371520" progId="Equation.3">
              <p:embed/>
            </p:oleObj>
          </a:graphicData>
        </a:graphic>
      </p:graphicFrame>
      <p:graphicFrame>
        <p:nvGraphicFramePr>
          <p:cNvPr id="22588" name="Object 60"/>
          <p:cNvGraphicFramePr>
            <a:graphicFrameLocks noChangeAspect="1"/>
          </p:cNvGraphicFramePr>
          <p:nvPr/>
        </p:nvGraphicFramePr>
        <p:xfrm>
          <a:off x="6877050" y="4076700"/>
          <a:ext cx="212725" cy="212725"/>
        </p:xfrm>
        <a:graphic>
          <a:graphicData uri="http://schemas.openxmlformats.org/presentationml/2006/ole">
            <p:oleObj spid="_x0000_s14342" name="公式" r:id="rId8" imgW="104812" imgH="104760" progId="Equation.3">
              <p:embed/>
            </p:oleObj>
          </a:graphicData>
        </a:graphic>
      </p:graphicFrame>
      <p:graphicFrame>
        <p:nvGraphicFramePr>
          <p:cNvPr id="22589" name="Object 61"/>
          <p:cNvGraphicFramePr>
            <a:graphicFrameLocks noChangeAspect="1"/>
          </p:cNvGraphicFramePr>
          <p:nvPr/>
        </p:nvGraphicFramePr>
        <p:xfrm>
          <a:off x="3049588" y="4570413"/>
          <a:ext cx="1993900" cy="730250"/>
        </p:xfrm>
        <a:graphic>
          <a:graphicData uri="http://schemas.openxmlformats.org/presentationml/2006/ole">
            <p:oleObj spid="_x0000_s14343" name="公式" r:id="rId9" imgW="1142932" imgH="371520" progId="Equation.3">
              <p:embed/>
            </p:oleObj>
          </a:graphicData>
        </a:graphic>
      </p:graphicFrame>
      <p:grpSp>
        <p:nvGrpSpPr>
          <p:cNvPr id="15" name="Group 62"/>
          <p:cNvGrpSpPr>
            <a:grpSpLocks/>
          </p:cNvGrpSpPr>
          <p:nvPr/>
        </p:nvGrpSpPr>
        <p:grpSpPr bwMode="auto">
          <a:xfrm>
            <a:off x="7164388" y="3860800"/>
            <a:ext cx="354012" cy="457200"/>
            <a:chOff x="4896" y="2832"/>
            <a:chExt cx="223" cy="288"/>
          </a:xfrm>
        </p:grpSpPr>
        <p:sp>
          <p:nvSpPr>
            <p:cNvPr id="14372" name="Line 63"/>
            <p:cNvSpPr>
              <a:spLocks noChangeShapeType="1"/>
            </p:cNvSpPr>
            <p:nvPr/>
          </p:nvSpPr>
          <p:spPr bwMode="auto">
            <a:xfrm>
              <a:off x="4907" y="2832"/>
              <a:ext cx="0" cy="288"/>
            </a:xfrm>
            <a:prstGeom prst="line">
              <a:avLst/>
            </a:prstGeom>
            <a:noFill/>
            <a:ln w="38100">
              <a:solidFill>
                <a:srgbClr val="66FFFF"/>
              </a:solidFill>
              <a:round/>
              <a:headEnd/>
              <a:tailEnd/>
            </a:ln>
          </p:spPr>
          <p:txBody>
            <a:bodyPr/>
            <a:lstStyle/>
            <a:p>
              <a:endParaRPr lang="zh-CN" altLang="en-US"/>
            </a:p>
          </p:txBody>
        </p:sp>
        <p:sp>
          <p:nvSpPr>
            <p:cNvPr id="14373" name="Text Box 64"/>
            <p:cNvSpPr txBox="1">
              <a:spLocks noChangeArrowheads="1"/>
            </p:cNvSpPr>
            <p:nvPr/>
          </p:nvSpPr>
          <p:spPr bwMode="auto">
            <a:xfrm>
              <a:off x="4896" y="2832"/>
              <a:ext cx="223" cy="288"/>
            </a:xfrm>
            <a:prstGeom prst="rect">
              <a:avLst/>
            </a:prstGeom>
            <a:noFill/>
            <a:ln w="9525">
              <a:noFill/>
              <a:miter lim="800000"/>
              <a:headEnd/>
              <a:tailEnd/>
            </a:ln>
          </p:spPr>
          <p:txBody>
            <a:bodyPr wrap="none">
              <a:spAutoFit/>
            </a:bodyPr>
            <a:lstStyle/>
            <a:p>
              <a:pPr algn="l"/>
              <a:r>
                <a:rPr kumimoji="1" lang="en-US" altLang="zh-CN" sz="2400" b="1" i="1">
                  <a:solidFill>
                    <a:srgbClr val="000099"/>
                  </a:solidFill>
                  <a:latin typeface="Times New Roman" pitchFamily="18" charset="0"/>
                </a:rPr>
                <a:t>h</a:t>
              </a:r>
            </a:p>
          </p:txBody>
        </p:sp>
      </p:grpSp>
      <p:graphicFrame>
        <p:nvGraphicFramePr>
          <p:cNvPr id="22593" name="Object 65"/>
          <p:cNvGraphicFramePr>
            <a:graphicFrameLocks/>
          </p:cNvGraphicFramePr>
          <p:nvPr/>
        </p:nvGraphicFramePr>
        <p:xfrm>
          <a:off x="1116013" y="5516563"/>
          <a:ext cx="1598612" cy="733425"/>
        </p:xfrm>
        <a:graphic>
          <a:graphicData uri="http://schemas.openxmlformats.org/presentationml/2006/ole">
            <p:oleObj spid="_x0000_s14344" name="公式" r:id="rId10" imgW="847677" imgH="371520" progId="Equation.3">
              <p:embed/>
            </p:oleObj>
          </a:graphicData>
        </a:graphic>
      </p:graphicFrame>
      <p:graphicFrame>
        <p:nvGraphicFramePr>
          <p:cNvPr id="22594" name="Object 66"/>
          <p:cNvGraphicFramePr>
            <a:graphicFrameLocks noChangeAspect="1"/>
          </p:cNvGraphicFramePr>
          <p:nvPr/>
        </p:nvGraphicFramePr>
        <p:xfrm>
          <a:off x="4932363" y="5683250"/>
          <a:ext cx="866775" cy="409575"/>
        </p:xfrm>
        <a:graphic>
          <a:graphicData uri="http://schemas.openxmlformats.org/presentationml/2006/ole">
            <p:oleObj spid="_x0000_s14345" name="公式" r:id="rId11" imgW="447610" imgH="190620" progId="Equation.3">
              <p:embed/>
            </p:oleObj>
          </a:graphicData>
        </a:graphic>
      </p:graphicFrame>
      <p:sp>
        <p:nvSpPr>
          <p:cNvPr id="22595" name="Arc 67"/>
          <p:cNvSpPr>
            <a:spLocks/>
          </p:cNvSpPr>
          <p:nvPr/>
        </p:nvSpPr>
        <p:spPr bwMode="auto">
          <a:xfrm rot="-2501343">
            <a:off x="6588125" y="4149725"/>
            <a:ext cx="279400" cy="207963"/>
          </a:xfrm>
          <a:custGeom>
            <a:avLst/>
            <a:gdLst>
              <a:gd name="T0" fmla="*/ 2147483647 w 20791"/>
              <a:gd name="T1" fmla="*/ 2147483647 h 15147"/>
              <a:gd name="T2" fmla="*/ 2147483647 w 20791"/>
              <a:gd name="T3" fmla="*/ 2147483647 h 15147"/>
              <a:gd name="T4" fmla="*/ 0 w 20791"/>
              <a:gd name="T5" fmla="*/ 0 h 15147"/>
              <a:gd name="T6" fmla="*/ 0 60000 65536"/>
              <a:gd name="T7" fmla="*/ 0 60000 65536"/>
              <a:gd name="T8" fmla="*/ 0 60000 65536"/>
              <a:gd name="T9" fmla="*/ 0 w 20791"/>
              <a:gd name="T10" fmla="*/ 0 h 15147"/>
              <a:gd name="T11" fmla="*/ 20791 w 20791"/>
              <a:gd name="T12" fmla="*/ 15147 h 15147"/>
            </a:gdLst>
            <a:ahLst/>
            <a:cxnLst>
              <a:cxn ang="T6">
                <a:pos x="T0" y="T1"/>
              </a:cxn>
              <a:cxn ang="T7">
                <a:pos x="T2" y="T3"/>
              </a:cxn>
              <a:cxn ang="T8">
                <a:pos x="T4" y="T5"/>
              </a:cxn>
            </a:cxnLst>
            <a:rect l="T9" t="T10" r="T11" b="T12"/>
            <a:pathLst>
              <a:path w="20791" h="15147" fill="none" extrusionOk="0">
                <a:moveTo>
                  <a:pt x="20791" y="5855"/>
                </a:moveTo>
                <a:cubicBezTo>
                  <a:pt x="19805" y="9357"/>
                  <a:pt x="17950" y="12553"/>
                  <a:pt x="15398" y="15146"/>
                </a:cubicBezTo>
              </a:path>
              <a:path w="20791" h="15147" stroke="0" extrusionOk="0">
                <a:moveTo>
                  <a:pt x="20791" y="5855"/>
                </a:moveTo>
                <a:cubicBezTo>
                  <a:pt x="19805" y="9357"/>
                  <a:pt x="17950" y="12553"/>
                  <a:pt x="15398" y="15146"/>
                </a:cubicBezTo>
                <a:lnTo>
                  <a:pt x="0" y="0"/>
                </a:lnTo>
                <a:lnTo>
                  <a:pt x="20791" y="5855"/>
                </a:lnTo>
                <a:close/>
              </a:path>
            </a:pathLst>
          </a:custGeom>
          <a:noFill/>
          <a:ln w="19050">
            <a:solidFill>
              <a:srgbClr val="FF00FF"/>
            </a:solidFill>
            <a:round/>
            <a:headEnd/>
            <a:tailEnd/>
          </a:ln>
        </p:spPr>
        <p:txBody>
          <a:bodyPr anchor="ctr">
            <a:spAutoFit/>
          </a:bodyPr>
          <a:lstStyle/>
          <a:p>
            <a:endParaRPr lang="zh-CN" altLang="en-US"/>
          </a:p>
        </p:txBody>
      </p:sp>
      <p:sp>
        <p:nvSpPr>
          <p:cNvPr id="22596" name="Arc 68"/>
          <p:cNvSpPr>
            <a:spLocks/>
          </p:cNvSpPr>
          <p:nvPr/>
        </p:nvSpPr>
        <p:spPr bwMode="auto">
          <a:xfrm rot="-2501343">
            <a:off x="6688138" y="4149725"/>
            <a:ext cx="188912" cy="295275"/>
          </a:xfrm>
          <a:custGeom>
            <a:avLst/>
            <a:gdLst>
              <a:gd name="T0" fmla="*/ 2147483647 w 14035"/>
              <a:gd name="T1" fmla="*/ 2147483647 h 21437"/>
              <a:gd name="T2" fmla="*/ 1168591243 w 14035"/>
              <a:gd name="T3" fmla="*/ 2147483647 h 21437"/>
              <a:gd name="T4" fmla="*/ 0 w 14035"/>
              <a:gd name="T5" fmla="*/ 0 h 21437"/>
              <a:gd name="T6" fmla="*/ 0 60000 65536"/>
              <a:gd name="T7" fmla="*/ 0 60000 65536"/>
              <a:gd name="T8" fmla="*/ 0 60000 65536"/>
              <a:gd name="T9" fmla="*/ 0 w 14035"/>
              <a:gd name="T10" fmla="*/ 0 h 21437"/>
              <a:gd name="T11" fmla="*/ 14035 w 14035"/>
              <a:gd name="T12" fmla="*/ 21437 h 21437"/>
            </a:gdLst>
            <a:ahLst/>
            <a:cxnLst>
              <a:cxn ang="T6">
                <a:pos x="T0" y="T1"/>
              </a:cxn>
              <a:cxn ang="T7">
                <a:pos x="T2" y="T3"/>
              </a:cxn>
              <a:cxn ang="T8">
                <a:pos x="T4" y="T5"/>
              </a:cxn>
            </a:cxnLst>
            <a:rect l="T9" t="T10" r="T11" b="T12"/>
            <a:pathLst>
              <a:path w="14035" h="21437" fill="none" extrusionOk="0">
                <a:moveTo>
                  <a:pt x="14035" y="16418"/>
                </a:moveTo>
                <a:cubicBezTo>
                  <a:pt x="10813" y="19172"/>
                  <a:pt x="6852" y="20918"/>
                  <a:pt x="2645" y="21437"/>
                </a:cubicBezTo>
              </a:path>
              <a:path w="14035" h="21437" stroke="0" extrusionOk="0">
                <a:moveTo>
                  <a:pt x="14035" y="16418"/>
                </a:moveTo>
                <a:cubicBezTo>
                  <a:pt x="10813" y="19172"/>
                  <a:pt x="6852" y="20918"/>
                  <a:pt x="2645" y="21437"/>
                </a:cubicBezTo>
                <a:lnTo>
                  <a:pt x="0" y="0"/>
                </a:lnTo>
                <a:lnTo>
                  <a:pt x="14035" y="16418"/>
                </a:lnTo>
                <a:close/>
              </a:path>
            </a:pathLst>
          </a:custGeom>
          <a:noFill/>
          <a:ln w="31750">
            <a:solidFill>
              <a:srgbClr val="FF0000"/>
            </a:solidFill>
            <a:round/>
            <a:headEnd/>
            <a:tailEnd/>
          </a:ln>
        </p:spPr>
        <p:txBody>
          <a:bodyPr anchor="ctr">
            <a:spAutoFit/>
          </a:bodyPr>
          <a:lstStyle/>
          <a:p>
            <a:endParaRPr lang="zh-CN" altLang="en-US"/>
          </a:p>
        </p:txBody>
      </p:sp>
      <p:graphicFrame>
        <p:nvGraphicFramePr>
          <p:cNvPr id="22597" name="Object 69"/>
          <p:cNvGraphicFramePr>
            <a:graphicFrameLocks/>
          </p:cNvGraphicFramePr>
          <p:nvPr/>
        </p:nvGraphicFramePr>
        <p:xfrm>
          <a:off x="730250" y="3719513"/>
          <a:ext cx="2152650" cy="593725"/>
        </p:xfrm>
        <a:graphic>
          <a:graphicData uri="http://schemas.openxmlformats.org/presentationml/2006/ole">
            <p:oleObj spid="_x0000_s14346" name="公式" r:id="rId12" imgW="1152657" imgH="295380" progId="Equation.3">
              <p:embed/>
            </p:oleObj>
          </a:graphicData>
        </a:graphic>
      </p:graphicFrame>
      <p:graphicFrame>
        <p:nvGraphicFramePr>
          <p:cNvPr id="22598" name="Object 70"/>
          <p:cNvGraphicFramePr>
            <a:graphicFrameLocks noChangeAspect="1"/>
          </p:cNvGraphicFramePr>
          <p:nvPr/>
        </p:nvGraphicFramePr>
        <p:xfrm>
          <a:off x="2771775" y="5530850"/>
          <a:ext cx="1000125" cy="728663"/>
        </p:xfrm>
        <a:graphic>
          <a:graphicData uri="http://schemas.openxmlformats.org/presentationml/2006/ole">
            <p:oleObj spid="_x0000_s14347" name="公式" r:id="rId13" imgW="523788" imgH="371520" progId="Equation.3">
              <p:embed/>
            </p:oleObj>
          </a:graphicData>
        </a:graphic>
      </p:graphicFrame>
      <p:graphicFrame>
        <p:nvGraphicFramePr>
          <p:cNvPr id="22599" name="Object 71"/>
          <p:cNvGraphicFramePr>
            <a:graphicFrameLocks/>
          </p:cNvGraphicFramePr>
          <p:nvPr/>
        </p:nvGraphicFramePr>
        <p:xfrm>
          <a:off x="3836988" y="5546725"/>
          <a:ext cx="839787" cy="730250"/>
        </p:xfrm>
        <a:graphic>
          <a:graphicData uri="http://schemas.openxmlformats.org/presentationml/2006/ole">
            <p:oleObj spid="_x0000_s14348" name="公式" r:id="rId14" imgW="428701" imgH="37152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43"/>
                                        </p:tgtEl>
                                        <p:attrNameLst>
                                          <p:attrName>style.visibility</p:attrName>
                                        </p:attrNameLst>
                                      </p:cBhvr>
                                      <p:to>
                                        <p:strVal val="visible"/>
                                      </p:to>
                                    </p:set>
                                    <p:animEffect transition="in" filter="wipe(left)">
                                      <p:cBhvr>
                                        <p:cTn id="17" dur="500"/>
                                        <p:tgtEl>
                                          <p:spTgt spid="225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5"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vertical)">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44"/>
                                        </p:tgtEl>
                                        <p:attrNameLst>
                                          <p:attrName>style.visibility</p:attrName>
                                        </p:attrNameLst>
                                      </p:cBhvr>
                                      <p:to>
                                        <p:strVal val="visible"/>
                                      </p:to>
                                    </p:set>
                                    <p:animEffect transition="in" filter="wipe(left)">
                                      <p:cBhvr>
                                        <p:cTn id="32" dur="500"/>
                                        <p:tgtEl>
                                          <p:spTgt spid="225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22571"/>
                                        </p:tgtEl>
                                        <p:attrNameLst>
                                          <p:attrName>style.visibility</p:attrName>
                                        </p:attrNameLst>
                                      </p:cBhvr>
                                      <p:to>
                                        <p:strVal val="visible"/>
                                      </p:to>
                                    </p:set>
                                    <p:anim calcmode="lin" valueType="num">
                                      <p:cBhvr>
                                        <p:cTn id="37" dur="500" fill="hold"/>
                                        <p:tgtEl>
                                          <p:spTgt spid="22571"/>
                                        </p:tgtEl>
                                        <p:attrNameLst>
                                          <p:attrName>ppt_w</p:attrName>
                                        </p:attrNameLst>
                                      </p:cBhvr>
                                      <p:tavLst>
                                        <p:tav tm="0">
                                          <p:val>
                                            <p:fltVal val="0"/>
                                          </p:val>
                                        </p:tav>
                                        <p:tav tm="100000">
                                          <p:val>
                                            <p:strVal val="#ppt_w"/>
                                          </p:val>
                                        </p:tav>
                                      </p:tavLst>
                                    </p:anim>
                                    <p:anim calcmode="lin" valueType="num">
                                      <p:cBhvr>
                                        <p:cTn id="38" dur="500" fill="hold"/>
                                        <p:tgtEl>
                                          <p:spTgt spid="22571"/>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up)">
                                      <p:cBhvr>
                                        <p:cTn id="43" dur="2000"/>
                                        <p:tgtEl>
                                          <p:spTgt spid="1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wipe(left)">
                                      <p:cBhvr>
                                        <p:cTn id="48" dur="2000"/>
                                        <p:tgtEl>
                                          <p:spTgt spid="1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576"/>
                                        </p:tgtEl>
                                        <p:attrNameLst>
                                          <p:attrName>style.visibility</p:attrName>
                                        </p:attrNameLst>
                                      </p:cBhvr>
                                      <p:to>
                                        <p:strVal val="visible"/>
                                      </p:to>
                                    </p:set>
                                    <p:animEffect transition="in" filter="wipe(left)">
                                      <p:cBhvr>
                                        <p:cTn id="53" dur="500"/>
                                        <p:tgtEl>
                                          <p:spTgt spid="2257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2575"/>
                                        </p:tgtEl>
                                        <p:attrNameLst>
                                          <p:attrName>style.visibility</p:attrName>
                                        </p:attrNameLst>
                                      </p:cBhvr>
                                      <p:to>
                                        <p:strVal val="visible"/>
                                      </p:to>
                                    </p:set>
                                    <p:animEffect transition="in" filter="wipe(left)">
                                      <p:cBhvr>
                                        <p:cTn id="58" dur="500"/>
                                        <p:tgtEl>
                                          <p:spTgt spid="22575"/>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546"/>
                                        </p:tgtEl>
                                        <p:attrNameLst>
                                          <p:attrName>style.visibility</p:attrName>
                                        </p:attrNameLst>
                                      </p:cBhvr>
                                      <p:to>
                                        <p:strVal val="visible"/>
                                      </p:to>
                                    </p:set>
                                    <p:animEffect transition="in" filter="wipe(left)">
                                      <p:cBhvr>
                                        <p:cTn id="63" dur="500"/>
                                        <p:tgtEl>
                                          <p:spTgt spid="22546"/>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3" presetClass="entr" presetSubtype="10" fill="hold"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blinds(horizontal)">
                                      <p:cBhvr>
                                        <p:cTn id="68" dur="500"/>
                                        <p:tgtEl>
                                          <p:spTgt spid="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1" fill="hold" nodeType="click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wipe(up)">
                                      <p:cBhvr>
                                        <p:cTn id="73" dur="500"/>
                                        <p:tgtEl>
                                          <p:spTgt spid="15"/>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2577"/>
                                        </p:tgtEl>
                                        <p:attrNameLst>
                                          <p:attrName>style.visibility</p:attrName>
                                        </p:attrNameLst>
                                      </p:cBhvr>
                                      <p:to>
                                        <p:strVal val="visible"/>
                                      </p:to>
                                    </p:set>
                                    <p:animEffect transition="in" filter="wipe(left)">
                                      <p:cBhvr>
                                        <p:cTn id="78" dur="500"/>
                                        <p:tgtEl>
                                          <p:spTgt spid="22577"/>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2578"/>
                                        </p:tgtEl>
                                        <p:attrNameLst>
                                          <p:attrName>style.visibility</p:attrName>
                                        </p:attrNameLst>
                                      </p:cBhvr>
                                      <p:to>
                                        <p:strVal val="visible"/>
                                      </p:to>
                                    </p:set>
                                    <p:animEffect transition="in" filter="wipe(left)">
                                      <p:cBhvr>
                                        <p:cTn id="83" dur="500"/>
                                        <p:tgtEl>
                                          <p:spTgt spid="22578"/>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22597"/>
                                        </p:tgtEl>
                                        <p:attrNameLst>
                                          <p:attrName>style.visibility</p:attrName>
                                        </p:attrNameLst>
                                      </p:cBhvr>
                                      <p:to>
                                        <p:strVal val="visible"/>
                                      </p:to>
                                    </p:set>
                                    <p:animEffect transition="in" filter="wipe(left)">
                                      <p:cBhvr>
                                        <p:cTn id="88" dur="500"/>
                                        <p:tgtEl>
                                          <p:spTgt spid="2259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22582"/>
                                        </p:tgtEl>
                                        <p:attrNameLst>
                                          <p:attrName>style.visibility</p:attrName>
                                        </p:attrNameLst>
                                      </p:cBhvr>
                                      <p:to>
                                        <p:strVal val="visible"/>
                                      </p:to>
                                    </p:set>
                                    <p:animEffect transition="in" filter="dissolve">
                                      <p:cBhvr>
                                        <p:cTn id="93" dur="500"/>
                                        <p:tgtEl>
                                          <p:spTgt spid="22582"/>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1" fill="hold" nodeType="clickEffect">
                                  <p:stCondLst>
                                    <p:cond delay="0"/>
                                  </p:stCondLst>
                                  <p:childTnLst>
                                    <p:set>
                                      <p:cBhvr>
                                        <p:cTn id="97" dur="1" fill="hold">
                                          <p:stCondLst>
                                            <p:cond delay="0"/>
                                          </p:stCondLst>
                                        </p:cTn>
                                        <p:tgtEl>
                                          <p:spTgt spid="14"/>
                                        </p:tgtEl>
                                        <p:attrNameLst>
                                          <p:attrName>style.visibility</p:attrName>
                                        </p:attrNameLst>
                                      </p:cBhvr>
                                      <p:to>
                                        <p:strVal val="visible"/>
                                      </p:to>
                                    </p:set>
                                    <p:animEffect transition="in" filter="wipe(up)">
                                      <p:cBhvr>
                                        <p:cTn id="98" dur="500"/>
                                        <p:tgtEl>
                                          <p:spTgt spid="14"/>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4" fill="hold" grpId="0" nodeType="clickEffect">
                                  <p:stCondLst>
                                    <p:cond delay="0"/>
                                  </p:stCondLst>
                                  <p:childTnLst>
                                    <p:set>
                                      <p:cBhvr>
                                        <p:cTn id="102" dur="1" fill="hold">
                                          <p:stCondLst>
                                            <p:cond delay="0"/>
                                          </p:stCondLst>
                                        </p:cTn>
                                        <p:tgtEl>
                                          <p:spTgt spid="22596"/>
                                        </p:tgtEl>
                                        <p:attrNameLst>
                                          <p:attrName>style.visibility</p:attrName>
                                        </p:attrNameLst>
                                      </p:cBhvr>
                                      <p:to>
                                        <p:strVal val="visible"/>
                                      </p:to>
                                    </p:set>
                                    <p:animEffect transition="in" filter="wipe(down)">
                                      <p:cBhvr>
                                        <p:cTn id="103" dur="500"/>
                                        <p:tgtEl>
                                          <p:spTgt spid="22596"/>
                                        </p:tgtEl>
                                      </p:cBhvr>
                                    </p:animEffect>
                                  </p:childTnLst>
                                </p:cTn>
                              </p:par>
                            </p:childTnLst>
                          </p:cTn>
                        </p:par>
                        <p:par>
                          <p:cTn id="104" fill="hold" nodeType="afterGroup">
                            <p:stCondLst>
                              <p:cond delay="500"/>
                            </p:stCondLst>
                            <p:childTnLst>
                              <p:par>
                                <p:cTn id="105" presetID="22" presetClass="entr" presetSubtype="4" fill="hold" nodeType="afterEffect">
                                  <p:stCondLst>
                                    <p:cond delay="0"/>
                                  </p:stCondLst>
                                  <p:childTnLst>
                                    <p:set>
                                      <p:cBhvr>
                                        <p:cTn id="106" dur="1" fill="hold">
                                          <p:stCondLst>
                                            <p:cond delay="0"/>
                                          </p:stCondLst>
                                        </p:cTn>
                                        <p:tgtEl>
                                          <p:spTgt spid="22583"/>
                                        </p:tgtEl>
                                        <p:attrNameLst>
                                          <p:attrName>style.visibility</p:attrName>
                                        </p:attrNameLst>
                                      </p:cBhvr>
                                      <p:to>
                                        <p:strVal val="visible"/>
                                      </p:to>
                                    </p:set>
                                    <p:animEffect transition="in" filter="wipe(down)">
                                      <p:cBhvr>
                                        <p:cTn id="107" dur="500"/>
                                        <p:tgtEl>
                                          <p:spTgt spid="2258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22584"/>
                                        </p:tgtEl>
                                        <p:attrNameLst>
                                          <p:attrName>style.visibility</p:attrName>
                                        </p:attrNameLst>
                                      </p:cBhvr>
                                      <p:to>
                                        <p:strVal val="visible"/>
                                      </p:to>
                                    </p:set>
                                    <p:animEffect transition="in" filter="wipe(left)">
                                      <p:cBhvr>
                                        <p:cTn id="112" dur="500"/>
                                        <p:tgtEl>
                                          <p:spTgt spid="22584"/>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22585"/>
                                        </p:tgtEl>
                                        <p:attrNameLst>
                                          <p:attrName>style.visibility</p:attrName>
                                        </p:attrNameLst>
                                      </p:cBhvr>
                                      <p:to>
                                        <p:strVal val="visible"/>
                                      </p:to>
                                    </p:set>
                                    <p:animEffect transition="in" filter="wipe(down)">
                                      <p:cBhvr>
                                        <p:cTn id="117" dur="500"/>
                                        <p:tgtEl>
                                          <p:spTgt spid="22585"/>
                                        </p:tgtEl>
                                      </p:cBhvr>
                                    </p:animEffect>
                                  </p:childTnLst>
                                </p:cTn>
                              </p:par>
                            </p:childTnLst>
                          </p:cTn>
                        </p:par>
                        <p:par>
                          <p:cTn id="118" fill="hold" nodeType="afterGroup">
                            <p:stCondLst>
                              <p:cond delay="500"/>
                            </p:stCondLst>
                            <p:childTnLst>
                              <p:par>
                                <p:cTn id="119" presetID="22" presetClass="entr" presetSubtype="4" fill="hold" grpId="0" nodeType="afterEffect">
                                  <p:stCondLst>
                                    <p:cond delay="0"/>
                                  </p:stCondLst>
                                  <p:childTnLst>
                                    <p:set>
                                      <p:cBhvr>
                                        <p:cTn id="120" dur="1" fill="hold">
                                          <p:stCondLst>
                                            <p:cond delay="0"/>
                                          </p:stCondLst>
                                        </p:cTn>
                                        <p:tgtEl>
                                          <p:spTgt spid="22595"/>
                                        </p:tgtEl>
                                        <p:attrNameLst>
                                          <p:attrName>style.visibility</p:attrName>
                                        </p:attrNameLst>
                                      </p:cBhvr>
                                      <p:to>
                                        <p:strVal val="visible"/>
                                      </p:to>
                                    </p:set>
                                    <p:animEffect transition="in" filter="wipe(down)">
                                      <p:cBhvr>
                                        <p:cTn id="121" dur="500"/>
                                        <p:tgtEl>
                                          <p:spTgt spid="22595"/>
                                        </p:tgtEl>
                                      </p:cBhvr>
                                    </p:animEffect>
                                  </p:childTnLst>
                                </p:cTn>
                              </p:par>
                            </p:childTnLst>
                          </p:cTn>
                        </p:par>
                        <p:par>
                          <p:cTn id="122" fill="hold" nodeType="afterGroup">
                            <p:stCondLst>
                              <p:cond delay="1000"/>
                            </p:stCondLst>
                            <p:childTnLst>
                              <p:par>
                                <p:cTn id="123" presetID="22" presetClass="entr" presetSubtype="8" fill="hold" nodeType="afterEffect">
                                  <p:stCondLst>
                                    <p:cond delay="0"/>
                                  </p:stCondLst>
                                  <p:childTnLst>
                                    <p:set>
                                      <p:cBhvr>
                                        <p:cTn id="124" dur="1" fill="hold">
                                          <p:stCondLst>
                                            <p:cond delay="0"/>
                                          </p:stCondLst>
                                        </p:cTn>
                                        <p:tgtEl>
                                          <p:spTgt spid="22588"/>
                                        </p:tgtEl>
                                        <p:attrNameLst>
                                          <p:attrName>style.visibility</p:attrName>
                                        </p:attrNameLst>
                                      </p:cBhvr>
                                      <p:to>
                                        <p:strVal val="visible"/>
                                      </p:to>
                                    </p:set>
                                    <p:animEffect transition="in" filter="wipe(left)">
                                      <p:cBhvr>
                                        <p:cTn id="125" dur="500"/>
                                        <p:tgtEl>
                                          <p:spTgt spid="22588"/>
                                        </p:tgtEl>
                                      </p:cBhvr>
                                    </p:animEffect>
                                  </p:childTnLst>
                                </p:cTn>
                              </p:par>
                              <p:par>
                                <p:cTn id="126" presetID="22" presetClass="entr" presetSubtype="4" fill="hold" grpId="0" nodeType="withEffect">
                                  <p:stCondLst>
                                    <p:cond delay="0"/>
                                  </p:stCondLst>
                                  <p:childTnLst>
                                    <p:set>
                                      <p:cBhvr>
                                        <p:cTn id="127" dur="1" fill="hold">
                                          <p:stCondLst>
                                            <p:cond delay="0"/>
                                          </p:stCondLst>
                                        </p:cTn>
                                        <p:tgtEl>
                                          <p:spTgt spid="22586"/>
                                        </p:tgtEl>
                                        <p:attrNameLst>
                                          <p:attrName>style.visibility</p:attrName>
                                        </p:attrNameLst>
                                      </p:cBhvr>
                                      <p:to>
                                        <p:strVal val="visible"/>
                                      </p:to>
                                    </p:set>
                                    <p:animEffect transition="in" filter="wipe(down)">
                                      <p:cBhvr>
                                        <p:cTn id="128" dur="500"/>
                                        <p:tgtEl>
                                          <p:spTgt spid="22586"/>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22587"/>
                                        </p:tgtEl>
                                        <p:attrNameLst>
                                          <p:attrName>style.visibility</p:attrName>
                                        </p:attrNameLst>
                                      </p:cBhvr>
                                      <p:to>
                                        <p:strVal val="visible"/>
                                      </p:to>
                                    </p:set>
                                    <p:animEffect transition="in" filter="wipe(left)">
                                      <p:cBhvr>
                                        <p:cTn id="133" dur="500"/>
                                        <p:tgtEl>
                                          <p:spTgt spid="22587"/>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22589"/>
                                        </p:tgtEl>
                                        <p:attrNameLst>
                                          <p:attrName>style.visibility</p:attrName>
                                        </p:attrNameLst>
                                      </p:cBhvr>
                                      <p:to>
                                        <p:strVal val="visible"/>
                                      </p:to>
                                    </p:set>
                                    <p:animEffect transition="in" filter="wipe(left)">
                                      <p:cBhvr>
                                        <p:cTn id="138" dur="500"/>
                                        <p:tgtEl>
                                          <p:spTgt spid="22589"/>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nodeType="clickEffect">
                                  <p:stCondLst>
                                    <p:cond delay="0"/>
                                  </p:stCondLst>
                                  <p:childTnLst>
                                    <p:set>
                                      <p:cBhvr>
                                        <p:cTn id="142" dur="1" fill="hold">
                                          <p:stCondLst>
                                            <p:cond delay="0"/>
                                          </p:stCondLst>
                                        </p:cTn>
                                        <p:tgtEl>
                                          <p:spTgt spid="22593"/>
                                        </p:tgtEl>
                                        <p:attrNameLst>
                                          <p:attrName>style.visibility</p:attrName>
                                        </p:attrNameLst>
                                      </p:cBhvr>
                                      <p:to>
                                        <p:strVal val="visible"/>
                                      </p:to>
                                    </p:set>
                                    <p:animEffect transition="in" filter="wipe(left)">
                                      <p:cBhvr>
                                        <p:cTn id="143" dur="2000"/>
                                        <p:tgtEl>
                                          <p:spTgt spid="22593"/>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 presetClass="entr" presetSubtype="4" fill="hold" nodeType="clickEffect">
                                  <p:stCondLst>
                                    <p:cond delay="0"/>
                                  </p:stCondLst>
                                  <p:childTnLst>
                                    <p:set>
                                      <p:cBhvr>
                                        <p:cTn id="147" dur="1" fill="hold">
                                          <p:stCondLst>
                                            <p:cond delay="0"/>
                                          </p:stCondLst>
                                        </p:cTn>
                                        <p:tgtEl>
                                          <p:spTgt spid="22598"/>
                                        </p:tgtEl>
                                        <p:attrNameLst>
                                          <p:attrName>style.visibility</p:attrName>
                                        </p:attrNameLst>
                                      </p:cBhvr>
                                      <p:to>
                                        <p:strVal val="visible"/>
                                      </p:to>
                                    </p:set>
                                    <p:anim calcmode="lin" valueType="num">
                                      <p:cBhvr additive="base">
                                        <p:cTn id="148" dur="500" fill="hold"/>
                                        <p:tgtEl>
                                          <p:spTgt spid="22598"/>
                                        </p:tgtEl>
                                        <p:attrNameLst>
                                          <p:attrName>ppt_x</p:attrName>
                                        </p:attrNameLst>
                                      </p:cBhvr>
                                      <p:tavLst>
                                        <p:tav tm="0">
                                          <p:val>
                                            <p:strVal val="#ppt_x"/>
                                          </p:val>
                                        </p:tav>
                                        <p:tav tm="100000">
                                          <p:val>
                                            <p:strVal val="#ppt_x"/>
                                          </p:val>
                                        </p:tav>
                                      </p:tavLst>
                                    </p:anim>
                                    <p:anim calcmode="lin" valueType="num">
                                      <p:cBhvr additive="base">
                                        <p:cTn id="149" dur="500" fill="hold"/>
                                        <p:tgtEl>
                                          <p:spTgt spid="22598"/>
                                        </p:tgtEl>
                                        <p:attrNameLst>
                                          <p:attrName>ppt_y</p:attrName>
                                        </p:attrNameLst>
                                      </p:cBhvr>
                                      <p:tavLst>
                                        <p:tav tm="0">
                                          <p:val>
                                            <p:strVal val="1+#ppt_h/2"/>
                                          </p:val>
                                        </p:tav>
                                        <p:tav tm="100000">
                                          <p:val>
                                            <p:strVal val="#ppt_y"/>
                                          </p:val>
                                        </p:tav>
                                      </p:tavLst>
                                    </p:anim>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4" fill="hold" nodeType="clickEffect">
                                  <p:stCondLst>
                                    <p:cond delay="0"/>
                                  </p:stCondLst>
                                  <p:childTnLst>
                                    <p:set>
                                      <p:cBhvr>
                                        <p:cTn id="153" dur="1" fill="hold">
                                          <p:stCondLst>
                                            <p:cond delay="0"/>
                                          </p:stCondLst>
                                        </p:cTn>
                                        <p:tgtEl>
                                          <p:spTgt spid="22599"/>
                                        </p:tgtEl>
                                        <p:attrNameLst>
                                          <p:attrName>style.visibility</p:attrName>
                                        </p:attrNameLst>
                                      </p:cBhvr>
                                      <p:to>
                                        <p:strVal val="visible"/>
                                      </p:to>
                                    </p:set>
                                    <p:animEffect transition="in" filter="wipe(down)">
                                      <p:cBhvr>
                                        <p:cTn id="154" dur="500"/>
                                        <p:tgtEl>
                                          <p:spTgt spid="22599"/>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9" presetClass="entr" presetSubtype="0" fill="hold" nodeType="clickEffect">
                                  <p:stCondLst>
                                    <p:cond delay="0"/>
                                  </p:stCondLst>
                                  <p:childTnLst>
                                    <p:set>
                                      <p:cBhvr>
                                        <p:cTn id="158" dur="1" fill="hold">
                                          <p:stCondLst>
                                            <p:cond delay="0"/>
                                          </p:stCondLst>
                                        </p:cTn>
                                        <p:tgtEl>
                                          <p:spTgt spid="22594"/>
                                        </p:tgtEl>
                                        <p:attrNameLst>
                                          <p:attrName>style.visibility</p:attrName>
                                        </p:attrNameLst>
                                      </p:cBhvr>
                                      <p:to>
                                        <p:strVal val="visible"/>
                                      </p:to>
                                    </p:set>
                                    <p:animEffect transition="in" filter="dissolve">
                                      <p:cBhvr>
                                        <p:cTn id="159" dur="500"/>
                                        <p:tgtEl>
                                          <p:spTgt spid="22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43" grpId="0"/>
      <p:bldP spid="22544" grpId="0"/>
      <p:bldP spid="22546" grpId="0"/>
      <p:bldP spid="22571" grpId="0" animBg="1"/>
      <p:bldP spid="22576" grpId="0"/>
      <p:bldP spid="22577" grpId="0"/>
      <p:bldP spid="22578" grpId="0" autoUpdateAnimBg="0"/>
      <p:bldP spid="22582" grpId="0" animBg="1"/>
      <p:bldP spid="22585" grpId="0" animBg="1"/>
      <p:bldP spid="22586" grpId="0"/>
      <p:bldP spid="22595" grpId="0" animBg="1"/>
      <p:bldP spid="2259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73" name="Group 105"/>
          <p:cNvGrpSpPr>
            <a:grpSpLocks/>
          </p:cNvGrpSpPr>
          <p:nvPr/>
        </p:nvGrpSpPr>
        <p:grpSpPr bwMode="auto">
          <a:xfrm>
            <a:off x="5435600" y="692150"/>
            <a:ext cx="2557463" cy="1917700"/>
            <a:chOff x="3424" y="430"/>
            <a:chExt cx="1611" cy="1208"/>
          </a:xfrm>
        </p:grpSpPr>
        <p:sp>
          <p:nvSpPr>
            <p:cNvPr id="15403" name="Line 106"/>
            <p:cNvSpPr>
              <a:spLocks noChangeShapeType="1"/>
            </p:cNvSpPr>
            <p:nvPr/>
          </p:nvSpPr>
          <p:spPr bwMode="auto">
            <a:xfrm>
              <a:off x="3761" y="1294"/>
              <a:ext cx="1056" cy="0"/>
            </a:xfrm>
            <a:prstGeom prst="line">
              <a:avLst/>
            </a:prstGeom>
            <a:noFill/>
            <a:ln w="57150">
              <a:solidFill>
                <a:srgbClr val="800000"/>
              </a:solidFill>
              <a:round/>
              <a:headEnd/>
              <a:tailEnd/>
            </a:ln>
          </p:spPr>
          <p:txBody>
            <a:bodyPr/>
            <a:lstStyle/>
            <a:p>
              <a:endParaRPr lang="zh-CN" altLang="en-US"/>
            </a:p>
          </p:txBody>
        </p:sp>
        <p:sp>
          <p:nvSpPr>
            <p:cNvPr id="15404" name="Oval 107"/>
            <p:cNvSpPr>
              <a:spLocks noChangeArrowheads="1"/>
            </p:cNvSpPr>
            <p:nvPr/>
          </p:nvSpPr>
          <p:spPr bwMode="auto">
            <a:xfrm>
              <a:off x="3665" y="430"/>
              <a:ext cx="1200" cy="1200"/>
            </a:xfrm>
            <a:prstGeom prst="ellipse">
              <a:avLst/>
            </a:prstGeom>
            <a:noFill/>
            <a:ln w="38100">
              <a:solidFill>
                <a:srgbClr val="66FFFF"/>
              </a:solidFill>
              <a:round/>
              <a:headEnd/>
              <a:tailEnd/>
            </a:ln>
          </p:spPr>
          <p:txBody>
            <a:bodyPr wrap="none" anchor="ctr"/>
            <a:lstStyle/>
            <a:p>
              <a:endParaRPr lang="zh-CN" altLang="en-US"/>
            </a:p>
          </p:txBody>
        </p:sp>
        <p:sp>
          <p:nvSpPr>
            <p:cNvPr id="15405" name="Line 108"/>
            <p:cNvSpPr>
              <a:spLocks noChangeShapeType="1"/>
            </p:cNvSpPr>
            <p:nvPr/>
          </p:nvSpPr>
          <p:spPr bwMode="auto">
            <a:xfrm>
              <a:off x="4284" y="1006"/>
              <a:ext cx="528" cy="288"/>
            </a:xfrm>
            <a:prstGeom prst="line">
              <a:avLst/>
            </a:prstGeom>
            <a:noFill/>
            <a:ln w="28575">
              <a:solidFill>
                <a:schemeClr val="accent2"/>
              </a:solidFill>
              <a:round/>
              <a:headEnd/>
              <a:tailEnd/>
            </a:ln>
          </p:spPr>
          <p:txBody>
            <a:bodyPr/>
            <a:lstStyle/>
            <a:p>
              <a:endParaRPr lang="zh-CN" altLang="en-US"/>
            </a:p>
          </p:txBody>
        </p:sp>
        <p:sp>
          <p:nvSpPr>
            <p:cNvPr id="15406" name="Text Box 109"/>
            <p:cNvSpPr txBox="1">
              <a:spLocks noChangeArrowheads="1"/>
            </p:cNvSpPr>
            <p:nvPr/>
          </p:nvSpPr>
          <p:spPr bwMode="auto">
            <a:xfrm>
              <a:off x="4529" y="814"/>
              <a:ext cx="244" cy="288"/>
            </a:xfrm>
            <a:prstGeom prst="rect">
              <a:avLst/>
            </a:prstGeom>
            <a:noFill/>
            <a:ln w="9525">
              <a:noFill/>
              <a:miter lim="800000"/>
              <a:headEnd/>
              <a:tailEnd/>
            </a:ln>
          </p:spPr>
          <p:txBody>
            <a:bodyPr wrap="none">
              <a:spAutoFit/>
            </a:bodyPr>
            <a:lstStyle/>
            <a:p>
              <a:pPr algn="l"/>
              <a:r>
                <a:rPr kumimoji="1" lang="en-US" altLang="zh-CN" sz="2400" b="1" i="1">
                  <a:solidFill>
                    <a:srgbClr val="000099"/>
                  </a:solidFill>
                  <a:latin typeface="Times New Roman" pitchFamily="18" charset="0"/>
                </a:rPr>
                <a:t>R</a:t>
              </a:r>
            </a:p>
          </p:txBody>
        </p:sp>
        <p:sp>
          <p:nvSpPr>
            <p:cNvPr id="15407" name="Text Box 110"/>
            <p:cNvSpPr txBox="1">
              <a:spLocks noChangeArrowheads="1"/>
            </p:cNvSpPr>
            <p:nvPr/>
          </p:nvSpPr>
          <p:spPr bwMode="auto">
            <a:xfrm>
              <a:off x="4807" y="1144"/>
              <a:ext cx="228" cy="327"/>
            </a:xfrm>
            <a:prstGeom prst="rect">
              <a:avLst/>
            </a:prstGeom>
            <a:noFill/>
            <a:ln w="9525">
              <a:noFill/>
              <a:miter lim="800000"/>
              <a:headEnd/>
              <a:tailEnd/>
            </a:ln>
          </p:spPr>
          <p:txBody>
            <a:bodyPr wrap="none">
              <a:spAutoFit/>
            </a:bodyPr>
            <a:lstStyle/>
            <a:p>
              <a:pPr algn="l"/>
              <a:r>
                <a:rPr kumimoji="1" lang="en-US" altLang="zh-CN" sz="2800" b="1" i="1">
                  <a:solidFill>
                    <a:srgbClr val="FF0000"/>
                  </a:solidFill>
                  <a:latin typeface="Times New Roman" pitchFamily="18" charset="0"/>
                </a:rPr>
                <a:t>b</a:t>
              </a:r>
            </a:p>
          </p:txBody>
        </p:sp>
        <p:sp>
          <p:nvSpPr>
            <p:cNvPr id="15408" name="Text Box 111"/>
            <p:cNvSpPr txBox="1">
              <a:spLocks noChangeArrowheads="1"/>
            </p:cNvSpPr>
            <p:nvPr/>
          </p:nvSpPr>
          <p:spPr bwMode="auto">
            <a:xfrm>
              <a:off x="3424" y="1144"/>
              <a:ext cx="228" cy="327"/>
            </a:xfrm>
            <a:prstGeom prst="rect">
              <a:avLst/>
            </a:prstGeom>
            <a:noFill/>
            <a:ln w="9525">
              <a:noFill/>
              <a:miter lim="800000"/>
              <a:headEnd/>
              <a:tailEnd/>
            </a:ln>
          </p:spPr>
          <p:txBody>
            <a:bodyPr wrap="none">
              <a:spAutoFit/>
            </a:bodyPr>
            <a:lstStyle/>
            <a:p>
              <a:pPr algn="l"/>
              <a:r>
                <a:rPr kumimoji="1" lang="en-US" altLang="zh-CN" sz="2800" b="1" i="1">
                  <a:solidFill>
                    <a:srgbClr val="FF0000"/>
                  </a:solidFill>
                  <a:latin typeface="Times New Roman" pitchFamily="18" charset="0"/>
                </a:rPr>
                <a:t>a</a:t>
              </a:r>
            </a:p>
          </p:txBody>
        </p:sp>
        <p:sp>
          <p:nvSpPr>
            <p:cNvPr id="15409" name="Text Box 112"/>
            <p:cNvSpPr txBox="1">
              <a:spLocks noChangeArrowheads="1"/>
            </p:cNvSpPr>
            <p:nvPr/>
          </p:nvSpPr>
          <p:spPr bwMode="auto">
            <a:xfrm>
              <a:off x="3605" y="430"/>
              <a:ext cx="1320" cy="1208"/>
            </a:xfrm>
            <a:prstGeom prst="rect">
              <a:avLst/>
            </a:prstGeom>
            <a:noFill/>
            <a:ln w="9525">
              <a:noFill/>
              <a:miter lim="800000"/>
              <a:headEnd/>
              <a:tailEnd/>
            </a:ln>
          </p:spPr>
          <p:txBody>
            <a:bodyPr wrap="none">
              <a:spAutoFit/>
            </a:bodyPr>
            <a:lstStyle/>
            <a:p>
              <a:pPr algn="l"/>
              <a:r>
                <a:rPr kumimoji="1" lang="en-US" altLang="zh-CN" sz="2400" b="1">
                  <a:solidFill>
                    <a:schemeClr val="bg1"/>
                  </a:solidFill>
                  <a:latin typeface="Times New Roman" pitchFamily="18" charset="0"/>
                </a:rPr>
                <a:t>      </a:t>
              </a:r>
              <a:r>
                <a:rPr kumimoji="1" lang="en-US" altLang="zh-CN" sz="2400" b="1">
                  <a:latin typeface="Times New Roman" pitchFamily="18" charset="0"/>
                </a:rPr>
                <a:t>×   ×   </a:t>
              </a:r>
            </a:p>
            <a:p>
              <a:pPr algn="l"/>
              <a:endParaRPr kumimoji="1" lang="en-US" altLang="zh-CN" sz="2400" b="1">
                <a:latin typeface="Times New Roman" pitchFamily="18" charset="0"/>
              </a:endParaRPr>
            </a:p>
            <a:p>
              <a:pPr algn="l"/>
              <a:r>
                <a:rPr kumimoji="1" lang="en-US" altLang="zh-CN" sz="2400" b="1">
                  <a:latin typeface="Times New Roman" pitchFamily="18" charset="0"/>
                </a:rPr>
                <a:t>×   ×   ×</a:t>
              </a:r>
              <a:r>
                <a:rPr kumimoji="1" lang="en-US" altLang="zh-CN" sz="2400" b="1" i="1">
                  <a:latin typeface="Times New Roman" pitchFamily="18" charset="0"/>
                </a:rPr>
                <a:t>  </a:t>
              </a:r>
              <a:r>
                <a:rPr kumimoji="1" lang="en-US" altLang="zh-CN" sz="2400" b="1">
                  <a:latin typeface="Times New Roman" pitchFamily="18" charset="0"/>
                </a:rPr>
                <a:t> ×</a:t>
              </a:r>
            </a:p>
            <a:p>
              <a:pPr algn="l"/>
              <a:endParaRPr kumimoji="1" lang="en-US" altLang="zh-CN" sz="2400" b="1">
                <a:latin typeface="Times New Roman" pitchFamily="18" charset="0"/>
              </a:endParaRPr>
            </a:p>
            <a:p>
              <a:pPr algn="l"/>
              <a:r>
                <a:rPr kumimoji="1" lang="en-US" altLang="zh-CN" sz="2400" b="1">
                  <a:latin typeface="Times New Roman" pitchFamily="18" charset="0"/>
                </a:rPr>
                <a:t>      ×   ×   </a:t>
              </a:r>
            </a:p>
          </p:txBody>
        </p:sp>
      </p:grpSp>
      <p:sp>
        <p:nvSpPr>
          <p:cNvPr id="23554" name="Text Box 2"/>
          <p:cNvSpPr txBox="1">
            <a:spLocks noChangeArrowheads="1"/>
          </p:cNvSpPr>
          <p:nvPr/>
        </p:nvSpPr>
        <p:spPr bwMode="auto">
          <a:xfrm>
            <a:off x="568325" y="560388"/>
            <a:ext cx="2024063"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楷体_GB2312" pitchFamily="49" charset="-122"/>
                <a:ea typeface="楷体_GB2312" pitchFamily="49" charset="-122"/>
              </a:rPr>
              <a:t>方法</a:t>
            </a:r>
            <a:r>
              <a:rPr kumimoji="1" lang="en-US" altLang="zh-CN" sz="2400" b="1">
                <a:solidFill>
                  <a:srgbClr val="FF0000"/>
                </a:solidFill>
                <a:latin typeface="楷体_GB2312" pitchFamily="49" charset="-122"/>
                <a:ea typeface="楷体_GB2312" pitchFamily="49" charset="-122"/>
              </a:rPr>
              <a:t>2</a:t>
            </a:r>
            <a:r>
              <a:rPr kumimoji="1" lang="zh-CN" altLang="en-US" sz="2400" b="1">
                <a:solidFill>
                  <a:srgbClr val="FF0000"/>
                </a:solidFill>
                <a:latin typeface="楷体_GB2312" pitchFamily="49" charset="-122"/>
                <a:ea typeface="楷体_GB2312" pitchFamily="49" charset="-122"/>
              </a:rPr>
              <a:t>：</a:t>
            </a:r>
          </a:p>
        </p:txBody>
      </p:sp>
      <p:sp>
        <p:nvSpPr>
          <p:cNvPr id="23555" name="Text Box 3"/>
          <p:cNvSpPr txBox="1">
            <a:spLocks noChangeArrowheads="1"/>
          </p:cNvSpPr>
          <p:nvPr/>
        </p:nvSpPr>
        <p:spPr bwMode="auto">
          <a:xfrm>
            <a:off x="1900238" y="549275"/>
            <a:ext cx="3302000"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构造闭合回路</a:t>
            </a:r>
            <a:r>
              <a:rPr kumimoji="1" lang="zh-CN" altLang="en-US" sz="2400" b="1">
                <a:solidFill>
                  <a:srgbClr val="FF3300"/>
                </a:solidFill>
                <a:latin typeface="Times New Roman" pitchFamily="18" charset="0"/>
                <a:ea typeface="楷体_GB2312" pitchFamily="49" charset="-122"/>
              </a:rPr>
              <a:t> </a:t>
            </a:r>
            <a:r>
              <a:rPr kumimoji="1" lang="en-US" altLang="zh-CN" sz="2400" b="1" i="1">
                <a:solidFill>
                  <a:srgbClr val="FF3300"/>
                </a:solidFill>
                <a:latin typeface="Times New Roman" pitchFamily="18" charset="0"/>
                <a:ea typeface="楷体_GB2312" pitchFamily="49" charset="-122"/>
              </a:rPr>
              <a:t>L</a:t>
            </a:r>
          </a:p>
        </p:txBody>
      </p:sp>
      <p:sp>
        <p:nvSpPr>
          <p:cNvPr id="23650" name="Line 98"/>
          <p:cNvSpPr>
            <a:spLocks noChangeShapeType="1"/>
          </p:cNvSpPr>
          <p:nvPr/>
        </p:nvSpPr>
        <p:spPr bwMode="auto">
          <a:xfrm>
            <a:off x="6807200" y="1597025"/>
            <a:ext cx="838200" cy="457200"/>
          </a:xfrm>
          <a:prstGeom prst="line">
            <a:avLst/>
          </a:prstGeom>
          <a:noFill/>
          <a:ln w="38100">
            <a:solidFill>
              <a:srgbClr val="3366FF"/>
            </a:solidFill>
            <a:prstDash val="sysDot"/>
            <a:round/>
            <a:headEnd/>
            <a:tailEnd/>
          </a:ln>
        </p:spPr>
        <p:txBody>
          <a:bodyPr/>
          <a:lstStyle/>
          <a:p>
            <a:endParaRPr lang="zh-CN" altLang="en-US"/>
          </a:p>
        </p:txBody>
      </p:sp>
      <p:grpSp>
        <p:nvGrpSpPr>
          <p:cNvPr id="3" name="Group 99"/>
          <p:cNvGrpSpPr>
            <a:grpSpLocks/>
          </p:cNvGrpSpPr>
          <p:nvPr/>
        </p:nvGrpSpPr>
        <p:grpSpPr bwMode="auto">
          <a:xfrm>
            <a:off x="5892800" y="1597025"/>
            <a:ext cx="914400" cy="457200"/>
            <a:chOff x="4176" y="816"/>
            <a:chExt cx="576" cy="288"/>
          </a:xfrm>
        </p:grpSpPr>
        <p:sp>
          <p:nvSpPr>
            <p:cNvPr id="15401" name="Line 100"/>
            <p:cNvSpPr>
              <a:spLocks noChangeShapeType="1"/>
            </p:cNvSpPr>
            <p:nvPr/>
          </p:nvSpPr>
          <p:spPr bwMode="auto">
            <a:xfrm flipH="1">
              <a:off x="4176" y="816"/>
              <a:ext cx="576" cy="288"/>
            </a:xfrm>
            <a:prstGeom prst="line">
              <a:avLst/>
            </a:prstGeom>
            <a:noFill/>
            <a:ln w="38100">
              <a:solidFill>
                <a:srgbClr val="3366FF"/>
              </a:solidFill>
              <a:prstDash val="sysDot"/>
              <a:round/>
              <a:headEnd/>
              <a:tailEnd/>
            </a:ln>
          </p:spPr>
          <p:txBody>
            <a:bodyPr/>
            <a:lstStyle/>
            <a:p>
              <a:endParaRPr lang="zh-CN" altLang="en-US"/>
            </a:p>
          </p:txBody>
        </p:sp>
        <p:sp>
          <p:nvSpPr>
            <p:cNvPr id="15402" name="Line 101"/>
            <p:cNvSpPr>
              <a:spLocks noChangeShapeType="1"/>
            </p:cNvSpPr>
            <p:nvPr/>
          </p:nvSpPr>
          <p:spPr bwMode="auto">
            <a:xfrm flipH="1">
              <a:off x="4464" y="912"/>
              <a:ext cx="96" cy="48"/>
            </a:xfrm>
            <a:prstGeom prst="line">
              <a:avLst/>
            </a:prstGeom>
            <a:noFill/>
            <a:ln w="38100">
              <a:solidFill>
                <a:srgbClr val="3366FF"/>
              </a:solidFill>
              <a:prstDash val="sysDot"/>
              <a:round/>
              <a:headEnd/>
              <a:tailEnd type="triangle" w="med" len="med"/>
            </a:ln>
          </p:spPr>
          <p:txBody>
            <a:bodyPr/>
            <a:lstStyle/>
            <a:p>
              <a:endParaRPr lang="zh-CN" altLang="en-US"/>
            </a:p>
          </p:txBody>
        </p:sp>
      </p:grpSp>
      <p:grpSp>
        <p:nvGrpSpPr>
          <p:cNvPr id="4" name="Group 114"/>
          <p:cNvGrpSpPr>
            <a:grpSpLocks/>
          </p:cNvGrpSpPr>
          <p:nvPr/>
        </p:nvGrpSpPr>
        <p:grpSpPr bwMode="auto">
          <a:xfrm>
            <a:off x="6718300" y="2057400"/>
            <a:ext cx="230188" cy="357188"/>
            <a:chOff x="4232" y="1296"/>
            <a:chExt cx="145" cy="225"/>
          </a:xfrm>
        </p:grpSpPr>
        <p:sp>
          <p:nvSpPr>
            <p:cNvPr id="15400" name="Line 103"/>
            <p:cNvSpPr>
              <a:spLocks noChangeShapeType="1"/>
            </p:cNvSpPr>
            <p:nvPr/>
          </p:nvSpPr>
          <p:spPr bwMode="auto">
            <a:xfrm>
              <a:off x="4241" y="1296"/>
              <a:ext cx="109" cy="0"/>
            </a:xfrm>
            <a:prstGeom prst="line">
              <a:avLst/>
            </a:prstGeom>
            <a:noFill/>
            <a:ln w="57150">
              <a:solidFill>
                <a:srgbClr val="FF3300"/>
              </a:solidFill>
              <a:round/>
              <a:headEnd/>
              <a:tailEnd type="triangle" w="med" len="med"/>
            </a:ln>
          </p:spPr>
          <p:txBody>
            <a:bodyPr/>
            <a:lstStyle/>
            <a:p>
              <a:endParaRPr lang="zh-CN" altLang="en-US"/>
            </a:p>
          </p:txBody>
        </p:sp>
        <p:graphicFrame>
          <p:nvGraphicFramePr>
            <p:cNvPr id="15372" name="Object 104"/>
            <p:cNvGraphicFramePr>
              <a:graphicFrameLocks noChangeAspect="1"/>
            </p:cNvGraphicFramePr>
            <p:nvPr/>
          </p:nvGraphicFramePr>
          <p:xfrm>
            <a:off x="4232" y="1344"/>
            <a:ext cx="145" cy="177"/>
          </p:xfrm>
          <a:graphic>
            <a:graphicData uri="http://schemas.openxmlformats.org/presentationml/2006/ole">
              <p:oleObj spid="_x0000_s15372" name="公式" r:id="rId3" imgW="76177" imgH="104760" progId="Equation.3">
                <p:embed/>
              </p:oleObj>
            </a:graphicData>
          </a:graphic>
        </p:graphicFrame>
      </p:grpSp>
      <p:sp>
        <p:nvSpPr>
          <p:cNvPr id="15379" name="Text Box 113"/>
          <p:cNvSpPr txBox="1">
            <a:spLocks noChangeArrowheads="1"/>
          </p:cNvSpPr>
          <p:nvPr/>
        </p:nvSpPr>
        <p:spPr bwMode="auto">
          <a:xfrm>
            <a:off x="6507163" y="1216025"/>
            <a:ext cx="674687" cy="457200"/>
          </a:xfrm>
          <a:prstGeom prst="rect">
            <a:avLst/>
          </a:prstGeom>
          <a:noFill/>
          <a:ln w="9525">
            <a:noFill/>
            <a:miter lim="800000"/>
            <a:headEnd/>
            <a:tailEnd/>
          </a:ln>
        </p:spPr>
        <p:txBody>
          <a:bodyPr>
            <a:spAutoFit/>
          </a:bodyPr>
          <a:lstStyle/>
          <a:p>
            <a:pPr algn="l">
              <a:spcBef>
                <a:spcPct val="50000"/>
              </a:spcBef>
            </a:pPr>
            <a:r>
              <a:rPr kumimoji="1" lang="en-US" altLang="zh-CN" sz="2400" b="1" i="1">
                <a:latin typeface="Times New Roman" pitchFamily="18" charset="0"/>
              </a:rPr>
              <a:t>O</a:t>
            </a:r>
          </a:p>
        </p:txBody>
      </p:sp>
      <p:graphicFrame>
        <p:nvGraphicFramePr>
          <p:cNvPr id="23667" name="Object 115"/>
          <p:cNvGraphicFramePr>
            <a:graphicFrameLocks noChangeAspect="1"/>
          </p:cNvGraphicFramePr>
          <p:nvPr/>
        </p:nvGraphicFramePr>
        <p:xfrm>
          <a:off x="790575" y="1257300"/>
          <a:ext cx="1512888" cy="552450"/>
        </p:xfrm>
        <a:graphic>
          <a:graphicData uri="http://schemas.openxmlformats.org/presentationml/2006/ole">
            <p:oleObj spid="_x0000_s15362" name="公式" r:id="rId4" imgW="762045" imgH="257310" progId="Equation.3">
              <p:embed/>
            </p:oleObj>
          </a:graphicData>
        </a:graphic>
      </p:graphicFrame>
      <p:graphicFrame>
        <p:nvGraphicFramePr>
          <p:cNvPr id="23668" name="Object 116"/>
          <p:cNvGraphicFramePr>
            <a:graphicFrameLocks noChangeAspect="1"/>
          </p:cNvGraphicFramePr>
          <p:nvPr/>
        </p:nvGraphicFramePr>
        <p:xfrm>
          <a:off x="2303463" y="1250950"/>
          <a:ext cx="1433512" cy="593725"/>
        </p:xfrm>
        <a:graphic>
          <a:graphicData uri="http://schemas.openxmlformats.org/presentationml/2006/ole">
            <p:oleObj spid="_x0000_s15363" name="公式" r:id="rId5" imgW="714502" imgH="295380" progId="Equation.3">
              <p:embed/>
            </p:oleObj>
          </a:graphicData>
        </a:graphic>
      </p:graphicFrame>
      <p:graphicFrame>
        <p:nvGraphicFramePr>
          <p:cNvPr id="23669" name="Object 117"/>
          <p:cNvGraphicFramePr>
            <a:graphicFrameLocks noChangeAspect="1"/>
          </p:cNvGraphicFramePr>
          <p:nvPr/>
        </p:nvGraphicFramePr>
        <p:xfrm>
          <a:off x="971550" y="2051050"/>
          <a:ext cx="1530350" cy="801688"/>
        </p:xfrm>
        <a:graphic>
          <a:graphicData uri="http://schemas.openxmlformats.org/presentationml/2006/ole">
            <p:oleObj spid="_x0000_s15364" name="公式" r:id="rId6" imgW="828768" imgH="380970" progId="Equation.3">
              <p:embed/>
            </p:oleObj>
          </a:graphicData>
        </a:graphic>
      </p:graphicFrame>
      <p:graphicFrame>
        <p:nvGraphicFramePr>
          <p:cNvPr id="23670" name="Object 118"/>
          <p:cNvGraphicFramePr>
            <a:graphicFrameLocks noChangeAspect="1"/>
          </p:cNvGraphicFramePr>
          <p:nvPr/>
        </p:nvGraphicFramePr>
        <p:xfrm>
          <a:off x="2530475" y="2074863"/>
          <a:ext cx="2112963" cy="768350"/>
        </p:xfrm>
        <a:graphic>
          <a:graphicData uri="http://schemas.openxmlformats.org/presentationml/2006/ole">
            <p:oleObj spid="_x0000_s15365" name="公式" r:id="rId7" imgW="1171567" imgH="371520" progId="Equation.3">
              <p:embed/>
            </p:oleObj>
          </a:graphicData>
        </a:graphic>
      </p:graphicFrame>
      <p:sp>
        <p:nvSpPr>
          <p:cNvPr id="23671" name="Text Box 119"/>
          <p:cNvSpPr txBox="1">
            <a:spLocks noChangeArrowheads="1"/>
          </p:cNvSpPr>
          <p:nvPr/>
        </p:nvSpPr>
        <p:spPr bwMode="auto">
          <a:xfrm>
            <a:off x="1098550" y="3200400"/>
            <a:ext cx="4606925" cy="457200"/>
          </a:xfrm>
          <a:prstGeom prst="rect">
            <a:avLst/>
          </a:prstGeom>
          <a:noFill/>
          <a:ln w="9525">
            <a:noFill/>
            <a:miter lim="800000"/>
            <a:headEnd/>
            <a:tailEnd/>
          </a:ln>
        </p:spPr>
        <p:txBody>
          <a:bodyPr wrap="none">
            <a:spAutoFit/>
          </a:bodyPr>
          <a:lstStyle/>
          <a:p>
            <a:pPr algn="l"/>
            <a:r>
              <a:rPr kumimoji="1" lang="zh-CN" altLang="en-US" sz="2400" b="1">
                <a:latin typeface="Times New Roman" pitchFamily="18" charset="0"/>
              </a:rPr>
              <a:t>，并判断 </a:t>
            </a:r>
            <a:r>
              <a:rPr kumimoji="1" lang="en-US" altLang="zh-CN" sz="2400" b="1" i="1">
                <a:solidFill>
                  <a:srgbClr val="FF3300"/>
                </a:solidFill>
                <a:latin typeface="Times New Roman" pitchFamily="18" charset="0"/>
              </a:rPr>
              <a:t>b</a:t>
            </a:r>
            <a:r>
              <a:rPr kumimoji="1" lang="zh-CN" altLang="en-US" sz="2400" b="1">
                <a:latin typeface="Times New Roman" pitchFamily="18" charset="0"/>
              </a:rPr>
              <a:t>，</a:t>
            </a:r>
            <a:r>
              <a:rPr kumimoji="1" lang="en-US" altLang="zh-CN" sz="2400" b="1" i="1">
                <a:solidFill>
                  <a:srgbClr val="FF3300"/>
                </a:solidFill>
                <a:latin typeface="Times New Roman" pitchFamily="18" charset="0"/>
              </a:rPr>
              <a:t>c </a:t>
            </a:r>
            <a:r>
              <a:rPr kumimoji="1" lang="zh-CN" altLang="en-US" sz="2400" b="1">
                <a:latin typeface="Times New Roman" pitchFamily="18" charset="0"/>
              </a:rPr>
              <a:t>两点的电势高低。</a:t>
            </a:r>
          </a:p>
        </p:txBody>
      </p:sp>
      <p:graphicFrame>
        <p:nvGraphicFramePr>
          <p:cNvPr id="23672" name="Object 120"/>
          <p:cNvGraphicFramePr>
            <a:graphicFrameLocks noChangeAspect="1"/>
          </p:cNvGraphicFramePr>
          <p:nvPr/>
        </p:nvGraphicFramePr>
        <p:xfrm>
          <a:off x="812800" y="3203575"/>
          <a:ext cx="403225" cy="454025"/>
        </p:xfrm>
        <a:graphic>
          <a:graphicData uri="http://schemas.openxmlformats.org/presentationml/2006/ole">
            <p:oleObj spid="_x0000_s15366" name="公式" r:id="rId8" imgW="161810" imgH="190620" progId="Equation.3">
              <p:embed/>
            </p:oleObj>
          </a:graphicData>
        </a:graphic>
      </p:graphicFrame>
      <p:sp>
        <p:nvSpPr>
          <p:cNvPr id="23673" name="Text Box 121"/>
          <p:cNvSpPr txBox="1">
            <a:spLocks noChangeArrowheads="1"/>
          </p:cNvSpPr>
          <p:nvPr/>
        </p:nvSpPr>
        <p:spPr bwMode="auto">
          <a:xfrm>
            <a:off x="161925" y="3167063"/>
            <a:ext cx="1871663" cy="457200"/>
          </a:xfrm>
          <a:prstGeom prst="rect">
            <a:avLst/>
          </a:prstGeom>
          <a:noFill/>
          <a:ln w="12700">
            <a:noFill/>
            <a:miter lim="800000"/>
            <a:headEnd type="none" w="sm" len="sm"/>
            <a:tailEnd type="none" w="sm" len="sm"/>
          </a:ln>
        </p:spPr>
        <p:txBody>
          <a:bodyPr>
            <a:spAutoFit/>
          </a:bodyPr>
          <a:lstStyle/>
          <a:p>
            <a:pPr algn="l" defTabSz="762000" eaLnBrk="0" hangingPunct="0">
              <a:spcBef>
                <a:spcPct val="50000"/>
              </a:spcBef>
            </a:pPr>
            <a:r>
              <a:rPr kumimoji="1" lang="zh-CN" altLang="en-US" sz="2400" b="1">
                <a:solidFill>
                  <a:srgbClr val="FF0000"/>
                </a:solidFill>
                <a:latin typeface="Times New Roman" pitchFamily="18" charset="0"/>
              </a:rPr>
              <a:t>求</a:t>
            </a:r>
          </a:p>
        </p:txBody>
      </p:sp>
      <p:grpSp>
        <p:nvGrpSpPr>
          <p:cNvPr id="5" name="Group 122"/>
          <p:cNvGrpSpPr>
            <a:grpSpLocks/>
          </p:cNvGrpSpPr>
          <p:nvPr/>
        </p:nvGrpSpPr>
        <p:grpSpPr bwMode="auto">
          <a:xfrm>
            <a:off x="5724525" y="3883025"/>
            <a:ext cx="3125788" cy="1993900"/>
            <a:chOff x="3372" y="2208"/>
            <a:chExt cx="1969" cy="1256"/>
          </a:xfrm>
        </p:grpSpPr>
        <p:grpSp>
          <p:nvGrpSpPr>
            <p:cNvPr id="15392" name="Group 123"/>
            <p:cNvGrpSpPr>
              <a:grpSpLocks/>
            </p:cNvGrpSpPr>
            <p:nvPr/>
          </p:nvGrpSpPr>
          <p:grpSpPr bwMode="auto">
            <a:xfrm>
              <a:off x="3456" y="2208"/>
              <a:ext cx="1320" cy="1256"/>
              <a:chOff x="3456" y="2208"/>
              <a:chExt cx="1320" cy="1256"/>
            </a:xfrm>
          </p:grpSpPr>
          <p:sp>
            <p:nvSpPr>
              <p:cNvPr id="15398" name="Oval 124"/>
              <p:cNvSpPr>
                <a:spLocks noChangeArrowheads="1"/>
              </p:cNvSpPr>
              <p:nvPr/>
            </p:nvSpPr>
            <p:spPr bwMode="auto">
              <a:xfrm>
                <a:off x="3504" y="2208"/>
                <a:ext cx="1200" cy="1200"/>
              </a:xfrm>
              <a:prstGeom prst="ellipse">
                <a:avLst/>
              </a:prstGeom>
              <a:noFill/>
              <a:ln w="38100">
                <a:solidFill>
                  <a:srgbClr val="66FFFF"/>
                </a:solidFill>
                <a:round/>
                <a:headEnd/>
                <a:tailEnd/>
              </a:ln>
            </p:spPr>
            <p:txBody>
              <a:bodyPr wrap="none" anchor="ctr"/>
              <a:lstStyle/>
              <a:p>
                <a:endParaRPr lang="zh-CN" altLang="en-US"/>
              </a:p>
            </p:txBody>
          </p:sp>
          <p:sp>
            <p:nvSpPr>
              <p:cNvPr id="15399" name="Text Box 125"/>
              <p:cNvSpPr txBox="1">
                <a:spLocks noChangeArrowheads="1"/>
              </p:cNvSpPr>
              <p:nvPr/>
            </p:nvSpPr>
            <p:spPr bwMode="auto">
              <a:xfrm>
                <a:off x="3456" y="2256"/>
                <a:ext cx="1320" cy="1208"/>
              </a:xfrm>
              <a:prstGeom prst="rect">
                <a:avLst/>
              </a:prstGeom>
              <a:noFill/>
              <a:ln w="9525">
                <a:noFill/>
                <a:miter lim="800000"/>
                <a:headEnd/>
                <a:tailEnd/>
              </a:ln>
            </p:spPr>
            <p:txBody>
              <a:bodyPr wrap="none">
                <a:spAutoFit/>
              </a:bodyPr>
              <a:lstStyle/>
              <a:p>
                <a:pPr algn="l"/>
                <a:r>
                  <a:rPr kumimoji="1" lang="en-US" altLang="zh-CN" sz="2400" b="1">
                    <a:solidFill>
                      <a:schemeClr val="bg1"/>
                    </a:solidFill>
                    <a:latin typeface="Times New Roman" pitchFamily="18" charset="0"/>
                  </a:rPr>
                  <a:t>      </a:t>
                </a:r>
                <a:r>
                  <a:rPr kumimoji="1" lang="en-US" altLang="zh-CN" sz="2400" b="1">
                    <a:latin typeface="Times New Roman" pitchFamily="18" charset="0"/>
                  </a:rPr>
                  <a:t>×   ×   </a:t>
                </a:r>
              </a:p>
              <a:p>
                <a:pPr algn="l"/>
                <a:endParaRPr kumimoji="1" lang="en-US" altLang="zh-CN" sz="2400" b="1">
                  <a:latin typeface="Times New Roman" pitchFamily="18" charset="0"/>
                </a:endParaRPr>
              </a:p>
              <a:p>
                <a:pPr algn="l"/>
                <a:r>
                  <a:rPr kumimoji="1" lang="en-US" altLang="zh-CN" sz="2400" b="1">
                    <a:latin typeface="Times New Roman" pitchFamily="18" charset="0"/>
                  </a:rPr>
                  <a:t>×   ×   ×   ×</a:t>
                </a:r>
              </a:p>
              <a:p>
                <a:pPr algn="l"/>
                <a:endParaRPr kumimoji="1" lang="en-US" altLang="zh-CN" sz="2400" b="1">
                  <a:latin typeface="Times New Roman" pitchFamily="18" charset="0"/>
                </a:endParaRPr>
              </a:p>
              <a:p>
                <a:pPr algn="l"/>
                <a:r>
                  <a:rPr kumimoji="1" lang="en-US" altLang="zh-CN" sz="2400" b="1">
                    <a:latin typeface="Times New Roman" pitchFamily="18" charset="0"/>
                  </a:rPr>
                  <a:t>      ×   ×</a:t>
                </a:r>
                <a:r>
                  <a:rPr kumimoji="1" lang="en-US" altLang="zh-CN" sz="2400" b="1">
                    <a:solidFill>
                      <a:schemeClr val="bg1"/>
                    </a:solidFill>
                    <a:latin typeface="Times New Roman" pitchFamily="18" charset="0"/>
                  </a:rPr>
                  <a:t>   </a:t>
                </a:r>
              </a:p>
            </p:txBody>
          </p:sp>
        </p:grpSp>
        <p:sp>
          <p:nvSpPr>
            <p:cNvPr id="15393" name="Line 126"/>
            <p:cNvSpPr>
              <a:spLocks noChangeShapeType="1"/>
            </p:cNvSpPr>
            <p:nvPr/>
          </p:nvSpPr>
          <p:spPr bwMode="auto">
            <a:xfrm>
              <a:off x="3600" y="3120"/>
              <a:ext cx="1680" cy="0"/>
            </a:xfrm>
            <a:prstGeom prst="line">
              <a:avLst/>
            </a:prstGeom>
            <a:noFill/>
            <a:ln w="57150">
              <a:solidFill>
                <a:srgbClr val="33CC33"/>
              </a:solidFill>
              <a:round/>
              <a:headEnd/>
              <a:tailEnd/>
            </a:ln>
          </p:spPr>
          <p:txBody>
            <a:bodyPr/>
            <a:lstStyle/>
            <a:p>
              <a:endParaRPr lang="zh-CN" altLang="en-US"/>
            </a:p>
          </p:txBody>
        </p:sp>
        <p:sp>
          <p:nvSpPr>
            <p:cNvPr id="15394" name="Text Box 127"/>
            <p:cNvSpPr txBox="1">
              <a:spLocks noChangeArrowheads="1"/>
            </p:cNvSpPr>
            <p:nvPr/>
          </p:nvSpPr>
          <p:spPr bwMode="auto">
            <a:xfrm>
              <a:off x="4512" y="3129"/>
              <a:ext cx="228" cy="327"/>
            </a:xfrm>
            <a:prstGeom prst="rect">
              <a:avLst/>
            </a:prstGeom>
            <a:noFill/>
            <a:ln w="9525">
              <a:noFill/>
              <a:miter lim="800000"/>
              <a:headEnd/>
              <a:tailEnd/>
            </a:ln>
          </p:spPr>
          <p:txBody>
            <a:bodyPr wrap="none">
              <a:spAutoFit/>
            </a:bodyPr>
            <a:lstStyle/>
            <a:p>
              <a:pPr algn="l"/>
              <a:r>
                <a:rPr kumimoji="1" lang="en-US" altLang="zh-CN" sz="2800" b="1" i="1">
                  <a:solidFill>
                    <a:srgbClr val="006600"/>
                  </a:solidFill>
                  <a:latin typeface="Times New Roman" pitchFamily="18" charset="0"/>
                </a:rPr>
                <a:t>b</a:t>
              </a:r>
            </a:p>
          </p:txBody>
        </p:sp>
        <p:sp>
          <p:nvSpPr>
            <p:cNvPr id="15395" name="Text Box 128"/>
            <p:cNvSpPr txBox="1">
              <a:spLocks noChangeArrowheads="1"/>
            </p:cNvSpPr>
            <p:nvPr/>
          </p:nvSpPr>
          <p:spPr bwMode="auto">
            <a:xfrm>
              <a:off x="3372" y="3120"/>
              <a:ext cx="228" cy="327"/>
            </a:xfrm>
            <a:prstGeom prst="rect">
              <a:avLst/>
            </a:prstGeom>
            <a:noFill/>
            <a:ln w="9525">
              <a:noFill/>
              <a:miter lim="800000"/>
              <a:headEnd/>
              <a:tailEnd/>
            </a:ln>
          </p:spPr>
          <p:txBody>
            <a:bodyPr wrap="none">
              <a:spAutoFit/>
            </a:bodyPr>
            <a:lstStyle/>
            <a:p>
              <a:pPr algn="l"/>
              <a:r>
                <a:rPr kumimoji="1" lang="en-US" altLang="zh-CN" sz="2800" b="1" i="1">
                  <a:solidFill>
                    <a:srgbClr val="006600"/>
                  </a:solidFill>
                  <a:latin typeface="Times New Roman" pitchFamily="18" charset="0"/>
                </a:rPr>
                <a:t>a</a:t>
              </a:r>
            </a:p>
          </p:txBody>
        </p:sp>
        <p:sp>
          <p:nvSpPr>
            <p:cNvPr id="15396" name="Text Box 129"/>
            <p:cNvSpPr txBox="1">
              <a:spLocks noChangeArrowheads="1"/>
            </p:cNvSpPr>
            <p:nvPr/>
          </p:nvSpPr>
          <p:spPr bwMode="auto">
            <a:xfrm>
              <a:off x="5126" y="3129"/>
              <a:ext cx="215" cy="327"/>
            </a:xfrm>
            <a:prstGeom prst="rect">
              <a:avLst/>
            </a:prstGeom>
            <a:noFill/>
            <a:ln w="9525">
              <a:noFill/>
              <a:miter lim="800000"/>
              <a:headEnd/>
              <a:tailEnd/>
            </a:ln>
          </p:spPr>
          <p:txBody>
            <a:bodyPr wrap="none">
              <a:spAutoFit/>
            </a:bodyPr>
            <a:lstStyle/>
            <a:p>
              <a:pPr algn="l"/>
              <a:r>
                <a:rPr kumimoji="1" lang="en-US" altLang="zh-CN" sz="2800" b="1" i="1">
                  <a:solidFill>
                    <a:srgbClr val="006600"/>
                  </a:solidFill>
                  <a:latin typeface="Times New Roman" pitchFamily="18" charset="0"/>
                </a:rPr>
                <a:t>c</a:t>
              </a:r>
            </a:p>
          </p:txBody>
        </p:sp>
        <p:sp>
          <p:nvSpPr>
            <p:cNvPr id="15397" name="Text Box 130"/>
            <p:cNvSpPr txBox="1">
              <a:spLocks noChangeArrowheads="1"/>
            </p:cNvSpPr>
            <p:nvPr/>
          </p:nvSpPr>
          <p:spPr bwMode="auto">
            <a:xfrm>
              <a:off x="3921" y="2570"/>
              <a:ext cx="255" cy="288"/>
            </a:xfrm>
            <a:prstGeom prst="rect">
              <a:avLst/>
            </a:prstGeom>
            <a:noFill/>
            <a:ln w="9525">
              <a:noFill/>
              <a:miter lim="800000"/>
              <a:headEnd/>
              <a:tailEnd/>
            </a:ln>
          </p:spPr>
          <p:txBody>
            <a:bodyPr wrap="none">
              <a:spAutoFit/>
            </a:bodyPr>
            <a:lstStyle/>
            <a:p>
              <a:pPr algn="l"/>
              <a:r>
                <a:rPr kumimoji="1" lang="en-US" altLang="zh-CN" sz="2400" b="1" i="1">
                  <a:latin typeface="Times New Roman" pitchFamily="18" charset="0"/>
                </a:rPr>
                <a:t>O</a:t>
              </a:r>
            </a:p>
          </p:txBody>
        </p:sp>
      </p:grpSp>
      <p:sp>
        <p:nvSpPr>
          <p:cNvPr id="23683" name="Line 131"/>
          <p:cNvSpPr>
            <a:spLocks noChangeShapeType="1"/>
          </p:cNvSpPr>
          <p:nvPr/>
        </p:nvSpPr>
        <p:spPr bwMode="auto">
          <a:xfrm>
            <a:off x="6778625" y="4743450"/>
            <a:ext cx="762000" cy="533400"/>
          </a:xfrm>
          <a:prstGeom prst="line">
            <a:avLst/>
          </a:prstGeom>
          <a:noFill/>
          <a:ln w="25400">
            <a:solidFill>
              <a:srgbClr val="FF0000"/>
            </a:solidFill>
            <a:prstDash val="dash"/>
            <a:round/>
            <a:headEnd/>
            <a:tailEnd/>
          </a:ln>
        </p:spPr>
        <p:txBody>
          <a:bodyPr/>
          <a:lstStyle/>
          <a:p>
            <a:endParaRPr lang="zh-CN" altLang="en-US"/>
          </a:p>
        </p:txBody>
      </p:sp>
      <p:sp>
        <p:nvSpPr>
          <p:cNvPr id="23684" name="Line 132"/>
          <p:cNvSpPr>
            <a:spLocks noChangeShapeType="1"/>
          </p:cNvSpPr>
          <p:nvPr/>
        </p:nvSpPr>
        <p:spPr bwMode="auto">
          <a:xfrm>
            <a:off x="6854825" y="4743450"/>
            <a:ext cx="1905000" cy="533400"/>
          </a:xfrm>
          <a:prstGeom prst="line">
            <a:avLst/>
          </a:prstGeom>
          <a:noFill/>
          <a:ln w="25400">
            <a:solidFill>
              <a:srgbClr val="FF0000"/>
            </a:solidFill>
            <a:prstDash val="dash"/>
            <a:round/>
            <a:headEnd/>
            <a:tailEnd/>
          </a:ln>
        </p:spPr>
        <p:txBody>
          <a:bodyPr/>
          <a:lstStyle/>
          <a:p>
            <a:endParaRPr lang="zh-CN" altLang="en-US"/>
          </a:p>
        </p:txBody>
      </p:sp>
      <p:grpSp>
        <p:nvGrpSpPr>
          <p:cNvPr id="7" name="Group 133"/>
          <p:cNvGrpSpPr>
            <a:grpSpLocks/>
          </p:cNvGrpSpPr>
          <p:nvPr/>
        </p:nvGrpSpPr>
        <p:grpSpPr bwMode="auto">
          <a:xfrm>
            <a:off x="7070725" y="4781550"/>
            <a:ext cx="533400" cy="533400"/>
            <a:chOff x="4224" y="2784"/>
            <a:chExt cx="336" cy="336"/>
          </a:xfrm>
        </p:grpSpPr>
        <p:sp>
          <p:nvSpPr>
            <p:cNvPr id="15389" name="Line 134"/>
            <p:cNvSpPr>
              <a:spLocks noChangeShapeType="1"/>
            </p:cNvSpPr>
            <p:nvPr/>
          </p:nvSpPr>
          <p:spPr bwMode="auto">
            <a:xfrm>
              <a:off x="4224" y="2784"/>
              <a:ext cx="48" cy="144"/>
            </a:xfrm>
            <a:prstGeom prst="line">
              <a:avLst/>
            </a:prstGeom>
            <a:noFill/>
            <a:ln w="25400">
              <a:solidFill>
                <a:srgbClr val="FF0000"/>
              </a:solidFill>
              <a:round/>
              <a:headEnd/>
              <a:tailEnd/>
            </a:ln>
          </p:spPr>
          <p:txBody>
            <a:bodyPr/>
            <a:lstStyle/>
            <a:p>
              <a:endParaRPr lang="zh-CN" altLang="en-US"/>
            </a:p>
          </p:txBody>
        </p:sp>
        <p:sp>
          <p:nvSpPr>
            <p:cNvPr id="15390" name="Line 135"/>
            <p:cNvSpPr>
              <a:spLocks noChangeShapeType="1"/>
            </p:cNvSpPr>
            <p:nvPr/>
          </p:nvSpPr>
          <p:spPr bwMode="auto">
            <a:xfrm>
              <a:off x="4368" y="2832"/>
              <a:ext cx="48" cy="192"/>
            </a:xfrm>
            <a:prstGeom prst="line">
              <a:avLst/>
            </a:prstGeom>
            <a:noFill/>
            <a:ln w="25400">
              <a:solidFill>
                <a:srgbClr val="FF0000"/>
              </a:solidFill>
              <a:round/>
              <a:headEnd/>
              <a:tailEnd/>
            </a:ln>
          </p:spPr>
          <p:txBody>
            <a:bodyPr/>
            <a:lstStyle/>
            <a:p>
              <a:endParaRPr lang="zh-CN" altLang="en-US"/>
            </a:p>
          </p:txBody>
        </p:sp>
        <p:sp>
          <p:nvSpPr>
            <p:cNvPr id="15391" name="Line 136"/>
            <p:cNvSpPr>
              <a:spLocks noChangeShapeType="1"/>
            </p:cNvSpPr>
            <p:nvPr/>
          </p:nvSpPr>
          <p:spPr bwMode="auto">
            <a:xfrm>
              <a:off x="4512" y="2880"/>
              <a:ext cx="48" cy="240"/>
            </a:xfrm>
            <a:prstGeom prst="line">
              <a:avLst/>
            </a:prstGeom>
            <a:noFill/>
            <a:ln w="25400">
              <a:solidFill>
                <a:srgbClr val="FF0000"/>
              </a:solidFill>
              <a:round/>
              <a:headEnd/>
              <a:tailEnd/>
            </a:ln>
          </p:spPr>
          <p:txBody>
            <a:bodyPr/>
            <a:lstStyle/>
            <a:p>
              <a:endParaRPr lang="zh-CN" altLang="en-US"/>
            </a:p>
          </p:txBody>
        </p:sp>
      </p:grpSp>
      <p:graphicFrame>
        <p:nvGraphicFramePr>
          <p:cNvPr id="23689" name="Object 137"/>
          <p:cNvGraphicFramePr>
            <a:graphicFrameLocks/>
          </p:cNvGraphicFramePr>
          <p:nvPr/>
        </p:nvGraphicFramePr>
        <p:xfrm>
          <a:off x="827088" y="3933825"/>
          <a:ext cx="1914525" cy="755650"/>
        </p:xfrm>
        <a:graphic>
          <a:graphicData uri="http://schemas.openxmlformats.org/presentationml/2006/ole">
            <p:oleObj spid="_x0000_s15367" name="公式" r:id="rId9" imgW="1028666" imgH="380970" progId="Equation.3">
              <p:embed/>
            </p:oleObj>
          </a:graphicData>
        </a:graphic>
      </p:graphicFrame>
      <p:sp>
        <p:nvSpPr>
          <p:cNvPr id="23690" name="Rectangle 138"/>
          <p:cNvSpPr>
            <a:spLocks noChangeArrowheads="1"/>
          </p:cNvSpPr>
          <p:nvPr/>
        </p:nvSpPr>
        <p:spPr bwMode="auto">
          <a:xfrm>
            <a:off x="161925" y="4124325"/>
            <a:ext cx="1387475" cy="457200"/>
          </a:xfrm>
          <a:prstGeom prst="rect">
            <a:avLst/>
          </a:prstGeom>
          <a:noFill/>
          <a:ln w="9525">
            <a:noFill/>
            <a:miter lim="800000"/>
            <a:headEnd/>
            <a:tailEnd/>
          </a:ln>
        </p:spPr>
        <p:txBody>
          <a:bodyPr lIns="92075" tIns="46038" rIns="92075" bIns="46038">
            <a:spAutoFit/>
          </a:bodyPr>
          <a:lstStyle/>
          <a:p>
            <a:pPr algn="l" defTabSz="762000" eaLnBrk="0" hangingPunct="0">
              <a:spcBef>
                <a:spcPct val="50000"/>
              </a:spcBef>
            </a:pPr>
            <a:r>
              <a:rPr kumimoji="1" lang="zh-CN" altLang="en-US" sz="2400" b="1">
                <a:solidFill>
                  <a:srgbClr val="FF0000"/>
                </a:solidFill>
                <a:latin typeface="宋体" pitchFamily="2" charset="-122"/>
              </a:rPr>
              <a:t>解</a:t>
            </a:r>
          </a:p>
        </p:txBody>
      </p:sp>
      <p:graphicFrame>
        <p:nvGraphicFramePr>
          <p:cNvPr id="23691" name="Object 139"/>
          <p:cNvGraphicFramePr>
            <a:graphicFrameLocks noChangeAspect="1"/>
          </p:cNvGraphicFramePr>
          <p:nvPr/>
        </p:nvGraphicFramePr>
        <p:xfrm>
          <a:off x="2843213" y="3933825"/>
          <a:ext cx="1468437" cy="735013"/>
        </p:xfrm>
        <a:graphic>
          <a:graphicData uri="http://schemas.openxmlformats.org/presentationml/2006/ole">
            <p:oleObj spid="_x0000_s15368" name="公式" r:id="rId10" imgW="771500" imgH="371520" progId="Equation.3">
              <p:embed/>
            </p:oleObj>
          </a:graphicData>
        </a:graphic>
      </p:graphicFrame>
      <p:graphicFrame>
        <p:nvGraphicFramePr>
          <p:cNvPr id="23692" name="Object 140"/>
          <p:cNvGraphicFramePr>
            <a:graphicFrameLocks noChangeAspect="1"/>
          </p:cNvGraphicFramePr>
          <p:nvPr/>
        </p:nvGraphicFramePr>
        <p:xfrm>
          <a:off x="1179513" y="5097463"/>
          <a:ext cx="863600" cy="728662"/>
        </p:xfrm>
        <a:graphic>
          <a:graphicData uri="http://schemas.openxmlformats.org/presentationml/2006/ole">
            <p:oleObj spid="_x0000_s15369" name="公式" r:id="rId11" imgW="447610" imgH="371520" progId="Equation.3">
              <p:embed/>
            </p:oleObj>
          </a:graphicData>
        </a:graphic>
      </p:graphicFrame>
      <p:graphicFrame>
        <p:nvGraphicFramePr>
          <p:cNvPr id="23693" name="Object 141"/>
          <p:cNvGraphicFramePr>
            <a:graphicFrameLocks noChangeAspect="1"/>
          </p:cNvGraphicFramePr>
          <p:nvPr/>
        </p:nvGraphicFramePr>
        <p:xfrm>
          <a:off x="2563813" y="5227638"/>
          <a:ext cx="849312" cy="411162"/>
        </p:xfrm>
        <a:graphic>
          <a:graphicData uri="http://schemas.openxmlformats.org/presentationml/2006/ole">
            <p:oleObj spid="_x0000_s15370" name="公式" r:id="rId12" imgW="428701" imgH="190620" progId="Equation.3">
              <p:embed/>
            </p:oleObj>
          </a:graphicData>
        </a:graphic>
      </p:graphicFrame>
      <p:grpSp>
        <p:nvGrpSpPr>
          <p:cNvPr id="8" name="Group 142"/>
          <p:cNvGrpSpPr>
            <a:grpSpLocks/>
          </p:cNvGrpSpPr>
          <p:nvPr/>
        </p:nvGrpSpPr>
        <p:grpSpPr bwMode="auto">
          <a:xfrm>
            <a:off x="8027988" y="5343525"/>
            <a:ext cx="381000" cy="390525"/>
            <a:chOff x="5057" y="3366"/>
            <a:chExt cx="240" cy="246"/>
          </a:xfrm>
        </p:grpSpPr>
        <p:sp>
          <p:nvSpPr>
            <p:cNvPr id="15388" name="Line 143"/>
            <p:cNvSpPr>
              <a:spLocks noChangeShapeType="1"/>
            </p:cNvSpPr>
            <p:nvPr/>
          </p:nvSpPr>
          <p:spPr bwMode="auto">
            <a:xfrm>
              <a:off x="5057" y="3366"/>
              <a:ext cx="240" cy="0"/>
            </a:xfrm>
            <a:prstGeom prst="line">
              <a:avLst/>
            </a:prstGeom>
            <a:noFill/>
            <a:ln w="57150">
              <a:solidFill>
                <a:srgbClr val="3333CC"/>
              </a:solidFill>
              <a:round/>
              <a:headEnd/>
              <a:tailEnd type="triangle" w="med" len="med"/>
            </a:ln>
          </p:spPr>
          <p:txBody>
            <a:bodyPr/>
            <a:lstStyle/>
            <a:p>
              <a:endParaRPr lang="zh-CN" altLang="en-US"/>
            </a:p>
          </p:txBody>
        </p:sp>
        <p:graphicFrame>
          <p:nvGraphicFramePr>
            <p:cNvPr id="15371" name="Object 144"/>
            <p:cNvGraphicFramePr>
              <a:graphicFrameLocks noChangeAspect="1"/>
            </p:cNvGraphicFramePr>
            <p:nvPr/>
          </p:nvGraphicFramePr>
          <p:xfrm>
            <a:off x="5103" y="3435"/>
            <a:ext cx="143" cy="177"/>
          </p:xfrm>
          <a:graphic>
            <a:graphicData uri="http://schemas.openxmlformats.org/presentationml/2006/ole">
              <p:oleObj spid="_x0000_s15371" name="公式" r:id="rId13" imgW="76177" imgH="104760" progId="Equation.3">
                <p:embed/>
              </p:oleObj>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4"/>
                                        </p:tgtEl>
                                        <p:attrNameLst>
                                          <p:attrName>style.visibility</p:attrName>
                                        </p:attrNameLst>
                                      </p:cBhvr>
                                      <p:to>
                                        <p:strVal val="visible"/>
                                      </p:to>
                                    </p:set>
                                    <p:animEffect transition="in" filter="wipe(left)">
                                      <p:cBhvr>
                                        <p:cTn id="7" dur="500"/>
                                        <p:tgtEl>
                                          <p:spTgt spid="23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5"/>
                                        </p:tgtEl>
                                        <p:attrNameLst>
                                          <p:attrName>style.visibility</p:attrName>
                                        </p:attrNameLst>
                                      </p:cBhvr>
                                      <p:to>
                                        <p:strVal val="visible"/>
                                      </p:to>
                                    </p:set>
                                    <p:animEffect transition="in" filter="wipe(left)">
                                      <p:cBhvr>
                                        <p:cTn id="12" dur="500"/>
                                        <p:tgtEl>
                                          <p:spTgt spid="235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par>
                          <p:cTn id="18" fill="hold" nodeType="afterGroup">
                            <p:stCondLst>
                              <p:cond delay="500"/>
                            </p:stCondLst>
                            <p:childTnLst>
                              <p:par>
                                <p:cTn id="19" presetID="22" presetClass="entr" presetSubtype="8" fill="hold" grpId="0" nodeType="afterEffect">
                                  <p:stCondLst>
                                    <p:cond delay="0"/>
                                  </p:stCondLst>
                                  <p:childTnLst>
                                    <p:set>
                                      <p:cBhvr>
                                        <p:cTn id="20" dur="1" fill="hold">
                                          <p:stCondLst>
                                            <p:cond delay="0"/>
                                          </p:stCondLst>
                                        </p:cTn>
                                        <p:tgtEl>
                                          <p:spTgt spid="23650"/>
                                        </p:tgtEl>
                                        <p:attrNameLst>
                                          <p:attrName>style.visibility</p:attrName>
                                        </p:attrNameLst>
                                      </p:cBhvr>
                                      <p:to>
                                        <p:strVal val="visible"/>
                                      </p:to>
                                    </p:set>
                                    <p:animEffect transition="in" filter="wipe(left)">
                                      <p:cBhvr>
                                        <p:cTn id="21" dur="500"/>
                                        <p:tgtEl>
                                          <p:spTgt spid="2365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left)">
                                      <p:cBhvr>
                                        <p:cTn id="26" dur="500"/>
                                        <p:tgtEl>
                                          <p:spTgt spid="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23667"/>
                                        </p:tgtEl>
                                        <p:attrNameLst>
                                          <p:attrName>style.visibility</p:attrName>
                                        </p:attrNameLst>
                                      </p:cBhvr>
                                      <p:to>
                                        <p:strVal val="visible"/>
                                      </p:to>
                                    </p:set>
                                    <p:animEffect transition="in" filter="wipe(left)">
                                      <p:cBhvr>
                                        <p:cTn id="31" dur="500"/>
                                        <p:tgtEl>
                                          <p:spTgt spid="2366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668"/>
                                        </p:tgtEl>
                                        <p:attrNameLst>
                                          <p:attrName>style.visibility</p:attrName>
                                        </p:attrNameLst>
                                      </p:cBhvr>
                                      <p:to>
                                        <p:strVal val="visible"/>
                                      </p:to>
                                    </p:set>
                                    <p:animEffect transition="in" filter="wipe(left)">
                                      <p:cBhvr>
                                        <p:cTn id="36" dur="500"/>
                                        <p:tgtEl>
                                          <p:spTgt spid="2366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23669"/>
                                        </p:tgtEl>
                                        <p:attrNameLst>
                                          <p:attrName>style.visibility</p:attrName>
                                        </p:attrNameLst>
                                      </p:cBhvr>
                                      <p:to>
                                        <p:strVal val="visible"/>
                                      </p:to>
                                    </p:set>
                                    <p:animEffect transition="in" filter="wipe(left)">
                                      <p:cBhvr>
                                        <p:cTn id="41" dur="500"/>
                                        <p:tgtEl>
                                          <p:spTgt spid="2366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23670"/>
                                        </p:tgtEl>
                                        <p:attrNameLst>
                                          <p:attrName>style.visibility</p:attrName>
                                        </p:attrNameLst>
                                      </p:cBhvr>
                                      <p:to>
                                        <p:strVal val="visible"/>
                                      </p:to>
                                    </p:set>
                                    <p:animEffect transition="in" filter="wipe(left)">
                                      <p:cBhvr>
                                        <p:cTn id="46" dur="500"/>
                                        <p:tgtEl>
                                          <p:spTgt spid="2367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3673"/>
                                        </p:tgtEl>
                                        <p:attrNameLst>
                                          <p:attrName>style.visibility</p:attrName>
                                        </p:attrNameLst>
                                      </p:cBhvr>
                                      <p:to>
                                        <p:strVal val="visible"/>
                                      </p:to>
                                    </p:set>
                                    <p:animEffect transition="in" filter="wipe(left)">
                                      <p:cBhvr>
                                        <p:cTn id="51" dur="2000"/>
                                        <p:tgtEl>
                                          <p:spTgt spid="23673"/>
                                        </p:tgtEl>
                                      </p:cBhvr>
                                    </p:animEffect>
                                  </p:childTnLst>
                                </p:cTn>
                              </p:par>
                            </p:childTnLst>
                          </p:cTn>
                        </p:par>
                        <p:par>
                          <p:cTn id="52" fill="hold" nodeType="afterGroup">
                            <p:stCondLst>
                              <p:cond delay="2000"/>
                            </p:stCondLst>
                            <p:childTnLst>
                              <p:par>
                                <p:cTn id="53" presetID="22" presetClass="entr" presetSubtype="8" fill="hold" nodeType="afterEffect">
                                  <p:stCondLst>
                                    <p:cond delay="0"/>
                                  </p:stCondLst>
                                  <p:childTnLst>
                                    <p:set>
                                      <p:cBhvr>
                                        <p:cTn id="54" dur="1" fill="hold">
                                          <p:stCondLst>
                                            <p:cond delay="0"/>
                                          </p:stCondLst>
                                        </p:cTn>
                                        <p:tgtEl>
                                          <p:spTgt spid="23672"/>
                                        </p:tgtEl>
                                        <p:attrNameLst>
                                          <p:attrName>style.visibility</p:attrName>
                                        </p:attrNameLst>
                                      </p:cBhvr>
                                      <p:to>
                                        <p:strVal val="visible"/>
                                      </p:to>
                                    </p:set>
                                    <p:animEffect transition="in" filter="wipe(left)">
                                      <p:cBhvr>
                                        <p:cTn id="55" dur="500"/>
                                        <p:tgtEl>
                                          <p:spTgt spid="23672"/>
                                        </p:tgtEl>
                                      </p:cBhvr>
                                    </p:animEffect>
                                  </p:childTnLst>
                                </p:cTn>
                              </p:par>
                            </p:childTnLst>
                          </p:cTn>
                        </p:par>
                        <p:par>
                          <p:cTn id="56" fill="hold" nodeType="afterGroup">
                            <p:stCondLst>
                              <p:cond delay="2500"/>
                            </p:stCondLst>
                            <p:childTnLst>
                              <p:par>
                                <p:cTn id="57" presetID="22" presetClass="entr" presetSubtype="8" fill="hold" grpId="0" nodeType="afterEffect">
                                  <p:stCondLst>
                                    <p:cond delay="0"/>
                                  </p:stCondLst>
                                  <p:childTnLst>
                                    <p:set>
                                      <p:cBhvr>
                                        <p:cTn id="58" dur="1" fill="hold">
                                          <p:stCondLst>
                                            <p:cond delay="0"/>
                                          </p:stCondLst>
                                        </p:cTn>
                                        <p:tgtEl>
                                          <p:spTgt spid="23671"/>
                                        </p:tgtEl>
                                        <p:attrNameLst>
                                          <p:attrName>style.visibility</p:attrName>
                                        </p:attrNameLst>
                                      </p:cBhvr>
                                      <p:to>
                                        <p:strVal val="visible"/>
                                      </p:to>
                                    </p:set>
                                    <p:animEffect transition="in" filter="wipe(left)">
                                      <p:cBhvr>
                                        <p:cTn id="59" dur="2000"/>
                                        <p:tgtEl>
                                          <p:spTgt spid="23671"/>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16" fill="hold" nodeType="clickEffect">
                                  <p:stCondLst>
                                    <p:cond delay="0"/>
                                  </p:stCondLst>
                                  <p:childTnLst>
                                    <p:set>
                                      <p:cBhvr>
                                        <p:cTn id="63" dur="1" fill="hold">
                                          <p:stCondLst>
                                            <p:cond delay="0"/>
                                          </p:stCondLst>
                                        </p:cTn>
                                        <p:tgtEl>
                                          <p:spTgt spid="5"/>
                                        </p:tgtEl>
                                        <p:attrNameLst>
                                          <p:attrName>style.visibility</p:attrName>
                                        </p:attrNameLst>
                                      </p:cBhvr>
                                      <p:to>
                                        <p:strVal val="visible"/>
                                      </p:to>
                                    </p:set>
                                    <p:anim calcmode="lin" valueType="num">
                                      <p:cBhvr>
                                        <p:cTn id="64" dur="500" fill="hold"/>
                                        <p:tgtEl>
                                          <p:spTgt spid="5"/>
                                        </p:tgtEl>
                                        <p:attrNameLst>
                                          <p:attrName>ppt_w</p:attrName>
                                        </p:attrNameLst>
                                      </p:cBhvr>
                                      <p:tavLst>
                                        <p:tav tm="0">
                                          <p:val>
                                            <p:fltVal val="0"/>
                                          </p:val>
                                        </p:tav>
                                        <p:tav tm="100000">
                                          <p:val>
                                            <p:strVal val="#ppt_w"/>
                                          </p:val>
                                        </p:tav>
                                      </p:tavLst>
                                    </p:anim>
                                    <p:anim calcmode="lin" valueType="num">
                                      <p:cBhvr>
                                        <p:cTn id="65"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3683"/>
                                        </p:tgtEl>
                                        <p:attrNameLst>
                                          <p:attrName>style.visibility</p:attrName>
                                        </p:attrNameLst>
                                      </p:cBhvr>
                                      <p:to>
                                        <p:strVal val="visible"/>
                                      </p:to>
                                    </p:set>
                                    <p:animEffect transition="in" filter="wipe(left)">
                                      <p:cBhvr>
                                        <p:cTn id="70" dur="500"/>
                                        <p:tgtEl>
                                          <p:spTgt spid="2368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3684"/>
                                        </p:tgtEl>
                                        <p:attrNameLst>
                                          <p:attrName>style.visibility</p:attrName>
                                        </p:attrNameLst>
                                      </p:cBhvr>
                                      <p:to>
                                        <p:strVal val="visible"/>
                                      </p:to>
                                    </p:set>
                                    <p:animEffect transition="in" filter="wipe(left)">
                                      <p:cBhvr>
                                        <p:cTn id="75" dur="500"/>
                                        <p:tgtEl>
                                          <p:spTgt spid="2368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wipe(up)">
                                      <p:cBhvr>
                                        <p:cTn id="80" dur="500"/>
                                        <p:tgtEl>
                                          <p:spTgt spid="7"/>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3690"/>
                                        </p:tgtEl>
                                        <p:attrNameLst>
                                          <p:attrName>style.visibility</p:attrName>
                                        </p:attrNameLst>
                                      </p:cBhvr>
                                      <p:to>
                                        <p:strVal val="visible"/>
                                      </p:to>
                                    </p:set>
                                    <p:animEffect transition="in" filter="wipe(left)">
                                      <p:cBhvr>
                                        <p:cTn id="85" dur="500"/>
                                        <p:tgtEl>
                                          <p:spTgt spid="23690"/>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23689"/>
                                        </p:tgtEl>
                                        <p:attrNameLst>
                                          <p:attrName>style.visibility</p:attrName>
                                        </p:attrNameLst>
                                      </p:cBhvr>
                                      <p:to>
                                        <p:strVal val="visible"/>
                                      </p:to>
                                    </p:set>
                                    <p:animEffect transition="in" filter="wipe(left)">
                                      <p:cBhvr>
                                        <p:cTn id="90" dur="500"/>
                                        <p:tgtEl>
                                          <p:spTgt spid="23689"/>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23691"/>
                                        </p:tgtEl>
                                        <p:attrNameLst>
                                          <p:attrName>style.visibility</p:attrName>
                                        </p:attrNameLst>
                                      </p:cBhvr>
                                      <p:to>
                                        <p:strVal val="visible"/>
                                      </p:to>
                                    </p:set>
                                    <p:animEffect transition="in" filter="wipe(left)">
                                      <p:cBhvr>
                                        <p:cTn id="95" dur="500"/>
                                        <p:tgtEl>
                                          <p:spTgt spid="23691"/>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8"/>
                                        </p:tgtEl>
                                        <p:attrNameLst>
                                          <p:attrName>style.visibility</p:attrName>
                                        </p:attrNameLst>
                                      </p:cBhvr>
                                      <p:to>
                                        <p:strVal val="visible"/>
                                      </p:to>
                                    </p:set>
                                    <p:animEffect transition="in" filter="wipe(left)">
                                      <p:cBhvr>
                                        <p:cTn id="100" dur="500"/>
                                        <p:tgtEl>
                                          <p:spTgt spid="8"/>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9" presetClass="entr" presetSubtype="0" fill="hold" nodeType="clickEffect">
                                  <p:stCondLst>
                                    <p:cond delay="0"/>
                                  </p:stCondLst>
                                  <p:childTnLst>
                                    <p:set>
                                      <p:cBhvr>
                                        <p:cTn id="104" dur="1" fill="hold">
                                          <p:stCondLst>
                                            <p:cond delay="0"/>
                                          </p:stCondLst>
                                        </p:cTn>
                                        <p:tgtEl>
                                          <p:spTgt spid="23692"/>
                                        </p:tgtEl>
                                        <p:attrNameLst>
                                          <p:attrName>style.visibility</p:attrName>
                                        </p:attrNameLst>
                                      </p:cBhvr>
                                      <p:to>
                                        <p:strVal val="visible"/>
                                      </p:to>
                                    </p:set>
                                    <p:animEffect transition="in" filter="dissolve">
                                      <p:cBhvr>
                                        <p:cTn id="105" dur="500"/>
                                        <p:tgtEl>
                                          <p:spTgt spid="23692"/>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23693"/>
                                        </p:tgtEl>
                                        <p:attrNameLst>
                                          <p:attrName>style.visibility</p:attrName>
                                        </p:attrNameLst>
                                      </p:cBhvr>
                                      <p:to>
                                        <p:strVal val="visible"/>
                                      </p:to>
                                    </p:set>
                                    <p:animEffect transition="in" filter="wipe(left)">
                                      <p:cBhvr>
                                        <p:cTn id="110" dur="500"/>
                                        <p:tgtEl>
                                          <p:spTgt spid="236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autoUpdateAnimBg="0"/>
      <p:bldP spid="23555" grpId="0" autoUpdateAnimBg="0"/>
      <p:bldP spid="23650" grpId="0" animBg="1"/>
      <p:bldP spid="23671" grpId="0"/>
      <p:bldP spid="23673" grpId="0"/>
      <p:bldP spid="23683" grpId="0" animBg="1"/>
      <p:bldP spid="23684" grpId="0" animBg="1"/>
      <p:bldP spid="2369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4"/>
          <p:cNvSpPr>
            <a:spLocks noChangeArrowheads="1"/>
          </p:cNvSpPr>
          <p:nvPr/>
        </p:nvSpPr>
        <p:spPr bwMode="auto">
          <a:xfrm>
            <a:off x="179388" y="522288"/>
            <a:ext cx="3810000" cy="530225"/>
          </a:xfrm>
          <a:prstGeom prst="rect">
            <a:avLst/>
          </a:prstGeom>
          <a:noFill/>
          <a:ln w="9525">
            <a:noFill/>
            <a:miter lim="800000"/>
            <a:headEnd/>
            <a:tailEnd/>
          </a:ln>
        </p:spPr>
        <p:txBody>
          <a:bodyPr>
            <a:spAutoFit/>
          </a:bodyPr>
          <a:lstStyle/>
          <a:p>
            <a:pPr algn="l">
              <a:lnSpc>
                <a:spcPct val="120000"/>
              </a:lnSpc>
              <a:buClr>
                <a:srgbClr val="FF0000"/>
              </a:buClr>
              <a:buFont typeface="Wingdings" pitchFamily="2" charset="2"/>
              <a:buNone/>
            </a:pPr>
            <a:r>
              <a:rPr kumimoji="1" lang="zh-CN" altLang="en-US" sz="2400" b="1">
                <a:solidFill>
                  <a:srgbClr val="FF0000"/>
                </a:solidFill>
                <a:latin typeface="Times New Roman" pitchFamily="18" charset="0"/>
              </a:rPr>
              <a:t>涡旋电场的应用</a:t>
            </a:r>
          </a:p>
        </p:txBody>
      </p:sp>
      <p:sp>
        <p:nvSpPr>
          <p:cNvPr id="50181" name="Text Box 5"/>
          <p:cNvSpPr txBox="1">
            <a:spLocks noChangeArrowheads="1"/>
          </p:cNvSpPr>
          <p:nvPr/>
        </p:nvSpPr>
        <p:spPr bwMode="auto">
          <a:xfrm>
            <a:off x="179388" y="1279525"/>
            <a:ext cx="3529012" cy="493713"/>
          </a:xfrm>
          <a:prstGeom prst="rect">
            <a:avLst/>
          </a:prstGeom>
          <a:noFill/>
          <a:ln w="9525" algn="ctr">
            <a:noFill/>
            <a:miter lim="800000"/>
            <a:headEnd/>
            <a:tailEnd/>
          </a:ln>
        </p:spPr>
        <p:txBody>
          <a:bodyPr>
            <a:spAutoFit/>
          </a:bodyPr>
          <a:lstStyle/>
          <a:p>
            <a:pPr algn="l">
              <a:lnSpc>
                <a:spcPct val="110000"/>
              </a:lnSpc>
            </a:pPr>
            <a:r>
              <a:rPr kumimoji="1" lang="en-US" altLang="zh-CN" sz="2400" b="1">
                <a:solidFill>
                  <a:srgbClr val="0000FF"/>
                </a:solidFill>
                <a:latin typeface="Times New Roman" pitchFamily="18" charset="0"/>
              </a:rPr>
              <a:t>1</a:t>
            </a:r>
            <a:r>
              <a:rPr kumimoji="1" lang="zh-CN" altLang="en-US" sz="2400" b="1">
                <a:solidFill>
                  <a:srgbClr val="0000FF"/>
                </a:solidFill>
                <a:latin typeface="Times New Roman" pitchFamily="18" charset="0"/>
              </a:rPr>
              <a:t>、电子感应加速器</a:t>
            </a:r>
          </a:p>
        </p:txBody>
      </p:sp>
      <p:grpSp>
        <p:nvGrpSpPr>
          <p:cNvPr id="2" name="Group 6"/>
          <p:cNvGrpSpPr>
            <a:grpSpLocks/>
          </p:cNvGrpSpPr>
          <p:nvPr/>
        </p:nvGrpSpPr>
        <p:grpSpPr bwMode="auto">
          <a:xfrm>
            <a:off x="6156325" y="2349500"/>
            <a:ext cx="2736850" cy="2241550"/>
            <a:chOff x="1728" y="384"/>
            <a:chExt cx="2252" cy="1869"/>
          </a:xfrm>
        </p:grpSpPr>
        <p:graphicFrame>
          <p:nvGraphicFramePr>
            <p:cNvPr id="16386" name="Object 7"/>
            <p:cNvGraphicFramePr>
              <a:graphicFrameLocks noChangeAspect="1"/>
            </p:cNvGraphicFramePr>
            <p:nvPr/>
          </p:nvGraphicFramePr>
          <p:xfrm>
            <a:off x="3264" y="768"/>
            <a:ext cx="597" cy="214"/>
          </p:xfrm>
          <a:graphic>
            <a:graphicData uri="http://schemas.openxmlformats.org/presentationml/2006/ole">
              <p:oleObj spid="_x0000_s16386" r:id="rId5" imgW="825142" imgH="266584" progId="Equation.3">
                <p:embed/>
              </p:oleObj>
            </a:graphicData>
          </a:graphic>
        </p:graphicFrame>
        <p:grpSp>
          <p:nvGrpSpPr>
            <p:cNvPr id="16470" name="Group 8"/>
            <p:cNvGrpSpPr>
              <a:grpSpLocks/>
            </p:cNvGrpSpPr>
            <p:nvPr/>
          </p:nvGrpSpPr>
          <p:grpSpPr bwMode="auto">
            <a:xfrm>
              <a:off x="1728" y="384"/>
              <a:ext cx="2252" cy="1869"/>
              <a:chOff x="1728" y="384"/>
              <a:chExt cx="2252" cy="1869"/>
            </a:xfrm>
          </p:grpSpPr>
          <p:grpSp>
            <p:nvGrpSpPr>
              <p:cNvPr id="16471" name="Group 9"/>
              <p:cNvGrpSpPr>
                <a:grpSpLocks/>
              </p:cNvGrpSpPr>
              <p:nvPr/>
            </p:nvGrpSpPr>
            <p:grpSpPr bwMode="auto">
              <a:xfrm>
                <a:off x="1728" y="384"/>
                <a:ext cx="2252" cy="1869"/>
                <a:chOff x="3408" y="384"/>
                <a:chExt cx="2252" cy="1869"/>
              </a:xfrm>
            </p:grpSpPr>
            <p:sp>
              <p:nvSpPr>
                <p:cNvPr id="16480" name="Rectangle 10"/>
                <p:cNvSpPr>
                  <a:spLocks noChangeArrowheads="1"/>
                </p:cNvSpPr>
                <p:nvPr/>
              </p:nvSpPr>
              <p:spPr bwMode="auto">
                <a:xfrm>
                  <a:off x="5047" y="1095"/>
                  <a:ext cx="299" cy="838"/>
                </a:xfrm>
                <a:prstGeom prst="rect">
                  <a:avLst/>
                </a:prstGeom>
                <a:noFill/>
                <a:ln w="9525">
                  <a:noFill/>
                  <a:miter lim="800000"/>
                  <a:headEnd/>
                  <a:tailEnd/>
                </a:ln>
              </p:spPr>
              <p:txBody>
                <a:bodyPr>
                  <a:spAutoFit/>
                </a:bodyPr>
                <a:lstStyle/>
                <a:p>
                  <a:pPr algn="just">
                    <a:lnSpc>
                      <a:spcPct val="120000"/>
                    </a:lnSpc>
                  </a:pPr>
                  <a:r>
                    <a:rPr kumimoji="1" lang="zh-CN" altLang="en-US" sz="2000" b="1">
                      <a:solidFill>
                        <a:srgbClr val="0000FF"/>
                      </a:solidFill>
                      <a:latin typeface="楷体_GB2312" pitchFamily="49" charset="-122"/>
                      <a:ea typeface="楷体_GB2312" pitchFamily="49" charset="-122"/>
                    </a:rPr>
                    <a:t>电子</a:t>
                  </a:r>
                  <a:r>
                    <a:rPr kumimoji="1" lang="zh-CN" altLang="en-US" sz="1000" b="1">
                      <a:solidFill>
                        <a:srgbClr val="0000FF"/>
                      </a:solidFill>
                      <a:latin typeface="楷体_GB2312" pitchFamily="49" charset="-122"/>
                      <a:ea typeface="楷体_GB2312" pitchFamily="49" charset="-122"/>
                    </a:rPr>
                    <a:t>                                   </a:t>
                  </a:r>
                  <a:endParaRPr kumimoji="1" lang="zh-CN" altLang="en-US" sz="2400">
                    <a:latin typeface="楷体_GB2312" pitchFamily="49" charset="-122"/>
                    <a:ea typeface="楷体_GB2312" pitchFamily="49" charset="-122"/>
                  </a:endParaRPr>
                </a:p>
              </p:txBody>
            </p:sp>
            <p:grpSp>
              <p:nvGrpSpPr>
                <p:cNvPr id="16481" name="Group 11"/>
                <p:cNvGrpSpPr>
                  <a:grpSpLocks/>
                </p:cNvGrpSpPr>
                <p:nvPr/>
              </p:nvGrpSpPr>
              <p:grpSpPr bwMode="auto">
                <a:xfrm>
                  <a:off x="3647" y="691"/>
                  <a:ext cx="1416" cy="1370"/>
                  <a:chOff x="7497" y="1794"/>
                  <a:chExt cx="1980" cy="1780"/>
                </a:xfrm>
              </p:grpSpPr>
              <p:grpSp>
                <p:nvGrpSpPr>
                  <p:cNvPr id="16485" name="Group 12"/>
                  <p:cNvGrpSpPr>
                    <a:grpSpLocks/>
                  </p:cNvGrpSpPr>
                  <p:nvPr/>
                </p:nvGrpSpPr>
                <p:grpSpPr bwMode="auto">
                  <a:xfrm>
                    <a:off x="7497" y="1794"/>
                    <a:ext cx="1980" cy="1780"/>
                    <a:chOff x="4137" y="1754"/>
                    <a:chExt cx="1980" cy="1780"/>
                  </a:xfrm>
                </p:grpSpPr>
                <p:sp>
                  <p:nvSpPr>
                    <p:cNvPr id="16487" name="Oval 13"/>
                    <p:cNvSpPr>
                      <a:spLocks noChangeArrowheads="1"/>
                    </p:cNvSpPr>
                    <p:nvPr/>
                  </p:nvSpPr>
                  <p:spPr bwMode="auto">
                    <a:xfrm>
                      <a:off x="4457" y="1754"/>
                      <a:ext cx="1660" cy="1660"/>
                    </a:xfrm>
                    <a:prstGeom prst="ellipse">
                      <a:avLst/>
                    </a:prstGeom>
                    <a:solidFill>
                      <a:srgbClr val="CCFFFF"/>
                    </a:solidFill>
                    <a:ln w="9525">
                      <a:solidFill>
                        <a:srgbClr val="000000"/>
                      </a:solidFill>
                      <a:round/>
                      <a:headEnd/>
                      <a:tailEnd/>
                    </a:ln>
                  </p:spPr>
                  <p:txBody>
                    <a:bodyPr/>
                    <a:lstStyle/>
                    <a:p>
                      <a:pPr algn="just" eaLnBrk="0" hangingPunct="0">
                        <a:lnSpc>
                          <a:spcPct val="120000"/>
                        </a:lnSpc>
                      </a:pPr>
                      <a:r>
                        <a:rPr lang="en-US" altLang="zh-CN" sz="1000">
                          <a:latin typeface="楷体_GB2312" pitchFamily="49" charset="-122"/>
                          <a:ea typeface="楷体_GB2312" pitchFamily="49" charset="-122"/>
                        </a:rPr>
                        <a:t>      v </a:t>
                      </a:r>
                      <a:r>
                        <a:rPr lang="en-US" altLang="zh-CN" sz="1000" b="1" i="1">
                          <a:latin typeface="楷体_GB2312" pitchFamily="49" charset="-122"/>
                          <a:ea typeface="楷体_GB2312" pitchFamily="49" charset="-122"/>
                        </a:rPr>
                        <a:t>v</a:t>
                      </a:r>
                    </a:p>
                  </p:txBody>
                </p:sp>
                <p:sp>
                  <p:nvSpPr>
                    <p:cNvPr id="16488" name="Oval 14"/>
                    <p:cNvSpPr>
                      <a:spLocks noChangeArrowheads="1"/>
                    </p:cNvSpPr>
                    <p:nvPr/>
                  </p:nvSpPr>
                  <p:spPr bwMode="auto">
                    <a:xfrm>
                      <a:off x="4637" y="1934"/>
                      <a:ext cx="1280" cy="1300"/>
                    </a:xfrm>
                    <a:prstGeom prst="ellipse">
                      <a:avLst/>
                    </a:prstGeom>
                    <a:solidFill>
                      <a:srgbClr val="CCFFFF"/>
                    </a:solidFill>
                    <a:ln w="9525">
                      <a:solidFill>
                        <a:srgbClr val="000000"/>
                      </a:solidFill>
                      <a:prstDash val="sysDot"/>
                      <a:round/>
                      <a:headEnd/>
                      <a:tailEnd/>
                    </a:ln>
                  </p:spPr>
                  <p:txBody>
                    <a:bodyPr/>
                    <a:lstStyle/>
                    <a:p>
                      <a:endParaRPr lang="zh-CN" altLang="en-US"/>
                    </a:p>
                  </p:txBody>
                </p:sp>
                <p:sp>
                  <p:nvSpPr>
                    <p:cNvPr id="16489" name="Oval 15"/>
                    <p:cNvSpPr>
                      <a:spLocks noChangeArrowheads="1"/>
                    </p:cNvSpPr>
                    <p:nvPr/>
                  </p:nvSpPr>
                  <p:spPr bwMode="auto">
                    <a:xfrm>
                      <a:off x="4877" y="2194"/>
                      <a:ext cx="800" cy="800"/>
                    </a:xfrm>
                    <a:prstGeom prst="ellipse">
                      <a:avLst/>
                    </a:prstGeom>
                    <a:solidFill>
                      <a:srgbClr val="FFFFFF"/>
                    </a:solidFill>
                    <a:ln w="9525">
                      <a:solidFill>
                        <a:srgbClr val="000000"/>
                      </a:solidFill>
                      <a:round/>
                      <a:headEnd/>
                      <a:tailEnd/>
                    </a:ln>
                  </p:spPr>
                  <p:txBody>
                    <a:bodyPr/>
                    <a:lstStyle/>
                    <a:p>
                      <a:pPr algn="just" eaLnBrk="0" hangingPunct="0">
                        <a:lnSpc>
                          <a:spcPct val="120000"/>
                        </a:lnSpc>
                      </a:pPr>
                      <a:r>
                        <a:rPr lang="en-US" altLang="zh-CN" sz="2000" b="1">
                          <a:solidFill>
                            <a:schemeClr val="accent2"/>
                          </a:solidFill>
                          <a:latin typeface="楷体_GB2312" pitchFamily="49" charset="-122"/>
                          <a:ea typeface="楷体_GB2312" pitchFamily="49" charset="-122"/>
                        </a:rPr>
                        <a:t> f</a:t>
                      </a:r>
                    </a:p>
                  </p:txBody>
                </p:sp>
                <p:sp>
                  <p:nvSpPr>
                    <p:cNvPr id="16490" name="Rectangle 16"/>
                    <p:cNvSpPr>
                      <a:spLocks noChangeArrowheads="1"/>
                    </p:cNvSpPr>
                    <p:nvPr/>
                  </p:nvSpPr>
                  <p:spPr bwMode="auto">
                    <a:xfrm>
                      <a:off x="5117" y="3314"/>
                      <a:ext cx="260" cy="60"/>
                    </a:xfrm>
                    <a:prstGeom prst="rect">
                      <a:avLst/>
                    </a:prstGeom>
                    <a:solidFill>
                      <a:srgbClr val="FF00FF"/>
                    </a:solidFill>
                    <a:ln w="9525">
                      <a:solidFill>
                        <a:srgbClr val="000000"/>
                      </a:solidFill>
                      <a:miter lim="800000"/>
                      <a:headEnd/>
                      <a:tailEnd/>
                    </a:ln>
                  </p:spPr>
                  <p:txBody>
                    <a:bodyPr/>
                    <a:lstStyle/>
                    <a:p>
                      <a:endParaRPr lang="zh-CN" altLang="en-US"/>
                    </a:p>
                  </p:txBody>
                </p:sp>
                <p:grpSp>
                  <p:nvGrpSpPr>
                    <p:cNvPr id="16491" name="Group 17"/>
                    <p:cNvGrpSpPr>
                      <a:grpSpLocks/>
                    </p:cNvGrpSpPr>
                    <p:nvPr/>
                  </p:nvGrpSpPr>
                  <p:grpSpPr bwMode="auto">
                    <a:xfrm>
                      <a:off x="5817" y="2534"/>
                      <a:ext cx="140" cy="120"/>
                      <a:chOff x="6257" y="1807"/>
                      <a:chExt cx="140" cy="120"/>
                    </a:xfrm>
                  </p:grpSpPr>
                  <p:sp>
                    <p:nvSpPr>
                      <p:cNvPr id="16508" name="AutoShape 18"/>
                      <p:cNvSpPr>
                        <a:spLocks noChangeArrowheads="1"/>
                      </p:cNvSpPr>
                      <p:nvPr/>
                    </p:nvSpPr>
                    <p:spPr bwMode="auto">
                      <a:xfrm>
                        <a:off x="6257" y="1807"/>
                        <a:ext cx="140" cy="120"/>
                      </a:xfrm>
                      <a:prstGeom prst="flowChartConnector">
                        <a:avLst/>
                      </a:prstGeom>
                      <a:solidFill>
                        <a:srgbClr val="00CCFF"/>
                      </a:solidFill>
                      <a:ln w="9525">
                        <a:solidFill>
                          <a:srgbClr val="000000"/>
                        </a:solidFill>
                        <a:round/>
                        <a:headEnd/>
                        <a:tailEnd/>
                      </a:ln>
                    </p:spPr>
                    <p:txBody>
                      <a:bodyPr/>
                      <a:lstStyle/>
                      <a:p>
                        <a:endParaRPr lang="zh-CN" altLang="en-US"/>
                      </a:p>
                    </p:txBody>
                  </p:sp>
                  <p:sp>
                    <p:nvSpPr>
                      <p:cNvPr id="16509" name="Line 19"/>
                      <p:cNvSpPr>
                        <a:spLocks noChangeShapeType="1"/>
                      </p:cNvSpPr>
                      <p:nvPr/>
                    </p:nvSpPr>
                    <p:spPr bwMode="auto">
                      <a:xfrm rot="2212194" flipV="1">
                        <a:off x="6269" y="1822"/>
                        <a:ext cx="92" cy="68"/>
                      </a:xfrm>
                      <a:prstGeom prst="line">
                        <a:avLst/>
                      </a:prstGeom>
                      <a:noFill/>
                      <a:ln w="9525">
                        <a:solidFill>
                          <a:srgbClr val="000000"/>
                        </a:solidFill>
                        <a:round/>
                        <a:headEnd/>
                        <a:tailEnd/>
                      </a:ln>
                    </p:spPr>
                    <p:txBody>
                      <a:bodyPr/>
                      <a:lstStyle/>
                      <a:p>
                        <a:endParaRPr lang="zh-CN" altLang="en-US"/>
                      </a:p>
                    </p:txBody>
                  </p:sp>
                </p:grpSp>
                <p:sp>
                  <p:nvSpPr>
                    <p:cNvPr id="16492" name="Line 20"/>
                    <p:cNvSpPr>
                      <a:spLocks noChangeShapeType="1"/>
                    </p:cNvSpPr>
                    <p:nvPr/>
                  </p:nvSpPr>
                  <p:spPr bwMode="auto">
                    <a:xfrm flipV="1">
                      <a:off x="5897" y="2074"/>
                      <a:ext cx="0" cy="460"/>
                    </a:xfrm>
                    <a:prstGeom prst="line">
                      <a:avLst/>
                    </a:prstGeom>
                    <a:noFill/>
                    <a:ln w="9525">
                      <a:solidFill>
                        <a:srgbClr val="000000"/>
                      </a:solidFill>
                      <a:round/>
                      <a:headEnd/>
                      <a:tailEnd type="triangle" w="med" len="med"/>
                    </a:ln>
                  </p:spPr>
                  <p:txBody>
                    <a:bodyPr/>
                    <a:lstStyle/>
                    <a:p>
                      <a:endParaRPr lang="zh-CN" altLang="en-US"/>
                    </a:p>
                  </p:txBody>
                </p:sp>
                <p:sp>
                  <p:nvSpPr>
                    <p:cNvPr id="16493" name="Line 21"/>
                    <p:cNvSpPr>
                      <a:spLocks noChangeShapeType="1"/>
                    </p:cNvSpPr>
                    <p:nvPr/>
                  </p:nvSpPr>
                  <p:spPr bwMode="auto">
                    <a:xfrm flipH="1">
                      <a:off x="5397" y="2594"/>
                      <a:ext cx="420" cy="0"/>
                    </a:xfrm>
                    <a:prstGeom prst="line">
                      <a:avLst/>
                    </a:prstGeom>
                    <a:noFill/>
                    <a:ln w="9525">
                      <a:solidFill>
                        <a:srgbClr val="0000FF"/>
                      </a:solidFill>
                      <a:round/>
                      <a:headEnd/>
                      <a:tailEnd type="triangle" w="med" len="med"/>
                    </a:ln>
                  </p:spPr>
                  <p:txBody>
                    <a:bodyPr/>
                    <a:lstStyle/>
                    <a:p>
                      <a:endParaRPr lang="zh-CN" altLang="en-US"/>
                    </a:p>
                  </p:txBody>
                </p:sp>
                <p:sp>
                  <p:nvSpPr>
                    <p:cNvPr id="16494" name="AutoShape 22"/>
                    <p:cNvSpPr>
                      <a:spLocks noChangeArrowheads="1"/>
                    </p:cNvSpPr>
                    <p:nvPr/>
                  </p:nvSpPr>
                  <p:spPr bwMode="auto">
                    <a:xfrm>
                      <a:off x="4957" y="189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95" name="AutoShape 23"/>
                    <p:cNvSpPr>
                      <a:spLocks noChangeArrowheads="1"/>
                    </p:cNvSpPr>
                    <p:nvPr/>
                  </p:nvSpPr>
                  <p:spPr bwMode="auto">
                    <a:xfrm>
                      <a:off x="5697" y="203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96" name="AutoShape 24"/>
                    <p:cNvSpPr>
                      <a:spLocks noChangeArrowheads="1"/>
                    </p:cNvSpPr>
                    <p:nvPr/>
                  </p:nvSpPr>
                  <p:spPr bwMode="auto">
                    <a:xfrm>
                      <a:off x="4717" y="221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97" name="AutoShape 25"/>
                    <p:cNvSpPr>
                      <a:spLocks noChangeArrowheads="1"/>
                    </p:cNvSpPr>
                    <p:nvPr/>
                  </p:nvSpPr>
                  <p:spPr bwMode="auto">
                    <a:xfrm>
                      <a:off x="5177" y="225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98" name="AutoShape 26"/>
                    <p:cNvSpPr>
                      <a:spLocks noChangeArrowheads="1"/>
                    </p:cNvSpPr>
                    <p:nvPr/>
                  </p:nvSpPr>
                  <p:spPr bwMode="auto">
                    <a:xfrm>
                      <a:off x="4597" y="267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99" name="AutoShape 27"/>
                    <p:cNvSpPr>
                      <a:spLocks noChangeArrowheads="1"/>
                    </p:cNvSpPr>
                    <p:nvPr/>
                  </p:nvSpPr>
                  <p:spPr bwMode="auto">
                    <a:xfrm>
                      <a:off x="5077" y="267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500" name="AutoShape 28"/>
                    <p:cNvSpPr>
                      <a:spLocks noChangeArrowheads="1"/>
                    </p:cNvSpPr>
                    <p:nvPr/>
                  </p:nvSpPr>
                  <p:spPr bwMode="auto">
                    <a:xfrm>
                      <a:off x="5437" y="183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501" name="AutoShape 29"/>
                    <p:cNvSpPr>
                      <a:spLocks noChangeArrowheads="1"/>
                    </p:cNvSpPr>
                    <p:nvPr/>
                  </p:nvSpPr>
                  <p:spPr bwMode="auto">
                    <a:xfrm>
                      <a:off x="5997" y="269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502" name="AutoShape 30"/>
                    <p:cNvSpPr>
                      <a:spLocks noChangeArrowheads="1"/>
                    </p:cNvSpPr>
                    <p:nvPr/>
                  </p:nvSpPr>
                  <p:spPr bwMode="auto">
                    <a:xfrm>
                      <a:off x="5337" y="309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503" name="AutoShape 31"/>
                    <p:cNvSpPr>
                      <a:spLocks noChangeArrowheads="1"/>
                    </p:cNvSpPr>
                    <p:nvPr/>
                  </p:nvSpPr>
                  <p:spPr bwMode="auto">
                    <a:xfrm>
                      <a:off x="5777" y="313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504" name="Line 32"/>
                    <p:cNvSpPr>
                      <a:spLocks noChangeShapeType="1"/>
                    </p:cNvSpPr>
                    <p:nvPr/>
                  </p:nvSpPr>
                  <p:spPr bwMode="auto">
                    <a:xfrm>
                      <a:off x="5397" y="3354"/>
                      <a:ext cx="340" cy="120"/>
                    </a:xfrm>
                    <a:prstGeom prst="line">
                      <a:avLst/>
                    </a:prstGeom>
                    <a:noFill/>
                    <a:ln w="9525">
                      <a:solidFill>
                        <a:srgbClr val="000000"/>
                      </a:solidFill>
                      <a:round/>
                      <a:headEnd/>
                      <a:tailEnd/>
                    </a:ln>
                  </p:spPr>
                  <p:txBody>
                    <a:bodyPr/>
                    <a:lstStyle/>
                    <a:p>
                      <a:endParaRPr lang="zh-CN" altLang="en-US"/>
                    </a:p>
                  </p:txBody>
                </p:sp>
                <p:sp>
                  <p:nvSpPr>
                    <p:cNvPr id="16505" name="Line 33"/>
                    <p:cNvSpPr>
                      <a:spLocks noChangeShapeType="1"/>
                    </p:cNvSpPr>
                    <p:nvPr/>
                  </p:nvSpPr>
                  <p:spPr bwMode="auto">
                    <a:xfrm flipH="1">
                      <a:off x="4717" y="3354"/>
                      <a:ext cx="380" cy="180"/>
                    </a:xfrm>
                    <a:prstGeom prst="line">
                      <a:avLst/>
                    </a:prstGeom>
                    <a:noFill/>
                    <a:ln w="9525">
                      <a:solidFill>
                        <a:srgbClr val="000000"/>
                      </a:solidFill>
                      <a:round/>
                      <a:headEnd/>
                      <a:tailEnd/>
                    </a:ln>
                  </p:spPr>
                  <p:txBody>
                    <a:bodyPr/>
                    <a:lstStyle/>
                    <a:p>
                      <a:endParaRPr lang="zh-CN" altLang="en-US"/>
                    </a:p>
                  </p:txBody>
                </p:sp>
                <p:sp>
                  <p:nvSpPr>
                    <p:cNvPr id="16506" name="Line 34"/>
                    <p:cNvSpPr>
                      <a:spLocks noChangeShapeType="1"/>
                    </p:cNvSpPr>
                    <p:nvPr/>
                  </p:nvSpPr>
                  <p:spPr bwMode="auto">
                    <a:xfrm flipH="1">
                      <a:off x="4137" y="2514"/>
                      <a:ext cx="520" cy="0"/>
                    </a:xfrm>
                    <a:prstGeom prst="line">
                      <a:avLst/>
                    </a:prstGeom>
                    <a:noFill/>
                    <a:ln w="9525">
                      <a:solidFill>
                        <a:srgbClr val="000000"/>
                      </a:solidFill>
                      <a:round/>
                      <a:headEnd/>
                      <a:tailEnd type="triangle" w="med" len="med"/>
                    </a:ln>
                  </p:spPr>
                  <p:txBody>
                    <a:bodyPr/>
                    <a:lstStyle/>
                    <a:p>
                      <a:endParaRPr lang="zh-CN" altLang="en-US"/>
                    </a:p>
                  </p:txBody>
                </p:sp>
                <p:sp>
                  <p:nvSpPr>
                    <p:cNvPr id="16507" name="Line 35"/>
                    <p:cNvSpPr>
                      <a:spLocks noChangeShapeType="1"/>
                    </p:cNvSpPr>
                    <p:nvPr/>
                  </p:nvSpPr>
                  <p:spPr bwMode="auto">
                    <a:xfrm flipV="1">
                      <a:off x="5897" y="2254"/>
                      <a:ext cx="0" cy="300"/>
                    </a:xfrm>
                    <a:prstGeom prst="line">
                      <a:avLst/>
                    </a:prstGeom>
                    <a:noFill/>
                    <a:ln w="9525">
                      <a:solidFill>
                        <a:srgbClr val="0000FF"/>
                      </a:solidFill>
                      <a:round/>
                      <a:headEnd/>
                      <a:tailEnd type="triangle" w="med" len="med"/>
                    </a:ln>
                  </p:spPr>
                  <p:txBody>
                    <a:bodyPr/>
                    <a:lstStyle/>
                    <a:p>
                      <a:endParaRPr lang="zh-CN" altLang="en-US"/>
                    </a:p>
                  </p:txBody>
                </p:sp>
              </p:grpSp>
              <p:sp>
                <p:nvSpPr>
                  <p:cNvPr id="16486" name="Line 36"/>
                  <p:cNvSpPr>
                    <a:spLocks noChangeShapeType="1"/>
                  </p:cNvSpPr>
                  <p:nvPr/>
                </p:nvSpPr>
                <p:spPr bwMode="auto">
                  <a:xfrm>
                    <a:off x="9237" y="2714"/>
                    <a:ext cx="0" cy="400"/>
                  </a:xfrm>
                  <a:prstGeom prst="line">
                    <a:avLst/>
                  </a:prstGeom>
                  <a:noFill/>
                  <a:ln w="9525">
                    <a:solidFill>
                      <a:srgbClr val="FF0000"/>
                    </a:solidFill>
                    <a:round/>
                    <a:headEnd/>
                    <a:tailEnd type="triangle" w="med" len="med"/>
                  </a:ln>
                </p:spPr>
                <p:txBody>
                  <a:bodyPr/>
                  <a:lstStyle/>
                  <a:p>
                    <a:endParaRPr lang="zh-CN" altLang="en-US"/>
                  </a:p>
                </p:txBody>
              </p:sp>
            </p:grpSp>
            <p:sp>
              <p:nvSpPr>
                <p:cNvPr id="16482" name="Rectangle 37"/>
                <p:cNvSpPr>
                  <a:spLocks noChangeArrowheads="1"/>
                </p:cNvSpPr>
                <p:nvPr/>
              </p:nvSpPr>
              <p:spPr bwMode="auto">
                <a:xfrm>
                  <a:off x="3408" y="636"/>
                  <a:ext cx="264" cy="1568"/>
                </a:xfrm>
                <a:prstGeom prst="rect">
                  <a:avLst/>
                </a:prstGeom>
                <a:noFill/>
                <a:ln w="9525">
                  <a:noFill/>
                  <a:miter lim="800000"/>
                  <a:headEnd/>
                  <a:tailEnd/>
                </a:ln>
              </p:spPr>
              <p:txBody>
                <a:bodyPr>
                  <a:spAutoFit/>
                </a:bodyPr>
                <a:lstStyle/>
                <a:p>
                  <a:pPr algn="l">
                    <a:lnSpc>
                      <a:spcPct val="120000"/>
                    </a:lnSpc>
                  </a:pPr>
                  <a:r>
                    <a:rPr kumimoji="1" lang="en-US" altLang="zh-CN" sz="1400" b="1">
                      <a:latin typeface="楷体_GB2312" pitchFamily="49" charset="-122"/>
                      <a:ea typeface="楷体_GB2312" pitchFamily="49" charset="-122"/>
                    </a:rPr>
                    <a:t> </a:t>
                  </a:r>
                  <a:r>
                    <a:rPr kumimoji="1" lang="zh-CN" altLang="en-US" sz="2000" b="1">
                      <a:latin typeface="楷体_GB2312" pitchFamily="49" charset="-122"/>
                      <a:ea typeface="楷体_GB2312" pitchFamily="49" charset="-122"/>
                    </a:rPr>
                    <a:t>电子束</a:t>
                  </a:r>
                  <a:r>
                    <a:rPr kumimoji="1" lang="zh-CN" altLang="en-US" sz="2400" b="1">
                      <a:latin typeface="楷体_GB2312" pitchFamily="49" charset="-122"/>
                      <a:ea typeface="楷体_GB2312" pitchFamily="49" charset="-122"/>
                    </a:rPr>
                    <a:t> </a:t>
                  </a:r>
                </a:p>
              </p:txBody>
            </p:sp>
            <p:sp>
              <p:nvSpPr>
                <p:cNvPr id="16483" name="Rectangle 38"/>
                <p:cNvSpPr>
                  <a:spLocks noChangeArrowheads="1"/>
                </p:cNvSpPr>
                <p:nvPr/>
              </p:nvSpPr>
              <p:spPr bwMode="auto">
                <a:xfrm>
                  <a:off x="3840" y="1871"/>
                  <a:ext cx="1820" cy="382"/>
                </a:xfrm>
                <a:prstGeom prst="rect">
                  <a:avLst/>
                </a:prstGeom>
                <a:noFill/>
                <a:ln w="9525">
                  <a:noFill/>
                  <a:miter lim="800000"/>
                  <a:headEnd/>
                  <a:tailEnd/>
                </a:ln>
              </p:spPr>
              <p:txBody>
                <a:bodyPr>
                  <a:spAutoFit/>
                </a:bodyPr>
                <a:lstStyle/>
                <a:p>
                  <a:pPr algn="l">
                    <a:lnSpc>
                      <a:spcPct val="120000"/>
                    </a:lnSpc>
                  </a:pPr>
                  <a:r>
                    <a:rPr kumimoji="1" lang="zh-CN" altLang="en-US" sz="2000" b="1">
                      <a:solidFill>
                        <a:srgbClr val="FF00FF"/>
                      </a:solidFill>
                      <a:latin typeface="楷体_GB2312" pitchFamily="49" charset="-122"/>
                      <a:ea typeface="楷体_GB2312" pitchFamily="49" charset="-122"/>
                    </a:rPr>
                    <a:t>靶</a:t>
                  </a:r>
                  <a:r>
                    <a:rPr kumimoji="1" lang="zh-CN" altLang="en-US" b="1">
                      <a:solidFill>
                        <a:srgbClr val="FF00FF"/>
                      </a:solidFill>
                    </a:rPr>
                    <a:t>         </a:t>
                  </a:r>
                  <a:r>
                    <a:rPr kumimoji="1" lang="zh-CN" altLang="en-US" sz="2000" b="1">
                      <a:solidFill>
                        <a:srgbClr val="FF00FF"/>
                      </a:solidFill>
                      <a:latin typeface="楷体_GB2312" pitchFamily="49" charset="-122"/>
                      <a:ea typeface="楷体_GB2312" pitchFamily="49" charset="-122"/>
                    </a:rPr>
                    <a:t>电子</a:t>
                  </a:r>
                  <a:r>
                    <a:rPr kumimoji="1" lang="zh-CN" altLang="en-US" b="1">
                      <a:solidFill>
                        <a:srgbClr val="FF00FF"/>
                      </a:solidFill>
                    </a:rPr>
                    <a:t>枪</a:t>
                  </a:r>
                </a:p>
              </p:txBody>
            </p:sp>
            <p:sp>
              <p:nvSpPr>
                <p:cNvPr id="16484" name="Rectangle 39"/>
                <p:cNvSpPr>
                  <a:spLocks noChangeArrowheads="1"/>
                </p:cNvSpPr>
                <p:nvPr/>
              </p:nvSpPr>
              <p:spPr bwMode="auto">
                <a:xfrm>
                  <a:off x="3496" y="384"/>
                  <a:ext cx="1402" cy="442"/>
                </a:xfrm>
                <a:prstGeom prst="rect">
                  <a:avLst/>
                </a:prstGeom>
                <a:noFill/>
                <a:ln w="9525">
                  <a:noFill/>
                  <a:miter lim="800000"/>
                  <a:headEnd/>
                  <a:tailEnd/>
                </a:ln>
              </p:spPr>
              <p:txBody>
                <a:bodyPr wrap="none">
                  <a:spAutoFit/>
                </a:bodyPr>
                <a:lstStyle/>
                <a:p>
                  <a:pPr algn="l">
                    <a:lnSpc>
                      <a:spcPct val="120000"/>
                    </a:lnSpc>
                  </a:pPr>
                  <a:r>
                    <a:rPr kumimoji="1" lang="en-US" altLang="zh-CN" sz="1400" b="1">
                      <a:solidFill>
                        <a:srgbClr val="FF0000"/>
                      </a:solidFill>
                      <a:latin typeface="楷体_GB2312" pitchFamily="49" charset="-122"/>
                      <a:ea typeface="楷体_GB2312" pitchFamily="49" charset="-122"/>
                    </a:rPr>
                    <a:t> </a:t>
                  </a:r>
                  <a:r>
                    <a:rPr kumimoji="1" lang="zh-CN" altLang="en-US" sz="2000" b="1">
                      <a:solidFill>
                        <a:srgbClr val="FF0000"/>
                      </a:solidFill>
                      <a:latin typeface="楷体_GB2312" pitchFamily="49" charset="-122"/>
                      <a:ea typeface="楷体_GB2312" pitchFamily="49" charset="-122"/>
                    </a:rPr>
                    <a:t>环形真空室</a:t>
                  </a:r>
                  <a:r>
                    <a:rPr kumimoji="1" lang="zh-CN" altLang="en-US" sz="2400" b="1">
                      <a:solidFill>
                        <a:srgbClr val="FF0000"/>
                      </a:solidFill>
                      <a:latin typeface="楷体_GB2312" pitchFamily="49" charset="-122"/>
                      <a:ea typeface="楷体_GB2312" pitchFamily="49" charset="-122"/>
                    </a:rPr>
                    <a:t> </a:t>
                  </a:r>
                </a:p>
              </p:txBody>
            </p:sp>
          </p:grpSp>
          <p:grpSp>
            <p:nvGrpSpPr>
              <p:cNvPr id="16472" name="Group 40"/>
              <p:cNvGrpSpPr>
                <a:grpSpLocks/>
              </p:cNvGrpSpPr>
              <p:nvPr/>
            </p:nvGrpSpPr>
            <p:grpSpPr bwMode="auto">
              <a:xfrm>
                <a:off x="2394" y="806"/>
                <a:ext cx="903" cy="1070"/>
                <a:chOff x="4084" y="806"/>
                <a:chExt cx="903" cy="1070"/>
              </a:xfrm>
            </p:grpSpPr>
            <p:sp>
              <p:nvSpPr>
                <p:cNvPr id="16473" name="Line 41"/>
                <p:cNvSpPr>
                  <a:spLocks noChangeShapeType="1"/>
                </p:cNvSpPr>
                <p:nvPr/>
              </p:nvSpPr>
              <p:spPr bwMode="auto">
                <a:xfrm>
                  <a:off x="4153" y="1691"/>
                  <a:ext cx="189" cy="170"/>
                </a:xfrm>
                <a:prstGeom prst="line">
                  <a:avLst/>
                </a:prstGeom>
                <a:noFill/>
                <a:ln w="9525" cap="rnd">
                  <a:solidFill>
                    <a:srgbClr val="000000"/>
                  </a:solidFill>
                  <a:prstDash val="sysDot"/>
                  <a:round/>
                  <a:headEnd/>
                  <a:tailEnd/>
                </a:ln>
              </p:spPr>
              <p:txBody>
                <a:bodyPr/>
                <a:lstStyle/>
                <a:p>
                  <a:endParaRPr lang="zh-CN" altLang="en-US"/>
                </a:p>
              </p:txBody>
            </p:sp>
            <p:sp>
              <p:nvSpPr>
                <p:cNvPr id="16474" name="Line 42"/>
                <p:cNvSpPr>
                  <a:spLocks noChangeShapeType="1"/>
                </p:cNvSpPr>
                <p:nvPr/>
              </p:nvSpPr>
              <p:spPr bwMode="auto">
                <a:xfrm flipH="1">
                  <a:off x="4531" y="1784"/>
                  <a:ext cx="143" cy="92"/>
                </a:xfrm>
                <a:prstGeom prst="line">
                  <a:avLst/>
                </a:prstGeom>
                <a:noFill/>
                <a:ln w="9525" cap="rnd">
                  <a:solidFill>
                    <a:srgbClr val="000000"/>
                  </a:solidFill>
                  <a:prstDash val="sysDot"/>
                  <a:round/>
                  <a:headEnd/>
                  <a:tailEnd/>
                </a:ln>
              </p:spPr>
              <p:txBody>
                <a:bodyPr/>
                <a:lstStyle/>
                <a:p>
                  <a:endParaRPr lang="zh-CN" altLang="en-US"/>
                </a:p>
              </p:txBody>
            </p:sp>
            <p:sp>
              <p:nvSpPr>
                <p:cNvPr id="16475" name="AutoShape 43"/>
                <p:cNvSpPr>
                  <a:spLocks noChangeArrowheads="1"/>
                </p:cNvSpPr>
                <p:nvPr/>
              </p:nvSpPr>
              <p:spPr bwMode="auto">
                <a:xfrm>
                  <a:off x="4927" y="1137"/>
                  <a:ext cx="51" cy="46"/>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76" name="AutoShape 44"/>
                <p:cNvSpPr>
                  <a:spLocks noChangeArrowheads="1"/>
                </p:cNvSpPr>
                <p:nvPr/>
              </p:nvSpPr>
              <p:spPr bwMode="auto">
                <a:xfrm>
                  <a:off x="4720" y="1383"/>
                  <a:ext cx="51" cy="47"/>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77" name="AutoShape 45"/>
                <p:cNvSpPr>
                  <a:spLocks noChangeArrowheads="1"/>
                </p:cNvSpPr>
                <p:nvPr/>
              </p:nvSpPr>
              <p:spPr bwMode="auto">
                <a:xfrm>
                  <a:off x="4084" y="1660"/>
                  <a:ext cx="52" cy="47"/>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78" name="Rectangle 46"/>
                <p:cNvSpPr>
                  <a:spLocks noChangeArrowheads="1"/>
                </p:cNvSpPr>
                <p:nvPr/>
              </p:nvSpPr>
              <p:spPr bwMode="auto">
                <a:xfrm>
                  <a:off x="4143" y="806"/>
                  <a:ext cx="278" cy="442"/>
                </a:xfrm>
                <a:prstGeom prst="rect">
                  <a:avLst/>
                </a:prstGeom>
                <a:noFill/>
                <a:ln w="9525">
                  <a:noFill/>
                  <a:miter lim="800000"/>
                  <a:headEnd/>
                  <a:tailEnd/>
                </a:ln>
              </p:spPr>
              <p:txBody>
                <a:bodyPr wrap="none">
                  <a:spAutoFit/>
                </a:bodyPr>
                <a:lstStyle/>
                <a:p>
                  <a:pPr algn="l">
                    <a:lnSpc>
                      <a:spcPct val="120000"/>
                    </a:lnSpc>
                  </a:pPr>
                  <a:r>
                    <a:rPr kumimoji="1" lang="en-US" altLang="zh-CN" sz="2400" b="1" i="1">
                      <a:solidFill>
                        <a:srgbClr val="FF0000"/>
                      </a:solidFill>
                      <a:latin typeface="楷体_GB2312" pitchFamily="49" charset="-122"/>
                      <a:ea typeface="楷体_GB2312" pitchFamily="49" charset="-122"/>
                    </a:rPr>
                    <a:t>B</a:t>
                  </a:r>
                </a:p>
              </p:txBody>
            </p:sp>
            <p:sp>
              <p:nvSpPr>
                <p:cNvPr id="16479" name="Rectangle 47"/>
                <p:cNvSpPr>
                  <a:spLocks noChangeArrowheads="1"/>
                </p:cNvSpPr>
                <p:nvPr/>
              </p:nvSpPr>
              <p:spPr bwMode="auto">
                <a:xfrm>
                  <a:off x="4709" y="923"/>
                  <a:ext cx="278" cy="442"/>
                </a:xfrm>
                <a:prstGeom prst="rect">
                  <a:avLst/>
                </a:prstGeom>
                <a:noFill/>
                <a:ln w="9525">
                  <a:noFill/>
                  <a:miter lim="800000"/>
                  <a:headEnd/>
                  <a:tailEnd/>
                </a:ln>
              </p:spPr>
              <p:txBody>
                <a:bodyPr wrap="none">
                  <a:spAutoFit/>
                </a:bodyPr>
                <a:lstStyle/>
                <a:p>
                  <a:pPr algn="l">
                    <a:lnSpc>
                      <a:spcPct val="120000"/>
                    </a:lnSpc>
                  </a:pPr>
                  <a:r>
                    <a:rPr kumimoji="1" lang="en-US" altLang="zh-CN" sz="2400" b="1" i="1">
                      <a:solidFill>
                        <a:srgbClr val="0000FF"/>
                      </a:solidFill>
                      <a:latin typeface="楷体_GB2312" pitchFamily="49" charset="-122"/>
                      <a:ea typeface="楷体_GB2312" pitchFamily="49" charset="-122"/>
                    </a:rPr>
                    <a:t>v</a:t>
                  </a:r>
                </a:p>
              </p:txBody>
            </p:sp>
          </p:grpSp>
        </p:grpSp>
      </p:grpSp>
      <p:sp>
        <p:nvSpPr>
          <p:cNvPr id="50224" name="Text Box 48"/>
          <p:cNvSpPr txBox="1">
            <a:spLocks noChangeArrowheads="1"/>
          </p:cNvSpPr>
          <p:nvPr/>
        </p:nvSpPr>
        <p:spPr bwMode="auto">
          <a:xfrm>
            <a:off x="250825" y="1998663"/>
            <a:ext cx="1112838" cy="534987"/>
          </a:xfrm>
          <a:prstGeom prst="rect">
            <a:avLst/>
          </a:prstGeom>
          <a:noFill/>
          <a:ln w="9525" algn="ctr">
            <a:noFill/>
            <a:miter lim="800000"/>
            <a:headEnd/>
            <a:tailEnd/>
          </a:ln>
        </p:spPr>
        <p:txBody>
          <a:bodyPr wrap="none">
            <a:spAutoFit/>
          </a:bodyPr>
          <a:lstStyle/>
          <a:p>
            <a:pPr algn="l">
              <a:lnSpc>
                <a:spcPct val="120000"/>
              </a:lnSpc>
            </a:pPr>
            <a:r>
              <a:rPr kumimoji="1" lang="zh-CN" altLang="en-US" sz="2400" b="1">
                <a:solidFill>
                  <a:srgbClr val="FF0000"/>
                </a:solidFill>
                <a:latin typeface="楷体_GB2312" pitchFamily="49" charset="-122"/>
                <a:ea typeface="楷体_GB2312" pitchFamily="49" charset="-122"/>
              </a:rPr>
              <a:t>结构：</a:t>
            </a:r>
          </a:p>
        </p:txBody>
      </p:sp>
      <p:sp>
        <p:nvSpPr>
          <p:cNvPr id="50225" name="Text Box 49"/>
          <p:cNvSpPr txBox="1">
            <a:spLocks noChangeArrowheads="1"/>
          </p:cNvSpPr>
          <p:nvPr/>
        </p:nvSpPr>
        <p:spPr bwMode="auto">
          <a:xfrm>
            <a:off x="263525" y="2790825"/>
            <a:ext cx="1731963" cy="534988"/>
          </a:xfrm>
          <a:prstGeom prst="rect">
            <a:avLst/>
          </a:prstGeom>
          <a:noFill/>
          <a:ln w="9525" algn="ctr">
            <a:noFill/>
            <a:miter lim="800000"/>
            <a:headEnd/>
            <a:tailEnd/>
          </a:ln>
        </p:spPr>
        <p:txBody>
          <a:bodyPr wrap="none">
            <a:spAutoFit/>
          </a:bodyPr>
          <a:lstStyle/>
          <a:p>
            <a:pPr algn="l">
              <a:lnSpc>
                <a:spcPct val="120000"/>
              </a:lnSpc>
            </a:pPr>
            <a:r>
              <a:rPr kumimoji="1" lang="zh-CN" altLang="en-US" sz="2400" b="1">
                <a:solidFill>
                  <a:srgbClr val="FF0000"/>
                </a:solidFill>
                <a:latin typeface="楷体_GB2312" pitchFamily="49" charset="-122"/>
                <a:ea typeface="楷体_GB2312" pitchFamily="49" charset="-122"/>
              </a:rPr>
              <a:t>工作原理：</a:t>
            </a:r>
          </a:p>
        </p:txBody>
      </p:sp>
      <p:sp>
        <p:nvSpPr>
          <p:cNvPr id="50226" name="Rectangle 50"/>
          <p:cNvSpPr>
            <a:spLocks noChangeArrowheads="1"/>
          </p:cNvSpPr>
          <p:nvPr/>
        </p:nvSpPr>
        <p:spPr bwMode="auto">
          <a:xfrm>
            <a:off x="1274763" y="1989138"/>
            <a:ext cx="3817937" cy="534987"/>
          </a:xfrm>
          <a:prstGeom prst="rect">
            <a:avLst/>
          </a:prstGeom>
          <a:noFill/>
          <a:ln w="9525">
            <a:noFill/>
            <a:miter lim="800000"/>
            <a:headEnd/>
            <a:tailEnd/>
          </a:ln>
        </p:spPr>
        <p:txBody>
          <a:bodyPr>
            <a:spAutoFit/>
          </a:bodyPr>
          <a:lstStyle/>
          <a:p>
            <a:pPr algn="l">
              <a:lnSpc>
                <a:spcPct val="120000"/>
              </a:lnSpc>
            </a:pPr>
            <a:r>
              <a:rPr kumimoji="1" lang="zh-CN" altLang="en-US" sz="2400" b="1">
                <a:latin typeface="楷体_GB2312" pitchFamily="49" charset="-122"/>
                <a:ea typeface="楷体_GB2312" pitchFamily="49" charset="-122"/>
              </a:rPr>
              <a:t>圆形电磁铁，环型真空室</a:t>
            </a:r>
            <a:endParaRPr kumimoji="1" lang="zh-CN" altLang="en-US" sz="2400">
              <a:latin typeface="楷体_GB2312" pitchFamily="49" charset="-122"/>
              <a:ea typeface="楷体_GB2312" pitchFamily="49" charset="-122"/>
            </a:endParaRPr>
          </a:p>
        </p:txBody>
      </p:sp>
      <p:sp>
        <p:nvSpPr>
          <p:cNvPr id="50227" name="Rectangle 51"/>
          <p:cNvSpPr>
            <a:spLocks noChangeArrowheads="1"/>
          </p:cNvSpPr>
          <p:nvPr/>
        </p:nvSpPr>
        <p:spPr bwMode="auto">
          <a:xfrm>
            <a:off x="263525" y="3284538"/>
            <a:ext cx="5892800" cy="1422400"/>
          </a:xfrm>
          <a:prstGeom prst="rect">
            <a:avLst/>
          </a:prstGeom>
          <a:noFill/>
          <a:ln w="9525">
            <a:noFill/>
            <a:miter lim="800000"/>
            <a:headEnd/>
            <a:tailEnd/>
          </a:ln>
        </p:spPr>
        <p:txBody>
          <a:bodyPr>
            <a:spAutoFit/>
          </a:bodyPr>
          <a:lstStyle/>
          <a:p>
            <a:pPr algn="l">
              <a:lnSpc>
                <a:spcPct val="120000"/>
              </a:lnSpc>
            </a:pPr>
            <a:r>
              <a:rPr kumimoji="1" lang="en-US" altLang="zh-CN" sz="2400" b="1">
                <a:latin typeface="楷体_GB2312" pitchFamily="49" charset="-122"/>
                <a:ea typeface="楷体_GB2312" pitchFamily="49" charset="-122"/>
              </a:rPr>
              <a:t>   </a:t>
            </a:r>
            <a:r>
              <a:rPr kumimoji="1" lang="zh-CN" altLang="en-US" sz="2400" b="1">
                <a:solidFill>
                  <a:srgbClr val="FF3300"/>
                </a:solidFill>
                <a:latin typeface="楷体_GB2312" pitchFamily="49" charset="-122"/>
                <a:ea typeface="楷体_GB2312" pitchFamily="49" charset="-122"/>
              </a:rPr>
              <a:t>交变磁场</a:t>
            </a:r>
            <a:r>
              <a:rPr kumimoji="1" lang="zh-CN" altLang="en-US" sz="2400" b="1">
                <a:latin typeface="楷体_GB2312" pitchFamily="49" charset="-122"/>
                <a:ea typeface="楷体_GB2312" pitchFamily="49" charset="-122"/>
              </a:rPr>
              <a:t>作用于电子的</a:t>
            </a:r>
            <a:r>
              <a:rPr kumimoji="1" lang="zh-CN" altLang="en-US" sz="2400" b="1">
                <a:solidFill>
                  <a:schemeClr val="accent2"/>
                </a:solidFill>
                <a:latin typeface="楷体_GB2312" pitchFamily="49" charset="-122"/>
                <a:ea typeface="楷体_GB2312" pitchFamily="49" charset="-122"/>
              </a:rPr>
              <a:t>洛仑兹力作为电子圆周运动向心力</a:t>
            </a:r>
            <a:r>
              <a:rPr kumimoji="1" lang="zh-CN" altLang="en-US" sz="2400" b="1">
                <a:latin typeface="楷体_GB2312" pitchFamily="49" charset="-122"/>
                <a:ea typeface="楷体_GB2312" pitchFamily="49" charset="-122"/>
              </a:rPr>
              <a:t>；涡旋电场提供与电子速度方向相同的</a:t>
            </a:r>
            <a:r>
              <a:rPr kumimoji="1" lang="zh-CN" altLang="en-US" sz="2400" b="1">
                <a:solidFill>
                  <a:schemeClr val="accent2"/>
                </a:solidFill>
                <a:latin typeface="楷体_GB2312" pitchFamily="49" charset="-122"/>
                <a:ea typeface="楷体_GB2312" pitchFamily="49" charset="-122"/>
              </a:rPr>
              <a:t>电场力使电子被加速</a:t>
            </a:r>
            <a:r>
              <a:rPr kumimoji="1" lang="zh-CN" altLang="en-US" sz="2400">
                <a:latin typeface="楷体_GB2312" pitchFamily="49" charset="-122"/>
                <a:ea typeface="楷体_GB2312" pitchFamily="49" charset="-122"/>
              </a:rPr>
              <a:t>。</a:t>
            </a:r>
          </a:p>
        </p:txBody>
      </p:sp>
      <p:pic>
        <p:nvPicPr>
          <p:cNvPr id="50228" name="GO8.AVI">
            <a:hlinkClick r:id="" action="ppaction://media"/>
          </p:cNvPr>
          <p:cNvPicPr>
            <a:picLocks noRot="1" noChangeAspect="1" noChangeArrowheads="1"/>
          </p:cNvPicPr>
          <p:nvPr>
            <a:videoFile r:link="rId2"/>
          </p:nvPr>
        </p:nvPicPr>
        <p:blipFill>
          <a:blip r:embed="rId6"/>
          <a:srcRect l="6479" r="45947" b="54465"/>
          <a:stretch>
            <a:fillRect/>
          </a:stretch>
        </p:blipFill>
        <p:spPr bwMode="auto">
          <a:xfrm>
            <a:off x="6011863" y="549275"/>
            <a:ext cx="2646362" cy="1700213"/>
          </a:xfrm>
          <a:prstGeom prst="rect">
            <a:avLst/>
          </a:prstGeom>
          <a:noFill/>
          <a:ln w="9525">
            <a:noFill/>
            <a:miter lim="800000"/>
            <a:headEnd/>
            <a:tailEnd/>
          </a:ln>
        </p:spPr>
      </p:pic>
      <p:grpSp>
        <p:nvGrpSpPr>
          <p:cNvPr id="9" name="Group 127"/>
          <p:cNvGrpSpPr>
            <a:grpSpLocks/>
          </p:cNvGrpSpPr>
          <p:nvPr/>
        </p:nvGrpSpPr>
        <p:grpSpPr bwMode="auto">
          <a:xfrm>
            <a:off x="6084888" y="4652963"/>
            <a:ext cx="2735262" cy="1874837"/>
            <a:chOff x="1565" y="2840"/>
            <a:chExt cx="1723" cy="1181"/>
          </a:xfrm>
        </p:grpSpPr>
        <p:sp>
          <p:nvSpPr>
            <p:cNvPr id="16397" name="Rectangle 54"/>
            <p:cNvSpPr>
              <a:spLocks noChangeArrowheads="1"/>
            </p:cNvSpPr>
            <p:nvPr/>
          </p:nvSpPr>
          <p:spPr bwMode="auto">
            <a:xfrm>
              <a:off x="1791" y="3158"/>
              <a:ext cx="136" cy="272"/>
            </a:xfrm>
            <a:prstGeom prst="rect">
              <a:avLst/>
            </a:prstGeom>
            <a:noFill/>
            <a:ln w="9525">
              <a:noFill/>
              <a:miter lim="800000"/>
              <a:headEnd/>
              <a:tailEnd/>
            </a:ln>
          </p:spPr>
          <p:txBody>
            <a:bodyPr lIns="12700" tIns="12700" rIns="12700" bIns="12700"/>
            <a:lstStyle/>
            <a:p>
              <a:pPr algn="just" eaLnBrk="0" hangingPunct="0">
                <a:lnSpc>
                  <a:spcPct val="120000"/>
                </a:lnSpc>
              </a:pPr>
              <a:r>
                <a:rPr lang="en-US" altLang="zh-CN" sz="2400" b="1" i="1">
                  <a:latin typeface="Times New Roman" pitchFamily="18" charset="0"/>
                  <a:ea typeface="黑体" pitchFamily="49" charset="-122"/>
                </a:rPr>
                <a:t>o</a:t>
              </a:r>
              <a:r>
                <a:rPr lang="en-US" altLang="zh-CN" sz="1600" b="1" i="1">
                  <a:latin typeface="Times New Roman" pitchFamily="18" charset="0"/>
                  <a:ea typeface="黑体" pitchFamily="49" charset="-122"/>
                </a:rPr>
                <a:t>  </a:t>
              </a:r>
              <a:endParaRPr lang="en-US" altLang="zh-CN" sz="1000" b="1" i="1">
                <a:latin typeface="Times New Roman" pitchFamily="18" charset="0"/>
                <a:ea typeface="黑体" pitchFamily="49" charset="-122"/>
              </a:endParaRPr>
            </a:p>
          </p:txBody>
        </p:sp>
        <p:sp>
          <p:nvSpPr>
            <p:cNvPr id="16398" name="Rectangle 55"/>
            <p:cNvSpPr>
              <a:spLocks noChangeArrowheads="1"/>
            </p:cNvSpPr>
            <p:nvPr/>
          </p:nvSpPr>
          <p:spPr bwMode="auto">
            <a:xfrm>
              <a:off x="1565" y="3657"/>
              <a:ext cx="362" cy="364"/>
            </a:xfrm>
            <a:prstGeom prst="rect">
              <a:avLst/>
            </a:prstGeom>
            <a:noFill/>
            <a:ln w="6350">
              <a:noFill/>
              <a:miter lim="800000"/>
              <a:headEnd/>
              <a:tailEnd/>
            </a:ln>
          </p:spPr>
          <p:txBody>
            <a:bodyPr lIns="12700" tIns="12700" rIns="12700" bIns="12700"/>
            <a:lstStyle/>
            <a:p>
              <a:pPr algn="just" eaLnBrk="0" hangingPunct="0">
                <a:lnSpc>
                  <a:spcPct val="120000"/>
                </a:lnSpc>
              </a:pPr>
              <a:r>
                <a:rPr lang="en-US" altLang="zh-CN" sz="2400">
                  <a:latin typeface="黑体" pitchFamily="49" charset="-122"/>
                  <a:ea typeface="黑体" pitchFamily="49" charset="-122"/>
                </a:rPr>
                <a:t> </a:t>
              </a:r>
              <a:r>
                <a:rPr lang="en-US" altLang="zh-CN" sz="2000" b="1" i="1">
                  <a:solidFill>
                    <a:srgbClr val="FF0000"/>
                  </a:solidFill>
                  <a:latin typeface="Symbol" pitchFamily="18" charset="2"/>
                  <a:ea typeface="黑体" pitchFamily="49" charset="-122"/>
                </a:rPr>
                <a:t>e</a:t>
              </a:r>
              <a:r>
                <a:rPr lang="zh-CN" altLang="en-US" sz="2000" baseline="-25000">
                  <a:solidFill>
                    <a:srgbClr val="FF0000"/>
                  </a:solidFill>
                  <a:latin typeface="黑体" pitchFamily="49" charset="-122"/>
                  <a:ea typeface="黑体" pitchFamily="49" charset="-122"/>
                </a:rPr>
                <a:t>感</a:t>
              </a:r>
              <a:r>
                <a:rPr lang="zh-CN" altLang="en-US" sz="1600" baseline="-25000">
                  <a:solidFill>
                    <a:srgbClr val="FF0000"/>
                  </a:solidFill>
                  <a:latin typeface="黑体" pitchFamily="49" charset="-122"/>
                  <a:ea typeface="黑体" pitchFamily="49" charset="-122"/>
                </a:rPr>
                <a:t> </a:t>
              </a:r>
              <a:endParaRPr lang="zh-CN" altLang="en-US" sz="1600" i="1" baseline="-25000">
                <a:solidFill>
                  <a:srgbClr val="FF0000"/>
                </a:solidFill>
                <a:latin typeface="黑体" pitchFamily="49" charset="-122"/>
                <a:ea typeface="黑体" pitchFamily="49" charset="-122"/>
              </a:endParaRPr>
            </a:p>
          </p:txBody>
        </p:sp>
        <p:sp>
          <p:nvSpPr>
            <p:cNvPr id="16399" name="Rectangle 56"/>
            <p:cNvSpPr>
              <a:spLocks noChangeArrowheads="1"/>
            </p:cNvSpPr>
            <p:nvPr/>
          </p:nvSpPr>
          <p:spPr bwMode="auto">
            <a:xfrm>
              <a:off x="2880" y="3022"/>
              <a:ext cx="128" cy="225"/>
            </a:xfrm>
            <a:prstGeom prst="rect">
              <a:avLst/>
            </a:prstGeom>
            <a:noFill/>
            <a:ln w="6350">
              <a:noFill/>
              <a:miter lim="800000"/>
              <a:headEnd/>
              <a:tailEnd/>
            </a:ln>
          </p:spPr>
          <p:txBody>
            <a:bodyPr lIns="12700" tIns="12700" rIns="12700" bIns="12700"/>
            <a:lstStyle/>
            <a:p>
              <a:pPr algn="l" eaLnBrk="0" hangingPunct="0">
                <a:lnSpc>
                  <a:spcPct val="120000"/>
                </a:lnSpc>
              </a:pPr>
              <a:r>
                <a:rPr lang="en-US" altLang="zh-CN" sz="2400" b="1" i="1">
                  <a:latin typeface="Times New Roman" pitchFamily="18" charset="0"/>
                  <a:ea typeface="黑体" pitchFamily="49" charset="-122"/>
                </a:rPr>
                <a:t>T</a:t>
              </a:r>
            </a:p>
          </p:txBody>
        </p:sp>
        <p:sp>
          <p:nvSpPr>
            <p:cNvPr id="16400" name="Rectangle 57"/>
            <p:cNvSpPr>
              <a:spLocks noChangeArrowheads="1"/>
            </p:cNvSpPr>
            <p:nvPr/>
          </p:nvSpPr>
          <p:spPr bwMode="auto">
            <a:xfrm>
              <a:off x="3142" y="3249"/>
              <a:ext cx="146" cy="276"/>
            </a:xfrm>
            <a:prstGeom prst="rect">
              <a:avLst/>
            </a:prstGeom>
            <a:noFill/>
            <a:ln w="6350">
              <a:noFill/>
              <a:miter lim="800000"/>
              <a:headEnd/>
              <a:tailEnd/>
            </a:ln>
          </p:spPr>
          <p:txBody>
            <a:bodyPr lIns="12700" tIns="12700" rIns="12700" bIns="12700"/>
            <a:lstStyle/>
            <a:p>
              <a:pPr algn="just" eaLnBrk="0" hangingPunct="0">
                <a:lnSpc>
                  <a:spcPct val="120000"/>
                </a:lnSpc>
              </a:pPr>
              <a:r>
                <a:rPr lang="en-US" altLang="zh-CN" sz="2400" b="1" i="1">
                  <a:latin typeface="Times New Roman" pitchFamily="18" charset="0"/>
                  <a:ea typeface="黑体" pitchFamily="49" charset="-122"/>
                </a:rPr>
                <a:t>t</a:t>
              </a:r>
            </a:p>
          </p:txBody>
        </p:sp>
        <p:sp>
          <p:nvSpPr>
            <p:cNvPr id="16401" name="Text Box 58"/>
            <p:cNvSpPr txBox="1">
              <a:spLocks noChangeArrowheads="1"/>
            </p:cNvSpPr>
            <p:nvPr/>
          </p:nvSpPr>
          <p:spPr bwMode="auto">
            <a:xfrm>
              <a:off x="1746" y="2840"/>
              <a:ext cx="182" cy="317"/>
            </a:xfrm>
            <a:prstGeom prst="rect">
              <a:avLst/>
            </a:prstGeom>
            <a:solidFill>
              <a:srgbClr val="FFFFFF"/>
            </a:solidFill>
            <a:ln w="9525">
              <a:noFill/>
              <a:miter lim="800000"/>
              <a:headEnd/>
              <a:tailEnd/>
            </a:ln>
          </p:spPr>
          <p:txBody>
            <a:bodyPr/>
            <a:lstStyle/>
            <a:p>
              <a:pPr algn="just" eaLnBrk="0" hangingPunct="0">
                <a:lnSpc>
                  <a:spcPct val="120000"/>
                </a:lnSpc>
              </a:pPr>
              <a:r>
                <a:rPr lang="en-US" altLang="zh-CN" sz="2400" b="1" i="1">
                  <a:solidFill>
                    <a:srgbClr val="FF0000"/>
                  </a:solidFill>
                  <a:latin typeface="Times New Roman" pitchFamily="18" charset="0"/>
                  <a:ea typeface="黑体" pitchFamily="49" charset="-122"/>
                </a:rPr>
                <a:t>B</a:t>
              </a:r>
              <a:r>
                <a:rPr lang="en-US" altLang="zh-CN" sz="1000" b="1" i="1">
                  <a:solidFill>
                    <a:srgbClr val="FF0000"/>
                  </a:solidFill>
                  <a:latin typeface="Times New Roman" pitchFamily="18" charset="0"/>
                  <a:ea typeface="黑体" pitchFamily="49" charset="-122"/>
                </a:rPr>
                <a:t>    </a:t>
              </a:r>
            </a:p>
          </p:txBody>
        </p:sp>
        <p:grpSp>
          <p:nvGrpSpPr>
            <p:cNvPr id="16402" name="Group 59"/>
            <p:cNvGrpSpPr>
              <a:grpSpLocks/>
            </p:cNvGrpSpPr>
            <p:nvPr/>
          </p:nvGrpSpPr>
          <p:grpSpPr bwMode="auto">
            <a:xfrm>
              <a:off x="1950" y="3080"/>
              <a:ext cx="978" cy="492"/>
              <a:chOff x="0" y="0"/>
              <a:chExt cx="20001" cy="20000"/>
            </a:xfrm>
          </p:grpSpPr>
          <p:sp>
            <p:nvSpPr>
              <p:cNvPr id="16468" name="Freeform 60"/>
              <p:cNvSpPr>
                <a:spLocks/>
              </p:cNvSpPr>
              <p:nvPr/>
            </p:nvSpPr>
            <p:spPr bwMode="auto">
              <a:xfrm>
                <a:off x="0" y="0"/>
                <a:ext cx="9749" cy="10362"/>
              </a:xfrm>
              <a:custGeom>
                <a:avLst/>
                <a:gdLst>
                  <a:gd name="T0" fmla="*/ 6 w 20000"/>
                  <a:gd name="T1" fmla="*/ 691 h 20000"/>
                  <a:gd name="T2" fmla="*/ 19 w 20000"/>
                  <a:gd name="T3" fmla="*/ 646 h 20000"/>
                  <a:gd name="T4" fmla="*/ 30 w 20000"/>
                  <a:gd name="T5" fmla="*/ 600 h 20000"/>
                  <a:gd name="T6" fmla="*/ 43 w 20000"/>
                  <a:gd name="T7" fmla="*/ 556 h 20000"/>
                  <a:gd name="T8" fmla="*/ 55 w 20000"/>
                  <a:gd name="T9" fmla="*/ 513 h 20000"/>
                  <a:gd name="T10" fmla="*/ 67 w 20000"/>
                  <a:gd name="T11" fmla="*/ 470 h 20000"/>
                  <a:gd name="T12" fmla="*/ 79 w 20000"/>
                  <a:gd name="T13" fmla="*/ 427 h 20000"/>
                  <a:gd name="T14" fmla="*/ 92 w 20000"/>
                  <a:gd name="T15" fmla="*/ 386 h 20000"/>
                  <a:gd name="T16" fmla="*/ 104 w 20000"/>
                  <a:gd name="T17" fmla="*/ 347 h 20000"/>
                  <a:gd name="T18" fmla="*/ 116 w 20000"/>
                  <a:gd name="T19" fmla="*/ 307 h 20000"/>
                  <a:gd name="T20" fmla="*/ 128 w 20000"/>
                  <a:gd name="T21" fmla="*/ 270 h 20000"/>
                  <a:gd name="T22" fmla="*/ 141 w 20000"/>
                  <a:gd name="T23" fmla="*/ 236 h 20000"/>
                  <a:gd name="T24" fmla="*/ 153 w 20000"/>
                  <a:gd name="T25" fmla="*/ 203 h 20000"/>
                  <a:gd name="T26" fmla="*/ 164 w 20000"/>
                  <a:gd name="T27" fmla="*/ 171 h 20000"/>
                  <a:gd name="T28" fmla="*/ 177 w 20000"/>
                  <a:gd name="T29" fmla="*/ 141 h 20000"/>
                  <a:gd name="T30" fmla="*/ 189 w 20000"/>
                  <a:gd name="T31" fmla="*/ 115 h 20000"/>
                  <a:gd name="T32" fmla="*/ 200 w 20000"/>
                  <a:gd name="T33" fmla="*/ 90 h 20000"/>
                  <a:gd name="T34" fmla="*/ 213 w 20000"/>
                  <a:gd name="T35" fmla="*/ 68 h 20000"/>
                  <a:gd name="T36" fmla="*/ 225 w 20000"/>
                  <a:gd name="T37" fmla="*/ 48 h 20000"/>
                  <a:gd name="T38" fmla="*/ 236 w 20000"/>
                  <a:gd name="T39" fmla="*/ 32 h 20000"/>
                  <a:gd name="T40" fmla="*/ 248 w 20000"/>
                  <a:gd name="T41" fmla="*/ 19 h 20000"/>
                  <a:gd name="T42" fmla="*/ 260 w 20000"/>
                  <a:gd name="T43" fmla="*/ 9 h 20000"/>
                  <a:gd name="T44" fmla="*/ 271 w 20000"/>
                  <a:gd name="T45" fmla="*/ 3 h 20000"/>
                  <a:gd name="T46" fmla="*/ 283 w 20000"/>
                  <a:gd name="T47" fmla="*/ 0 h 20000"/>
                  <a:gd name="T48" fmla="*/ 294 w 20000"/>
                  <a:gd name="T49" fmla="*/ 1 h 20000"/>
                  <a:gd name="T50" fmla="*/ 306 w 20000"/>
                  <a:gd name="T51" fmla="*/ 8 h 20000"/>
                  <a:gd name="T52" fmla="*/ 318 w 20000"/>
                  <a:gd name="T53" fmla="*/ 19 h 20000"/>
                  <a:gd name="T54" fmla="*/ 330 w 20000"/>
                  <a:gd name="T55" fmla="*/ 37 h 20000"/>
                  <a:gd name="T56" fmla="*/ 343 w 20000"/>
                  <a:gd name="T57" fmla="*/ 58 h 20000"/>
                  <a:gd name="T58" fmla="*/ 355 w 20000"/>
                  <a:gd name="T59" fmla="*/ 85 h 20000"/>
                  <a:gd name="T60" fmla="*/ 369 w 20000"/>
                  <a:gd name="T61" fmla="*/ 116 h 20000"/>
                  <a:gd name="T62" fmla="*/ 381 w 20000"/>
                  <a:gd name="T63" fmla="*/ 149 h 20000"/>
                  <a:gd name="T64" fmla="*/ 393 w 20000"/>
                  <a:gd name="T65" fmla="*/ 184 h 20000"/>
                  <a:gd name="T66" fmla="*/ 406 w 20000"/>
                  <a:gd name="T67" fmla="*/ 224 h 20000"/>
                  <a:gd name="T68" fmla="*/ 419 w 20000"/>
                  <a:gd name="T69" fmla="*/ 264 h 20000"/>
                  <a:gd name="T70" fmla="*/ 431 w 20000"/>
                  <a:gd name="T71" fmla="*/ 306 h 20000"/>
                  <a:gd name="T72" fmla="*/ 443 w 20000"/>
                  <a:gd name="T73" fmla="*/ 349 h 20000"/>
                  <a:gd name="T74" fmla="*/ 455 w 20000"/>
                  <a:gd name="T75" fmla="*/ 391 h 20000"/>
                  <a:gd name="T76" fmla="*/ 466 w 20000"/>
                  <a:gd name="T77" fmla="*/ 434 h 20000"/>
                  <a:gd name="T78" fmla="*/ 478 w 20000"/>
                  <a:gd name="T79" fmla="*/ 476 h 20000"/>
                  <a:gd name="T80" fmla="*/ 488 w 20000"/>
                  <a:gd name="T81" fmla="*/ 517 h 20000"/>
                  <a:gd name="T82" fmla="*/ 499 w 20000"/>
                  <a:gd name="T83" fmla="*/ 557 h 20000"/>
                  <a:gd name="T84" fmla="*/ 508 w 20000"/>
                  <a:gd name="T85" fmla="*/ 595 h 20000"/>
                  <a:gd name="T86" fmla="*/ 517 w 20000"/>
                  <a:gd name="T87" fmla="*/ 629 h 20000"/>
                  <a:gd name="T88" fmla="*/ 525 w 20000"/>
                  <a:gd name="T89" fmla="*/ 663 h 20000"/>
                  <a:gd name="T90" fmla="*/ 534 w 20000"/>
                  <a:gd name="T91" fmla="*/ 692 h 20000"/>
                  <a:gd name="T92" fmla="*/ 541 w 20000"/>
                  <a:gd name="T93" fmla="*/ 716 h 20000"/>
                  <a:gd name="T94" fmla="*/ 547 w 20000"/>
                  <a:gd name="T95" fmla="*/ 738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01"/>
                    </a:moveTo>
                    <a:lnTo>
                      <a:pt x="225" y="18502"/>
                    </a:lnTo>
                    <a:lnTo>
                      <a:pt x="437" y="17889"/>
                    </a:lnTo>
                    <a:lnTo>
                      <a:pt x="662" y="17290"/>
                    </a:lnTo>
                    <a:lnTo>
                      <a:pt x="887" y="16662"/>
                    </a:lnTo>
                    <a:lnTo>
                      <a:pt x="1099" y="16077"/>
                    </a:lnTo>
                    <a:lnTo>
                      <a:pt x="1325" y="15492"/>
                    </a:lnTo>
                    <a:lnTo>
                      <a:pt x="1550" y="14893"/>
                    </a:lnTo>
                    <a:lnTo>
                      <a:pt x="1762" y="14308"/>
                    </a:lnTo>
                    <a:lnTo>
                      <a:pt x="1987" y="13738"/>
                    </a:lnTo>
                    <a:lnTo>
                      <a:pt x="2225" y="13153"/>
                    </a:lnTo>
                    <a:lnTo>
                      <a:pt x="2450" y="12582"/>
                    </a:lnTo>
                    <a:lnTo>
                      <a:pt x="2675" y="12026"/>
                    </a:lnTo>
                    <a:lnTo>
                      <a:pt x="2887" y="11455"/>
                    </a:lnTo>
                    <a:lnTo>
                      <a:pt x="3113" y="10884"/>
                    </a:lnTo>
                    <a:lnTo>
                      <a:pt x="3338" y="10342"/>
                    </a:lnTo>
                    <a:lnTo>
                      <a:pt x="3550" y="9815"/>
                    </a:lnTo>
                    <a:lnTo>
                      <a:pt x="3775" y="9287"/>
                    </a:lnTo>
                    <a:lnTo>
                      <a:pt x="4000" y="8759"/>
                    </a:lnTo>
                    <a:lnTo>
                      <a:pt x="4225" y="8231"/>
                    </a:lnTo>
                    <a:lnTo>
                      <a:pt x="4437" y="7732"/>
                    </a:lnTo>
                    <a:lnTo>
                      <a:pt x="4662" y="7247"/>
                    </a:lnTo>
                    <a:lnTo>
                      <a:pt x="4887" y="6805"/>
                    </a:lnTo>
                    <a:lnTo>
                      <a:pt x="5113" y="6334"/>
                    </a:lnTo>
                    <a:lnTo>
                      <a:pt x="5338" y="5892"/>
                    </a:lnTo>
                    <a:lnTo>
                      <a:pt x="5550" y="5421"/>
                    </a:lnTo>
                    <a:lnTo>
                      <a:pt x="5762" y="4993"/>
                    </a:lnTo>
                    <a:lnTo>
                      <a:pt x="5974" y="4579"/>
                    </a:lnTo>
                    <a:lnTo>
                      <a:pt x="6199" y="4165"/>
                    </a:lnTo>
                    <a:lnTo>
                      <a:pt x="6424" y="3780"/>
                    </a:lnTo>
                    <a:lnTo>
                      <a:pt x="6636" y="3409"/>
                    </a:lnTo>
                    <a:lnTo>
                      <a:pt x="6861" y="3067"/>
                    </a:lnTo>
                    <a:lnTo>
                      <a:pt x="7086" y="2725"/>
                    </a:lnTo>
                    <a:lnTo>
                      <a:pt x="7285" y="2411"/>
                    </a:lnTo>
                    <a:lnTo>
                      <a:pt x="7510" y="2097"/>
                    </a:lnTo>
                    <a:lnTo>
                      <a:pt x="7735" y="1826"/>
                    </a:lnTo>
                    <a:lnTo>
                      <a:pt x="7960" y="1555"/>
                    </a:lnTo>
                    <a:lnTo>
                      <a:pt x="8159" y="1298"/>
                    </a:lnTo>
                    <a:lnTo>
                      <a:pt x="8371" y="1056"/>
                    </a:lnTo>
                    <a:lnTo>
                      <a:pt x="8583" y="842"/>
                    </a:lnTo>
                    <a:lnTo>
                      <a:pt x="8808" y="670"/>
                    </a:lnTo>
                    <a:lnTo>
                      <a:pt x="9020" y="499"/>
                    </a:lnTo>
                    <a:lnTo>
                      <a:pt x="9232" y="385"/>
                    </a:lnTo>
                    <a:lnTo>
                      <a:pt x="9444" y="243"/>
                    </a:lnTo>
                    <a:lnTo>
                      <a:pt x="9642" y="128"/>
                    </a:lnTo>
                    <a:lnTo>
                      <a:pt x="9854" y="86"/>
                    </a:lnTo>
                    <a:lnTo>
                      <a:pt x="10079" y="14"/>
                    </a:lnTo>
                    <a:lnTo>
                      <a:pt x="10291" y="0"/>
                    </a:lnTo>
                    <a:lnTo>
                      <a:pt x="10503" y="14"/>
                    </a:lnTo>
                    <a:lnTo>
                      <a:pt x="10702" y="14"/>
                    </a:lnTo>
                    <a:lnTo>
                      <a:pt x="10914" y="86"/>
                    </a:lnTo>
                    <a:lnTo>
                      <a:pt x="11126" y="214"/>
                    </a:lnTo>
                    <a:lnTo>
                      <a:pt x="11338" y="328"/>
                    </a:lnTo>
                    <a:lnTo>
                      <a:pt x="11563" y="514"/>
                    </a:lnTo>
                    <a:lnTo>
                      <a:pt x="11788" y="756"/>
                    </a:lnTo>
                    <a:lnTo>
                      <a:pt x="12000" y="984"/>
                    </a:lnTo>
                    <a:lnTo>
                      <a:pt x="12225" y="1255"/>
                    </a:lnTo>
                    <a:lnTo>
                      <a:pt x="12450" y="1555"/>
                    </a:lnTo>
                    <a:lnTo>
                      <a:pt x="12689" y="1912"/>
                    </a:lnTo>
                    <a:lnTo>
                      <a:pt x="12914" y="2268"/>
                    </a:lnTo>
                    <a:lnTo>
                      <a:pt x="13152" y="2696"/>
                    </a:lnTo>
                    <a:lnTo>
                      <a:pt x="13377" y="3096"/>
                    </a:lnTo>
                    <a:lnTo>
                      <a:pt x="13616" y="3524"/>
                    </a:lnTo>
                    <a:lnTo>
                      <a:pt x="13841" y="3980"/>
                    </a:lnTo>
                    <a:lnTo>
                      <a:pt x="14066" y="4451"/>
                    </a:lnTo>
                    <a:lnTo>
                      <a:pt x="14291" y="4936"/>
                    </a:lnTo>
                    <a:lnTo>
                      <a:pt x="14530" y="5464"/>
                    </a:lnTo>
                    <a:lnTo>
                      <a:pt x="14755" y="6006"/>
                    </a:lnTo>
                    <a:lnTo>
                      <a:pt x="14993" y="6519"/>
                    </a:lnTo>
                    <a:lnTo>
                      <a:pt x="15219" y="7061"/>
                    </a:lnTo>
                    <a:lnTo>
                      <a:pt x="15444" y="7632"/>
                    </a:lnTo>
                    <a:lnTo>
                      <a:pt x="15682" y="8188"/>
                    </a:lnTo>
                    <a:lnTo>
                      <a:pt x="15894" y="8773"/>
                    </a:lnTo>
                    <a:lnTo>
                      <a:pt x="16106" y="9358"/>
                    </a:lnTo>
                    <a:lnTo>
                      <a:pt x="16318" y="9914"/>
                    </a:lnTo>
                    <a:lnTo>
                      <a:pt x="16530" y="10471"/>
                    </a:lnTo>
                    <a:lnTo>
                      <a:pt x="16742" y="11041"/>
                    </a:lnTo>
                    <a:lnTo>
                      <a:pt x="16954" y="11626"/>
                    </a:lnTo>
                    <a:lnTo>
                      <a:pt x="17152" y="12183"/>
                    </a:lnTo>
                    <a:lnTo>
                      <a:pt x="17351" y="12753"/>
                    </a:lnTo>
                    <a:lnTo>
                      <a:pt x="17550" y="13295"/>
                    </a:lnTo>
                    <a:lnTo>
                      <a:pt x="17735" y="13852"/>
                    </a:lnTo>
                    <a:lnTo>
                      <a:pt x="17934" y="14394"/>
                    </a:lnTo>
                    <a:lnTo>
                      <a:pt x="18119" y="14936"/>
                    </a:lnTo>
                    <a:lnTo>
                      <a:pt x="18291" y="15435"/>
                    </a:lnTo>
                    <a:lnTo>
                      <a:pt x="18464" y="15949"/>
                    </a:lnTo>
                    <a:lnTo>
                      <a:pt x="18636" y="16419"/>
                    </a:lnTo>
                    <a:lnTo>
                      <a:pt x="18795" y="16862"/>
                    </a:lnTo>
                    <a:lnTo>
                      <a:pt x="18954" y="17332"/>
                    </a:lnTo>
                    <a:lnTo>
                      <a:pt x="19099" y="17746"/>
                    </a:lnTo>
                    <a:lnTo>
                      <a:pt x="19258" y="18146"/>
                    </a:lnTo>
                    <a:lnTo>
                      <a:pt x="19391" y="18545"/>
                    </a:lnTo>
                    <a:lnTo>
                      <a:pt x="19523" y="18887"/>
                    </a:lnTo>
                    <a:lnTo>
                      <a:pt x="19642" y="19187"/>
                    </a:lnTo>
                    <a:lnTo>
                      <a:pt x="19775" y="19515"/>
                    </a:lnTo>
                    <a:lnTo>
                      <a:pt x="19881" y="19772"/>
                    </a:lnTo>
                    <a:lnTo>
                      <a:pt x="19987" y="19986"/>
                    </a:lnTo>
                  </a:path>
                </a:pathLst>
              </a:custGeom>
              <a:noFill/>
              <a:ln w="28575">
                <a:solidFill>
                  <a:srgbClr val="FF0000"/>
                </a:solidFill>
                <a:round/>
                <a:headEnd/>
                <a:tailEnd/>
              </a:ln>
            </p:spPr>
            <p:txBody>
              <a:bodyPr/>
              <a:lstStyle/>
              <a:p>
                <a:endParaRPr lang="zh-CN" altLang="en-US"/>
              </a:p>
            </p:txBody>
          </p:sp>
          <p:sp>
            <p:nvSpPr>
              <p:cNvPr id="16469" name="Freeform 61"/>
              <p:cNvSpPr>
                <a:spLocks/>
              </p:cNvSpPr>
              <p:nvPr/>
            </p:nvSpPr>
            <p:spPr bwMode="auto">
              <a:xfrm>
                <a:off x="9638" y="9984"/>
                <a:ext cx="10363" cy="10016"/>
              </a:xfrm>
              <a:custGeom>
                <a:avLst/>
                <a:gdLst>
                  <a:gd name="T0" fmla="*/ 7 w 20000"/>
                  <a:gd name="T1" fmla="*/ 20 h 20000"/>
                  <a:gd name="T2" fmla="*/ 22 w 20000"/>
                  <a:gd name="T3" fmla="*/ 59 h 20000"/>
                  <a:gd name="T4" fmla="*/ 37 w 20000"/>
                  <a:gd name="T5" fmla="*/ 99 h 20000"/>
                  <a:gd name="T6" fmla="*/ 52 w 20000"/>
                  <a:gd name="T7" fmla="*/ 137 h 20000"/>
                  <a:gd name="T8" fmla="*/ 67 w 20000"/>
                  <a:gd name="T9" fmla="*/ 175 h 20000"/>
                  <a:gd name="T10" fmla="*/ 82 w 20000"/>
                  <a:gd name="T11" fmla="*/ 212 h 20000"/>
                  <a:gd name="T12" fmla="*/ 96 w 20000"/>
                  <a:gd name="T13" fmla="*/ 249 h 20000"/>
                  <a:gd name="T14" fmla="*/ 110 w 20000"/>
                  <a:gd name="T15" fmla="*/ 284 h 20000"/>
                  <a:gd name="T16" fmla="*/ 125 w 20000"/>
                  <a:gd name="T17" fmla="*/ 320 h 20000"/>
                  <a:gd name="T18" fmla="*/ 140 w 20000"/>
                  <a:gd name="T19" fmla="*/ 353 h 20000"/>
                  <a:gd name="T20" fmla="*/ 155 w 20000"/>
                  <a:gd name="T21" fmla="*/ 386 h 20000"/>
                  <a:gd name="T22" fmla="*/ 171 w 20000"/>
                  <a:gd name="T23" fmla="*/ 416 h 20000"/>
                  <a:gd name="T24" fmla="*/ 186 w 20000"/>
                  <a:gd name="T25" fmla="*/ 445 h 20000"/>
                  <a:gd name="T26" fmla="*/ 201 w 20000"/>
                  <a:gd name="T27" fmla="*/ 473 h 20000"/>
                  <a:gd name="T28" fmla="*/ 216 w 20000"/>
                  <a:gd name="T29" fmla="*/ 499 h 20000"/>
                  <a:gd name="T30" fmla="*/ 231 w 20000"/>
                  <a:gd name="T31" fmla="*/ 523 h 20000"/>
                  <a:gd name="T32" fmla="*/ 246 w 20000"/>
                  <a:gd name="T33" fmla="*/ 545 h 20000"/>
                  <a:gd name="T34" fmla="*/ 261 w 20000"/>
                  <a:gd name="T35" fmla="*/ 564 h 20000"/>
                  <a:gd name="T36" fmla="*/ 277 w 20000"/>
                  <a:gd name="T37" fmla="*/ 582 h 20000"/>
                  <a:gd name="T38" fmla="*/ 292 w 20000"/>
                  <a:gd name="T39" fmla="*/ 597 h 20000"/>
                  <a:gd name="T40" fmla="*/ 308 w 20000"/>
                  <a:gd name="T41" fmla="*/ 609 h 20000"/>
                  <a:gd name="T42" fmla="*/ 323 w 20000"/>
                  <a:gd name="T43" fmla="*/ 618 h 20000"/>
                  <a:gd name="T44" fmla="*/ 338 w 20000"/>
                  <a:gd name="T45" fmla="*/ 625 h 20000"/>
                  <a:gd name="T46" fmla="*/ 354 w 20000"/>
                  <a:gd name="T47" fmla="*/ 629 h 20000"/>
                  <a:gd name="T48" fmla="*/ 370 w 20000"/>
                  <a:gd name="T49" fmla="*/ 630 h 20000"/>
                  <a:gd name="T50" fmla="*/ 386 w 20000"/>
                  <a:gd name="T51" fmla="*/ 624 h 20000"/>
                  <a:gd name="T52" fmla="*/ 403 w 20000"/>
                  <a:gd name="T53" fmla="*/ 616 h 20000"/>
                  <a:gd name="T54" fmla="*/ 420 w 20000"/>
                  <a:gd name="T55" fmla="*/ 602 h 20000"/>
                  <a:gd name="T56" fmla="*/ 438 w 20000"/>
                  <a:gd name="T57" fmla="*/ 584 h 20000"/>
                  <a:gd name="T58" fmla="*/ 456 w 20000"/>
                  <a:gd name="T59" fmla="*/ 564 h 20000"/>
                  <a:gd name="T60" fmla="*/ 475 w 20000"/>
                  <a:gd name="T61" fmla="*/ 540 h 20000"/>
                  <a:gd name="T62" fmla="*/ 493 w 20000"/>
                  <a:gd name="T63" fmla="*/ 513 h 20000"/>
                  <a:gd name="T64" fmla="*/ 512 w 20000"/>
                  <a:gd name="T65" fmla="*/ 484 h 20000"/>
                  <a:gd name="T66" fmla="*/ 531 w 20000"/>
                  <a:gd name="T67" fmla="*/ 452 h 20000"/>
                  <a:gd name="T68" fmla="*/ 549 w 20000"/>
                  <a:gd name="T69" fmla="*/ 419 h 20000"/>
                  <a:gd name="T70" fmla="*/ 568 w 20000"/>
                  <a:gd name="T71" fmla="*/ 386 h 20000"/>
                  <a:gd name="T72" fmla="*/ 586 w 20000"/>
                  <a:gd name="T73" fmla="*/ 350 h 20000"/>
                  <a:gd name="T74" fmla="*/ 603 w 20000"/>
                  <a:gd name="T75" fmla="*/ 317 h 20000"/>
                  <a:gd name="T76" fmla="*/ 620 w 20000"/>
                  <a:gd name="T77" fmla="*/ 280 h 20000"/>
                  <a:gd name="T78" fmla="*/ 638 w 20000"/>
                  <a:gd name="T79" fmla="*/ 246 h 20000"/>
                  <a:gd name="T80" fmla="*/ 653 w 20000"/>
                  <a:gd name="T81" fmla="*/ 213 h 20000"/>
                  <a:gd name="T82" fmla="*/ 669 w 20000"/>
                  <a:gd name="T83" fmla="*/ 180 h 20000"/>
                  <a:gd name="T84" fmla="*/ 684 w 20000"/>
                  <a:gd name="T85" fmla="*/ 149 h 20000"/>
                  <a:gd name="T86" fmla="*/ 698 w 20000"/>
                  <a:gd name="T87" fmla="*/ 121 h 20000"/>
                  <a:gd name="T88" fmla="*/ 710 w 20000"/>
                  <a:gd name="T89" fmla="*/ 94 h 20000"/>
                  <a:gd name="T90" fmla="*/ 722 w 20000"/>
                  <a:gd name="T91" fmla="*/ 71 h 20000"/>
                  <a:gd name="T92" fmla="*/ 733 w 20000"/>
                  <a:gd name="T93" fmla="*/ 51 h 20000"/>
                  <a:gd name="T94" fmla="*/ 743 w 20000"/>
                  <a:gd name="T95" fmla="*/ 33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99" y="620"/>
                    </a:lnTo>
                    <a:lnTo>
                      <a:pt x="399" y="1255"/>
                    </a:lnTo>
                    <a:lnTo>
                      <a:pt x="598" y="1875"/>
                    </a:lnTo>
                    <a:lnTo>
                      <a:pt x="798" y="2524"/>
                    </a:lnTo>
                    <a:lnTo>
                      <a:pt x="984" y="3144"/>
                    </a:lnTo>
                    <a:lnTo>
                      <a:pt x="1184" y="3734"/>
                    </a:lnTo>
                    <a:lnTo>
                      <a:pt x="1383" y="4354"/>
                    </a:lnTo>
                    <a:lnTo>
                      <a:pt x="1583" y="4959"/>
                    </a:lnTo>
                    <a:lnTo>
                      <a:pt x="1782" y="5565"/>
                    </a:lnTo>
                    <a:lnTo>
                      <a:pt x="1981" y="6155"/>
                    </a:lnTo>
                    <a:lnTo>
                      <a:pt x="2181" y="6745"/>
                    </a:lnTo>
                    <a:lnTo>
                      <a:pt x="2380" y="7292"/>
                    </a:lnTo>
                    <a:lnTo>
                      <a:pt x="2567" y="7897"/>
                    </a:lnTo>
                    <a:lnTo>
                      <a:pt x="2766" y="8472"/>
                    </a:lnTo>
                    <a:lnTo>
                      <a:pt x="2966" y="9033"/>
                    </a:lnTo>
                    <a:lnTo>
                      <a:pt x="3165" y="9594"/>
                    </a:lnTo>
                    <a:lnTo>
                      <a:pt x="3364" y="10140"/>
                    </a:lnTo>
                    <a:lnTo>
                      <a:pt x="3564" y="10672"/>
                    </a:lnTo>
                    <a:lnTo>
                      <a:pt x="3763" y="11203"/>
                    </a:lnTo>
                    <a:lnTo>
                      <a:pt x="3963" y="11720"/>
                    </a:lnTo>
                    <a:lnTo>
                      <a:pt x="4162" y="12236"/>
                    </a:lnTo>
                    <a:lnTo>
                      <a:pt x="4361" y="12708"/>
                    </a:lnTo>
                    <a:lnTo>
                      <a:pt x="4573" y="13196"/>
                    </a:lnTo>
                    <a:lnTo>
                      <a:pt x="4785" y="13653"/>
                    </a:lnTo>
                    <a:lnTo>
                      <a:pt x="4972" y="14140"/>
                    </a:lnTo>
                    <a:lnTo>
                      <a:pt x="5171" y="14583"/>
                    </a:lnTo>
                    <a:lnTo>
                      <a:pt x="5371" y="15011"/>
                    </a:lnTo>
                    <a:lnTo>
                      <a:pt x="5570" y="15439"/>
                    </a:lnTo>
                    <a:lnTo>
                      <a:pt x="5782" y="15838"/>
                    </a:lnTo>
                    <a:lnTo>
                      <a:pt x="5981" y="16207"/>
                    </a:lnTo>
                    <a:lnTo>
                      <a:pt x="6181" y="16605"/>
                    </a:lnTo>
                    <a:lnTo>
                      <a:pt x="6380" y="16959"/>
                    </a:lnTo>
                    <a:lnTo>
                      <a:pt x="6579" y="17299"/>
                    </a:lnTo>
                    <a:lnTo>
                      <a:pt x="6791" y="17609"/>
                    </a:lnTo>
                    <a:lnTo>
                      <a:pt x="6991" y="17919"/>
                    </a:lnTo>
                    <a:lnTo>
                      <a:pt x="7202" y="18185"/>
                    </a:lnTo>
                    <a:lnTo>
                      <a:pt x="7402" y="18480"/>
                    </a:lnTo>
                    <a:lnTo>
                      <a:pt x="7614" y="18731"/>
                    </a:lnTo>
                    <a:lnTo>
                      <a:pt x="7813" y="18952"/>
                    </a:lnTo>
                    <a:lnTo>
                      <a:pt x="8025" y="19159"/>
                    </a:lnTo>
                    <a:lnTo>
                      <a:pt x="8237" y="19336"/>
                    </a:lnTo>
                    <a:lnTo>
                      <a:pt x="8436" y="19483"/>
                    </a:lnTo>
                    <a:lnTo>
                      <a:pt x="8648" y="19646"/>
                    </a:lnTo>
                    <a:lnTo>
                      <a:pt x="8860" y="19764"/>
                    </a:lnTo>
                    <a:lnTo>
                      <a:pt x="9059" y="19867"/>
                    </a:lnTo>
                    <a:lnTo>
                      <a:pt x="9271" y="19911"/>
                    </a:lnTo>
                    <a:lnTo>
                      <a:pt x="9483" y="19956"/>
                    </a:lnTo>
                    <a:lnTo>
                      <a:pt x="9695" y="19956"/>
                    </a:lnTo>
                    <a:lnTo>
                      <a:pt x="9907" y="19985"/>
                    </a:lnTo>
                    <a:lnTo>
                      <a:pt x="10118" y="19941"/>
                    </a:lnTo>
                    <a:lnTo>
                      <a:pt x="10330" y="19823"/>
                    </a:lnTo>
                    <a:lnTo>
                      <a:pt x="10555" y="19720"/>
                    </a:lnTo>
                    <a:lnTo>
                      <a:pt x="10791" y="19557"/>
                    </a:lnTo>
                    <a:lnTo>
                      <a:pt x="11016" y="19336"/>
                    </a:lnTo>
                    <a:lnTo>
                      <a:pt x="11240" y="19129"/>
                    </a:lnTo>
                    <a:lnTo>
                      <a:pt x="11477" y="18849"/>
                    </a:lnTo>
                    <a:lnTo>
                      <a:pt x="11713" y="18554"/>
                    </a:lnTo>
                    <a:lnTo>
                      <a:pt x="11963" y="18244"/>
                    </a:lnTo>
                    <a:lnTo>
                      <a:pt x="12212" y="17904"/>
                    </a:lnTo>
                    <a:lnTo>
                      <a:pt x="12461" y="17520"/>
                    </a:lnTo>
                    <a:lnTo>
                      <a:pt x="12710" y="17137"/>
                    </a:lnTo>
                    <a:lnTo>
                      <a:pt x="12960" y="16738"/>
                    </a:lnTo>
                    <a:lnTo>
                      <a:pt x="13196" y="16280"/>
                    </a:lnTo>
                    <a:lnTo>
                      <a:pt x="13445" y="15823"/>
                    </a:lnTo>
                    <a:lnTo>
                      <a:pt x="13707" y="15351"/>
                    </a:lnTo>
                    <a:lnTo>
                      <a:pt x="13956" y="14834"/>
                    </a:lnTo>
                    <a:lnTo>
                      <a:pt x="14206" y="14362"/>
                    </a:lnTo>
                    <a:lnTo>
                      <a:pt x="14442" y="13830"/>
                    </a:lnTo>
                    <a:lnTo>
                      <a:pt x="14692" y="13314"/>
                    </a:lnTo>
                    <a:lnTo>
                      <a:pt x="14953" y="12768"/>
                    </a:lnTo>
                    <a:lnTo>
                      <a:pt x="15202" y="12236"/>
                    </a:lnTo>
                    <a:lnTo>
                      <a:pt x="15452" y="11661"/>
                    </a:lnTo>
                    <a:lnTo>
                      <a:pt x="15688" y="11114"/>
                    </a:lnTo>
                    <a:lnTo>
                      <a:pt x="15925" y="10583"/>
                    </a:lnTo>
                    <a:lnTo>
                      <a:pt x="16150" y="10037"/>
                    </a:lnTo>
                    <a:lnTo>
                      <a:pt x="16386" y="9461"/>
                    </a:lnTo>
                    <a:lnTo>
                      <a:pt x="16611" y="8900"/>
                    </a:lnTo>
                    <a:lnTo>
                      <a:pt x="16847" y="8369"/>
                    </a:lnTo>
                    <a:lnTo>
                      <a:pt x="17072" y="7823"/>
                    </a:lnTo>
                    <a:lnTo>
                      <a:pt x="17283" y="7292"/>
                    </a:lnTo>
                    <a:lnTo>
                      <a:pt x="17495" y="6760"/>
                    </a:lnTo>
                    <a:lnTo>
                      <a:pt x="17720" y="6244"/>
                    </a:lnTo>
                    <a:lnTo>
                      <a:pt x="17919" y="5727"/>
                    </a:lnTo>
                    <a:lnTo>
                      <a:pt x="18118" y="5210"/>
                    </a:lnTo>
                    <a:lnTo>
                      <a:pt x="18305" y="4738"/>
                    </a:lnTo>
                    <a:lnTo>
                      <a:pt x="18492" y="4295"/>
                    </a:lnTo>
                    <a:lnTo>
                      <a:pt x="18679" y="3852"/>
                    </a:lnTo>
                    <a:lnTo>
                      <a:pt x="18854" y="3395"/>
                    </a:lnTo>
                    <a:lnTo>
                      <a:pt x="19016" y="2982"/>
                    </a:lnTo>
                    <a:lnTo>
                      <a:pt x="19178" y="2613"/>
                    </a:lnTo>
                    <a:lnTo>
                      <a:pt x="19340" y="2244"/>
                    </a:lnTo>
                    <a:lnTo>
                      <a:pt x="19489" y="1904"/>
                    </a:lnTo>
                    <a:lnTo>
                      <a:pt x="19614" y="1609"/>
                    </a:lnTo>
                    <a:lnTo>
                      <a:pt x="19751" y="1314"/>
                    </a:lnTo>
                    <a:lnTo>
                      <a:pt x="19875" y="1048"/>
                    </a:lnTo>
                    <a:lnTo>
                      <a:pt x="19988" y="841"/>
                    </a:lnTo>
                  </a:path>
                </a:pathLst>
              </a:custGeom>
              <a:noFill/>
              <a:ln w="28575">
                <a:solidFill>
                  <a:srgbClr val="FF0000"/>
                </a:solidFill>
                <a:round/>
                <a:headEnd/>
                <a:tailEnd/>
              </a:ln>
            </p:spPr>
            <p:txBody>
              <a:bodyPr/>
              <a:lstStyle/>
              <a:p>
                <a:endParaRPr lang="zh-CN" altLang="en-US"/>
              </a:p>
            </p:txBody>
          </p:sp>
        </p:grpSp>
        <p:sp>
          <p:nvSpPr>
            <p:cNvPr id="16403" name="Line 62"/>
            <p:cNvSpPr>
              <a:spLocks noChangeShapeType="1"/>
            </p:cNvSpPr>
            <p:nvPr/>
          </p:nvSpPr>
          <p:spPr bwMode="auto">
            <a:xfrm>
              <a:off x="1952" y="3330"/>
              <a:ext cx="1209" cy="0"/>
            </a:xfrm>
            <a:prstGeom prst="line">
              <a:avLst/>
            </a:prstGeom>
            <a:noFill/>
            <a:ln w="9525">
              <a:solidFill>
                <a:srgbClr val="000000"/>
              </a:solidFill>
              <a:round/>
              <a:headEnd type="none" w="med" len="sm"/>
              <a:tailEnd type="triangle" w="med" len="sm"/>
            </a:ln>
          </p:spPr>
          <p:txBody>
            <a:bodyPr/>
            <a:lstStyle/>
            <a:p>
              <a:endParaRPr lang="zh-CN" altLang="en-US"/>
            </a:p>
          </p:txBody>
        </p:sp>
        <p:sp>
          <p:nvSpPr>
            <p:cNvPr id="16404" name="Line 63"/>
            <p:cNvSpPr>
              <a:spLocks noChangeShapeType="1"/>
            </p:cNvSpPr>
            <p:nvPr/>
          </p:nvSpPr>
          <p:spPr bwMode="auto">
            <a:xfrm>
              <a:off x="1946" y="2950"/>
              <a:ext cx="0" cy="1009"/>
            </a:xfrm>
            <a:prstGeom prst="line">
              <a:avLst/>
            </a:prstGeom>
            <a:noFill/>
            <a:ln w="9525">
              <a:solidFill>
                <a:srgbClr val="000000"/>
              </a:solidFill>
              <a:round/>
              <a:headEnd type="triangle" w="med" len="sm"/>
              <a:tailEnd type="none" w="med" len="sm"/>
            </a:ln>
          </p:spPr>
          <p:txBody>
            <a:bodyPr/>
            <a:lstStyle/>
            <a:p>
              <a:endParaRPr lang="zh-CN" altLang="en-US"/>
            </a:p>
          </p:txBody>
        </p:sp>
        <p:grpSp>
          <p:nvGrpSpPr>
            <p:cNvPr id="16405" name="Group 64"/>
            <p:cNvGrpSpPr>
              <a:grpSpLocks/>
            </p:cNvGrpSpPr>
            <p:nvPr/>
          </p:nvGrpSpPr>
          <p:grpSpPr bwMode="auto">
            <a:xfrm>
              <a:off x="2017" y="3116"/>
              <a:ext cx="343" cy="193"/>
              <a:chOff x="5170" y="12114"/>
              <a:chExt cx="1290" cy="735"/>
            </a:xfrm>
          </p:grpSpPr>
          <p:sp>
            <p:nvSpPr>
              <p:cNvPr id="16455" name="AutoShape 65"/>
              <p:cNvSpPr>
                <a:spLocks noChangeArrowheads="1"/>
              </p:cNvSpPr>
              <p:nvPr/>
            </p:nvSpPr>
            <p:spPr bwMode="auto">
              <a:xfrm>
                <a:off x="5754" y="1211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56" name="AutoShape 66"/>
              <p:cNvSpPr>
                <a:spLocks noChangeArrowheads="1"/>
              </p:cNvSpPr>
              <p:nvPr/>
            </p:nvSpPr>
            <p:spPr bwMode="auto">
              <a:xfrm>
                <a:off x="5484" y="1229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57" name="AutoShape 67"/>
              <p:cNvSpPr>
                <a:spLocks noChangeArrowheads="1"/>
              </p:cNvSpPr>
              <p:nvPr/>
            </p:nvSpPr>
            <p:spPr bwMode="auto">
              <a:xfrm>
                <a:off x="5784" y="1232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58" name="AutoShape 68"/>
              <p:cNvSpPr>
                <a:spLocks noChangeArrowheads="1"/>
              </p:cNvSpPr>
              <p:nvPr/>
            </p:nvSpPr>
            <p:spPr bwMode="auto">
              <a:xfrm>
                <a:off x="6070" y="1232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59" name="AutoShape 69"/>
              <p:cNvSpPr>
                <a:spLocks noChangeArrowheads="1"/>
              </p:cNvSpPr>
              <p:nvPr/>
            </p:nvSpPr>
            <p:spPr bwMode="auto">
              <a:xfrm>
                <a:off x="6400" y="12759"/>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60" name="AutoShape 70"/>
              <p:cNvSpPr>
                <a:spLocks noChangeArrowheads="1"/>
              </p:cNvSpPr>
              <p:nvPr/>
            </p:nvSpPr>
            <p:spPr bwMode="auto">
              <a:xfrm>
                <a:off x="6100" y="12759"/>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61" name="AutoShape 71"/>
              <p:cNvSpPr>
                <a:spLocks noChangeArrowheads="1"/>
              </p:cNvSpPr>
              <p:nvPr/>
            </p:nvSpPr>
            <p:spPr bwMode="auto">
              <a:xfrm>
                <a:off x="5844" y="1277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62" name="AutoShape 72"/>
              <p:cNvSpPr>
                <a:spLocks noChangeArrowheads="1"/>
              </p:cNvSpPr>
              <p:nvPr/>
            </p:nvSpPr>
            <p:spPr bwMode="auto">
              <a:xfrm>
                <a:off x="5544" y="12759"/>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63" name="AutoShape 73"/>
              <p:cNvSpPr>
                <a:spLocks noChangeArrowheads="1"/>
              </p:cNvSpPr>
              <p:nvPr/>
            </p:nvSpPr>
            <p:spPr bwMode="auto">
              <a:xfrm>
                <a:off x="5170" y="12789"/>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64" name="AutoShape 74"/>
              <p:cNvSpPr>
                <a:spLocks noChangeArrowheads="1"/>
              </p:cNvSpPr>
              <p:nvPr/>
            </p:nvSpPr>
            <p:spPr bwMode="auto">
              <a:xfrm>
                <a:off x="5274" y="12549"/>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65" name="AutoShape 75"/>
              <p:cNvSpPr>
                <a:spLocks noChangeArrowheads="1"/>
              </p:cNvSpPr>
              <p:nvPr/>
            </p:nvSpPr>
            <p:spPr bwMode="auto">
              <a:xfrm>
                <a:off x="5574" y="1253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66" name="AutoShape 76"/>
              <p:cNvSpPr>
                <a:spLocks noChangeArrowheads="1"/>
              </p:cNvSpPr>
              <p:nvPr/>
            </p:nvSpPr>
            <p:spPr bwMode="auto">
              <a:xfrm>
                <a:off x="5904" y="12534"/>
                <a:ext cx="60" cy="60"/>
              </a:xfrm>
              <a:prstGeom prst="flowChartConnector">
                <a:avLst/>
              </a:prstGeom>
              <a:solidFill>
                <a:srgbClr val="FF0000"/>
              </a:solidFill>
              <a:ln w="9525">
                <a:solidFill>
                  <a:srgbClr val="000000"/>
                </a:solidFill>
                <a:round/>
                <a:headEnd/>
                <a:tailEnd/>
              </a:ln>
            </p:spPr>
            <p:txBody>
              <a:bodyPr/>
              <a:lstStyle/>
              <a:p>
                <a:endParaRPr lang="zh-CN" altLang="en-US"/>
              </a:p>
            </p:txBody>
          </p:sp>
          <p:sp>
            <p:nvSpPr>
              <p:cNvPr id="16467" name="AutoShape 77"/>
              <p:cNvSpPr>
                <a:spLocks noChangeArrowheads="1"/>
              </p:cNvSpPr>
              <p:nvPr/>
            </p:nvSpPr>
            <p:spPr bwMode="auto">
              <a:xfrm>
                <a:off x="6220" y="12564"/>
                <a:ext cx="60" cy="60"/>
              </a:xfrm>
              <a:prstGeom prst="flowChartConnector">
                <a:avLst/>
              </a:prstGeom>
              <a:solidFill>
                <a:srgbClr val="FF0000"/>
              </a:solidFill>
              <a:ln w="9525">
                <a:solidFill>
                  <a:srgbClr val="000000"/>
                </a:solidFill>
                <a:round/>
                <a:headEnd/>
                <a:tailEnd/>
              </a:ln>
            </p:spPr>
            <p:txBody>
              <a:bodyPr/>
              <a:lstStyle/>
              <a:p>
                <a:endParaRPr lang="zh-CN" altLang="en-US"/>
              </a:p>
            </p:txBody>
          </p:sp>
        </p:grpSp>
        <p:grpSp>
          <p:nvGrpSpPr>
            <p:cNvPr id="16406" name="Group 78"/>
            <p:cNvGrpSpPr>
              <a:grpSpLocks/>
            </p:cNvGrpSpPr>
            <p:nvPr/>
          </p:nvGrpSpPr>
          <p:grpSpPr bwMode="auto">
            <a:xfrm>
              <a:off x="2481" y="3342"/>
              <a:ext cx="355" cy="205"/>
              <a:chOff x="6958" y="12990"/>
              <a:chExt cx="1336" cy="780"/>
            </a:xfrm>
          </p:grpSpPr>
          <p:grpSp>
            <p:nvGrpSpPr>
              <p:cNvPr id="16416" name="Group 79"/>
              <p:cNvGrpSpPr>
                <a:grpSpLocks/>
              </p:cNvGrpSpPr>
              <p:nvPr/>
            </p:nvGrpSpPr>
            <p:grpSpPr bwMode="auto">
              <a:xfrm>
                <a:off x="6958" y="13020"/>
                <a:ext cx="76" cy="60"/>
                <a:chOff x="3584" y="13275"/>
                <a:chExt cx="76" cy="60"/>
              </a:xfrm>
            </p:grpSpPr>
            <p:sp>
              <p:nvSpPr>
                <p:cNvPr id="16453" name="Line 80"/>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54" name="Line 81"/>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17" name="Group 82"/>
              <p:cNvGrpSpPr>
                <a:grpSpLocks/>
              </p:cNvGrpSpPr>
              <p:nvPr/>
            </p:nvGrpSpPr>
            <p:grpSpPr bwMode="auto">
              <a:xfrm>
                <a:off x="7274" y="13020"/>
                <a:ext cx="76" cy="60"/>
                <a:chOff x="3584" y="13275"/>
                <a:chExt cx="76" cy="60"/>
              </a:xfrm>
            </p:grpSpPr>
            <p:sp>
              <p:nvSpPr>
                <p:cNvPr id="16451" name="Line 83"/>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52" name="Line 84"/>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18" name="Group 85"/>
              <p:cNvGrpSpPr>
                <a:grpSpLocks/>
              </p:cNvGrpSpPr>
              <p:nvPr/>
            </p:nvGrpSpPr>
            <p:grpSpPr bwMode="auto">
              <a:xfrm>
                <a:off x="7634" y="13020"/>
                <a:ext cx="76" cy="60"/>
                <a:chOff x="3584" y="13275"/>
                <a:chExt cx="76" cy="60"/>
              </a:xfrm>
            </p:grpSpPr>
            <p:sp>
              <p:nvSpPr>
                <p:cNvPr id="16449" name="Line 86"/>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50" name="Line 87"/>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19" name="Group 88"/>
              <p:cNvGrpSpPr>
                <a:grpSpLocks/>
              </p:cNvGrpSpPr>
              <p:nvPr/>
            </p:nvGrpSpPr>
            <p:grpSpPr bwMode="auto">
              <a:xfrm>
                <a:off x="7918" y="13005"/>
                <a:ext cx="76" cy="60"/>
                <a:chOff x="3584" y="13275"/>
                <a:chExt cx="76" cy="60"/>
              </a:xfrm>
            </p:grpSpPr>
            <p:sp>
              <p:nvSpPr>
                <p:cNvPr id="16447" name="Line 89"/>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48" name="Line 90"/>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0" name="Group 91"/>
              <p:cNvGrpSpPr>
                <a:grpSpLocks/>
              </p:cNvGrpSpPr>
              <p:nvPr/>
            </p:nvGrpSpPr>
            <p:grpSpPr bwMode="auto">
              <a:xfrm>
                <a:off x="8218" y="12990"/>
                <a:ext cx="76" cy="60"/>
                <a:chOff x="3584" y="13275"/>
                <a:chExt cx="76" cy="60"/>
              </a:xfrm>
            </p:grpSpPr>
            <p:sp>
              <p:nvSpPr>
                <p:cNvPr id="16445" name="Line 92"/>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46" name="Line 93"/>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1" name="Group 94"/>
              <p:cNvGrpSpPr>
                <a:grpSpLocks/>
              </p:cNvGrpSpPr>
              <p:nvPr/>
            </p:nvGrpSpPr>
            <p:grpSpPr bwMode="auto">
              <a:xfrm>
                <a:off x="8084" y="13275"/>
                <a:ext cx="76" cy="60"/>
                <a:chOff x="3584" y="13275"/>
                <a:chExt cx="76" cy="60"/>
              </a:xfrm>
            </p:grpSpPr>
            <p:sp>
              <p:nvSpPr>
                <p:cNvPr id="16443" name="Line 95"/>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44" name="Line 96"/>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2" name="Group 97"/>
              <p:cNvGrpSpPr>
                <a:grpSpLocks/>
              </p:cNvGrpSpPr>
              <p:nvPr/>
            </p:nvGrpSpPr>
            <p:grpSpPr bwMode="auto">
              <a:xfrm>
                <a:off x="7768" y="13290"/>
                <a:ext cx="76" cy="60"/>
                <a:chOff x="3584" y="13275"/>
                <a:chExt cx="76" cy="60"/>
              </a:xfrm>
            </p:grpSpPr>
            <p:sp>
              <p:nvSpPr>
                <p:cNvPr id="16441" name="Line 98"/>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42" name="Line 99"/>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3" name="Group 100"/>
              <p:cNvGrpSpPr>
                <a:grpSpLocks/>
              </p:cNvGrpSpPr>
              <p:nvPr/>
            </p:nvGrpSpPr>
            <p:grpSpPr bwMode="auto">
              <a:xfrm>
                <a:off x="7394" y="13290"/>
                <a:ext cx="76" cy="60"/>
                <a:chOff x="3584" y="13275"/>
                <a:chExt cx="76" cy="60"/>
              </a:xfrm>
            </p:grpSpPr>
            <p:sp>
              <p:nvSpPr>
                <p:cNvPr id="16439" name="Line 101"/>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40" name="Line 102"/>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4" name="Group 103"/>
              <p:cNvGrpSpPr>
                <a:grpSpLocks/>
              </p:cNvGrpSpPr>
              <p:nvPr/>
            </p:nvGrpSpPr>
            <p:grpSpPr bwMode="auto">
              <a:xfrm>
                <a:off x="7034" y="13275"/>
                <a:ext cx="76" cy="60"/>
                <a:chOff x="3584" y="13275"/>
                <a:chExt cx="76" cy="60"/>
              </a:xfrm>
            </p:grpSpPr>
            <p:sp>
              <p:nvSpPr>
                <p:cNvPr id="16437" name="Line 104"/>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38" name="Line 105"/>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5" name="Group 106"/>
              <p:cNvGrpSpPr>
                <a:grpSpLocks/>
              </p:cNvGrpSpPr>
              <p:nvPr/>
            </p:nvGrpSpPr>
            <p:grpSpPr bwMode="auto">
              <a:xfrm>
                <a:off x="7288" y="13530"/>
                <a:ext cx="76" cy="60"/>
                <a:chOff x="3584" y="13275"/>
                <a:chExt cx="76" cy="60"/>
              </a:xfrm>
            </p:grpSpPr>
            <p:sp>
              <p:nvSpPr>
                <p:cNvPr id="16435" name="Line 107"/>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36" name="Line 108"/>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6" name="Group 109"/>
              <p:cNvGrpSpPr>
                <a:grpSpLocks/>
              </p:cNvGrpSpPr>
              <p:nvPr/>
            </p:nvGrpSpPr>
            <p:grpSpPr bwMode="auto">
              <a:xfrm>
                <a:off x="7588" y="13515"/>
                <a:ext cx="76" cy="60"/>
                <a:chOff x="3584" y="13275"/>
                <a:chExt cx="76" cy="60"/>
              </a:xfrm>
            </p:grpSpPr>
            <p:sp>
              <p:nvSpPr>
                <p:cNvPr id="16433" name="Line 110"/>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34" name="Line 111"/>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7" name="Group 112"/>
              <p:cNvGrpSpPr>
                <a:grpSpLocks/>
              </p:cNvGrpSpPr>
              <p:nvPr/>
            </p:nvGrpSpPr>
            <p:grpSpPr bwMode="auto">
              <a:xfrm>
                <a:off x="7934" y="13515"/>
                <a:ext cx="76" cy="60"/>
                <a:chOff x="3584" y="13275"/>
                <a:chExt cx="76" cy="60"/>
              </a:xfrm>
            </p:grpSpPr>
            <p:sp>
              <p:nvSpPr>
                <p:cNvPr id="16431" name="Line 113"/>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32" name="Line 114"/>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nvGrpSpPr>
              <p:cNvPr id="16428" name="Group 115"/>
              <p:cNvGrpSpPr>
                <a:grpSpLocks/>
              </p:cNvGrpSpPr>
              <p:nvPr/>
            </p:nvGrpSpPr>
            <p:grpSpPr bwMode="auto">
              <a:xfrm>
                <a:off x="7604" y="13710"/>
                <a:ext cx="76" cy="60"/>
                <a:chOff x="3584" y="13275"/>
                <a:chExt cx="76" cy="60"/>
              </a:xfrm>
            </p:grpSpPr>
            <p:sp>
              <p:nvSpPr>
                <p:cNvPr id="16429" name="Line 116"/>
                <p:cNvSpPr>
                  <a:spLocks noChangeShapeType="1"/>
                </p:cNvSpPr>
                <p:nvPr/>
              </p:nvSpPr>
              <p:spPr bwMode="auto">
                <a:xfrm flipH="1">
                  <a:off x="3584" y="13275"/>
                  <a:ext cx="60" cy="60"/>
                </a:xfrm>
                <a:prstGeom prst="line">
                  <a:avLst/>
                </a:prstGeom>
                <a:noFill/>
                <a:ln w="12700">
                  <a:solidFill>
                    <a:srgbClr val="FF0000"/>
                  </a:solidFill>
                  <a:round/>
                  <a:headEnd/>
                  <a:tailEnd/>
                </a:ln>
              </p:spPr>
              <p:txBody>
                <a:bodyPr/>
                <a:lstStyle/>
                <a:p>
                  <a:endParaRPr lang="zh-CN" altLang="en-US"/>
                </a:p>
              </p:txBody>
            </p:sp>
            <p:sp>
              <p:nvSpPr>
                <p:cNvPr id="16430" name="Line 117"/>
                <p:cNvSpPr>
                  <a:spLocks noChangeShapeType="1"/>
                </p:cNvSpPr>
                <p:nvPr/>
              </p:nvSpPr>
              <p:spPr bwMode="auto">
                <a:xfrm>
                  <a:off x="3600" y="13275"/>
                  <a:ext cx="60" cy="60"/>
                </a:xfrm>
                <a:prstGeom prst="line">
                  <a:avLst/>
                </a:prstGeom>
                <a:noFill/>
                <a:ln w="12700">
                  <a:solidFill>
                    <a:srgbClr val="FF0000"/>
                  </a:solidFill>
                  <a:round/>
                  <a:headEnd/>
                  <a:tailEnd/>
                </a:ln>
              </p:spPr>
              <p:txBody>
                <a:bodyPr/>
                <a:lstStyle/>
                <a:p>
                  <a:endParaRPr lang="zh-CN" altLang="en-US"/>
                </a:p>
              </p:txBody>
            </p:sp>
          </p:grpSp>
        </p:grpSp>
        <p:sp>
          <p:nvSpPr>
            <p:cNvPr id="16407" name="Line 118"/>
            <p:cNvSpPr>
              <a:spLocks noChangeShapeType="1"/>
            </p:cNvSpPr>
            <p:nvPr/>
          </p:nvSpPr>
          <p:spPr bwMode="auto">
            <a:xfrm flipH="1">
              <a:off x="2197" y="2963"/>
              <a:ext cx="1" cy="1007"/>
            </a:xfrm>
            <a:prstGeom prst="line">
              <a:avLst/>
            </a:prstGeom>
            <a:noFill/>
            <a:ln w="9525" cap="rnd">
              <a:solidFill>
                <a:srgbClr val="000000"/>
              </a:solidFill>
              <a:prstDash val="sysDot"/>
              <a:round/>
              <a:headEnd/>
              <a:tailEnd/>
            </a:ln>
          </p:spPr>
          <p:txBody>
            <a:bodyPr/>
            <a:lstStyle/>
            <a:p>
              <a:endParaRPr lang="zh-CN" altLang="en-US"/>
            </a:p>
          </p:txBody>
        </p:sp>
        <p:sp>
          <p:nvSpPr>
            <p:cNvPr id="16408" name="Line 119"/>
            <p:cNvSpPr>
              <a:spLocks noChangeShapeType="1"/>
            </p:cNvSpPr>
            <p:nvPr/>
          </p:nvSpPr>
          <p:spPr bwMode="auto">
            <a:xfrm flipH="1">
              <a:off x="2424" y="2967"/>
              <a:ext cx="1" cy="1007"/>
            </a:xfrm>
            <a:prstGeom prst="line">
              <a:avLst/>
            </a:prstGeom>
            <a:noFill/>
            <a:ln w="9525" cap="rnd">
              <a:solidFill>
                <a:srgbClr val="000000"/>
              </a:solidFill>
              <a:prstDash val="sysDot"/>
              <a:round/>
              <a:headEnd/>
              <a:tailEnd/>
            </a:ln>
          </p:spPr>
          <p:txBody>
            <a:bodyPr/>
            <a:lstStyle/>
            <a:p>
              <a:endParaRPr lang="zh-CN" altLang="en-US"/>
            </a:p>
          </p:txBody>
        </p:sp>
        <p:sp>
          <p:nvSpPr>
            <p:cNvPr id="16409" name="Line 120"/>
            <p:cNvSpPr>
              <a:spLocks noChangeShapeType="1"/>
            </p:cNvSpPr>
            <p:nvPr/>
          </p:nvSpPr>
          <p:spPr bwMode="auto">
            <a:xfrm flipH="1">
              <a:off x="2660" y="2971"/>
              <a:ext cx="0" cy="1007"/>
            </a:xfrm>
            <a:prstGeom prst="line">
              <a:avLst/>
            </a:prstGeom>
            <a:noFill/>
            <a:ln w="9525" cap="rnd">
              <a:solidFill>
                <a:srgbClr val="000000"/>
              </a:solidFill>
              <a:prstDash val="sysDot"/>
              <a:round/>
              <a:headEnd/>
              <a:tailEnd/>
            </a:ln>
          </p:spPr>
          <p:txBody>
            <a:bodyPr/>
            <a:lstStyle/>
            <a:p>
              <a:endParaRPr lang="zh-CN" altLang="en-US"/>
            </a:p>
          </p:txBody>
        </p:sp>
        <p:sp>
          <p:nvSpPr>
            <p:cNvPr id="16410" name="Line 121"/>
            <p:cNvSpPr>
              <a:spLocks noChangeShapeType="1"/>
            </p:cNvSpPr>
            <p:nvPr/>
          </p:nvSpPr>
          <p:spPr bwMode="auto">
            <a:xfrm flipH="1">
              <a:off x="2926" y="2974"/>
              <a:ext cx="1" cy="1006"/>
            </a:xfrm>
            <a:prstGeom prst="line">
              <a:avLst/>
            </a:prstGeom>
            <a:noFill/>
            <a:ln w="9525" cap="rnd">
              <a:solidFill>
                <a:srgbClr val="000000"/>
              </a:solidFill>
              <a:prstDash val="sysDot"/>
              <a:round/>
              <a:headEnd/>
              <a:tailEnd/>
            </a:ln>
          </p:spPr>
          <p:txBody>
            <a:bodyPr/>
            <a:lstStyle/>
            <a:p>
              <a:endParaRPr lang="zh-CN" altLang="en-US"/>
            </a:p>
          </p:txBody>
        </p:sp>
        <p:grpSp>
          <p:nvGrpSpPr>
            <p:cNvPr id="16411" name="Group 122"/>
            <p:cNvGrpSpPr>
              <a:grpSpLocks/>
            </p:cNvGrpSpPr>
            <p:nvPr/>
          </p:nvGrpSpPr>
          <p:grpSpPr bwMode="auto">
            <a:xfrm>
              <a:off x="1982" y="3709"/>
              <a:ext cx="914" cy="190"/>
              <a:chOff x="6600" y="13173"/>
              <a:chExt cx="3436" cy="721"/>
            </a:xfrm>
          </p:grpSpPr>
          <p:sp>
            <p:nvSpPr>
              <p:cNvPr id="16412" name="Arc 123"/>
              <p:cNvSpPr>
                <a:spLocks/>
              </p:cNvSpPr>
              <p:nvPr/>
            </p:nvSpPr>
            <p:spPr bwMode="auto">
              <a:xfrm flipV="1">
                <a:off x="6600" y="13173"/>
                <a:ext cx="706" cy="69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937"/>
                      <a:pt x="191" y="18281"/>
                      <a:pt x="571" y="1666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937"/>
                      <a:pt x="191" y="18281"/>
                      <a:pt x="571" y="16662"/>
                    </a:cubicBezTo>
                    <a:lnTo>
                      <a:pt x="21600" y="21600"/>
                    </a:lnTo>
                    <a:lnTo>
                      <a:pt x="21599" y="0"/>
                    </a:lnTo>
                    <a:close/>
                  </a:path>
                </a:pathLst>
              </a:custGeom>
              <a:noFill/>
              <a:ln w="19050">
                <a:solidFill>
                  <a:srgbClr val="FF0000"/>
                </a:solidFill>
                <a:round/>
                <a:headEnd type="triangle" w="med" len="med"/>
                <a:tailEnd/>
              </a:ln>
            </p:spPr>
            <p:txBody>
              <a:bodyPr/>
              <a:lstStyle/>
              <a:p>
                <a:endParaRPr lang="zh-CN" altLang="en-US"/>
              </a:p>
            </p:txBody>
          </p:sp>
          <p:sp>
            <p:nvSpPr>
              <p:cNvPr id="16413" name="Arc 124"/>
              <p:cNvSpPr>
                <a:spLocks/>
              </p:cNvSpPr>
              <p:nvPr/>
            </p:nvSpPr>
            <p:spPr bwMode="auto">
              <a:xfrm flipV="1">
                <a:off x="9330" y="13203"/>
                <a:ext cx="706" cy="69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937"/>
                      <a:pt x="191" y="18281"/>
                      <a:pt x="571" y="1666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937"/>
                      <a:pt x="191" y="18281"/>
                      <a:pt x="571" y="16662"/>
                    </a:cubicBezTo>
                    <a:lnTo>
                      <a:pt x="21600" y="21600"/>
                    </a:lnTo>
                    <a:lnTo>
                      <a:pt x="21599" y="0"/>
                    </a:lnTo>
                    <a:close/>
                  </a:path>
                </a:pathLst>
              </a:custGeom>
              <a:noFill/>
              <a:ln w="19050">
                <a:solidFill>
                  <a:srgbClr val="FF0000"/>
                </a:solidFill>
                <a:round/>
                <a:headEnd type="triangle" w="med" len="med"/>
                <a:tailEnd/>
              </a:ln>
            </p:spPr>
            <p:txBody>
              <a:bodyPr/>
              <a:lstStyle/>
              <a:p>
                <a:endParaRPr lang="zh-CN" altLang="en-US"/>
              </a:p>
            </p:txBody>
          </p:sp>
          <p:sp>
            <p:nvSpPr>
              <p:cNvPr id="16414" name="Arc 125"/>
              <p:cNvSpPr>
                <a:spLocks/>
              </p:cNvSpPr>
              <p:nvPr/>
            </p:nvSpPr>
            <p:spPr bwMode="auto">
              <a:xfrm flipV="1">
                <a:off x="7516" y="13173"/>
                <a:ext cx="706" cy="69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937"/>
                      <a:pt x="191" y="18281"/>
                      <a:pt x="571" y="1666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937"/>
                      <a:pt x="191" y="18281"/>
                      <a:pt x="571" y="16662"/>
                    </a:cubicBezTo>
                    <a:lnTo>
                      <a:pt x="21600" y="21600"/>
                    </a:lnTo>
                    <a:lnTo>
                      <a:pt x="21599" y="0"/>
                    </a:lnTo>
                    <a:close/>
                  </a:path>
                </a:pathLst>
              </a:custGeom>
              <a:noFill/>
              <a:ln w="19050">
                <a:solidFill>
                  <a:srgbClr val="FF0000"/>
                </a:solidFill>
                <a:round/>
                <a:headEnd/>
                <a:tailEnd type="triangle" w="med" len="med"/>
              </a:ln>
            </p:spPr>
            <p:txBody>
              <a:bodyPr/>
              <a:lstStyle/>
              <a:p>
                <a:endParaRPr lang="zh-CN" altLang="en-US"/>
              </a:p>
            </p:txBody>
          </p:sp>
          <p:sp>
            <p:nvSpPr>
              <p:cNvPr id="16415" name="Arc 126"/>
              <p:cNvSpPr>
                <a:spLocks/>
              </p:cNvSpPr>
              <p:nvPr/>
            </p:nvSpPr>
            <p:spPr bwMode="auto">
              <a:xfrm flipV="1">
                <a:off x="8416" y="13188"/>
                <a:ext cx="706" cy="69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937"/>
                      <a:pt x="191" y="18281"/>
                      <a:pt x="571" y="16662"/>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937"/>
                      <a:pt x="191" y="18281"/>
                      <a:pt x="571" y="16662"/>
                    </a:cubicBezTo>
                    <a:lnTo>
                      <a:pt x="21600" y="21600"/>
                    </a:lnTo>
                    <a:lnTo>
                      <a:pt x="21599" y="0"/>
                    </a:lnTo>
                    <a:close/>
                  </a:path>
                </a:pathLst>
              </a:custGeom>
              <a:noFill/>
              <a:ln w="19050">
                <a:solidFill>
                  <a:srgbClr val="FF0000"/>
                </a:solidFill>
                <a:round/>
                <a:headEnd/>
                <a:tailEnd type="triangle" w="med" len="med"/>
              </a:ln>
            </p:spPr>
            <p:txBody>
              <a:bodyPr/>
              <a:lstStyle/>
              <a:p>
                <a:endParaRPr lang="zh-CN" altLang="en-US"/>
              </a:p>
            </p:txBody>
          </p:sp>
        </p:grpSp>
      </p:grpSp>
      <p:sp>
        <p:nvSpPr>
          <p:cNvPr id="50304" name="Rectangle 128"/>
          <p:cNvSpPr>
            <a:spLocks noChangeArrowheads="1"/>
          </p:cNvSpPr>
          <p:nvPr/>
        </p:nvSpPr>
        <p:spPr bwMode="auto">
          <a:xfrm>
            <a:off x="250825" y="4940300"/>
            <a:ext cx="5905500" cy="1422400"/>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电子得到加速的时间最长只是交流电流周期 </a:t>
            </a:r>
            <a:r>
              <a:rPr kumimoji="1" lang="en-US" altLang="zh-CN" sz="2400" b="1" i="1">
                <a:solidFill>
                  <a:srgbClr val="FF0000"/>
                </a:solidFill>
                <a:latin typeface="Times New Roman" pitchFamily="18" charset="0"/>
                <a:ea typeface="楷体_GB2312" pitchFamily="49" charset="-122"/>
              </a:rPr>
              <a:t>T </a:t>
            </a:r>
            <a:r>
              <a:rPr kumimoji="1" lang="zh-CN" altLang="en-US" sz="2400" b="1">
                <a:latin typeface="Times New Roman" pitchFamily="18" charset="0"/>
                <a:ea typeface="楷体_GB2312" pitchFamily="49" charset="-122"/>
              </a:rPr>
              <a:t>的四分之一。</a:t>
            </a:r>
            <a:r>
              <a:rPr kumimoji="1" lang="zh-CN" altLang="en-US" sz="2400" b="1">
                <a:solidFill>
                  <a:srgbClr val="000000"/>
                </a:solidFill>
                <a:latin typeface="Times New Roman" pitchFamily="18" charset="0"/>
                <a:ea typeface="楷体_GB2312" pitchFamily="49" charset="-122"/>
              </a:rPr>
              <a:t>在 </a:t>
            </a:r>
            <a:r>
              <a:rPr kumimoji="1" lang="en-US" altLang="zh-CN" sz="2400" b="1" i="1">
                <a:solidFill>
                  <a:srgbClr val="FF0000"/>
                </a:solidFill>
                <a:latin typeface="Times New Roman" pitchFamily="18" charset="0"/>
                <a:ea typeface="楷体_GB2312" pitchFamily="49" charset="-122"/>
              </a:rPr>
              <a:t>T</a:t>
            </a:r>
            <a:r>
              <a:rPr kumimoji="1" lang="en-US" altLang="zh-CN" sz="2400" b="1">
                <a:solidFill>
                  <a:srgbClr val="FF0000"/>
                </a:solidFill>
                <a:latin typeface="Times New Roman" pitchFamily="18" charset="0"/>
                <a:ea typeface="楷体_GB2312" pitchFamily="49" charset="-122"/>
              </a:rPr>
              <a:t>/4 </a:t>
            </a:r>
            <a:r>
              <a:rPr kumimoji="1" lang="zh-CN" altLang="en-US" sz="2400" b="1">
                <a:solidFill>
                  <a:srgbClr val="000000"/>
                </a:solidFill>
                <a:latin typeface="Times New Roman" pitchFamily="18" charset="0"/>
                <a:ea typeface="楷体_GB2312" pitchFamily="49" charset="-122"/>
              </a:rPr>
              <a:t>结束时应把电子引向靶。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80"/>
                                        </p:tgtEl>
                                        <p:attrNameLst>
                                          <p:attrName>style.visibility</p:attrName>
                                        </p:attrNameLst>
                                      </p:cBhvr>
                                      <p:to>
                                        <p:strVal val="visible"/>
                                      </p:to>
                                    </p:set>
                                    <p:animEffect transition="in" filter="wipe(left)">
                                      <p:cBhvr>
                                        <p:cTn id="7" dur="500"/>
                                        <p:tgtEl>
                                          <p:spTgt spid="501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0181"/>
                                        </p:tgtEl>
                                        <p:attrNameLst>
                                          <p:attrName>style.visibility</p:attrName>
                                        </p:attrNameLst>
                                      </p:cBhvr>
                                      <p:to>
                                        <p:strVal val="visible"/>
                                      </p:to>
                                    </p:set>
                                    <p:animEffect transition="in" filter="randombar(horizontal)">
                                      <p:cBhvr>
                                        <p:cTn id="12" dur="500"/>
                                        <p:tgtEl>
                                          <p:spTgt spid="501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0224"/>
                                        </p:tgtEl>
                                        <p:attrNameLst>
                                          <p:attrName>style.visibility</p:attrName>
                                        </p:attrNameLst>
                                      </p:cBhvr>
                                      <p:to>
                                        <p:strVal val="visible"/>
                                      </p:to>
                                    </p:set>
                                    <p:animEffect transition="in" filter="randombar(horizontal)">
                                      <p:cBhvr>
                                        <p:cTn id="17" dur="500"/>
                                        <p:tgtEl>
                                          <p:spTgt spid="502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1" presetClass="entr" presetSubtype="4" fill="hold" nodeType="clickEffect">
                                  <p:stCondLst>
                                    <p:cond delay="0"/>
                                  </p:stCondLst>
                                  <p:childTnLst>
                                    <p:set>
                                      <p:cBhvr>
                                        <p:cTn id="21" dur="1" fill="hold">
                                          <p:stCondLst>
                                            <p:cond delay="0"/>
                                          </p:stCondLst>
                                        </p:cTn>
                                        <p:tgtEl>
                                          <p:spTgt spid="50228"/>
                                        </p:tgtEl>
                                        <p:attrNameLst>
                                          <p:attrName>style.visibility</p:attrName>
                                        </p:attrNameLst>
                                      </p:cBhvr>
                                      <p:to>
                                        <p:strVal val="visible"/>
                                      </p:to>
                                    </p:set>
                                    <p:animEffect transition="in" filter="wheel(4)">
                                      <p:cBhvr>
                                        <p:cTn id="22" dur="500"/>
                                        <p:tgtEl>
                                          <p:spTgt spid="5022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0226"/>
                                        </p:tgtEl>
                                        <p:attrNameLst>
                                          <p:attrName>style.visibility</p:attrName>
                                        </p:attrNameLst>
                                      </p:cBhvr>
                                      <p:to>
                                        <p:strVal val="visible"/>
                                      </p:to>
                                    </p:set>
                                    <p:anim calcmode="lin" valueType="num">
                                      <p:cBhvr additive="base">
                                        <p:cTn id="27" dur="500" fill="hold"/>
                                        <p:tgtEl>
                                          <p:spTgt spid="50226"/>
                                        </p:tgtEl>
                                        <p:attrNameLst>
                                          <p:attrName>ppt_x</p:attrName>
                                        </p:attrNameLst>
                                      </p:cBhvr>
                                      <p:tavLst>
                                        <p:tav tm="0">
                                          <p:val>
                                            <p:strVal val="0-#ppt_w/2"/>
                                          </p:val>
                                        </p:tav>
                                        <p:tav tm="100000">
                                          <p:val>
                                            <p:strVal val="#ppt_x"/>
                                          </p:val>
                                        </p:tav>
                                      </p:tavLst>
                                    </p:anim>
                                    <p:anim calcmode="lin" valueType="num">
                                      <p:cBhvr additive="base">
                                        <p:cTn id="28" dur="500" fill="hold"/>
                                        <p:tgtEl>
                                          <p:spTgt spid="50226"/>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4" presetClass="entr" presetSubtype="10" fill="hold" grpId="0" nodeType="clickEffect">
                                  <p:stCondLst>
                                    <p:cond delay="0"/>
                                  </p:stCondLst>
                                  <p:childTnLst>
                                    <p:set>
                                      <p:cBhvr>
                                        <p:cTn id="32" dur="1" fill="hold">
                                          <p:stCondLst>
                                            <p:cond delay="0"/>
                                          </p:stCondLst>
                                        </p:cTn>
                                        <p:tgtEl>
                                          <p:spTgt spid="50225"/>
                                        </p:tgtEl>
                                        <p:attrNameLst>
                                          <p:attrName>style.visibility</p:attrName>
                                        </p:attrNameLst>
                                      </p:cBhvr>
                                      <p:to>
                                        <p:strVal val="visible"/>
                                      </p:to>
                                    </p:set>
                                    <p:animEffect transition="in" filter="randombar(horizontal)">
                                      <p:cBhvr>
                                        <p:cTn id="33" dur="500"/>
                                        <p:tgtEl>
                                          <p:spTgt spid="5022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additive="base">
                                        <p:cTn id="38" dur="500" fill="hold"/>
                                        <p:tgtEl>
                                          <p:spTgt spid="2"/>
                                        </p:tgtEl>
                                        <p:attrNameLst>
                                          <p:attrName>ppt_x</p:attrName>
                                        </p:attrNameLst>
                                      </p:cBhvr>
                                      <p:tavLst>
                                        <p:tav tm="0">
                                          <p:val>
                                            <p:strVal val="0-#ppt_w/2"/>
                                          </p:val>
                                        </p:tav>
                                        <p:tav tm="100000">
                                          <p:val>
                                            <p:strVal val="#ppt_x"/>
                                          </p:val>
                                        </p:tav>
                                      </p:tavLst>
                                    </p:anim>
                                    <p:anim calcmode="lin" valueType="num">
                                      <p:cBhvr additive="base">
                                        <p:cTn id="39"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0227"/>
                                        </p:tgtEl>
                                        <p:attrNameLst>
                                          <p:attrName>style.visibility</p:attrName>
                                        </p:attrNameLst>
                                      </p:cBhvr>
                                      <p:to>
                                        <p:strVal val="visible"/>
                                      </p:to>
                                    </p:set>
                                    <p:animEffect transition="in" filter="wipe(left)">
                                      <p:cBhvr>
                                        <p:cTn id="44" dur="500"/>
                                        <p:tgtEl>
                                          <p:spTgt spid="5022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5"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blinds(vertical)">
                                      <p:cBhvr>
                                        <p:cTn id="49" dur="500"/>
                                        <p:tgtEl>
                                          <p:spTgt spid="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14" presetClass="entr" presetSubtype="10" fill="hold" grpId="0" nodeType="clickEffect">
                                  <p:stCondLst>
                                    <p:cond delay="0"/>
                                  </p:stCondLst>
                                  <p:childTnLst>
                                    <p:set>
                                      <p:cBhvr>
                                        <p:cTn id="53" dur="1" fill="hold">
                                          <p:stCondLst>
                                            <p:cond delay="0"/>
                                          </p:stCondLst>
                                        </p:cTn>
                                        <p:tgtEl>
                                          <p:spTgt spid="50304"/>
                                        </p:tgtEl>
                                        <p:attrNameLst>
                                          <p:attrName>style.visibility</p:attrName>
                                        </p:attrNameLst>
                                      </p:cBhvr>
                                      <p:to>
                                        <p:strVal val="visible"/>
                                      </p:to>
                                    </p:set>
                                    <p:animEffect transition="in" filter="randombar(horizontal)">
                                      <p:cBhvr>
                                        <p:cTn id="54" dur="500"/>
                                        <p:tgtEl>
                                          <p:spTgt spid="50304"/>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p:cTn id="55" fill="hold" display="0">
                  <p:stCondLst>
                    <p:cond delay="indefinite"/>
                  </p:stCondLst>
                  <p:endCondLst>
                    <p:cond evt="onNext" delay="0">
                      <p:tgtEl>
                        <p:sldTgt/>
                      </p:tgtEl>
                    </p:cond>
                    <p:cond evt="onPrev" delay="0">
                      <p:tgtEl>
                        <p:sldTgt/>
                      </p:tgtEl>
                    </p:cond>
                  </p:endCondLst>
                </p:cTn>
                <p:tgtEl>
                  <p:spTgt spid="50228"/>
                </p:tgtEl>
              </p:cMediaNode>
            </p:video>
          </p:childTnLst>
        </p:cTn>
      </p:par>
    </p:tnLst>
    <p:bldLst>
      <p:bldP spid="50180" grpId="0"/>
      <p:bldP spid="50181" grpId="0" autoUpdateAnimBg="0"/>
      <p:bldP spid="50224" grpId="0" autoUpdateAnimBg="0"/>
      <p:bldP spid="50225" grpId="0" autoUpdateAnimBg="0"/>
      <p:bldP spid="50226" grpId="0" autoUpdateAnimBg="0"/>
      <p:bldP spid="50227" grpId="0"/>
      <p:bldP spid="50304"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6" name="Rectangle 16"/>
          <p:cNvSpPr>
            <a:spLocks noChangeArrowheads="1"/>
          </p:cNvSpPr>
          <p:nvPr/>
        </p:nvSpPr>
        <p:spPr bwMode="auto">
          <a:xfrm>
            <a:off x="179388" y="908050"/>
            <a:ext cx="5626100" cy="1406525"/>
          </a:xfrm>
          <a:prstGeom prst="rect">
            <a:avLst/>
          </a:prstGeom>
          <a:noFill/>
          <a:ln w="9525">
            <a:noFill/>
            <a:miter lim="800000"/>
            <a:headEnd/>
            <a:tailEnd/>
          </a:ln>
        </p:spPr>
        <p:txBody>
          <a:bodyPr>
            <a:spAutoFit/>
          </a:bodyPr>
          <a:lstStyle/>
          <a:p>
            <a:pPr algn="l" eaLnBrk="0" hangingPunct="0">
              <a:lnSpc>
                <a:spcPct val="120000"/>
              </a:lnSpc>
            </a:pPr>
            <a:r>
              <a:rPr lang="en-US" altLang="zh-CN" sz="2400" b="1">
                <a:latin typeface="宋体" pitchFamily="2" charset="-122"/>
              </a:rPr>
              <a:t>        </a:t>
            </a:r>
            <a:r>
              <a:rPr lang="zh-CN" altLang="en-US" sz="2400" b="1">
                <a:latin typeface="楷体_GB2312" pitchFamily="49" charset="-122"/>
                <a:ea typeface="楷体_GB2312" pitchFamily="49" charset="-122"/>
              </a:rPr>
              <a:t>将金属导体置入非均匀磁场中切割磁力线，则会在导体内形成自成回路的电流，这种电流就叫</a:t>
            </a:r>
            <a:r>
              <a:rPr lang="zh-CN" altLang="en-US" sz="2400" b="1">
                <a:solidFill>
                  <a:srgbClr val="FF0000"/>
                </a:solidFill>
                <a:latin typeface="楷体_GB2312" pitchFamily="49" charset="-122"/>
                <a:ea typeface="楷体_GB2312" pitchFamily="49" charset="-122"/>
              </a:rPr>
              <a:t>涡电流</a:t>
            </a:r>
            <a:r>
              <a:rPr lang="zh-CN" altLang="en-US" sz="2400" b="1">
                <a:latin typeface="楷体_GB2312" pitchFamily="49" charset="-122"/>
                <a:ea typeface="楷体_GB2312" pitchFamily="49" charset="-122"/>
              </a:rPr>
              <a:t>。</a:t>
            </a:r>
            <a:r>
              <a:rPr lang="zh-CN" altLang="en-US" sz="2400" b="1">
                <a:latin typeface="宋体" pitchFamily="2" charset="-122"/>
              </a:rPr>
              <a:t> </a:t>
            </a:r>
          </a:p>
        </p:txBody>
      </p:sp>
      <p:sp>
        <p:nvSpPr>
          <p:cNvPr id="51204" name="Text Box 4"/>
          <p:cNvSpPr txBox="1">
            <a:spLocks noChangeArrowheads="1"/>
          </p:cNvSpPr>
          <p:nvPr/>
        </p:nvSpPr>
        <p:spPr bwMode="auto">
          <a:xfrm>
            <a:off x="179388" y="414338"/>
            <a:ext cx="2481262" cy="493712"/>
          </a:xfrm>
          <a:prstGeom prst="rect">
            <a:avLst/>
          </a:prstGeom>
          <a:noFill/>
          <a:ln w="9525" algn="ctr">
            <a:noFill/>
            <a:miter lim="800000"/>
            <a:headEnd/>
            <a:tailEnd/>
          </a:ln>
        </p:spPr>
        <p:txBody>
          <a:bodyPr wrap="none">
            <a:spAutoFit/>
          </a:bodyPr>
          <a:lstStyle/>
          <a:p>
            <a:pPr algn="l">
              <a:lnSpc>
                <a:spcPct val="110000"/>
              </a:lnSpc>
            </a:pPr>
            <a:r>
              <a:rPr kumimoji="1" lang="en-US" altLang="zh-CN" sz="2400" b="1">
                <a:solidFill>
                  <a:srgbClr val="0000FF"/>
                </a:solidFill>
                <a:latin typeface="Times New Roman" pitchFamily="18" charset="0"/>
              </a:rPr>
              <a:t>2</a:t>
            </a:r>
            <a:r>
              <a:rPr kumimoji="1" lang="zh-CN" altLang="en-US" sz="2400" b="1">
                <a:solidFill>
                  <a:srgbClr val="0000FF"/>
                </a:solidFill>
                <a:latin typeface="Times New Roman" pitchFamily="18" charset="0"/>
              </a:rPr>
              <a:t>、涡电流的应用</a:t>
            </a:r>
          </a:p>
        </p:txBody>
      </p:sp>
      <p:sp>
        <p:nvSpPr>
          <p:cNvPr id="51205" name="Text Box 5"/>
          <p:cNvSpPr txBox="1">
            <a:spLocks noChangeArrowheads="1"/>
          </p:cNvSpPr>
          <p:nvPr/>
        </p:nvSpPr>
        <p:spPr bwMode="auto">
          <a:xfrm>
            <a:off x="250825" y="965200"/>
            <a:ext cx="1409700" cy="493713"/>
          </a:xfrm>
          <a:prstGeom prst="rect">
            <a:avLst/>
          </a:prstGeom>
          <a:noFill/>
          <a:ln w="9525" algn="ctr">
            <a:noFill/>
            <a:miter lim="800000"/>
            <a:headEnd/>
            <a:tailEnd/>
          </a:ln>
        </p:spPr>
        <p:txBody>
          <a:bodyPr wrap="none">
            <a:spAutoFit/>
          </a:bodyPr>
          <a:lstStyle/>
          <a:p>
            <a:pPr algn="l">
              <a:lnSpc>
                <a:spcPct val="110000"/>
              </a:lnSpc>
            </a:pPr>
            <a:r>
              <a:rPr kumimoji="1" lang="zh-CN" altLang="en-US" sz="2400" b="1">
                <a:solidFill>
                  <a:srgbClr val="FF0000"/>
                </a:solidFill>
                <a:latin typeface="楷体_GB2312" pitchFamily="49" charset="-122"/>
                <a:ea typeface="楷体_GB2312" pitchFamily="49" charset="-122"/>
              </a:rPr>
              <a:t>涡电流：</a:t>
            </a:r>
          </a:p>
        </p:txBody>
      </p:sp>
      <p:sp>
        <p:nvSpPr>
          <p:cNvPr id="51206" name="AutoShape 6"/>
          <p:cNvSpPr>
            <a:spLocks noChangeArrowheads="1"/>
          </p:cNvSpPr>
          <p:nvPr/>
        </p:nvSpPr>
        <p:spPr bwMode="auto">
          <a:xfrm>
            <a:off x="5940425" y="1628775"/>
            <a:ext cx="2100263" cy="1160463"/>
          </a:xfrm>
          <a:prstGeom prst="can">
            <a:avLst>
              <a:gd name="adj" fmla="val 50000"/>
            </a:avLst>
          </a:prstGeom>
          <a:gradFill rotWithShape="0">
            <a:gsLst>
              <a:gs pos="0">
                <a:srgbClr val="765E47"/>
              </a:gs>
              <a:gs pos="50000">
                <a:srgbClr val="FFCC99"/>
              </a:gs>
              <a:gs pos="100000">
                <a:srgbClr val="765E47"/>
              </a:gs>
            </a:gsLst>
            <a:lin ang="0" scaled="1"/>
          </a:gradFill>
          <a:ln w="9525">
            <a:solidFill>
              <a:schemeClr val="tx1"/>
            </a:solidFill>
            <a:round/>
            <a:headEnd/>
            <a:tailEnd/>
          </a:ln>
        </p:spPr>
        <p:txBody>
          <a:bodyPr wrap="none" anchor="ctr"/>
          <a:lstStyle/>
          <a:p>
            <a:endParaRPr lang="zh-CN" altLang="en-US"/>
          </a:p>
        </p:txBody>
      </p:sp>
      <p:grpSp>
        <p:nvGrpSpPr>
          <p:cNvPr id="2" name="Group 7"/>
          <p:cNvGrpSpPr>
            <a:grpSpLocks/>
          </p:cNvGrpSpPr>
          <p:nvPr/>
        </p:nvGrpSpPr>
        <p:grpSpPr bwMode="auto">
          <a:xfrm>
            <a:off x="6032500" y="2011363"/>
            <a:ext cx="1852613" cy="473075"/>
            <a:chOff x="3358" y="2304"/>
            <a:chExt cx="1778" cy="528"/>
          </a:xfrm>
        </p:grpSpPr>
        <p:sp>
          <p:nvSpPr>
            <p:cNvPr id="41032" name="Arc 8"/>
            <p:cNvSpPr>
              <a:spLocks/>
            </p:cNvSpPr>
            <p:nvPr/>
          </p:nvSpPr>
          <p:spPr bwMode="auto">
            <a:xfrm>
              <a:off x="3460" y="2352"/>
              <a:ext cx="1536" cy="432"/>
            </a:xfrm>
            <a:custGeom>
              <a:avLst/>
              <a:gdLst>
                <a:gd name="T0" fmla="*/ 0 w 43200"/>
                <a:gd name="T1" fmla="*/ 0 h 43198"/>
                <a:gd name="T2" fmla="*/ 0 w 43200"/>
                <a:gd name="T3" fmla="*/ 0 h 43198"/>
                <a:gd name="T4" fmla="*/ 0 w 43200"/>
                <a:gd name="T5" fmla="*/ 0 h 43198"/>
                <a:gd name="T6" fmla="*/ 0 60000 65536"/>
                <a:gd name="T7" fmla="*/ 0 60000 65536"/>
                <a:gd name="T8" fmla="*/ 0 60000 65536"/>
                <a:gd name="T9" fmla="*/ 0 w 43200"/>
                <a:gd name="T10" fmla="*/ 0 h 43198"/>
                <a:gd name="T11" fmla="*/ 43200 w 43200"/>
                <a:gd name="T12" fmla="*/ 43198 h 43198"/>
              </a:gdLst>
              <a:ahLst/>
              <a:cxnLst>
                <a:cxn ang="T6">
                  <a:pos x="T0" y="T1"/>
                </a:cxn>
                <a:cxn ang="T7">
                  <a:pos x="T2" y="T3"/>
                </a:cxn>
                <a:cxn ang="T8">
                  <a:pos x="T4" y="T5"/>
                </a:cxn>
              </a:cxnLst>
              <a:rect l="T9" t="T10" r="T11" b="T12"/>
              <a:pathLst>
                <a:path w="43200" h="43198" fill="none" extrusionOk="0">
                  <a:moveTo>
                    <a:pt x="21289" y="43197"/>
                  </a:moveTo>
                  <a:cubicBezTo>
                    <a:pt x="9482" y="43027"/>
                    <a:pt x="0" y="33408"/>
                    <a:pt x="0" y="21600"/>
                  </a:cubicBezTo>
                  <a:cubicBezTo>
                    <a:pt x="0" y="9670"/>
                    <a:pt x="9670" y="0"/>
                    <a:pt x="21600" y="0"/>
                  </a:cubicBezTo>
                  <a:cubicBezTo>
                    <a:pt x="33529" y="0"/>
                    <a:pt x="43200" y="9670"/>
                    <a:pt x="43200" y="21600"/>
                  </a:cubicBezTo>
                  <a:cubicBezTo>
                    <a:pt x="43200" y="33101"/>
                    <a:pt x="34187" y="42585"/>
                    <a:pt x="22700" y="43171"/>
                  </a:cubicBezTo>
                </a:path>
                <a:path w="43200" h="43198" stroke="0" extrusionOk="0">
                  <a:moveTo>
                    <a:pt x="21289" y="43197"/>
                  </a:moveTo>
                  <a:cubicBezTo>
                    <a:pt x="9482" y="43027"/>
                    <a:pt x="0" y="33408"/>
                    <a:pt x="0" y="21600"/>
                  </a:cubicBezTo>
                  <a:cubicBezTo>
                    <a:pt x="0" y="9670"/>
                    <a:pt x="9670" y="0"/>
                    <a:pt x="21600" y="0"/>
                  </a:cubicBezTo>
                  <a:cubicBezTo>
                    <a:pt x="33529" y="0"/>
                    <a:pt x="43200" y="9670"/>
                    <a:pt x="43200" y="21600"/>
                  </a:cubicBezTo>
                  <a:cubicBezTo>
                    <a:pt x="43200" y="33101"/>
                    <a:pt x="34187" y="42585"/>
                    <a:pt x="22700" y="43171"/>
                  </a:cubicBezTo>
                  <a:lnTo>
                    <a:pt x="21600" y="21600"/>
                  </a:lnTo>
                  <a:lnTo>
                    <a:pt x="21289" y="43197"/>
                  </a:lnTo>
                  <a:close/>
                </a:path>
              </a:pathLst>
            </a:custGeom>
            <a:noFill/>
            <a:ln w="19050">
              <a:solidFill>
                <a:srgbClr val="FF0000"/>
              </a:solidFill>
              <a:prstDash val="dash"/>
              <a:round/>
              <a:headEnd/>
              <a:tailEnd type="stealth" w="med" len="lg"/>
            </a:ln>
          </p:spPr>
          <p:txBody>
            <a:bodyPr wrap="none" anchor="ctr"/>
            <a:lstStyle/>
            <a:p>
              <a:endParaRPr lang="zh-CN" altLang="en-US"/>
            </a:p>
          </p:txBody>
        </p:sp>
        <p:sp>
          <p:nvSpPr>
            <p:cNvPr id="41033" name="Arc 9"/>
            <p:cNvSpPr>
              <a:spLocks/>
            </p:cNvSpPr>
            <p:nvPr/>
          </p:nvSpPr>
          <p:spPr bwMode="auto">
            <a:xfrm>
              <a:off x="3602" y="2400"/>
              <a:ext cx="1246" cy="336"/>
            </a:xfrm>
            <a:custGeom>
              <a:avLst/>
              <a:gdLst>
                <a:gd name="T0" fmla="*/ 0 w 43200"/>
                <a:gd name="T1" fmla="*/ 0 h 43175"/>
                <a:gd name="T2" fmla="*/ 0 w 43200"/>
                <a:gd name="T3" fmla="*/ 0 h 43175"/>
                <a:gd name="T4" fmla="*/ 0 w 43200"/>
                <a:gd name="T5" fmla="*/ 0 h 43175"/>
                <a:gd name="T6" fmla="*/ 0 60000 65536"/>
                <a:gd name="T7" fmla="*/ 0 60000 65536"/>
                <a:gd name="T8" fmla="*/ 0 60000 65536"/>
                <a:gd name="T9" fmla="*/ 0 w 43200"/>
                <a:gd name="T10" fmla="*/ 0 h 43175"/>
                <a:gd name="T11" fmla="*/ 43200 w 43200"/>
                <a:gd name="T12" fmla="*/ 43175 h 43175"/>
              </a:gdLst>
              <a:ahLst/>
              <a:cxnLst>
                <a:cxn ang="T6">
                  <a:pos x="T0" y="T1"/>
                </a:cxn>
                <a:cxn ang="T7">
                  <a:pos x="T2" y="T3"/>
                </a:cxn>
                <a:cxn ang="T8">
                  <a:pos x="T4" y="T5"/>
                </a:cxn>
              </a:cxnLst>
              <a:rect l="T9" t="T10" r="T11" b="T12"/>
              <a:pathLst>
                <a:path w="43200" h="43175" fill="none" extrusionOk="0">
                  <a:moveTo>
                    <a:pt x="20560" y="43174"/>
                  </a:moveTo>
                  <a:cubicBezTo>
                    <a:pt x="9048" y="42620"/>
                    <a:pt x="0" y="33125"/>
                    <a:pt x="0" y="21600"/>
                  </a:cubicBezTo>
                  <a:cubicBezTo>
                    <a:pt x="0" y="9670"/>
                    <a:pt x="9670" y="0"/>
                    <a:pt x="21600" y="0"/>
                  </a:cubicBezTo>
                  <a:cubicBezTo>
                    <a:pt x="33529" y="0"/>
                    <a:pt x="43200" y="9670"/>
                    <a:pt x="43200" y="21600"/>
                  </a:cubicBezTo>
                  <a:cubicBezTo>
                    <a:pt x="43200" y="33101"/>
                    <a:pt x="34187" y="42585"/>
                    <a:pt x="22700" y="43171"/>
                  </a:cubicBezTo>
                </a:path>
                <a:path w="43200" h="43175" stroke="0" extrusionOk="0">
                  <a:moveTo>
                    <a:pt x="20560" y="43174"/>
                  </a:moveTo>
                  <a:cubicBezTo>
                    <a:pt x="9048" y="42620"/>
                    <a:pt x="0" y="33125"/>
                    <a:pt x="0" y="21600"/>
                  </a:cubicBezTo>
                  <a:cubicBezTo>
                    <a:pt x="0" y="9670"/>
                    <a:pt x="9670" y="0"/>
                    <a:pt x="21600" y="0"/>
                  </a:cubicBezTo>
                  <a:cubicBezTo>
                    <a:pt x="33529" y="0"/>
                    <a:pt x="43200" y="9670"/>
                    <a:pt x="43200" y="21600"/>
                  </a:cubicBezTo>
                  <a:cubicBezTo>
                    <a:pt x="43200" y="33101"/>
                    <a:pt x="34187" y="42585"/>
                    <a:pt x="22700" y="43171"/>
                  </a:cubicBezTo>
                  <a:lnTo>
                    <a:pt x="21600" y="21600"/>
                  </a:lnTo>
                  <a:lnTo>
                    <a:pt x="20560" y="43174"/>
                  </a:lnTo>
                  <a:close/>
                </a:path>
              </a:pathLst>
            </a:custGeom>
            <a:noFill/>
            <a:ln w="19050">
              <a:solidFill>
                <a:srgbClr val="FF0000"/>
              </a:solidFill>
              <a:prstDash val="dash"/>
              <a:round/>
              <a:headEnd/>
              <a:tailEnd type="stealth" w="med" len="lg"/>
            </a:ln>
          </p:spPr>
          <p:txBody>
            <a:bodyPr wrap="none" anchor="ctr"/>
            <a:lstStyle/>
            <a:p>
              <a:endParaRPr lang="zh-CN" altLang="en-US"/>
            </a:p>
          </p:txBody>
        </p:sp>
        <p:sp>
          <p:nvSpPr>
            <p:cNvPr id="41034" name="Arc 10"/>
            <p:cNvSpPr>
              <a:spLocks/>
            </p:cNvSpPr>
            <p:nvPr/>
          </p:nvSpPr>
          <p:spPr bwMode="auto">
            <a:xfrm>
              <a:off x="3358" y="2304"/>
              <a:ext cx="1778" cy="528"/>
            </a:xfrm>
            <a:custGeom>
              <a:avLst/>
              <a:gdLst>
                <a:gd name="T0" fmla="*/ 0 w 43200"/>
                <a:gd name="T1" fmla="*/ 0 h 43175"/>
                <a:gd name="T2" fmla="*/ 0 w 43200"/>
                <a:gd name="T3" fmla="*/ 0 h 43175"/>
                <a:gd name="T4" fmla="*/ 0 w 43200"/>
                <a:gd name="T5" fmla="*/ 0 h 43175"/>
                <a:gd name="T6" fmla="*/ 0 60000 65536"/>
                <a:gd name="T7" fmla="*/ 0 60000 65536"/>
                <a:gd name="T8" fmla="*/ 0 60000 65536"/>
                <a:gd name="T9" fmla="*/ 0 w 43200"/>
                <a:gd name="T10" fmla="*/ 0 h 43175"/>
                <a:gd name="T11" fmla="*/ 43200 w 43200"/>
                <a:gd name="T12" fmla="*/ 43175 h 43175"/>
              </a:gdLst>
              <a:ahLst/>
              <a:cxnLst>
                <a:cxn ang="T6">
                  <a:pos x="T0" y="T1"/>
                </a:cxn>
                <a:cxn ang="T7">
                  <a:pos x="T2" y="T3"/>
                </a:cxn>
                <a:cxn ang="T8">
                  <a:pos x="T4" y="T5"/>
                </a:cxn>
              </a:cxnLst>
              <a:rect l="T9" t="T10" r="T11" b="T12"/>
              <a:pathLst>
                <a:path w="43200" h="43175" fill="none" extrusionOk="0">
                  <a:moveTo>
                    <a:pt x="20560" y="43174"/>
                  </a:moveTo>
                  <a:cubicBezTo>
                    <a:pt x="9048" y="42620"/>
                    <a:pt x="0" y="33125"/>
                    <a:pt x="0" y="21600"/>
                  </a:cubicBezTo>
                  <a:cubicBezTo>
                    <a:pt x="0" y="9670"/>
                    <a:pt x="9670" y="0"/>
                    <a:pt x="21600" y="0"/>
                  </a:cubicBezTo>
                  <a:cubicBezTo>
                    <a:pt x="33529" y="0"/>
                    <a:pt x="43200" y="9670"/>
                    <a:pt x="43200" y="21600"/>
                  </a:cubicBezTo>
                  <a:cubicBezTo>
                    <a:pt x="43200" y="33101"/>
                    <a:pt x="34187" y="42585"/>
                    <a:pt x="22700" y="43171"/>
                  </a:cubicBezTo>
                </a:path>
                <a:path w="43200" h="43175" stroke="0" extrusionOk="0">
                  <a:moveTo>
                    <a:pt x="20560" y="43174"/>
                  </a:moveTo>
                  <a:cubicBezTo>
                    <a:pt x="9048" y="42620"/>
                    <a:pt x="0" y="33125"/>
                    <a:pt x="0" y="21600"/>
                  </a:cubicBezTo>
                  <a:cubicBezTo>
                    <a:pt x="0" y="9670"/>
                    <a:pt x="9670" y="0"/>
                    <a:pt x="21600" y="0"/>
                  </a:cubicBezTo>
                  <a:cubicBezTo>
                    <a:pt x="33529" y="0"/>
                    <a:pt x="43200" y="9670"/>
                    <a:pt x="43200" y="21600"/>
                  </a:cubicBezTo>
                  <a:cubicBezTo>
                    <a:pt x="43200" y="33101"/>
                    <a:pt x="34187" y="42585"/>
                    <a:pt x="22700" y="43171"/>
                  </a:cubicBezTo>
                  <a:lnTo>
                    <a:pt x="21600" y="21600"/>
                  </a:lnTo>
                  <a:lnTo>
                    <a:pt x="20560" y="43174"/>
                  </a:lnTo>
                  <a:close/>
                </a:path>
              </a:pathLst>
            </a:custGeom>
            <a:noFill/>
            <a:ln w="19050">
              <a:solidFill>
                <a:srgbClr val="FF0000"/>
              </a:solidFill>
              <a:prstDash val="dash"/>
              <a:round/>
              <a:headEnd/>
              <a:tailEnd type="stealth" w="med" len="lg"/>
            </a:ln>
          </p:spPr>
          <p:txBody>
            <a:bodyPr wrap="none" anchor="ctr"/>
            <a:lstStyle/>
            <a:p>
              <a:endParaRPr lang="zh-CN" altLang="en-US"/>
            </a:p>
          </p:txBody>
        </p:sp>
      </p:grpSp>
      <p:grpSp>
        <p:nvGrpSpPr>
          <p:cNvPr id="3" name="Group 11"/>
          <p:cNvGrpSpPr>
            <a:grpSpLocks/>
          </p:cNvGrpSpPr>
          <p:nvPr/>
        </p:nvGrpSpPr>
        <p:grpSpPr bwMode="auto">
          <a:xfrm>
            <a:off x="6877050" y="1163638"/>
            <a:ext cx="300038" cy="1041400"/>
            <a:chOff x="4080" y="1726"/>
            <a:chExt cx="288" cy="818"/>
          </a:xfrm>
        </p:grpSpPr>
        <p:sp>
          <p:nvSpPr>
            <p:cNvPr id="41028" name="Line 12"/>
            <p:cNvSpPr>
              <a:spLocks noChangeShapeType="1"/>
            </p:cNvSpPr>
            <p:nvPr/>
          </p:nvSpPr>
          <p:spPr bwMode="auto">
            <a:xfrm flipV="1">
              <a:off x="4080" y="1726"/>
              <a:ext cx="0" cy="816"/>
            </a:xfrm>
            <a:prstGeom prst="line">
              <a:avLst/>
            </a:prstGeom>
            <a:noFill/>
            <a:ln w="38100">
              <a:solidFill>
                <a:schemeClr val="accent2"/>
              </a:solidFill>
              <a:round/>
              <a:headEnd/>
              <a:tailEnd type="stealth" w="med" len="lg"/>
            </a:ln>
          </p:spPr>
          <p:txBody>
            <a:bodyPr wrap="none" anchor="ctr"/>
            <a:lstStyle/>
            <a:p>
              <a:endParaRPr lang="zh-CN" altLang="en-US"/>
            </a:p>
          </p:txBody>
        </p:sp>
        <p:sp>
          <p:nvSpPr>
            <p:cNvPr id="41029" name="Line 13"/>
            <p:cNvSpPr>
              <a:spLocks noChangeShapeType="1"/>
            </p:cNvSpPr>
            <p:nvPr/>
          </p:nvSpPr>
          <p:spPr bwMode="auto">
            <a:xfrm flipV="1">
              <a:off x="4176" y="1728"/>
              <a:ext cx="0" cy="816"/>
            </a:xfrm>
            <a:prstGeom prst="line">
              <a:avLst/>
            </a:prstGeom>
            <a:noFill/>
            <a:ln w="38100">
              <a:solidFill>
                <a:schemeClr val="accent2"/>
              </a:solidFill>
              <a:round/>
              <a:headEnd/>
              <a:tailEnd type="stealth" w="med" len="lg"/>
            </a:ln>
          </p:spPr>
          <p:txBody>
            <a:bodyPr wrap="none" anchor="ctr"/>
            <a:lstStyle/>
            <a:p>
              <a:endParaRPr lang="zh-CN" altLang="en-US"/>
            </a:p>
          </p:txBody>
        </p:sp>
        <p:sp>
          <p:nvSpPr>
            <p:cNvPr id="41030" name="Line 14"/>
            <p:cNvSpPr>
              <a:spLocks noChangeShapeType="1"/>
            </p:cNvSpPr>
            <p:nvPr/>
          </p:nvSpPr>
          <p:spPr bwMode="auto">
            <a:xfrm flipV="1">
              <a:off x="4272" y="1728"/>
              <a:ext cx="0" cy="816"/>
            </a:xfrm>
            <a:prstGeom prst="line">
              <a:avLst/>
            </a:prstGeom>
            <a:noFill/>
            <a:ln w="38100">
              <a:solidFill>
                <a:schemeClr val="accent2"/>
              </a:solidFill>
              <a:round/>
              <a:headEnd/>
              <a:tailEnd type="stealth" w="med" len="lg"/>
            </a:ln>
          </p:spPr>
          <p:txBody>
            <a:bodyPr wrap="none" anchor="ctr"/>
            <a:lstStyle/>
            <a:p>
              <a:endParaRPr lang="zh-CN" altLang="en-US"/>
            </a:p>
          </p:txBody>
        </p:sp>
        <p:sp>
          <p:nvSpPr>
            <p:cNvPr id="41031" name="Line 15"/>
            <p:cNvSpPr>
              <a:spLocks noChangeShapeType="1"/>
            </p:cNvSpPr>
            <p:nvPr/>
          </p:nvSpPr>
          <p:spPr bwMode="auto">
            <a:xfrm flipV="1">
              <a:off x="4368" y="1728"/>
              <a:ext cx="0" cy="816"/>
            </a:xfrm>
            <a:prstGeom prst="line">
              <a:avLst/>
            </a:prstGeom>
            <a:noFill/>
            <a:ln w="38100">
              <a:solidFill>
                <a:schemeClr val="accent2"/>
              </a:solidFill>
              <a:round/>
              <a:headEnd/>
              <a:tailEnd type="stealth" w="med" len="lg"/>
            </a:ln>
          </p:spPr>
          <p:txBody>
            <a:bodyPr wrap="none" anchor="ctr"/>
            <a:lstStyle/>
            <a:p>
              <a:endParaRPr lang="zh-CN" altLang="en-US"/>
            </a:p>
          </p:txBody>
        </p:sp>
      </p:grpSp>
      <p:sp>
        <p:nvSpPr>
          <p:cNvPr id="51217" name="Text Box 17"/>
          <p:cNvSpPr txBox="1">
            <a:spLocks noChangeArrowheads="1"/>
          </p:cNvSpPr>
          <p:nvPr/>
        </p:nvSpPr>
        <p:spPr bwMode="auto">
          <a:xfrm>
            <a:off x="7235825" y="1125538"/>
            <a:ext cx="1241425" cy="366712"/>
          </a:xfrm>
          <a:prstGeom prst="rect">
            <a:avLst/>
          </a:prstGeom>
          <a:noFill/>
          <a:ln w="9525">
            <a:noFill/>
            <a:miter lim="800000"/>
            <a:headEnd/>
            <a:tailEnd/>
          </a:ln>
        </p:spPr>
        <p:txBody>
          <a:bodyPr wrap="none">
            <a:spAutoFit/>
          </a:bodyPr>
          <a:lstStyle/>
          <a:p>
            <a:pPr algn="l"/>
            <a:r>
              <a:rPr kumimoji="1" lang="en-US" altLang="zh-CN" b="1">
                <a:solidFill>
                  <a:schemeClr val="accent2"/>
                </a:solidFill>
                <a:latin typeface="Times New Roman" pitchFamily="18" charset="0"/>
                <a:cs typeface="Times New Roman" pitchFamily="18" charset="0"/>
              </a:rPr>
              <a:t>dB</a:t>
            </a:r>
            <a:r>
              <a:rPr kumimoji="1" lang="zh-CN" altLang="en-US" b="1">
                <a:solidFill>
                  <a:schemeClr val="accent2"/>
                </a:solidFill>
                <a:latin typeface="Times New Roman" pitchFamily="18" charset="0"/>
                <a:cs typeface="Times New Roman" pitchFamily="18" charset="0"/>
              </a:rPr>
              <a:t>／</a:t>
            </a:r>
            <a:r>
              <a:rPr kumimoji="1" lang="en-US" altLang="zh-CN" b="1">
                <a:solidFill>
                  <a:schemeClr val="accent2"/>
                </a:solidFill>
                <a:latin typeface="Times New Roman" pitchFamily="18" charset="0"/>
                <a:cs typeface="Times New Roman" pitchFamily="18" charset="0"/>
              </a:rPr>
              <a:t>dt</a:t>
            </a:r>
            <a:r>
              <a:rPr kumimoji="1" lang="zh-CN" altLang="en-US" b="1">
                <a:solidFill>
                  <a:schemeClr val="accent2"/>
                </a:solidFill>
                <a:latin typeface="Times New Roman" pitchFamily="18" charset="0"/>
                <a:cs typeface="Times New Roman" pitchFamily="18" charset="0"/>
              </a:rPr>
              <a:t>＞</a:t>
            </a:r>
            <a:r>
              <a:rPr kumimoji="1" lang="en-US" altLang="zh-CN" b="1">
                <a:solidFill>
                  <a:schemeClr val="accent2"/>
                </a:solidFill>
                <a:latin typeface="Times New Roman" pitchFamily="18" charset="0"/>
                <a:cs typeface="Times New Roman" pitchFamily="18" charset="0"/>
              </a:rPr>
              <a:t>0</a:t>
            </a:r>
          </a:p>
        </p:txBody>
      </p:sp>
      <p:grpSp>
        <p:nvGrpSpPr>
          <p:cNvPr id="4" name="Group 18"/>
          <p:cNvGrpSpPr>
            <a:grpSpLocks noChangeAspect="1"/>
          </p:cNvGrpSpPr>
          <p:nvPr/>
        </p:nvGrpSpPr>
        <p:grpSpPr bwMode="auto">
          <a:xfrm>
            <a:off x="5649913" y="3789363"/>
            <a:ext cx="3243262" cy="2714625"/>
            <a:chOff x="2688" y="1200"/>
            <a:chExt cx="2832" cy="2352"/>
          </a:xfrm>
        </p:grpSpPr>
        <p:sp>
          <p:nvSpPr>
            <p:cNvPr id="40974" name="Rectangle 19"/>
            <p:cNvSpPr>
              <a:spLocks noChangeAspect="1" noChangeArrowheads="1"/>
            </p:cNvSpPr>
            <p:nvPr/>
          </p:nvSpPr>
          <p:spPr bwMode="auto">
            <a:xfrm>
              <a:off x="2688" y="1392"/>
              <a:ext cx="2832" cy="2160"/>
            </a:xfrm>
            <a:prstGeom prst="rect">
              <a:avLst/>
            </a:prstGeom>
            <a:noFill/>
            <a:ln w="9525">
              <a:noFill/>
              <a:miter lim="800000"/>
              <a:headEnd/>
              <a:tailEnd/>
            </a:ln>
          </p:spPr>
          <p:txBody>
            <a:bodyPr wrap="none" anchor="ctr"/>
            <a:lstStyle/>
            <a:p>
              <a:endParaRPr kumimoji="1" lang="zh-CN" altLang="zh-CN" sz="2800">
                <a:latin typeface="Times New Roman" pitchFamily="18" charset="0"/>
              </a:endParaRPr>
            </a:p>
          </p:txBody>
        </p:sp>
        <p:grpSp>
          <p:nvGrpSpPr>
            <p:cNvPr id="40975" name="Group 20"/>
            <p:cNvGrpSpPr>
              <a:grpSpLocks noChangeAspect="1"/>
            </p:cNvGrpSpPr>
            <p:nvPr/>
          </p:nvGrpSpPr>
          <p:grpSpPr bwMode="auto">
            <a:xfrm>
              <a:off x="2976" y="1200"/>
              <a:ext cx="2256" cy="2304"/>
              <a:chOff x="3216" y="912"/>
              <a:chExt cx="2256" cy="2304"/>
            </a:xfrm>
          </p:grpSpPr>
          <p:sp>
            <p:nvSpPr>
              <p:cNvPr id="40977" name="Line 21"/>
              <p:cNvSpPr>
                <a:spLocks noChangeAspect="1" noChangeShapeType="1"/>
              </p:cNvSpPr>
              <p:nvPr/>
            </p:nvSpPr>
            <p:spPr bwMode="auto">
              <a:xfrm>
                <a:off x="3360" y="2496"/>
                <a:ext cx="336" cy="0"/>
              </a:xfrm>
              <a:prstGeom prst="line">
                <a:avLst/>
              </a:prstGeom>
              <a:noFill/>
              <a:ln w="19050">
                <a:solidFill>
                  <a:srgbClr val="FF3300"/>
                </a:solidFill>
                <a:round/>
                <a:headEnd/>
                <a:tailEnd type="stealth" w="med" len="lg"/>
              </a:ln>
            </p:spPr>
            <p:txBody>
              <a:bodyPr wrap="none" anchor="ctr"/>
              <a:lstStyle/>
              <a:p>
                <a:endParaRPr lang="zh-CN" altLang="en-US"/>
              </a:p>
            </p:txBody>
          </p:sp>
          <p:sp>
            <p:nvSpPr>
              <p:cNvPr id="40978" name="Line 22"/>
              <p:cNvSpPr>
                <a:spLocks noChangeAspect="1" noChangeShapeType="1"/>
              </p:cNvSpPr>
              <p:nvPr/>
            </p:nvSpPr>
            <p:spPr bwMode="auto">
              <a:xfrm flipH="1">
                <a:off x="3367" y="3024"/>
                <a:ext cx="384" cy="0"/>
              </a:xfrm>
              <a:prstGeom prst="line">
                <a:avLst/>
              </a:prstGeom>
              <a:noFill/>
              <a:ln w="19050">
                <a:solidFill>
                  <a:srgbClr val="FF3300"/>
                </a:solidFill>
                <a:round/>
                <a:headEnd/>
                <a:tailEnd type="none" w="med" len="lg"/>
              </a:ln>
            </p:spPr>
            <p:txBody>
              <a:bodyPr wrap="none" anchor="ctr"/>
              <a:lstStyle/>
              <a:p>
                <a:endParaRPr lang="zh-CN" altLang="en-US"/>
              </a:p>
            </p:txBody>
          </p:sp>
          <p:sp>
            <p:nvSpPr>
              <p:cNvPr id="40979" name="Oval 23"/>
              <p:cNvSpPr>
                <a:spLocks noChangeAspect="1" noChangeArrowheads="1"/>
              </p:cNvSpPr>
              <p:nvPr/>
            </p:nvSpPr>
            <p:spPr bwMode="auto">
              <a:xfrm>
                <a:off x="3312" y="2468"/>
                <a:ext cx="48" cy="48"/>
              </a:xfrm>
              <a:prstGeom prst="ellipse">
                <a:avLst/>
              </a:prstGeom>
              <a:noFill/>
              <a:ln w="19050">
                <a:solidFill>
                  <a:schemeClr val="tx1"/>
                </a:solidFill>
                <a:round/>
                <a:headEnd/>
                <a:tailEnd type="none" w="med" len="lg"/>
              </a:ln>
            </p:spPr>
            <p:txBody>
              <a:bodyPr wrap="none" anchor="ctr"/>
              <a:lstStyle/>
              <a:p>
                <a:endParaRPr lang="zh-CN" altLang="en-US"/>
              </a:p>
            </p:txBody>
          </p:sp>
          <p:sp>
            <p:nvSpPr>
              <p:cNvPr id="40980" name="Oval 24"/>
              <p:cNvSpPr>
                <a:spLocks noChangeAspect="1" noChangeArrowheads="1"/>
              </p:cNvSpPr>
              <p:nvPr/>
            </p:nvSpPr>
            <p:spPr bwMode="auto">
              <a:xfrm>
                <a:off x="3312" y="3004"/>
                <a:ext cx="48" cy="48"/>
              </a:xfrm>
              <a:prstGeom prst="ellipse">
                <a:avLst/>
              </a:prstGeom>
              <a:noFill/>
              <a:ln w="19050">
                <a:solidFill>
                  <a:schemeClr val="tx1"/>
                </a:solidFill>
                <a:round/>
                <a:headEnd/>
                <a:tailEnd type="none" w="med" len="lg"/>
              </a:ln>
            </p:spPr>
            <p:txBody>
              <a:bodyPr wrap="none" anchor="ctr"/>
              <a:lstStyle/>
              <a:p>
                <a:endParaRPr lang="zh-CN" altLang="en-US"/>
              </a:p>
            </p:txBody>
          </p:sp>
          <p:sp>
            <p:nvSpPr>
              <p:cNvPr id="40981" name="Freeform 25"/>
              <p:cNvSpPr>
                <a:spLocks noChangeAspect="1"/>
              </p:cNvSpPr>
              <p:nvPr/>
            </p:nvSpPr>
            <p:spPr bwMode="auto">
              <a:xfrm>
                <a:off x="3216" y="2736"/>
                <a:ext cx="192" cy="96"/>
              </a:xfrm>
              <a:custGeom>
                <a:avLst/>
                <a:gdLst>
                  <a:gd name="T0" fmla="*/ 0 w 192"/>
                  <a:gd name="T1" fmla="*/ 48 h 96"/>
                  <a:gd name="T2" fmla="*/ 48 w 192"/>
                  <a:gd name="T3" fmla="*/ 0 h 96"/>
                  <a:gd name="T4" fmla="*/ 96 w 192"/>
                  <a:gd name="T5" fmla="*/ 48 h 96"/>
                  <a:gd name="T6" fmla="*/ 144 w 192"/>
                  <a:gd name="T7" fmla="*/ 96 h 96"/>
                  <a:gd name="T8" fmla="*/ 192 w 192"/>
                  <a:gd name="T9" fmla="*/ 48 h 96"/>
                  <a:gd name="T10" fmla="*/ 0 60000 65536"/>
                  <a:gd name="T11" fmla="*/ 0 60000 65536"/>
                  <a:gd name="T12" fmla="*/ 0 60000 65536"/>
                  <a:gd name="T13" fmla="*/ 0 60000 65536"/>
                  <a:gd name="T14" fmla="*/ 0 60000 65536"/>
                  <a:gd name="T15" fmla="*/ 0 w 192"/>
                  <a:gd name="T16" fmla="*/ 0 h 96"/>
                  <a:gd name="T17" fmla="*/ 192 w 192"/>
                  <a:gd name="T18" fmla="*/ 96 h 96"/>
                </a:gdLst>
                <a:ahLst/>
                <a:cxnLst>
                  <a:cxn ang="T10">
                    <a:pos x="T0" y="T1"/>
                  </a:cxn>
                  <a:cxn ang="T11">
                    <a:pos x="T2" y="T3"/>
                  </a:cxn>
                  <a:cxn ang="T12">
                    <a:pos x="T4" y="T5"/>
                  </a:cxn>
                  <a:cxn ang="T13">
                    <a:pos x="T6" y="T7"/>
                  </a:cxn>
                  <a:cxn ang="T14">
                    <a:pos x="T8" y="T9"/>
                  </a:cxn>
                </a:cxnLst>
                <a:rect l="T15" t="T16" r="T17" b="T18"/>
                <a:pathLst>
                  <a:path w="192" h="96">
                    <a:moveTo>
                      <a:pt x="0" y="48"/>
                    </a:moveTo>
                    <a:cubicBezTo>
                      <a:pt x="16" y="24"/>
                      <a:pt x="32" y="0"/>
                      <a:pt x="48" y="0"/>
                    </a:cubicBezTo>
                    <a:cubicBezTo>
                      <a:pt x="64" y="0"/>
                      <a:pt x="80" y="32"/>
                      <a:pt x="96" y="48"/>
                    </a:cubicBezTo>
                    <a:cubicBezTo>
                      <a:pt x="112" y="64"/>
                      <a:pt x="128" y="96"/>
                      <a:pt x="144" y="96"/>
                    </a:cubicBezTo>
                    <a:cubicBezTo>
                      <a:pt x="160" y="96"/>
                      <a:pt x="176" y="72"/>
                      <a:pt x="192" y="48"/>
                    </a:cubicBezTo>
                  </a:path>
                </a:pathLst>
              </a:custGeom>
              <a:noFill/>
              <a:ln w="19050">
                <a:solidFill>
                  <a:srgbClr val="FF3300"/>
                </a:solidFill>
                <a:round/>
                <a:headEnd/>
                <a:tailEnd type="none" w="med" len="lg"/>
              </a:ln>
            </p:spPr>
            <p:txBody>
              <a:bodyPr wrap="none" anchor="ctr"/>
              <a:lstStyle/>
              <a:p>
                <a:endParaRPr lang="zh-CN" altLang="en-US"/>
              </a:p>
            </p:txBody>
          </p:sp>
          <p:sp>
            <p:nvSpPr>
              <p:cNvPr id="40982" name="AutoShape 26"/>
              <p:cNvSpPr>
                <a:spLocks noChangeAspect="1" noChangeArrowheads="1"/>
              </p:cNvSpPr>
              <p:nvPr/>
            </p:nvSpPr>
            <p:spPr bwMode="auto">
              <a:xfrm>
                <a:off x="3504" y="1584"/>
                <a:ext cx="1968" cy="1632"/>
              </a:xfrm>
              <a:prstGeom prst="cube">
                <a:avLst>
                  <a:gd name="adj" fmla="val 25000"/>
                </a:avLst>
              </a:prstGeom>
              <a:noFill/>
              <a:ln w="12700">
                <a:solidFill>
                  <a:schemeClr val="tx1"/>
                </a:solidFill>
                <a:miter lim="800000"/>
                <a:headEnd/>
                <a:tailEnd type="none" w="med" len="lg"/>
              </a:ln>
            </p:spPr>
            <p:txBody>
              <a:bodyPr wrap="none" anchor="ctr"/>
              <a:lstStyle/>
              <a:p>
                <a:endParaRPr lang="zh-CN" altLang="en-US"/>
              </a:p>
            </p:txBody>
          </p:sp>
          <p:sp>
            <p:nvSpPr>
              <p:cNvPr id="40983" name="Line 27"/>
              <p:cNvSpPr>
                <a:spLocks noChangeAspect="1" noChangeShapeType="1"/>
              </p:cNvSpPr>
              <p:nvPr/>
            </p:nvSpPr>
            <p:spPr bwMode="auto">
              <a:xfrm>
                <a:off x="3936" y="2784"/>
                <a:ext cx="1536" cy="0"/>
              </a:xfrm>
              <a:prstGeom prst="line">
                <a:avLst/>
              </a:prstGeom>
              <a:noFill/>
              <a:ln w="19050">
                <a:solidFill>
                  <a:schemeClr val="tx1"/>
                </a:solidFill>
                <a:prstDash val="dash"/>
                <a:round/>
                <a:headEnd/>
                <a:tailEnd type="none" w="med" len="lg"/>
              </a:ln>
            </p:spPr>
            <p:txBody>
              <a:bodyPr wrap="none" anchor="ctr"/>
              <a:lstStyle/>
              <a:p>
                <a:endParaRPr lang="zh-CN" altLang="en-US"/>
              </a:p>
            </p:txBody>
          </p:sp>
          <p:sp>
            <p:nvSpPr>
              <p:cNvPr id="40984" name="Line 28"/>
              <p:cNvSpPr>
                <a:spLocks noChangeAspect="1" noChangeShapeType="1"/>
              </p:cNvSpPr>
              <p:nvPr/>
            </p:nvSpPr>
            <p:spPr bwMode="auto">
              <a:xfrm flipV="1">
                <a:off x="3504" y="2784"/>
                <a:ext cx="432" cy="432"/>
              </a:xfrm>
              <a:prstGeom prst="line">
                <a:avLst/>
              </a:prstGeom>
              <a:noFill/>
              <a:ln w="19050">
                <a:solidFill>
                  <a:schemeClr val="tx1"/>
                </a:solidFill>
                <a:prstDash val="dash"/>
                <a:round/>
                <a:headEnd/>
                <a:tailEnd type="none" w="med" len="lg"/>
              </a:ln>
            </p:spPr>
            <p:txBody>
              <a:bodyPr wrap="none" anchor="ctr"/>
              <a:lstStyle/>
              <a:p>
                <a:endParaRPr lang="zh-CN" altLang="en-US"/>
              </a:p>
            </p:txBody>
          </p:sp>
          <p:sp>
            <p:nvSpPr>
              <p:cNvPr id="40985" name="Line 29"/>
              <p:cNvSpPr>
                <a:spLocks noChangeAspect="1" noChangeShapeType="1"/>
              </p:cNvSpPr>
              <p:nvPr/>
            </p:nvSpPr>
            <p:spPr bwMode="auto">
              <a:xfrm>
                <a:off x="3936" y="1584"/>
                <a:ext cx="0" cy="1248"/>
              </a:xfrm>
              <a:prstGeom prst="line">
                <a:avLst/>
              </a:prstGeom>
              <a:noFill/>
              <a:ln w="19050">
                <a:solidFill>
                  <a:schemeClr val="tx1"/>
                </a:solidFill>
                <a:prstDash val="dash"/>
                <a:round/>
                <a:headEnd/>
                <a:tailEnd type="none" w="med" len="lg"/>
              </a:ln>
            </p:spPr>
            <p:txBody>
              <a:bodyPr wrap="none" anchor="ctr"/>
              <a:lstStyle/>
              <a:p>
                <a:endParaRPr lang="zh-CN" altLang="en-US"/>
              </a:p>
            </p:txBody>
          </p:sp>
          <p:grpSp>
            <p:nvGrpSpPr>
              <p:cNvPr id="40986" name="Group 30"/>
              <p:cNvGrpSpPr>
                <a:grpSpLocks noChangeAspect="1"/>
              </p:cNvGrpSpPr>
              <p:nvPr/>
            </p:nvGrpSpPr>
            <p:grpSpPr bwMode="auto">
              <a:xfrm>
                <a:off x="3928" y="2208"/>
                <a:ext cx="976" cy="864"/>
                <a:chOff x="3928" y="1344"/>
                <a:chExt cx="976" cy="864"/>
              </a:xfrm>
            </p:grpSpPr>
            <p:sp>
              <p:nvSpPr>
                <p:cNvPr id="41025" name="Oval 31"/>
                <p:cNvSpPr>
                  <a:spLocks noChangeAspect="1" noChangeArrowheads="1"/>
                </p:cNvSpPr>
                <p:nvPr/>
              </p:nvSpPr>
              <p:spPr bwMode="auto">
                <a:xfrm>
                  <a:off x="3936" y="1344"/>
                  <a:ext cx="960" cy="432"/>
                </a:xfrm>
                <a:prstGeom prst="ellipse">
                  <a:avLst/>
                </a:prstGeom>
                <a:noFill/>
                <a:ln w="19050">
                  <a:solidFill>
                    <a:schemeClr val="tx1"/>
                  </a:solidFill>
                  <a:round/>
                  <a:headEnd/>
                  <a:tailEnd type="none" w="med" len="lg"/>
                </a:ln>
              </p:spPr>
              <p:txBody>
                <a:bodyPr wrap="none" anchor="ctr"/>
                <a:lstStyle/>
                <a:p>
                  <a:endParaRPr lang="zh-CN" altLang="en-US"/>
                </a:p>
              </p:txBody>
            </p:sp>
            <p:sp>
              <p:nvSpPr>
                <p:cNvPr id="41026" name="Freeform 32"/>
                <p:cNvSpPr>
                  <a:spLocks noChangeAspect="1"/>
                </p:cNvSpPr>
                <p:nvPr/>
              </p:nvSpPr>
              <p:spPr bwMode="auto">
                <a:xfrm>
                  <a:off x="3928" y="1536"/>
                  <a:ext cx="488" cy="672"/>
                </a:xfrm>
                <a:custGeom>
                  <a:avLst/>
                  <a:gdLst>
                    <a:gd name="T0" fmla="*/ 8 w 488"/>
                    <a:gd name="T1" fmla="*/ 0 h 672"/>
                    <a:gd name="T2" fmla="*/ 8 w 488"/>
                    <a:gd name="T3" fmla="*/ 192 h 672"/>
                    <a:gd name="T4" fmla="*/ 56 w 488"/>
                    <a:gd name="T5" fmla="*/ 384 h 672"/>
                    <a:gd name="T6" fmla="*/ 248 w 488"/>
                    <a:gd name="T7" fmla="*/ 624 h 672"/>
                    <a:gd name="T8" fmla="*/ 488 w 488"/>
                    <a:gd name="T9" fmla="*/ 672 h 672"/>
                    <a:gd name="T10" fmla="*/ 0 60000 65536"/>
                    <a:gd name="T11" fmla="*/ 0 60000 65536"/>
                    <a:gd name="T12" fmla="*/ 0 60000 65536"/>
                    <a:gd name="T13" fmla="*/ 0 60000 65536"/>
                    <a:gd name="T14" fmla="*/ 0 60000 65536"/>
                    <a:gd name="T15" fmla="*/ 0 w 488"/>
                    <a:gd name="T16" fmla="*/ 0 h 672"/>
                    <a:gd name="T17" fmla="*/ 488 w 488"/>
                    <a:gd name="T18" fmla="*/ 672 h 672"/>
                  </a:gdLst>
                  <a:ahLst/>
                  <a:cxnLst>
                    <a:cxn ang="T10">
                      <a:pos x="T0" y="T1"/>
                    </a:cxn>
                    <a:cxn ang="T11">
                      <a:pos x="T2" y="T3"/>
                    </a:cxn>
                    <a:cxn ang="T12">
                      <a:pos x="T4" y="T5"/>
                    </a:cxn>
                    <a:cxn ang="T13">
                      <a:pos x="T6" y="T7"/>
                    </a:cxn>
                    <a:cxn ang="T14">
                      <a:pos x="T8" y="T9"/>
                    </a:cxn>
                  </a:cxnLst>
                  <a:rect l="T15" t="T16" r="T17" b="T18"/>
                  <a:pathLst>
                    <a:path w="488" h="672">
                      <a:moveTo>
                        <a:pt x="8" y="0"/>
                      </a:moveTo>
                      <a:cubicBezTo>
                        <a:pt x="4" y="64"/>
                        <a:pt x="0" y="128"/>
                        <a:pt x="8" y="192"/>
                      </a:cubicBezTo>
                      <a:cubicBezTo>
                        <a:pt x="16" y="256"/>
                        <a:pt x="16" y="312"/>
                        <a:pt x="56" y="384"/>
                      </a:cubicBezTo>
                      <a:cubicBezTo>
                        <a:pt x="96" y="456"/>
                        <a:pt x="176" y="576"/>
                        <a:pt x="248" y="624"/>
                      </a:cubicBezTo>
                      <a:cubicBezTo>
                        <a:pt x="320" y="672"/>
                        <a:pt x="404" y="672"/>
                        <a:pt x="488" y="672"/>
                      </a:cubicBezTo>
                    </a:path>
                  </a:pathLst>
                </a:custGeom>
                <a:noFill/>
                <a:ln w="19050">
                  <a:solidFill>
                    <a:schemeClr val="tx1"/>
                  </a:solidFill>
                  <a:round/>
                  <a:headEnd/>
                  <a:tailEnd type="none" w="med" len="lg"/>
                </a:ln>
              </p:spPr>
              <p:txBody>
                <a:bodyPr wrap="none" anchor="ctr"/>
                <a:lstStyle/>
                <a:p>
                  <a:endParaRPr lang="zh-CN" altLang="en-US"/>
                </a:p>
              </p:txBody>
            </p:sp>
            <p:sp>
              <p:nvSpPr>
                <p:cNvPr id="41027" name="Freeform 33"/>
                <p:cNvSpPr>
                  <a:spLocks noChangeAspect="1"/>
                </p:cNvSpPr>
                <p:nvPr/>
              </p:nvSpPr>
              <p:spPr bwMode="auto">
                <a:xfrm flipH="1">
                  <a:off x="4416" y="1536"/>
                  <a:ext cx="488" cy="672"/>
                </a:xfrm>
                <a:custGeom>
                  <a:avLst/>
                  <a:gdLst>
                    <a:gd name="T0" fmla="*/ 8 w 488"/>
                    <a:gd name="T1" fmla="*/ 0 h 672"/>
                    <a:gd name="T2" fmla="*/ 8 w 488"/>
                    <a:gd name="T3" fmla="*/ 192 h 672"/>
                    <a:gd name="T4" fmla="*/ 56 w 488"/>
                    <a:gd name="T5" fmla="*/ 384 h 672"/>
                    <a:gd name="T6" fmla="*/ 248 w 488"/>
                    <a:gd name="T7" fmla="*/ 624 h 672"/>
                    <a:gd name="T8" fmla="*/ 488 w 488"/>
                    <a:gd name="T9" fmla="*/ 672 h 672"/>
                    <a:gd name="T10" fmla="*/ 0 60000 65536"/>
                    <a:gd name="T11" fmla="*/ 0 60000 65536"/>
                    <a:gd name="T12" fmla="*/ 0 60000 65536"/>
                    <a:gd name="T13" fmla="*/ 0 60000 65536"/>
                    <a:gd name="T14" fmla="*/ 0 60000 65536"/>
                    <a:gd name="T15" fmla="*/ 0 w 488"/>
                    <a:gd name="T16" fmla="*/ 0 h 672"/>
                    <a:gd name="T17" fmla="*/ 488 w 488"/>
                    <a:gd name="T18" fmla="*/ 672 h 672"/>
                  </a:gdLst>
                  <a:ahLst/>
                  <a:cxnLst>
                    <a:cxn ang="T10">
                      <a:pos x="T0" y="T1"/>
                    </a:cxn>
                    <a:cxn ang="T11">
                      <a:pos x="T2" y="T3"/>
                    </a:cxn>
                    <a:cxn ang="T12">
                      <a:pos x="T4" y="T5"/>
                    </a:cxn>
                    <a:cxn ang="T13">
                      <a:pos x="T6" y="T7"/>
                    </a:cxn>
                    <a:cxn ang="T14">
                      <a:pos x="T8" y="T9"/>
                    </a:cxn>
                  </a:cxnLst>
                  <a:rect l="T15" t="T16" r="T17" b="T18"/>
                  <a:pathLst>
                    <a:path w="488" h="672">
                      <a:moveTo>
                        <a:pt x="8" y="0"/>
                      </a:moveTo>
                      <a:cubicBezTo>
                        <a:pt x="4" y="64"/>
                        <a:pt x="0" y="128"/>
                        <a:pt x="8" y="192"/>
                      </a:cubicBezTo>
                      <a:cubicBezTo>
                        <a:pt x="16" y="256"/>
                        <a:pt x="16" y="312"/>
                        <a:pt x="56" y="384"/>
                      </a:cubicBezTo>
                      <a:cubicBezTo>
                        <a:pt x="96" y="456"/>
                        <a:pt x="176" y="576"/>
                        <a:pt x="248" y="624"/>
                      </a:cubicBezTo>
                      <a:cubicBezTo>
                        <a:pt x="320" y="672"/>
                        <a:pt x="404" y="672"/>
                        <a:pt x="488" y="672"/>
                      </a:cubicBezTo>
                    </a:path>
                  </a:pathLst>
                </a:custGeom>
                <a:noFill/>
                <a:ln w="19050">
                  <a:solidFill>
                    <a:schemeClr val="tx1"/>
                  </a:solidFill>
                  <a:round/>
                  <a:headEnd/>
                  <a:tailEnd type="none" w="med" len="lg"/>
                </a:ln>
              </p:spPr>
              <p:txBody>
                <a:bodyPr wrap="none" anchor="ctr"/>
                <a:lstStyle/>
                <a:p>
                  <a:endParaRPr lang="zh-CN" altLang="en-US"/>
                </a:p>
              </p:txBody>
            </p:sp>
          </p:grpSp>
          <p:sp>
            <p:nvSpPr>
              <p:cNvPr id="40987" name="Freeform 34"/>
              <p:cNvSpPr>
                <a:spLocks noChangeAspect="1"/>
              </p:cNvSpPr>
              <p:nvPr/>
            </p:nvSpPr>
            <p:spPr bwMode="auto">
              <a:xfrm>
                <a:off x="4416" y="2304"/>
                <a:ext cx="144" cy="144"/>
              </a:xfrm>
              <a:custGeom>
                <a:avLst/>
                <a:gdLst>
                  <a:gd name="T0" fmla="*/ 0 w 144"/>
                  <a:gd name="T1" fmla="*/ 48 h 144"/>
                  <a:gd name="T2" fmla="*/ 96 w 144"/>
                  <a:gd name="T3" fmla="*/ 0 h 144"/>
                  <a:gd name="T4" fmla="*/ 144 w 144"/>
                  <a:gd name="T5" fmla="*/ 96 h 144"/>
                  <a:gd name="T6" fmla="*/ 48 w 144"/>
                  <a:gd name="T7" fmla="*/ 144 h 144"/>
                  <a:gd name="T8" fmla="*/ 0 w 144"/>
                  <a:gd name="T9" fmla="*/ 144 h 144"/>
                  <a:gd name="T10" fmla="*/ 0 w 144"/>
                  <a:gd name="T11" fmla="*/ 48 h 144"/>
                  <a:gd name="T12" fmla="*/ 0 60000 65536"/>
                  <a:gd name="T13" fmla="*/ 0 60000 65536"/>
                  <a:gd name="T14" fmla="*/ 0 60000 65536"/>
                  <a:gd name="T15" fmla="*/ 0 60000 65536"/>
                  <a:gd name="T16" fmla="*/ 0 60000 65536"/>
                  <a:gd name="T17" fmla="*/ 0 60000 65536"/>
                  <a:gd name="T18" fmla="*/ 0 w 144"/>
                  <a:gd name="T19" fmla="*/ 0 h 144"/>
                  <a:gd name="T20" fmla="*/ 144 w 144"/>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44" h="144">
                    <a:moveTo>
                      <a:pt x="0" y="48"/>
                    </a:moveTo>
                    <a:lnTo>
                      <a:pt x="96" y="0"/>
                    </a:lnTo>
                    <a:lnTo>
                      <a:pt x="144" y="96"/>
                    </a:lnTo>
                    <a:lnTo>
                      <a:pt x="48" y="144"/>
                    </a:lnTo>
                    <a:lnTo>
                      <a:pt x="0" y="144"/>
                    </a:lnTo>
                    <a:lnTo>
                      <a:pt x="0" y="48"/>
                    </a:lnTo>
                    <a:close/>
                  </a:path>
                </a:pathLst>
              </a:custGeom>
              <a:noFill/>
              <a:ln w="19050">
                <a:solidFill>
                  <a:schemeClr val="tx1"/>
                </a:solidFill>
                <a:round/>
                <a:headEnd/>
                <a:tailEnd type="none" w="med" len="lg"/>
              </a:ln>
            </p:spPr>
            <p:txBody>
              <a:bodyPr wrap="none" anchor="ctr"/>
              <a:lstStyle/>
              <a:p>
                <a:endParaRPr lang="zh-CN" altLang="en-US"/>
              </a:p>
            </p:txBody>
          </p:sp>
          <p:sp>
            <p:nvSpPr>
              <p:cNvPr id="40988" name="Freeform 35"/>
              <p:cNvSpPr>
                <a:spLocks noChangeAspect="1"/>
              </p:cNvSpPr>
              <p:nvPr/>
            </p:nvSpPr>
            <p:spPr bwMode="auto">
              <a:xfrm>
                <a:off x="4224" y="2304"/>
                <a:ext cx="144" cy="192"/>
              </a:xfrm>
              <a:custGeom>
                <a:avLst/>
                <a:gdLst>
                  <a:gd name="T0" fmla="*/ 48 w 144"/>
                  <a:gd name="T1" fmla="*/ 0 h 192"/>
                  <a:gd name="T2" fmla="*/ 144 w 144"/>
                  <a:gd name="T3" fmla="*/ 48 h 192"/>
                  <a:gd name="T4" fmla="*/ 144 w 144"/>
                  <a:gd name="T5" fmla="*/ 192 h 192"/>
                  <a:gd name="T6" fmla="*/ 48 w 144"/>
                  <a:gd name="T7" fmla="*/ 192 h 192"/>
                  <a:gd name="T8" fmla="*/ 0 w 144"/>
                  <a:gd name="T9" fmla="*/ 96 h 192"/>
                  <a:gd name="T10" fmla="*/ 0 w 144"/>
                  <a:gd name="T11" fmla="*/ 48 h 192"/>
                  <a:gd name="T12" fmla="*/ 48 w 144"/>
                  <a:gd name="T13" fmla="*/ 0 h 192"/>
                  <a:gd name="T14" fmla="*/ 0 60000 65536"/>
                  <a:gd name="T15" fmla="*/ 0 60000 65536"/>
                  <a:gd name="T16" fmla="*/ 0 60000 65536"/>
                  <a:gd name="T17" fmla="*/ 0 60000 65536"/>
                  <a:gd name="T18" fmla="*/ 0 60000 65536"/>
                  <a:gd name="T19" fmla="*/ 0 60000 65536"/>
                  <a:gd name="T20" fmla="*/ 0 60000 65536"/>
                  <a:gd name="T21" fmla="*/ 0 w 144"/>
                  <a:gd name="T22" fmla="*/ 0 h 192"/>
                  <a:gd name="T23" fmla="*/ 144 w 144"/>
                  <a:gd name="T24" fmla="*/ 192 h 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192">
                    <a:moveTo>
                      <a:pt x="48" y="0"/>
                    </a:moveTo>
                    <a:lnTo>
                      <a:pt x="144" y="48"/>
                    </a:lnTo>
                    <a:lnTo>
                      <a:pt x="144" y="192"/>
                    </a:lnTo>
                    <a:lnTo>
                      <a:pt x="48" y="192"/>
                    </a:lnTo>
                    <a:lnTo>
                      <a:pt x="0" y="96"/>
                    </a:lnTo>
                    <a:lnTo>
                      <a:pt x="0" y="48"/>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0989" name="Freeform 36"/>
              <p:cNvSpPr>
                <a:spLocks noChangeAspect="1"/>
              </p:cNvSpPr>
              <p:nvPr/>
            </p:nvSpPr>
            <p:spPr bwMode="auto">
              <a:xfrm>
                <a:off x="4032" y="2352"/>
                <a:ext cx="168" cy="224"/>
              </a:xfrm>
              <a:custGeom>
                <a:avLst/>
                <a:gdLst>
                  <a:gd name="T0" fmla="*/ 64 w 168"/>
                  <a:gd name="T1" fmla="*/ 24 h 224"/>
                  <a:gd name="T2" fmla="*/ 160 w 168"/>
                  <a:gd name="T3" fmla="*/ 120 h 224"/>
                  <a:gd name="T4" fmla="*/ 112 w 168"/>
                  <a:gd name="T5" fmla="*/ 216 h 224"/>
                  <a:gd name="T6" fmla="*/ 16 w 168"/>
                  <a:gd name="T7" fmla="*/ 168 h 224"/>
                  <a:gd name="T8" fmla="*/ 16 w 168"/>
                  <a:gd name="T9" fmla="*/ 24 h 224"/>
                  <a:gd name="T10" fmla="*/ 64 w 168"/>
                  <a:gd name="T11" fmla="*/ 24 h 224"/>
                  <a:gd name="T12" fmla="*/ 0 60000 65536"/>
                  <a:gd name="T13" fmla="*/ 0 60000 65536"/>
                  <a:gd name="T14" fmla="*/ 0 60000 65536"/>
                  <a:gd name="T15" fmla="*/ 0 60000 65536"/>
                  <a:gd name="T16" fmla="*/ 0 60000 65536"/>
                  <a:gd name="T17" fmla="*/ 0 60000 65536"/>
                  <a:gd name="T18" fmla="*/ 0 w 168"/>
                  <a:gd name="T19" fmla="*/ 0 h 224"/>
                  <a:gd name="T20" fmla="*/ 168 w 168"/>
                  <a:gd name="T21" fmla="*/ 224 h 224"/>
                </a:gdLst>
                <a:ahLst/>
                <a:cxnLst>
                  <a:cxn ang="T12">
                    <a:pos x="T0" y="T1"/>
                  </a:cxn>
                  <a:cxn ang="T13">
                    <a:pos x="T2" y="T3"/>
                  </a:cxn>
                  <a:cxn ang="T14">
                    <a:pos x="T4" y="T5"/>
                  </a:cxn>
                  <a:cxn ang="T15">
                    <a:pos x="T6" y="T7"/>
                  </a:cxn>
                  <a:cxn ang="T16">
                    <a:pos x="T8" y="T9"/>
                  </a:cxn>
                  <a:cxn ang="T17">
                    <a:pos x="T10" y="T11"/>
                  </a:cxn>
                </a:cxnLst>
                <a:rect l="T18" t="T19" r="T20" b="T21"/>
                <a:pathLst>
                  <a:path w="168" h="224">
                    <a:moveTo>
                      <a:pt x="64" y="24"/>
                    </a:moveTo>
                    <a:cubicBezTo>
                      <a:pt x="88" y="40"/>
                      <a:pt x="152" y="88"/>
                      <a:pt x="160" y="120"/>
                    </a:cubicBezTo>
                    <a:cubicBezTo>
                      <a:pt x="168" y="152"/>
                      <a:pt x="136" y="208"/>
                      <a:pt x="112" y="216"/>
                    </a:cubicBezTo>
                    <a:cubicBezTo>
                      <a:pt x="88" y="224"/>
                      <a:pt x="32" y="200"/>
                      <a:pt x="16" y="168"/>
                    </a:cubicBezTo>
                    <a:cubicBezTo>
                      <a:pt x="0" y="136"/>
                      <a:pt x="8" y="48"/>
                      <a:pt x="16" y="24"/>
                    </a:cubicBezTo>
                    <a:cubicBezTo>
                      <a:pt x="24" y="0"/>
                      <a:pt x="40" y="8"/>
                      <a:pt x="64" y="24"/>
                    </a:cubicBezTo>
                    <a:close/>
                  </a:path>
                </a:pathLst>
              </a:custGeom>
              <a:noFill/>
              <a:ln w="19050">
                <a:solidFill>
                  <a:schemeClr val="tx1"/>
                </a:solidFill>
                <a:round/>
                <a:headEnd/>
                <a:tailEnd type="none" w="med" len="lg"/>
              </a:ln>
            </p:spPr>
            <p:txBody>
              <a:bodyPr wrap="none" anchor="ctr"/>
              <a:lstStyle/>
              <a:p>
                <a:endParaRPr lang="zh-CN" altLang="en-US"/>
              </a:p>
            </p:txBody>
          </p:sp>
          <p:sp>
            <p:nvSpPr>
              <p:cNvPr id="40990" name="Freeform 37"/>
              <p:cNvSpPr>
                <a:spLocks noChangeAspect="1"/>
              </p:cNvSpPr>
              <p:nvPr/>
            </p:nvSpPr>
            <p:spPr bwMode="auto">
              <a:xfrm>
                <a:off x="4176" y="2448"/>
                <a:ext cx="144" cy="144"/>
              </a:xfrm>
              <a:custGeom>
                <a:avLst/>
                <a:gdLst>
                  <a:gd name="T0" fmla="*/ 0 w 144"/>
                  <a:gd name="T1" fmla="*/ 48 h 144"/>
                  <a:gd name="T2" fmla="*/ 96 w 144"/>
                  <a:gd name="T3" fmla="*/ 0 h 144"/>
                  <a:gd name="T4" fmla="*/ 144 w 144"/>
                  <a:gd name="T5" fmla="*/ 96 h 144"/>
                  <a:gd name="T6" fmla="*/ 48 w 144"/>
                  <a:gd name="T7" fmla="*/ 144 h 144"/>
                  <a:gd name="T8" fmla="*/ 0 w 144"/>
                  <a:gd name="T9" fmla="*/ 144 h 144"/>
                  <a:gd name="T10" fmla="*/ 0 w 144"/>
                  <a:gd name="T11" fmla="*/ 48 h 144"/>
                  <a:gd name="T12" fmla="*/ 0 60000 65536"/>
                  <a:gd name="T13" fmla="*/ 0 60000 65536"/>
                  <a:gd name="T14" fmla="*/ 0 60000 65536"/>
                  <a:gd name="T15" fmla="*/ 0 60000 65536"/>
                  <a:gd name="T16" fmla="*/ 0 60000 65536"/>
                  <a:gd name="T17" fmla="*/ 0 60000 65536"/>
                  <a:gd name="T18" fmla="*/ 0 w 144"/>
                  <a:gd name="T19" fmla="*/ 0 h 144"/>
                  <a:gd name="T20" fmla="*/ 144 w 144"/>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44" h="144">
                    <a:moveTo>
                      <a:pt x="0" y="48"/>
                    </a:moveTo>
                    <a:lnTo>
                      <a:pt x="96" y="0"/>
                    </a:lnTo>
                    <a:lnTo>
                      <a:pt x="144" y="96"/>
                    </a:lnTo>
                    <a:lnTo>
                      <a:pt x="48" y="144"/>
                    </a:lnTo>
                    <a:lnTo>
                      <a:pt x="0" y="144"/>
                    </a:lnTo>
                    <a:lnTo>
                      <a:pt x="0" y="48"/>
                    </a:lnTo>
                    <a:close/>
                  </a:path>
                </a:pathLst>
              </a:custGeom>
              <a:noFill/>
              <a:ln w="19050">
                <a:solidFill>
                  <a:schemeClr val="tx1"/>
                </a:solidFill>
                <a:round/>
                <a:headEnd/>
                <a:tailEnd type="none" w="med" len="lg"/>
              </a:ln>
            </p:spPr>
            <p:txBody>
              <a:bodyPr wrap="none" anchor="ctr"/>
              <a:lstStyle/>
              <a:p>
                <a:endParaRPr lang="zh-CN" altLang="en-US"/>
              </a:p>
            </p:txBody>
          </p:sp>
          <p:sp>
            <p:nvSpPr>
              <p:cNvPr id="40991" name="Freeform 38"/>
              <p:cNvSpPr>
                <a:spLocks noChangeAspect="1"/>
              </p:cNvSpPr>
              <p:nvPr/>
            </p:nvSpPr>
            <p:spPr bwMode="auto">
              <a:xfrm>
                <a:off x="4464" y="2160"/>
                <a:ext cx="144" cy="192"/>
              </a:xfrm>
              <a:custGeom>
                <a:avLst/>
                <a:gdLst>
                  <a:gd name="T0" fmla="*/ 48 w 144"/>
                  <a:gd name="T1" fmla="*/ 0 h 192"/>
                  <a:gd name="T2" fmla="*/ 144 w 144"/>
                  <a:gd name="T3" fmla="*/ 48 h 192"/>
                  <a:gd name="T4" fmla="*/ 144 w 144"/>
                  <a:gd name="T5" fmla="*/ 192 h 192"/>
                  <a:gd name="T6" fmla="*/ 48 w 144"/>
                  <a:gd name="T7" fmla="*/ 192 h 192"/>
                  <a:gd name="T8" fmla="*/ 0 w 144"/>
                  <a:gd name="T9" fmla="*/ 96 h 192"/>
                  <a:gd name="T10" fmla="*/ 0 w 144"/>
                  <a:gd name="T11" fmla="*/ 48 h 192"/>
                  <a:gd name="T12" fmla="*/ 48 w 144"/>
                  <a:gd name="T13" fmla="*/ 0 h 192"/>
                  <a:gd name="T14" fmla="*/ 0 60000 65536"/>
                  <a:gd name="T15" fmla="*/ 0 60000 65536"/>
                  <a:gd name="T16" fmla="*/ 0 60000 65536"/>
                  <a:gd name="T17" fmla="*/ 0 60000 65536"/>
                  <a:gd name="T18" fmla="*/ 0 60000 65536"/>
                  <a:gd name="T19" fmla="*/ 0 60000 65536"/>
                  <a:gd name="T20" fmla="*/ 0 60000 65536"/>
                  <a:gd name="T21" fmla="*/ 0 w 144"/>
                  <a:gd name="T22" fmla="*/ 0 h 192"/>
                  <a:gd name="T23" fmla="*/ 144 w 144"/>
                  <a:gd name="T24" fmla="*/ 192 h 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192">
                    <a:moveTo>
                      <a:pt x="48" y="0"/>
                    </a:moveTo>
                    <a:lnTo>
                      <a:pt x="144" y="48"/>
                    </a:lnTo>
                    <a:lnTo>
                      <a:pt x="144" y="192"/>
                    </a:lnTo>
                    <a:lnTo>
                      <a:pt x="48" y="192"/>
                    </a:lnTo>
                    <a:lnTo>
                      <a:pt x="0" y="96"/>
                    </a:lnTo>
                    <a:lnTo>
                      <a:pt x="0" y="48"/>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0992" name="Freeform 39"/>
              <p:cNvSpPr>
                <a:spLocks noChangeAspect="1"/>
              </p:cNvSpPr>
              <p:nvPr/>
            </p:nvSpPr>
            <p:spPr bwMode="auto">
              <a:xfrm>
                <a:off x="4608" y="2256"/>
                <a:ext cx="168" cy="224"/>
              </a:xfrm>
              <a:custGeom>
                <a:avLst/>
                <a:gdLst>
                  <a:gd name="T0" fmla="*/ 64 w 168"/>
                  <a:gd name="T1" fmla="*/ 24 h 224"/>
                  <a:gd name="T2" fmla="*/ 160 w 168"/>
                  <a:gd name="T3" fmla="*/ 120 h 224"/>
                  <a:gd name="T4" fmla="*/ 112 w 168"/>
                  <a:gd name="T5" fmla="*/ 216 h 224"/>
                  <a:gd name="T6" fmla="*/ 16 w 168"/>
                  <a:gd name="T7" fmla="*/ 168 h 224"/>
                  <a:gd name="T8" fmla="*/ 16 w 168"/>
                  <a:gd name="T9" fmla="*/ 24 h 224"/>
                  <a:gd name="T10" fmla="*/ 64 w 168"/>
                  <a:gd name="T11" fmla="*/ 24 h 224"/>
                  <a:gd name="T12" fmla="*/ 0 60000 65536"/>
                  <a:gd name="T13" fmla="*/ 0 60000 65536"/>
                  <a:gd name="T14" fmla="*/ 0 60000 65536"/>
                  <a:gd name="T15" fmla="*/ 0 60000 65536"/>
                  <a:gd name="T16" fmla="*/ 0 60000 65536"/>
                  <a:gd name="T17" fmla="*/ 0 60000 65536"/>
                  <a:gd name="T18" fmla="*/ 0 w 168"/>
                  <a:gd name="T19" fmla="*/ 0 h 224"/>
                  <a:gd name="T20" fmla="*/ 168 w 168"/>
                  <a:gd name="T21" fmla="*/ 224 h 224"/>
                </a:gdLst>
                <a:ahLst/>
                <a:cxnLst>
                  <a:cxn ang="T12">
                    <a:pos x="T0" y="T1"/>
                  </a:cxn>
                  <a:cxn ang="T13">
                    <a:pos x="T2" y="T3"/>
                  </a:cxn>
                  <a:cxn ang="T14">
                    <a:pos x="T4" y="T5"/>
                  </a:cxn>
                  <a:cxn ang="T15">
                    <a:pos x="T6" y="T7"/>
                  </a:cxn>
                  <a:cxn ang="T16">
                    <a:pos x="T8" y="T9"/>
                  </a:cxn>
                  <a:cxn ang="T17">
                    <a:pos x="T10" y="T11"/>
                  </a:cxn>
                </a:cxnLst>
                <a:rect l="T18" t="T19" r="T20" b="T21"/>
                <a:pathLst>
                  <a:path w="168" h="224">
                    <a:moveTo>
                      <a:pt x="64" y="24"/>
                    </a:moveTo>
                    <a:cubicBezTo>
                      <a:pt x="88" y="40"/>
                      <a:pt x="152" y="88"/>
                      <a:pt x="160" y="120"/>
                    </a:cubicBezTo>
                    <a:cubicBezTo>
                      <a:pt x="168" y="152"/>
                      <a:pt x="136" y="208"/>
                      <a:pt x="112" y="216"/>
                    </a:cubicBezTo>
                    <a:cubicBezTo>
                      <a:pt x="88" y="224"/>
                      <a:pt x="32" y="200"/>
                      <a:pt x="16" y="168"/>
                    </a:cubicBezTo>
                    <a:cubicBezTo>
                      <a:pt x="0" y="136"/>
                      <a:pt x="8" y="48"/>
                      <a:pt x="16" y="24"/>
                    </a:cubicBezTo>
                    <a:cubicBezTo>
                      <a:pt x="24" y="0"/>
                      <a:pt x="40" y="8"/>
                      <a:pt x="64" y="24"/>
                    </a:cubicBezTo>
                    <a:close/>
                  </a:path>
                </a:pathLst>
              </a:custGeom>
              <a:noFill/>
              <a:ln w="19050">
                <a:solidFill>
                  <a:schemeClr val="tx1"/>
                </a:solidFill>
                <a:round/>
                <a:headEnd/>
                <a:tailEnd type="none" w="med" len="lg"/>
              </a:ln>
            </p:spPr>
            <p:txBody>
              <a:bodyPr wrap="none" anchor="ctr"/>
              <a:lstStyle/>
              <a:p>
                <a:endParaRPr lang="zh-CN" altLang="en-US"/>
              </a:p>
            </p:txBody>
          </p:sp>
          <p:sp>
            <p:nvSpPr>
              <p:cNvPr id="40993" name="Freeform 40"/>
              <p:cNvSpPr>
                <a:spLocks noChangeAspect="1"/>
              </p:cNvSpPr>
              <p:nvPr/>
            </p:nvSpPr>
            <p:spPr bwMode="auto">
              <a:xfrm>
                <a:off x="4512" y="2400"/>
                <a:ext cx="192" cy="144"/>
              </a:xfrm>
              <a:custGeom>
                <a:avLst/>
                <a:gdLst>
                  <a:gd name="T0" fmla="*/ 48 w 192"/>
                  <a:gd name="T1" fmla="*/ 0 h 144"/>
                  <a:gd name="T2" fmla="*/ 192 w 192"/>
                  <a:gd name="T3" fmla="*/ 48 h 144"/>
                  <a:gd name="T4" fmla="*/ 96 w 192"/>
                  <a:gd name="T5" fmla="*/ 144 h 144"/>
                  <a:gd name="T6" fmla="*/ 0 w 192"/>
                  <a:gd name="T7" fmla="*/ 96 h 144"/>
                  <a:gd name="T8" fmla="*/ 48 w 192"/>
                  <a:gd name="T9" fmla="*/ 0 h 144"/>
                  <a:gd name="T10" fmla="*/ 0 60000 65536"/>
                  <a:gd name="T11" fmla="*/ 0 60000 65536"/>
                  <a:gd name="T12" fmla="*/ 0 60000 65536"/>
                  <a:gd name="T13" fmla="*/ 0 60000 65536"/>
                  <a:gd name="T14" fmla="*/ 0 60000 65536"/>
                  <a:gd name="T15" fmla="*/ 0 w 192"/>
                  <a:gd name="T16" fmla="*/ 0 h 144"/>
                  <a:gd name="T17" fmla="*/ 192 w 192"/>
                  <a:gd name="T18" fmla="*/ 144 h 144"/>
                </a:gdLst>
                <a:ahLst/>
                <a:cxnLst>
                  <a:cxn ang="T10">
                    <a:pos x="T0" y="T1"/>
                  </a:cxn>
                  <a:cxn ang="T11">
                    <a:pos x="T2" y="T3"/>
                  </a:cxn>
                  <a:cxn ang="T12">
                    <a:pos x="T4" y="T5"/>
                  </a:cxn>
                  <a:cxn ang="T13">
                    <a:pos x="T6" y="T7"/>
                  </a:cxn>
                  <a:cxn ang="T14">
                    <a:pos x="T8" y="T9"/>
                  </a:cxn>
                </a:cxnLst>
                <a:rect l="T15" t="T16" r="T17" b="T18"/>
                <a:pathLst>
                  <a:path w="192" h="144">
                    <a:moveTo>
                      <a:pt x="48" y="0"/>
                    </a:moveTo>
                    <a:lnTo>
                      <a:pt x="192" y="48"/>
                    </a:lnTo>
                    <a:lnTo>
                      <a:pt x="96" y="144"/>
                    </a:lnTo>
                    <a:lnTo>
                      <a:pt x="0" y="96"/>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0994" name="Freeform 41"/>
              <p:cNvSpPr>
                <a:spLocks noChangeAspect="1"/>
              </p:cNvSpPr>
              <p:nvPr/>
            </p:nvSpPr>
            <p:spPr bwMode="auto">
              <a:xfrm>
                <a:off x="4272" y="2496"/>
                <a:ext cx="160" cy="152"/>
              </a:xfrm>
              <a:custGeom>
                <a:avLst/>
                <a:gdLst>
                  <a:gd name="T0" fmla="*/ 48 w 160"/>
                  <a:gd name="T1" fmla="*/ 8 h 152"/>
                  <a:gd name="T2" fmla="*/ 144 w 160"/>
                  <a:gd name="T3" fmla="*/ 8 h 152"/>
                  <a:gd name="T4" fmla="*/ 144 w 160"/>
                  <a:gd name="T5" fmla="*/ 56 h 152"/>
                  <a:gd name="T6" fmla="*/ 48 w 160"/>
                  <a:gd name="T7" fmla="*/ 152 h 152"/>
                  <a:gd name="T8" fmla="*/ 0 w 160"/>
                  <a:gd name="T9" fmla="*/ 56 h 152"/>
                  <a:gd name="T10" fmla="*/ 48 w 160"/>
                  <a:gd name="T11" fmla="*/ 8 h 152"/>
                  <a:gd name="T12" fmla="*/ 0 60000 65536"/>
                  <a:gd name="T13" fmla="*/ 0 60000 65536"/>
                  <a:gd name="T14" fmla="*/ 0 60000 65536"/>
                  <a:gd name="T15" fmla="*/ 0 60000 65536"/>
                  <a:gd name="T16" fmla="*/ 0 60000 65536"/>
                  <a:gd name="T17" fmla="*/ 0 60000 65536"/>
                  <a:gd name="T18" fmla="*/ 0 w 160"/>
                  <a:gd name="T19" fmla="*/ 0 h 152"/>
                  <a:gd name="T20" fmla="*/ 160 w 160"/>
                  <a:gd name="T21" fmla="*/ 152 h 152"/>
                </a:gdLst>
                <a:ahLst/>
                <a:cxnLst>
                  <a:cxn ang="T12">
                    <a:pos x="T0" y="T1"/>
                  </a:cxn>
                  <a:cxn ang="T13">
                    <a:pos x="T2" y="T3"/>
                  </a:cxn>
                  <a:cxn ang="T14">
                    <a:pos x="T4" y="T5"/>
                  </a:cxn>
                  <a:cxn ang="T15">
                    <a:pos x="T6" y="T7"/>
                  </a:cxn>
                  <a:cxn ang="T16">
                    <a:pos x="T8" y="T9"/>
                  </a:cxn>
                  <a:cxn ang="T17">
                    <a:pos x="T10" y="T11"/>
                  </a:cxn>
                </a:cxnLst>
                <a:rect l="T18" t="T19" r="T20" b="T21"/>
                <a:pathLst>
                  <a:path w="160" h="152">
                    <a:moveTo>
                      <a:pt x="48" y="8"/>
                    </a:moveTo>
                    <a:cubicBezTo>
                      <a:pt x="72" y="0"/>
                      <a:pt x="128" y="0"/>
                      <a:pt x="144" y="8"/>
                    </a:cubicBezTo>
                    <a:cubicBezTo>
                      <a:pt x="160" y="16"/>
                      <a:pt x="160" y="32"/>
                      <a:pt x="144" y="56"/>
                    </a:cubicBezTo>
                    <a:cubicBezTo>
                      <a:pt x="128" y="80"/>
                      <a:pt x="72" y="152"/>
                      <a:pt x="48" y="152"/>
                    </a:cubicBezTo>
                    <a:cubicBezTo>
                      <a:pt x="24" y="152"/>
                      <a:pt x="0" y="80"/>
                      <a:pt x="0" y="56"/>
                    </a:cubicBezTo>
                    <a:cubicBezTo>
                      <a:pt x="0" y="32"/>
                      <a:pt x="24" y="16"/>
                      <a:pt x="48" y="8"/>
                    </a:cubicBezTo>
                    <a:close/>
                  </a:path>
                </a:pathLst>
              </a:custGeom>
              <a:noFill/>
              <a:ln w="19050">
                <a:solidFill>
                  <a:schemeClr val="tx1"/>
                </a:solidFill>
                <a:round/>
                <a:headEnd/>
                <a:tailEnd type="none" w="med" len="lg"/>
              </a:ln>
            </p:spPr>
            <p:txBody>
              <a:bodyPr wrap="none" anchor="ctr"/>
              <a:lstStyle/>
              <a:p>
                <a:endParaRPr lang="zh-CN" altLang="en-US"/>
              </a:p>
            </p:txBody>
          </p:sp>
          <p:sp>
            <p:nvSpPr>
              <p:cNvPr id="40995" name="Freeform 42"/>
              <p:cNvSpPr>
                <a:spLocks noChangeAspect="1"/>
              </p:cNvSpPr>
              <p:nvPr/>
            </p:nvSpPr>
            <p:spPr bwMode="auto">
              <a:xfrm>
                <a:off x="4512" y="2400"/>
                <a:ext cx="144" cy="144"/>
              </a:xfrm>
              <a:custGeom>
                <a:avLst/>
                <a:gdLst>
                  <a:gd name="T0" fmla="*/ 0 w 144"/>
                  <a:gd name="T1" fmla="*/ 48 h 144"/>
                  <a:gd name="T2" fmla="*/ 96 w 144"/>
                  <a:gd name="T3" fmla="*/ 0 h 144"/>
                  <a:gd name="T4" fmla="*/ 144 w 144"/>
                  <a:gd name="T5" fmla="*/ 96 h 144"/>
                  <a:gd name="T6" fmla="*/ 48 w 144"/>
                  <a:gd name="T7" fmla="*/ 144 h 144"/>
                  <a:gd name="T8" fmla="*/ 0 w 144"/>
                  <a:gd name="T9" fmla="*/ 144 h 144"/>
                  <a:gd name="T10" fmla="*/ 0 w 144"/>
                  <a:gd name="T11" fmla="*/ 48 h 144"/>
                  <a:gd name="T12" fmla="*/ 0 60000 65536"/>
                  <a:gd name="T13" fmla="*/ 0 60000 65536"/>
                  <a:gd name="T14" fmla="*/ 0 60000 65536"/>
                  <a:gd name="T15" fmla="*/ 0 60000 65536"/>
                  <a:gd name="T16" fmla="*/ 0 60000 65536"/>
                  <a:gd name="T17" fmla="*/ 0 60000 65536"/>
                  <a:gd name="T18" fmla="*/ 0 w 144"/>
                  <a:gd name="T19" fmla="*/ 0 h 144"/>
                  <a:gd name="T20" fmla="*/ 144 w 144"/>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44" h="144">
                    <a:moveTo>
                      <a:pt x="0" y="48"/>
                    </a:moveTo>
                    <a:lnTo>
                      <a:pt x="96" y="0"/>
                    </a:lnTo>
                    <a:lnTo>
                      <a:pt x="144" y="96"/>
                    </a:lnTo>
                    <a:lnTo>
                      <a:pt x="48" y="144"/>
                    </a:lnTo>
                    <a:lnTo>
                      <a:pt x="0" y="144"/>
                    </a:lnTo>
                    <a:lnTo>
                      <a:pt x="0" y="48"/>
                    </a:lnTo>
                    <a:close/>
                  </a:path>
                </a:pathLst>
              </a:custGeom>
              <a:noFill/>
              <a:ln w="19050">
                <a:solidFill>
                  <a:schemeClr val="tx1"/>
                </a:solidFill>
                <a:round/>
                <a:headEnd/>
                <a:tailEnd type="none" w="med" len="lg"/>
              </a:ln>
            </p:spPr>
            <p:txBody>
              <a:bodyPr wrap="none" anchor="ctr"/>
              <a:lstStyle/>
              <a:p>
                <a:endParaRPr lang="zh-CN" altLang="en-US"/>
              </a:p>
            </p:txBody>
          </p:sp>
          <p:sp>
            <p:nvSpPr>
              <p:cNvPr id="40996" name="Freeform 43"/>
              <p:cNvSpPr>
                <a:spLocks noChangeAspect="1"/>
              </p:cNvSpPr>
              <p:nvPr/>
            </p:nvSpPr>
            <p:spPr bwMode="auto">
              <a:xfrm>
                <a:off x="4272" y="2208"/>
                <a:ext cx="144" cy="192"/>
              </a:xfrm>
              <a:custGeom>
                <a:avLst/>
                <a:gdLst>
                  <a:gd name="T0" fmla="*/ 48 w 144"/>
                  <a:gd name="T1" fmla="*/ 0 h 192"/>
                  <a:gd name="T2" fmla="*/ 144 w 144"/>
                  <a:gd name="T3" fmla="*/ 48 h 192"/>
                  <a:gd name="T4" fmla="*/ 144 w 144"/>
                  <a:gd name="T5" fmla="*/ 192 h 192"/>
                  <a:gd name="T6" fmla="*/ 48 w 144"/>
                  <a:gd name="T7" fmla="*/ 192 h 192"/>
                  <a:gd name="T8" fmla="*/ 0 w 144"/>
                  <a:gd name="T9" fmla="*/ 96 h 192"/>
                  <a:gd name="T10" fmla="*/ 0 w 144"/>
                  <a:gd name="T11" fmla="*/ 48 h 192"/>
                  <a:gd name="T12" fmla="*/ 48 w 144"/>
                  <a:gd name="T13" fmla="*/ 0 h 192"/>
                  <a:gd name="T14" fmla="*/ 0 60000 65536"/>
                  <a:gd name="T15" fmla="*/ 0 60000 65536"/>
                  <a:gd name="T16" fmla="*/ 0 60000 65536"/>
                  <a:gd name="T17" fmla="*/ 0 60000 65536"/>
                  <a:gd name="T18" fmla="*/ 0 60000 65536"/>
                  <a:gd name="T19" fmla="*/ 0 60000 65536"/>
                  <a:gd name="T20" fmla="*/ 0 60000 65536"/>
                  <a:gd name="T21" fmla="*/ 0 w 144"/>
                  <a:gd name="T22" fmla="*/ 0 h 192"/>
                  <a:gd name="T23" fmla="*/ 144 w 144"/>
                  <a:gd name="T24" fmla="*/ 192 h 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192">
                    <a:moveTo>
                      <a:pt x="48" y="0"/>
                    </a:moveTo>
                    <a:lnTo>
                      <a:pt x="144" y="48"/>
                    </a:lnTo>
                    <a:lnTo>
                      <a:pt x="144" y="192"/>
                    </a:lnTo>
                    <a:lnTo>
                      <a:pt x="48" y="192"/>
                    </a:lnTo>
                    <a:lnTo>
                      <a:pt x="0" y="96"/>
                    </a:lnTo>
                    <a:lnTo>
                      <a:pt x="0" y="48"/>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0997" name="Freeform 44"/>
              <p:cNvSpPr>
                <a:spLocks noChangeAspect="1"/>
              </p:cNvSpPr>
              <p:nvPr/>
            </p:nvSpPr>
            <p:spPr bwMode="auto">
              <a:xfrm>
                <a:off x="4128" y="2400"/>
                <a:ext cx="168" cy="224"/>
              </a:xfrm>
              <a:custGeom>
                <a:avLst/>
                <a:gdLst>
                  <a:gd name="T0" fmla="*/ 64 w 168"/>
                  <a:gd name="T1" fmla="*/ 24 h 224"/>
                  <a:gd name="T2" fmla="*/ 160 w 168"/>
                  <a:gd name="T3" fmla="*/ 120 h 224"/>
                  <a:gd name="T4" fmla="*/ 112 w 168"/>
                  <a:gd name="T5" fmla="*/ 216 h 224"/>
                  <a:gd name="T6" fmla="*/ 16 w 168"/>
                  <a:gd name="T7" fmla="*/ 168 h 224"/>
                  <a:gd name="T8" fmla="*/ 16 w 168"/>
                  <a:gd name="T9" fmla="*/ 24 h 224"/>
                  <a:gd name="T10" fmla="*/ 64 w 168"/>
                  <a:gd name="T11" fmla="*/ 24 h 224"/>
                  <a:gd name="T12" fmla="*/ 0 60000 65536"/>
                  <a:gd name="T13" fmla="*/ 0 60000 65536"/>
                  <a:gd name="T14" fmla="*/ 0 60000 65536"/>
                  <a:gd name="T15" fmla="*/ 0 60000 65536"/>
                  <a:gd name="T16" fmla="*/ 0 60000 65536"/>
                  <a:gd name="T17" fmla="*/ 0 60000 65536"/>
                  <a:gd name="T18" fmla="*/ 0 w 168"/>
                  <a:gd name="T19" fmla="*/ 0 h 224"/>
                  <a:gd name="T20" fmla="*/ 168 w 168"/>
                  <a:gd name="T21" fmla="*/ 224 h 224"/>
                </a:gdLst>
                <a:ahLst/>
                <a:cxnLst>
                  <a:cxn ang="T12">
                    <a:pos x="T0" y="T1"/>
                  </a:cxn>
                  <a:cxn ang="T13">
                    <a:pos x="T2" y="T3"/>
                  </a:cxn>
                  <a:cxn ang="T14">
                    <a:pos x="T4" y="T5"/>
                  </a:cxn>
                  <a:cxn ang="T15">
                    <a:pos x="T6" y="T7"/>
                  </a:cxn>
                  <a:cxn ang="T16">
                    <a:pos x="T8" y="T9"/>
                  </a:cxn>
                  <a:cxn ang="T17">
                    <a:pos x="T10" y="T11"/>
                  </a:cxn>
                </a:cxnLst>
                <a:rect l="T18" t="T19" r="T20" b="T21"/>
                <a:pathLst>
                  <a:path w="168" h="224">
                    <a:moveTo>
                      <a:pt x="64" y="24"/>
                    </a:moveTo>
                    <a:cubicBezTo>
                      <a:pt x="88" y="40"/>
                      <a:pt x="152" y="88"/>
                      <a:pt x="160" y="120"/>
                    </a:cubicBezTo>
                    <a:cubicBezTo>
                      <a:pt x="168" y="152"/>
                      <a:pt x="136" y="208"/>
                      <a:pt x="112" y="216"/>
                    </a:cubicBezTo>
                    <a:cubicBezTo>
                      <a:pt x="88" y="224"/>
                      <a:pt x="32" y="200"/>
                      <a:pt x="16" y="168"/>
                    </a:cubicBezTo>
                    <a:cubicBezTo>
                      <a:pt x="0" y="136"/>
                      <a:pt x="8" y="48"/>
                      <a:pt x="16" y="24"/>
                    </a:cubicBezTo>
                    <a:cubicBezTo>
                      <a:pt x="24" y="0"/>
                      <a:pt x="40" y="8"/>
                      <a:pt x="64" y="24"/>
                    </a:cubicBezTo>
                    <a:close/>
                  </a:path>
                </a:pathLst>
              </a:custGeom>
              <a:noFill/>
              <a:ln w="19050">
                <a:solidFill>
                  <a:schemeClr val="tx1"/>
                </a:solidFill>
                <a:round/>
                <a:headEnd/>
                <a:tailEnd type="none" w="med" len="lg"/>
              </a:ln>
            </p:spPr>
            <p:txBody>
              <a:bodyPr wrap="none" anchor="ctr"/>
              <a:lstStyle/>
              <a:p>
                <a:endParaRPr lang="zh-CN" altLang="en-US"/>
              </a:p>
            </p:txBody>
          </p:sp>
          <p:sp>
            <p:nvSpPr>
              <p:cNvPr id="40998" name="Freeform 45"/>
              <p:cNvSpPr>
                <a:spLocks noChangeAspect="1"/>
              </p:cNvSpPr>
              <p:nvPr/>
            </p:nvSpPr>
            <p:spPr bwMode="auto">
              <a:xfrm>
                <a:off x="4368" y="2496"/>
                <a:ext cx="144" cy="144"/>
              </a:xfrm>
              <a:custGeom>
                <a:avLst/>
                <a:gdLst>
                  <a:gd name="T0" fmla="*/ 0 w 144"/>
                  <a:gd name="T1" fmla="*/ 48 h 144"/>
                  <a:gd name="T2" fmla="*/ 96 w 144"/>
                  <a:gd name="T3" fmla="*/ 0 h 144"/>
                  <a:gd name="T4" fmla="*/ 144 w 144"/>
                  <a:gd name="T5" fmla="*/ 96 h 144"/>
                  <a:gd name="T6" fmla="*/ 48 w 144"/>
                  <a:gd name="T7" fmla="*/ 144 h 144"/>
                  <a:gd name="T8" fmla="*/ 0 w 144"/>
                  <a:gd name="T9" fmla="*/ 144 h 144"/>
                  <a:gd name="T10" fmla="*/ 0 w 144"/>
                  <a:gd name="T11" fmla="*/ 48 h 144"/>
                  <a:gd name="T12" fmla="*/ 0 60000 65536"/>
                  <a:gd name="T13" fmla="*/ 0 60000 65536"/>
                  <a:gd name="T14" fmla="*/ 0 60000 65536"/>
                  <a:gd name="T15" fmla="*/ 0 60000 65536"/>
                  <a:gd name="T16" fmla="*/ 0 60000 65536"/>
                  <a:gd name="T17" fmla="*/ 0 60000 65536"/>
                  <a:gd name="T18" fmla="*/ 0 w 144"/>
                  <a:gd name="T19" fmla="*/ 0 h 144"/>
                  <a:gd name="T20" fmla="*/ 144 w 144"/>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44" h="144">
                    <a:moveTo>
                      <a:pt x="0" y="48"/>
                    </a:moveTo>
                    <a:lnTo>
                      <a:pt x="96" y="0"/>
                    </a:lnTo>
                    <a:lnTo>
                      <a:pt x="144" y="96"/>
                    </a:lnTo>
                    <a:lnTo>
                      <a:pt x="48" y="144"/>
                    </a:lnTo>
                    <a:lnTo>
                      <a:pt x="0" y="144"/>
                    </a:lnTo>
                    <a:lnTo>
                      <a:pt x="0" y="48"/>
                    </a:lnTo>
                    <a:close/>
                  </a:path>
                </a:pathLst>
              </a:custGeom>
              <a:noFill/>
              <a:ln w="19050">
                <a:solidFill>
                  <a:schemeClr val="tx1"/>
                </a:solidFill>
                <a:round/>
                <a:headEnd/>
                <a:tailEnd type="none" w="med" len="lg"/>
              </a:ln>
            </p:spPr>
            <p:txBody>
              <a:bodyPr wrap="none" anchor="ctr"/>
              <a:lstStyle/>
              <a:p>
                <a:endParaRPr lang="zh-CN" altLang="en-US"/>
              </a:p>
            </p:txBody>
          </p:sp>
          <p:sp>
            <p:nvSpPr>
              <p:cNvPr id="40999" name="Freeform 46"/>
              <p:cNvSpPr>
                <a:spLocks noChangeAspect="1"/>
              </p:cNvSpPr>
              <p:nvPr/>
            </p:nvSpPr>
            <p:spPr bwMode="auto">
              <a:xfrm>
                <a:off x="4560" y="2400"/>
                <a:ext cx="144" cy="192"/>
              </a:xfrm>
              <a:custGeom>
                <a:avLst/>
                <a:gdLst>
                  <a:gd name="T0" fmla="*/ 48 w 144"/>
                  <a:gd name="T1" fmla="*/ 0 h 192"/>
                  <a:gd name="T2" fmla="*/ 144 w 144"/>
                  <a:gd name="T3" fmla="*/ 48 h 192"/>
                  <a:gd name="T4" fmla="*/ 144 w 144"/>
                  <a:gd name="T5" fmla="*/ 192 h 192"/>
                  <a:gd name="T6" fmla="*/ 48 w 144"/>
                  <a:gd name="T7" fmla="*/ 192 h 192"/>
                  <a:gd name="T8" fmla="*/ 0 w 144"/>
                  <a:gd name="T9" fmla="*/ 96 h 192"/>
                  <a:gd name="T10" fmla="*/ 0 w 144"/>
                  <a:gd name="T11" fmla="*/ 48 h 192"/>
                  <a:gd name="T12" fmla="*/ 48 w 144"/>
                  <a:gd name="T13" fmla="*/ 0 h 192"/>
                  <a:gd name="T14" fmla="*/ 0 60000 65536"/>
                  <a:gd name="T15" fmla="*/ 0 60000 65536"/>
                  <a:gd name="T16" fmla="*/ 0 60000 65536"/>
                  <a:gd name="T17" fmla="*/ 0 60000 65536"/>
                  <a:gd name="T18" fmla="*/ 0 60000 65536"/>
                  <a:gd name="T19" fmla="*/ 0 60000 65536"/>
                  <a:gd name="T20" fmla="*/ 0 60000 65536"/>
                  <a:gd name="T21" fmla="*/ 0 w 144"/>
                  <a:gd name="T22" fmla="*/ 0 h 192"/>
                  <a:gd name="T23" fmla="*/ 144 w 144"/>
                  <a:gd name="T24" fmla="*/ 192 h 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192">
                    <a:moveTo>
                      <a:pt x="48" y="0"/>
                    </a:moveTo>
                    <a:lnTo>
                      <a:pt x="144" y="48"/>
                    </a:lnTo>
                    <a:lnTo>
                      <a:pt x="144" y="192"/>
                    </a:lnTo>
                    <a:lnTo>
                      <a:pt x="48" y="192"/>
                    </a:lnTo>
                    <a:lnTo>
                      <a:pt x="0" y="96"/>
                    </a:lnTo>
                    <a:lnTo>
                      <a:pt x="0" y="48"/>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1000" name="Freeform 47"/>
              <p:cNvSpPr>
                <a:spLocks noChangeAspect="1"/>
              </p:cNvSpPr>
              <p:nvPr/>
            </p:nvSpPr>
            <p:spPr bwMode="auto">
              <a:xfrm>
                <a:off x="4704" y="2304"/>
                <a:ext cx="168" cy="224"/>
              </a:xfrm>
              <a:custGeom>
                <a:avLst/>
                <a:gdLst>
                  <a:gd name="T0" fmla="*/ 64 w 168"/>
                  <a:gd name="T1" fmla="*/ 24 h 224"/>
                  <a:gd name="T2" fmla="*/ 160 w 168"/>
                  <a:gd name="T3" fmla="*/ 120 h 224"/>
                  <a:gd name="T4" fmla="*/ 112 w 168"/>
                  <a:gd name="T5" fmla="*/ 216 h 224"/>
                  <a:gd name="T6" fmla="*/ 16 w 168"/>
                  <a:gd name="T7" fmla="*/ 168 h 224"/>
                  <a:gd name="T8" fmla="*/ 16 w 168"/>
                  <a:gd name="T9" fmla="*/ 24 h 224"/>
                  <a:gd name="T10" fmla="*/ 64 w 168"/>
                  <a:gd name="T11" fmla="*/ 24 h 224"/>
                  <a:gd name="T12" fmla="*/ 0 60000 65536"/>
                  <a:gd name="T13" fmla="*/ 0 60000 65536"/>
                  <a:gd name="T14" fmla="*/ 0 60000 65536"/>
                  <a:gd name="T15" fmla="*/ 0 60000 65536"/>
                  <a:gd name="T16" fmla="*/ 0 60000 65536"/>
                  <a:gd name="T17" fmla="*/ 0 60000 65536"/>
                  <a:gd name="T18" fmla="*/ 0 w 168"/>
                  <a:gd name="T19" fmla="*/ 0 h 224"/>
                  <a:gd name="T20" fmla="*/ 168 w 168"/>
                  <a:gd name="T21" fmla="*/ 224 h 224"/>
                </a:gdLst>
                <a:ahLst/>
                <a:cxnLst>
                  <a:cxn ang="T12">
                    <a:pos x="T0" y="T1"/>
                  </a:cxn>
                  <a:cxn ang="T13">
                    <a:pos x="T2" y="T3"/>
                  </a:cxn>
                  <a:cxn ang="T14">
                    <a:pos x="T4" y="T5"/>
                  </a:cxn>
                  <a:cxn ang="T15">
                    <a:pos x="T6" y="T7"/>
                  </a:cxn>
                  <a:cxn ang="T16">
                    <a:pos x="T8" y="T9"/>
                  </a:cxn>
                  <a:cxn ang="T17">
                    <a:pos x="T10" y="T11"/>
                  </a:cxn>
                </a:cxnLst>
                <a:rect l="T18" t="T19" r="T20" b="T21"/>
                <a:pathLst>
                  <a:path w="168" h="224">
                    <a:moveTo>
                      <a:pt x="64" y="24"/>
                    </a:moveTo>
                    <a:cubicBezTo>
                      <a:pt x="88" y="40"/>
                      <a:pt x="152" y="88"/>
                      <a:pt x="160" y="120"/>
                    </a:cubicBezTo>
                    <a:cubicBezTo>
                      <a:pt x="168" y="152"/>
                      <a:pt x="136" y="208"/>
                      <a:pt x="112" y="216"/>
                    </a:cubicBezTo>
                    <a:cubicBezTo>
                      <a:pt x="88" y="224"/>
                      <a:pt x="32" y="200"/>
                      <a:pt x="16" y="168"/>
                    </a:cubicBezTo>
                    <a:cubicBezTo>
                      <a:pt x="0" y="136"/>
                      <a:pt x="8" y="48"/>
                      <a:pt x="16" y="24"/>
                    </a:cubicBezTo>
                    <a:cubicBezTo>
                      <a:pt x="24" y="0"/>
                      <a:pt x="40" y="8"/>
                      <a:pt x="64" y="24"/>
                    </a:cubicBezTo>
                    <a:close/>
                  </a:path>
                </a:pathLst>
              </a:custGeom>
              <a:noFill/>
              <a:ln w="19050">
                <a:solidFill>
                  <a:schemeClr val="tx1"/>
                </a:solidFill>
                <a:round/>
                <a:headEnd/>
                <a:tailEnd type="none" w="med" len="lg"/>
              </a:ln>
            </p:spPr>
            <p:txBody>
              <a:bodyPr wrap="none" anchor="ctr"/>
              <a:lstStyle/>
              <a:p>
                <a:endParaRPr lang="zh-CN" altLang="en-US"/>
              </a:p>
            </p:txBody>
          </p:sp>
          <p:sp>
            <p:nvSpPr>
              <p:cNvPr id="41001" name="Freeform 48"/>
              <p:cNvSpPr>
                <a:spLocks noChangeAspect="1"/>
              </p:cNvSpPr>
              <p:nvPr/>
            </p:nvSpPr>
            <p:spPr bwMode="auto">
              <a:xfrm>
                <a:off x="4368" y="2448"/>
                <a:ext cx="192" cy="144"/>
              </a:xfrm>
              <a:custGeom>
                <a:avLst/>
                <a:gdLst>
                  <a:gd name="T0" fmla="*/ 48 w 192"/>
                  <a:gd name="T1" fmla="*/ 0 h 144"/>
                  <a:gd name="T2" fmla="*/ 192 w 192"/>
                  <a:gd name="T3" fmla="*/ 48 h 144"/>
                  <a:gd name="T4" fmla="*/ 96 w 192"/>
                  <a:gd name="T5" fmla="*/ 144 h 144"/>
                  <a:gd name="T6" fmla="*/ 0 w 192"/>
                  <a:gd name="T7" fmla="*/ 96 h 144"/>
                  <a:gd name="T8" fmla="*/ 48 w 192"/>
                  <a:gd name="T9" fmla="*/ 0 h 144"/>
                  <a:gd name="T10" fmla="*/ 0 60000 65536"/>
                  <a:gd name="T11" fmla="*/ 0 60000 65536"/>
                  <a:gd name="T12" fmla="*/ 0 60000 65536"/>
                  <a:gd name="T13" fmla="*/ 0 60000 65536"/>
                  <a:gd name="T14" fmla="*/ 0 60000 65536"/>
                  <a:gd name="T15" fmla="*/ 0 w 192"/>
                  <a:gd name="T16" fmla="*/ 0 h 144"/>
                  <a:gd name="T17" fmla="*/ 192 w 192"/>
                  <a:gd name="T18" fmla="*/ 144 h 144"/>
                </a:gdLst>
                <a:ahLst/>
                <a:cxnLst>
                  <a:cxn ang="T10">
                    <a:pos x="T0" y="T1"/>
                  </a:cxn>
                  <a:cxn ang="T11">
                    <a:pos x="T2" y="T3"/>
                  </a:cxn>
                  <a:cxn ang="T12">
                    <a:pos x="T4" y="T5"/>
                  </a:cxn>
                  <a:cxn ang="T13">
                    <a:pos x="T6" y="T7"/>
                  </a:cxn>
                  <a:cxn ang="T14">
                    <a:pos x="T8" y="T9"/>
                  </a:cxn>
                </a:cxnLst>
                <a:rect l="T15" t="T16" r="T17" b="T18"/>
                <a:pathLst>
                  <a:path w="192" h="144">
                    <a:moveTo>
                      <a:pt x="48" y="0"/>
                    </a:moveTo>
                    <a:lnTo>
                      <a:pt x="192" y="48"/>
                    </a:lnTo>
                    <a:lnTo>
                      <a:pt x="96" y="144"/>
                    </a:lnTo>
                    <a:lnTo>
                      <a:pt x="0" y="96"/>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1002" name="Freeform 49"/>
              <p:cNvSpPr>
                <a:spLocks noChangeAspect="1"/>
              </p:cNvSpPr>
              <p:nvPr/>
            </p:nvSpPr>
            <p:spPr bwMode="auto">
              <a:xfrm>
                <a:off x="4128" y="2256"/>
                <a:ext cx="160" cy="152"/>
              </a:xfrm>
              <a:custGeom>
                <a:avLst/>
                <a:gdLst>
                  <a:gd name="T0" fmla="*/ 48 w 160"/>
                  <a:gd name="T1" fmla="*/ 8 h 152"/>
                  <a:gd name="T2" fmla="*/ 144 w 160"/>
                  <a:gd name="T3" fmla="*/ 8 h 152"/>
                  <a:gd name="T4" fmla="*/ 144 w 160"/>
                  <a:gd name="T5" fmla="*/ 56 h 152"/>
                  <a:gd name="T6" fmla="*/ 48 w 160"/>
                  <a:gd name="T7" fmla="*/ 152 h 152"/>
                  <a:gd name="T8" fmla="*/ 0 w 160"/>
                  <a:gd name="T9" fmla="*/ 56 h 152"/>
                  <a:gd name="T10" fmla="*/ 48 w 160"/>
                  <a:gd name="T11" fmla="*/ 8 h 152"/>
                  <a:gd name="T12" fmla="*/ 0 60000 65536"/>
                  <a:gd name="T13" fmla="*/ 0 60000 65536"/>
                  <a:gd name="T14" fmla="*/ 0 60000 65536"/>
                  <a:gd name="T15" fmla="*/ 0 60000 65536"/>
                  <a:gd name="T16" fmla="*/ 0 60000 65536"/>
                  <a:gd name="T17" fmla="*/ 0 60000 65536"/>
                  <a:gd name="T18" fmla="*/ 0 w 160"/>
                  <a:gd name="T19" fmla="*/ 0 h 152"/>
                  <a:gd name="T20" fmla="*/ 160 w 160"/>
                  <a:gd name="T21" fmla="*/ 152 h 152"/>
                </a:gdLst>
                <a:ahLst/>
                <a:cxnLst>
                  <a:cxn ang="T12">
                    <a:pos x="T0" y="T1"/>
                  </a:cxn>
                  <a:cxn ang="T13">
                    <a:pos x="T2" y="T3"/>
                  </a:cxn>
                  <a:cxn ang="T14">
                    <a:pos x="T4" y="T5"/>
                  </a:cxn>
                  <a:cxn ang="T15">
                    <a:pos x="T6" y="T7"/>
                  </a:cxn>
                  <a:cxn ang="T16">
                    <a:pos x="T8" y="T9"/>
                  </a:cxn>
                  <a:cxn ang="T17">
                    <a:pos x="T10" y="T11"/>
                  </a:cxn>
                </a:cxnLst>
                <a:rect l="T18" t="T19" r="T20" b="T21"/>
                <a:pathLst>
                  <a:path w="160" h="152">
                    <a:moveTo>
                      <a:pt x="48" y="8"/>
                    </a:moveTo>
                    <a:cubicBezTo>
                      <a:pt x="72" y="0"/>
                      <a:pt x="128" y="0"/>
                      <a:pt x="144" y="8"/>
                    </a:cubicBezTo>
                    <a:cubicBezTo>
                      <a:pt x="160" y="16"/>
                      <a:pt x="160" y="32"/>
                      <a:pt x="144" y="56"/>
                    </a:cubicBezTo>
                    <a:cubicBezTo>
                      <a:pt x="128" y="80"/>
                      <a:pt x="72" y="152"/>
                      <a:pt x="48" y="152"/>
                    </a:cubicBezTo>
                    <a:cubicBezTo>
                      <a:pt x="24" y="152"/>
                      <a:pt x="0" y="80"/>
                      <a:pt x="0" y="56"/>
                    </a:cubicBezTo>
                    <a:cubicBezTo>
                      <a:pt x="0" y="32"/>
                      <a:pt x="24" y="16"/>
                      <a:pt x="48" y="8"/>
                    </a:cubicBezTo>
                    <a:close/>
                  </a:path>
                </a:pathLst>
              </a:custGeom>
              <a:noFill/>
              <a:ln w="19050">
                <a:solidFill>
                  <a:schemeClr val="tx1"/>
                </a:solidFill>
                <a:round/>
                <a:headEnd/>
                <a:tailEnd type="none" w="med" len="lg"/>
              </a:ln>
            </p:spPr>
            <p:txBody>
              <a:bodyPr wrap="none" anchor="ctr"/>
              <a:lstStyle/>
              <a:p>
                <a:endParaRPr lang="zh-CN" altLang="en-US"/>
              </a:p>
            </p:txBody>
          </p:sp>
          <p:sp>
            <p:nvSpPr>
              <p:cNvPr id="41003" name="Freeform 50"/>
              <p:cNvSpPr>
                <a:spLocks noChangeAspect="1"/>
              </p:cNvSpPr>
              <p:nvPr/>
            </p:nvSpPr>
            <p:spPr bwMode="auto">
              <a:xfrm>
                <a:off x="4512" y="2400"/>
                <a:ext cx="144" cy="144"/>
              </a:xfrm>
              <a:custGeom>
                <a:avLst/>
                <a:gdLst>
                  <a:gd name="T0" fmla="*/ 0 w 144"/>
                  <a:gd name="T1" fmla="*/ 48 h 144"/>
                  <a:gd name="T2" fmla="*/ 96 w 144"/>
                  <a:gd name="T3" fmla="*/ 0 h 144"/>
                  <a:gd name="T4" fmla="*/ 144 w 144"/>
                  <a:gd name="T5" fmla="*/ 96 h 144"/>
                  <a:gd name="T6" fmla="*/ 48 w 144"/>
                  <a:gd name="T7" fmla="*/ 144 h 144"/>
                  <a:gd name="T8" fmla="*/ 0 w 144"/>
                  <a:gd name="T9" fmla="*/ 144 h 144"/>
                  <a:gd name="T10" fmla="*/ 0 w 144"/>
                  <a:gd name="T11" fmla="*/ 48 h 144"/>
                  <a:gd name="T12" fmla="*/ 0 60000 65536"/>
                  <a:gd name="T13" fmla="*/ 0 60000 65536"/>
                  <a:gd name="T14" fmla="*/ 0 60000 65536"/>
                  <a:gd name="T15" fmla="*/ 0 60000 65536"/>
                  <a:gd name="T16" fmla="*/ 0 60000 65536"/>
                  <a:gd name="T17" fmla="*/ 0 60000 65536"/>
                  <a:gd name="T18" fmla="*/ 0 w 144"/>
                  <a:gd name="T19" fmla="*/ 0 h 144"/>
                  <a:gd name="T20" fmla="*/ 144 w 144"/>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44" h="144">
                    <a:moveTo>
                      <a:pt x="0" y="48"/>
                    </a:moveTo>
                    <a:lnTo>
                      <a:pt x="96" y="0"/>
                    </a:lnTo>
                    <a:lnTo>
                      <a:pt x="144" y="96"/>
                    </a:lnTo>
                    <a:lnTo>
                      <a:pt x="48" y="144"/>
                    </a:lnTo>
                    <a:lnTo>
                      <a:pt x="0" y="144"/>
                    </a:lnTo>
                    <a:lnTo>
                      <a:pt x="0" y="48"/>
                    </a:lnTo>
                    <a:close/>
                  </a:path>
                </a:pathLst>
              </a:custGeom>
              <a:noFill/>
              <a:ln w="19050">
                <a:solidFill>
                  <a:schemeClr val="tx1"/>
                </a:solidFill>
                <a:round/>
                <a:headEnd/>
                <a:tailEnd type="none" w="med" len="lg"/>
              </a:ln>
            </p:spPr>
            <p:txBody>
              <a:bodyPr wrap="none" anchor="ctr"/>
              <a:lstStyle/>
              <a:p>
                <a:endParaRPr lang="zh-CN" altLang="en-US"/>
              </a:p>
            </p:txBody>
          </p:sp>
          <p:sp>
            <p:nvSpPr>
              <p:cNvPr id="41004" name="Freeform 51"/>
              <p:cNvSpPr>
                <a:spLocks noChangeAspect="1"/>
              </p:cNvSpPr>
              <p:nvPr/>
            </p:nvSpPr>
            <p:spPr bwMode="auto">
              <a:xfrm>
                <a:off x="4224" y="2160"/>
                <a:ext cx="144" cy="192"/>
              </a:xfrm>
              <a:custGeom>
                <a:avLst/>
                <a:gdLst>
                  <a:gd name="T0" fmla="*/ 48 w 144"/>
                  <a:gd name="T1" fmla="*/ 0 h 192"/>
                  <a:gd name="T2" fmla="*/ 144 w 144"/>
                  <a:gd name="T3" fmla="*/ 48 h 192"/>
                  <a:gd name="T4" fmla="*/ 144 w 144"/>
                  <a:gd name="T5" fmla="*/ 192 h 192"/>
                  <a:gd name="T6" fmla="*/ 48 w 144"/>
                  <a:gd name="T7" fmla="*/ 192 h 192"/>
                  <a:gd name="T8" fmla="*/ 0 w 144"/>
                  <a:gd name="T9" fmla="*/ 96 h 192"/>
                  <a:gd name="T10" fmla="*/ 0 w 144"/>
                  <a:gd name="T11" fmla="*/ 48 h 192"/>
                  <a:gd name="T12" fmla="*/ 48 w 144"/>
                  <a:gd name="T13" fmla="*/ 0 h 192"/>
                  <a:gd name="T14" fmla="*/ 0 60000 65536"/>
                  <a:gd name="T15" fmla="*/ 0 60000 65536"/>
                  <a:gd name="T16" fmla="*/ 0 60000 65536"/>
                  <a:gd name="T17" fmla="*/ 0 60000 65536"/>
                  <a:gd name="T18" fmla="*/ 0 60000 65536"/>
                  <a:gd name="T19" fmla="*/ 0 60000 65536"/>
                  <a:gd name="T20" fmla="*/ 0 60000 65536"/>
                  <a:gd name="T21" fmla="*/ 0 w 144"/>
                  <a:gd name="T22" fmla="*/ 0 h 192"/>
                  <a:gd name="T23" fmla="*/ 144 w 144"/>
                  <a:gd name="T24" fmla="*/ 192 h 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192">
                    <a:moveTo>
                      <a:pt x="48" y="0"/>
                    </a:moveTo>
                    <a:lnTo>
                      <a:pt x="144" y="48"/>
                    </a:lnTo>
                    <a:lnTo>
                      <a:pt x="144" y="192"/>
                    </a:lnTo>
                    <a:lnTo>
                      <a:pt x="48" y="192"/>
                    </a:lnTo>
                    <a:lnTo>
                      <a:pt x="0" y="96"/>
                    </a:lnTo>
                    <a:lnTo>
                      <a:pt x="0" y="48"/>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1005" name="Freeform 52"/>
              <p:cNvSpPr>
                <a:spLocks noChangeAspect="1"/>
              </p:cNvSpPr>
              <p:nvPr/>
            </p:nvSpPr>
            <p:spPr bwMode="auto">
              <a:xfrm>
                <a:off x="3936" y="2304"/>
                <a:ext cx="168" cy="224"/>
              </a:xfrm>
              <a:custGeom>
                <a:avLst/>
                <a:gdLst>
                  <a:gd name="T0" fmla="*/ 64 w 168"/>
                  <a:gd name="T1" fmla="*/ 24 h 224"/>
                  <a:gd name="T2" fmla="*/ 160 w 168"/>
                  <a:gd name="T3" fmla="*/ 120 h 224"/>
                  <a:gd name="T4" fmla="*/ 112 w 168"/>
                  <a:gd name="T5" fmla="*/ 216 h 224"/>
                  <a:gd name="T6" fmla="*/ 16 w 168"/>
                  <a:gd name="T7" fmla="*/ 168 h 224"/>
                  <a:gd name="T8" fmla="*/ 16 w 168"/>
                  <a:gd name="T9" fmla="*/ 24 h 224"/>
                  <a:gd name="T10" fmla="*/ 64 w 168"/>
                  <a:gd name="T11" fmla="*/ 24 h 224"/>
                  <a:gd name="T12" fmla="*/ 0 60000 65536"/>
                  <a:gd name="T13" fmla="*/ 0 60000 65536"/>
                  <a:gd name="T14" fmla="*/ 0 60000 65536"/>
                  <a:gd name="T15" fmla="*/ 0 60000 65536"/>
                  <a:gd name="T16" fmla="*/ 0 60000 65536"/>
                  <a:gd name="T17" fmla="*/ 0 60000 65536"/>
                  <a:gd name="T18" fmla="*/ 0 w 168"/>
                  <a:gd name="T19" fmla="*/ 0 h 224"/>
                  <a:gd name="T20" fmla="*/ 168 w 168"/>
                  <a:gd name="T21" fmla="*/ 224 h 224"/>
                </a:gdLst>
                <a:ahLst/>
                <a:cxnLst>
                  <a:cxn ang="T12">
                    <a:pos x="T0" y="T1"/>
                  </a:cxn>
                  <a:cxn ang="T13">
                    <a:pos x="T2" y="T3"/>
                  </a:cxn>
                  <a:cxn ang="T14">
                    <a:pos x="T4" y="T5"/>
                  </a:cxn>
                  <a:cxn ang="T15">
                    <a:pos x="T6" y="T7"/>
                  </a:cxn>
                  <a:cxn ang="T16">
                    <a:pos x="T8" y="T9"/>
                  </a:cxn>
                  <a:cxn ang="T17">
                    <a:pos x="T10" y="T11"/>
                  </a:cxn>
                </a:cxnLst>
                <a:rect l="T18" t="T19" r="T20" b="T21"/>
                <a:pathLst>
                  <a:path w="168" h="224">
                    <a:moveTo>
                      <a:pt x="64" y="24"/>
                    </a:moveTo>
                    <a:cubicBezTo>
                      <a:pt x="88" y="40"/>
                      <a:pt x="152" y="88"/>
                      <a:pt x="160" y="120"/>
                    </a:cubicBezTo>
                    <a:cubicBezTo>
                      <a:pt x="168" y="152"/>
                      <a:pt x="136" y="208"/>
                      <a:pt x="112" y="216"/>
                    </a:cubicBezTo>
                    <a:cubicBezTo>
                      <a:pt x="88" y="224"/>
                      <a:pt x="32" y="200"/>
                      <a:pt x="16" y="168"/>
                    </a:cubicBezTo>
                    <a:cubicBezTo>
                      <a:pt x="0" y="136"/>
                      <a:pt x="8" y="48"/>
                      <a:pt x="16" y="24"/>
                    </a:cubicBezTo>
                    <a:cubicBezTo>
                      <a:pt x="24" y="0"/>
                      <a:pt x="40" y="8"/>
                      <a:pt x="64" y="24"/>
                    </a:cubicBezTo>
                    <a:close/>
                  </a:path>
                </a:pathLst>
              </a:custGeom>
              <a:noFill/>
              <a:ln w="19050">
                <a:solidFill>
                  <a:schemeClr val="tx1"/>
                </a:solidFill>
                <a:round/>
                <a:headEnd/>
                <a:tailEnd type="none" w="med" len="lg"/>
              </a:ln>
            </p:spPr>
            <p:txBody>
              <a:bodyPr wrap="none" anchor="ctr"/>
              <a:lstStyle/>
              <a:p>
                <a:endParaRPr lang="zh-CN" altLang="en-US"/>
              </a:p>
            </p:txBody>
          </p:sp>
          <p:sp>
            <p:nvSpPr>
              <p:cNvPr id="41006" name="Freeform 53"/>
              <p:cNvSpPr>
                <a:spLocks noChangeAspect="1"/>
              </p:cNvSpPr>
              <p:nvPr/>
            </p:nvSpPr>
            <p:spPr bwMode="auto">
              <a:xfrm>
                <a:off x="4464" y="2496"/>
                <a:ext cx="144" cy="144"/>
              </a:xfrm>
              <a:custGeom>
                <a:avLst/>
                <a:gdLst>
                  <a:gd name="T0" fmla="*/ 0 w 144"/>
                  <a:gd name="T1" fmla="*/ 48 h 144"/>
                  <a:gd name="T2" fmla="*/ 96 w 144"/>
                  <a:gd name="T3" fmla="*/ 0 h 144"/>
                  <a:gd name="T4" fmla="*/ 144 w 144"/>
                  <a:gd name="T5" fmla="*/ 96 h 144"/>
                  <a:gd name="T6" fmla="*/ 48 w 144"/>
                  <a:gd name="T7" fmla="*/ 144 h 144"/>
                  <a:gd name="T8" fmla="*/ 0 w 144"/>
                  <a:gd name="T9" fmla="*/ 144 h 144"/>
                  <a:gd name="T10" fmla="*/ 0 w 144"/>
                  <a:gd name="T11" fmla="*/ 48 h 144"/>
                  <a:gd name="T12" fmla="*/ 0 60000 65536"/>
                  <a:gd name="T13" fmla="*/ 0 60000 65536"/>
                  <a:gd name="T14" fmla="*/ 0 60000 65536"/>
                  <a:gd name="T15" fmla="*/ 0 60000 65536"/>
                  <a:gd name="T16" fmla="*/ 0 60000 65536"/>
                  <a:gd name="T17" fmla="*/ 0 60000 65536"/>
                  <a:gd name="T18" fmla="*/ 0 w 144"/>
                  <a:gd name="T19" fmla="*/ 0 h 144"/>
                  <a:gd name="T20" fmla="*/ 144 w 144"/>
                  <a:gd name="T21" fmla="*/ 144 h 144"/>
                </a:gdLst>
                <a:ahLst/>
                <a:cxnLst>
                  <a:cxn ang="T12">
                    <a:pos x="T0" y="T1"/>
                  </a:cxn>
                  <a:cxn ang="T13">
                    <a:pos x="T2" y="T3"/>
                  </a:cxn>
                  <a:cxn ang="T14">
                    <a:pos x="T4" y="T5"/>
                  </a:cxn>
                  <a:cxn ang="T15">
                    <a:pos x="T6" y="T7"/>
                  </a:cxn>
                  <a:cxn ang="T16">
                    <a:pos x="T8" y="T9"/>
                  </a:cxn>
                  <a:cxn ang="T17">
                    <a:pos x="T10" y="T11"/>
                  </a:cxn>
                </a:cxnLst>
                <a:rect l="T18" t="T19" r="T20" b="T21"/>
                <a:pathLst>
                  <a:path w="144" h="144">
                    <a:moveTo>
                      <a:pt x="0" y="48"/>
                    </a:moveTo>
                    <a:lnTo>
                      <a:pt x="96" y="0"/>
                    </a:lnTo>
                    <a:lnTo>
                      <a:pt x="144" y="96"/>
                    </a:lnTo>
                    <a:lnTo>
                      <a:pt x="48" y="144"/>
                    </a:lnTo>
                    <a:lnTo>
                      <a:pt x="0" y="144"/>
                    </a:lnTo>
                    <a:lnTo>
                      <a:pt x="0" y="48"/>
                    </a:lnTo>
                    <a:close/>
                  </a:path>
                </a:pathLst>
              </a:custGeom>
              <a:noFill/>
              <a:ln w="19050">
                <a:solidFill>
                  <a:schemeClr val="tx1"/>
                </a:solidFill>
                <a:round/>
                <a:headEnd/>
                <a:tailEnd type="none" w="med" len="lg"/>
              </a:ln>
            </p:spPr>
            <p:txBody>
              <a:bodyPr wrap="none" anchor="ctr"/>
              <a:lstStyle/>
              <a:p>
                <a:endParaRPr lang="zh-CN" altLang="en-US"/>
              </a:p>
            </p:txBody>
          </p:sp>
          <p:sp>
            <p:nvSpPr>
              <p:cNvPr id="41007" name="Freeform 54"/>
              <p:cNvSpPr>
                <a:spLocks noChangeAspect="1"/>
              </p:cNvSpPr>
              <p:nvPr/>
            </p:nvSpPr>
            <p:spPr bwMode="auto">
              <a:xfrm>
                <a:off x="4656" y="2366"/>
                <a:ext cx="144" cy="192"/>
              </a:xfrm>
              <a:custGeom>
                <a:avLst/>
                <a:gdLst>
                  <a:gd name="T0" fmla="*/ 48 w 144"/>
                  <a:gd name="T1" fmla="*/ 0 h 192"/>
                  <a:gd name="T2" fmla="*/ 144 w 144"/>
                  <a:gd name="T3" fmla="*/ 48 h 192"/>
                  <a:gd name="T4" fmla="*/ 144 w 144"/>
                  <a:gd name="T5" fmla="*/ 192 h 192"/>
                  <a:gd name="T6" fmla="*/ 48 w 144"/>
                  <a:gd name="T7" fmla="*/ 192 h 192"/>
                  <a:gd name="T8" fmla="*/ 0 w 144"/>
                  <a:gd name="T9" fmla="*/ 96 h 192"/>
                  <a:gd name="T10" fmla="*/ 0 w 144"/>
                  <a:gd name="T11" fmla="*/ 48 h 192"/>
                  <a:gd name="T12" fmla="*/ 48 w 144"/>
                  <a:gd name="T13" fmla="*/ 0 h 192"/>
                  <a:gd name="T14" fmla="*/ 0 60000 65536"/>
                  <a:gd name="T15" fmla="*/ 0 60000 65536"/>
                  <a:gd name="T16" fmla="*/ 0 60000 65536"/>
                  <a:gd name="T17" fmla="*/ 0 60000 65536"/>
                  <a:gd name="T18" fmla="*/ 0 60000 65536"/>
                  <a:gd name="T19" fmla="*/ 0 60000 65536"/>
                  <a:gd name="T20" fmla="*/ 0 60000 65536"/>
                  <a:gd name="T21" fmla="*/ 0 w 144"/>
                  <a:gd name="T22" fmla="*/ 0 h 192"/>
                  <a:gd name="T23" fmla="*/ 144 w 144"/>
                  <a:gd name="T24" fmla="*/ 192 h 1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4" h="192">
                    <a:moveTo>
                      <a:pt x="48" y="0"/>
                    </a:moveTo>
                    <a:lnTo>
                      <a:pt x="144" y="48"/>
                    </a:lnTo>
                    <a:lnTo>
                      <a:pt x="144" y="192"/>
                    </a:lnTo>
                    <a:lnTo>
                      <a:pt x="48" y="192"/>
                    </a:lnTo>
                    <a:lnTo>
                      <a:pt x="0" y="96"/>
                    </a:lnTo>
                    <a:lnTo>
                      <a:pt x="0" y="48"/>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1008" name="Freeform 55"/>
              <p:cNvSpPr>
                <a:spLocks noChangeAspect="1"/>
              </p:cNvSpPr>
              <p:nvPr/>
            </p:nvSpPr>
            <p:spPr bwMode="auto">
              <a:xfrm>
                <a:off x="4704" y="2256"/>
                <a:ext cx="168" cy="224"/>
              </a:xfrm>
              <a:custGeom>
                <a:avLst/>
                <a:gdLst>
                  <a:gd name="T0" fmla="*/ 64 w 168"/>
                  <a:gd name="T1" fmla="*/ 24 h 224"/>
                  <a:gd name="T2" fmla="*/ 160 w 168"/>
                  <a:gd name="T3" fmla="*/ 120 h 224"/>
                  <a:gd name="T4" fmla="*/ 112 w 168"/>
                  <a:gd name="T5" fmla="*/ 216 h 224"/>
                  <a:gd name="T6" fmla="*/ 16 w 168"/>
                  <a:gd name="T7" fmla="*/ 168 h 224"/>
                  <a:gd name="T8" fmla="*/ 16 w 168"/>
                  <a:gd name="T9" fmla="*/ 24 h 224"/>
                  <a:gd name="T10" fmla="*/ 64 w 168"/>
                  <a:gd name="T11" fmla="*/ 24 h 224"/>
                  <a:gd name="T12" fmla="*/ 0 60000 65536"/>
                  <a:gd name="T13" fmla="*/ 0 60000 65536"/>
                  <a:gd name="T14" fmla="*/ 0 60000 65536"/>
                  <a:gd name="T15" fmla="*/ 0 60000 65536"/>
                  <a:gd name="T16" fmla="*/ 0 60000 65536"/>
                  <a:gd name="T17" fmla="*/ 0 60000 65536"/>
                  <a:gd name="T18" fmla="*/ 0 w 168"/>
                  <a:gd name="T19" fmla="*/ 0 h 224"/>
                  <a:gd name="T20" fmla="*/ 168 w 168"/>
                  <a:gd name="T21" fmla="*/ 224 h 224"/>
                </a:gdLst>
                <a:ahLst/>
                <a:cxnLst>
                  <a:cxn ang="T12">
                    <a:pos x="T0" y="T1"/>
                  </a:cxn>
                  <a:cxn ang="T13">
                    <a:pos x="T2" y="T3"/>
                  </a:cxn>
                  <a:cxn ang="T14">
                    <a:pos x="T4" y="T5"/>
                  </a:cxn>
                  <a:cxn ang="T15">
                    <a:pos x="T6" y="T7"/>
                  </a:cxn>
                  <a:cxn ang="T16">
                    <a:pos x="T8" y="T9"/>
                  </a:cxn>
                  <a:cxn ang="T17">
                    <a:pos x="T10" y="T11"/>
                  </a:cxn>
                </a:cxnLst>
                <a:rect l="T18" t="T19" r="T20" b="T21"/>
                <a:pathLst>
                  <a:path w="168" h="224">
                    <a:moveTo>
                      <a:pt x="64" y="24"/>
                    </a:moveTo>
                    <a:cubicBezTo>
                      <a:pt x="88" y="40"/>
                      <a:pt x="152" y="88"/>
                      <a:pt x="160" y="120"/>
                    </a:cubicBezTo>
                    <a:cubicBezTo>
                      <a:pt x="168" y="152"/>
                      <a:pt x="136" y="208"/>
                      <a:pt x="112" y="216"/>
                    </a:cubicBezTo>
                    <a:cubicBezTo>
                      <a:pt x="88" y="224"/>
                      <a:pt x="32" y="200"/>
                      <a:pt x="16" y="168"/>
                    </a:cubicBezTo>
                    <a:cubicBezTo>
                      <a:pt x="0" y="136"/>
                      <a:pt x="8" y="48"/>
                      <a:pt x="16" y="24"/>
                    </a:cubicBezTo>
                    <a:cubicBezTo>
                      <a:pt x="24" y="0"/>
                      <a:pt x="40" y="8"/>
                      <a:pt x="64" y="24"/>
                    </a:cubicBezTo>
                    <a:close/>
                  </a:path>
                </a:pathLst>
              </a:custGeom>
              <a:noFill/>
              <a:ln w="19050">
                <a:solidFill>
                  <a:schemeClr val="tx1"/>
                </a:solidFill>
                <a:round/>
                <a:headEnd/>
                <a:tailEnd type="none" w="med" len="lg"/>
              </a:ln>
            </p:spPr>
            <p:txBody>
              <a:bodyPr wrap="none" anchor="ctr"/>
              <a:lstStyle/>
              <a:p>
                <a:endParaRPr lang="zh-CN" altLang="en-US"/>
              </a:p>
            </p:txBody>
          </p:sp>
          <p:sp>
            <p:nvSpPr>
              <p:cNvPr id="41009" name="Freeform 56"/>
              <p:cNvSpPr>
                <a:spLocks noChangeAspect="1"/>
              </p:cNvSpPr>
              <p:nvPr/>
            </p:nvSpPr>
            <p:spPr bwMode="auto">
              <a:xfrm>
                <a:off x="4320" y="2208"/>
                <a:ext cx="192" cy="144"/>
              </a:xfrm>
              <a:custGeom>
                <a:avLst/>
                <a:gdLst>
                  <a:gd name="T0" fmla="*/ 48 w 192"/>
                  <a:gd name="T1" fmla="*/ 0 h 144"/>
                  <a:gd name="T2" fmla="*/ 192 w 192"/>
                  <a:gd name="T3" fmla="*/ 48 h 144"/>
                  <a:gd name="T4" fmla="*/ 96 w 192"/>
                  <a:gd name="T5" fmla="*/ 144 h 144"/>
                  <a:gd name="T6" fmla="*/ 0 w 192"/>
                  <a:gd name="T7" fmla="*/ 96 h 144"/>
                  <a:gd name="T8" fmla="*/ 48 w 192"/>
                  <a:gd name="T9" fmla="*/ 0 h 144"/>
                  <a:gd name="T10" fmla="*/ 0 60000 65536"/>
                  <a:gd name="T11" fmla="*/ 0 60000 65536"/>
                  <a:gd name="T12" fmla="*/ 0 60000 65536"/>
                  <a:gd name="T13" fmla="*/ 0 60000 65536"/>
                  <a:gd name="T14" fmla="*/ 0 60000 65536"/>
                  <a:gd name="T15" fmla="*/ 0 w 192"/>
                  <a:gd name="T16" fmla="*/ 0 h 144"/>
                  <a:gd name="T17" fmla="*/ 192 w 192"/>
                  <a:gd name="T18" fmla="*/ 144 h 144"/>
                </a:gdLst>
                <a:ahLst/>
                <a:cxnLst>
                  <a:cxn ang="T10">
                    <a:pos x="T0" y="T1"/>
                  </a:cxn>
                  <a:cxn ang="T11">
                    <a:pos x="T2" y="T3"/>
                  </a:cxn>
                  <a:cxn ang="T12">
                    <a:pos x="T4" y="T5"/>
                  </a:cxn>
                  <a:cxn ang="T13">
                    <a:pos x="T6" y="T7"/>
                  </a:cxn>
                  <a:cxn ang="T14">
                    <a:pos x="T8" y="T9"/>
                  </a:cxn>
                </a:cxnLst>
                <a:rect l="T15" t="T16" r="T17" b="T18"/>
                <a:pathLst>
                  <a:path w="192" h="144">
                    <a:moveTo>
                      <a:pt x="48" y="0"/>
                    </a:moveTo>
                    <a:lnTo>
                      <a:pt x="192" y="48"/>
                    </a:lnTo>
                    <a:lnTo>
                      <a:pt x="96" y="144"/>
                    </a:lnTo>
                    <a:lnTo>
                      <a:pt x="0" y="96"/>
                    </a:lnTo>
                    <a:lnTo>
                      <a:pt x="48" y="0"/>
                    </a:lnTo>
                    <a:close/>
                  </a:path>
                </a:pathLst>
              </a:custGeom>
              <a:noFill/>
              <a:ln w="19050">
                <a:solidFill>
                  <a:schemeClr val="tx1"/>
                </a:solidFill>
                <a:round/>
                <a:headEnd/>
                <a:tailEnd type="none" w="med" len="lg"/>
              </a:ln>
            </p:spPr>
            <p:txBody>
              <a:bodyPr wrap="none" anchor="ctr"/>
              <a:lstStyle/>
              <a:p>
                <a:endParaRPr lang="zh-CN" altLang="en-US"/>
              </a:p>
            </p:txBody>
          </p:sp>
          <p:sp>
            <p:nvSpPr>
              <p:cNvPr id="41010" name="Freeform 57"/>
              <p:cNvSpPr>
                <a:spLocks noChangeAspect="1"/>
              </p:cNvSpPr>
              <p:nvPr/>
            </p:nvSpPr>
            <p:spPr bwMode="auto">
              <a:xfrm>
                <a:off x="4032" y="2256"/>
                <a:ext cx="160" cy="152"/>
              </a:xfrm>
              <a:custGeom>
                <a:avLst/>
                <a:gdLst>
                  <a:gd name="T0" fmla="*/ 48 w 160"/>
                  <a:gd name="T1" fmla="*/ 8 h 152"/>
                  <a:gd name="T2" fmla="*/ 144 w 160"/>
                  <a:gd name="T3" fmla="*/ 8 h 152"/>
                  <a:gd name="T4" fmla="*/ 144 w 160"/>
                  <a:gd name="T5" fmla="*/ 56 h 152"/>
                  <a:gd name="T6" fmla="*/ 48 w 160"/>
                  <a:gd name="T7" fmla="*/ 152 h 152"/>
                  <a:gd name="T8" fmla="*/ 0 w 160"/>
                  <a:gd name="T9" fmla="*/ 56 h 152"/>
                  <a:gd name="T10" fmla="*/ 48 w 160"/>
                  <a:gd name="T11" fmla="*/ 8 h 152"/>
                  <a:gd name="T12" fmla="*/ 0 60000 65536"/>
                  <a:gd name="T13" fmla="*/ 0 60000 65536"/>
                  <a:gd name="T14" fmla="*/ 0 60000 65536"/>
                  <a:gd name="T15" fmla="*/ 0 60000 65536"/>
                  <a:gd name="T16" fmla="*/ 0 60000 65536"/>
                  <a:gd name="T17" fmla="*/ 0 60000 65536"/>
                  <a:gd name="T18" fmla="*/ 0 w 160"/>
                  <a:gd name="T19" fmla="*/ 0 h 152"/>
                  <a:gd name="T20" fmla="*/ 160 w 160"/>
                  <a:gd name="T21" fmla="*/ 152 h 152"/>
                </a:gdLst>
                <a:ahLst/>
                <a:cxnLst>
                  <a:cxn ang="T12">
                    <a:pos x="T0" y="T1"/>
                  </a:cxn>
                  <a:cxn ang="T13">
                    <a:pos x="T2" y="T3"/>
                  </a:cxn>
                  <a:cxn ang="T14">
                    <a:pos x="T4" y="T5"/>
                  </a:cxn>
                  <a:cxn ang="T15">
                    <a:pos x="T6" y="T7"/>
                  </a:cxn>
                  <a:cxn ang="T16">
                    <a:pos x="T8" y="T9"/>
                  </a:cxn>
                  <a:cxn ang="T17">
                    <a:pos x="T10" y="T11"/>
                  </a:cxn>
                </a:cxnLst>
                <a:rect l="T18" t="T19" r="T20" b="T21"/>
                <a:pathLst>
                  <a:path w="160" h="152">
                    <a:moveTo>
                      <a:pt x="48" y="8"/>
                    </a:moveTo>
                    <a:cubicBezTo>
                      <a:pt x="72" y="0"/>
                      <a:pt x="128" y="0"/>
                      <a:pt x="144" y="8"/>
                    </a:cubicBezTo>
                    <a:cubicBezTo>
                      <a:pt x="160" y="16"/>
                      <a:pt x="160" y="32"/>
                      <a:pt x="144" y="56"/>
                    </a:cubicBezTo>
                    <a:cubicBezTo>
                      <a:pt x="128" y="80"/>
                      <a:pt x="72" y="152"/>
                      <a:pt x="48" y="152"/>
                    </a:cubicBezTo>
                    <a:cubicBezTo>
                      <a:pt x="24" y="152"/>
                      <a:pt x="0" y="80"/>
                      <a:pt x="0" y="56"/>
                    </a:cubicBezTo>
                    <a:cubicBezTo>
                      <a:pt x="0" y="32"/>
                      <a:pt x="24" y="16"/>
                      <a:pt x="48" y="8"/>
                    </a:cubicBezTo>
                    <a:close/>
                  </a:path>
                </a:pathLst>
              </a:custGeom>
              <a:noFill/>
              <a:ln w="19050">
                <a:solidFill>
                  <a:schemeClr val="tx1"/>
                </a:solidFill>
                <a:round/>
                <a:headEnd/>
                <a:tailEnd type="none" w="med" len="lg"/>
              </a:ln>
            </p:spPr>
            <p:txBody>
              <a:bodyPr wrap="none" anchor="ctr"/>
              <a:lstStyle/>
              <a:p>
                <a:endParaRPr lang="zh-CN" altLang="en-US"/>
              </a:p>
            </p:txBody>
          </p:sp>
          <p:grpSp>
            <p:nvGrpSpPr>
              <p:cNvPr id="41011" name="Group 58"/>
              <p:cNvGrpSpPr>
                <a:grpSpLocks noChangeAspect="1"/>
              </p:cNvGrpSpPr>
              <p:nvPr/>
            </p:nvGrpSpPr>
            <p:grpSpPr bwMode="auto">
              <a:xfrm>
                <a:off x="3947" y="2544"/>
                <a:ext cx="946" cy="197"/>
                <a:chOff x="3947" y="1728"/>
                <a:chExt cx="946" cy="197"/>
              </a:xfrm>
            </p:grpSpPr>
            <p:sp>
              <p:nvSpPr>
                <p:cNvPr id="41023" name="Arc 59"/>
                <p:cNvSpPr>
                  <a:spLocks noChangeAspect="1"/>
                </p:cNvSpPr>
                <p:nvPr/>
              </p:nvSpPr>
              <p:spPr bwMode="auto">
                <a:xfrm>
                  <a:off x="4416" y="1728"/>
                  <a:ext cx="477" cy="197"/>
                </a:xfrm>
                <a:custGeom>
                  <a:avLst/>
                  <a:gdLst>
                    <a:gd name="T0" fmla="*/ 0 w 21600"/>
                    <a:gd name="T1" fmla="*/ 0 h 22660"/>
                    <a:gd name="T2" fmla="*/ 0 w 21600"/>
                    <a:gd name="T3" fmla="*/ 0 h 22660"/>
                    <a:gd name="T4" fmla="*/ 0 w 21600"/>
                    <a:gd name="T5" fmla="*/ 0 h 22660"/>
                    <a:gd name="T6" fmla="*/ 0 60000 65536"/>
                    <a:gd name="T7" fmla="*/ 0 60000 65536"/>
                    <a:gd name="T8" fmla="*/ 0 60000 65536"/>
                    <a:gd name="T9" fmla="*/ 0 w 21600"/>
                    <a:gd name="T10" fmla="*/ 0 h 22660"/>
                    <a:gd name="T11" fmla="*/ 21600 w 21600"/>
                    <a:gd name="T12" fmla="*/ 22660 h 22660"/>
                  </a:gdLst>
                  <a:ahLst/>
                  <a:cxnLst>
                    <a:cxn ang="T6">
                      <a:pos x="T0" y="T1"/>
                    </a:cxn>
                    <a:cxn ang="T7">
                      <a:pos x="T2" y="T3"/>
                    </a:cxn>
                    <a:cxn ang="T8">
                      <a:pos x="T4" y="T5"/>
                    </a:cxn>
                  </a:cxnLst>
                  <a:rect l="T9" t="T10" r="T11" b="T12"/>
                  <a:pathLst>
                    <a:path w="21600" h="22660" fill="none" extrusionOk="0">
                      <a:moveTo>
                        <a:pt x="21573" y="0"/>
                      </a:moveTo>
                      <a:cubicBezTo>
                        <a:pt x="21591" y="353"/>
                        <a:pt x="21600" y="706"/>
                        <a:pt x="21600" y="1060"/>
                      </a:cubicBezTo>
                      <a:cubicBezTo>
                        <a:pt x="21600" y="12936"/>
                        <a:pt x="12012" y="22584"/>
                        <a:pt x="135" y="22659"/>
                      </a:cubicBezTo>
                    </a:path>
                    <a:path w="21600" h="22660" stroke="0" extrusionOk="0">
                      <a:moveTo>
                        <a:pt x="21573" y="0"/>
                      </a:moveTo>
                      <a:cubicBezTo>
                        <a:pt x="21591" y="353"/>
                        <a:pt x="21600" y="706"/>
                        <a:pt x="21600" y="1060"/>
                      </a:cubicBezTo>
                      <a:cubicBezTo>
                        <a:pt x="21600" y="12936"/>
                        <a:pt x="12012" y="22584"/>
                        <a:pt x="135" y="22659"/>
                      </a:cubicBezTo>
                      <a:lnTo>
                        <a:pt x="0" y="1060"/>
                      </a:lnTo>
                      <a:lnTo>
                        <a:pt x="21573" y="0"/>
                      </a:lnTo>
                      <a:close/>
                    </a:path>
                  </a:pathLst>
                </a:custGeom>
                <a:noFill/>
                <a:ln w="38100">
                  <a:solidFill>
                    <a:srgbClr val="FF3300"/>
                  </a:solidFill>
                  <a:round/>
                  <a:headEnd/>
                  <a:tailEnd type="stealth" w="med" len="lg"/>
                </a:ln>
              </p:spPr>
              <p:txBody>
                <a:bodyPr wrap="none" anchor="ctr"/>
                <a:lstStyle/>
                <a:p>
                  <a:endParaRPr lang="zh-CN" altLang="en-US"/>
                </a:p>
              </p:txBody>
            </p:sp>
            <p:sp>
              <p:nvSpPr>
                <p:cNvPr id="41024" name="Arc 60"/>
                <p:cNvSpPr>
                  <a:spLocks noChangeAspect="1"/>
                </p:cNvSpPr>
                <p:nvPr/>
              </p:nvSpPr>
              <p:spPr bwMode="auto">
                <a:xfrm>
                  <a:off x="3947" y="1737"/>
                  <a:ext cx="501" cy="188"/>
                </a:xfrm>
                <a:custGeom>
                  <a:avLst/>
                  <a:gdLst>
                    <a:gd name="T0" fmla="*/ 0 w 22688"/>
                    <a:gd name="T1" fmla="*/ 0 h 21600"/>
                    <a:gd name="T2" fmla="*/ 0 w 22688"/>
                    <a:gd name="T3" fmla="*/ 0 h 21600"/>
                    <a:gd name="T4" fmla="*/ 0 w 22688"/>
                    <a:gd name="T5" fmla="*/ 0 h 21600"/>
                    <a:gd name="T6" fmla="*/ 0 60000 65536"/>
                    <a:gd name="T7" fmla="*/ 0 60000 65536"/>
                    <a:gd name="T8" fmla="*/ 0 60000 65536"/>
                    <a:gd name="T9" fmla="*/ 0 w 22688"/>
                    <a:gd name="T10" fmla="*/ 0 h 21600"/>
                    <a:gd name="T11" fmla="*/ 22688 w 22688"/>
                    <a:gd name="T12" fmla="*/ 21600 h 21600"/>
                  </a:gdLst>
                  <a:ahLst/>
                  <a:cxnLst>
                    <a:cxn ang="T6">
                      <a:pos x="T0" y="T1"/>
                    </a:cxn>
                    <a:cxn ang="T7">
                      <a:pos x="T2" y="T3"/>
                    </a:cxn>
                    <a:cxn ang="T8">
                      <a:pos x="T4" y="T5"/>
                    </a:cxn>
                  </a:cxnLst>
                  <a:rect l="T9" t="T10" r="T11" b="T12"/>
                  <a:pathLst>
                    <a:path w="22688" h="21600" fill="none" extrusionOk="0">
                      <a:moveTo>
                        <a:pt x="22688" y="21556"/>
                      </a:moveTo>
                      <a:cubicBezTo>
                        <a:pt x="22230" y="21585"/>
                        <a:pt x="21771" y="21599"/>
                        <a:pt x="21313" y="21600"/>
                      </a:cubicBezTo>
                      <a:cubicBezTo>
                        <a:pt x="10737" y="21600"/>
                        <a:pt x="1717" y="13943"/>
                        <a:pt x="-1" y="3508"/>
                      </a:cubicBezTo>
                    </a:path>
                    <a:path w="22688" h="21600" stroke="0" extrusionOk="0">
                      <a:moveTo>
                        <a:pt x="22688" y="21556"/>
                      </a:moveTo>
                      <a:cubicBezTo>
                        <a:pt x="22230" y="21585"/>
                        <a:pt x="21771" y="21599"/>
                        <a:pt x="21313" y="21600"/>
                      </a:cubicBezTo>
                      <a:cubicBezTo>
                        <a:pt x="10737" y="21600"/>
                        <a:pt x="1717" y="13943"/>
                        <a:pt x="-1" y="3508"/>
                      </a:cubicBezTo>
                      <a:lnTo>
                        <a:pt x="21313" y="0"/>
                      </a:lnTo>
                      <a:lnTo>
                        <a:pt x="22688" y="21556"/>
                      </a:lnTo>
                      <a:close/>
                    </a:path>
                  </a:pathLst>
                </a:custGeom>
                <a:noFill/>
                <a:ln w="38100">
                  <a:solidFill>
                    <a:srgbClr val="FF3300"/>
                  </a:solidFill>
                  <a:round/>
                  <a:headEnd/>
                  <a:tailEnd type="none" w="med" len="lg"/>
                </a:ln>
              </p:spPr>
              <p:txBody>
                <a:bodyPr wrap="none" anchor="ctr"/>
                <a:lstStyle/>
                <a:p>
                  <a:endParaRPr lang="zh-CN" altLang="en-US"/>
                </a:p>
              </p:txBody>
            </p:sp>
          </p:grpSp>
          <p:grpSp>
            <p:nvGrpSpPr>
              <p:cNvPr id="41012" name="Group 61"/>
              <p:cNvGrpSpPr>
                <a:grpSpLocks noChangeAspect="1"/>
              </p:cNvGrpSpPr>
              <p:nvPr/>
            </p:nvGrpSpPr>
            <p:grpSpPr bwMode="auto">
              <a:xfrm>
                <a:off x="3950" y="2640"/>
                <a:ext cx="946" cy="197"/>
                <a:chOff x="3947" y="1728"/>
                <a:chExt cx="946" cy="197"/>
              </a:xfrm>
            </p:grpSpPr>
            <p:sp>
              <p:nvSpPr>
                <p:cNvPr id="41021" name="Arc 62"/>
                <p:cNvSpPr>
                  <a:spLocks noChangeAspect="1"/>
                </p:cNvSpPr>
                <p:nvPr/>
              </p:nvSpPr>
              <p:spPr bwMode="auto">
                <a:xfrm>
                  <a:off x="4416" y="1728"/>
                  <a:ext cx="477" cy="197"/>
                </a:xfrm>
                <a:custGeom>
                  <a:avLst/>
                  <a:gdLst>
                    <a:gd name="T0" fmla="*/ 0 w 21600"/>
                    <a:gd name="T1" fmla="*/ 0 h 22660"/>
                    <a:gd name="T2" fmla="*/ 0 w 21600"/>
                    <a:gd name="T3" fmla="*/ 0 h 22660"/>
                    <a:gd name="T4" fmla="*/ 0 w 21600"/>
                    <a:gd name="T5" fmla="*/ 0 h 22660"/>
                    <a:gd name="T6" fmla="*/ 0 60000 65536"/>
                    <a:gd name="T7" fmla="*/ 0 60000 65536"/>
                    <a:gd name="T8" fmla="*/ 0 60000 65536"/>
                    <a:gd name="T9" fmla="*/ 0 w 21600"/>
                    <a:gd name="T10" fmla="*/ 0 h 22660"/>
                    <a:gd name="T11" fmla="*/ 21600 w 21600"/>
                    <a:gd name="T12" fmla="*/ 22660 h 22660"/>
                  </a:gdLst>
                  <a:ahLst/>
                  <a:cxnLst>
                    <a:cxn ang="T6">
                      <a:pos x="T0" y="T1"/>
                    </a:cxn>
                    <a:cxn ang="T7">
                      <a:pos x="T2" y="T3"/>
                    </a:cxn>
                    <a:cxn ang="T8">
                      <a:pos x="T4" y="T5"/>
                    </a:cxn>
                  </a:cxnLst>
                  <a:rect l="T9" t="T10" r="T11" b="T12"/>
                  <a:pathLst>
                    <a:path w="21600" h="22660" fill="none" extrusionOk="0">
                      <a:moveTo>
                        <a:pt x="21573" y="0"/>
                      </a:moveTo>
                      <a:cubicBezTo>
                        <a:pt x="21591" y="353"/>
                        <a:pt x="21600" y="706"/>
                        <a:pt x="21600" y="1060"/>
                      </a:cubicBezTo>
                      <a:cubicBezTo>
                        <a:pt x="21600" y="12936"/>
                        <a:pt x="12012" y="22584"/>
                        <a:pt x="135" y="22659"/>
                      </a:cubicBezTo>
                    </a:path>
                    <a:path w="21600" h="22660" stroke="0" extrusionOk="0">
                      <a:moveTo>
                        <a:pt x="21573" y="0"/>
                      </a:moveTo>
                      <a:cubicBezTo>
                        <a:pt x="21591" y="353"/>
                        <a:pt x="21600" y="706"/>
                        <a:pt x="21600" y="1060"/>
                      </a:cubicBezTo>
                      <a:cubicBezTo>
                        <a:pt x="21600" y="12936"/>
                        <a:pt x="12012" y="22584"/>
                        <a:pt x="135" y="22659"/>
                      </a:cubicBezTo>
                      <a:lnTo>
                        <a:pt x="0" y="1060"/>
                      </a:lnTo>
                      <a:lnTo>
                        <a:pt x="21573" y="0"/>
                      </a:lnTo>
                      <a:close/>
                    </a:path>
                  </a:pathLst>
                </a:custGeom>
                <a:noFill/>
                <a:ln w="38100">
                  <a:solidFill>
                    <a:srgbClr val="FF3300"/>
                  </a:solidFill>
                  <a:round/>
                  <a:headEnd/>
                  <a:tailEnd type="stealth" w="med" len="lg"/>
                </a:ln>
              </p:spPr>
              <p:txBody>
                <a:bodyPr wrap="none" anchor="ctr"/>
                <a:lstStyle/>
                <a:p>
                  <a:endParaRPr lang="zh-CN" altLang="en-US"/>
                </a:p>
              </p:txBody>
            </p:sp>
            <p:sp>
              <p:nvSpPr>
                <p:cNvPr id="41022" name="Arc 63"/>
                <p:cNvSpPr>
                  <a:spLocks noChangeAspect="1"/>
                </p:cNvSpPr>
                <p:nvPr/>
              </p:nvSpPr>
              <p:spPr bwMode="auto">
                <a:xfrm>
                  <a:off x="3947" y="1737"/>
                  <a:ext cx="501" cy="188"/>
                </a:xfrm>
                <a:custGeom>
                  <a:avLst/>
                  <a:gdLst>
                    <a:gd name="T0" fmla="*/ 0 w 22688"/>
                    <a:gd name="T1" fmla="*/ 0 h 21600"/>
                    <a:gd name="T2" fmla="*/ 0 w 22688"/>
                    <a:gd name="T3" fmla="*/ 0 h 21600"/>
                    <a:gd name="T4" fmla="*/ 0 w 22688"/>
                    <a:gd name="T5" fmla="*/ 0 h 21600"/>
                    <a:gd name="T6" fmla="*/ 0 60000 65536"/>
                    <a:gd name="T7" fmla="*/ 0 60000 65536"/>
                    <a:gd name="T8" fmla="*/ 0 60000 65536"/>
                    <a:gd name="T9" fmla="*/ 0 w 22688"/>
                    <a:gd name="T10" fmla="*/ 0 h 21600"/>
                    <a:gd name="T11" fmla="*/ 22688 w 22688"/>
                    <a:gd name="T12" fmla="*/ 21600 h 21600"/>
                  </a:gdLst>
                  <a:ahLst/>
                  <a:cxnLst>
                    <a:cxn ang="T6">
                      <a:pos x="T0" y="T1"/>
                    </a:cxn>
                    <a:cxn ang="T7">
                      <a:pos x="T2" y="T3"/>
                    </a:cxn>
                    <a:cxn ang="T8">
                      <a:pos x="T4" y="T5"/>
                    </a:cxn>
                  </a:cxnLst>
                  <a:rect l="T9" t="T10" r="T11" b="T12"/>
                  <a:pathLst>
                    <a:path w="22688" h="21600" fill="none" extrusionOk="0">
                      <a:moveTo>
                        <a:pt x="22688" y="21556"/>
                      </a:moveTo>
                      <a:cubicBezTo>
                        <a:pt x="22230" y="21585"/>
                        <a:pt x="21771" y="21599"/>
                        <a:pt x="21313" y="21600"/>
                      </a:cubicBezTo>
                      <a:cubicBezTo>
                        <a:pt x="10737" y="21600"/>
                        <a:pt x="1717" y="13943"/>
                        <a:pt x="-1" y="3508"/>
                      </a:cubicBezTo>
                    </a:path>
                    <a:path w="22688" h="21600" stroke="0" extrusionOk="0">
                      <a:moveTo>
                        <a:pt x="22688" y="21556"/>
                      </a:moveTo>
                      <a:cubicBezTo>
                        <a:pt x="22230" y="21585"/>
                        <a:pt x="21771" y="21599"/>
                        <a:pt x="21313" y="21600"/>
                      </a:cubicBezTo>
                      <a:cubicBezTo>
                        <a:pt x="10737" y="21600"/>
                        <a:pt x="1717" y="13943"/>
                        <a:pt x="-1" y="3508"/>
                      </a:cubicBezTo>
                      <a:lnTo>
                        <a:pt x="21313" y="0"/>
                      </a:lnTo>
                      <a:lnTo>
                        <a:pt x="22688" y="21556"/>
                      </a:lnTo>
                      <a:close/>
                    </a:path>
                  </a:pathLst>
                </a:custGeom>
                <a:noFill/>
                <a:ln w="38100">
                  <a:solidFill>
                    <a:srgbClr val="FF3300"/>
                  </a:solidFill>
                  <a:round/>
                  <a:headEnd/>
                  <a:tailEnd type="none" w="med" len="lg"/>
                </a:ln>
              </p:spPr>
              <p:txBody>
                <a:bodyPr wrap="none" anchor="ctr"/>
                <a:lstStyle/>
                <a:p>
                  <a:endParaRPr lang="zh-CN" altLang="en-US"/>
                </a:p>
              </p:txBody>
            </p:sp>
          </p:grpSp>
          <p:grpSp>
            <p:nvGrpSpPr>
              <p:cNvPr id="41013" name="Group 64"/>
              <p:cNvGrpSpPr>
                <a:grpSpLocks noChangeAspect="1"/>
              </p:cNvGrpSpPr>
              <p:nvPr/>
            </p:nvGrpSpPr>
            <p:grpSpPr bwMode="auto">
              <a:xfrm>
                <a:off x="3984" y="2736"/>
                <a:ext cx="864" cy="197"/>
                <a:chOff x="3947" y="1728"/>
                <a:chExt cx="946" cy="197"/>
              </a:xfrm>
            </p:grpSpPr>
            <p:sp>
              <p:nvSpPr>
                <p:cNvPr id="41019" name="Arc 65"/>
                <p:cNvSpPr>
                  <a:spLocks noChangeAspect="1"/>
                </p:cNvSpPr>
                <p:nvPr/>
              </p:nvSpPr>
              <p:spPr bwMode="auto">
                <a:xfrm>
                  <a:off x="4416" y="1728"/>
                  <a:ext cx="477" cy="197"/>
                </a:xfrm>
                <a:custGeom>
                  <a:avLst/>
                  <a:gdLst>
                    <a:gd name="T0" fmla="*/ 0 w 21600"/>
                    <a:gd name="T1" fmla="*/ 0 h 22660"/>
                    <a:gd name="T2" fmla="*/ 0 w 21600"/>
                    <a:gd name="T3" fmla="*/ 0 h 22660"/>
                    <a:gd name="T4" fmla="*/ 0 w 21600"/>
                    <a:gd name="T5" fmla="*/ 0 h 22660"/>
                    <a:gd name="T6" fmla="*/ 0 60000 65536"/>
                    <a:gd name="T7" fmla="*/ 0 60000 65536"/>
                    <a:gd name="T8" fmla="*/ 0 60000 65536"/>
                    <a:gd name="T9" fmla="*/ 0 w 21600"/>
                    <a:gd name="T10" fmla="*/ 0 h 22660"/>
                    <a:gd name="T11" fmla="*/ 21600 w 21600"/>
                    <a:gd name="T12" fmla="*/ 22660 h 22660"/>
                  </a:gdLst>
                  <a:ahLst/>
                  <a:cxnLst>
                    <a:cxn ang="T6">
                      <a:pos x="T0" y="T1"/>
                    </a:cxn>
                    <a:cxn ang="T7">
                      <a:pos x="T2" y="T3"/>
                    </a:cxn>
                    <a:cxn ang="T8">
                      <a:pos x="T4" y="T5"/>
                    </a:cxn>
                  </a:cxnLst>
                  <a:rect l="T9" t="T10" r="T11" b="T12"/>
                  <a:pathLst>
                    <a:path w="21600" h="22660" fill="none" extrusionOk="0">
                      <a:moveTo>
                        <a:pt x="21573" y="0"/>
                      </a:moveTo>
                      <a:cubicBezTo>
                        <a:pt x="21591" y="353"/>
                        <a:pt x="21600" y="706"/>
                        <a:pt x="21600" y="1060"/>
                      </a:cubicBezTo>
                      <a:cubicBezTo>
                        <a:pt x="21600" y="12936"/>
                        <a:pt x="12012" y="22584"/>
                        <a:pt x="135" y="22659"/>
                      </a:cubicBezTo>
                    </a:path>
                    <a:path w="21600" h="22660" stroke="0" extrusionOk="0">
                      <a:moveTo>
                        <a:pt x="21573" y="0"/>
                      </a:moveTo>
                      <a:cubicBezTo>
                        <a:pt x="21591" y="353"/>
                        <a:pt x="21600" y="706"/>
                        <a:pt x="21600" y="1060"/>
                      </a:cubicBezTo>
                      <a:cubicBezTo>
                        <a:pt x="21600" y="12936"/>
                        <a:pt x="12012" y="22584"/>
                        <a:pt x="135" y="22659"/>
                      </a:cubicBezTo>
                      <a:lnTo>
                        <a:pt x="0" y="1060"/>
                      </a:lnTo>
                      <a:lnTo>
                        <a:pt x="21573" y="0"/>
                      </a:lnTo>
                      <a:close/>
                    </a:path>
                  </a:pathLst>
                </a:custGeom>
                <a:noFill/>
                <a:ln w="38100">
                  <a:solidFill>
                    <a:srgbClr val="FF3300"/>
                  </a:solidFill>
                  <a:round/>
                  <a:headEnd/>
                  <a:tailEnd type="stealth" w="med" len="lg"/>
                </a:ln>
              </p:spPr>
              <p:txBody>
                <a:bodyPr wrap="none" anchor="ctr"/>
                <a:lstStyle/>
                <a:p>
                  <a:endParaRPr lang="zh-CN" altLang="en-US"/>
                </a:p>
              </p:txBody>
            </p:sp>
            <p:sp>
              <p:nvSpPr>
                <p:cNvPr id="41020" name="Arc 66"/>
                <p:cNvSpPr>
                  <a:spLocks noChangeAspect="1"/>
                </p:cNvSpPr>
                <p:nvPr/>
              </p:nvSpPr>
              <p:spPr bwMode="auto">
                <a:xfrm>
                  <a:off x="3947" y="1737"/>
                  <a:ext cx="501" cy="188"/>
                </a:xfrm>
                <a:custGeom>
                  <a:avLst/>
                  <a:gdLst>
                    <a:gd name="T0" fmla="*/ 0 w 22688"/>
                    <a:gd name="T1" fmla="*/ 0 h 21600"/>
                    <a:gd name="T2" fmla="*/ 0 w 22688"/>
                    <a:gd name="T3" fmla="*/ 0 h 21600"/>
                    <a:gd name="T4" fmla="*/ 0 w 22688"/>
                    <a:gd name="T5" fmla="*/ 0 h 21600"/>
                    <a:gd name="T6" fmla="*/ 0 60000 65536"/>
                    <a:gd name="T7" fmla="*/ 0 60000 65536"/>
                    <a:gd name="T8" fmla="*/ 0 60000 65536"/>
                    <a:gd name="T9" fmla="*/ 0 w 22688"/>
                    <a:gd name="T10" fmla="*/ 0 h 21600"/>
                    <a:gd name="T11" fmla="*/ 22688 w 22688"/>
                    <a:gd name="T12" fmla="*/ 21600 h 21600"/>
                  </a:gdLst>
                  <a:ahLst/>
                  <a:cxnLst>
                    <a:cxn ang="T6">
                      <a:pos x="T0" y="T1"/>
                    </a:cxn>
                    <a:cxn ang="T7">
                      <a:pos x="T2" y="T3"/>
                    </a:cxn>
                    <a:cxn ang="T8">
                      <a:pos x="T4" y="T5"/>
                    </a:cxn>
                  </a:cxnLst>
                  <a:rect l="T9" t="T10" r="T11" b="T12"/>
                  <a:pathLst>
                    <a:path w="22688" h="21600" fill="none" extrusionOk="0">
                      <a:moveTo>
                        <a:pt x="22688" y="21556"/>
                      </a:moveTo>
                      <a:cubicBezTo>
                        <a:pt x="22230" y="21585"/>
                        <a:pt x="21771" y="21599"/>
                        <a:pt x="21313" y="21600"/>
                      </a:cubicBezTo>
                      <a:cubicBezTo>
                        <a:pt x="10737" y="21600"/>
                        <a:pt x="1717" y="13943"/>
                        <a:pt x="-1" y="3508"/>
                      </a:cubicBezTo>
                    </a:path>
                    <a:path w="22688" h="21600" stroke="0" extrusionOk="0">
                      <a:moveTo>
                        <a:pt x="22688" y="21556"/>
                      </a:moveTo>
                      <a:cubicBezTo>
                        <a:pt x="22230" y="21585"/>
                        <a:pt x="21771" y="21599"/>
                        <a:pt x="21313" y="21600"/>
                      </a:cubicBezTo>
                      <a:cubicBezTo>
                        <a:pt x="10737" y="21600"/>
                        <a:pt x="1717" y="13943"/>
                        <a:pt x="-1" y="3508"/>
                      </a:cubicBezTo>
                      <a:lnTo>
                        <a:pt x="21313" y="0"/>
                      </a:lnTo>
                      <a:lnTo>
                        <a:pt x="22688" y="21556"/>
                      </a:lnTo>
                      <a:close/>
                    </a:path>
                  </a:pathLst>
                </a:custGeom>
                <a:noFill/>
                <a:ln w="38100">
                  <a:solidFill>
                    <a:srgbClr val="FF3300"/>
                  </a:solidFill>
                  <a:round/>
                  <a:headEnd/>
                  <a:tailEnd type="none" w="med" len="lg"/>
                </a:ln>
              </p:spPr>
              <p:txBody>
                <a:bodyPr wrap="none" anchor="ctr"/>
                <a:lstStyle/>
                <a:p>
                  <a:endParaRPr lang="zh-CN" altLang="en-US"/>
                </a:p>
              </p:txBody>
            </p:sp>
          </p:grpSp>
          <p:sp>
            <p:nvSpPr>
              <p:cNvPr id="41014" name="Line 67"/>
              <p:cNvSpPr>
                <a:spLocks noChangeAspect="1" noChangeShapeType="1"/>
              </p:cNvSpPr>
              <p:nvPr/>
            </p:nvSpPr>
            <p:spPr bwMode="auto">
              <a:xfrm>
                <a:off x="3648" y="2496"/>
                <a:ext cx="288" cy="0"/>
              </a:xfrm>
              <a:prstGeom prst="line">
                <a:avLst/>
              </a:prstGeom>
              <a:noFill/>
              <a:ln w="19050">
                <a:solidFill>
                  <a:srgbClr val="FF3300"/>
                </a:solidFill>
                <a:round/>
                <a:headEnd/>
                <a:tailEnd type="none" w="med" len="lg"/>
              </a:ln>
            </p:spPr>
            <p:txBody>
              <a:bodyPr wrap="none" anchor="ctr"/>
              <a:lstStyle/>
              <a:p>
                <a:endParaRPr lang="zh-CN" altLang="en-US"/>
              </a:p>
            </p:txBody>
          </p:sp>
          <p:sp>
            <p:nvSpPr>
              <p:cNvPr id="41015" name="Freeform 68"/>
              <p:cNvSpPr>
                <a:spLocks noChangeAspect="1"/>
              </p:cNvSpPr>
              <p:nvPr/>
            </p:nvSpPr>
            <p:spPr bwMode="auto">
              <a:xfrm>
                <a:off x="3744" y="2928"/>
                <a:ext cx="1008" cy="96"/>
              </a:xfrm>
              <a:custGeom>
                <a:avLst/>
                <a:gdLst>
                  <a:gd name="T0" fmla="*/ 277 w 1392"/>
                  <a:gd name="T1" fmla="*/ 0 h 96"/>
                  <a:gd name="T2" fmla="*/ 258 w 1392"/>
                  <a:gd name="T3" fmla="*/ 48 h 96"/>
                  <a:gd name="T4" fmla="*/ 238 w 1392"/>
                  <a:gd name="T5" fmla="*/ 96 h 96"/>
                  <a:gd name="T6" fmla="*/ 0 w 1392"/>
                  <a:gd name="T7" fmla="*/ 96 h 96"/>
                  <a:gd name="T8" fmla="*/ 0 60000 65536"/>
                  <a:gd name="T9" fmla="*/ 0 60000 65536"/>
                  <a:gd name="T10" fmla="*/ 0 60000 65536"/>
                  <a:gd name="T11" fmla="*/ 0 60000 65536"/>
                  <a:gd name="T12" fmla="*/ 0 w 1392"/>
                  <a:gd name="T13" fmla="*/ 0 h 96"/>
                  <a:gd name="T14" fmla="*/ 1392 w 1392"/>
                  <a:gd name="T15" fmla="*/ 96 h 96"/>
                </a:gdLst>
                <a:ahLst/>
                <a:cxnLst>
                  <a:cxn ang="T8">
                    <a:pos x="T0" y="T1"/>
                  </a:cxn>
                  <a:cxn ang="T9">
                    <a:pos x="T2" y="T3"/>
                  </a:cxn>
                  <a:cxn ang="T10">
                    <a:pos x="T4" y="T5"/>
                  </a:cxn>
                  <a:cxn ang="T11">
                    <a:pos x="T6" y="T7"/>
                  </a:cxn>
                </a:cxnLst>
                <a:rect l="T12" t="T13" r="T14" b="T15"/>
                <a:pathLst>
                  <a:path w="1392" h="96">
                    <a:moveTo>
                      <a:pt x="1392" y="0"/>
                    </a:moveTo>
                    <a:lnTo>
                      <a:pt x="1296" y="48"/>
                    </a:lnTo>
                    <a:lnTo>
                      <a:pt x="1200" y="96"/>
                    </a:lnTo>
                    <a:lnTo>
                      <a:pt x="0" y="96"/>
                    </a:lnTo>
                  </a:path>
                </a:pathLst>
              </a:custGeom>
              <a:noFill/>
              <a:ln w="19050">
                <a:solidFill>
                  <a:srgbClr val="FF3300"/>
                </a:solidFill>
                <a:round/>
                <a:headEnd/>
                <a:tailEnd type="stealth" w="med" len="lg"/>
              </a:ln>
            </p:spPr>
            <p:txBody>
              <a:bodyPr wrap="none" anchor="ctr"/>
              <a:lstStyle/>
              <a:p>
                <a:endParaRPr lang="zh-CN" altLang="en-US"/>
              </a:p>
            </p:txBody>
          </p:sp>
          <p:sp>
            <p:nvSpPr>
              <p:cNvPr id="41016" name="AutoShape 69"/>
              <p:cNvSpPr>
                <a:spLocks noChangeAspect="1" noChangeArrowheads="1"/>
              </p:cNvSpPr>
              <p:nvPr/>
            </p:nvSpPr>
            <p:spPr bwMode="auto">
              <a:xfrm>
                <a:off x="5040" y="1344"/>
                <a:ext cx="96" cy="384"/>
              </a:xfrm>
              <a:prstGeom prst="can">
                <a:avLst>
                  <a:gd name="adj" fmla="val 45833"/>
                </a:avLst>
              </a:prstGeom>
              <a:noFill/>
              <a:ln w="19050">
                <a:solidFill>
                  <a:schemeClr val="tx1"/>
                </a:solidFill>
                <a:round/>
                <a:headEnd/>
                <a:tailEnd type="none" w="med" len="lg"/>
              </a:ln>
            </p:spPr>
            <p:txBody>
              <a:bodyPr wrap="none" anchor="ctr"/>
              <a:lstStyle/>
              <a:p>
                <a:endParaRPr lang="zh-CN" altLang="en-US"/>
              </a:p>
            </p:txBody>
          </p:sp>
          <p:sp>
            <p:nvSpPr>
              <p:cNvPr id="41017" name="Line 70"/>
              <p:cNvSpPr>
                <a:spLocks noChangeAspect="1" noChangeShapeType="1"/>
              </p:cNvSpPr>
              <p:nvPr/>
            </p:nvSpPr>
            <p:spPr bwMode="auto">
              <a:xfrm flipV="1">
                <a:off x="5088" y="1008"/>
                <a:ext cx="0" cy="288"/>
              </a:xfrm>
              <a:prstGeom prst="line">
                <a:avLst/>
              </a:prstGeom>
              <a:noFill/>
              <a:ln w="19050">
                <a:solidFill>
                  <a:schemeClr val="tx1"/>
                </a:solidFill>
                <a:round/>
                <a:headEnd/>
                <a:tailEnd type="stealth" w="med" len="lg"/>
              </a:ln>
            </p:spPr>
            <p:txBody>
              <a:bodyPr wrap="none" anchor="ctr"/>
              <a:lstStyle/>
              <a:p>
                <a:endParaRPr lang="zh-CN" altLang="en-US"/>
              </a:p>
            </p:txBody>
          </p:sp>
          <p:sp>
            <p:nvSpPr>
              <p:cNvPr id="41018" name="Text Box 71"/>
              <p:cNvSpPr txBox="1">
                <a:spLocks noChangeAspect="1" noChangeArrowheads="1"/>
              </p:cNvSpPr>
              <p:nvPr/>
            </p:nvSpPr>
            <p:spPr bwMode="auto">
              <a:xfrm>
                <a:off x="3936" y="912"/>
                <a:ext cx="1056" cy="450"/>
              </a:xfrm>
              <a:prstGeom prst="rect">
                <a:avLst/>
              </a:prstGeom>
              <a:noFill/>
              <a:ln w="19050">
                <a:noFill/>
                <a:miter lim="800000"/>
                <a:headEnd/>
                <a:tailEnd type="none" w="med" len="lg"/>
              </a:ln>
            </p:spPr>
            <p:txBody>
              <a:bodyPr>
                <a:spAutoFit/>
              </a:bodyPr>
              <a:lstStyle/>
              <a:p>
                <a:pPr algn="l">
                  <a:spcBef>
                    <a:spcPct val="50000"/>
                  </a:spcBef>
                </a:pPr>
                <a:endParaRPr kumimoji="1" lang="zh-CN" altLang="zh-CN" sz="2800" i="1">
                  <a:latin typeface="Times New Roman" pitchFamily="18" charset="0"/>
                </a:endParaRPr>
              </a:p>
            </p:txBody>
          </p:sp>
        </p:grpSp>
        <p:sp>
          <p:nvSpPr>
            <p:cNvPr id="40976" name="Rectangle 72"/>
            <p:cNvSpPr>
              <a:spLocks noChangeAspect="1" noChangeArrowheads="1"/>
            </p:cNvSpPr>
            <p:nvPr/>
          </p:nvSpPr>
          <p:spPr bwMode="auto">
            <a:xfrm>
              <a:off x="4033" y="1571"/>
              <a:ext cx="763" cy="318"/>
            </a:xfrm>
            <a:prstGeom prst="rect">
              <a:avLst/>
            </a:prstGeom>
            <a:noFill/>
            <a:ln w="9525">
              <a:noFill/>
              <a:miter lim="800000"/>
              <a:headEnd/>
              <a:tailEnd/>
            </a:ln>
          </p:spPr>
          <p:txBody>
            <a:bodyPr wrap="none">
              <a:spAutoFit/>
            </a:bodyPr>
            <a:lstStyle/>
            <a:p>
              <a:pPr algn="l">
                <a:spcBef>
                  <a:spcPct val="50000"/>
                </a:spcBef>
              </a:pPr>
              <a:r>
                <a:rPr kumimoji="1" lang="zh-CN" altLang="en-US" b="1">
                  <a:solidFill>
                    <a:srgbClr val="660066"/>
                  </a:solidFill>
                  <a:latin typeface="Times New Roman" pitchFamily="18" charset="0"/>
                  <a:ea typeface="楷体_GB2312" pitchFamily="49" charset="-122"/>
                </a:rPr>
                <a:t>抽真空</a:t>
              </a:r>
            </a:p>
          </p:txBody>
        </p:sp>
      </p:grpSp>
      <p:sp>
        <p:nvSpPr>
          <p:cNvPr id="51273" name="Text Box 73"/>
          <p:cNvSpPr txBox="1">
            <a:spLocks noChangeArrowheads="1"/>
          </p:cNvSpPr>
          <p:nvPr/>
        </p:nvSpPr>
        <p:spPr bwMode="auto">
          <a:xfrm>
            <a:off x="250825" y="3470275"/>
            <a:ext cx="8497888" cy="979488"/>
          </a:xfrm>
          <a:prstGeom prst="rect">
            <a:avLst/>
          </a:prstGeom>
          <a:noFill/>
          <a:ln w="9525">
            <a:noFill/>
            <a:miter lim="800000"/>
            <a:headEnd/>
            <a:tailEnd/>
          </a:ln>
        </p:spPr>
        <p:txBody>
          <a:bodyPr>
            <a:spAutoFit/>
          </a:bodyPr>
          <a:lstStyle/>
          <a:p>
            <a:pPr algn="l" eaLnBrk="0" hangingPunct="0">
              <a:lnSpc>
                <a:spcPct val="120000"/>
              </a:lnSpc>
            </a:pPr>
            <a:r>
              <a:rPr lang="zh-CN" altLang="en-US" sz="2400" b="1">
                <a:solidFill>
                  <a:srgbClr val="990099"/>
                </a:solidFill>
                <a:latin typeface="楷体_GB2312" pitchFamily="49" charset="-122"/>
                <a:ea typeface="楷体_GB2312" pitchFamily="49" charset="-122"/>
              </a:rPr>
              <a:t>高频感应炉</a:t>
            </a:r>
            <a:r>
              <a:rPr lang="zh-CN" altLang="en-US" sz="2400" b="1">
                <a:latin typeface="楷体_GB2312" pitchFamily="49" charset="-122"/>
                <a:ea typeface="楷体_GB2312" pitchFamily="49" charset="-122"/>
              </a:rPr>
              <a:t>：优点是</a:t>
            </a:r>
            <a:r>
              <a:rPr lang="zh-CN" altLang="en-US" sz="2400" b="1">
                <a:solidFill>
                  <a:srgbClr val="FF6600"/>
                </a:solidFill>
                <a:latin typeface="楷体_GB2312" pitchFamily="49" charset="-122"/>
                <a:ea typeface="楷体_GB2312" pitchFamily="49" charset="-122"/>
              </a:rPr>
              <a:t>加热速度快</a:t>
            </a:r>
            <a:r>
              <a:rPr lang="zh-CN" altLang="en-US" sz="2400" b="1">
                <a:latin typeface="楷体_GB2312" pitchFamily="49" charset="-122"/>
                <a:ea typeface="楷体_GB2312" pitchFamily="49" charset="-122"/>
              </a:rPr>
              <a:t>，</a:t>
            </a:r>
            <a:r>
              <a:rPr lang="zh-CN" altLang="en-US" sz="2400" b="1">
                <a:solidFill>
                  <a:srgbClr val="FF6600"/>
                </a:solidFill>
                <a:latin typeface="楷体_GB2312" pitchFamily="49" charset="-122"/>
                <a:ea typeface="楷体_GB2312" pitchFamily="49" charset="-122"/>
              </a:rPr>
              <a:t>温度均匀</a:t>
            </a:r>
            <a:r>
              <a:rPr lang="zh-CN" altLang="en-US" sz="2400" b="1">
                <a:latin typeface="楷体_GB2312" pitchFamily="49" charset="-122"/>
                <a:ea typeface="楷体_GB2312" pitchFamily="49" charset="-122"/>
              </a:rPr>
              <a:t>，材料</a:t>
            </a:r>
            <a:r>
              <a:rPr lang="zh-CN" altLang="en-US" sz="2400" b="1">
                <a:solidFill>
                  <a:srgbClr val="FF6600"/>
                </a:solidFill>
                <a:latin typeface="楷体_GB2312" pitchFamily="49" charset="-122"/>
                <a:ea typeface="楷体_GB2312" pitchFamily="49" charset="-122"/>
              </a:rPr>
              <a:t>不受污染</a:t>
            </a:r>
            <a:r>
              <a:rPr lang="zh-CN" altLang="en-US" sz="2400" b="1">
                <a:latin typeface="楷体_GB2312" pitchFamily="49" charset="-122"/>
                <a:ea typeface="楷体_GB2312" pitchFamily="49" charset="-122"/>
              </a:rPr>
              <a:t>且</a:t>
            </a:r>
            <a:r>
              <a:rPr lang="zh-CN" altLang="en-US" sz="2400" b="1">
                <a:solidFill>
                  <a:srgbClr val="FF6600"/>
                </a:solidFill>
                <a:latin typeface="楷体_GB2312" pitchFamily="49" charset="-122"/>
                <a:ea typeface="楷体_GB2312" pitchFamily="49" charset="-122"/>
              </a:rPr>
              <a:t>易于控制</a:t>
            </a:r>
            <a:r>
              <a:rPr lang="zh-CN" altLang="en-US" sz="2400" b="1">
                <a:latin typeface="楷体_GB2312" pitchFamily="49" charset="-122"/>
                <a:ea typeface="楷体_GB2312" pitchFamily="49" charset="-122"/>
              </a:rPr>
              <a:t>。        </a:t>
            </a:r>
          </a:p>
        </p:txBody>
      </p:sp>
      <p:sp>
        <p:nvSpPr>
          <p:cNvPr id="51274" name="Text Box 74"/>
          <p:cNvSpPr txBox="1">
            <a:spLocks noChangeArrowheads="1"/>
          </p:cNvSpPr>
          <p:nvPr/>
        </p:nvSpPr>
        <p:spPr bwMode="auto">
          <a:xfrm>
            <a:off x="107950" y="2898775"/>
            <a:ext cx="4897438" cy="530225"/>
          </a:xfrm>
          <a:prstGeom prst="rect">
            <a:avLst/>
          </a:prstGeom>
          <a:noFill/>
          <a:ln w="9525">
            <a:noFill/>
            <a:miter lim="800000"/>
            <a:headEnd/>
            <a:tailEnd/>
          </a:ln>
        </p:spPr>
        <p:txBody>
          <a:bodyPr>
            <a:spAutoFit/>
          </a:bodyPr>
          <a:lstStyle/>
          <a:p>
            <a:pPr algn="l" eaLnBrk="0" hangingPunct="0">
              <a:lnSpc>
                <a:spcPct val="120000"/>
              </a:lnSpc>
            </a:pPr>
            <a:r>
              <a:rPr lang="en-US" altLang="zh-CN" sz="2400" b="1">
                <a:solidFill>
                  <a:srgbClr val="008000"/>
                </a:solidFill>
                <a:latin typeface="Times New Roman" pitchFamily="18" charset="0"/>
                <a:ea typeface="楷体_GB2312" pitchFamily="49" charset="-122"/>
              </a:rPr>
              <a:t>(1)   </a:t>
            </a:r>
            <a:r>
              <a:rPr lang="zh-CN" altLang="en-US" sz="2400" b="1">
                <a:solidFill>
                  <a:srgbClr val="008000"/>
                </a:solidFill>
                <a:latin typeface="Times New Roman" pitchFamily="18" charset="0"/>
                <a:ea typeface="楷体_GB2312" pitchFamily="49" charset="-122"/>
              </a:rPr>
              <a:t>可用作一些特殊要求的热源</a:t>
            </a:r>
          </a:p>
        </p:txBody>
      </p:sp>
      <p:sp>
        <p:nvSpPr>
          <p:cNvPr id="51275" name="Rectangle 75"/>
          <p:cNvSpPr>
            <a:spLocks noChangeArrowheads="1"/>
          </p:cNvSpPr>
          <p:nvPr/>
        </p:nvSpPr>
        <p:spPr bwMode="auto">
          <a:xfrm>
            <a:off x="107950" y="2349500"/>
            <a:ext cx="2089150" cy="530225"/>
          </a:xfrm>
          <a:prstGeom prst="rect">
            <a:avLst/>
          </a:prstGeom>
          <a:noFill/>
          <a:ln w="9525">
            <a:noFill/>
            <a:miter lim="800000"/>
            <a:headEnd/>
            <a:tailEnd/>
          </a:ln>
        </p:spPr>
        <p:txBody>
          <a:bodyPr>
            <a:spAutoFit/>
          </a:bodyPr>
          <a:lstStyle/>
          <a:p>
            <a:pPr algn="l" eaLnBrk="0" hangingPunct="0">
              <a:lnSpc>
                <a:spcPct val="120000"/>
              </a:lnSpc>
            </a:pPr>
            <a:r>
              <a:rPr lang="zh-CN" altLang="en-US" sz="2400" b="1">
                <a:solidFill>
                  <a:srgbClr val="FF0000"/>
                </a:solidFill>
                <a:latin typeface="宋体" pitchFamily="2" charset="-122"/>
              </a:rPr>
              <a:t>涡电流利用</a:t>
            </a:r>
          </a:p>
        </p:txBody>
      </p:sp>
      <p:sp>
        <p:nvSpPr>
          <p:cNvPr id="51276" name="Rectangle 76"/>
          <p:cNvSpPr>
            <a:spLocks noChangeArrowheads="1"/>
          </p:cNvSpPr>
          <p:nvPr/>
        </p:nvSpPr>
        <p:spPr bwMode="auto">
          <a:xfrm>
            <a:off x="139700" y="4433888"/>
            <a:ext cx="5759450" cy="1865312"/>
          </a:xfrm>
          <a:prstGeom prst="rect">
            <a:avLst/>
          </a:prstGeom>
          <a:noFill/>
          <a:ln w="9525">
            <a:noFill/>
            <a:miter lim="800000"/>
            <a:headEnd/>
            <a:tailEnd/>
          </a:ln>
        </p:spPr>
        <p:txBody>
          <a:bodyPr>
            <a:spAutoFit/>
          </a:bodyPr>
          <a:lstStyle/>
          <a:p>
            <a:pPr algn="l">
              <a:lnSpc>
                <a:spcPct val="120000"/>
              </a:lnSpc>
              <a:spcBef>
                <a:spcPct val="50000"/>
              </a:spcBef>
            </a:pPr>
            <a:r>
              <a:rPr kumimoji="1" lang="en-US" altLang="zh-CN" sz="2400" b="1">
                <a:solidFill>
                  <a:schemeClr val="accent2"/>
                </a:solidFill>
                <a:latin typeface="楷体_GB2312" pitchFamily="49" charset="-122"/>
                <a:ea typeface="楷体_GB2312" pitchFamily="49" charset="-122"/>
              </a:rPr>
              <a:t>    </a:t>
            </a:r>
            <a:r>
              <a:rPr kumimoji="1" lang="zh-CN" altLang="en-US" sz="2400" b="1">
                <a:solidFill>
                  <a:schemeClr val="tx2"/>
                </a:solidFill>
                <a:latin typeface="楷体_GB2312" pitchFamily="49" charset="-122"/>
                <a:ea typeface="楷体_GB2312" pitchFamily="49" charset="-122"/>
              </a:rPr>
              <a:t>在冶金工业中，熔化某些活泼的稀有金属时，在高温下容易氧化，将其放在真空环境中的坩埚中，坩埚外绕着通有交流电的线圈，对金属加热，防止氧化。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randombar(horizontal)">
                                      <p:cBhvr>
                                        <p:cTn id="7" dur="500"/>
                                        <p:tgtEl>
                                          <p:spTgt spid="512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1205"/>
                                        </p:tgtEl>
                                        <p:attrNameLst>
                                          <p:attrName>style.visibility</p:attrName>
                                        </p:attrNameLst>
                                      </p:cBhvr>
                                      <p:to>
                                        <p:strVal val="visible"/>
                                      </p:to>
                                    </p:set>
                                    <p:animEffect transition="in" filter="randombar(horizontal)">
                                      <p:cBhvr>
                                        <p:cTn id="12" dur="500"/>
                                        <p:tgtEl>
                                          <p:spTgt spid="512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1216"/>
                                        </p:tgtEl>
                                        <p:attrNameLst>
                                          <p:attrName>style.visibility</p:attrName>
                                        </p:attrNameLst>
                                      </p:cBhvr>
                                      <p:to>
                                        <p:strVal val="visible"/>
                                      </p:to>
                                    </p:set>
                                    <p:animEffect transition="in" filter="dissolve">
                                      <p:cBhvr>
                                        <p:cTn id="17" dur="500"/>
                                        <p:tgtEl>
                                          <p:spTgt spid="512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51206"/>
                                        </p:tgtEl>
                                        <p:attrNameLst>
                                          <p:attrName>style.visibility</p:attrName>
                                        </p:attrNameLst>
                                      </p:cBhvr>
                                      <p:to>
                                        <p:strVal val="visible"/>
                                      </p:to>
                                    </p:set>
                                    <p:anim calcmode="lin" valueType="num">
                                      <p:cBhvr>
                                        <p:cTn id="22" dur="500" fill="hold"/>
                                        <p:tgtEl>
                                          <p:spTgt spid="51206"/>
                                        </p:tgtEl>
                                        <p:attrNameLst>
                                          <p:attrName>ppt_w</p:attrName>
                                        </p:attrNameLst>
                                      </p:cBhvr>
                                      <p:tavLst>
                                        <p:tav tm="0">
                                          <p:val>
                                            <p:fltVal val="0"/>
                                          </p:val>
                                        </p:tav>
                                        <p:tav tm="100000">
                                          <p:val>
                                            <p:strVal val="#ppt_w"/>
                                          </p:val>
                                        </p:tav>
                                      </p:tavLst>
                                    </p:anim>
                                    <p:anim calcmode="lin" valueType="num">
                                      <p:cBhvr>
                                        <p:cTn id="23" dur="500" fill="hold"/>
                                        <p:tgtEl>
                                          <p:spTgt spid="51206"/>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4"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down)">
                                      <p:cBhvr>
                                        <p:cTn id="28" dur="500"/>
                                        <p:tgtEl>
                                          <p:spTgt spid="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51217"/>
                                        </p:tgtEl>
                                        <p:attrNameLst>
                                          <p:attrName>style.visibility</p:attrName>
                                        </p:attrNameLst>
                                      </p:cBhvr>
                                      <p:to>
                                        <p:strVal val="visible"/>
                                      </p:to>
                                    </p:set>
                                    <p:anim calcmode="lin" valueType="num">
                                      <p:cBhvr>
                                        <p:cTn id="33" dur="500" fill="hold"/>
                                        <p:tgtEl>
                                          <p:spTgt spid="51217"/>
                                        </p:tgtEl>
                                        <p:attrNameLst>
                                          <p:attrName>ppt_w</p:attrName>
                                        </p:attrNameLst>
                                      </p:cBhvr>
                                      <p:tavLst>
                                        <p:tav tm="0">
                                          <p:val>
                                            <p:fltVal val="0"/>
                                          </p:val>
                                        </p:tav>
                                        <p:tav tm="100000">
                                          <p:val>
                                            <p:strVal val="#ppt_w"/>
                                          </p:val>
                                        </p:tav>
                                      </p:tavLst>
                                    </p:anim>
                                    <p:anim calcmode="lin" valueType="num">
                                      <p:cBhvr>
                                        <p:cTn id="34" dur="500" fill="hold"/>
                                        <p:tgtEl>
                                          <p:spTgt spid="51217"/>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wipe(up)">
                                      <p:cBhvr>
                                        <p:cTn id="39" dur="500"/>
                                        <p:tgtEl>
                                          <p:spTgt spid="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7" presetClass="entr" presetSubtype="10" fill="hold" grpId="0" nodeType="clickEffect">
                                  <p:stCondLst>
                                    <p:cond delay="0"/>
                                  </p:stCondLst>
                                  <p:childTnLst>
                                    <p:set>
                                      <p:cBhvr>
                                        <p:cTn id="43" dur="1" fill="hold">
                                          <p:stCondLst>
                                            <p:cond delay="0"/>
                                          </p:stCondLst>
                                        </p:cTn>
                                        <p:tgtEl>
                                          <p:spTgt spid="51275"/>
                                        </p:tgtEl>
                                        <p:attrNameLst>
                                          <p:attrName>style.visibility</p:attrName>
                                        </p:attrNameLst>
                                      </p:cBhvr>
                                      <p:to>
                                        <p:strVal val="visible"/>
                                      </p:to>
                                    </p:set>
                                    <p:anim calcmode="lin" valueType="num">
                                      <p:cBhvr>
                                        <p:cTn id="44" dur="500" fill="hold"/>
                                        <p:tgtEl>
                                          <p:spTgt spid="51275"/>
                                        </p:tgtEl>
                                        <p:attrNameLst>
                                          <p:attrName>ppt_w</p:attrName>
                                        </p:attrNameLst>
                                      </p:cBhvr>
                                      <p:tavLst>
                                        <p:tav tm="0">
                                          <p:val>
                                            <p:fltVal val="0"/>
                                          </p:val>
                                        </p:tav>
                                        <p:tav tm="100000">
                                          <p:val>
                                            <p:strVal val="#ppt_w"/>
                                          </p:val>
                                        </p:tav>
                                      </p:tavLst>
                                    </p:anim>
                                    <p:anim calcmode="lin" valueType="num">
                                      <p:cBhvr>
                                        <p:cTn id="45" dur="500" fill="hold"/>
                                        <p:tgtEl>
                                          <p:spTgt spid="51275"/>
                                        </p:tgtEl>
                                        <p:attrNameLst>
                                          <p:attrName>ppt_h</p:attrName>
                                        </p:attrNameLst>
                                      </p:cBhvr>
                                      <p:tavLst>
                                        <p:tav tm="0">
                                          <p:val>
                                            <p:strVal val="#ppt_h"/>
                                          </p:val>
                                        </p:tav>
                                        <p:tav tm="100000">
                                          <p:val>
                                            <p:strVal val="#ppt_h"/>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17" presetClass="entr" presetSubtype="10" fill="hold" grpId="0" nodeType="clickEffect">
                                  <p:stCondLst>
                                    <p:cond delay="0"/>
                                  </p:stCondLst>
                                  <p:childTnLst>
                                    <p:set>
                                      <p:cBhvr>
                                        <p:cTn id="49" dur="1" fill="hold">
                                          <p:stCondLst>
                                            <p:cond delay="0"/>
                                          </p:stCondLst>
                                        </p:cTn>
                                        <p:tgtEl>
                                          <p:spTgt spid="51274"/>
                                        </p:tgtEl>
                                        <p:attrNameLst>
                                          <p:attrName>style.visibility</p:attrName>
                                        </p:attrNameLst>
                                      </p:cBhvr>
                                      <p:to>
                                        <p:strVal val="visible"/>
                                      </p:to>
                                    </p:set>
                                    <p:anim calcmode="lin" valueType="num">
                                      <p:cBhvr>
                                        <p:cTn id="50" dur="500" fill="hold"/>
                                        <p:tgtEl>
                                          <p:spTgt spid="51274"/>
                                        </p:tgtEl>
                                        <p:attrNameLst>
                                          <p:attrName>ppt_w</p:attrName>
                                        </p:attrNameLst>
                                      </p:cBhvr>
                                      <p:tavLst>
                                        <p:tav tm="0">
                                          <p:val>
                                            <p:fltVal val="0"/>
                                          </p:val>
                                        </p:tav>
                                        <p:tav tm="100000">
                                          <p:val>
                                            <p:strVal val="#ppt_w"/>
                                          </p:val>
                                        </p:tav>
                                      </p:tavLst>
                                    </p:anim>
                                    <p:anim calcmode="lin" valueType="num">
                                      <p:cBhvr>
                                        <p:cTn id="51" dur="500" fill="hold"/>
                                        <p:tgtEl>
                                          <p:spTgt spid="51274"/>
                                        </p:tgtEl>
                                        <p:attrNameLst>
                                          <p:attrName>ppt_h</p:attrName>
                                        </p:attrNameLst>
                                      </p:cBhvr>
                                      <p:tavLst>
                                        <p:tav tm="0">
                                          <p:val>
                                            <p:strVal val="#ppt_h"/>
                                          </p:val>
                                        </p:tav>
                                        <p:tav tm="100000">
                                          <p:val>
                                            <p:strVal val="#ppt_h"/>
                                          </p:val>
                                        </p:tav>
                                      </p:tavLst>
                                    </p:anim>
                                  </p:childTnLst>
                                </p:cTn>
                              </p:par>
                            </p:childTnLst>
                          </p:cTn>
                        </p:par>
                      </p:childTnLst>
                    </p:cTn>
                  </p:par>
                  <p:par>
                    <p:cTn id="52" fill="hold" nodeType="clickPar">
                      <p:stCondLst>
                        <p:cond delay="indefinite"/>
                      </p:stCondLst>
                      <p:childTnLst>
                        <p:par>
                          <p:cTn id="53" fill="hold" nodeType="withGroup">
                            <p:stCondLst>
                              <p:cond delay="0"/>
                            </p:stCondLst>
                            <p:childTnLst>
                              <p:par>
                                <p:cTn id="54" presetID="17" presetClass="entr" presetSubtype="10"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 calcmode="lin" valueType="num">
                                      <p:cBhvr>
                                        <p:cTn id="56" dur="500" fill="hold"/>
                                        <p:tgtEl>
                                          <p:spTgt spid="4"/>
                                        </p:tgtEl>
                                        <p:attrNameLst>
                                          <p:attrName>ppt_w</p:attrName>
                                        </p:attrNameLst>
                                      </p:cBhvr>
                                      <p:tavLst>
                                        <p:tav tm="0">
                                          <p:val>
                                            <p:fltVal val="0"/>
                                          </p:val>
                                        </p:tav>
                                        <p:tav tm="100000">
                                          <p:val>
                                            <p:strVal val="#ppt_w"/>
                                          </p:val>
                                        </p:tav>
                                      </p:tavLst>
                                    </p:anim>
                                    <p:anim calcmode="lin" valueType="num">
                                      <p:cBhvr>
                                        <p:cTn id="57" dur="5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58" fill="hold" nodeType="clickPar">
                      <p:stCondLst>
                        <p:cond delay="indefinite"/>
                      </p:stCondLst>
                      <p:childTnLst>
                        <p:par>
                          <p:cTn id="59" fill="hold" nodeType="withGroup">
                            <p:stCondLst>
                              <p:cond delay="0"/>
                            </p:stCondLst>
                            <p:childTnLst>
                              <p:par>
                                <p:cTn id="60" presetID="17" presetClass="entr" presetSubtype="10" fill="hold" grpId="0" nodeType="clickEffect">
                                  <p:stCondLst>
                                    <p:cond delay="0"/>
                                  </p:stCondLst>
                                  <p:childTnLst>
                                    <p:set>
                                      <p:cBhvr>
                                        <p:cTn id="61" dur="1" fill="hold">
                                          <p:stCondLst>
                                            <p:cond delay="0"/>
                                          </p:stCondLst>
                                        </p:cTn>
                                        <p:tgtEl>
                                          <p:spTgt spid="51273"/>
                                        </p:tgtEl>
                                        <p:attrNameLst>
                                          <p:attrName>style.visibility</p:attrName>
                                        </p:attrNameLst>
                                      </p:cBhvr>
                                      <p:to>
                                        <p:strVal val="visible"/>
                                      </p:to>
                                    </p:set>
                                    <p:anim calcmode="lin" valueType="num">
                                      <p:cBhvr>
                                        <p:cTn id="62" dur="500" fill="hold"/>
                                        <p:tgtEl>
                                          <p:spTgt spid="51273"/>
                                        </p:tgtEl>
                                        <p:attrNameLst>
                                          <p:attrName>ppt_w</p:attrName>
                                        </p:attrNameLst>
                                      </p:cBhvr>
                                      <p:tavLst>
                                        <p:tav tm="0">
                                          <p:val>
                                            <p:fltVal val="0"/>
                                          </p:val>
                                        </p:tav>
                                        <p:tav tm="100000">
                                          <p:val>
                                            <p:strVal val="#ppt_w"/>
                                          </p:val>
                                        </p:tav>
                                      </p:tavLst>
                                    </p:anim>
                                    <p:anim calcmode="lin" valueType="num">
                                      <p:cBhvr>
                                        <p:cTn id="63" dur="500" fill="hold"/>
                                        <p:tgtEl>
                                          <p:spTgt spid="51273"/>
                                        </p:tgtEl>
                                        <p:attrNameLst>
                                          <p:attrName>ppt_h</p:attrName>
                                        </p:attrNameLst>
                                      </p:cBhvr>
                                      <p:tavLst>
                                        <p:tav tm="0">
                                          <p:val>
                                            <p:strVal val="#ppt_h"/>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10" fill="hold" grpId="0" nodeType="clickEffect">
                                  <p:stCondLst>
                                    <p:cond delay="0"/>
                                  </p:stCondLst>
                                  <p:childTnLst>
                                    <p:set>
                                      <p:cBhvr>
                                        <p:cTn id="67" dur="1" fill="hold">
                                          <p:stCondLst>
                                            <p:cond delay="0"/>
                                          </p:stCondLst>
                                        </p:cTn>
                                        <p:tgtEl>
                                          <p:spTgt spid="51276"/>
                                        </p:tgtEl>
                                        <p:attrNameLst>
                                          <p:attrName>style.visibility</p:attrName>
                                        </p:attrNameLst>
                                      </p:cBhvr>
                                      <p:to>
                                        <p:strVal val="visible"/>
                                      </p:to>
                                    </p:set>
                                    <p:anim calcmode="lin" valueType="num">
                                      <p:cBhvr>
                                        <p:cTn id="68" dur="500" fill="hold"/>
                                        <p:tgtEl>
                                          <p:spTgt spid="51276"/>
                                        </p:tgtEl>
                                        <p:attrNameLst>
                                          <p:attrName>ppt_w</p:attrName>
                                        </p:attrNameLst>
                                      </p:cBhvr>
                                      <p:tavLst>
                                        <p:tav tm="0">
                                          <p:val>
                                            <p:fltVal val="0"/>
                                          </p:val>
                                        </p:tav>
                                        <p:tav tm="100000">
                                          <p:val>
                                            <p:strVal val="#ppt_w"/>
                                          </p:val>
                                        </p:tav>
                                      </p:tavLst>
                                    </p:anim>
                                    <p:anim calcmode="lin" valueType="num">
                                      <p:cBhvr>
                                        <p:cTn id="69" dur="500" fill="hold"/>
                                        <p:tgtEl>
                                          <p:spTgt spid="5127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6" grpId="0" autoUpdateAnimBg="0"/>
      <p:bldP spid="51204" grpId="0" autoUpdateAnimBg="0"/>
      <p:bldP spid="51205" grpId="0" autoUpdateAnimBg="0"/>
      <p:bldP spid="51206" grpId="0" animBg="1"/>
      <p:bldP spid="51217" grpId="0" autoUpdateAnimBg="0"/>
      <p:bldP spid="51273" grpId="0" autoUpdateAnimBg="0"/>
      <p:bldP spid="51274" grpId="0" autoUpdateAnimBg="0"/>
      <p:bldP spid="51275" grpId="0" autoUpdateAnimBg="0"/>
      <p:bldP spid="5127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4"/>
          <p:cNvSpPr>
            <a:spLocks noChangeArrowheads="1"/>
          </p:cNvSpPr>
          <p:nvPr/>
        </p:nvSpPr>
        <p:spPr bwMode="auto">
          <a:xfrm>
            <a:off x="107950" y="450850"/>
            <a:ext cx="4392613" cy="530225"/>
          </a:xfrm>
          <a:prstGeom prst="rect">
            <a:avLst/>
          </a:prstGeom>
          <a:noFill/>
          <a:ln w="9525">
            <a:noFill/>
            <a:miter lim="800000"/>
            <a:headEnd/>
            <a:tailEnd/>
          </a:ln>
        </p:spPr>
        <p:txBody>
          <a:bodyPr>
            <a:spAutoFit/>
          </a:bodyPr>
          <a:lstStyle/>
          <a:p>
            <a:pPr algn="l" eaLnBrk="0" hangingPunct="0">
              <a:lnSpc>
                <a:spcPct val="120000"/>
              </a:lnSpc>
            </a:pPr>
            <a:r>
              <a:rPr lang="en-US" altLang="zh-CN" sz="2400" b="1">
                <a:solidFill>
                  <a:srgbClr val="008000"/>
                </a:solidFill>
                <a:latin typeface="Times New Roman" pitchFamily="18" charset="0"/>
                <a:ea typeface="楷体_GB2312" pitchFamily="49" charset="-122"/>
              </a:rPr>
              <a:t>(2)  </a:t>
            </a:r>
            <a:r>
              <a:rPr lang="zh-CN" altLang="en-US" sz="2400" b="1">
                <a:solidFill>
                  <a:srgbClr val="008000"/>
                </a:solidFill>
                <a:latin typeface="Times New Roman" pitchFamily="18" charset="0"/>
                <a:ea typeface="楷体_GB2312" pitchFamily="49" charset="-122"/>
              </a:rPr>
              <a:t>电子元件中的高纯真空</a:t>
            </a:r>
          </a:p>
        </p:txBody>
      </p:sp>
      <p:grpSp>
        <p:nvGrpSpPr>
          <p:cNvPr id="2" name="Group 5"/>
          <p:cNvGrpSpPr>
            <a:grpSpLocks/>
          </p:cNvGrpSpPr>
          <p:nvPr/>
        </p:nvGrpSpPr>
        <p:grpSpPr bwMode="auto">
          <a:xfrm>
            <a:off x="6227763" y="333375"/>
            <a:ext cx="3067050" cy="2943225"/>
            <a:chOff x="2928" y="288"/>
            <a:chExt cx="2736" cy="3792"/>
          </a:xfrm>
        </p:grpSpPr>
        <p:sp>
          <p:nvSpPr>
            <p:cNvPr id="41999" name="Rectangle 6"/>
            <p:cNvSpPr>
              <a:spLocks noChangeArrowheads="1"/>
            </p:cNvSpPr>
            <p:nvPr/>
          </p:nvSpPr>
          <p:spPr bwMode="auto">
            <a:xfrm>
              <a:off x="2928" y="288"/>
              <a:ext cx="2736" cy="3792"/>
            </a:xfrm>
            <a:prstGeom prst="rect">
              <a:avLst/>
            </a:prstGeom>
            <a:noFill/>
            <a:ln w="9525">
              <a:noFill/>
              <a:miter lim="800000"/>
              <a:headEnd/>
              <a:tailEnd/>
            </a:ln>
          </p:spPr>
          <p:txBody>
            <a:bodyPr wrap="none" anchor="ctr"/>
            <a:lstStyle/>
            <a:p>
              <a:endParaRPr lang="zh-CN" altLang="en-US"/>
            </a:p>
          </p:txBody>
        </p:sp>
        <p:grpSp>
          <p:nvGrpSpPr>
            <p:cNvPr id="42000" name="Group 7"/>
            <p:cNvGrpSpPr>
              <a:grpSpLocks/>
            </p:cNvGrpSpPr>
            <p:nvPr/>
          </p:nvGrpSpPr>
          <p:grpSpPr bwMode="auto">
            <a:xfrm>
              <a:off x="3456" y="624"/>
              <a:ext cx="1968" cy="3209"/>
              <a:chOff x="3792" y="672"/>
              <a:chExt cx="1968" cy="3209"/>
            </a:xfrm>
          </p:grpSpPr>
          <p:sp>
            <p:nvSpPr>
              <p:cNvPr id="42001" name="Text Box 8"/>
              <p:cNvSpPr txBox="1">
                <a:spLocks noChangeArrowheads="1"/>
              </p:cNvSpPr>
              <p:nvPr/>
            </p:nvSpPr>
            <p:spPr bwMode="auto">
              <a:xfrm>
                <a:off x="4415" y="672"/>
                <a:ext cx="1152" cy="472"/>
              </a:xfrm>
              <a:prstGeom prst="rect">
                <a:avLst/>
              </a:prstGeom>
              <a:noFill/>
              <a:ln w="19050">
                <a:noFill/>
                <a:miter lim="800000"/>
                <a:headEnd/>
                <a:tailEnd type="none" w="med" len="lg"/>
              </a:ln>
            </p:spPr>
            <p:txBody>
              <a:bodyPr>
                <a:spAutoFit/>
              </a:bodyPr>
              <a:lstStyle/>
              <a:p>
                <a:pPr algn="l">
                  <a:spcBef>
                    <a:spcPct val="50000"/>
                  </a:spcBef>
                </a:pPr>
                <a:r>
                  <a:rPr kumimoji="1" lang="zh-CN" altLang="en-US" b="1">
                    <a:solidFill>
                      <a:srgbClr val="660066"/>
                    </a:solidFill>
                    <a:latin typeface="Times New Roman" pitchFamily="18" charset="0"/>
                    <a:ea typeface="楷体_GB2312" pitchFamily="49" charset="-122"/>
                  </a:rPr>
                  <a:t>抽真空</a:t>
                </a:r>
              </a:p>
            </p:txBody>
          </p:sp>
          <p:sp>
            <p:nvSpPr>
              <p:cNvPr id="42002" name="Text Box 9"/>
              <p:cNvSpPr txBox="1">
                <a:spLocks noChangeArrowheads="1"/>
              </p:cNvSpPr>
              <p:nvPr/>
            </p:nvSpPr>
            <p:spPr bwMode="auto">
              <a:xfrm>
                <a:off x="3792" y="3409"/>
                <a:ext cx="1968" cy="472"/>
              </a:xfrm>
              <a:prstGeom prst="rect">
                <a:avLst/>
              </a:prstGeom>
              <a:noFill/>
              <a:ln w="19050">
                <a:noFill/>
                <a:miter lim="800000"/>
                <a:headEnd/>
                <a:tailEnd type="none" w="med" len="lg"/>
              </a:ln>
            </p:spPr>
            <p:txBody>
              <a:bodyPr>
                <a:spAutoFit/>
              </a:bodyPr>
              <a:lstStyle/>
              <a:p>
                <a:pPr algn="l">
                  <a:spcBef>
                    <a:spcPct val="50000"/>
                  </a:spcBef>
                </a:pPr>
                <a:r>
                  <a:rPr kumimoji="1" lang="zh-CN" altLang="en-US" b="1">
                    <a:solidFill>
                      <a:srgbClr val="FF0000"/>
                    </a:solidFill>
                    <a:latin typeface="Times New Roman" pitchFamily="18" charset="0"/>
                    <a:ea typeface="华文新魏" pitchFamily="2" charset="-122"/>
                  </a:rPr>
                  <a:t>接高频发生器</a:t>
                </a:r>
              </a:p>
            </p:txBody>
          </p:sp>
          <p:grpSp>
            <p:nvGrpSpPr>
              <p:cNvPr id="42003" name="Group 10"/>
              <p:cNvGrpSpPr>
                <a:grpSpLocks/>
              </p:cNvGrpSpPr>
              <p:nvPr/>
            </p:nvGrpSpPr>
            <p:grpSpPr bwMode="auto">
              <a:xfrm>
                <a:off x="3936" y="1200"/>
                <a:ext cx="1440" cy="2016"/>
                <a:chOff x="3936" y="1200"/>
                <a:chExt cx="1440" cy="2016"/>
              </a:xfrm>
            </p:grpSpPr>
            <p:sp>
              <p:nvSpPr>
                <p:cNvPr id="42006" name="Arc 11"/>
                <p:cNvSpPr>
                  <a:spLocks/>
                </p:cNvSpPr>
                <p:nvPr/>
              </p:nvSpPr>
              <p:spPr bwMode="auto">
                <a:xfrm rot="21463650" flipH="1">
                  <a:off x="4017" y="1531"/>
                  <a:ext cx="186" cy="687"/>
                </a:xfrm>
                <a:custGeom>
                  <a:avLst/>
                  <a:gdLst>
                    <a:gd name="T0" fmla="*/ 0 w 21600"/>
                    <a:gd name="T1" fmla="*/ 0 h 23122"/>
                    <a:gd name="T2" fmla="*/ 0 w 21600"/>
                    <a:gd name="T3" fmla="*/ 0 h 23122"/>
                    <a:gd name="T4" fmla="*/ 0 w 21600"/>
                    <a:gd name="T5" fmla="*/ 0 h 23122"/>
                    <a:gd name="T6" fmla="*/ 0 60000 65536"/>
                    <a:gd name="T7" fmla="*/ 0 60000 65536"/>
                    <a:gd name="T8" fmla="*/ 0 60000 65536"/>
                    <a:gd name="T9" fmla="*/ 0 w 21600"/>
                    <a:gd name="T10" fmla="*/ 0 h 23122"/>
                    <a:gd name="T11" fmla="*/ 21600 w 21600"/>
                    <a:gd name="T12" fmla="*/ 23122 h 23122"/>
                  </a:gdLst>
                  <a:ahLst/>
                  <a:cxnLst>
                    <a:cxn ang="T6">
                      <a:pos x="T0" y="T1"/>
                    </a:cxn>
                    <a:cxn ang="T7">
                      <a:pos x="T2" y="T3"/>
                    </a:cxn>
                    <a:cxn ang="T8">
                      <a:pos x="T4" y="T5"/>
                    </a:cxn>
                  </a:cxnLst>
                  <a:rect l="T9" t="T10" r="T11" b="T12"/>
                  <a:pathLst>
                    <a:path w="21600" h="23122" fill="none" extrusionOk="0">
                      <a:moveTo>
                        <a:pt x="-1" y="0"/>
                      </a:moveTo>
                      <a:cubicBezTo>
                        <a:pt x="11929" y="0"/>
                        <a:pt x="21600" y="9670"/>
                        <a:pt x="21600" y="21600"/>
                      </a:cubicBezTo>
                      <a:cubicBezTo>
                        <a:pt x="21600" y="22107"/>
                        <a:pt x="21582" y="22615"/>
                        <a:pt x="21546" y="23122"/>
                      </a:cubicBezTo>
                    </a:path>
                    <a:path w="21600" h="23122" stroke="0" extrusionOk="0">
                      <a:moveTo>
                        <a:pt x="-1" y="0"/>
                      </a:moveTo>
                      <a:cubicBezTo>
                        <a:pt x="11929" y="0"/>
                        <a:pt x="21600" y="9670"/>
                        <a:pt x="21600" y="21600"/>
                      </a:cubicBezTo>
                      <a:cubicBezTo>
                        <a:pt x="21600" y="22107"/>
                        <a:pt x="21582" y="22615"/>
                        <a:pt x="21546" y="23122"/>
                      </a:cubicBezTo>
                      <a:lnTo>
                        <a:pt x="0" y="21600"/>
                      </a:lnTo>
                      <a:lnTo>
                        <a:pt x="-1" y="0"/>
                      </a:lnTo>
                      <a:close/>
                    </a:path>
                  </a:pathLst>
                </a:custGeom>
                <a:noFill/>
                <a:ln w="19050">
                  <a:solidFill>
                    <a:srgbClr val="FF9933"/>
                  </a:solidFill>
                  <a:round/>
                  <a:headEnd/>
                  <a:tailEnd type="none" w="med" len="lg"/>
                </a:ln>
              </p:spPr>
              <p:txBody>
                <a:bodyPr wrap="none" anchor="ctr"/>
                <a:lstStyle/>
                <a:p>
                  <a:endParaRPr lang="zh-CN" altLang="en-US"/>
                </a:p>
              </p:txBody>
            </p:sp>
            <p:sp>
              <p:nvSpPr>
                <p:cNvPr id="42007" name="Freeform 12"/>
                <p:cNvSpPr>
                  <a:spLocks/>
                </p:cNvSpPr>
                <p:nvPr/>
              </p:nvSpPr>
              <p:spPr bwMode="auto">
                <a:xfrm rot="-136350">
                  <a:off x="4914" y="1492"/>
                  <a:ext cx="286" cy="1177"/>
                </a:xfrm>
                <a:custGeom>
                  <a:avLst/>
                  <a:gdLst>
                    <a:gd name="T0" fmla="*/ 46 w 296"/>
                    <a:gd name="T1" fmla="*/ 4053 h 864"/>
                    <a:gd name="T2" fmla="*/ 8 w 296"/>
                    <a:gd name="T3" fmla="*/ 3831 h 864"/>
                    <a:gd name="T4" fmla="*/ 8 w 296"/>
                    <a:gd name="T5" fmla="*/ 2701 h 864"/>
                    <a:gd name="T6" fmla="*/ 46 w 296"/>
                    <a:gd name="T7" fmla="*/ 1800 h 864"/>
                    <a:gd name="T8" fmla="*/ 88 w 296"/>
                    <a:gd name="T9" fmla="*/ 902 h 864"/>
                    <a:gd name="T10" fmla="*/ 168 w 296"/>
                    <a:gd name="T11" fmla="*/ 225 h 864"/>
                    <a:gd name="T12" fmla="*/ 249 w 296"/>
                    <a:gd name="T13" fmla="*/ 0 h 864"/>
                    <a:gd name="T14" fmla="*/ 0 60000 65536"/>
                    <a:gd name="T15" fmla="*/ 0 60000 65536"/>
                    <a:gd name="T16" fmla="*/ 0 60000 65536"/>
                    <a:gd name="T17" fmla="*/ 0 60000 65536"/>
                    <a:gd name="T18" fmla="*/ 0 60000 65536"/>
                    <a:gd name="T19" fmla="*/ 0 60000 65536"/>
                    <a:gd name="T20" fmla="*/ 0 60000 65536"/>
                    <a:gd name="T21" fmla="*/ 0 w 296"/>
                    <a:gd name="T22" fmla="*/ 0 h 864"/>
                    <a:gd name="T23" fmla="*/ 296 w 296"/>
                    <a:gd name="T24" fmla="*/ 864 h 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6" h="864">
                      <a:moveTo>
                        <a:pt x="56" y="864"/>
                      </a:moveTo>
                      <a:cubicBezTo>
                        <a:pt x="36" y="864"/>
                        <a:pt x="16" y="864"/>
                        <a:pt x="8" y="816"/>
                      </a:cubicBezTo>
                      <a:cubicBezTo>
                        <a:pt x="0" y="768"/>
                        <a:pt x="0" y="648"/>
                        <a:pt x="8" y="576"/>
                      </a:cubicBezTo>
                      <a:cubicBezTo>
                        <a:pt x="16" y="504"/>
                        <a:pt x="40" y="448"/>
                        <a:pt x="56" y="384"/>
                      </a:cubicBezTo>
                      <a:cubicBezTo>
                        <a:pt x="72" y="320"/>
                        <a:pt x="80" y="248"/>
                        <a:pt x="104" y="192"/>
                      </a:cubicBezTo>
                      <a:cubicBezTo>
                        <a:pt x="128" y="136"/>
                        <a:pt x="168" y="80"/>
                        <a:pt x="200" y="48"/>
                      </a:cubicBezTo>
                      <a:cubicBezTo>
                        <a:pt x="232" y="16"/>
                        <a:pt x="264" y="8"/>
                        <a:pt x="296" y="0"/>
                      </a:cubicBezTo>
                    </a:path>
                  </a:pathLst>
                </a:custGeom>
                <a:noFill/>
                <a:ln w="19050">
                  <a:solidFill>
                    <a:srgbClr val="FF9900"/>
                  </a:solidFill>
                  <a:round/>
                  <a:headEnd/>
                  <a:tailEnd type="none" w="med" len="lg"/>
                </a:ln>
              </p:spPr>
              <p:txBody>
                <a:bodyPr wrap="none" anchor="ctr"/>
                <a:lstStyle/>
                <a:p>
                  <a:endParaRPr lang="zh-CN" altLang="en-US"/>
                </a:p>
              </p:txBody>
            </p:sp>
            <p:sp>
              <p:nvSpPr>
                <p:cNvPr id="42008" name="Freeform 13"/>
                <p:cNvSpPr>
                  <a:spLocks/>
                </p:cNvSpPr>
                <p:nvPr/>
              </p:nvSpPr>
              <p:spPr bwMode="auto">
                <a:xfrm rot="-136350">
                  <a:off x="4667" y="1501"/>
                  <a:ext cx="286" cy="1177"/>
                </a:xfrm>
                <a:custGeom>
                  <a:avLst/>
                  <a:gdLst>
                    <a:gd name="T0" fmla="*/ 46 w 296"/>
                    <a:gd name="T1" fmla="*/ 4053 h 864"/>
                    <a:gd name="T2" fmla="*/ 8 w 296"/>
                    <a:gd name="T3" fmla="*/ 3831 h 864"/>
                    <a:gd name="T4" fmla="*/ 8 w 296"/>
                    <a:gd name="T5" fmla="*/ 2701 h 864"/>
                    <a:gd name="T6" fmla="*/ 46 w 296"/>
                    <a:gd name="T7" fmla="*/ 1800 h 864"/>
                    <a:gd name="T8" fmla="*/ 88 w 296"/>
                    <a:gd name="T9" fmla="*/ 902 h 864"/>
                    <a:gd name="T10" fmla="*/ 168 w 296"/>
                    <a:gd name="T11" fmla="*/ 225 h 864"/>
                    <a:gd name="T12" fmla="*/ 249 w 296"/>
                    <a:gd name="T13" fmla="*/ 0 h 864"/>
                    <a:gd name="T14" fmla="*/ 0 60000 65536"/>
                    <a:gd name="T15" fmla="*/ 0 60000 65536"/>
                    <a:gd name="T16" fmla="*/ 0 60000 65536"/>
                    <a:gd name="T17" fmla="*/ 0 60000 65536"/>
                    <a:gd name="T18" fmla="*/ 0 60000 65536"/>
                    <a:gd name="T19" fmla="*/ 0 60000 65536"/>
                    <a:gd name="T20" fmla="*/ 0 60000 65536"/>
                    <a:gd name="T21" fmla="*/ 0 w 296"/>
                    <a:gd name="T22" fmla="*/ 0 h 864"/>
                    <a:gd name="T23" fmla="*/ 296 w 296"/>
                    <a:gd name="T24" fmla="*/ 864 h 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6" h="864">
                      <a:moveTo>
                        <a:pt x="56" y="864"/>
                      </a:moveTo>
                      <a:cubicBezTo>
                        <a:pt x="36" y="864"/>
                        <a:pt x="16" y="864"/>
                        <a:pt x="8" y="816"/>
                      </a:cubicBezTo>
                      <a:cubicBezTo>
                        <a:pt x="0" y="768"/>
                        <a:pt x="0" y="648"/>
                        <a:pt x="8" y="576"/>
                      </a:cubicBezTo>
                      <a:cubicBezTo>
                        <a:pt x="16" y="504"/>
                        <a:pt x="40" y="448"/>
                        <a:pt x="56" y="384"/>
                      </a:cubicBezTo>
                      <a:cubicBezTo>
                        <a:pt x="72" y="320"/>
                        <a:pt x="80" y="248"/>
                        <a:pt x="104" y="192"/>
                      </a:cubicBezTo>
                      <a:cubicBezTo>
                        <a:pt x="128" y="136"/>
                        <a:pt x="168" y="80"/>
                        <a:pt x="200" y="48"/>
                      </a:cubicBezTo>
                      <a:cubicBezTo>
                        <a:pt x="232" y="16"/>
                        <a:pt x="264" y="8"/>
                        <a:pt x="296" y="0"/>
                      </a:cubicBezTo>
                    </a:path>
                  </a:pathLst>
                </a:custGeom>
                <a:noFill/>
                <a:ln w="19050">
                  <a:solidFill>
                    <a:srgbClr val="FF9900"/>
                  </a:solidFill>
                  <a:round/>
                  <a:headEnd/>
                  <a:tailEnd type="none" w="med" len="lg"/>
                </a:ln>
              </p:spPr>
              <p:txBody>
                <a:bodyPr wrap="none" anchor="ctr"/>
                <a:lstStyle/>
                <a:p>
                  <a:endParaRPr lang="zh-CN" altLang="en-US"/>
                </a:p>
              </p:txBody>
            </p:sp>
            <p:sp>
              <p:nvSpPr>
                <p:cNvPr id="42009" name="Freeform 14"/>
                <p:cNvSpPr>
                  <a:spLocks/>
                </p:cNvSpPr>
                <p:nvPr/>
              </p:nvSpPr>
              <p:spPr bwMode="auto">
                <a:xfrm rot="-136350">
                  <a:off x="4412" y="1511"/>
                  <a:ext cx="286" cy="1177"/>
                </a:xfrm>
                <a:custGeom>
                  <a:avLst/>
                  <a:gdLst>
                    <a:gd name="T0" fmla="*/ 46 w 296"/>
                    <a:gd name="T1" fmla="*/ 4053 h 864"/>
                    <a:gd name="T2" fmla="*/ 8 w 296"/>
                    <a:gd name="T3" fmla="*/ 3831 h 864"/>
                    <a:gd name="T4" fmla="*/ 8 w 296"/>
                    <a:gd name="T5" fmla="*/ 2701 h 864"/>
                    <a:gd name="T6" fmla="*/ 46 w 296"/>
                    <a:gd name="T7" fmla="*/ 1800 h 864"/>
                    <a:gd name="T8" fmla="*/ 88 w 296"/>
                    <a:gd name="T9" fmla="*/ 902 h 864"/>
                    <a:gd name="T10" fmla="*/ 168 w 296"/>
                    <a:gd name="T11" fmla="*/ 225 h 864"/>
                    <a:gd name="T12" fmla="*/ 249 w 296"/>
                    <a:gd name="T13" fmla="*/ 0 h 864"/>
                    <a:gd name="T14" fmla="*/ 0 60000 65536"/>
                    <a:gd name="T15" fmla="*/ 0 60000 65536"/>
                    <a:gd name="T16" fmla="*/ 0 60000 65536"/>
                    <a:gd name="T17" fmla="*/ 0 60000 65536"/>
                    <a:gd name="T18" fmla="*/ 0 60000 65536"/>
                    <a:gd name="T19" fmla="*/ 0 60000 65536"/>
                    <a:gd name="T20" fmla="*/ 0 60000 65536"/>
                    <a:gd name="T21" fmla="*/ 0 w 296"/>
                    <a:gd name="T22" fmla="*/ 0 h 864"/>
                    <a:gd name="T23" fmla="*/ 296 w 296"/>
                    <a:gd name="T24" fmla="*/ 864 h 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6" h="864">
                      <a:moveTo>
                        <a:pt x="56" y="864"/>
                      </a:moveTo>
                      <a:cubicBezTo>
                        <a:pt x="36" y="864"/>
                        <a:pt x="16" y="864"/>
                        <a:pt x="8" y="816"/>
                      </a:cubicBezTo>
                      <a:cubicBezTo>
                        <a:pt x="0" y="768"/>
                        <a:pt x="0" y="648"/>
                        <a:pt x="8" y="576"/>
                      </a:cubicBezTo>
                      <a:cubicBezTo>
                        <a:pt x="16" y="504"/>
                        <a:pt x="40" y="448"/>
                        <a:pt x="56" y="384"/>
                      </a:cubicBezTo>
                      <a:cubicBezTo>
                        <a:pt x="72" y="320"/>
                        <a:pt x="80" y="248"/>
                        <a:pt x="104" y="192"/>
                      </a:cubicBezTo>
                      <a:cubicBezTo>
                        <a:pt x="128" y="136"/>
                        <a:pt x="168" y="80"/>
                        <a:pt x="200" y="48"/>
                      </a:cubicBezTo>
                      <a:cubicBezTo>
                        <a:pt x="232" y="16"/>
                        <a:pt x="264" y="8"/>
                        <a:pt x="296" y="0"/>
                      </a:cubicBezTo>
                    </a:path>
                  </a:pathLst>
                </a:custGeom>
                <a:noFill/>
                <a:ln w="19050">
                  <a:solidFill>
                    <a:srgbClr val="FF9900"/>
                  </a:solidFill>
                  <a:round/>
                  <a:headEnd/>
                  <a:tailEnd type="none" w="med" len="lg"/>
                </a:ln>
              </p:spPr>
              <p:txBody>
                <a:bodyPr wrap="none" anchor="ctr"/>
                <a:lstStyle/>
                <a:p>
                  <a:endParaRPr lang="zh-CN" altLang="en-US"/>
                </a:p>
              </p:txBody>
            </p:sp>
            <p:sp>
              <p:nvSpPr>
                <p:cNvPr id="42010" name="Freeform 15"/>
                <p:cNvSpPr>
                  <a:spLocks/>
                </p:cNvSpPr>
                <p:nvPr/>
              </p:nvSpPr>
              <p:spPr bwMode="auto">
                <a:xfrm rot="-136350">
                  <a:off x="4165" y="1520"/>
                  <a:ext cx="286" cy="1177"/>
                </a:xfrm>
                <a:custGeom>
                  <a:avLst/>
                  <a:gdLst>
                    <a:gd name="T0" fmla="*/ 46 w 296"/>
                    <a:gd name="T1" fmla="*/ 4053 h 864"/>
                    <a:gd name="T2" fmla="*/ 8 w 296"/>
                    <a:gd name="T3" fmla="*/ 3831 h 864"/>
                    <a:gd name="T4" fmla="*/ 8 w 296"/>
                    <a:gd name="T5" fmla="*/ 2701 h 864"/>
                    <a:gd name="T6" fmla="*/ 46 w 296"/>
                    <a:gd name="T7" fmla="*/ 1800 h 864"/>
                    <a:gd name="T8" fmla="*/ 88 w 296"/>
                    <a:gd name="T9" fmla="*/ 902 h 864"/>
                    <a:gd name="T10" fmla="*/ 168 w 296"/>
                    <a:gd name="T11" fmla="*/ 225 h 864"/>
                    <a:gd name="T12" fmla="*/ 249 w 296"/>
                    <a:gd name="T13" fmla="*/ 0 h 864"/>
                    <a:gd name="T14" fmla="*/ 0 60000 65536"/>
                    <a:gd name="T15" fmla="*/ 0 60000 65536"/>
                    <a:gd name="T16" fmla="*/ 0 60000 65536"/>
                    <a:gd name="T17" fmla="*/ 0 60000 65536"/>
                    <a:gd name="T18" fmla="*/ 0 60000 65536"/>
                    <a:gd name="T19" fmla="*/ 0 60000 65536"/>
                    <a:gd name="T20" fmla="*/ 0 60000 65536"/>
                    <a:gd name="T21" fmla="*/ 0 w 296"/>
                    <a:gd name="T22" fmla="*/ 0 h 864"/>
                    <a:gd name="T23" fmla="*/ 296 w 296"/>
                    <a:gd name="T24" fmla="*/ 864 h 8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96" h="864">
                      <a:moveTo>
                        <a:pt x="56" y="864"/>
                      </a:moveTo>
                      <a:cubicBezTo>
                        <a:pt x="36" y="864"/>
                        <a:pt x="16" y="864"/>
                        <a:pt x="8" y="816"/>
                      </a:cubicBezTo>
                      <a:cubicBezTo>
                        <a:pt x="0" y="768"/>
                        <a:pt x="0" y="648"/>
                        <a:pt x="8" y="576"/>
                      </a:cubicBezTo>
                      <a:cubicBezTo>
                        <a:pt x="16" y="504"/>
                        <a:pt x="40" y="448"/>
                        <a:pt x="56" y="384"/>
                      </a:cubicBezTo>
                      <a:cubicBezTo>
                        <a:pt x="72" y="320"/>
                        <a:pt x="80" y="248"/>
                        <a:pt x="104" y="192"/>
                      </a:cubicBezTo>
                      <a:cubicBezTo>
                        <a:pt x="128" y="136"/>
                        <a:pt x="168" y="80"/>
                        <a:pt x="200" y="48"/>
                      </a:cubicBezTo>
                      <a:cubicBezTo>
                        <a:pt x="232" y="16"/>
                        <a:pt x="264" y="8"/>
                        <a:pt x="296" y="0"/>
                      </a:cubicBezTo>
                    </a:path>
                  </a:pathLst>
                </a:custGeom>
                <a:noFill/>
                <a:ln w="19050">
                  <a:solidFill>
                    <a:srgbClr val="FF9900"/>
                  </a:solidFill>
                  <a:round/>
                  <a:headEnd/>
                  <a:tailEnd type="none" w="med" len="lg"/>
                </a:ln>
              </p:spPr>
              <p:txBody>
                <a:bodyPr wrap="none" anchor="ctr"/>
                <a:lstStyle/>
                <a:p>
                  <a:endParaRPr lang="zh-CN" altLang="en-US"/>
                </a:p>
              </p:txBody>
            </p:sp>
            <p:sp>
              <p:nvSpPr>
                <p:cNvPr id="42011" name="Rectangle 16"/>
                <p:cNvSpPr>
                  <a:spLocks noChangeArrowheads="1"/>
                </p:cNvSpPr>
                <p:nvPr/>
              </p:nvSpPr>
              <p:spPr bwMode="auto">
                <a:xfrm>
                  <a:off x="4032" y="2037"/>
                  <a:ext cx="192" cy="96"/>
                </a:xfrm>
                <a:prstGeom prst="rect">
                  <a:avLst/>
                </a:prstGeom>
                <a:noFill/>
                <a:ln w="12700">
                  <a:solidFill>
                    <a:schemeClr val="tx1"/>
                  </a:solidFill>
                  <a:miter lim="800000"/>
                  <a:headEnd/>
                  <a:tailEnd type="none" w="med" len="lg"/>
                </a:ln>
              </p:spPr>
              <p:txBody>
                <a:bodyPr wrap="none" anchor="ctr"/>
                <a:lstStyle/>
                <a:p>
                  <a:endParaRPr lang="zh-CN" altLang="en-US"/>
                </a:p>
              </p:txBody>
            </p:sp>
            <p:sp>
              <p:nvSpPr>
                <p:cNvPr id="42012" name="Line 17"/>
                <p:cNvSpPr>
                  <a:spLocks noChangeShapeType="1"/>
                </p:cNvSpPr>
                <p:nvPr/>
              </p:nvSpPr>
              <p:spPr bwMode="auto">
                <a:xfrm>
                  <a:off x="3936" y="2064"/>
                  <a:ext cx="96" cy="0"/>
                </a:xfrm>
                <a:prstGeom prst="line">
                  <a:avLst/>
                </a:prstGeom>
                <a:noFill/>
                <a:ln w="19050">
                  <a:solidFill>
                    <a:schemeClr val="tx1"/>
                  </a:solidFill>
                  <a:round/>
                  <a:headEnd/>
                  <a:tailEnd type="none" w="med" len="lg"/>
                </a:ln>
              </p:spPr>
              <p:txBody>
                <a:bodyPr wrap="none" anchor="ctr"/>
                <a:lstStyle/>
                <a:p>
                  <a:endParaRPr lang="zh-CN" altLang="en-US"/>
                </a:p>
              </p:txBody>
            </p:sp>
            <p:sp>
              <p:nvSpPr>
                <p:cNvPr id="42013" name="Line 18"/>
                <p:cNvSpPr>
                  <a:spLocks noChangeShapeType="1"/>
                </p:cNvSpPr>
                <p:nvPr/>
              </p:nvSpPr>
              <p:spPr bwMode="auto">
                <a:xfrm>
                  <a:off x="3936" y="2091"/>
                  <a:ext cx="96" cy="0"/>
                </a:xfrm>
                <a:prstGeom prst="line">
                  <a:avLst/>
                </a:prstGeom>
                <a:noFill/>
                <a:ln w="19050">
                  <a:solidFill>
                    <a:schemeClr val="tx1"/>
                  </a:solidFill>
                  <a:round/>
                  <a:headEnd/>
                  <a:tailEnd type="none" w="med" len="lg"/>
                </a:ln>
              </p:spPr>
              <p:txBody>
                <a:bodyPr wrap="none" anchor="ctr"/>
                <a:lstStyle/>
                <a:p>
                  <a:endParaRPr lang="zh-CN" altLang="en-US"/>
                </a:p>
              </p:txBody>
            </p:sp>
            <p:sp>
              <p:nvSpPr>
                <p:cNvPr id="42014" name="Line 19"/>
                <p:cNvSpPr>
                  <a:spLocks noChangeShapeType="1"/>
                </p:cNvSpPr>
                <p:nvPr/>
              </p:nvSpPr>
              <p:spPr bwMode="auto">
                <a:xfrm>
                  <a:off x="3936" y="2118"/>
                  <a:ext cx="96" cy="0"/>
                </a:xfrm>
                <a:prstGeom prst="line">
                  <a:avLst/>
                </a:prstGeom>
                <a:noFill/>
                <a:ln w="19050">
                  <a:solidFill>
                    <a:schemeClr val="tx1"/>
                  </a:solidFill>
                  <a:round/>
                  <a:headEnd/>
                  <a:tailEnd type="none" w="med" len="lg"/>
                </a:ln>
              </p:spPr>
              <p:txBody>
                <a:bodyPr wrap="none" anchor="ctr"/>
                <a:lstStyle/>
                <a:p>
                  <a:endParaRPr lang="zh-CN" altLang="en-US"/>
                </a:p>
              </p:txBody>
            </p:sp>
            <p:sp>
              <p:nvSpPr>
                <p:cNvPr id="42015" name="Freeform 20"/>
                <p:cNvSpPr>
                  <a:spLocks/>
                </p:cNvSpPr>
                <p:nvPr/>
              </p:nvSpPr>
              <p:spPr bwMode="auto">
                <a:xfrm>
                  <a:off x="4992" y="1632"/>
                  <a:ext cx="144" cy="864"/>
                </a:xfrm>
                <a:custGeom>
                  <a:avLst/>
                  <a:gdLst>
                    <a:gd name="T0" fmla="*/ 0 w 144"/>
                    <a:gd name="T1" fmla="*/ 0 h 864"/>
                    <a:gd name="T2" fmla="*/ 144 w 144"/>
                    <a:gd name="T3" fmla="*/ 192 h 864"/>
                    <a:gd name="T4" fmla="*/ 144 w 144"/>
                    <a:gd name="T5" fmla="*/ 864 h 864"/>
                    <a:gd name="T6" fmla="*/ 0 w 144"/>
                    <a:gd name="T7" fmla="*/ 576 h 864"/>
                    <a:gd name="T8" fmla="*/ 0 w 144"/>
                    <a:gd name="T9" fmla="*/ 0 h 864"/>
                    <a:gd name="T10" fmla="*/ 0 60000 65536"/>
                    <a:gd name="T11" fmla="*/ 0 60000 65536"/>
                    <a:gd name="T12" fmla="*/ 0 60000 65536"/>
                    <a:gd name="T13" fmla="*/ 0 60000 65536"/>
                    <a:gd name="T14" fmla="*/ 0 60000 65536"/>
                    <a:gd name="T15" fmla="*/ 0 w 144"/>
                    <a:gd name="T16" fmla="*/ 0 h 864"/>
                    <a:gd name="T17" fmla="*/ 144 w 144"/>
                    <a:gd name="T18" fmla="*/ 864 h 864"/>
                  </a:gdLst>
                  <a:ahLst/>
                  <a:cxnLst>
                    <a:cxn ang="T10">
                      <a:pos x="T0" y="T1"/>
                    </a:cxn>
                    <a:cxn ang="T11">
                      <a:pos x="T2" y="T3"/>
                    </a:cxn>
                    <a:cxn ang="T12">
                      <a:pos x="T4" y="T5"/>
                    </a:cxn>
                    <a:cxn ang="T13">
                      <a:pos x="T6" y="T7"/>
                    </a:cxn>
                    <a:cxn ang="T14">
                      <a:pos x="T8" y="T9"/>
                    </a:cxn>
                  </a:cxnLst>
                  <a:rect l="T15" t="T16" r="T17" b="T18"/>
                  <a:pathLst>
                    <a:path w="144" h="864">
                      <a:moveTo>
                        <a:pt x="0" y="0"/>
                      </a:moveTo>
                      <a:lnTo>
                        <a:pt x="144" y="192"/>
                      </a:lnTo>
                      <a:lnTo>
                        <a:pt x="144" y="864"/>
                      </a:lnTo>
                      <a:lnTo>
                        <a:pt x="0" y="576"/>
                      </a:lnTo>
                      <a:lnTo>
                        <a:pt x="0" y="0"/>
                      </a:lnTo>
                      <a:close/>
                    </a:path>
                  </a:pathLst>
                </a:custGeom>
                <a:noFill/>
                <a:ln w="12700">
                  <a:solidFill>
                    <a:schemeClr val="tx1"/>
                  </a:solidFill>
                  <a:round/>
                  <a:headEnd/>
                  <a:tailEnd type="none" w="med" len="lg"/>
                </a:ln>
              </p:spPr>
              <p:txBody>
                <a:bodyPr wrap="none" anchor="ctr"/>
                <a:lstStyle/>
                <a:p>
                  <a:endParaRPr lang="zh-CN" altLang="en-US"/>
                </a:p>
              </p:txBody>
            </p:sp>
            <p:grpSp>
              <p:nvGrpSpPr>
                <p:cNvPr id="42016" name="Group 21"/>
                <p:cNvGrpSpPr>
                  <a:grpSpLocks/>
                </p:cNvGrpSpPr>
                <p:nvPr/>
              </p:nvGrpSpPr>
              <p:grpSpPr bwMode="auto">
                <a:xfrm>
                  <a:off x="3984" y="1536"/>
                  <a:ext cx="1208" cy="1104"/>
                  <a:chOff x="3792" y="1152"/>
                  <a:chExt cx="1208" cy="1104"/>
                </a:xfrm>
              </p:grpSpPr>
              <p:sp>
                <p:nvSpPr>
                  <p:cNvPr id="42028" name="Freeform 22"/>
                  <p:cNvSpPr>
                    <a:spLocks/>
                  </p:cNvSpPr>
                  <p:nvPr/>
                </p:nvSpPr>
                <p:spPr bwMode="auto">
                  <a:xfrm>
                    <a:off x="3792" y="1152"/>
                    <a:ext cx="1208" cy="576"/>
                  </a:xfrm>
                  <a:custGeom>
                    <a:avLst/>
                    <a:gdLst>
                      <a:gd name="T0" fmla="*/ 0 w 1208"/>
                      <a:gd name="T1" fmla="*/ 528 h 576"/>
                      <a:gd name="T2" fmla="*/ 96 w 1208"/>
                      <a:gd name="T3" fmla="*/ 480 h 576"/>
                      <a:gd name="T4" fmla="*/ 384 w 1208"/>
                      <a:gd name="T5" fmla="*/ 432 h 576"/>
                      <a:gd name="T6" fmla="*/ 720 w 1208"/>
                      <a:gd name="T7" fmla="*/ 384 h 576"/>
                      <a:gd name="T8" fmla="*/ 1008 w 1208"/>
                      <a:gd name="T9" fmla="*/ 48 h 576"/>
                      <a:gd name="T10" fmla="*/ 1152 w 1208"/>
                      <a:gd name="T11" fmla="*/ 96 h 576"/>
                      <a:gd name="T12" fmla="*/ 1200 w 1208"/>
                      <a:gd name="T13" fmla="*/ 336 h 576"/>
                      <a:gd name="T14" fmla="*/ 1200 w 1208"/>
                      <a:gd name="T15" fmla="*/ 576 h 576"/>
                      <a:gd name="T16" fmla="*/ 0 60000 65536"/>
                      <a:gd name="T17" fmla="*/ 0 60000 65536"/>
                      <a:gd name="T18" fmla="*/ 0 60000 65536"/>
                      <a:gd name="T19" fmla="*/ 0 60000 65536"/>
                      <a:gd name="T20" fmla="*/ 0 60000 65536"/>
                      <a:gd name="T21" fmla="*/ 0 60000 65536"/>
                      <a:gd name="T22" fmla="*/ 0 60000 65536"/>
                      <a:gd name="T23" fmla="*/ 0 60000 65536"/>
                      <a:gd name="T24" fmla="*/ 0 w 1208"/>
                      <a:gd name="T25" fmla="*/ 0 h 576"/>
                      <a:gd name="T26" fmla="*/ 1208 w 1208"/>
                      <a:gd name="T27" fmla="*/ 576 h 5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08" h="576">
                        <a:moveTo>
                          <a:pt x="0" y="528"/>
                        </a:moveTo>
                        <a:cubicBezTo>
                          <a:pt x="16" y="512"/>
                          <a:pt x="32" y="496"/>
                          <a:pt x="96" y="480"/>
                        </a:cubicBezTo>
                        <a:cubicBezTo>
                          <a:pt x="160" y="464"/>
                          <a:pt x="280" y="448"/>
                          <a:pt x="384" y="432"/>
                        </a:cubicBezTo>
                        <a:cubicBezTo>
                          <a:pt x="488" y="416"/>
                          <a:pt x="616" y="448"/>
                          <a:pt x="720" y="384"/>
                        </a:cubicBezTo>
                        <a:cubicBezTo>
                          <a:pt x="824" y="320"/>
                          <a:pt x="936" y="96"/>
                          <a:pt x="1008" y="48"/>
                        </a:cubicBezTo>
                        <a:cubicBezTo>
                          <a:pt x="1080" y="0"/>
                          <a:pt x="1120" y="48"/>
                          <a:pt x="1152" y="96"/>
                        </a:cubicBezTo>
                        <a:cubicBezTo>
                          <a:pt x="1184" y="144"/>
                          <a:pt x="1192" y="256"/>
                          <a:pt x="1200" y="336"/>
                        </a:cubicBezTo>
                        <a:cubicBezTo>
                          <a:pt x="1208" y="416"/>
                          <a:pt x="1204" y="496"/>
                          <a:pt x="1200" y="576"/>
                        </a:cubicBezTo>
                      </a:path>
                    </a:pathLst>
                  </a:custGeom>
                  <a:noFill/>
                  <a:ln w="12700">
                    <a:solidFill>
                      <a:schemeClr val="tx1"/>
                    </a:solidFill>
                    <a:round/>
                    <a:headEnd/>
                    <a:tailEnd type="none" w="med" len="lg"/>
                  </a:ln>
                </p:spPr>
                <p:txBody>
                  <a:bodyPr wrap="none" anchor="ctr"/>
                  <a:lstStyle/>
                  <a:p>
                    <a:endParaRPr lang="zh-CN" altLang="en-US"/>
                  </a:p>
                </p:txBody>
              </p:sp>
              <p:sp>
                <p:nvSpPr>
                  <p:cNvPr id="42029" name="Freeform 23"/>
                  <p:cNvSpPr>
                    <a:spLocks/>
                  </p:cNvSpPr>
                  <p:nvPr/>
                </p:nvSpPr>
                <p:spPr bwMode="auto">
                  <a:xfrm flipV="1">
                    <a:off x="3792" y="1680"/>
                    <a:ext cx="1208" cy="576"/>
                  </a:xfrm>
                  <a:custGeom>
                    <a:avLst/>
                    <a:gdLst>
                      <a:gd name="T0" fmla="*/ 0 w 1208"/>
                      <a:gd name="T1" fmla="*/ 528 h 576"/>
                      <a:gd name="T2" fmla="*/ 96 w 1208"/>
                      <a:gd name="T3" fmla="*/ 480 h 576"/>
                      <a:gd name="T4" fmla="*/ 384 w 1208"/>
                      <a:gd name="T5" fmla="*/ 432 h 576"/>
                      <a:gd name="T6" fmla="*/ 720 w 1208"/>
                      <a:gd name="T7" fmla="*/ 384 h 576"/>
                      <a:gd name="T8" fmla="*/ 1008 w 1208"/>
                      <a:gd name="T9" fmla="*/ 48 h 576"/>
                      <a:gd name="T10" fmla="*/ 1152 w 1208"/>
                      <a:gd name="T11" fmla="*/ 96 h 576"/>
                      <a:gd name="T12" fmla="*/ 1200 w 1208"/>
                      <a:gd name="T13" fmla="*/ 336 h 576"/>
                      <a:gd name="T14" fmla="*/ 1200 w 1208"/>
                      <a:gd name="T15" fmla="*/ 576 h 576"/>
                      <a:gd name="T16" fmla="*/ 0 60000 65536"/>
                      <a:gd name="T17" fmla="*/ 0 60000 65536"/>
                      <a:gd name="T18" fmla="*/ 0 60000 65536"/>
                      <a:gd name="T19" fmla="*/ 0 60000 65536"/>
                      <a:gd name="T20" fmla="*/ 0 60000 65536"/>
                      <a:gd name="T21" fmla="*/ 0 60000 65536"/>
                      <a:gd name="T22" fmla="*/ 0 60000 65536"/>
                      <a:gd name="T23" fmla="*/ 0 60000 65536"/>
                      <a:gd name="T24" fmla="*/ 0 w 1208"/>
                      <a:gd name="T25" fmla="*/ 0 h 576"/>
                      <a:gd name="T26" fmla="*/ 1208 w 1208"/>
                      <a:gd name="T27" fmla="*/ 576 h 57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08" h="576">
                        <a:moveTo>
                          <a:pt x="0" y="528"/>
                        </a:moveTo>
                        <a:cubicBezTo>
                          <a:pt x="16" y="512"/>
                          <a:pt x="32" y="496"/>
                          <a:pt x="96" y="480"/>
                        </a:cubicBezTo>
                        <a:cubicBezTo>
                          <a:pt x="160" y="464"/>
                          <a:pt x="280" y="448"/>
                          <a:pt x="384" y="432"/>
                        </a:cubicBezTo>
                        <a:cubicBezTo>
                          <a:pt x="488" y="416"/>
                          <a:pt x="616" y="448"/>
                          <a:pt x="720" y="384"/>
                        </a:cubicBezTo>
                        <a:cubicBezTo>
                          <a:pt x="824" y="320"/>
                          <a:pt x="936" y="96"/>
                          <a:pt x="1008" y="48"/>
                        </a:cubicBezTo>
                        <a:cubicBezTo>
                          <a:pt x="1080" y="0"/>
                          <a:pt x="1120" y="48"/>
                          <a:pt x="1152" y="96"/>
                        </a:cubicBezTo>
                        <a:cubicBezTo>
                          <a:pt x="1184" y="144"/>
                          <a:pt x="1192" y="256"/>
                          <a:pt x="1200" y="336"/>
                        </a:cubicBezTo>
                        <a:cubicBezTo>
                          <a:pt x="1208" y="416"/>
                          <a:pt x="1204" y="496"/>
                          <a:pt x="1200" y="576"/>
                        </a:cubicBezTo>
                      </a:path>
                    </a:pathLst>
                  </a:custGeom>
                  <a:noFill/>
                  <a:ln w="12700">
                    <a:solidFill>
                      <a:schemeClr val="tx1"/>
                    </a:solidFill>
                    <a:round/>
                    <a:headEnd/>
                    <a:tailEnd type="none" w="med" len="lg"/>
                  </a:ln>
                </p:spPr>
                <p:txBody>
                  <a:bodyPr wrap="none" anchor="ctr"/>
                  <a:lstStyle/>
                  <a:p>
                    <a:endParaRPr lang="zh-CN" altLang="en-US"/>
                  </a:p>
                </p:txBody>
              </p:sp>
              <p:sp>
                <p:nvSpPr>
                  <p:cNvPr id="42030" name="Line 24"/>
                  <p:cNvSpPr>
                    <a:spLocks noChangeShapeType="1"/>
                  </p:cNvSpPr>
                  <p:nvPr/>
                </p:nvSpPr>
                <p:spPr bwMode="auto">
                  <a:xfrm>
                    <a:off x="3792" y="1680"/>
                    <a:ext cx="0" cy="48"/>
                  </a:xfrm>
                  <a:prstGeom prst="line">
                    <a:avLst/>
                  </a:prstGeom>
                  <a:noFill/>
                  <a:ln w="12700">
                    <a:solidFill>
                      <a:schemeClr val="tx1"/>
                    </a:solidFill>
                    <a:round/>
                    <a:headEnd/>
                    <a:tailEnd type="none" w="med" len="lg"/>
                  </a:ln>
                </p:spPr>
                <p:txBody>
                  <a:bodyPr wrap="none" anchor="ctr"/>
                  <a:lstStyle/>
                  <a:p>
                    <a:endParaRPr lang="zh-CN" altLang="en-US"/>
                  </a:p>
                </p:txBody>
              </p:sp>
            </p:grpSp>
            <p:sp>
              <p:nvSpPr>
                <p:cNvPr id="42017" name="Oval 25"/>
                <p:cNvSpPr>
                  <a:spLocks noChangeArrowheads="1"/>
                </p:cNvSpPr>
                <p:nvPr/>
              </p:nvSpPr>
              <p:spPr bwMode="auto">
                <a:xfrm>
                  <a:off x="4848" y="1824"/>
                  <a:ext cx="48" cy="48"/>
                </a:xfrm>
                <a:prstGeom prst="ellipse">
                  <a:avLst/>
                </a:prstGeom>
                <a:noFill/>
                <a:ln w="19050">
                  <a:solidFill>
                    <a:schemeClr val="tx1"/>
                  </a:solidFill>
                  <a:round/>
                  <a:headEnd/>
                  <a:tailEnd type="none" w="med" len="lg"/>
                </a:ln>
              </p:spPr>
              <p:txBody>
                <a:bodyPr wrap="none" anchor="ctr"/>
                <a:lstStyle/>
                <a:p>
                  <a:endParaRPr lang="zh-CN" altLang="en-US"/>
                </a:p>
              </p:txBody>
            </p:sp>
            <p:sp>
              <p:nvSpPr>
                <p:cNvPr id="42018" name="Line 26"/>
                <p:cNvSpPr>
                  <a:spLocks noChangeShapeType="1"/>
                </p:cNvSpPr>
                <p:nvPr/>
              </p:nvSpPr>
              <p:spPr bwMode="auto">
                <a:xfrm flipV="1">
                  <a:off x="4876" y="1200"/>
                  <a:ext cx="0" cy="576"/>
                </a:xfrm>
                <a:prstGeom prst="line">
                  <a:avLst/>
                </a:prstGeom>
                <a:noFill/>
                <a:ln w="19050">
                  <a:solidFill>
                    <a:schemeClr val="tx1"/>
                  </a:solidFill>
                  <a:round/>
                  <a:headEnd/>
                  <a:tailEnd type="stealth" w="med" len="lg"/>
                </a:ln>
              </p:spPr>
              <p:txBody>
                <a:bodyPr wrap="none" anchor="ctr"/>
                <a:lstStyle/>
                <a:p>
                  <a:endParaRPr lang="zh-CN" altLang="en-US"/>
                </a:p>
              </p:txBody>
            </p:sp>
            <p:sp>
              <p:nvSpPr>
                <p:cNvPr id="42019" name="Arc 27"/>
                <p:cNvSpPr>
                  <a:spLocks/>
                </p:cNvSpPr>
                <p:nvPr/>
              </p:nvSpPr>
              <p:spPr bwMode="auto">
                <a:xfrm rot="-136350">
                  <a:off x="4188" y="1521"/>
                  <a:ext cx="138" cy="1158"/>
                </a:xfrm>
                <a:custGeom>
                  <a:avLst/>
                  <a:gdLst>
                    <a:gd name="T0" fmla="*/ 0 w 21600"/>
                    <a:gd name="T1" fmla="*/ 0 h 42891"/>
                    <a:gd name="T2" fmla="*/ 0 w 21600"/>
                    <a:gd name="T3" fmla="*/ 0 h 42891"/>
                    <a:gd name="T4" fmla="*/ 0 w 21600"/>
                    <a:gd name="T5" fmla="*/ 0 h 42891"/>
                    <a:gd name="T6" fmla="*/ 0 60000 65536"/>
                    <a:gd name="T7" fmla="*/ 0 60000 65536"/>
                    <a:gd name="T8" fmla="*/ 0 60000 65536"/>
                    <a:gd name="T9" fmla="*/ 0 w 21600"/>
                    <a:gd name="T10" fmla="*/ 0 h 42891"/>
                    <a:gd name="T11" fmla="*/ 21600 w 21600"/>
                    <a:gd name="T12" fmla="*/ 42891 h 42891"/>
                  </a:gdLst>
                  <a:ahLst/>
                  <a:cxnLst>
                    <a:cxn ang="T6">
                      <a:pos x="T0" y="T1"/>
                    </a:cxn>
                    <a:cxn ang="T7">
                      <a:pos x="T2" y="T3"/>
                    </a:cxn>
                    <a:cxn ang="T8">
                      <a:pos x="T4" y="T5"/>
                    </a:cxn>
                  </a:cxnLst>
                  <a:rect l="T9" t="T10" r="T11" b="T12"/>
                  <a:pathLst>
                    <a:path w="21600" h="42891" fill="none" extrusionOk="0">
                      <a:moveTo>
                        <a:pt x="853" y="-1"/>
                      </a:moveTo>
                      <a:cubicBezTo>
                        <a:pt x="12441" y="457"/>
                        <a:pt x="21600" y="9985"/>
                        <a:pt x="21600" y="21583"/>
                      </a:cubicBezTo>
                      <a:cubicBezTo>
                        <a:pt x="21600" y="32147"/>
                        <a:pt x="13958" y="41161"/>
                        <a:pt x="3537" y="42891"/>
                      </a:cubicBezTo>
                    </a:path>
                    <a:path w="21600" h="42891" stroke="0" extrusionOk="0">
                      <a:moveTo>
                        <a:pt x="853" y="-1"/>
                      </a:moveTo>
                      <a:cubicBezTo>
                        <a:pt x="12441" y="457"/>
                        <a:pt x="21600" y="9985"/>
                        <a:pt x="21600" y="21583"/>
                      </a:cubicBezTo>
                      <a:cubicBezTo>
                        <a:pt x="21600" y="32147"/>
                        <a:pt x="13958" y="41161"/>
                        <a:pt x="3537" y="42891"/>
                      </a:cubicBezTo>
                      <a:lnTo>
                        <a:pt x="0" y="21583"/>
                      </a:lnTo>
                      <a:lnTo>
                        <a:pt x="853" y="-1"/>
                      </a:lnTo>
                      <a:close/>
                    </a:path>
                  </a:pathLst>
                </a:custGeom>
                <a:noFill/>
                <a:ln w="38100">
                  <a:solidFill>
                    <a:srgbClr val="FF9900"/>
                  </a:solidFill>
                  <a:round/>
                  <a:headEnd/>
                  <a:tailEnd type="none" w="med" len="lg"/>
                </a:ln>
              </p:spPr>
              <p:txBody>
                <a:bodyPr wrap="none" anchor="ctr"/>
                <a:lstStyle/>
                <a:p>
                  <a:endParaRPr lang="zh-CN" altLang="en-US"/>
                </a:p>
              </p:txBody>
            </p:sp>
            <p:sp>
              <p:nvSpPr>
                <p:cNvPr id="42020" name="Arc 28"/>
                <p:cNvSpPr>
                  <a:spLocks/>
                </p:cNvSpPr>
                <p:nvPr/>
              </p:nvSpPr>
              <p:spPr bwMode="auto">
                <a:xfrm rot="-136350">
                  <a:off x="4435" y="1512"/>
                  <a:ext cx="138" cy="1158"/>
                </a:xfrm>
                <a:custGeom>
                  <a:avLst/>
                  <a:gdLst>
                    <a:gd name="T0" fmla="*/ 0 w 21600"/>
                    <a:gd name="T1" fmla="*/ 0 h 42891"/>
                    <a:gd name="T2" fmla="*/ 0 w 21600"/>
                    <a:gd name="T3" fmla="*/ 0 h 42891"/>
                    <a:gd name="T4" fmla="*/ 0 w 21600"/>
                    <a:gd name="T5" fmla="*/ 0 h 42891"/>
                    <a:gd name="T6" fmla="*/ 0 60000 65536"/>
                    <a:gd name="T7" fmla="*/ 0 60000 65536"/>
                    <a:gd name="T8" fmla="*/ 0 60000 65536"/>
                    <a:gd name="T9" fmla="*/ 0 w 21600"/>
                    <a:gd name="T10" fmla="*/ 0 h 42891"/>
                    <a:gd name="T11" fmla="*/ 21600 w 21600"/>
                    <a:gd name="T12" fmla="*/ 42891 h 42891"/>
                  </a:gdLst>
                  <a:ahLst/>
                  <a:cxnLst>
                    <a:cxn ang="T6">
                      <a:pos x="T0" y="T1"/>
                    </a:cxn>
                    <a:cxn ang="T7">
                      <a:pos x="T2" y="T3"/>
                    </a:cxn>
                    <a:cxn ang="T8">
                      <a:pos x="T4" y="T5"/>
                    </a:cxn>
                  </a:cxnLst>
                  <a:rect l="T9" t="T10" r="T11" b="T12"/>
                  <a:pathLst>
                    <a:path w="21600" h="42891" fill="none" extrusionOk="0">
                      <a:moveTo>
                        <a:pt x="853" y="-1"/>
                      </a:moveTo>
                      <a:cubicBezTo>
                        <a:pt x="12441" y="457"/>
                        <a:pt x="21600" y="9985"/>
                        <a:pt x="21600" y="21583"/>
                      </a:cubicBezTo>
                      <a:cubicBezTo>
                        <a:pt x="21600" y="32147"/>
                        <a:pt x="13958" y="41161"/>
                        <a:pt x="3537" y="42891"/>
                      </a:cubicBezTo>
                    </a:path>
                    <a:path w="21600" h="42891" stroke="0" extrusionOk="0">
                      <a:moveTo>
                        <a:pt x="853" y="-1"/>
                      </a:moveTo>
                      <a:cubicBezTo>
                        <a:pt x="12441" y="457"/>
                        <a:pt x="21600" y="9985"/>
                        <a:pt x="21600" y="21583"/>
                      </a:cubicBezTo>
                      <a:cubicBezTo>
                        <a:pt x="21600" y="32147"/>
                        <a:pt x="13958" y="41161"/>
                        <a:pt x="3537" y="42891"/>
                      </a:cubicBezTo>
                      <a:lnTo>
                        <a:pt x="0" y="21583"/>
                      </a:lnTo>
                      <a:lnTo>
                        <a:pt x="853" y="-1"/>
                      </a:lnTo>
                      <a:close/>
                    </a:path>
                  </a:pathLst>
                </a:custGeom>
                <a:noFill/>
                <a:ln w="38100">
                  <a:solidFill>
                    <a:srgbClr val="FF9900"/>
                  </a:solidFill>
                  <a:round/>
                  <a:headEnd/>
                  <a:tailEnd type="none" w="med" len="lg"/>
                </a:ln>
              </p:spPr>
              <p:txBody>
                <a:bodyPr wrap="none" anchor="ctr"/>
                <a:lstStyle/>
                <a:p>
                  <a:endParaRPr lang="zh-CN" altLang="en-US"/>
                </a:p>
              </p:txBody>
            </p:sp>
            <p:sp>
              <p:nvSpPr>
                <p:cNvPr id="42021" name="Arc 29"/>
                <p:cNvSpPr>
                  <a:spLocks/>
                </p:cNvSpPr>
                <p:nvPr/>
              </p:nvSpPr>
              <p:spPr bwMode="auto">
                <a:xfrm rot="-136350">
                  <a:off x="4690" y="1502"/>
                  <a:ext cx="138" cy="1158"/>
                </a:xfrm>
                <a:custGeom>
                  <a:avLst/>
                  <a:gdLst>
                    <a:gd name="T0" fmla="*/ 0 w 21600"/>
                    <a:gd name="T1" fmla="*/ 0 h 42891"/>
                    <a:gd name="T2" fmla="*/ 0 w 21600"/>
                    <a:gd name="T3" fmla="*/ 0 h 42891"/>
                    <a:gd name="T4" fmla="*/ 0 w 21600"/>
                    <a:gd name="T5" fmla="*/ 0 h 42891"/>
                    <a:gd name="T6" fmla="*/ 0 60000 65536"/>
                    <a:gd name="T7" fmla="*/ 0 60000 65536"/>
                    <a:gd name="T8" fmla="*/ 0 60000 65536"/>
                    <a:gd name="T9" fmla="*/ 0 w 21600"/>
                    <a:gd name="T10" fmla="*/ 0 h 42891"/>
                    <a:gd name="T11" fmla="*/ 21600 w 21600"/>
                    <a:gd name="T12" fmla="*/ 42891 h 42891"/>
                  </a:gdLst>
                  <a:ahLst/>
                  <a:cxnLst>
                    <a:cxn ang="T6">
                      <a:pos x="T0" y="T1"/>
                    </a:cxn>
                    <a:cxn ang="T7">
                      <a:pos x="T2" y="T3"/>
                    </a:cxn>
                    <a:cxn ang="T8">
                      <a:pos x="T4" y="T5"/>
                    </a:cxn>
                  </a:cxnLst>
                  <a:rect l="T9" t="T10" r="T11" b="T12"/>
                  <a:pathLst>
                    <a:path w="21600" h="42891" fill="none" extrusionOk="0">
                      <a:moveTo>
                        <a:pt x="853" y="-1"/>
                      </a:moveTo>
                      <a:cubicBezTo>
                        <a:pt x="12441" y="457"/>
                        <a:pt x="21600" y="9985"/>
                        <a:pt x="21600" y="21583"/>
                      </a:cubicBezTo>
                      <a:cubicBezTo>
                        <a:pt x="21600" y="32147"/>
                        <a:pt x="13958" y="41161"/>
                        <a:pt x="3537" y="42891"/>
                      </a:cubicBezTo>
                    </a:path>
                    <a:path w="21600" h="42891" stroke="0" extrusionOk="0">
                      <a:moveTo>
                        <a:pt x="853" y="-1"/>
                      </a:moveTo>
                      <a:cubicBezTo>
                        <a:pt x="12441" y="457"/>
                        <a:pt x="21600" y="9985"/>
                        <a:pt x="21600" y="21583"/>
                      </a:cubicBezTo>
                      <a:cubicBezTo>
                        <a:pt x="21600" y="32147"/>
                        <a:pt x="13958" y="41161"/>
                        <a:pt x="3537" y="42891"/>
                      </a:cubicBezTo>
                      <a:lnTo>
                        <a:pt x="0" y="21583"/>
                      </a:lnTo>
                      <a:lnTo>
                        <a:pt x="853" y="-1"/>
                      </a:lnTo>
                      <a:close/>
                    </a:path>
                  </a:pathLst>
                </a:custGeom>
                <a:noFill/>
                <a:ln w="38100">
                  <a:solidFill>
                    <a:srgbClr val="FF9900"/>
                  </a:solidFill>
                  <a:round/>
                  <a:headEnd/>
                  <a:tailEnd type="none" w="med" len="lg"/>
                </a:ln>
              </p:spPr>
              <p:txBody>
                <a:bodyPr wrap="none" anchor="ctr"/>
                <a:lstStyle/>
                <a:p>
                  <a:endParaRPr lang="zh-CN" altLang="en-US"/>
                </a:p>
              </p:txBody>
            </p:sp>
            <p:sp>
              <p:nvSpPr>
                <p:cNvPr id="42022" name="Arc 30"/>
                <p:cNvSpPr>
                  <a:spLocks/>
                </p:cNvSpPr>
                <p:nvPr/>
              </p:nvSpPr>
              <p:spPr bwMode="auto">
                <a:xfrm rot="-136350">
                  <a:off x="4937" y="1493"/>
                  <a:ext cx="138" cy="1158"/>
                </a:xfrm>
                <a:custGeom>
                  <a:avLst/>
                  <a:gdLst>
                    <a:gd name="T0" fmla="*/ 0 w 21600"/>
                    <a:gd name="T1" fmla="*/ 0 h 42891"/>
                    <a:gd name="T2" fmla="*/ 0 w 21600"/>
                    <a:gd name="T3" fmla="*/ 0 h 42891"/>
                    <a:gd name="T4" fmla="*/ 0 w 21600"/>
                    <a:gd name="T5" fmla="*/ 0 h 42891"/>
                    <a:gd name="T6" fmla="*/ 0 60000 65536"/>
                    <a:gd name="T7" fmla="*/ 0 60000 65536"/>
                    <a:gd name="T8" fmla="*/ 0 60000 65536"/>
                    <a:gd name="T9" fmla="*/ 0 w 21600"/>
                    <a:gd name="T10" fmla="*/ 0 h 42891"/>
                    <a:gd name="T11" fmla="*/ 21600 w 21600"/>
                    <a:gd name="T12" fmla="*/ 42891 h 42891"/>
                  </a:gdLst>
                  <a:ahLst/>
                  <a:cxnLst>
                    <a:cxn ang="T6">
                      <a:pos x="T0" y="T1"/>
                    </a:cxn>
                    <a:cxn ang="T7">
                      <a:pos x="T2" y="T3"/>
                    </a:cxn>
                    <a:cxn ang="T8">
                      <a:pos x="T4" y="T5"/>
                    </a:cxn>
                  </a:cxnLst>
                  <a:rect l="T9" t="T10" r="T11" b="T12"/>
                  <a:pathLst>
                    <a:path w="21600" h="42891" fill="none" extrusionOk="0">
                      <a:moveTo>
                        <a:pt x="853" y="-1"/>
                      </a:moveTo>
                      <a:cubicBezTo>
                        <a:pt x="12441" y="457"/>
                        <a:pt x="21600" y="9985"/>
                        <a:pt x="21600" y="21583"/>
                      </a:cubicBezTo>
                      <a:cubicBezTo>
                        <a:pt x="21600" y="32147"/>
                        <a:pt x="13958" y="41161"/>
                        <a:pt x="3537" y="42891"/>
                      </a:cubicBezTo>
                    </a:path>
                    <a:path w="21600" h="42891" stroke="0" extrusionOk="0">
                      <a:moveTo>
                        <a:pt x="853" y="-1"/>
                      </a:moveTo>
                      <a:cubicBezTo>
                        <a:pt x="12441" y="457"/>
                        <a:pt x="21600" y="9985"/>
                        <a:pt x="21600" y="21583"/>
                      </a:cubicBezTo>
                      <a:cubicBezTo>
                        <a:pt x="21600" y="32147"/>
                        <a:pt x="13958" y="41161"/>
                        <a:pt x="3537" y="42891"/>
                      </a:cubicBezTo>
                      <a:lnTo>
                        <a:pt x="0" y="21583"/>
                      </a:lnTo>
                      <a:lnTo>
                        <a:pt x="853" y="-1"/>
                      </a:lnTo>
                      <a:close/>
                    </a:path>
                  </a:pathLst>
                </a:custGeom>
                <a:noFill/>
                <a:ln w="38100">
                  <a:solidFill>
                    <a:srgbClr val="FF9900"/>
                  </a:solidFill>
                  <a:round/>
                  <a:headEnd/>
                  <a:tailEnd type="none" w="med" len="lg"/>
                </a:ln>
              </p:spPr>
              <p:txBody>
                <a:bodyPr wrap="none" anchor="ctr"/>
                <a:lstStyle/>
                <a:p>
                  <a:endParaRPr lang="zh-CN" altLang="en-US"/>
                </a:p>
              </p:txBody>
            </p:sp>
            <p:sp>
              <p:nvSpPr>
                <p:cNvPr id="42023" name="Arc 31"/>
                <p:cNvSpPr>
                  <a:spLocks/>
                </p:cNvSpPr>
                <p:nvPr/>
              </p:nvSpPr>
              <p:spPr bwMode="auto">
                <a:xfrm rot="-136350">
                  <a:off x="5176" y="1485"/>
                  <a:ext cx="139" cy="642"/>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rgbClr val="FF9933"/>
                  </a:solidFill>
                  <a:round/>
                  <a:headEnd/>
                  <a:tailEnd type="none" w="med" len="lg"/>
                </a:ln>
              </p:spPr>
              <p:txBody>
                <a:bodyPr wrap="none" anchor="ctr"/>
                <a:lstStyle/>
                <a:p>
                  <a:endParaRPr lang="zh-CN" altLang="en-US"/>
                </a:p>
              </p:txBody>
            </p:sp>
            <p:sp>
              <p:nvSpPr>
                <p:cNvPr id="42024" name="Line 32"/>
                <p:cNvSpPr>
                  <a:spLocks noChangeShapeType="1"/>
                </p:cNvSpPr>
                <p:nvPr/>
              </p:nvSpPr>
              <p:spPr bwMode="auto">
                <a:xfrm>
                  <a:off x="4032" y="2208"/>
                  <a:ext cx="0" cy="912"/>
                </a:xfrm>
                <a:prstGeom prst="line">
                  <a:avLst/>
                </a:prstGeom>
                <a:noFill/>
                <a:ln w="19050">
                  <a:solidFill>
                    <a:srgbClr val="FF9933"/>
                  </a:solidFill>
                  <a:round/>
                  <a:headEnd/>
                  <a:tailEnd type="none" w="med" len="lg"/>
                </a:ln>
              </p:spPr>
              <p:txBody>
                <a:bodyPr wrap="none" anchor="ctr"/>
                <a:lstStyle/>
                <a:p>
                  <a:endParaRPr lang="zh-CN" altLang="en-US"/>
                </a:p>
              </p:txBody>
            </p:sp>
            <p:sp>
              <p:nvSpPr>
                <p:cNvPr id="42025" name="Line 33"/>
                <p:cNvSpPr>
                  <a:spLocks noChangeShapeType="1"/>
                </p:cNvSpPr>
                <p:nvPr/>
              </p:nvSpPr>
              <p:spPr bwMode="auto">
                <a:xfrm>
                  <a:off x="5328" y="2112"/>
                  <a:ext cx="0" cy="960"/>
                </a:xfrm>
                <a:prstGeom prst="line">
                  <a:avLst/>
                </a:prstGeom>
                <a:noFill/>
                <a:ln w="19050">
                  <a:solidFill>
                    <a:srgbClr val="FF9933"/>
                  </a:solidFill>
                  <a:round/>
                  <a:headEnd/>
                  <a:tailEnd type="none" w="med" len="lg"/>
                </a:ln>
              </p:spPr>
              <p:txBody>
                <a:bodyPr wrap="none" anchor="ctr"/>
                <a:lstStyle/>
                <a:p>
                  <a:endParaRPr lang="zh-CN" altLang="en-US"/>
                </a:p>
              </p:txBody>
            </p:sp>
            <p:sp>
              <p:nvSpPr>
                <p:cNvPr id="42026" name="Oval 34"/>
                <p:cNvSpPr>
                  <a:spLocks noChangeArrowheads="1"/>
                </p:cNvSpPr>
                <p:nvPr/>
              </p:nvSpPr>
              <p:spPr bwMode="auto">
                <a:xfrm>
                  <a:off x="3984" y="3120"/>
                  <a:ext cx="96" cy="96"/>
                </a:xfrm>
                <a:prstGeom prst="ellipse">
                  <a:avLst/>
                </a:prstGeom>
                <a:noFill/>
                <a:ln w="19050">
                  <a:solidFill>
                    <a:schemeClr val="tx1"/>
                  </a:solidFill>
                  <a:round/>
                  <a:headEnd/>
                  <a:tailEnd type="none" w="med" len="lg"/>
                </a:ln>
              </p:spPr>
              <p:txBody>
                <a:bodyPr wrap="none" anchor="ctr"/>
                <a:lstStyle/>
                <a:p>
                  <a:endParaRPr lang="zh-CN" altLang="en-US"/>
                </a:p>
              </p:txBody>
            </p:sp>
            <p:sp>
              <p:nvSpPr>
                <p:cNvPr id="42027" name="Oval 35"/>
                <p:cNvSpPr>
                  <a:spLocks noChangeArrowheads="1"/>
                </p:cNvSpPr>
                <p:nvPr/>
              </p:nvSpPr>
              <p:spPr bwMode="auto">
                <a:xfrm>
                  <a:off x="5280" y="3072"/>
                  <a:ext cx="96" cy="96"/>
                </a:xfrm>
                <a:prstGeom prst="ellipse">
                  <a:avLst/>
                </a:prstGeom>
                <a:noFill/>
                <a:ln w="19050">
                  <a:solidFill>
                    <a:schemeClr val="tx1"/>
                  </a:solidFill>
                  <a:round/>
                  <a:headEnd/>
                  <a:tailEnd type="none" w="med" len="lg"/>
                </a:ln>
              </p:spPr>
              <p:txBody>
                <a:bodyPr wrap="none" anchor="ctr"/>
                <a:lstStyle/>
                <a:p>
                  <a:endParaRPr lang="zh-CN" altLang="en-US"/>
                </a:p>
              </p:txBody>
            </p:sp>
          </p:grpSp>
          <p:sp>
            <p:nvSpPr>
              <p:cNvPr id="42004" name="Text Box 36"/>
              <p:cNvSpPr txBox="1">
                <a:spLocks noChangeArrowheads="1"/>
              </p:cNvSpPr>
              <p:nvPr/>
            </p:nvSpPr>
            <p:spPr bwMode="auto">
              <a:xfrm>
                <a:off x="4176" y="2689"/>
                <a:ext cx="1057" cy="472"/>
              </a:xfrm>
              <a:prstGeom prst="rect">
                <a:avLst/>
              </a:prstGeom>
              <a:noFill/>
              <a:ln w="19050">
                <a:noFill/>
                <a:miter lim="800000"/>
                <a:headEnd/>
                <a:tailEnd type="none" w="med" len="lg"/>
              </a:ln>
            </p:spPr>
            <p:txBody>
              <a:bodyPr>
                <a:spAutoFit/>
              </a:bodyPr>
              <a:lstStyle/>
              <a:p>
                <a:pPr algn="l">
                  <a:spcBef>
                    <a:spcPct val="50000"/>
                  </a:spcBef>
                </a:pPr>
                <a:r>
                  <a:rPr kumimoji="1" lang="zh-CN" altLang="en-US" b="1">
                    <a:latin typeface="Times New Roman" pitchFamily="18" charset="0"/>
                    <a:ea typeface="楷体_GB2312" pitchFamily="49" charset="-122"/>
                  </a:rPr>
                  <a:t>显像管</a:t>
                </a:r>
              </a:p>
            </p:txBody>
          </p:sp>
          <p:sp>
            <p:nvSpPr>
              <p:cNvPr id="42005" name="Freeform 37"/>
              <p:cNvSpPr>
                <a:spLocks/>
              </p:cNvSpPr>
              <p:nvPr/>
            </p:nvSpPr>
            <p:spPr bwMode="auto">
              <a:xfrm>
                <a:off x="4560" y="3216"/>
                <a:ext cx="192" cy="96"/>
              </a:xfrm>
              <a:custGeom>
                <a:avLst/>
                <a:gdLst>
                  <a:gd name="T0" fmla="*/ 0 w 192"/>
                  <a:gd name="T1" fmla="*/ 48 h 96"/>
                  <a:gd name="T2" fmla="*/ 48 w 192"/>
                  <a:gd name="T3" fmla="*/ 0 h 96"/>
                  <a:gd name="T4" fmla="*/ 96 w 192"/>
                  <a:gd name="T5" fmla="*/ 48 h 96"/>
                  <a:gd name="T6" fmla="*/ 144 w 192"/>
                  <a:gd name="T7" fmla="*/ 96 h 96"/>
                  <a:gd name="T8" fmla="*/ 192 w 192"/>
                  <a:gd name="T9" fmla="*/ 48 h 96"/>
                  <a:gd name="T10" fmla="*/ 0 60000 65536"/>
                  <a:gd name="T11" fmla="*/ 0 60000 65536"/>
                  <a:gd name="T12" fmla="*/ 0 60000 65536"/>
                  <a:gd name="T13" fmla="*/ 0 60000 65536"/>
                  <a:gd name="T14" fmla="*/ 0 60000 65536"/>
                  <a:gd name="T15" fmla="*/ 0 w 192"/>
                  <a:gd name="T16" fmla="*/ 0 h 96"/>
                  <a:gd name="T17" fmla="*/ 192 w 192"/>
                  <a:gd name="T18" fmla="*/ 96 h 96"/>
                </a:gdLst>
                <a:ahLst/>
                <a:cxnLst>
                  <a:cxn ang="T10">
                    <a:pos x="T0" y="T1"/>
                  </a:cxn>
                  <a:cxn ang="T11">
                    <a:pos x="T2" y="T3"/>
                  </a:cxn>
                  <a:cxn ang="T12">
                    <a:pos x="T4" y="T5"/>
                  </a:cxn>
                  <a:cxn ang="T13">
                    <a:pos x="T6" y="T7"/>
                  </a:cxn>
                  <a:cxn ang="T14">
                    <a:pos x="T8" y="T9"/>
                  </a:cxn>
                </a:cxnLst>
                <a:rect l="T15" t="T16" r="T17" b="T18"/>
                <a:pathLst>
                  <a:path w="192" h="96">
                    <a:moveTo>
                      <a:pt x="0" y="48"/>
                    </a:moveTo>
                    <a:cubicBezTo>
                      <a:pt x="16" y="24"/>
                      <a:pt x="32" y="0"/>
                      <a:pt x="48" y="0"/>
                    </a:cubicBezTo>
                    <a:cubicBezTo>
                      <a:pt x="64" y="0"/>
                      <a:pt x="80" y="32"/>
                      <a:pt x="96" y="48"/>
                    </a:cubicBezTo>
                    <a:cubicBezTo>
                      <a:pt x="112" y="64"/>
                      <a:pt x="128" y="96"/>
                      <a:pt x="144" y="96"/>
                    </a:cubicBezTo>
                    <a:cubicBezTo>
                      <a:pt x="160" y="96"/>
                      <a:pt x="176" y="72"/>
                      <a:pt x="192" y="48"/>
                    </a:cubicBezTo>
                  </a:path>
                </a:pathLst>
              </a:custGeom>
              <a:noFill/>
              <a:ln w="19050">
                <a:solidFill>
                  <a:srgbClr val="FF3300"/>
                </a:solidFill>
                <a:round/>
                <a:headEnd/>
                <a:tailEnd type="none" w="med" len="lg"/>
              </a:ln>
            </p:spPr>
            <p:txBody>
              <a:bodyPr wrap="none" anchor="ctr"/>
              <a:lstStyle/>
              <a:p>
                <a:endParaRPr lang="zh-CN" altLang="en-US"/>
              </a:p>
            </p:txBody>
          </p:sp>
        </p:grpSp>
      </p:grpSp>
      <p:sp>
        <p:nvSpPr>
          <p:cNvPr id="52262" name="Rectangle 38"/>
          <p:cNvSpPr>
            <a:spLocks noChangeArrowheads="1"/>
          </p:cNvSpPr>
          <p:nvPr/>
        </p:nvSpPr>
        <p:spPr bwMode="auto">
          <a:xfrm>
            <a:off x="250825" y="1041400"/>
            <a:ext cx="6569075" cy="2308225"/>
          </a:xfrm>
          <a:prstGeom prst="rect">
            <a:avLst/>
          </a:prstGeom>
          <a:noFill/>
          <a:ln w="9525">
            <a:noFill/>
            <a:miter lim="800000"/>
            <a:headEnd/>
            <a:tailEnd/>
          </a:ln>
        </p:spPr>
        <p:txBody>
          <a:bodyPr>
            <a:spAutoFit/>
          </a:bodyPr>
          <a:lstStyle/>
          <a:p>
            <a:pPr algn="l">
              <a:lnSpc>
                <a:spcPct val="120000"/>
              </a:lnSpc>
              <a:spcBef>
                <a:spcPct val="50000"/>
              </a:spcBef>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在制造电子管、显像管或激光管时，在做好后要抽气封口，但管子里金属电极上吸附的气体不易很快放出，必须加热到高温才能放出而被抽走</a:t>
            </a:r>
            <a:r>
              <a:rPr kumimoji="1" lang="en-US" altLang="zh-CN" sz="2400" b="1">
                <a:latin typeface="楷体_GB2312" pitchFamily="49" charset="-122"/>
                <a:ea typeface="楷体_GB2312" pitchFamily="49" charset="-122"/>
              </a:rPr>
              <a:t>,</a:t>
            </a:r>
            <a:r>
              <a:rPr kumimoji="1" lang="zh-CN" altLang="zh-CN" sz="2400" b="1">
                <a:latin typeface="楷体_GB2312" pitchFamily="49" charset="-122"/>
                <a:ea typeface="楷体_GB2312" pitchFamily="49" charset="-122"/>
              </a:rPr>
              <a:t>利用涡电流加热的方法，一边加热，一边抽气，然后封口。</a:t>
            </a:r>
            <a:endParaRPr kumimoji="1" lang="zh-CN" altLang="en-US" sz="2400" b="1">
              <a:latin typeface="楷体_GB2312" pitchFamily="49" charset="-122"/>
              <a:ea typeface="楷体_GB2312" pitchFamily="49" charset="-122"/>
            </a:endParaRPr>
          </a:p>
        </p:txBody>
      </p:sp>
      <p:sp>
        <p:nvSpPr>
          <p:cNvPr id="52263" name="Rectangle 39"/>
          <p:cNvSpPr>
            <a:spLocks noChangeArrowheads="1"/>
          </p:cNvSpPr>
          <p:nvPr/>
        </p:nvSpPr>
        <p:spPr bwMode="auto">
          <a:xfrm>
            <a:off x="107950" y="3259138"/>
            <a:ext cx="2303463" cy="534987"/>
          </a:xfrm>
          <a:prstGeom prst="rect">
            <a:avLst/>
          </a:prstGeom>
          <a:noFill/>
          <a:ln w="9525">
            <a:noFill/>
            <a:miter lim="800000"/>
            <a:headEnd/>
            <a:tailEnd/>
          </a:ln>
        </p:spPr>
        <p:txBody>
          <a:bodyPr>
            <a:spAutoFit/>
          </a:bodyPr>
          <a:lstStyle/>
          <a:p>
            <a:pPr algn="l" eaLnBrk="0" hangingPunct="0">
              <a:lnSpc>
                <a:spcPct val="120000"/>
              </a:lnSpc>
            </a:pPr>
            <a:r>
              <a:rPr lang="zh-CN" altLang="en-US" sz="2400" b="1">
                <a:solidFill>
                  <a:srgbClr val="FF0000"/>
                </a:solidFill>
                <a:latin typeface="宋体" pitchFamily="2" charset="-122"/>
              </a:rPr>
              <a:t>涡电流的防止</a:t>
            </a:r>
          </a:p>
        </p:txBody>
      </p:sp>
      <p:sp>
        <p:nvSpPr>
          <p:cNvPr id="52264" name="Rectangle 40"/>
          <p:cNvSpPr>
            <a:spLocks noChangeArrowheads="1"/>
          </p:cNvSpPr>
          <p:nvPr/>
        </p:nvSpPr>
        <p:spPr bwMode="auto">
          <a:xfrm>
            <a:off x="755650" y="3794125"/>
            <a:ext cx="5443538" cy="536575"/>
          </a:xfrm>
          <a:prstGeom prst="rect">
            <a:avLst/>
          </a:prstGeom>
          <a:noFill/>
          <a:ln w="9525">
            <a:noFill/>
            <a:miter lim="800000"/>
            <a:headEnd/>
            <a:tailEnd/>
          </a:ln>
        </p:spPr>
        <p:txBody>
          <a:bodyPr wrap="none">
            <a:spAutoFit/>
          </a:bodyPr>
          <a:lstStyle/>
          <a:p>
            <a:pPr algn="l" eaLnBrk="0" hangingPunct="0">
              <a:lnSpc>
                <a:spcPct val="120000"/>
              </a:lnSpc>
            </a:pPr>
            <a:r>
              <a:rPr lang="zh-CN" altLang="en-US" sz="2400" b="1">
                <a:latin typeface="楷体_GB2312" pitchFamily="49" charset="-122"/>
                <a:ea typeface="楷体_GB2312" pitchFamily="49" charset="-122"/>
              </a:rPr>
              <a:t>涡电流的弊端是</a:t>
            </a:r>
            <a:r>
              <a:rPr lang="zh-CN" altLang="en-US" sz="2400" b="1">
                <a:solidFill>
                  <a:srgbClr val="FF6600"/>
                </a:solidFill>
                <a:latin typeface="楷体_GB2312" pitchFamily="49" charset="-122"/>
                <a:ea typeface="楷体_GB2312" pitchFamily="49" charset="-122"/>
              </a:rPr>
              <a:t>消耗能量</a:t>
            </a:r>
            <a:r>
              <a:rPr lang="zh-CN" altLang="en-US" sz="2400" b="1">
                <a:latin typeface="楷体_GB2312" pitchFamily="49" charset="-122"/>
                <a:ea typeface="楷体_GB2312" pitchFamily="49" charset="-122"/>
              </a:rPr>
              <a:t>，</a:t>
            </a:r>
            <a:r>
              <a:rPr lang="zh-CN" altLang="en-US" sz="2400" b="1">
                <a:solidFill>
                  <a:srgbClr val="FF6600"/>
                </a:solidFill>
                <a:latin typeface="楷体_GB2312" pitchFamily="49" charset="-122"/>
                <a:ea typeface="楷体_GB2312" pitchFamily="49" charset="-122"/>
              </a:rPr>
              <a:t>发散热量</a:t>
            </a:r>
            <a:r>
              <a:rPr lang="zh-CN" altLang="en-US" sz="2400" b="1">
                <a:latin typeface="楷体_GB2312" pitchFamily="49" charset="-122"/>
                <a:ea typeface="楷体_GB2312" pitchFamily="49" charset="-122"/>
              </a:rPr>
              <a:t>。</a:t>
            </a:r>
          </a:p>
        </p:txBody>
      </p:sp>
      <p:sp>
        <p:nvSpPr>
          <p:cNvPr id="52265" name="Text Box 41"/>
          <p:cNvSpPr txBox="1">
            <a:spLocks noChangeArrowheads="1"/>
          </p:cNvSpPr>
          <p:nvPr/>
        </p:nvSpPr>
        <p:spPr bwMode="auto">
          <a:xfrm>
            <a:off x="136525" y="4373563"/>
            <a:ext cx="6683375" cy="979487"/>
          </a:xfrm>
          <a:prstGeom prst="rect">
            <a:avLst/>
          </a:prstGeom>
          <a:noFill/>
          <a:ln w="9525">
            <a:noFill/>
            <a:miter lim="800000"/>
            <a:headEnd/>
            <a:tailEnd/>
          </a:ln>
        </p:spPr>
        <p:txBody>
          <a:bodyPr>
            <a:spAutoFit/>
          </a:bodyPr>
          <a:lstStyle/>
          <a:p>
            <a:pPr algn="l" eaLnBrk="0" hangingPunct="0">
              <a:lnSpc>
                <a:spcPct val="120000"/>
              </a:lnSpc>
            </a:pPr>
            <a:r>
              <a:rPr lang="zh-CN" altLang="en-US" sz="2400" b="1">
                <a:solidFill>
                  <a:srgbClr val="FF0000"/>
                </a:solidFill>
                <a:latin typeface="楷体_GB2312" pitchFamily="49" charset="-122"/>
                <a:ea typeface="楷体_GB2312" pitchFamily="49" charset="-122"/>
              </a:rPr>
              <a:t>例如：</a:t>
            </a:r>
            <a:r>
              <a:rPr lang="zh-CN" altLang="en-US" sz="2400" b="1">
                <a:latin typeface="楷体_GB2312" pitchFamily="49" charset="-122"/>
                <a:ea typeface="楷体_GB2312" pitchFamily="49" charset="-122"/>
              </a:rPr>
              <a:t>在各种电机，变压器中。就必须尽量减少铁芯中的涡流，以免过热而烧毁电气设备。          </a:t>
            </a:r>
          </a:p>
        </p:txBody>
      </p:sp>
      <p:sp>
        <p:nvSpPr>
          <p:cNvPr id="52266" name="Rectangle 42"/>
          <p:cNvSpPr>
            <a:spLocks noChangeArrowheads="1"/>
          </p:cNvSpPr>
          <p:nvPr/>
        </p:nvSpPr>
        <p:spPr bwMode="auto">
          <a:xfrm>
            <a:off x="236538" y="5554663"/>
            <a:ext cx="8137525" cy="977900"/>
          </a:xfrm>
          <a:prstGeom prst="rect">
            <a:avLst/>
          </a:prstGeom>
          <a:noFill/>
          <a:ln w="9525">
            <a:noFill/>
            <a:miter lim="800000"/>
            <a:headEnd/>
            <a:tailEnd/>
          </a:ln>
        </p:spPr>
        <p:txBody>
          <a:bodyPr>
            <a:spAutoFit/>
          </a:bodyPr>
          <a:lstStyle/>
          <a:p>
            <a:pPr algn="l">
              <a:lnSpc>
                <a:spcPct val="120000"/>
              </a:lnSpc>
              <a:spcBef>
                <a:spcPct val="50000"/>
              </a:spcBef>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因此，在制作变压器铁心时，用多片硅钢片叠合而成，使导体横截面减小，涡电流也较小。</a:t>
            </a:r>
          </a:p>
        </p:txBody>
      </p:sp>
      <p:grpSp>
        <p:nvGrpSpPr>
          <p:cNvPr id="6" name="Group 43"/>
          <p:cNvGrpSpPr>
            <a:grpSpLocks/>
          </p:cNvGrpSpPr>
          <p:nvPr/>
        </p:nvGrpSpPr>
        <p:grpSpPr bwMode="auto">
          <a:xfrm>
            <a:off x="6965950" y="3716338"/>
            <a:ext cx="1771650" cy="1751012"/>
            <a:chOff x="3648" y="2544"/>
            <a:chExt cx="1824" cy="1440"/>
          </a:xfrm>
        </p:grpSpPr>
        <p:sp>
          <p:nvSpPr>
            <p:cNvPr id="41995" name="Freeform 44"/>
            <p:cNvSpPr>
              <a:spLocks/>
            </p:cNvSpPr>
            <p:nvPr/>
          </p:nvSpPr>
          <p:spPr bwMode="auto">
            <a:xfrm>
              <a:off x="3648" y="2544"/>
              <a:ext cx="1584" cy="1152"/>
            </a:xfrm>
            <a:custGeom>
              <a:avLst/>
              <a:gdLst>
                <a:gd name="T0" fmla="*/ 0 w 1584"/>
                <a:gd name="T1" fmla="*/ 1152 h 1152"/>
                <a:gd name="T2" fmla="*/ 0 w 1584"/>
                <a:gd name="T3" fmla="*/ 0 h 1152"/>
                <a:gd name="T4" fmla="*/ 1584 w 1584"/>
                <a:gd name="T5" fmla="*/ 0 h 1152"/>
                <a:gd name="T6" fmla="*/ 1584 w 1584"/>
                <a:gd name="T7" fmla="*/ 1152 h 1152"/>
                <a:gd name="T8" fmla="*/ 1392 w 1584"/>
                <a:gd name="T9" fmla="*/ 1152 h 1152"/>
                <a:gd name="T10" fmla="*/ 1392 w 1584"/>
                <a:gd name="T11" fmla="*/ 240 h 1152"/>
                <a:gd name="T12" fmla="*/ 912 w 1584"/>
                <a:gd name="T13" fmla="*/ 240 h 1152"/>
                <a:gd name="T14" fmla="*/ 912 w 1584"/>
                <a:gd name="T15" fmla="*/ 1152 h 1152"/>
                <a:gd name="T16" fmla="*/ 672 w 1584"/>
                <a:gd name="T17" fmla="*/ 1152 h 1152"/>
                <a:gd name="T18" fmla="*/ 672 w 1584"/>
                <a:gd name="T19" fmla="*/ 240 h 1152"/>
                <a:gd name="T20" fmla="*/ 192 w 1584"/>
                <a:gd name="T21" fmla="*/ 240 h 1152"/>
                <a:gd name="T22" fmla="*/ 192 w 1584"/>
                <a:gd name="T23" fmla="*/ 1152 h 1152"/>
                <a:gd name="T24" fmla="*/ 0 w 1584"/>
                <a:gd name="T25" fmla="*/ 1152 h 115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584"/>
                <a:gd name="T40" fmla="*/ 0 h 1152"/>
                <a:gd name="T41" fmla="*/ 1584 w 1584"/>
                <a:gd name="T42" fmla="*/ 1152 h 115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584" h="1152">
                  <a:moveTo>
                    <a:pt x="0" y="1152"/>
                  </a:moveTo>
                  <a:lnTo>
                    <a:pt x="0" y="0"/>
                  </a:lnTo>
                  <a:lnTo>
                    <a:pt x="1584" y="0"/>
                  </a:lnTo>
                  <a:lnTo>
                    <a:pt x="1584" y="1152"/>
                  </a:lnTo>
                  <a:lnTo>
                    <a:pt x="1392" y="1152"/>
                  </a:lnTo>
                  <a:lnTo>
                    <a:pt x="1392" y="240"/>
                  </a:lnTo>
                  <a:lnTo>
                    <a:pt x="912" y="240"/>
                  </a:lnTo>
                  <a:lnTo>
                    <a:pt x="912" y="1152"/>
                  </a:lnTo>
                  <a:lnTo>
                    <a:pt x="672" y="1152"/>
                  </a:lnTo>
                  <a:lnTo>
                    <a:pt x="672" y="240"/>
                  </a:lnTo>
                  <a:lnTo>
                    <a:pt x="192" y="240"/>
                  </a:lnTo>
                  <a:lnTo>
                    <a:pt x="192" y="1152"/>
                  </a:lnTo>
                  <a:lnTo>
                    <a:pt x="0" y="1152"/>
                  </a:lnTo>
                  <a:close/>
                </a:path>
              </a:pathLst>
            </a:custGeom>
            <a:solidFill>
              <a:schemeClr val="bg2"/>
            </a:solidFill>
            <a:ln w="12700">
              <a:solidFill>
                <a:schemeClr val="tx1"/>
              </a:solidFill>
              <a:round/>
              <a:headEnd/>
              <a:tailEnd type="none" w="med" len="lg"/>
            </a:ln>
          </p:spPr>
          <p:txBody>
            <a:bodyPr wrap="none" anchor="ctr"/>
            <a:lstStyle/>
            <a:p>
              <a:endParaRPr lang="zh-CN" altLang="en-US"/>
            </a:p>
          </p:txBody>
        </p:sp>
        <p:sp>
          <p:nvSpPr>
            <p:cNvPr id="41996" name="Rectangle 45"/>
            <p:cNvSpPr>
              <a:spLocks noChangeArrowheads="1"/>
            </p:cNvSpPr>
            <p:nvPr/>
          </p:nvSpPr>
          <p:spPr bwMode="auto">
            <a:xfrm>
              <a:off x="3648" y="3792"/>
              <a:ext cx="1584" cy="192"/>
            </a:xfrm>
            <a:prstGeom prst="rect">
              <a:avLst/>
            </a:prstGeom>
            <a:solidFill>
              <a:schemeClr val="bg2"/>
            </a:solidFill>
            <a:ln w="12700">
              <a:solidFill>
                <a:schemeClr val="tx1"/>
              </a:solidFill>
              <a:miter lim="800000"/>
              <a:headEnd/>
              <a:tailEnd type="none" w="med" len="lg"/>
            </a:ln>
          </p:spPr>
          <p:txBody>
            <a:bodyPr wrap="none" anchor="ctr"/>
            <a:lstStyle/>
            <a:p>
              <a:endParaRPr lang="zh-CN" altLang="en-US"/>
            </a:p>
          </p:txBody>
        </p:sp>
        <p:sp>
          <p:nvSpPr>
            <p:cNvPr id="41997" name="Rectangle 46"/>
            <p:cNvSpPr>
              <a:spLocks noChangeArrowheads="1"/>
            </p:cNvSpPr>
            <p:nvPr/>
          </p:nvSpPr>
          <p:spPr bwMode="auto">
            <a:xfrm>
              <a:off x="5424" y="2544"/>
              <a:ext cx="48" cy="1152"/>
            </a:xfrm>
            <a:prstGeom prst="rect">
              <a:avLst/>
            </a:prstGeom>
            <a:solidFill>
              <a:schemeClr val="bg2"/>
            </a:solidFill>
            <a:ln w="12700">
              <a:solidFill>
                <a:schemeClr val="tx1"/>
              </a:solidFill>
              <a:miter lim="800000"/>
              <a:headEnd/>
              <a:tailEnd type="none" w="med" len="lg"/>
            </a:ln>
          </p:spPr>
          <p:txBody>
            <a:bodyPr wrap="none" anchor="ctr"/>
            <a:lstStyle/>
            <a:p>
              <a:endParaRPr lang="zh-CN" altLang="en-US"/>
            </a:p>
          </p:txBody>
        </p:sp>
        <p:sp>
          <p:nvSpPr>
            <p:cNvPr id="41998" name="Rectangle 47"/>
            <p:cNvSpPr>
              <a:spLocks noChangeArrowheads="1"/>
            </p:cNvSpPr>
            <p:nvPr/>
          </p:nvSpPr>
          <p:spPr bwMode="auto">
            <a:xfrm>
              <a:off x="5424" y="3792"/>
              <a:ext cx="48" cy="192"/>
            </a:xfrm>
            <a:prstGeom prst="rect">
              <a:avLst/>
            </a:prstGeom>
            <a:solidFill>
              <a:schemeClr val="bg2"/>
            </a:solidFill>
            <a:ln w="12700">
              <a:solidFill>
                <a:schemeClr val="tx1"/>
              </a:solidFill>
              <a:miter lim="800000"/>
              <a:headEnd/>
              <a:tailEnd type="none" w="med" len="lg"/>
            </a:ln>
          </p:spPr>
          <p:txBody>
            <a:bodyPr wrap="none" anchor="ctr"/>
            <a:lstStyle/>
            <a:p>
              <a:endParaRPr lang="zh-CN" altLang="en-US"/>
            </a:p>
          </p:txBody>
        </p:sp>
      </p:grpSp>
      <p:sp>
        <p:nvSpPr>
          <p:cNvPr id="52272" name="AutoShape 48">
            <a:hlinkClick r:id="rId2" action="ppaction://hlinksldjump" highlightClick="1"/>
          </p:cNvPr>
          <p:cNvSpPr>
            <a:spLocks noChangeArrowheads="1"/>
          </p:cNvSpPr>
          <p:nvPr/>
        </p:nvSpPr>
        <p:spPr bwMode="auto">
          <a:xfrm>
            <a:off x="8677275" y="6202363"/>
            <a:ext cx="287338"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Effect transition="in" filter="checkerboard(across)">
                                      <p:cBhvr>
                                        <p:cTn id="7" dur="500"/>
                                        <p:tgtEl>
                                          <p:spTgt spid="5222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2262"/>
                                        </p:tgtEl>
                                        <p:attrNameLst>
                                          <p:attrName>style.visibility</p:attrName>
                                        </p:attrNameLst>
                                      </p:cBhvr>
                                      <p:to>
                                        <p:strVal val="visible"/>
                                      </p:to>
                                    </p:set>
                                    <p:animEffect transition="in" filter="checkerboard(across)">
                                      <p:cBhvr>
                                        <p:cTn id="12" dur="500"/>
                                        <p:tgtEl>
                                          <p:spTgt spid="522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52263"/>
                                        </p:tgtEl>
                                        <p:attrNameLst>
                                          <p:attrName>style.visibility</p:attrName>
                                        </p:attrNameLst>
                                      </p:cBhvr>
                                      <p:to>
                                        <p:strVal val="visible"/>
                                      </p:to>
                                    </p:set>
                                    <p:anim calcmode="lin" valueType="num">
                                      <p:cBhvr>
                                        <p:cTn id="22" dur="500" fill="hold"/>
                                        <p:tgtEl>
                                          <p:spTgt spid="52263"/>
                                        </p:tgtEl>
                                        <p:attrNameLst>
                                          <p:attrName>ppt_w</p:attrName>
                                        </p:attrNameLst>
                                      </p:cBhvr>
                                      <p:tavLst>
                                        <p:tav tm="0">
                                          <p:val>
                                            <p:fltVal val="0"/>
                                          </p:val>
                                        </p:tav>
                                        <p:tav tm="100000">
                                          <p:val>
                                            <p:strVal val="#ppt_w"/>
                                          </p:val>
                                        </p:tav>
                                      </p:tavLst>
                                    </p:anim>
                                    <p:anim calcmode="lin" valueType="num">
                                      <p:cBhvr>
                                        <p:cTn id="23" dur="500" fill="hold"/>
                                        <p:tgtEl>
                                          <p:spTgt spid="52263"/>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0" fill="hold" grpId="0" nodeType="clickEffect">
                                  <p:stCondLst>
                                    <p:cond delay="0"/>
                                  </p:stCondLst>
                                  <p:childTnLst>
                                    <p:set>
                                      <p:cBhvr>
                                        <p:cTn id="27" dur="1" fill="hold">
                                          <p:stCondLst>
                                            <p:cond delay="0"/>
                                          </p:stCondLst>
                                        </p:cTn>
                                        <p:tgtEl>
                                          <p:spTgt spid="52264"/>
                                        </p:tgtEl>
                                        <p:attrNameLst>
                                          <p:attrName>style.visibility</p:attrName>
                                        </p:attrNameLst>
                                      </p:cBhvr>
                                      <p:to>
                                        <p:strVal val="visible"/>
                                      </p:to>
                                    </p:set>
                                    <p:anim calcmode="lin" valueType="num">
                                      <p:cBhvr>
                                        <p:cTn id="28" dur="500" fill="hold"/>
                                        <p:tgtEl>
                                          <p:spTgt spid="52264"/>
                                        </p:tgtEl>
                                        <p:attrNameLst>
                                          <p:attrName>ppt_w</p:attrName>
                                        </p:attrNameLst>
                                      </p:cBhvr>
                                      <p:tavLst>
                                        <p:tav tm="0">
                                          <p:val>
                                            <p:fltVal val="0"/>
                                          </p:val>
                                        </p:tav>
                                        <p:tav tm="100000">
                                          <p:val>
                                            <p:strVal val="#ppt_w"/>
                                          </p:val>
                                        </p:tav>
                                      </p:tavLst>
                                    </p:anim>
                                    <p:anim calcmode="lin" valueType="num">
                                      <p:cBhvr>
                                        <p:cTn id="29" dur="500" fill="hold"/>
                                        <p:tgtEl>
                                          <p:spTgt spid="52264"/>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grpId="0" nodeType="clickEffect">
                                  <p:stCondLst>
                                    <p:cond delay="0"/>
                                  </p:stCondLst>
                                  <p:childTnLst>
                                    <p:set>
                                      <p:cBhvr>
                                        <p:cTn id="33" dur="1" fill="hold">
                                          <p:stCondLst>
                                            <p:cond delay="0"/>
                                          </p:stCondLst>
                                        </p:cTn>
                                        <p:tgtEl>
                                          <p:spTgt spid="52265"/>
                                        </p:tgtEl>
                                        <p:attrNameLst>
                                          <p:attrName>style.visibility</p:attrName>
                                        </p:attrNameLst>
                                      </p:cBhvr>
                                      <p:to>
                                        <p:strVal val="visible"/>
                                      </p:to>
                                    </p:set>
                                    <p:anim calcmode="lin" valueType="num">
                                      <p:cBhvr>
                                        <p:cTn id="34" dur="500" fill="hold"/>
                                        <p:tgtEl>
                                          <p:spTgt spid="52265"/>
                                        </p:tgtEl>
                                        <p:attrNameLst>
                                          <p:attrName>ppt_w</p:attrName>
                                        </p:attrNameLst>
                                      </p:cBhvr>
                                      <p:tavLst>
                                        <p:tav tm="0">
                                          <p:val>
                                            <p:fltVal val="0"/>
                                          </p:val>
                                        </p:tav>
                                        <p:tav tm="100000">
                                          <p:val>
                                            <p:strVal val="#ppt_w"/>
                                          </p:val>
                                        </p:tav>
                                      </p:tavLst>
                                    </p:anim>
                                    <p:anim calcmode="lin" valueType="num">
                                      <p:cBhvr>
                                        <p:cTn id="35" dur="500" fill="hold"/>
                                        <p:tgtEl>
                                          <p:spTgt spid="52265"/>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blinds(horizontal)">
                                      <p:cBhvr>
                                        <p:cTn id="40" dur="500"/>
                                        <p:tgtEl>
                                          <p:spTgt spid="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7" presetClass="entr" presetSubtype="10" fill="hold" grpId="0" nodeType="clickEffect">
                                  <p:stCondLst>
                                    <p:cond delay="0"/>
                                  </p:stCondLst>
                                  <p:childTnLst>
                                    <p:set>
                                      <p:cBhvr>
                                        <p:cTn id="44" dur="1" fill="hold">
                                          <p:stCondLst>
                                            <p:cond delay="0"/>
                                          </p:stCondLst>
                                        </p:cTn>
                                        <p:tgtEl>
                                          <p:spTgt spid="52266"/>
                                        </p:tgtEl>
                                        <p:attrNameLst>
                                          <p:attrName>style.visibility</p:attrName>
                                        </p:attrNameLst>
                                      </p:cBhvr>
                                      <p:to>
                                        <p:strVal val="visible"/>
                                      </p:to>
                                    </p:set>
                                    <p:anim calcmode="lin" valueType="num">
                                      <p:cBhvr>
                                        <p:cTn id="45" dur="500" fill="hold"/>
                                        <p:tgtEl>
                                          <p:spTgt spid="52266"/>
                                        </p:tgtEl>
                                        <p:attrNameLst>
                                          <p:attrName>ppt_w</p:attrName>
                                        </p:attrNameLst>
                                      </p:cBhvr>
                                      <p:tavLst>
                                        <p:tav tm="0">
                                          <p:val>
                                            <p:fltVal val="0"/>
                                          </p:val>
                                        </p:tav>
                                        <p:tav tm="100000">
                                          <p:val>
                                            <p:strVal val="#ppt_w"/>
                                          </p:val>
                                        </p:tav>
                                      </p:tavLst>
                                    </p:anim>
                                    <p:anim calcmode="lin" valueType="num">
                                      <p:cBhvr>
                                        <p:cTn id="46" dur="500" fill="hold"/>
                                        <p:tgtEl>
                                          <p:spTgt spid="52266"/>
                                        </p:tgtEl>
                                        <p:attrNameLst>
                                          <p:attrName>ppt_h</p:attrName>
                                        </p:attrNameLst>
                                      </p:cBhvr>
                                      <p:tavLst>
                                        <p:tav tm="0">
                                          <p:val>
                                            <p:strVal val="#ppt_h"/>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2272"/>
                                        </p:tgtEl>
                                        <p:attrNameLst>
                                          <p:attrName>style.visibility</p:attrName>
                                        </p:attrNameLst>
                                      </p:cBhvr>
                                      <p:to>
                                        <p:strVal val="visible"/>
                                      </p:to>
                                    </p:set>
                                    <p:animEffect transition="in" filter="wipe(left)">
                                      <p:cBhvr>
                                        <p:cTn id="51" dur="500"/>
                                        <p:tgtEl>
                                          <p:spTgt spid="52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utoUpdateAnimBg="0"/>
      <p:bldP spid="52262" grpId="0" autoUpdateAnimBg="0"/>
      <p:bldP spid="52263" grpId="0" autoUpdateAnimBg="0"/>
      <p:bldP spid="52264" grpId="0" autoUpdateAnimBg="0"/>
      <p:bldP spid="52265" grpId="0" autoUpdateAnimBg="0"/>
      <p:bldP spid="52266" grpId="0" autoUpdateAnimBg="0"/>
      <p:bldP spid="5227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9" name="Text Box 2">
            <a:hlinkClick r:id="rId3"/>
          </p:cNvPr>
          <p:cNvSpPr txBox="1">
            <a:spLocks noChangeArrowheads="1"/>
          </p:cNvSpPr>
          <p:nvPr/>
        </p:nvSpPr>
        <p:spPr bwMode="auto">
          <a:xfrm>
            <a:off x="2122488" y="447675"/>
            <a:ext cx="5113337" cy="519113"/>
          </a:xfrm>
          <a:prstGeom prst="rect">
            <a:avLst/>
          </a:prstGeom>
          <a:noFill/>
          <a:ln w="9525">
            <a:noFill/>
            <a:miter lim="800000"/>
            <a:headEnd/>
            <a:tailEnd/>
          </a:ln>
        </p:spPr>
        <p:txBody>
          <a:bodyPr>
            <a:spAutoFit/>
          </a:bodyPr>
          <a:lstStyle/>
          <a:p>
            <a:pPr algn="l">
              <a:spcBef>
                <a:spcPct val="50000"/>
              </a:spcBef>
            </a:pPr>
            <a:r>
              <a:rPr lang="en-US" altLang="zh-CN" sz="2800" b="1">
                <a:solidFill>
                  <a:schemeClr val="accent2"/>
                </a:solidFill>
                <a:latin typeface="Times New Roman" pitchFamily="18" charset="0"/>
              </a:rPr>
              <a:t>§11.3  </a:t>
            </a:r>
            <a:r>
              <a:rPr lang="zh-CN" altLang="en-US" sz="2800" b="1">
                <a:solidFill>
                  <a:schemeClr val="accent2"/>
                </a:solidFill>
                <a:latin typeface="黑体" pitchFamily="49" charset="-122"/>
                <a:ea typeface="黑体" pitchFamily="49" charset="-122"/>
              </a:rPr>
              <a:t>自感和互感</a:t>
            </a:r>
          </a:p>
        </p:txBody>
      </p:sp>
      <p:sp>
        <p:nvSpPr>
          <p:cNvPr id="74755" name="Text Box 3"/>
          <p:cNvSpPr txBox="1">
            <a:spLocks noChangeArrowheads="1"/>
          </p:cNvSpPr>
          <p:nvPr/>
        </p:nvSpPr>
        <p:spPr bwMode="auto">
          <a:xfrm>
            <a:off x="107950" y="954088"/>
            <a:ext cx="3095625" cy="530225"/>
          </a:xfrm>
          <a:prstGeom prst="rect">
            <a:avLst/>
          </a:prstGeom>
          <a:noFill/>
          <a:ln w="9525" algn="ctr">
            <a:noFill/>
            <a:miter lim="800000"/>
            <a:headEnd/>
            <a:tailEnd/>
          </a:ln>
        </p:spPr>
        <p:txBody>
          <a:bodyPr tIns="82800" bIns="82800">
            <a:spAutoFit/>
          </a:bodyPr>
          <a:lstStyle/>
          <a:p>
            <a:pPr algn="just" eaLnBrk="0" hangingPunct="0">
              <a:spcBef>
                <a:spcPct val="50000"/>
              </a:spcBef>
            </a:pPr>
            <a:r>
              <a:rPr kumimoji="1" lang="en-US" altLang="zh-CN" sz="2400" b="1">
                <a:solidFill>
                  <a:srgbClr val="0000FF"/>
                </a:solidFill>
                <a:latin typeface="Times New Roman" pitchFamily="18" charset="0"/>
              </a:rPr>
              <a:t>11.3.1  </a:t>
            </a:r>
            <a:r>
              <a:rPr kumimoji="1" lang="zh-CN" altLang="en-US" sz="2400" b="1">
                <a:solidFill>
                  <a:srgbClr val="0000FF"/>
                </a:solidFill>
                <a:latin typeface="Times New Roman" pitchFamily="18" charset="0"/>
              </a:rPr>
              <a:t>自感</a:t>
            </a:r>
          </a:p>
        </p:txBody>
      </p:sp>
      <p:sp>
        <p:nvSpPr>
          <p:cNvPr id="74756" name="Rectangle 4"/>
          <p:cNvSpPr>
            <a:spLocks noChangeArrowheads="1"/>
          </p:cNvSpPr>
          <p:nvPr/>
        </p:nvSpPr>
        <p:spPr bwMode="auto">
          <a:xfrm>
            <a:off x="179388" y="1412875"/>
            <a:ext cx="5976937" cy="1406525"/>
          </a:xfrm>
          <a:prstGeom prst="rect">
            <a:avLst/>
          </a:prstGeom>
          <a:noFill/>
          <a:ln w="9525">
            <a:noFill/>
            <a:miter lim="800000"/>
            <a:headEnd/>
            <a:tailEnd/>
          </a:ln>
        </p:spPr>
        <p:txBody>
          <a:bodyPr>
            <a:spAutoFit/>
          </a:bodyPr>
          <a:lstStyle/>
          <a:p>
            <a:pPr algn="l">
              <a:lnSpc>
                <a:spcPct val="120000"/>
              </a:lnSpc>
            </a:pPr>
            <a:r>
              <a:rPr lang="en-US" altLang="zh-CN" sz="2400" b="1">
                <a:latin typeface="楷体_GB2312" pitchFamily="49" charset="-122"/>
                <a:ea typeface="楷体_GB2312" pitchFamily="49" charset="-122"/>
              </a:rPr>
              <a:t>    </a:t>
            </a:r>
            <a:r>
              <a:rPr lang="zh-CN" altLang="en-US" sz="2400" b="1">
                <a:latin typeface="楷体_GB2312" pitchFamily="49" charset="-122"/>
                <a:ea typeface="楷体_GB2312" pitchFamily="49" charset="-122"/>
              </a:rPr>
              <a:t>通电线圈由于自身电流的变化而引起本线圈所围面积里磁通的变化，并在回路中激起</a:t>
            </a:r>
            <a:r>
              <a:rPr lang="zh-CN" altLang="en-US" sz="2400" b="1">
                <a:solidFill>
                  <a:srgbClr val="FF3300"/>
                </a:solidFill>
                <a:latin typeface="楷体_GB2312" pitchFamily="49" charset="-122"/>
                <a:ea typeface="楷体_GB2312" pitchFamily="49" charset="-122"/>
              </a:rPr>
              <a:t>感应电动势</a:t>
            </a:r>
            <a:r>
              <a:rPr lang="zh-CN" altLang="en-US" sz="2400" b="1">
                <a:latin typeface="楷体_GB2312" pitchFamily="49" charset="-122"/>
                <a:ea typeface="楷体_GB2312" pitchFamily="49" charset="-122"/>
              </a:rPr>
              <a:t>的现象，叫</a:t>
            </a:r>
            <a:r>
              <a:rPr lang="zh-CN" altLang="en-US" sz="2400" b="1">
                <a:solidFill>
                  <a:srgbClr val="FF3300"/>
                </a:solidFill>
                <a:latin typeface="楷体_GB2312" pitchFamily="49" charset="-122"/>
                <a:ea typeface="楷体_GB2312" pitchFamily="49" charset="-122"/>
              </a:rPr>
              <a:t>自感现象</a:t>
            </a:r>
            <a:r>
              <a:rPr lang="zh-CN" altLang="en-US" sz="2400" b="1">
                <a:latin typeface="楷体_GB2312" pitchFamily="49" charset="-122"/>
                <a:ea typeface="楷体_GB2312" pitchFamily="49" charset="-122"/>
              </a:rPr>
              <a:t>。</a:t>
            </a:r>
          </a:p>
        </p:txBody>
      </p:sp>
      <p:sp>
        <p:nvSpPr>
          <p:cNvPr id="74757" name="Line 5"/>
          <p:cNvSpPr>
            <a:spLocks noChangeShapeType="1"/>
          </p:cNvSpPr>
          <p:nvPr/>
        </p:nvSpPr>
        <p:spPr bwMode="auto">
          <a:xfrm>
            <a:off x="7134225" y="3071813"/>
            <a:ext cx="1524000" cy="0"/>
          </a:xfrm>
          <a:prstGeom prst="line">
            <a:avLst/>
          </a:prstGeom>
          <a:noFill/>
          <a:ln w="28575">
            <a:solidFill>
              <a:srgbClr val="0000FF"/>
            </a:solidFill>
            <a:round/>
            <a:headEnd/>
            <a:tailEnd type="triangle" w="med" len="med"/>
          </a:ln>
        </p:spPr>
        <p:txBody>
          <a:bodyPr/>
          <a:lstStyle/>
          <a:p>
            <a:endParaRPr lang="zh-CN" altLang="en-US"/>
          </a:p>
        </p:txBody>
      </p:sp>
      <p:sp>
        <p:nvSpPr>
          <p:cNvPr id="74758" name="Line 6"/>
          <p:cNvSpPr>
            <a:spLocks noChangeShapeType="1"/>
          </p:cNvSpPr>
          <p:nvPr/>
        </p:nvSpPr>
        <p:spPr bwMode="auto">
          <a:xfrm>
            <a:off x="6067425" y="3071813"/>
            <a:ext cx="762000" cy="0"/>
          </a:xfrm>
          <a:prstGeom prst="line">
            <a:avLst/>
          </a:prstGeom>
          <a:noFill/>
          <a:ln w="28575">
            <a:solidFill>
              <a:srgbClr val="0000FF"/>
            </a:solidFill>
            <a:round/>
            <a:headEnd/>
            <a:tailEnd/>
          </a:ln>
        </p:spPr>
        <p:txBody>
          <a:bodyPr/>
          <a:lstStyle/>
          <a:p>
            <a:endParaRPr lang="zh-CN" altLang="en-US"/>
          </a:p>
        </p:txBody>
      </p:sp>
      <p:grpSp>
        <p:nvGrpSpPr>
          <p:cNvPr id="2" name="Group 7"/>
          <p:cNvGrpSpPr>
            <a:grpSpLocks/>
          </p:cNvGrpSpPr>
          <p:nvPr/>
        </p:nvGrpSpPr>
        <p:grpSpPr bwMode="auto">
          <a:xfrm>
            <a:off x="6154738" y="2192338"/>
            <a:ext cx="2520950" cy="482600"/>
            <a:chOff x="3787" y="1834"/>
            <a:chExt cx="1588" cy="304"/>
          </a:xfrm>
        </p:grpSpPr>
        <p:sp>
          <p:nvSpPr>
            <p:cNvPr id="17439" name="Freeform 8"/>
            <p:cNvSpPr>
              <a:spLocks/>
            </p:cNvSpPr>
            <p:nvPr/>
          </p:nvSpPr>
          <p:spPr bwMode="auto">
            <a:xfrm>
              <a:off x="3787" y="1834"/>
              <a:ext cx="432" cy="288"/>
            </a:xfrm>
            <a:custGeom>
              <a:avLst/>
              <a:gdLst>
                <a:gd name="T0" fmla="*/ 0 w 432"/>
                <a:gd name="T1" fmla="*/ 0 h 288"/>
                <a:gd name="T2" fmla="*/ 144 w 432"/>
                <a:gd name="T3" fmla="*/ 144 h 288"/>
                <a:gd name="T4" fmla="*/ 432 w 432"/>
                <a:gd name="T5" fmla="*/ 288 h 288"/>
                <a:gd name="T6" fmla="*/ 0 60000 65536"/>
                <a:gd name="T7" fmla="*/ 0 60000 65536"/>
                <a:gd name="T8" fmla="*/ 0 60000 65536"/>
                <a:gd name="T9" fmla="*/ 0 w 432"/>
                <a:gd name="T10" fmla="*/ 0 h 288"/>
                <a:gd name="T11" fmla="*/ 432 w 432"/>
                <a:gd name="T12" fmla="*/ 288 h 288"/>
              </a:gdLst>
              <a:ahLst/>
              <a:cxnLst>
                <a:cxn ang="T6">
                  <a:pos x="T0" y="T1"/>
                </a:cxn>
                <a:cxn ang="T7">
                  <a:pos x="T2" y="T3"/>
                </a:cxn>
                <a:cxn ang="T8">
                  <a:pos x="T4" y="T5"/>
                </a:cxn>
              </a:cxnLst>
              <a:rect l="T9" t="T10" r="T11" b="T12"/>
              <a:pathLst>
                <a:path w="432" h="288">
                  <a:moveTo>
                    <a:pt x="0" y="0"/>
                  </a:moveTo>
                  <a:cubicBezTo>
                    <a:pt x="36" y="48"/>
                    <a:pt x="72" y="96"/>
                    <a:pt x="144" y="144"/>
                  </a:cubicBezTo>
                  <a:cubicBezTo>
                    <a:pt x="216" y="192"/>
                    <a:pt x="324" y="240"/>
                    <a:pt x="432" y="288"/>
                  </a:cubicBezTo>
                </a:path>
              </a:pathLst>
            </a:custGeom>
            <a:noFill/>
            <a:ln w="28575">
              <a:solidFill>
                <a:srgbClr val="0000FF"/>
              </a:solidFill>
              <a:round/>
              <a:headEnd/>
              <a:tailEnd/>
            </a:ln>
          </p:spPr>
          <p:txBody>
            <a:bodyPr/>
            <a:lstStyle/>
            <a:p>
              <a:endParaRPr lang="zh-CN" altLang="en-US"/>
            </a:p>
          </p:txBody>
        </p:sp>
        <p:sp>
          <p:nvSpPr>
            <p:cNvPr id="17440" name="Freeform 9"/>
            <p:cNvSpPr>
              <a:spLocks/>
            </p:cNvSpPr>
            <p:nvPr/>
          </p:nvSpPr>
          <p:spPr bwMode="auto">
            <a:xfrm>
              <a:off x="4363" y="1842"/>
              <a:ext cx="1012" cy="296"/>
            </a:xfrm>
            <a:custGeom>
              <a:avLst/>
              <a:gdLst>
                <a:gd name="T0" fmla="*/ 0 w 960"/>
                <a:gd name="T1" fmla="*/ 1363 h 200"/>
                <a:gd name="T2" fmla="*/ 250 w 960"/>
                <a:gd name="T3" fmla="*/ 1363 h 200"/>
                <a:gd name="T4" fmla="*/ 751 w 960"/>
                <a:gd name="T5" fmla="*/ 1021 h 200"/>
                <a:gd name="T6" fmla="*/ 1250 w 960"/>
                <a:gd name="T7" fmla="*/ 0 h 200"/>
                <a:gd name="T8" fmla="*/ 0 60000 65536"/>
                <a:gd name="T9" fmla="*/ 0 60000 65536"/>
                <a:gd name="T10" fmla="*/ 0 60000 65536"/>
                <a:gd name="T11" fmla="*/ 0 60000 65536"/>
                <a:gd name="T12" fmla="*/ 0 w 960"/>
                <a:gd name="T13" fmla="*/ 0 h 200"/>
                <a:gd name="T14" fmla="*/ 960 w 960"/>
                <a:gd name="T15" fmla="*/ 200 h 200"/>
              </a:gdLst>
              <a:ahLst/>
              <a:cxnLst>
                <a:cxn ang="T8">
                  <a:pos x="T0" y="T1"/>
                </a:cxn>
                <a:cxn ang="T9">
                  <a:pos x="T2" y="T3"/>
                </a:cxn>
                <a:cxn ang="T10">
                  <a:pos x="T4" y="T5"/>
                </a:cxn>
                <a:cxn ang="T11">
                  <a:pos x="T6" y="T7"/>
                </a:cxn>
              </a:cxnLst>
              <a:rect l="T12" t="T13" r="T14" b="T15"/>
              <a:pathLst>
                <a:path w="960" h="200">
                  <a:moveTo>
                    <a:pt x="0" y="192"/>
                  </a:moveTo>
                  <a:cubicBezTo>
                    <a:pt x="48" y="196"/>
                    <a:pt x="96" y="200"/>
                    <a:pt x="192" y="192"/>
                  </a:cubicBezTo>
                  <a:cubicBezTo>
                    <a:pt x="288" y="184"/>
                    <a:pt x="448" y="176"/>
                    <a:pt x="576" y="144"/>
                  </a:cubicBezTo>
                  <a:cubicBezTo>
                    <a:pt x="704" y="112"/>
                    <a:pt x="832" y="56"/>
                    <a:pt x="960" y="0"/>
                  </a:cubicBezTo>
                </a:path>
              </a:pathLst>
            </a:custGeom>
            <a:noFill/>
            <a:ln w="28575">
              <a:solidFill>
                <a:srgbClr val="0000FF"/>
              </a:solidFill>
              <a:round/>
              <a:headEnd/>
              <a:tailEnd type="triangle" w="med" len="med"/>
            </a:ln>
          </p:spPr>
          <p:txBody>
            <a:bodyPr/>
            <a:lstStyle/>
            <a:p>
              <a:endParaRPr lang="zh-CN" altLang="en-US"/>
            </a:p>
          </p:txBody>
        </p:sp>
      </p:grpSp>
      <p:grpSp>
        <p:nvGrpSpPr>
          <p:cNvPr id="3" name="Group 10"/>
          <p:cNvGrpSpPr>
            <a:grpSpLocks/>
          </p:cNvGrpSpPr>
          <p:nvPr/>
        </p:nvGrpSpPr>
        <p:grpSpPr bwMode="auto">
          <a:xfrm>
            <a:off x="6143625" y="3376613"/>
            <a:ext cx="2532063" cy="485775"/>
            <a:chOff x="3780" y="2580"/>
            <a:chExt cx="1595" cy="306"/>
          </a:xfrm>
        </p:grpSpPr>
        <p:sp>
          <p:nvSpPr>
            <p:cNvPr id="17437" name="Freeform 11"/>
            <p:cNvSpPr>
              <a:spLocks/>
            </p:cNvSpPr>
            <p:nvPr/>
          </p:nvSpPr>
          <p:spPr bwMode="auto">
            <a:xfrm flipV="1">
              <a:off x="3780" y="2580"/>
              <a:ext cx="432" cy="288"/>
            </a:xfrm>
            <a:custGeom>
              <a:avLst/>
              <a:gdLst>
                <a:gd name="T0" fmla="*/ 0 w 432"/>
                <a:gd name="T1" fmla="*/ 0 h 288"/>
                <a:gd name="T2" fmla="*/ 144 w 432"/>
                <a:gd name="T3" fmla="*/ 144 h 288"/>
                <a:gd name="T4" fmla="*/ 432 w 432"/>
                <a:gd name="T5" fmla="*/ 288 h 288"/>
                <a:gd name="T6" fmla="*/ 0 60000 65536"/>
                <a:gd name="T7" fmla="*/ 0 60000 65536"/>
                <a:gd name="T8" fmla="*/ 0 60000 65536"/>
                <a:gd name="T9" fmla="*/ 0 w 432"/>
                <a:gd name="T10" fmla="*/ 0 h 288"/>
                <a:gd name="T11" fmla="*/ 432 w 432"/>
                <a:gd name="T12" fmla="*/ 288 h 288"/>
              </a:gdLst>
              <a:ahLst/>
              <a:cxnLst>
                <a:cxn ang="T6">
                  <a:pos x="T0" y="T1"/>
                </a:cxn>
                <a:cxn ang="T7">
                  <a:pos x="T2" y="T3"/>
                </a:cxn>
                <a:cxn ang="T8">
                  <a:pos x="T4" y="T5"/>
                </a:cxn>
              </a:cxnLst>
              <a:rect l="T9" t="T10" r="T11" b="T12"/>
              <a:pathLst>
                <a:path w="432" h="288">
                  <a:moveTo>
                    <a:pt x="0" y="0"/>
                  </a:moveTo>
                  <a:cubicBezTo>
                    <a:pt x="36" y="48"/>
                    <a:pt x="72" y="96"/>
                    <a:pt x="144" y="144"/>
                  </a:cubicBezTo>
                  <a:cubicBezTo>
                    <a:pt x="216" y="192"/>
                    <a:pt x="324" y="240"/>
                    <a:pt x="432" y="288"/>
                  </a:cubicBezTo>
                </a:path>
              </a:pathLst>
            </a:custGeom>
            <a:noFill/>
            <a:ln w="28575">
              <a:solidFill>
                <a:srgbClr val="0000FF"/>
              </a:solidFill>
              <a:round/>
              <a:headEnd/>
              <a:tailEnd/>
            </a:ln>
          </p:spPr>
          <p:txBody>
            <a:bodyPr/>
            <a:lstStyle/>
            <a:p>
              <a:endParaRPr lang="zh-CN" altLang="en-US"/>
            </a:p>
          </p:txBody>
        </p:sp>
        <p:sp>
          <p:nvSpPr>
            <p:cNvPr id="17438" name="Freeform 12"/>
            <p:cNvSpPr>
              <a:spLocks/>
            </p:cNvSpPr>
            <p:nvPr/>
          </p:nvSpPr>
          <p:spPr bwMode="auto">
            <a:xfrm flipV="1">
              <a:off x="4356" y="2580"/>
              <a:ext cx="1019" cy="306"/>
            </a:xfrm>
            <a:custGeom>
              <a:avLst/>
              <a:gdLst>
                <a:gd name="T0" fmla="*/ 0 w 960"/>
                <a:gd name="T1" fmla="*/ 1613 h 200"/>
                <a:gd name="T2" fmla="*/ 259 w 960"/>
                <a:gd name="T3" fmla="*/ 1613 h 200"/>
                <a:gd name="T4" fmla="*/ 776 w 960"/>
                <a:gd name="T5" fmla="*/ 1207 h 200"/>
                <a:gd name="T6" fmla="*/ 1294 w 960"/>
                <a:gd name="T7" fmla="*/ 0 h 200"/>
                <a:gd name="T8" fmla="*/ 0 60000 65536"/>
                <a:gd name="T9" fmla="*/ 0 60000 65536"/>
                <a:gd name="T10" fmla="*/ 0 60000 65536"/>
                <a:gd name="T11" fmla="*/ 0 60000 65536"/>
                <a:gd name="T12" fmla="*/ 0 w 960"/>
                <a:gd name="T13" fmla="*/ 0 h 200"/>
                <a:gd name="T14" fmla="*/ 960 w 960"/>
                <a:gd name="T15" fmla="*/ 200 h 200"/>
              </a:gdLst>
              <a:ahLst/>
              <a:cxnLst>
                <a:cxn ang="T8">
                  <a:pos x="T0" y="T1"/>
                </a:cxn>
                <a:cxn ang="T9">
                  <a:pos x="T2" y="T3"/>
                </a:cxn>
                <a:cxn ang="T10">
                  <a:pos x="T4" y="T5"/>
                </a:cxn>
                <a:cxn ang="T11">
                  <a:pos x="T6" y="T7"/>
                </a:cxn>
              </a:cxnLst>
              <a:rect l="T12" t="T13" r="T14" b="T15"/>
              <a:pathLst>
                <a:path w="960" h="200">
                  <a:moveTo>
                    <a:pt x="0" y="192"/>
                  </a:moveTo>
                  <a:cubicBezTo>
                    <a:pt x="48" y="196"/>
                    <a:pt x="96" y="200"/>
                    <a:pt x="192" y="192"/>
                  </a:cubicBezTo>
                  <a:cubicBezTo>
                    <a:pt x="288" y="184"/>
                    <a:pt x="448" y="176"/>
                    <a:pt x="576" y="144"/>
                  </a:cubicBezTo>
                  <a:cubicBezTo>
                    <a:pt x="704" y="112"/>
                    <a:pt x="832" y="56"/>
                    <a:pt x="960" y="0"/>
                  </a:cubicBezTo>
                </a:path>
              </a:pathLst>
            </a:custGeom>
            <a:noFill/>
            <a:ln w="28575">
              <a:solidFill>
                <a:srgbClr val="0000FF"/>
              </a:solidFill>
              <a:round/>
              <a:headEnd/>
              <a:tailEnd type="triangle" w="med" len="med"/>
            </a:ln>
          </p:spPr>
          <p:txBody>
            <a:bodyPr/>
            <a:lstStyle/>
            <a:p>
              <a:endParaRPr lang="zh-CN" altLang="en-US"/>
            </a:p>
          </p:txBody>
        </p:sp>
      </p:grpSp>
      <p:sp>
        <p:nvSpPr>
          <p:cNvPr id="74765" name="Oval 13"/>
          <p:cNvSpPr>
            <a:spLocks noChangeArrowheads="1"/>
          </p:cNvSpPr>
          <p:nvPr/>
        </p:nvSpPr>
        <p:spPr bwMode="auto">
          <a:xfrm>
            <a:off x="6829425" y="1700213"/>
            <a:ext cx="1143000" cy="609600"/>
          </a:xfrm>
          <a:prstGeom prst="ellipse">
            <a:avLst/>
          </a:prstGeom>
          <a:noFill/>
          <a:ln w="28575">
            <a:solidFill>
              <a:srgbClr val="0000FF"/>
            </a:solidFill>
            <a:round/>
            <a:headEnd/>
            <a:tailEnd/>
          </a:ln>
        </p:spPr>
        <p:txBody>
          <a:bodyPr wrap="none" anchor="ctr"/>
          <a:lstStyle/>
          <a:p>
            <a:endParaRPr lang="zh-CN" altLang="en-US"/>
          </a:p>
        </p:txBody>
      </p:sp>
      <p:sp>
        <p:nvSpPr>
          <p:cNvPr id="74766" name="Oval 14"/>
          <p:cNvSpPr>
            <a:spLocks noChangeArrowheads="1"/>
          </p:cNvSpPr>
          <p:nvPr/>
        </p:nvSpPr>
        <p:spPr bwMode="auto">
          <a:xfrm>
            <a:off x="6753225" y="3681413"/>
            <a:ext cx="1143000" cy="609600"/>
          </a:xfrm>
          <a:prstGeom prst="ellipse">
            <a:avLst/>
          </a:prstGeom>
          <a:noFill/>
          <a:ln w="28575">
            <a:solidFill>
              <a:srgbClr val="0000FF"/>
            </a:solidFill>
            <a:round/>
            <a:headEnd/>
            <a:tailEnd/>
          </a:ln>
        </p:spPr>
        <p:txBody>
          <a:bodyPr wrap="none" anchor="ctr"/>
          <a:lstStyle/>
          <a:p>
            <a:endParaRPr lang="zh-CN" altLang="en-US"/>
          </a:p>
        </p:txBody>
      </p:sp>
      <p:sp>
        <p:nvSpPr>
          <p:cNvPr id="74767" name="Oval 15"/>
          <p:cNvSpPr>
            <a:spLocks noChangeArrowheads="1"/>
          </p:cNvSpPr>
          <p:nvPr/>
        </p:nvSpPr>
        <p:spPr bwMode="auto">
          <a:xfrm>
            <a:off x="6905625" y="1928813"/>
            <a:ext cx="990600" cy="2133600"/>
          </a:xfrm>
          <a:prstGeom prst="ellipse">
            <a:avLst/>
          </a:prstGeom>
          <a:noFill/>
          <a:ln w="28575">
            <a:solidFill>
              <a:srgbClr val="FF0000"/>
            </a:solidFill>
            <a:round/>
            <a:headEnd/>
            <a:tailEnd/>
          </a:ln>
        </p:spPr>
        <p:txBody>
          <a:bodyPr wrap="none" anchor="ctr"/>
          <a:lstStyle/>
          <a:p>
            <a:endParaRPr lang="zh-CN" altLang="en-US"/>
          </a:p>
        </p:txBody>
      </p:sp>
      <p:graphicFrame>
        <p:nvGraphicFramePr>
          <p:cNvPr id="74768" name="Object 16"/>
          <p:cNvGraphicFramePr>
            <a:graphicFrameLocks noChangeAspect="1"/>
          </p:cNvGraphicFramePr>
          <p:nvPr/>
        </p:nvGraphicFramePr>
        <p:xfrm>
          <a:off x="8416925" y="2486025"/>
          <a:ext cx="277813" cy="366713"/>
        </p:xfrm>
        <a:graphic>
          <a:graphicData uri="http://schemas.openxmlformats.org/presentationml/2006/ole">
            <p:oleObj spid="_x0000_s17410" name="公式" r:id="rId4" imgW="114266" imgH="162000" progId="Equation.3">
              <p:embed/>
            </p:oleObj>
          </a:graphicData>
        </a:graphic>
      </p:graphicFrame>
      <p:sp>
        <p:nvSpPr>
          <p:cNvPr id="74769" name="Arc 17"/>
          <p:cNvSpPr>
            <a:spLocks/>
          </p:cNvSpPr>
          <p:nvPr/>
        </p:nvSpPr>
        <p:spPr bwMode="auto">
          <a:xfrm flipH="1">
            <a:off x="7058025" y="2159000"/>
            <a:ext cx="304800" cy="8382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2225">
            <a:solidFill>
              <a:srgbClr val="006600"/>
            </a:solidFill>
            <a:round/>
            <a:headEnd/>
            <a:tailEnd type="triangle" w="med" len="lg"/>
          </a:ln>
        </p:spPr>
        <p:txBody>
          <a:bodyPr wrap="none" anchor="ctr"/>
          <a:lstStyle/>
          <a:p>
            <a:endParaRPr lang="zh-CN" altLang="en-US"/>
          </a:p>
        </p:txBody>
      </p:sp>
      <p:graphicFrame>
        <p:nvGraphicFramePr>
          <p:cNvPr id="74770" name="Object 18"/>
          <p:cNvGraphicFramePr>
            <a:graphicFrameLocks noChangeAspect="1"/>
          </p:cNvGraphicFramePr>
          <p:nvPr/>
        </p:nvGraphicFramePr>
        <p:xfrm>
          <a:off x="6721475" y="2276475"/>
          <a:ext cx="227013" cy="298450"/>
        </p:xfrm>
        <a:graphic>
          <a:graphicData uri="http://schemas.openxmlformats.org/presentationml/2006/ole">
            <p:oleObj spid="_x0000_s17411" name="公式" r:id="rId5" imgW="85632" imgH="123930" progId="Equation.3">
              <p:embed/>
            </p:oleObj>
          </a:graphicData>
        </a:graphic>
      </p:graphicFrame>
      <p:sp>
        <p:nvSpPr>
          <p:cNvPr id="74771" name="Rectangle 19"/>
          <p:cNvSpPr>
            <a:spLocks noChangeArrowheads="1"/>
          </p:cNvSpPr>
          <p:nvPr/>
        </p:nvSpPr>
        <p:spPr bwMode="auto">
          <a:xfrm>
            <a:off x="468313" y="3429000"/>
            <a:ext cx="533400"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当</a:t>
            </a:r>
          </a:p>
        </p:txBody>
      </p:sp>
      <p:sp>
        <p:nvSpPr>
          <p:cNvPr id="74772" name="AutoShape 20"/>
          <p:cNvSpPr>
            <a:spLocks noChangeArrowheads="1"/>
          </p:cNvSpPr>
          <p:nvPr/>
        </p:nvSpPr>
        <p:spPr bwMode="auto">
          <a:xfrm>
            <a:off x="2022475" y="3670300"/>
            <a:ext cx="563563" cy="176213"/>
          </a:xfrm>
          <a:prstGeom prst="rightArrow">
            <a:avLst>
              <a:gd name="adj1" fmla="val 50000"/>
              <a:gd name="adj2" fmla="val 79955"/>
            </a:avLst>
          </a:prstGeom>
          <a:solidFill>
            <a:srgbClr val="0000FF"/>
          </a:solidFill>
          <a:ln w="9525">
            <a:solidFill>
              <a:schemeClr val="tx1"/>
            </a:solidFill>
            <a:miter lim="800000"/>
            <a:headEnd/>
            <a:tailEnd/>
          </a:ln>
        </p:spPr>
        <p:txBody>
          <a:bodyPr wrap="none" anchor="ctr"/>
          <a:lstStyle/>
          <a:p>
            <a:endParaRPr lang="zh-CN" altLang="en-US"/>
          </a:p>
        </p:txBody>
      </p:sp>
      <p:graphicFrame>
        <p:nvGraphicFramePr>
          <p:cNvPr id="74773" name="Object 21"/>
          <p:cNvGraphicFramePr>
            <a:graphicFrameLocks/>
          </p:cNvGraphicFramePr>
          <p:nvPr/>
        </p:nvGraphicFramePr>
        <p:xfrm>
          <a:off x="2671763" y="3543300"/>
          <a:ext cx="1028700" cy="434975"/>
        </p:xfrm>
        <a:graphic>
          <a:graphicData uri="http://schemas.openxmlformats.org/presentationml/2006/ole">
            <p:oleObj spid="_x0000_s17412" name="公式" r:id="rId6" imgW="533513" imgH="200070" progId="Equation.3">
              <p:embed/>
            </p:oleObj>
          </a:graphicData>
        </a:graphic>
      </p:graphicFrame>
      <p:graphicFrame>
        <p:nvGraphicFramePr>
          <p:cNvPr id="74774" name="Object 22"/>
          <p:cNvGraphicFramePr>
            <a:graphicFrameLocks/>
          </p:cNvGraphicFramePr>
          <p:nvPr/>
        </p:nvGraphicFramePr>
        <p:xfrm>
          <a:off x="957263" y="3600450"/>
          <a:ext cx="960437" cy="363538"/>
        </p:xfrm>
        <a:graphic>
          <a:graphicData uri="http://schemas.openxmlformats.org/presentationml/2006/ole">
            <p:oleObj spid="_x0000_s17413" name="公式" r:id="rId7" imgW="495424" imgH="162000" progId="Equation.3">
              <p:embed/>
            </p:oleObj>
          </a:graphicData>
        </a:graphic>
      </p:graphicFrame>
      <p:graphicFrame>
        <p:nvGraphicFramePr>
          <p:cNvPr id="74775" name="Object 23"/>
          <p:cNvGraphicFramePr>
            <a:graphicFrameLocks/>
          </p:cNvGraphicFramePr>
          <p:nvPr/>
        </p:nvGraphicFramePr>
        <p:xfrm>
          <a:off x="4514850" y="3562350"/>
          <a:ext cx="1209675" cy="414338"/>
        </p:xfrm>
        <a:graphic>
          <a:graphicData uri="http://schemas.openxmlformats.org/presentationml/2006/ole">
            <p:oleObj spid="_x0000_s17414" name="公式" r:id="rId8" imgW="638054" imgH="190620" progId="Equation.3">
              <p:embed/>
            </p:oleObj>
          </a:graphicData>
        </a:graphic>
      </p:graphicFrame>
      <p:sp>
        <p:nvSpPr>
          <p:cNvPr id="74776" name="AutoShape 24"/>
          <p:cNvSpPr>
            <a:spLocks noChangeArrowheads="1"/>
          </p:cNvSpPr>
          <p:nvPr/>
        </p:nvSpPr>
        <p:spPr bwMode="auto">
          <a:xfrm>
            <a:off x="3794125" y="3687763"/>
            <a:ext cx="563563" cy="176212"/>
          </a:xfrm>
          <a:prstGeom prst="rightArrow">
            <a:avLst>
              <a:gd name="adj1" fmla="val 50000"/>
              <a:gd name="adj2" fmla="val 79955"/>
            </a:avLst>
          </a:prstGeom>
          <a:solidFill>
            <a:srgbClr val="0000FF"/>
          </a:solidFill>
          <a:ln w="9525">
            <a:solidFill>
              <a:schemeClr val="tx1"/>
            </a:solidFill>
            <a:miter lim="800000"/>
            <a:headEnd/>
            <a:tailEnd/>
          </a:ln>
        </p:spPr>
        <p:txBody>
          <a:bodyPr wrap="none" anchor="ctr"/>
          <a:lstStyle/>
          <a:p>
            <a:endParaRPr lang="zh-CN" altLang="en-US"/>
          </a:p>
        </p:txBody>
      </p:sp>
      <p:graphicFrame>
        <p:nvGraphicFramePr>
          <p:cNvPr id="74777" name="Object 25"/>
          <p:cNvGraphicFramePr>
            <a:graphicFrameLocks/>
          </p:cNvGraphicFramePr>
          <p:nvPr/>
        </p:nvGraphicFramePr>
        <p:xfrm>
          <a:off x="1763713" y="4221163"/>
          <a:ext cx="1003300" cy="414337"/>
        </p:xfrm>
        <a:graphic>
          <a:graphicData uri="http://schemas.openxmlformats.org/presentationml/2006/ole">
            <p:oleObj spid="_x0000_s17415" name="公式" r:id="rId9" imgW="523788" imgH="190620" progId="Equation.3">
              <p:embed/>
            </p:oleObj>
          </a:graphicData>
        </a:graphic>
      </p:graphicFrame>
      <p:sp>
        <p:nvSpPr>
          <p:cNvPr id="74778" name="Rectangle 26"/>
          <p:cNvSpPr>
            <a:spLocks noChangeArrowheads="1"/>
          </p:cNvSpPr>
          <p:nvPr/>
        </p:nvSpPr>
        <p:spPr bwMode="auto">
          <a:xfrm>
            <a:off x="3162300" y="4149725"/>
            <a:ext cx="2520950" cy="457200"/>
          </a:xfrm>
          <a:prstGeom prst="rect">
            <a:avLst/>
          </a:prstGeom>
          <a:noFill/>
          <a:ln w="9525">
            <a:noFill/>
            <a:miter lim="800000"/>
            <a:headEnd/>
            <a:tailEnd/>
          </a:ln>
        </p:spPr>
        <p:txBody>
          <a:bodyPr>
            <a:spAutoFit/>
          </a:bodyPr>
          <a:lstStyle/>
          <a:p>
            <a:pPr algn="l"/>
            <a:r>
              <a:rPr lang="en-US" altLang="zh-CN" sz="2400" b="1" i="1">
                <a:solidFill>
                  <a:srgbClr val="FF3300"/>
                </a:solidFill>
                <a:latin typeface="Times New Roman" pitchFamily="18" charset="0"/>
                <a:ea typeface="楷体_GB2312" pitchFamily="49" charset="-122"/>
              </a:rPr>
              <a:t> L</a:t>
            </a:r>
            <a:r>
              <a:rPr lang="en-US" altLang="zh-CN" sz="2400" b="1">
                <a:solidFill>
                  <a:srgbClr val="FF3300"/>
                </a:solidFill>
                <a:latin typeface="Times New Roman" pitchFamily="18" charset="0"/>
                <a:ea typeface="楷体_GB2312" pitchFamily="49" charset="-122"/>
              </a:rPr>
              <a:t>:</a:t>
            </a:r>
            <a:r>
              <a:rPr lang="en-US" altLang="zh-CN" sz="2400" b="1">
                <a:latin typeface="Times New Roman" pitchFamily="18" charset="0"/>
                <a:ea typeface="楷体_GB2312" pitchFamily="49" charset="-122"/>
              </a:rPr>
              <a:t> </a:t>
            </a:r>
            <a:r>
              <a:rPr lang="zh-CN" altLang="en-US" sz="2400" b="1">
                <a:solidFill>
                  <a:srgbClr val="008000"/>
                </a:solidFill>
                <a:latin typeface="Times New Roman" pitchFamily="18" charset="0"/>
                <a:ea typeface="楷体_GB2312" pitchFamily="49" charset="-122"/>
              </a:rPr>
              <a:t>自感系数</a:t>
            </a:r>
          </a:p>
        </p:txBody>
      </p:sp>
      <p:graphicFrame>
        <p:nvGraphicFramePr>
          <p:cNvPr id="74779" name="Object 27"/>
          <p:cNvGraphicFramePr>
            <a:graphicFrameLocks/>
          </p:cNvGraphicFramePr>
          <p:nvPr/>
        </p:nvGraphicFramePr>
        <p:xfrm>
          <a:off x="2305050" y="4652963"/>
          <a:ext cx="1363663" cy="730250"/>
        </p:xfrm>
        <a:graphic>
          <a:graphicData uri="http://schemas.openxmlformats.org/presentationml/2006/ole">
            <p:oleObj spid="_x0000_s17416" name="公式" r:id="rId10" imgW="714502" imgH="371520" progId="Equation.3">
              <p:embed/>
            </p:oleObj>
          </a:graphicData>
        </a:graphic>
      </p:graphicFrame>
      <p:graphicFrame>
        <p:nvGraphicFramePr>
          <p:cNvPr id="74780" name="Object 28"/>
          <p:cNvGraphicFramePr>
            <a:graphicFrameLocks/>
          </p:cNvGraphicFramePr>
          <p:nvPr/>
        </p:nvGraphicFramePr>
        <p:xfrm>
          <a:off x="3679825" y="4657725"/>
          <a:ext cx="1781175" cy="727075"/>
        </p:xfrm>
        <a:graphic>
          <a:graphicData uri="http://schemas.openxmlformats.org/presentationml/2006/ole">
            <p:oleObj spid="_x0000_s17417" name="公式" r:id="rId11" imgW="952489" imgH="371520" progId="Equation.3">
              <p:embed/>
            </p:oleObj>
          </a:graphicData>
        </a:graphic>
      </p:graphicFrame>
      <p:sp>
        <p:nvSpPr>
          <p:cNvPr id="74781" name="Rectangle 29"/>
          <p:cNvSpPr>
            <a:spLocks noChangeArrowheads="1"/>
          </p:cNvSpPr>
          <p:nvPr/>
        </p:nvSpPr>
        <p:spPr bwMode="auto">
          <a:xfrm>
            <a:off x="377825" y="5346700"/>
            <a:ext cx="8658225"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若回路大小、形状及周围磁介质分布不变且不存在铁磁质时</a:t>
            </a:r>
          </a:p>
        </p:txBody>
      </p:sp>
      <p:graphicFrame>
        <p:nvGraphicFramePr>
          <p:cNvPr id="74782" name="Object 30"/>
          <p:cNvGraphicFramePr>
            <a:graphicFrameLocks noChangeAspect="1"/>
          </p:cNvGraphicFramePr>
          <p:nvPr/>
        </p:nvGraphicFramePr>
        <p:xfrm>
          <a:off x="3276600" y="5805488"/>
          <a:ext cx="1331913" cy="735012"/>
        </p:xfrm>
        <a:graphic>
          <a:graphicData uri="http://schemas.openxmlformats.org/presentationml/2006/ole">
            <p:oleObj spid="_x0000_s17418" name="公式" r:id="rId12" imgW="695322" imgH="371520" progId="Equation.3">
              <p:embed/>
            </p:oleObj>
          </a:graphicData>
        </a:graphic>
      </p:graphicFrame>
      <p:sp>
        <p:nvSpPr>
          <p:cNvPr id="74783" name="Text Box 31"/>
          <p:cNvSpPr txBox="1">
            <a:spLocks noChangeArrowheads="1"/>
          </p:cNvSpPr>
          <p:nvPr/>
        </p:nvSpPr>
        <p:spPr bwMode="auto">
          <a:xfrm>
            <a:off x="395288" y="4724400"/>
            <a:ext cx="3024187" cy="603250"/>
          </a:xfrm>
          <a:prstGeom prst="rect">
            <a:avLst/>
          </a:prstGeom>
          <a:noFill/>
          <a:ln w="9525" algn="ctr">
            <a:noFill/>
            <a:miter lim="800000"/>
            <a:headEnd/>
            <a:tailEnd/>
          </a:ln>
        </p:spPr>
        <p:txBody>
          <a:bodyPr tIns="82800" bIns="82800">
            <a:spAutoFit/>
          </a:bodyPr>
          <a:lstStyle/>
          <a:p>
            <a:pPr algn="just" eaLnBrk="0" hangingPunct="0">
              <a:lnSpc>
                <a:spcPct val="120000"/>
              </a:lnSpc>
              <a:spcBef>
                <a:spcPct val="50000"/>
              </a:spcBef>
            </a:pPr>
            <a:r>
              <a:rPr kumimoji="1" lang="zh-CN" altLang="en-US" sz="2400" b="1">
                <a:latin typeface="Times New Roman" pitchFamily="18" charset="0"/>
                <a:ea typeface="楷体_GB2312" pitchFamily="49" charset="-122"/>
              </a:rPr>
              <a:t>自感电动势：</a:t>
            </a:r>
          </a:p>
        </p:txBody>
      </p:sp>
      <p:sp>
        <p:nvSpPr>
          <p:cNvPr id="74784" name="Text Box 32"/>
          <p:cNvSpPr txBox="1">
            <a:spLocks noChangeArrowheads="1"/>
          </p:cNvSpPr>
          <p:nvPr/>
        </p:nvSpPr>
        <p:spPr bwMode="auto">
          <a:xfrm>
            <a:off x="179388" y="2781300"/>
            <a:ext cx="4679950" cy="603250"/>
          </a:xfrm>
          <a:prstGeom prst="rect">
            <a:avLst/>
          </a:prstGeom>
          <a:noFill/>
          <a:ln w="9525" algn="ctr">
            <a:noFill/>
            <a:miter lim="800000"/>
            <a:headEnd/>
            <a:tailEnd/>
          </a:ln>
        </p:spPr>
        <p:txBody>
          <a:bodyPr tIns="82800" bIns="82800">
            <a:spAutoFit/>
          </a:bodyPr>
          <a:lstStyle/>
          <a:p>
            <a:pPr algn="just" eaLnBrk="0" hangingPunct="0">
              <a:lnSpc>
                <a:spcPct val="120000"/>
              </a:lnSpc>
              <a:spcBef>
                <a:spcPct val="50000"/>
              </a:spcBef>
              <a:buClr>
                <a:srgbClr val="FF0000"/>
              </a:buClr>
              <a:buFont typeface="Wingdings" pitchFamily="2" charset="2"/>
              <a:buChar char="Ø"/>
            </a:pPr>
            <a:r>
              <a:rPr kumimoji="1" lang="en-US" altLang="zh-CN" sz="2400" b="1">
                <a:solidFill>
                  <a:srgbClr val="CC0000"/>
                </a:solidFill>
                <a:latin typeface="Times New Roman" pitchFamily="18" charset="0"/>
                <a:ea typeface="楷体_GB2312" pitchFamily="49" charset="-122"/>
              </a:rPr>
              <a:t>  </a:t>
            </a:r>
            <a:r>
              <a:rPr kumimoji="1" lang="zh-CN" altLang="en-US" sz="2400" b="1">
                <a:solidFill>
                  <a:srgbClr val="CC0000"/>
                </a:solidFill>
                <a:latin typeface="Times New Roman" pitchFamily="18" charset="0"/>
                <a:ea typeface="楷体_GB2312" pitchFamily="49" charset="-122"/>
              </a:rPr>
              <a:t>自感电动势的计算</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4755"/>
                                        </p:tgtEl>
                                        <p:attrNameLst>
                                          <p:attrName>style.visibility</p:attrName>
                                        </p:attrNameLst>
                                      </p:cBhvr>
                                      <p:to>
                                        <p:strVal val="visible"/>
                                      </p:to>
                                    </p:set>
                                    <p:animEffect transition="in" filter="wipe(left)">
                                      <p:cBhvr>
                                        <p:cTn id="7" dur="500"/>
                                        <p:tgtEl>
                                          <p:spTgt spid="747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2" fill="hold" grpId="0" nodeType="clickEffect">
                                  <p:stCondLst>
                                    <p:cond delay="0"/>
                                  </p:stCondLst>
                                  <p:childTnLst>
                                    <p:set>
                                      <p:cBhvr>
                                        <p:cTn id="11" dur="1" fill="hold">
                                          <p:stCondLst>
                                            <p:cond delay="0"/>
                                          </p:stCondLst>
                                        </p:cTn>
                                        <p:tgtEl>
                                          <p:spTgt spid="74767"/>
                                        </p:tgtEl>
                                        <p:attrNameLst>
                                          <p:attrName>style.visibility</p:attrName>
                                        </p:attrNameLst>
                                      </p:cBhvr>
                                      <p:to>
                                        <p:strVal val="visible"/>
                                      </p:to>
                                    </p:set>
                                    <p:anim calcmode="lin" valueType="num">
                                      <p:cBhvr additive="base">
                                        <p:cTn id="12" dur="500" fill="hold"/>
                                        <p:tgtEl>
                                          <p:spTgt spid="74767"/>
                                        </p:tgtEl>
                                        <p:attrNameLst>
                                          <p:attrName>ppt_x</p:attrName>
                                        </p:attrNameLst>
                                      </p:cBhvr>
                                      <p:tavLst>
                                        <p:tav tm="0">
                                          <p:val>
                                            <p:strVal val="1+#ppt_w/2"/>
                                          </p:val>
                                        </p:tav>
                                        <p:tav tm="100000">
                                          <p:val>
                                            <p:strVal val="#ppt_x"/>
                                          </p:val>
                                        </p:tav>
                                      </p:tavLst>
                                    </p:anim>
                                    <p:anim calcmode="lin" valueType="num">
                                      <p:cBhvr additive="base">
                                        <p:cTn id="13" dur="500" fill="hold"/>
                                        <p:tgtEl>
                                          <p:spTgt spid="74767"/>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74769"/>
                                        </p:tgtEl>
                                        <p:attrNameLst>
                                          <p:attrName>style.visibility</p:attrName>
                                        </p:attrNameLst>
                                      </p:cBhvr>
                                      <p:to>
                                        <p:strVal val="visible"/>
                                      </p:to>
                                    </p:set>
                                    <p:animEffect transition="in" filter="wipe(up)">
                                      <p:cBhvr>
                                        <p:cTn id="18" dur="500"/>
                                        <p:tgtEl>
                                          <p:spTgt spid="7476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477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74758"/>
                                        </p:tgtEl>
                                        <p:attrNameLst>
                                          <p:attrName>style.visibility</p:attrName>
                                        </p:attrNameLst>
                                      </p:cBhvr>
                                      <p:to>
                                        <p:strVal val="visible"/>
                                      </p:to>
                                    </p:set>
                                    <p:animEffect transition="in" filter="slide(fromLeft)">
                                      <p:cBhvr>
                                        <p:cTn id="27" dur="500"/>
                                        <p:tgtEl>
                                          <p:spTgt spid="74758"/>
                                        </p:tgtEl>
                                      </p:cBhvr>
                                    </p:animEffect>
                                  </p:childTnLst>
                                </p:cTn>
                              </p:par>
                            </p:childTnLst>
                          </p:cTn>
                        </p:par>
                        <p:par>
                          <p:cTn id="28" fill="hold" nodeType="afterGroup">
                            <p:stCondLst>
                              <p:cond delay="500"/>
                            </p:stCondLst>
                            <p:childTnLst>
                              <p:par>
                                <p:cTn id="29" presetID="12" presetClass="entr" presetSubtype="8" fill="hold" grpId="0" nodeType="afterEffect">
                                  <p:stCondLst>
                                    <p:cond delay="0"/>
                                  </p:stCondLst>
                                  <p:childTnLst>
                                    <p:set>
                                      <p:cBhvr>
                                        <p:cTn id="30" dur="1" fill="hold">
                                          <p:stCondLst>
                                            <p:cond delay="0"/>
                                          </p:stCondLst>
                                        </p:cTn>
                                        <p:tgtEl>
                                          <p:spTgt spid="74757"/>
                                        </p:tgtEl>
                                        <p:attrNameLst>
                                          <p:attrName>style.visibility</p:attrName>
                                        </p:attrNameLst>
                                      </p:cBhvr>
                                      <p:to>
                                        <p:strVal val="visible"/>
                                      </p:to>
                                    </p:set>
                                    <p:animEffect transition="in" filter="slide(fromLeft)">
                                      <p:cBhvr>
                                        <p:cTn id="31" dur="500"/>
                                        <p:tgtEl>
                                          <p:spTgt spid="74757"/>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500"/>
                                        <p:tgtEl>
                                          <p:spTgt spid="2"/>
                                        </p:tgtEl>
                                      </p:cBhvr>
                                    </p:animEffect>
                                  </p:childTnLst>
                                </p:cTn>
                              </p:par>
                            </p:childTnLst>
                          </p:cTn>
                        </p:par>
                        <p:par>
                          <p:cTn id="36" fill="hold" nodeType="afterGroup">
                            <p:stCondLst>
                              <p:cond delay="1500"/>
                            </p:stCondLst>
                            <p:childTnLst>
                              <p:par>
                                <p:cTn id="37" presetID="22" presetClass="entr" presetSubtype="8" fill="hold" nodeType="after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74765"/>
                                        </p:tgtEl>
                                        <p:attrNameLst>
                                          <p:attrName>style.visibility</p:attrName>
                                        </p:attrNameLst>
                                      </p:cBhvr>
                                      <p:to>
                                        <p:strVal val="visible"/>
                                      </p:to>
                                    </p:set>
                                    <p:animEffect transition="in" filter="wipe(left)">
                                      <p:cBhvr>
                                        <p:cTn id="42" dur="500"/>
                                        <p:tgtEl>
                                          <p:spTgt spid="74765"/>
                                        </p:tgtEl>
                                      </p:cBhvr>
                                    </p:animEffect>
                                  </p:childTnLst>
                                </p:cTn>
                              </p:par>
                              <p:par>
                                <p:cTn id="43" presetID="22" presetClass="entr" presetSubtype="1" fill="hold" grpId="0" nodeType="withEffect">
                                  <p:stCondLst>
                                    <p:cond delay="0"/>
                                  </p:stCondLst>
                                  <p:childTnLst>
                                    <p:set>
                                      <p:cBhvr>
                                        <p:cTn id="44" dur="1" fill="hold">
                                          <p:stCondLst>
                                            <p:cond delay="0"/>
                                          </p:stCondLst>
                                        </p:cTn>
                                        <p:tgtEl>
                                          <p:spTgt spid="74766"/>
                                        </p:tgtEl>
                                        <p:attrNameLst>
                                          <p:attrName>style.visibility</p:attrName>
                                        </p:attrNameLst>
                                      </p:cBhvr>
                                      <p:to>
                                        <p:strVal val="visible"/>
                                      </p:to>
                                    </p:set>
                                    <p:animEffect transition="in" filter="wipe(up)">
                                      <p:cBhvr>
                                        <p:cTn id="45" dur="500"/>
                                        <p:tgtEl>
                                          <p:spTgt spid="74766"/>
                                        </p:tgtEl>
                                      </p:cBhvr>
                                    </p:animEffect>
                                  </p:childTnLst>
                                </p:cTn>
                              </p:par>
                            </p:childTnLst>
                          </p:cTn>
                        </p:par>
                        <p:par>
                          <p:cTn id="46" fill="hold" nodeType="afterGroup">
                            <p:stCondLst>
                              <p:cond delay="2000"/>
                            </p:stCondLst>
                            <p:childTnLst>
                              <p:par>
                                <p:cTn id="47" presetID="1" presetClass="entr" presetSubtype="0" fill="hold" nodeType="afterEffect">
                                  <p:stCondLst>
                                    <p:cond delay="0"/>
                                  </p:stCondLst>
                                  <p:childTnLst>
                                    <p:set>
                                      <p:cBhvr>
                                        <p:cTn id="48" dur="1" fill="hold">
                                          <p:stCondLst>
                                            <p:cond delay="499"/>
                                          </p:stCondLst>
                                        </p:cTn>
                                        <p:tgtEl>
                                          <p:spTgt spid="74768"/>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74756"/>
                                        </p:tgtEl>
                                        <p:attrNameLst>
                                          <p:attrName>style.visibility</p:attrName>
                                        </p:attrNameLst>
                                      </p:cBhvr>
                                      <p:to>
                                        <p:strVal val="visible"/>
                                      </p:to>
                                    </p:set>
                                    <p:animEffect transition="in" filter="wipe(left)">
                                      <p:cBhvr>
                                        <p:cTn id="53" dur="500"/>
                                        <p:tgtEl>
                                          <p:spTgt spid="7475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74784"/>
                                        </p:tgtEl>
                                        <p:attrNameLst>
                                          <p:attrName>style.visibility</p:attrName>
                                        </p:attrNameLst>
                                      </p:cBhvr>
                                      <p:to>
                                        <p:strVal val="visible"/>
                                      </p:to>
                                    </p:set>
                                    <p:animEffect transition="in" filter="wipe(left)">
                                      <p:cBhvr>
                                        <p:cTn id="58" dur="500"/>
                                        <p:tgtEl>
                                          <p:spTgt spid="7478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74771"/>
                                        </p:tgtEl>
                                        <p:attrNameLst>
                                          <p:attrName>style.visibility</p:attrName>
                                        </p:attrNameLst>
                                      </p:cBhvr>
                                      <p:to>
                                        <p:strVal val="visible"/>
                                      </p:to>
                                    </p:set>
                                    <p:animEffect transition="in" filter="wipe(left)">
                                      <p:cBhvr>
                                        <p:cTn id="63" dur="500"/>
                                        <p:tgtEl>
                                          <p:spTgt spid="74771"/>
                                        </p:tgtEl>
                                      </p:cBhvr>
                                    </p:animEffect>
                                  </p:childTnLst>
                                </p:cTn>
                              </p:par>
                            </p:childTnLst>
                          </p:cTn>
                        </p:par>
                        <p:par>
                          <p:cTn id="64" fill="hold" nodeType="afterGroup">
                            <p:stCondLst>
                              <p:cond delay="500"/>
                            </p:stCondLst>
                            <p:childTnLst>
                              <p:par>
                                <p:cTn id="65" presetID="22" presetClass="entr" presetSubtype="8" fill="hold" nodeType="afterEffect">
                                  <p:stCondLst>
                                    <p:cond delay="0"/>
                                  </p:stCondLst>
                                  <p:childTnLst>
                                    <p:set>
                                      <p:cBhvr>
                                        <p:cTn id="66" dur="1" fill="hold">
                                          <p:stCondLst>
                                            <p:cond delay="0"/>
                                          </p:stCondLst>
                                        </p:cTn>
                                        <p:tgtEl>
                                          <p:spTgt spid="74774"/>
                                        </p:tgtEl>
                                        <p:attrNameLst>
                                          <p:attrName>style.visibility</p:attrName>
                                        </p:attrNameLst>
                                      </p:cBhvr>
                                      <p:to>
                                        <p:strVal val="visible"/>
                                      </p:to>
                                    </p:set>
                                    <p:animEffect transition="in" filter="wipe(left)">
                                      <p:cBhvr>
                                        <p:cTn id="67" dur="500"/>
                                        <p:tgtEl>
                                          <p:spTgt spid="7477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74772"/>
                                        </p:tgtEl>
                                        <p:attrNameLst>
                                          <p:attrName>style.visibility</p:attrName>
                                        </p:attrNameLst>
                                      </p:cBhvr>
                                      <p:to>
                                        <p:strVal val="visible"/>
                                      </p:to>
                                    </p:set>
                                    <p:animEffect transition="in" filter="wipe(left)">
                                      <p:cBhvr>
                                        <p:cTn id="72" dur="500"/>
                                        <p:tgtEl>
                                          <p:spTgt spid="74772"/>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4773"/>
                                        </p:tgtEl>
                                        <p:attrNameLst>
                                          <p:attrName>style.visibility</p:attrName>
                                        </p:attrNameLst>
                                      </p:cBhvr>
                                      <p:to>
                                        <p:strVal val="visible"/>
                                      </p:to>
                                    </p:set>
                                    <p:animEffect transition="in" filter="wipe(left)">
                                      <p:cBhvr>
                                        <p:cTn id="77" dur="500"/>
                                        <p:tgtEl>
                                          <p:spTgt spid="7477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74776"/>
                                        </p:tgtEl>
                                        <p:attrNameLst>
                                          <p:attrName>style.visibility</p:attrName>
                                        </p:attrNameLst>
                                      </p:cBhvr>
                                      <p:to>
                                        <p:strVal val="visible"/>
                                      </p:to>
                                    </p:set>
                                    <p:animEffect transition="in" filter="wipe(left)">
                                      <p:cBhvr>
                                        <p:cTn id="82" dur="500"/>
                                        <p:tgtEl>
                                          <p:spTgt spid="7477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74775"/>
                                        </p:tgtEl>
                                        <p:attrNameLst>
                                          <p:attrName>style.visibility</p:attrName>
                                        </p:attrNameLst>
                                      </p:cBhvr>
                                      <p:to>
                                        <p:strVal val="visible"/>
                                      </p:to>
                                    </p:set>
                                    <p:animEffect transition="in" filter="wipe(left)">
                                      <p:cBhvr>
                                        <p:cTn id="87" dur="500"/>
                                        <p:tgtEl>
                                          <p:spTgt spid="74775"/>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74777"/>
                                        </p:tgtEl>
                                        <p:attrNameLst>
                                          <p:attrName>style.visibility</p:attrName>
                                        </p:attrNameLst>
                                      </p:cBhvr>
                                      <p:to>
                                        <p:strVal val="visible"/>
                                      </p:to>
                                    </p:set>
                                    <p:animEffect transition="in" filter="wipe(left)">
                                      <p:cBhvr>
                                        <p:cTn id="92" dur="500"/>
                                        <p:tgtEl>
                                          <p:spTgt spid="7477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74778"/>
                                        </p:tgtEl>
                                        <p:attrNameLst>
                                          <p:attrName>style.visibility</p:attrName>
                                        </p:attrNameLst>
                                      </p:cBhvr>
                                      <p:to>
                                        <p:strVal val="visible"/>
                                      </p:to>
                                    </p:set>
                                    <p:animEffect transition="in" filter="wipe(left)">
                                      <p:cBhvr>
                                        <p:cTn id="97" dur="500"/>
                                        <p:tgtEl>
                                          <p:spTgt spid="7477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74783"/>
                                        </p:tgtEl>
                                        <p:attrNameLst>
                                          <p:attrName>style.visibility</p:attrName>
                                        </p:attrNameLst>
                                      </p:cBhvr>
                                      <p:to>
                                        <p:strVal val="visible"/>
                                      </p:to>
                                    </p:set>
                                    <p:animEffect transition="in" filter="wipe(left)">
                                      <p:cBhvr>
                                        <p:cTn id="102" dur="500"/>
                                        <p:tgtEl>
                                          <p:spTgt spid="74783"/>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74779"/>
                                        </p:tgtEl>
                                        <p:attrNameLst>
                                          <p:attrName>style.visibility</p:attrName>
                                        </p:attrNameLst>
                                      </p:cBhvr>
                                      <p:to>
                                        <p:strVal val="visible"/>
                                      </p:to>
                                    </p:set>
                                    <p:animEffect transition="in" filter="wipe(left)">
                                      <p:cBhvr>
                                        <p:cTn id="107" dur="500"/>
                                        <p:tgtEl>
                                          <p:spTgt spid="74779"/>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74780"/>
                                        </p:tgtEl>
                                        <p:attrNameLst>
                                          <p:attrName>style.visibility</p:attrName>
                                        </p:attrNameLst>
                                      </p:cBhvr>
                                      <p:to>
                                        <p:strVal val="visible"/>
                                      </p:to>
                                    </p:set>
                                    <p:animEffect transition="in" filter="wipe(left)">
                                      <p:cBhvr>
                                        <p:cTn id="112" dur="500"/>
                                        <p:tgtEl>
                                          <p:spTgt spid="74780"/>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grpId="0" nodeType="clickEffect">
                                  <p:stCondLst>
                                    <p:cond delay="0"/>
                                  </p:stCondLst>
                                  <p:iterate type="wd">
                                    <p:tmPct val="43000"/>
                                  </p:iterate>
                                  <p:childTnLst>
                                    <p:set>
                                      <p:cBhvr>
                                        <p:cTn id="116" dur="1" fill="hold">
                                          <p:stCondLst>
                                            <p:cond delay="0"/>
                                          </p:stCondLst>
                                        </p:cTn>
                                        <p:tgtEl>
                                          <p:spTgt spid="74781"/>
                                        </p:tgtEl>
                                        <p:attrNameLst>
                                          <p:attrName>style.visibility</p:attrName>
                                        </p:attrNameLst>
                                      </p:cBhvr>
                                      <p:to>
                                        <p:strVal val="visible"/>
                                      </p:to>
                                    </p:set>
                                    <p:animEffect transition="in" filter="wipe(left)">
                                      <p:cBhvr>
                                        <p:cTn id="117" dur="500"/>
                                        <p:tgtEl>
                                          <p:spTgt spid="74781"/>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74782"/>
                                        </p:tgtEl>
                                        <p:attrNameLst>
                                          <p:attrName>style.visibility</p:attrName>
                                        </p:attrNameLst>
                                      </p:cBhvr>
                                      <p:to>
                                        <p:strVal val="visible"/>
                                      </p:to>
                                    </p:set>
                                    <p:animEffect transition="in" filter="wipe(left)">
                                      <p:cBhvr>
                                        <p:cTn id="122" dur="500"/>
                                        <p:tgtEl>
                                          <p:spTgt spid="747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p:bldP spid="74756" grpId="0" autoUpdateAnimBg="0"/>
      <p:bldP spid="74757" grpId="0" animBg="1"/>
      <p:bldP spid="74758" grpId="0" animBg="1"/>
      <p:bldP spid="74765" grpId="0" animBg="1"/>
      <p:bldP spid="74766" grpId="0" animBg="1"/>
      <p:bldP spid="74767" grpId="0" animBg="1"/>
      <p:bldP spid="74769" grpId="0" animBg="1"/>
      <p:bldP spid="74771" grpId="0" autoUpdateAnimBg="0"/>
      <p:bldP spid="74772" grpId="0" animBg="1"/>
      <p:bldP spid="74776" grpId="0" animBg="1"/>
      <p:bldP spid="74778" grpId="0" autoUpdateAnimBg="0"/>
      <p:bldP spid="74781" grpId="0" autoUpdateAnimBg="0"/>
      <p:bldP spid="74783" grpId="0"/>
      <p:bldP spid="7478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ext Box 4"/>
          <p:cNvSpPr txBox="1">
            <a:spLocks noChangeArrowheads="1"/>
          </p:cNvSpPr>
          <p:nvPr/>
        </p:nvSpPr>
        <p:spPr bwMode="auto">
          <a:xfrm>
            <a:off x="684213" y="836613"/>
            <a:ext cx="1511300" cy="457200"/>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buClr>
                <a:srgbClr val="00FFFF"/>
              </a:buClr>
              <a:buSzPts val="2400"/>
              <a:buFont typeface="Wingdings" pitchFamily="2" charset="2"/>
              <a:buNone/>
              <a:defRPr/>
            </a:pPr>
            <a:r>
              <a:rPr lang="zh-CN" altLang="en-US" sz="2400" b="1">
                <a:solidFill>
                  <a:srgbClr val="FF6600"/>
                </a:solidFill>
                <a:latin typeface="宋体" pitchFamily="2" charset="-122"/>
              </a:rPr>
              <a:t>说明</a:t>
            </a:r>
            <a:endParaRPr lang="zh-CN" altLang="en-US" sz="24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sp>
        <p:nvSpPr>
          <p:cNvPr id="25605" name="AutoShape 5"/>
          <p:cNvSpPr>
            <a:spLocks noChangeArrowheads="1"/>
          </p:cNvSpPr>
          <p:nvPr/>
        </p:nvSpPr>
        <p:spPr bwMode="auto">
          <a:xfrm>
            <a:off x="250825" y="76517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
        <p:nvSpPr>
          <p:cNvPr id="25607" name="Rectangle 7"/>
          <p:cNvSpPr>
            <a:spLocks noChangeArrowheads="1"/>
          </p:cNvSpPr>
          <p:nvPr/>
        </p:nvSpPr>
        <p:spPr bwMode="auto">
          <a:xfrm>
            <a:off x="222250" y="2243138"/>
            <a:ext cx="8094663" cy="968375"/>
          </a:xfrm>
          <a:prstGeom prst="rect">
            <a:avLst/>
          </a:prstGeom>
          <a:noFill/>
          <a:ln w="9525">
            <a:noFill/>
            <a:miter lim="800000"/>
            <a:headEnd/>
            <a:tailEnd/>
          </a:ln>
        </p:spPr>
        <p:txBody>
          <a:bodyPr>
            <a:spAutoFit/>
          </a:bodyPr>
          <a:lstStyle/>
          <a:p>
            <a:pPr marL="342900" indent="-342900" algn="l">
              <a:lnSpc>
                <a:spcPct val="120000"/>
              </a:lnSpc>
              <a:buFontTx/>
              <a:buAutoNum type="arabicParenBoth" startAt="2"/>
            </a:pP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实验表明，</a:t>
            </a:r>
            <a:r>
              <a:rPr kumimoji="1" lang="en-US" altLang="zh-CN" sz="2400" b="1" i="1">
                <a:solidFill>
                  <a:srgbClr val="FF0000"/>
                </a:solidFill>
                <a:latin typeface="Times New Roman" pitchFamily="18" charset="0"/>
                <a:ea typeface="楷体_GB2312" pitchFamily="49" charset="-122"/>
              </a:rPr>
              <a:t>L </a:t>
            </a:r>
            <a:r>
              <a:rPr kumimoji="1" lang="zh-CN" altLang="en-US" sz="2400" b="1">
                <a:latin typeface="Times New Roman" pitchFamily="18" charset="0"/>
                <a:ea typeface="楷体_GB2312" pitchFamily="49" charset="-122"/>
              </a:rPr>
              <a:t>与回路几何形状、尺寸、磁介质的磁导率 </a:t>
            </a:r>
          </a:p>
          <a:p>
            <a:pPr marL="342900" indent="-342900" algn="l">
              <a:lnSpc>
                <a:spcPct val="120000"/>
              </a:lnSpc>
            </a:pPr>
            <a:r>
              <a:rPr kumimoji="1" lang="zh-CN" altLang="en-US" sz="2400" b="1">
                <a:latin typeface="Times New Roman" pitchFamily="18" charset="0"/>
                <a:ea typeface="楷体_GB2312" pitchFamily="49" charset="-122"/>
              </a:rPr>
              <a:t>       有关。</a:t>
            </a:r>
          </a:p>
        </p:txBody>
      </p:sp>
      <p:sp>
        <p:nvSpPr>
          <p:cNvPr id="25609" name="Rectangle 9"/>
          <p:cNvSpPr>
            <a:spLocks noChangeArrowheads="1"/>
          </p:cNvSpPr>
          <p:nvPr/>
        </p:nvSpPr>
        <p:spPr bwMode="auto">
          <a:xfrm>
            <a:off x="222250" y="3373438"/>
            <a:ext cx="7632700"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(3)  </a:t>
            </a:r>
            <a:r>
              <a:rPr kumimoji="1" lang="zh-CN" altLang="en-US" sz="2400" b="1">
                <a:latin typeface="Times New Roman" pitchFamily="18" charset="0"/>
                <a:ea typeface="楷体_GB2312" pitchFamily="49" charset="-122"/>
              </a:rPr>
              <a:t>当线圈的匝数为 </a:t>
            </a:r>
            <a:r>
              <a:rPr kumimoji="1" lang="en-US" altLang="zh-CN" sz="2400" b="1" i="1">
                <a:solidFill>
                  <a:srgbClr val="FF0000"/>
                </a:solidFill>
                <a:latin typeface="Times New Roman" pitchFamily="18" charset="0"/>
                <a:ea typeface="楷体_GB2312" pitchFamily="49" charset="-122"/>
              </a:rPr>
              <a:t>N </a:t>
            </a:r>
            <a:r>
              <a:rPr kumimoji="1" lang="zh-CN" altLang="en-US" sz="2400" b="1">
                <a:latin typeface="Times New Roman" pitchFamily="18" charset="0"/>
                <a:ea typeface="楷体_GB2312" pitchFamily="49" charset="-122"/>
              </a:rPr>
              <a:t>时，</a:t>
            </a:r>
          </a:p>
        </p:txBody>
      </p:sp>
      <p:graphicFrame>
        <p:nvGraphicFramePr>
          <p:cNvPr id="25610" name="Object 10"/>
          <p:cNvGraphicFramePr>
            <a:graphicFrameLocks/>
          </p:cNvGraphicFramePr>
          <p:nvPr/>
        </p:nvGraphicFramePr>
        <p:xfrm>
          <a:off x="4024313" y="3455988"/>
          <a:ext cx="1346200" cy="457200"/>
        </p:xfrm>
        <a:graphic>
          <a:graphicData uri="http://schemas.openxmlformats.org/presentationml/2006/ole">
            <p:oleObj spid="_x0000_s18434" name="公式" r:id="rId3" imgW="638054" imgH="190620" progId="Equation.3">
              <p:embed/>
            </p:oleObj>
          </a:graphicData>
        </a:graphic>
      </p:graphicFrame>
      <p:sp>
        <p:nvSpPr>
          <p:cNvPr id="25611" name="Rectangle 11"/>
          <p:cNvSpPr>
            <a:spLocks noChangeArrowheads="1"/>
          </p:cNvSpPr>
          <p:nvPr/>
        </p:nvSpPr>
        <p:spPr bwMode="auto">
          <a:xfrm>
            <a:off x="250825" y="4208463"/>
            <a:ext cx="8362950" cy="530225"/>
          </a:xfrm>
          <a:prstGeom prst="rect">
            <a:avLst/>
          </a:prstGeom>
          <a:noFill/>
          <a:ln w="9525">
            <a:noFill/>
            <a:miter lim="800000"/>
            <a:headEnd/>
            <a:tailEnd/>
          </a:ln>
        </p:spPr>
        <p:txBody>
          <a:bodyPr>
            <a:spAutoFit/>
          </a:bodyPr>
          <a:lstStyle/>
          <a:p>
            <a:pPr algn="l">
              <a:lnSpc>
                <a:spcPct val="120000"/>
              </a:lnSpc>
              <a:spcBef>
                <a:spcPct val="50000"/>
              </a:spcBef>
            </a:pPr>
            <a:r>
              <a:rPr kumimoji="1" lang="en-US" altLang="zh-CN" sz="2400" b="1">
                <a:latin typeface="Times New Roman" pitchFamily="18" charset="0"/>
                <a:ea typeface="楷体_GB2312" pitchFamily="49" charset="-122"/>
              </a:rPr>
              <a:t>(4)  </a:t>
            </a:r>
            <a:r>
              <a:rPr kumimoji="1" lang="zh-CN" altLang="en-US" sz="2400" b="1">
                <a:latin typeface="Times New Roman" pitchFamily="18" charset="0"/>
                <a:ea typeface="楷体_GB2312" pitchFamily="49" charset="-122"/>
              </a:rPr>
              <a:t>在 </a:t>
            </a:r>
            <a:r>
              <a:rPr kumimoji="1" lang="en-US" altLang="zh-CN" sz="2400" b="1">
                <a:solidFill>
                  <a:srgbClr val="FF3300"/>
                </a:solidFill>
                <a:latin typeface="Times New Roman" pitchFamily="18" charset="0"/>
                <a:ea typeface="楷体_GB2312" pitchFamily="49" charset="-122"/>
              </a:rPr>
              <a:t>(SI)</a:t>
            </a:r>
            <a:r>
              <a:rPr kumimoji="1" lang="en-US" altLang="zh-CN" sz="2400" b="1">
                <a:solidFill>
                  <a:srgbClr val="FF0000"/>
                </a:solidFill>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制中，</a:t>
            </a:r>
            <a:r>
              <a:rPr kumimoji="1" lang="en-US" altLang="zh-CN" sz="2400" b="1" i="1">
                <a:solidFill>
                  <a:srgbClr val="FF3300"/>
                </a:solidFill>
                <a:latin typeface="Times New Roman" pitchFamily="18" charset="0"/>
                <a:ea typeface="楷体_GB2312" pitchFamily="49" charset="-122"/>
              </a:rPr>
              <a:t>L</a:t>
            </a:r>
            <a:r>
              <a:rPr kumimoji="1" lang="en-US" altLang="zh-CN" sz="2400" i="1">
                <a:solidFill>
                  <a:srgbClr val="FF3300"/>
                </a:solidFill>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的单位：亨利 </a:t>
            </a:r>
            <a:r>
              <a:rPr kumimoji="1" lang="en-US" altLang="zh-CN" sz="2400" b="1">
                <a:solidFill>
                  <a:srgbClr val="FF3300"/>
                </a:solidFill>
                <a:latin typeface="Times New Roman" pitchFamily="18" charset="0"/>
                <a:ea typeface="楷体_GB2312" pitchFamily="49" charset="-122"/>
              </a:rPr>
              <a:t>(H)</a:t>
            </a: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a:t>
            </a:r>
            <a:r>
              <a:rPr kumimoji="1" lang="en-US" altLang="zh-CN" sz="2400" b="1">
                <a:solidFill>
                  <a:srgbClr val="990099"/>
                </a:solidFill>
                <a:latin typeface="Times New Roman" pitchFamily="18" charset="0"/>
                <a:ea typeface="楷体_GB2312" pitchFamily="49" charset="-122"/>
              </a:rPr>
              <a:t>1 H = 1 </a:t>
            </a:r>
            <a:r>
              <a:rPr kumimoji="1" lang="zh-CN" altLang="en-US" sz="2400" b="1">
                <a:solidFill>
                  <a:srgbClr val="990099"/>
                </a:solidFill>
                <a:latin typeface="Times New Roman" pitchFamily="18" charset="0"/>
                <a:ea typeface="楷体_GB2312" pitchFamily="49" charset="-122"/>
              </a:rPr>
              <a:t>韦伯</a:t>
            </a:r>
            <a:r>
              <a:rPr kumimoji="1" lang="en-US" altLang="zh-CN" sz="2400" b="1">
                <a:solidFill>
                  <a:srgbClr val="990099"/>
                </a:solidFill>
                <a:latin typeface="Times New Roman" pitchFamily="18" charset="0"/>
                <a:ea typeface="楷体_GB2312" pitchFamily="49" charset="-122"/>
              </a:rPr>
              <a:t>/</a:t>
            </a:r>
            <a:r>
              <a:rPr kumimoji="1" lang="zh-CN" altLang="en-US" sz="2400" b="1">
                <a:solidFill>
                  <a:srgbClr val="990099"/>
                </a:solidFill>
                <a:latin typeface="Times New Roman" pitchFamily="18" charset="0"/>
                <a:ea typeface="楷体_GB2312" pitchFamily="49" charset="-122"/>
              </a:rPr>
              <a:t>安培</a:t>
            </a:r>
            <a:r>
              <a:rPr kumimoji="1" lang="zh-CN" altLang="en-US" sz="2400" b="1">
                <a:latin typeface="Times New Roman" pitchFamily="18" charset="0"/>
                <a:ea typeface="楷体_GB2312" pitchFamily="49" charset="-122"/>
              </a:rPr>
              <a:t> </a:t>
            </a:r>
          </a:p>
        </p:txBody>
      </p:sp>
      <p:sp>
        <p:nvSpPr>
          <p:cNvPr id="25612" name="Rectangle 12"/>
          <p:cNvSpPr>
            <a:spLocks noChangeArrowheads="1"/>
          </p:cNvSpPr>
          <p:nvPr/>
        </p:nvSpPr>
        <p:spPr bwMode="auto">
          <a:xfrm>
            <a:off x="265113" y="4986338"/>
            <a:ext cx="6046787"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(5)  </a:t>
            </a:r>
            <a:r>
              <a:rPr kumimoji="1" lang="zh-CN" altLang="en-US" sz="2400" b="1">
                <a:latin typeface="Times New Roman" pitchFamily="18" charset="0"/>
                <a:ea typeface="楷体_GB2312" pitchFamily="49" charset="-122"/>
              </a:rPr>
              <a:t>自</a:t>
            </a:r>
            <a:r>
              <a:rPr kumimoji="1" lang="zh-CN" altLang="en-US" sz="2400" b="1">
                <a:latin typeface="Times New Roman" pitchFamily="18" charset="0"/>
                <a:ea typeface="楷体_GB2312" pitchFamily="49" charset="-122"/>
                <a:cs typeface="Times New Roman" pitchFamily="18" charset="0"/>
                <a:sym typeface="Symbol" pitchFamily="18" charset="2"/>
              </a:rPr>
              <a:t>感具有使回路电流保持不变的性质  </a:t>
            </a:r>
          </a:p>
        </p:txBody>
      </p:sp>
      <p:sp>
        <p:nvSpPr>
          <p:cNvPr id="25613" name="Rectangle 13"/>
          <p:cNvSpPr>
            <a:spLocks noChangeArrowheads="1"/>
          </p:cNvSpPr>
          <p:nvPr/>
        </p:nvSpPr>
        <p:spPr bwMode="auto">
          <a:xfrm>
            <a:off x="5729288" y="4973638"/>
            <a:ext cx="2700337" cy="5302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8000"/>
                </a:solidFill>
                <a:latin typeface="Times New Roman" pitchFamily="18" charset="0"/>
                <a:ea typeface="楷体_GB2312" pitchFamily="49" charset="-122"/>
                <a:sym typeface="Symbol" pitchFamily="18" charset="2"/>
              </a:rPr>
              <a:t>—— </a:t>
            </a:r>
            <a:r>
              <a:rPr kumimoji="1" lang="zh-CN" altLang="en-US" sz="2400" b="1">
                <a:solidFill>
                  <a:srgbClr val="008000"/>
                </a:solidFill>
                <a:latin typeface="Times New Roman" pitchFamily="18" charset="0"/>
                <a:ea typeface="楷体_GB2312" pitchFamily="49" charset="-122"/>
                <a:sym typeface="Symbol" pitchFamily="18" charset="2"/>
              </a:rPr>
              <a:t>电磁惯性</a:t>
            </a:r>
          </a:p>
        </p:txBody>
      </p:sp>
      <p:sp>
        <p:nvSpPr>
          <p:cNvPr id="25614" name="Rectangle 14"/>
          <p:cNvSpPr>
            <a:spLocks noChangeArrowheads="1"/>
          </p:cNvSpPr>
          <p:nvPr/>
        </p:nvSpPr>
        <p:spPr bwMode="auto">
          <a:xfrm>
            <a:off x="207963" y="1528763"/>
            <a:ext cx="3505200"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华文楷体" pitchFamily="2" charset="-122"/>
                <a:cs typeface="Times New Roman" pitchFamily="18" charset="0"/>
              </a:rPr>
              <a:t>(1)  </a:t>
            </a:r>
            <a:r>
              <a:rPr kumimoji="1" lang="zh-CN" altLang="en-US" sz="2400" b="1">
                <a:latin typeface="Times New Roman" pitchFamily="18" charset="0"/>
                <a:ea typeface="楷体_GB2312" pitchFamily="49" charset="-122"/>
                <a:cs typeface="Times New Roman" pitchFamily="18" charset="0"/>
              </a:rPr>
              <a:t>负号：</a:t>
            </a:r>
            <a:r>
              <a:rPr kumimoji="1" lang="zh-CN" altLang="en-US" sz="2400" b="1">
                <a:solidFill>
                  <a:srgbClr val="008000"/>
                </a:solidFill>
                <a:latin typeface="Times New Roman" pitchFamily="18" charset="0"/>
                <a:ea typeface="楷体_GB2312" pitchFamily="49" charset="-122"/>
                <a:cs typeface="Times New Roman" pitchFamily="18" charset="0"/>
              </a:rPr>
              <a:t>楞次定律</a:t>
            </a:r>
          </a:p>
        </p:txBody>
      </p:sp>
      <p:graphicFrame>
        <p:nvGraphicFramePr>
          <p:cNvPr id="18435" name="Object 15"/>
          <p:cNvGraphicFramePr>
            <a:graphicFrameLocks noChangeAspect="1"/>
          </p:cNvGraphicFramePr>
          <p:nvPr/>
        </p:nvGraphicFramePr>
        <p:xfrm>
          <a:off x="7019925" y="549275"/>
          <a:ext cx="1331913" cy="735013"/>
        </p:xfrm>
        <a:graphic>
          <a:graphicData uri="http://schemas.openxmlformats.org/presentationml/2006/ole">
            <p:oleObj spid="_x0000_s18435" name="公式" r:id="rId4" imgW="695322" imgH="37152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5605"/>
                                        </p:tgtEl>
                                        <p:attrNameLst>
                                          <p:attrName>style.visibility</p:attrName>
                                        </p:attrNameLst>
                                      </p:cBhvr>
                                      <p:to>
                                        <p:strVal val="visible"/>
                                      </p:to>
                                    </p:set>
                                    <p:anim calcmode="lin" valueType="num">
                                      <p:cBhvr>
                                        <p:cTn id="7" dur="500" fill="hold"/>
                                        <p:tgtEl>
                                          <p:spTgt spid="25605"/>
                                        </p:tgtEl>
                                        <p:attrNameLst>
                                          <p:attrName>ppt_w</p:attrName>
                                        </p:attrNameLst>
                                      </p:cBhvr>
                                      <p:tavLst>
                                        <p:tav tm="0">
                                          <p:val>
                                            <p:fltVal val="0"/>
                                          </p:val>
                                        </p:tav>
                                        <p:tav tm="100000">
                                          <p:val>
                                            <p:strVal val="#ppt_w"/>
                                          </p:val>
                                        </p:tav>
                                      </p:tavLst>
                                    </p:anim>
                                    <p:anim calcmode="lin" valueType="num">
                                      <p:cBhvr>
                                        <p:cTn id="8" dur="500" fill="hold"/>
                                        <p:tgtEl>
                                          <p:spTgt spid="25605"/>
                                        </p:tgtEl>
                                        <p:attrNameLst>
                                          <p:attrName>ppt_h</p:attrName>
                                        </p:attrNameLst>
                                      </p:cBhvr>
                                      <p:tavLst>
                                        <p:tav tm="0">
                                          <p:val>
                                            <p:strVal val="#ppt_h"/>
                                          </p:val>
                                        </p:tav>
                                        <p:tav tm="100000">
                                          <p:val>
                                            <p:strVal val="#ppt_h"/>
                                          </p:val>
                                        </p:tav>
                                      </p:tavLst>
                                    </p:anim>
                                  </p:childTnLst>
                                </p:cTn>
                              </p:par>
                              <p:par>
                                <p:cTn id="9" presetID="17" presetClass="entr" presetSubtype="8" fill="hold" grpId="0" nodeType="withEffect">
                                  <p:stCondLst>
                                    <p:cond delay="0"/>
                                  </p:stCondLst>
                                  <p:childTnLst>
                                    <p:set>
                                      <p:cBhvr>
                                        <p:cTn id="10" dur="1" fill="hold">
                                          <p:stCondLst>
                                            <p:cond delay="0"/>
                                          </p:stCondLst>
                                        </p:cTn>
                                        <p:tgtEl>
                                          <p:spTgt spid="25604"/>
                                        </p:tgtEl>
                                        <p:attrNameLst>
                                          <p:attrName>style.visibility</p:attrName>
                                        </p:attrNameLst>
                                      </p:cBhvr>
                                      <p:to>
                                        <p:strVal val="visible"/>
                                      </p:to>
                                    </p:set>
                                    <p:anim calcmode="lin" valueType="num">
                                      <p:cBhvr>
                                        <p:cTn id="11" dur="500" fill="hold"/>
                                        <p:tgtEl>
                                          <p:spTgt spid="25604"/>
                                        </p:tgtEl>
                                        <p:attrNameLst>
                                          <p:attrName>ppt_x</p:attrName>
                                        </p:attrNameLst>
                                      </p:cBhvr>
                                      <p:tavLst>
                                        <p:tav tm="0">
                                          <p:val>
                                            <p:strVal val="#ppt_x-#ppt_w/2"/>
                                          </p:val>
                                        </p:tav>
                                        <p:tav tm="100000">
                                          <p:val>
                                            <p:strVal val="#ppt_x"/>
                                          </p:val>
                                        </p:tav>
                                      </p:tavLst>
                                    </p:anim>
                                    <p:anim calcmode="lin" valueType="num">
                                      <p:cBhvr>
                                        <p:cTn id="12" dur="500" fill="hold"/>
                                        <p:tgtEl>
                                          <p:spTgt spid="25604"/>
                                        </p:tgtEl>
                                        <p:attrNameLst>
                                          <p:attrName>ppt_y</p:attrName>
                                        </p:attrNameLst>
                                      </p:cBhvr>
                                      <p:tavLst>
                                        <p:tav tm="0">
                                          <p:val>
                                            <p:strVal val="#ppt_y"/>
                                          </p:val>
                                        </p:tav>
                                        <p:tav tm="100000">
                                          <p:val>
                                            <p:strVal val="#ppt_y"/>
                                          </p:val>
                                        </p:tav>
                                      </p:tavLst>
                                    </p:anim>
                                    <p:anim calcmode="lin" valueType="num">
                                      <p:cBhvr>
                                        <p:cTn id="13" dur="500" fill="hold"/>
                                        <p:tgtEl>
                                          <p:spTgt spid="25604"/>
                                        </p:tgtEl>
                                        <p:attrNameLst>
                                          <p:attrName>ppt_w</p:attrName>
                                        </p:attrNameLst>
                                      </p:cBhvr>
                                      <p:tavLst>
                                        <p:tav tm="0">
                                          <p:val>
                                            <p:fltVal val="0"/>
                                          </p:val>
                                        </p:tav>
                                        <p:tav tm="100000">
                                          <p:val>
                                            <p:strVal val="#ppt_w"/>
                                          </p:val>
                                        </p:tav>
                                      </p:tavLst>
                                    </p:anim>
                                    <p:anim calcmode="lin" valueType="num">
                                      <p:cBhvr>
                                        <p:cTn id="14" dur="500" fill="hold"/>
                                        <p:tgtEl>
                                          <p:spTgt spid="25604"/>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5614"/>
                                        </p:tgtEl>
                                        <p:attrNameLst>
                                          <p:attrName>style.visibility</p:attrName>
                                        </p:attrNameLst>
                                      </p:cBhvr>
                                      <p:to>
                                        <p:strVal val="visible"/>
                                      </p:to>
                                    </p:set>
                                    <p:animEffect transition="in" filter="wipe(left)">
                                      <p:cBhvr>
                                        <p:cTn id="19" dur="500"/>
                                        <p:tgtEl>
                                          <p:spTgt spid="2561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5607"/>
                                        </p:tgtEl>
                                        <p:attrNameLst>
                                          <p:attrName>style.visibility</p:attrName>
                                        </p:attrNameLst>
                                      </p:cBhvr>
                                      <p:to>
                                        <p:strVal val="visible"/>
                                      </p:to>
                                    </p:set>
                                    <p:animEffect transition="in" filter="wipe(left)">
                                      <p:cBhvr>
                                        <p:cTn id="24" dur="500"/>
                                        <p:tgtEl>
                                          <p:spTgt spid="2560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25609"/>
                                        </p:tgtEl>
                                        <p:attrNameLst>
                                          <p:attrName>style.visibility</p:attrName>
                                        </p:attrNameLst>
                                      </p:cBhvr>
                                      <p:to>
                                        <p:strVal val="visible"/>
                                      </p:to>
                                    </p:set>
                                    <p:animEffect transition="in" filter="wipe(left)">
                                      <p:cBhvr>
                                        <p:cTn id="29" dur="500"/>
                                        <p:tgtEl>
                                          <p:spTgt spid="2560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25610"/>
                                        </p:tgtEl>
                                        <p:attrNameLst>
                                          <p:attrName>style.visibility</p:attrName>
                                        </p:attrNameLst>
                                      </p:cBhvr>
                                      <p:to>
                                        <p:strVal val="visible"/>
                                      </p:to>
                                    </p:set>
                                    <p:animEffect transition="in" filter="wipe(left)">
                                      <p:cBhvr>
                                        <p:cTn id="34" dur="500"/>
                                        <p:tgtEl>
                                          <p:spTgt spid="2561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grpId="0" nodeType="clickEffect">
                                  <p:stCondLst>
                                    <p:cond delay="0"/>
                                  </p:stCondLst>
                                  <p:childTnLst>
                                    <p:set>
                                      <p:cBhvr>
                                        <p:cTn id="38" dur="1" fill="hold">
                                          <p:stCondLst>
                                            <p:cond delay="0"/>
                                          </p:stCondLst>
                                        </p:cTn>
                                        <p:tgtEl>
                                          <p:spTgt spid="25611"/>
                                        </p:tgtEl>
                                        <p:attrNameLst>
                                          <p:attrName>style.visibility</p:attrName>
                                        </p:attrNameLst>
                                      </p:cBhvr>
                                      <p:to>
                                        <p:strVal val="visible"/>
                                      </p:to>
                                    </p:set>
                                    <p:anim calcmode="lin" valueType="num">
                                      <p:cBhvr>
                                        <p:cTn id="39" dur="500" fill="hold"/>
                                        <p:tgtEl>
                                          <p:spTgt spid="25611"/>
                                        </p:tgtEl>
                                        <p:attrNameLst>
                                          <p:attrName>ppt_w</p:attrName>
                                        </p:attrNameLst>
                                      </p:cBhvr>
                                      <p:tavLst>
                                        <p:tav tm="0">
                                          <p:val>
                                            <p:fltVal val="0"/>
                                          </p:val>
                                        </p:tav>
                                        <p:tav tm="100000">
                                          <p:val>
                                            <p:strVal val="#ppt_w"/>
                                          </p:val>
                                        </p:tav>
                                      </p:tavLst>
                                    </p:anim>
                                    <p:anim calcmode="lin" valueType="num">
                                      <p:cBhvr>
                                        <p:cTn id="40" dur="500" fill="hold"/>
                                        <p:tgtEl>
                                          <p:spTgt spid="25611"/>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5612"/>
                                        </p:tgtEl>
                                        <p:attrNameLst>
                                          <p:attrName>style.visibility</p:attrName>
                                        </p:attrNameLst>
                                      </p:cBhvr>
                                      <p:to>
                                        <p:strVal val="visible"/>
                                      </p:to>
                                    </p:set>
                                    <p:animEffect transition="in" filter="wipe(left)">
                                      <p:cBhvr>
                                        <p:cTn id="45" dur="500"/>
                                        <p:tgtEl>
                                          <p:spTgt spid="25612"/>
                                        </p:tgtEl>
                                      </p:cBhvr>
                                    </p:animEffect>
                                  </p:childTnLst>
                                </p:cTn>
                              </p:par>
                            </p:childTnLst>
                          </p:cTn>
                        </p:par>
                        <p:par>
                          <p:cTn id="46" fill="hold" nodeType="afterGroup">
                            <p:stCondLst>
                              <p:cond delay="500"/>
                            </p:stCondLst>
                            <p:childTnLst>
                              <p:par>
                                <p:cTn id="47" presetID="22" presetClass="entr" presetSubtype="8" fill="hold" grpId="0" nodeType="afterEffect">
                                  <p:stCondLst>
                                    <p:cond delay="0"/>
                                  </p:stCondLst>
                                  <p:childTnLst>
                                    <p:set>
                                      <p:cBhvr>
                                        <p:cTn id="48" dur="1" fill="hold">
                                          <p:stCondLst>
                                            <p:cond delay="0"/>
                                          </p:stCondLst>
                                        </p:cTn>
                                        <p:tgtEl>
                                          <p:spTgt spid="25613"/>
                                        </p:tgtEl>
                                        <p:attrNameLst>
                                          <p:attrName>style.visibility</p:attrName>
                                        </p:attrNameLst>
                                      </p:cBhvr>
                                      <p:to>
                                        <p:strVal val="visible"/>
                                      </p:to>
                                    </p:set>
                                    <p:animEffect transition="in" filter="wipe(left)">
                                      <p:cBhvr>
                                        <p:cTn id="49" dur="500"/>
                                        <p:tgtEl>
                                          <p:spTgt spid="25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25605" grpId="0" animBg="1"/>
      <p:bldP spid="25607" grpId="0"/>
      <p:bldP spid="25609" grpId="0"/>
      <p:bldP spid="25611" grpId="0" autoUpdateAnimBg="0"/>
      <p:bldP spid="25612" grpId="0" autoUpdateAnimBg="0"/>
      <p:bldP spid="25613" grpId="0" autoUpdateAnimBg="0"/>
      <p:bldP spid="25614"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06" name="Rectangle 30"/>
          <p:cNvSpPr>
            <a:spLocks noChangeArrowheads="1"/>
          </p:cNvSpPr>
          <p:nvPr/>
        </p:nvSpPr>
        <p:spPr bwMode="auto">
          <a:xfrm>
            <a:off x="7658100" y="2825750"/>
            <a:ext cx="762000" cy="1828800"/>
          </a:xfrm>
          <a:prstGeom prst="rect">
            <a:avLst/>
          </a:prstGeom>
          <a:solidFill>
            <a:srgbClr val="CCFFFF"/>
          </a:solidFill>
          <a:ln w="9525">
            <a:solidFill>
              <a:schemeClr val="tx1"/>
            </a:solidFill>
            <a:miter lim="800000"/>
            <a:headEnd/>
            <a:tailEnd/>
          </a:ln>
        </p:spPr>
        <p:txBody>
          <a:bodyPr wrap="none" anchor="ctr"/>
          <a:lstStyle/>
          <a:p>
            <a:endParaRPr lang="zh-CN" altLang="en-US"/>
          </a:p>
        </p:txBody>
      </p:sp>
      <p:sp>
        <p:nvSpPr>
          <p:cNvPr id="75778" name="Rectangle 2"/>
          <p:cNvSpPr>
            <a:spLocks noChangeArrowheads="1"/>
          </p:cNvSpPr>
          <p:nvPr/>
        </p:nvSpPr>
        <p:spPr bwMode="auto">
          <a:xfrm>
            <a:off x="161925" y="503238"/>
            <a:ext cx="914400"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Times New Roman" pitchFamily="18" charset="0"/>
                <a:sym typeface="Symbol" pitchFamily="18" charset="2"/>
              </a:rPr>
              <a:t>例</a:t>
            </a:r>
            <a:endParaRPr kumimoji="1" lang="zh-CN" altLang="en-US" sz="2400" b="1">
              <a:solidFill>
                <a:srgbClr val="FF0000"/>
              </a:solidFill>
              <a:latin typeface="Times New Roman" pitchFamily="18" charset="0"/>
            </a:endParaRPr>
          </a:p>
        </p:txBody>
      </p:sp>
      <p:sp>
        <p:nvSpPr>
          <p:cNvPr id="75779" name="Rectangle 3"/>
          <p:cNvSpPr>
            <a:spLocks noChangeArrowheads="1"/>
          </p:cNvSpPr>
          <p:nvPr/>
        </p:nvSpPr>
        <p:spPr bwMode="auto">
          <a:xfrm>
            <a:off x="627063" y="449263"/>
            <a:ext cx="8310562" cy="512762"/>
          </a:xfrm>
          <a:prstGeom prst="rect">
            <a:avLst/>
          </a:prstGeom>
          <a:noFill/>
          <a:ln w="9525">
            <a:noFill/>
            <a:miter lim="800000"/>
            <a:headEnd/>
            <a:tailEnd/>
          </a:ln>
        </p:spPr>
        <p:txBody>
          <a:bodyPr>
            <a:spAutoFit/>
          </a:bodyPr>
          <a:lstStyle/>
          <a:p>
            <a:pPr algn="l">
              <a:lnSpc>
                <a:spcPct val="115000"/>
              </a:lnSpc>
            </a:pPr>
            <a:r>
              <a:rPr kumimoji="1" lang="zh-CN" altLang="en-US" sz="2400" b="1">
                <a:latin typeface="Times New Roman" pitchFamily="18" charset="0"/>
                <a:sym typeface="Symbol" pitchFamily="18" charset="2"/>
              </a:rPr>
              <a:t>同轴电缆由半径分别为</a:t>
            </a:r>
            <a:r>
              <a:rPr kumimoji="1" lang="zh-CN" altLang="en-US" sz="2400" b="1">
                <a:solidFill>
                  <a:srgbClr val="66FFFF"/>
                </a:solidFill>
                <a:latin typeface="Times New Roman" pitchFamily="18" charset="0"/>
                <a:sym typeface="Symbol" pitchFamily="18" charset="2"/>
              </a:rPr>
              <a:t> </a:t>
            </a:r>
            <a:r>
              <a:rPr kumimoji="1" lang="en-US" altLang="zh-CN" sz="2400" b="1" i="1">
                <a:solidFill>
                  <a:srgbClr val="FF6600"/>
                </a:solidFill>
                <a:latin typeface="Times New Roman" pitchFamily="18" charset="0"/>
                <a:sym typeface="Symbol" pitchFamily="18" charset="2"/>
              </a:rPr>
              <a:t>R</a:t>
            </a:r>
            <a:r>
              <a:rPr kumimoji="1" lang="en-US" altLang="zh-CN" sz="2400" b="1" baseline="-25000">
                <a:solidFill>
                  <a:srgbClr val="FF6600"/>
                </a:solidFill>
                <a:latin typeface="Times New Roman" pitchFamily="18" charset="0"/>
                <a:sym typeface="Symbol" pitchFamily="18" charset="2"/>
              </a:rPr>
              <a:t>1</a:t>
            </a:r>
            <a:r>
              <a:rPr kumimoji="1" lang="en-US" altLang="zh-CN" sz="2400" b="1" i="1" baseline="-25000">
                <a:latin typeface="Times New Roman" pitchFamily="18" charset="0"/>
                <a:sym typeface="Symbol" pitchFamily="18" charset="2"/>
              </a:rPr>
              <a:t> </a:t>
            </a:r>
            <a:r>
              <a:rPr kumimoji="1" lang="zh-CN" altLang="en-US" sz="2400" b="1">
                <a:latin typeface="Times New Roman" pitchFamily="18" charset="0"/>
                <a:sym typeface="Symbol" pitchFamily="18" charset="2"/>
              </a:rPr>
              <a:t>和</a:t>
            </a:r>
            <a:r>
              <a:rPr kumimoji="1" lang="zh-CN" altLang="en-US" sz="2400" b="1">
                <a:solidFill>
                  <a:schemeClr val="bg1"/>
                </a:solidFill>
                <a:latin typeface="Times New Roman" pitchFamily="18" charset="0"/>
                <a:sym typeface="Symbol" pitchFamily="18" charset="2"/>
              </a:rPr>
              <a:t> </a:t>
            </a:r>
            <a:r>
              <a:rPr kumimoji="1" lang="en-US" altLang="zh-CN" sz="2400" b="1" i="1">
                <a:solidFill>
                  <a:srgbClr val="FF6600"/>
                </a:solidFill>
                <a:latin typeface="Times New Roman" pitchFamily="18" charset="0"/>
                <a:sym typeface="Symbol" pitchFamily="18" charset="2"/>
              </a:rPr>
              <a:t>R</a:t>
            </a:r>
            <a:r>
              <a:rPr kumimoji="1" lang="en-US" altLang="zh-CN" sz="2400" b="1" baseline="-25000">
                <a:solidFill>
                  <a:srgbClr val="FF6600"/>
                </a:solidFill>
                <a:latin typeface="Times New Roman" pitchFamily="18" charset="0"/>
                <a:sym typeface="Symbol" pitchFamily="18" charset="2"/>
              </a:rPr>
              <a:t>2 </a:t>
            </a:r>
            <a:r>
              <a:rPr kumimoji="1" lang="zh-CN" altLang="en-US" sz="2400" b="1">
                <a:latin typeface="Times New Roman" pitchFamily="18" charset="0"/>
                <a:sym typeface="Symbol" pitchFamily="18" charset="2"/>
              </a:rPr>
              <a:t>的两个无限长</a:t>
            </a:r>
            <a:r>
              <a:rPr kumimoji="1" lang="zh-CN" altLang="en-US" sz="2400" b="1">
                <a:solidFill>
                  <a:srgbClr val="9900CC"/>
                </a:solidFill>
                <a:latin typeface="Times New Roman" pitchFamily="18" charset="0"/>
                <a:sym typeface="Symbol" pitchFamily="18" charset="2"/>
              </a:rPr>
              <a:t>同轴柱面</a:t>
            </a:r>
            <a:r>
              <a:rPr kumimoji="1" lang="zh-CN" altLang="en-US" sz="2400" b="1">
                <a:latin typeface="Times New Roman" pitchFamily="18" charset="0"/>
                <a:sym typeface="Symbol" pitchFamily="18" charset="2"/>
              </a:rPr>
              <a:t>组成</a:t>
            </a:r>
          </a:p>
        </p:txBody>
      </p:sp>
      <p:sp>
        <p:nvSpPr>
          <p:cNvPr id="75780" name="Rectangle 4"/>
          <p:cNvSpPr>
            <a:spLocks noChangeArrowheads="1"/>
          </p:cNvSpPr>
          <p:nvPr/>
        </p:nvSpPr>
        <p:spPr bwMode="auto">
          <a:xfrm>
            <a:off x="161925" y="1089025"/>
            <a:ext cx="5791200"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Times New Roman" pitchFamily="18" charset="0"/>
                <a:sym typeface="Symbol" pitchFamily="18" charset="2"/>
              </a:rPr>
              <a:t>求  </a:t>
            </a:r>
            <a:r>
              <a:rPr kumimoji="1" lang="zh-CN" altLang="en-US" sz="2400" b="1">
                <a:latin typeface="Times New Roman" pitchFamily="18" charset="0"/>
                <a:sym typeface="Symbol" pitchFamily="18" charset="2"/>
              </a:rPr>
              <a:t>无限长同轴电缆单位长度上的自感。</a:t>
            </a:r>
          </a:p>
        </p:txBody>
      </p:sp>
      <p:graphicFrame>
        <p:nvGraphicFramePr>
          <p:cNvPr id="75781" name="Object 5"/>
          <p:cNvGraphicFramePr>
            <a:graphicFrameLocks noChangeAspect="1"/>
          </p:cNvGraphicFramePr>
          <p:nvPr/>
        </p:nvGraphicFramePr>
        <p:xfrm>
          <a:off x="6958013" y="1133475"/>
          <a:ext cx="230187" cy="298450"/>
        </p:xfrm>
        <a:graphic>
          <a:graphicData uri="http://schemas.openxmlformats.org/presentationml/2006/ole">
            <p:oleObj spid="_x0000_s19458" name="公式" r:id="rId3" imgW="85632" imgH="123930" progId="Equation.3">
              <p:embed/>
            </p:oleObj>
          </a:graphicData>
        </a:graphic>
      </p:graphicFrame>
      <p:sp>
        <p:nvSpPr>
          <p:cNvPr id="75782" name="Line 6"/>
          <p:cNvSpPr>
            <a:spLocks noChangeShapeType="1"/>
          </p:cNvSpPr>
          <p:nvPr/>
        </p:nvSpPr>
        <p:spPr bwMode="auto">
          <a:xfrm>
            <a:off x="5981700" y="2749550"/>
            <a:ext cx="0" cy="762000"/>
          </a:xfrm>
          <a:prstGeom prst="line">
            <a:avLst/>
          </a:prstGeom>
          <a:noFill/>
          <a:ln w="38100">
            <a:solidFill>
              <a:srgbClr val="FF0000"/>
            </a:solidFill>
            <a:round/>
            <a:headEnd/>
            <a:tailEnd type="triangle" w="med" len="med"/>
          </a:ln>
        </p:spPr>
        <p:txBody>
          <a:bodyPr/>
          <a:lstStyle/>
          <a:p>
            <a:endParaRPr lang="zh-CN" altLang="en-US"/>
          </a:p>
        </p:txBody>
      </p:sp>
      <p:graphicFrame>
        <p:nvGraphicFramePr>
          <p:cNvPr id="75783" name="Object 7"/>
          <p:cNvGraphicFramePr>
            <a:graphicFrameLocks noChangeAspect="1"/>
          </p:cNvGraphicFramePr>
          <p:nvPr/>
        </p:nvGraphicFramePr>
        <p:xfrm>
          <a:off x="5842000" y="2419350"/>
          <a:ext cx="227013" cy="298450"/>
        </p:xfrm>
        <a:graphic>
          <a:graphicData uri="http://schemas.openxmlformats.org/presentationml/2006/ole">
            <p:oleObj spid="_x0000_s19459" name="公式" r:id="rId4" imgW="85632" imgH="123930" progId="Equation.3">
              <p:embed/>
            </p:oleObj>
          </a:graphicData>
        </a:graphic>
      </p:graphicFrame>
      <p:sp>
        <p:nvSpPr>
          <p:cNvPr id="75784" name="Rectangle 8"/>
          <p:cNvSpPr>
            <a:spLocks noChangeArrowheads="1"/>
          </p:cNvSpPr>
          <p:nvPr/>
        </p:nvSpPr>
        <p:spPr bwMode="auto">
          <a:xfrm>
            <a:off x="161925" y="1673225"/>
            <a:ext cx="48895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sym typeface="Symbol" pitchFamily="18" charset="2"/>
              </a:rPr>
              <a:t>解</a:t>
            </a:r>
          </a:p>
        </p:txBody>
      </p:sp>
      <p:sp>
        <p:nvSpPr>
          <p:cNvPr id="75785" name="Rectangle 9"/>
          <p:cNvSpPr>
            <a:spLocks noChangeArrowheads="1"/>
          </p:cNvSpPr>
          <p:nvPr/>
        </p:nvSpPr>
        <p:spPr bwMode="auto">
          <a:xfrm>
            <a:off x="701675" y="1719263"/>
            <a:ext cx="4679950"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sym typeface="Symbol" pitchFamily="18" charset="2"/>
              </a:rPr>
              <a:t>由</a:t>
            </a:r>
            <a:r>
              <a:rPr kumimoji="1" lang="zh-CN" altLang="en-US" sz="2400" b="1">
                <a:solidFill>
                  <a:srgbClr val="FF6600"/>
                </a:solidFill>
                <a:latin typeface="Times New Roman" pitchFamily="18" charset="0"/>
                <a:ea typeface="楷体_GB2312" pitchFamily="49" charset="-122"/>
                <a:sym typeface="Symbol" pitchFamily="18" charset="2"/>
              </a:rPr>
              <a:t>介质中的安培环路定理</a:t>
            </a:r>
            <a:r>
              <a:rPr kumimoji="1" lang="zh-CN" altLang="en-US" sz="2400" b="1">
                <a:latin typeface="Times New Roman" pitchFamily="18" charset="0"/>
                <a:ea typeface="楷体_GB2312" pitchFamily="49" charset="-122"/>
                <a:sym typeface="Symbol" pitchFamily="18" charset="2"/>
              </a:rPr>
              <a:t>得</a:t>
            </a:r>
            <a:endParaRPr kumimoji="1" lang="zh-CN" altLang="en-US" sz="2400" b="1">
              <a:latin typeface="Times New Roman" pitchFamily="18" charset="0"/>
              <a:ea typeface="楷体_GB2312" pitchFamily="49" charset="-122"/>
            </a:endParaRPr>
          </a:p>
        </p:txBody>
      </p:sp>
      <p:graphicFrame>
        <p:nvGraphicFramePr>
          <p:cNvPr id="75786" name="Object 10"/>
          <p:cNvGraphicFramePr>
            <a:graphicFrameLocks noChangeAspect="1"/>
          </p:cNvGraphicFramePr>
          <p:nvPr/>
        </p:nvGraphicFramePr>
        <p:xfrm>
          <a:off x="1181100" y="2544763"/>
          <a:ext cx="1312863" cy="388937"/>
        </p:xfrm>
        <a:graphic>
          <a:graphicData uri="http://schemas.openxmlformats.org/presentationml/2006/ole">
            <p:oleObj spid="_x0000_s19460" name="公式" r:id="rId5" imgW="695322" imgH="180900" progId="Equation.3">
              <p:embed/>
            </p:oleObj>
          </a:graphicData>
        </a:graphic>
      </p:graphicFrame>
      <p:graphicFrame>
        <p:nvGraphicFramePr>
          <p:cNvPr id="75787" name="Object 11"/>
          <p:cNvGraphicFramePr>
            <a:graphicFrameLocks noChangeAspect="1"/>
          </p:cNvGraphicFramePr>
          <p:nvPr/>
        </p:nvGraphicFramePr>
        <p:xfrm>
          <a:off x="2951163" y="2349500"/>
          <a:ext cx="1303337" cy="731838"/>
        </p:xfrm>
        <a:graphic>
          <a:graphicData uri="http://schemas.openxmlformats.org/presentationml/2006/ole">
            <p:oleObj spid="_x0000_s19461" name="公式" r:id="rId6" imgW="685868" imgH="371520" progId="Equation.3">
              <p:embed/>
            </p:oleObj>
          </a:graphicData>
        </a:graphic>
      </p:graphicFrame>
      <p:graphicFrame>
        <p:nvGraphicFramePr>
          <p:cNvPr id="75788" name="Object 12"/>
          <p:cNvGraphicFramePr>
            <a:graphicFrameLocks noChangeAspect="1"/>
          </p:cNvGraphicFramePr>
          <p:nvPr/>
        </p:nvGraphicFramePr>
        <p:xfrm>
          <a:off x="1174750" y="3287713"/>
          <a:ext cx="1671638" cy="388937"/>
        </p:xfrm>
        <a:graphic>
          <a:graphicData uri="http://schemas.openxmlformats.org/presentationml/2006/ole">
            <p:oleObj spid="_x0000_s19462" name="公式" r:id="rId7" imgW="885766" imgH="180900" progId="Equation.3">
              <p:embed/>
            </p:oleObj>
          </a:graphicData>
        </a:graphic>
      </p:graphicFrame>
      <p:graphicFrame>
        <p:nvGraphicFramePr>
          <p:cNvPr id="75789" name="Object 13"/>
          <p:cNvGraphicFramePr>
            <a:graphicFrameLocks noChangeAspect="1"/>
          </p:cNvGraphicFramePr>
          <p:nvPr/>
        </p:nvGraphicFramePr>
        <p:xfrm>
          <a:off x="3267075" y="3333750"/>
          <a:ext cx="709613" cy="320675"/>
        </p:xfrm>
        <a:graphic>
          <a:graphicData uri="http://schemas.openxmlformats.org/presentationml/2006/ole">
            <p:oleObj spid="_x0000_s19463" name="公式" r:id="rId8" imgW="352523" imgH="142830" progId="Equation.3">
              <p:embed/>
            </p:oleObj>
          </a:graphicData>
        </a:graphic>
      </p:graphicFrame>
      <p:grpSp>
        <p:nvGrpSpPr>
          <p:cNvPr id="2" name="Group 39"/>
          <p:cNvGrpSpPr>
            <a:grpSpLocks/>
          </p:cNvGrpSpPr>
          <p:nvPr/>
        </p:nvGrpSpPr>
        <p:grpSpPr bwMode="auto">
          <a:xfrm>
            <a:off x="6130925" y="1606550"/>
            <a:ext cx="2286000" cy="4191000"/>
            <a:chOff x="2064" y="1012"/>
            <a:chExt cx="1440" cy="2640"/>
          </a:xfrm>
        </p:grpSpPr>
        <p:sp>
          <p:nvSpPr>
            <p:cNvPr id="19491" name="Line 15"/>
            <p:cNvSpPr>
              <a:spLocks noChangeShapeType="1"/>
            </p:cNvSpPr>
            <p:nvPr/>
          </p:nvSpPr>
          <p:spPr bwMode="auto">
            <a:xfrm>
              <a:off x="2064" y="1208"/>
              <a:ext cx="0" cy="2200"/>
            </a:xfrm>
            <a:prstGeom prst="line">
              <a:avLst/>
            </a:prstGeom>
            <a:noFill/>
            <a:ln w="28575">
              <a:solidFill>
                <a:srgbClr val="FF9900"/>
              </a:solidFill>
              <a:round/>
              <a:headEnd/>
              <a:tailEnd/>
            </a:ln>
          </p:spPr>
          <p:txBody>
            <a:bodyPr/>
            <a:lstStyle/>
            <a:p>
              <a:endParaRPr lang="zh-CN" altLang="en-US"/>
            </a:p>
          </p:txBody>
        </p:sp>
        <p:sp>
          <p:nvSpPr>
            <p:cNvPr id="19492" name="Line 16"/>
            <p:cNvSpPr>
              <a:spLocks noChangeShapeType="1"/>
            </p:cNvSpPr>
            <p:nvPr/>
          </p:nvSpPr>
          <p:spPr bwMode="auto">
            <a:xfrm>
              <a:off x="3504" y="1208"/>
              <a:ext cx="0" cy="2248"/>
            </a:xfrm>
            <a:prstGeom prst="line">
              <a:avLst/>
            </a:prstGeom>
            <a:noFill/>
            <a:ln w="28575">
              <a:solidFill>
                <a:srgbClr val="FF9900"/>
              </a:solidFill>
              <a:round/>
              <a:headEnd/>
              <a:tailEnd/>
            </a:ln>
          </p:spPr>
          <p:txBody>
            <a:bodyPr/>
            <a:lstStyle/>
            <a:p>
              <a:endParaRPr lang="zh-CN" altLang="en-US"/>
            </a:p>
          </p:txBody>
        </p:sp>
        <p:sp>
          <p:nvSpPr>
            <p:cNvPr id="19493" name="Oval 17"/>
            <p:cNvSpPr>
              <a:spLocks noChangeArrowheads="1"/>
            </p:cNvSpPr>
            <p:nvPr/>
          </p:nvSpPr>
          <p:spPr bwMode="auto">
            <a:xfrm>
              <a:off x="2064" y="3261"/>
              <a:ext cx="1440" cy="391"/>
            </a:xfrm>
            <a:prstGeom prst="ellipse">
              <a:avLst/>
            </a:prstGeom>
            <a:gradFill rotWithShape="1">
              <a:gsLst>
                <a:gs pos="0">
                  <a:srgbClr val="FF9900">
                    <a:alpha val="37999"/>
                  </a:srgbClr>
                </a:gs>
                <a:gs pos="100000">
                  <a:srgbClr val="513100">
                    <a:alpha val="39998"/>
                  </a:srgbClr>
                </a:gs>
              </a:gsLst>
              <a:path path="shape">
                <a:fillToRect l="50000" t="50000" r="50000" b="50000"/>
              </a:path>
            </a:gradFill>
            <a:ln w="57150">
              <a:solidFill>
                <a:srgbClr val="FF9900"/>
              </a:solidFill>
              <a:round/>
              <a:headEnd/>
              <a:tailEnd/>
            </a:ln>
          </p:spPr>
          <p:txBody>
            <a:bodyPr wrap="none" anchor="ctr"/>
            <a:lstStyle/>
            <a:p>
              <a:endParaRPr lang="zh-CN" altLang="en-US"/>
            </a:p>
          </p:txBody>
        </p:sp>
        <p:sp>
          <p:nvSpPr>
            <p:cNvPr id="19494" name="Oval 18"/>
            <p:cNvSpPr>
              <a:spLocks noChangeArrowheads="1"/>
            </p:cNvSpPr>
            <p:nvPr/>
          </p:nvSpPr>
          <p:spPr bwMode="auto">
            <a:xfrm>
              <a:off x="2064" y="1012"/>
              <a:ext cx="1440" cy="391"/>
            </a:xfrm>
            <a:prstGeom prst="ellipse">
              <a:avLst/>
            </a:prstGeom>
            <a:noFill/>
            <a:ln w="28575">
              <a:solidFill>
                <a:srgbClr val="FF9900"/>
              </a:solidFill>
              <a:round/>
              <a:headEnd/>
              <a:tailEnd/>
            </a:ln>
          </p:spPr>
          <p:txBody>
            <a:bodyPr wrap="none" anchor="ctr"/>
            <a:lstStyle/>
            <a:p>
              <a:endParaRPr lang="zh-CN" altLang="en-US"/>
            </a:p>
          </p:txBody>
        </p:sp>
      </p:grpSp>
      <p:sp>
        <p:nvSpPr>
          <p:cNvPr id="75795" name="Line 19"/>
          <p:cNvSpPr>
            <a:spLocks noChangeShapeType="1"/>
          </p:cNvSpPr>
          <p:nvPr/>
        </p:nvSpPr>
        <p:spPr bwMode="auto">
          <a:xfrm>
            <a:off x="7294563" y="1901825"/>
            <a:ext cx="381000" cy="0"/>
          </a:xfrm>
          <a:prstGeom prst="line">
            <a:avLst/>
          </a:prstGeom>
          <a:noFill/>
          <a:ln w="28575">
            <a:solidFill>
              <a:srgbClr val="0000FF"/>
            </a:solidFill>
            <a:round/>
            <a:headEnd/>
            <a:tailEnd/>
          </a:ln>
        </p:spPr>
        <p:txBody>
          <a:bodyPr/>
          <a:lstStyle/>
          <a:p>
            <a:endParaRPr lang="zh-CN" altLang="en-US"/>
          </a:p>
        </p:txBody>
      </p:sp>
      <p:graphicFrame>
        <p:nvGraphicFramePr>
          <p:cNvPr id="75796" name="Object 20"/>
          <p:cNvGraphicFramePr>
            <a:graphicFrameLocks noChangeAspect="1"/>
          </p:cNvGraphicFramePr>
          <p:nvPr/>
        </p:nvGraphicFramePr>
        <p:xfrm>
          <a:off x="7947025" y="2413000"/>
          <a:ext cx="371475" cy="304800"/>
        </p:xfrm>
        <a:graphic>
          <a:graphicData uri="http://schemas.openxmlformats.org/presentationml/2006/ole">
            <p:oleObj spid="_x0000_s19464" name="公式" r:id="rId9" imgW="180989" imgH="142830" progId="Equation.3">
              <p:embed/>
            </p:oleObj>
          </a:graphicData>
        </a:graphic>
      </p:graphicFrame>
      <p:graphicFrame>
        <p:nvGraphicFramePr>
          <p:cNvPr id="75797" name="Object 21"/>
          <p:cNvGraphicFramePr>
            <a:graphicFrameLocks noChangeAspect="1"/>
          </p:cNvGraphicFramePr>
          <p:nvPr/>
        </p:nvGraphicFramePr>
        <p:xfrm>
          <a:off x="1344613" y="4114800"/>
          <a:ext cx="1238250" cy="320675"/>
        </p:xfrm>
        <a:graphic>
          <a:graphicData uri="http://schemas.openxmlformats.org/presentationml/2006/ole">
            <p:oleObj spid="_x0000_s19465" name="公式" r:id="rId10" imgW="647779" imgH="142830" progId="Equation.3">
              <p:embed/>
            </p:oleObj>
          </a:graphicData>
        </a:graphic>
      </p:graphicFrame>
      <p:graphicFrame>
        <p:nvGraphicFramePr>
          <p:cNvPr id="75798" name="Object 22"/>
          <p:cNvGraphicFramePr>
            <a:graphicFrameLocks noChangeAspect="1"/>
          </p:cNvGraphicFramePr>
          <p:nvPr/>
        </p:nvGraphicFramePr>
        <p:xfrm>
          <a:off x="2636838" y="3863975"/>
          <a:ext cx="1414462" cy="735013"/>
        </p:xfrm>
        <a:graphic>
          <a:graphicData uri="http://schemas.openxmlformats.org/presentationml/2006/ole">
            <p:oleObj spid="_x0000_s19466" name="公式" r:id="rId11" imgW="752590" imgH="371520" progId="Equation.3">
              <p:embed/>
            </p:oleObj>
          </a:graphicData>
        </a:graphic>
      </p:graphicFrame>
      <p:graphicFrame>
        <p:nvGraphicFramePr>
          <p:cNvPr id="75799" name="Object 23"/>
          <p:cNvGraphicFramePr>
            <a:graphicFrameLocks noChangeAspect="1"/>
          </p:cNvGraphicFramePr>
          <p:nvPr/>
        </p:nvGraphicFramePr>
        <p:xfrm>
          <a:off x="1331913" y="4824413"/>
          <a:ext cx="2016125" cy="735012"/>
        </p:xfrm>
        <a:graphic>
          <a:graphicData uri="http://schemas.openxmlformats.org/presentationml/2006/ole">
            <p:oleObj spid="_x0000_s19467" name="公式" r:id="rId12" imgW="1076210" imgH="371520" progId="Equation.3">
              <p:embed/>
            </p:oleObj>
          </a:graphicData>
        </a:graphic>
      </p:graphicFrame>
      <p:graphicFrame>
        <p:nvGraphicFramePr>
          <p:cNvPr id="75800" name="Object 24"/>
          <p:cNvGraphicFramePr>
            <a:graphicFrameLocks noChangeAspect="1"/>
          </p:cNvGraphicFramePr>
          <p:nvPr/>
        </p:nvGraphicFramePr>
        <p:xfrm>
          <a:off x="3402013" y="4824413"/>
          <a:ext cx="1735137" cy="798512"/>
        </p:xfrm>
        <a:graphic>
          <a:graphicData uri="http://schemas.openxmlformats.org/presentationml/2006/ole">
            <p:oleObj spid="_x0000_s19468" name="公式" r:id="rId13" imgW="923855" imgH="409590" progId="Equation.3">
              <p:embed/>
            </p:oleObj>
          </a:graphicData>
        </a:graphic>
      </p:graphicFrame>
      <p:graphicFrame>
        <p:nvGraphicFramePr>
          <p:cNvPr id="75801" name="Object 25"/>
          <p:cNvGraphicFramePr>
            <a:graphicFrameLocks noChangeAspect="1"/>
          </p:cNvGraphicFramePr>
          <p:nvPr/>
        </p:nvGraphicFramePr>
        <p:xfrm>
          <a:off x="2006600" y="5724525"/>
          <a:ext cx="2332038" cy="798513"/>
        </p:xfrm>
        <a:graphic>
          <a:graphicData uri="http://schemas.openxmlformats.org/presentationml/2006/ole">
            <p:oleObj spid="_x0000_s19469" name="公式" r:id="rId14" imgW="1257199" imgH="409590" progId="Equation.3">
              <p:embed/>
            </p:oleObj>
          </a:graphicData>
        </a:graphic>
      </p:graphicFrame>
      <p:graphicFrame>
        <p:nvGraphicFramePr>
          <p:cNvPr id="75802" name="Object 26"/>
          <p:cNvGraphicFramePr>
            <a:graphicFrameLocks noChangeAspect="1"/>
          </p:cNvGraphicFramePr>
          <p:nvPr/>
        </p:nvGraphicFramePr>
        <p:xfrm>
          <a:off x="7988300" y="4824413"/>
          <a:ext cx="207963" cy="230187"/>
        </p:xfrm>
        <a:graphic>
          <a:graphicData uri="http://schemas.openxmlformats.org/presentationml/2006/ole">
            <p:oleObj spid="_x0000_s19470" name="公式" r:id="rId15" imgW="76177" imgH="85860" progId="Equation.3">
              <p:embed/>
            </p:oleObj>
          </a:graphicData>
        </a:graphic>
      </p:graphicFrame>
      <p:sp>
        <p:nvSpPr>
          <p:cNvPr id="75803" name="AutoShape 27"/>
          <p:cNvSpPr>
            <a:spLocks noChangeArrowheads="1"/>
          </p:cNvSpPr>
          <p:nvPr/>
        </p:nvSpPr>
        <p:spPr bwMode="auto">
          <a:xfrm>
            <a:off x="6896100" y="1758950"/>
            <a:ext cx="762000" cy="3843338"/>
          </a:xfrm>
          <a:prstGeom prst="can">
            <a:avLst>
              <a:gd name="adj" fmla="val 36264"/>
            </a:avLst>
          </a:prstGeom>
          <a:noFill/>
          <a:ln w="9525">
            <a:solidFill>
              <a:srgbClr val="008000"/>
            </a:solidFill>
            <a:round/>
            <a:headEnd/>
            <a:tailEnd/>
          </a:ln>
        </p:spPr>
        <p:txBody>
          <a:bodyPr wrap="none" anchor="ctr"/>
          <a:lstStyle/>
          <a:p>
            <a:endParaRPr lang="zh-CN" altLang="en-US"/>
          </a:p>
        </p:txBody>
      </p:sp>
      <p:sp>
        <p:nvSpPr>
          <p:cNvPr id="75804" name="Line 28"/>
          <p:cNvSpPr>
            <a:spLocks noChangeShapeType="1"/>
          </p:cNvSpPr>
          <p:nvPr/>
        </p:nvSpPr>
        <p:spPr bwMode="auto">
          <a:xfrm>
            <a:off x="7277100" y="1377950"/>
            <a:ext cx="0" cy="4572000"/>
          </a:xfrm>
          <a:prstGeom prst="line">
            <a:avLst/>
          </a:prstGeom>
          <a:noFill/>
          <a:ln w="12700">
            <a:solidFill>
              <a:schemeClr val="tx1"/>
            </a:solidFill>
            <a:prstDash val="lgDashDot"/>
            <a:round/>
            <a:headEnd/>
            <a:tailEnd/>
          </a:ln>
        </p:spPr>
        <p:txBody>
          <a:bodyPr/>
          <a:lstStyle/>
          <a:p>
            <a:endParaRPr lang="zh-CN" altLang="en-US"/>
          </a:p>
        </p:txBody>
      </p:sp>
      <p:sp>
        <p:nvSpPr>
          <p:cNvPr id="75805" name="Oval 29"/>
          <p:cNvSpPr>
            <a:spLocks noChangeArrowheads="1"/>
          </p:cNvSpPr>
          <p:nvPr/>
        </p:nvSpPr>
        <p:spPr bwMode="auto">
          <a:xfrm>
            <a:off x="6146800" y="1595438"/>
            <a:ext cx="2286000" cy="609600"/>
          </a:xfrm>
          <a:prstGeom prst="ellipse">
            <a:avLst/>
          </a:prstGeom>
          <a:gradFill rotWithShape="1">
            <a:gsLst>
              <a:gs pos="0">
                <a:srgbClr val="FF9900">
                  <a:alpha val="37000"/>
                </a:srgbClr>
              </a:gs>
              <a:gs pos="100000">
                <a:srgbClr val="412700">
                  <a:alpha val="37000"/>
                </a:srgbClr>
              </a:gs>
            </a:gsLst>
            <a:path path="shape">
              <a:fillToRect l="50000" t="50000" r="50000" b="50000"/>
            </a:path>
          </a:gradFill>
          <a:ln w="57150">
            <a:solidFill>
              <a:srgbClr val="FF9900"/>
            </a:solidFill>
            <a:round/>
            <a:headEnd/>
            <a:tailEnd/>
          </a:ln>
        </p:spPr>
        <p:txBody>
          <a:bodyPr wrap="none" anchor="ctr"/>
          <a:lstStyle/>
          <a:p>
            <a:endParaRPr lang="zh-CN" altLang="en-US"/>
          </a:p>
        </p:txBody>
      </p:sp>
      <p:sp>
        <p:nvSpPr>
          <p:cNvPr id="75807" name="Rectangle 31"/>
          <p:cNvSpPr>
            <a:spLocks noChangeArrowheads="1"/>
          </p:cNvSpPr>
          <p:nvPr/>
        </p:nvSpPr>
        <p:spPr bwMode="auto">
          <a:xfrm>
            <a:off x="8039100" y="2825750"/>
            <a:ext cx="228600" cy="1828800"/>
          </a:xfrm>
          <a:prstGeom prst="rect">
            <a:avLst/>
          </a:prstGeom>
          <a:solidFill>
            <a:srgbClr val="00CC99">
              <a:alpha val="87842"/>
            </a:srgbClr>
          </a:solidFill>
          <a:ln w="9525">
            <a:solidFill>
              <a:srgbClr val="FF9900"/>
            </a:solidFill>
            <a:miter lim="800000"/>
            <a:headEnd/>
            <a:tailEnd/>
          </a:ln>
        </p:spPr>
        <p:txBody>
          <a:bodyPr wrap="none" anchor="ctr"/>
          <a:lstStyle/>
          <a:p>
            <a:endParaRPr lang="zh-CN" altLang="en-US"/>
          </a:p>
        </p:txBody>
      </p:sp>
      <p:sp>
        <p:nvSpPr>
          <p:cNvPr id="75808" name="Line 32"/>
          <p:cNvSpPr>
            <a:spLocks noChangeShapeType="1"/>
          </p:cNvSpPr>
          <p:nvPr/>
        </p:nvSpPr>
        <p:spPr bwMode="auto">
          <a:xfrm>
            <a:off x="7277100" y="5111750"/>
            <a:ext cx="1524000" cy="0"/>
          </a:xfrm>
          <a:prstGeom prst="line">
            <a:avLst/>
          </a:prstGeom>
          <a:noFill/>
          <a:ln w="22225">
            <a:solidFill>
              <a:schemeClr val="tx1"/>
            </a:solidFill>
            <a:round/>
            <a:headEnd/>
            <a:tailEnd type="triangle" w="med" len="med"/>
          </a:ln>
        </p:spPr>
        <p:txBody>
          <a:bodyPr/>
          <a:lstStyle/>
          <a:p>
            <a:endParaRPr lang="zh-CN" altLang="en-US"/>
          </a:p>
        </p:txBody>
      </p:sp>
      <p:graphicFrame>
        <p:nvGraphicFramePr>
          <p:cNvPr id="75809" name="Object 33"/>
          <p:cNvGraphicFramePr>
            <a:graphicFrameLocks noChangeAspect="1"/>
          </p:cNvGraphicFramePr>
          <p:nvPr/>
        </p:nvGraphicFramePr>
        <p:xfrm>
          <a:off x="7378700" y="3446463"/>
          <a:ext cx="184150" cy="323850"/>
        </p:xfrm>
        <a:graphic>
          <a:graphicData uri="http://schemas.openxmlformats.org/presentationml/2006/ole">
            <p:oleObj spid="_x0000_s19471" name="公式" r:id="rId16" imgW="66723" imgH="142830" progId="Equation.3">
              <p:embed/>
            </p:oleObj>
          </a:graphicData>
        </a:graphic>
      </p:graphicFrame>
      <p:sp>
        <p:nvSpPr>
          <p:cNvPr id="75810" name="Line 34"/>
          <p:cNvSpPr>
            <a:spLocks noChangeShapeType="1"/>
          </p:cNvSpPr>
          <p:nvPr/>
        </p:nvSpPr>
        <p:spPr bwMode="auto">
          <a:xfrm flipV="1">
            <a:off x="6911975" y="1149350"/>
            <a:ext cx="0" cy="762000"/>
          </a:xfrm>
          <a:prstGeom prst="line">
            <a:avLst/>
          </a:prstGeom>
          <a:noFill/>
          <a:ln w="38100">
            <a:solidFill>
              <a:srgbClr val="FF0000"/>
            </a:solidFill>
            <a:round/>
            <a:headEnd/>
            <a:tailEnd type="triangle" w="med" len="med"/>
          </a:ln>
        </p:spPr>
        <p:txBody>
          <a:bodyPr/>
          <a:lstStyle/>
          <a:p>
            <a:endParaRPr lang="zh-CN" altLang="en-US"/>
          </a:p>
        </p:txBody>
      </p:sp>
      <p:graphicFrame>
        <p:nvGraphicFramePr>
          <p:cNvPr id="75811" name="Object 35"/>
          <p:cNvGraphicFramePr>
            <a:graphicFrameLocks noChangeAspect="1"/>
          </p:cNvGraphicFramePr>
          <p:nvPr/>
        </p:nvGraphicFramePr>
        <p:xfrm>
          <a:off x="7667625" y="1727200"/>
          <a:ext cx="269875" cy="303213"/>
        </p:xfrm>
        <a:graphic>
          <a:graphicData uri="http://schemas.openxmlformats.org/presentationml/2006/ole">
            <p:oleObj spid="_x0000_s19472" name="公式" r:id="rId17" imgW="152355" imgH="180900" progId="Equation.3">
              <p:embed/>
            </p:oleObj>
          </a:graphicData>
        </a:graphic>
      </p:graphicFrame>
      <p:sp>
        <p:nvSpPr>
          <p:cNvPr id="75812" name="Line 36"/>
          <p:cNvSpPr>
            <a:spLocks noChangeShapeType="1"/>
          </p:cNvSpPr>
          <p:nvPr/>
        </p:nvSpPr>
        <p:spPr bwMode="auto">
          <a:xfrm>
            <a:off x="6134100" y="3359150"/>
            <a:ext cx="1143000" cy="0"/>
          </a:xfrm>
          <a:prstGeom prst="line">
            <a:avLst/>
          </a:prstGeom>
          <a:noFill/>
          <a:ln w="19050">
            <a:solidFill>
              <a:srgbClr val="0000CC"/>
            </a:solidFill>
            <a:round/>
            <a:headEnd/>
            <a:tailEnd/>
          </a:ln>
        </p:spPr>
        <p:txBody>
          <a:bodyPr/>
          <a:lstStyle/>
          <a:p>
            <a:endParaRPr lang="zh-CN" altLang="en-US"/>
          </a:p>
        </p:txBody>
      </p:sp>
      <p:graphicFrame>
        <p:nvGraphicFramePr>
          <p:cNvPr id="75813" name="Object 37"/>
          <p:cNvGraphicFramePr>
            <a:graphicFrameLocks noChangeAspect="1"/>
          </p:cNvGraphicFramePr>
          <p:nvPr/>
        </p:nvGraphicFramePr>
        <p:xfrm>
          <a:off x="6354763" y="2921000"/>
          <a:ext cx="366712" cy="387350"/>
        </p:xfrm>
        <a:graphic>
          <a:graphicData uri="http://schemas.openxmlformats.org/presentationml/2006/ole">
            <p:oleObj spid="_x0000_s19473" name="公式" r:id="rId18" imgW="161810" imgH="180900" progId="Equation.3">
              <p:embed/>
            </p:oleObj>
          </a:graphicData>
        </a:graphic>
      </p:graphicFrame>
      <p:graphicFrame>
        <p:nvGraphicFramePr>
          <p:cNvPr id="75814" name="Object 38"/>
          <p:cNvGraphicFramePr>
            <a:graphicFrameLocks noChangeAspect="1"/>
          </p:cNvGraphicFramePr>
          <p:nvPr/>
        </p:nvGraphicFramePr>
        <p:xfrm>
          <a:off x="6432550" y="3841750"/>
          <a:ext cx="341313" cy="390525"/>
        </p:xfrm>
        <a:graphic>
          <a:graphicData uri="http://schemas.openxmlformats.org/presentationml/2006/ole">
            <p:oleObj spid="_x0000_s19474" name="公式" r:id="rId19" imgW="152355" imgH="18090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8"/>
                                        </p:tgtEl>
                                        <p:attrNameLst>
                                          <p:attrName>style.visibility</p:attrName>
                                        </p:attrNameLst>
                                      </p:cBhvr>
                                      <p:to>
                                        <p:strVal val="visible"/>
                                      </p:to>
                                    </p:set>
                                    <p:animEffect transition="in" filter="wipe(left)">
                                      <p:cBhvr>
                                        <p:cTn id="7" dur="500"/>
                                        <p:tgtEl>
                                          <p:spTgt spid="757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9"/>
                                        </p:tgtEl>
                                        <p:attrNameLst>
                                          <p:attrName>style.visibility</p:attrName>
                                        </p:attrNameLst>
                                      </p:cBhvr>
                                      <p:to>
                                        <p:strVal val="visible"/>
                                      </p:to>
                                    </p:set>
                                    <p:animEffect transition="in" filter="wipe(left)">
                                      <p:cBhvr>
                                        <p:cTn id="12" dur="500"/>
                                        <p:tgtEl>
                                          <p:spTgt spid="757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7" presetClass="entr" presetSubtype="4" fill="hold" grpId="0" nodeType="clickEffect">
                                  <p:stCondLst>
                                    <p:cond delay="0"/>
                                  </p:stCondLst>
                                  <p:childTnLst>
                                    <p:set>
                                      <p:cBhvr>
                                        <p:cTn id="16" dur="1" fill="hold">
                                          <p:stCondLst>
                                            <p:cond delay="0"/>
                                          </p:stCondLst>
                                        </p:cTn>
                                        <p:tgtEl>
                                          <p:spTgt spid="75803"/>
                                        </p:tgtEl>
                                        <p:attrNameLst>
                                          <p:attrName>style.visibility</p:attrName>
                                        </p:attrNameLst>
                                      </p:cBhvr>
                                      <p:to>
                                        <p:strVal val="visible"/>
                                      </p:to>
                                    </p:set>
                                    <p:anim calcmode="lin" valueType="num">
                                      <p:cBhvr additive="base">
                                        <p:cTn id="17" dur="1000" fill="hold"/>
                                        <p:tgtEl>
                                          <p:spTgt spid="75803"/>
                                        </p:tgtEl>
                                        <p:attrNameLst>
                                          <p:attrName>ppt_x</p:attrName>
                                        </p:attrNameLst>
                                      </p:cBhvr>
                                      <p:tavLst>
                                        <p:tav tm="0">
                                          <p:val>
                                            <p:strVal val="#ppt_x"/>
                                          </p:val>
                                        </p:tav>
                                        <p:tav tm="100000">
                                          <p:val>
                                            <p:strVal val="#ppt_x"/>
                                          </p:val>
                                        </p:tav>
                                      </p:tavLst>
                                    </p:anim>
                                    <p:anim calcmode="lin" valueType="num">
                                      <p:cBhvr additive="base">
                                        <p:cTn id="18" dur="1000" fill="hold"/>
                                        <p:tgtEl>
                                          <p:spTgt spid="75803"/>
                                        </p:tgtEl>
                                        <p:attrNameLst>
                                          <p:attrName>ppt_y</p:attrName>
                                        </p:attrNameLst>
                                      </p:cBhvr>
                                      <p:tavLst>
                                        <p:tav tm="0">
                                          <p:val>
                                            <p:strVal val="1+#ppt_h/2"/>
                                          </p:val>
                                        </p:tav>
                                        <p:tav tm="100000">
                                          <p:val>
                                            <p:strVal val="#ppt_y"/>
                                          </p:val>
                                        </p:tav>
                                      </p:tavLst>
                                    </p:anim>
                                  </p:childTnLst>
                                </p:cTn>
                              </p:par>
                            </p:childTnLst>
                          </p:cTn>
                        </p:par>
                        <p:par>
                          <p:cTn id="19" fill="hold" nodeType="afterGroup">
                            <p:stCondLst>
                              <p:cond delay="1000"/>
                            </p:stCondLst>
                            <p:childTnLst>
                              <p:par>
                                <p:cTn id="20" presetID="12" presetClass="entr" presetSubtype="4" fill="hold" grpId="0" nodeType="afterEffect">
                                  <p:stCondLst>
                                    <p:cond delay="0"/>
                                  </p:stCondLst>
                                  <p:childTnLst>
                                    <p:set>
                                      <p:cBhvr>
                                        <p:cTn id="21" dur="1" fill="hold">
                                          <p:stCondLst>
                                            <p:cond delay="0"/>
                                          </p:stCondLst>
                                        </p:cTn>
                                        <p:tgtEl>
                                          <p:spTgt spid="75804"/>
                                        </p:tgtEl>
                                        <p:attrNameLst>
                                          <p:attrName>style.visibility</p:attrName>
                                        </p:attrNameLst>
                                      </p:cBhvr>
                                      <p:to>
                                        <p:strVal val="visible"/>
                                      </p:to>
                                    </p:set>
                                    <p:animEffect transition="in" filter="slide(fromBottom)">
                                      <p:cBhvr>
                                        <p:cTn id="22" dur="500"/>
                                        <p:tgtEl>
                                          <p:spTgt spid="75804"/>
                                        </p:tgtEl>
                                      </p:cBhvr>
                                    </p:animEffect>
                                  </p:childTnLst>
                                </p:cTn>
                              </p:par>
                            </p:childTnLst>
                          </p:cTn>
                        </p:par>
                        <p:par>
                          <p:cTn id="23" fill="hold" nodeType="afterGroup">
                            <p:stCondLst>
                              <p:cond delay="1500"/>
                            </p:stCondLst>
                            <p:childTnLst>
                              <p:par>
                                <p:cTn id="24" presetID="22" presetClass="entr" presetSubtype="8" fill="hold" grpId="0" nodeType="afterEffect">
                                  <p:stCondLst>
                                    <p:cond delay="0"/>
                                  </p:stCondLst>
                                  <p:childTnLst>
                                    <p:set>
                                      <p:cBhvr>
                                        <p:cTn id="25" dur="1" fill="hold">
                                          <p:stCondLst>
                                            <p:cond delay="0"/>
                                          </p:stCondLst>
                                        </p:cTn>
                                        <p:tgtEl>
                                          <p:spTgt spid="75795"/>
                                        </p:tgtEl>
                                        <p:attrNameLst>
                                          <p:attrName>style.visibility</p:attrName>
                                        </p:attrNameLst>
                                      </p:cBhvr>
                                      <p:to>
                                        <p:strVal val="visible"/>
                                      </p:to>
                                    </p:set>
                                    <p:animEffect transition="in" filter="wipe(left)">
                                      <p:cBhvr>
                                        <p:cTn id="26" dur="500"/>
                                        <p:tgtEl>
                                          <p:spTgt spid="75795"/>
                                        </p:tgtEl>
                                      </p:cBhvr>
                                    </p:animEffect>
                                  </p:childTnLst>
                                </p:cTn>
                              </p:par>
                            </p:childTnLst>
                          </p:cTn>
                        </p:par>
                        <p:par>
                          <p:cTn id="27" fill="hold" nodeType="afterGroup">
                            <p:stCondLst>
                              <p:cond delay="2000"/>
                            </p:stCondLst>
                            <p:childTnLst>
                              <p:par>
                                <p:cTn id="28" presetID="1" presetClass="entr" presetSubtype="0" fill="hold" nodeType="afterEffect">
                                  <p:stCondLst>
                                    <p:cond delay="0"/>
                                  </p:stCondLst>
                                  <p:childTnLst>
                                    <p:set>
                                      <p:cBhvr>
                                        <p:cTn id="29" dur="1" fill="hold">
                                          <p:stCondLst>
                                            <p:cond delay="499"/>
                                          </p:stCondLst>
                                        </p:cTn>
                                        <p:tgtEl>
                                          <p:spTgt spid="75811"/>
                                        </p:tgtEl>
                                        <p:attrNameLst>
                                          <p:attrName>style.visibility</p:attrName>
                                        </p:attrNameLst>
                                      </p:cBhvr>
                                      <p:to>
                                        <p:strVal val="visible"/>
                                      </p:to>
                                    </p:set>
                                  </p:childTnLst>
                                </p:cTn>
                              </p:par>
                            </p:childTnLst>
                          </p:cTn>
                        </p:par>
                        <p:par>
                          <p:cTn id="30" fill="hold" nodeType="afterGroup">
                            <p:stCondLst>
                              <p:cond delay="2500"/>
                            </p:stCondLst>
                            <p:childTnLst>
                              <p:par>
                                <p:cTn id="31" presetID="7" presetClass="entr" presetSubtype="4"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2000" fill="hold"/>
                                        <p:tgtEl>
                                          <p:spTgt spid="2"/>
                                        </p:tgtEl>
                                        <p:attrNameLst>
                                          <p:attrName>ppt_x</p:attrName>
                                        </p:attrNameLst>
                                      </p:cBhvr>
                                      <p:tavLst>
                                        <p:tav tm="0">
                                          <p:val>
                                            <p:strVal val="#ppt_x"/>
                                          </p:val>
                                        </p:tav>
                                        <p:tav tm="100000">
                                          <p:val>
                                            <p:strVal val="#ppt_x"/>
                                          </p:val>
                                        </p:tav>
                                      </p:tavLst>
                                    </p:anim>
                                    <p:anim calcmode="lin" valueType="num">
                                      <p:cBhvr additive="base">
                                        <p:cTn id="34" dur="2000" fill="hold"/>
                                        <p:tgtEl>
                                          <p:spTgt spid="2"/>
                                        </p:tgtEl>
                                        <p:attrNameLst>
                                          <p:attrName>ppt_y</p:attrName>
                                        </p:attrNameLst>
                                      </p:cBhvr>
                                      <p:tavLst>
                                        <p:tav tm="0">
                                          <p:val>
                                            <p:strVal val="1+#ppt_h/2"/>
                                          </p:val>
                                        </p:tav>
                                        <p:tav tm="100000">
                                          <p:val>
                                            <p:strVal val="#ppt_y"/>
                                          </p:val>
                                        </p:tav>
                                      </p:tavLst>
                                    </p:anim>
                                  </p:childTnLst>
                                </p:cTn>
                              </p:par>
                            </p:childTnLst>
                          </p:cTn>
                        </p:par>
                        <p:par>
                          <p:cTn id="35" fill="hold" nodeType="afterGroup">
                            <p:stCondLst>
                              <p:cond delay="4500"/>
                            </p:stCondLst>
                            <p:childTnLst>
                              <p:par>
                                <p:cTn id="36" presetID="1" presetClass="entr" presetSubtype="0" fill="hold" grpId="0" nodeType="afterEffect">
                                  <p:stCondLst>
                                    <p:cond delay="0"/>
                                  </p:stCondLst>
                                  <p:childTnLst>
                                    <p:set>
                                      <p:cBhvr>
                                        <p:cTn id="37" dur="1" fill="hold">
                                          <p:stCondLst>
                                            <p:cond delay="499"/>
                                          </p:stCondLst>
                                        </p:cTn>
                                        <p:tgtEl>
                                          <p:spTgt spid="75805"/>
                                        </p:tgtEl>
                                        <p:attrNameLst>
                                          <p:attrName>style.visibility</p:attrName>
                                        </p:attrNameLst>
                                      </p:cBhvr>
                                      <p:to>
                                        <p:strVal val="visible"/>
                                      </p:to>
                                    </p:set>
                                  </p:childTnLst>
                                </p:cTn>
                              </p:par>
                            </p:childTnLst>
                          </p:cTn>
                        </p:par>
                        <p:par>
                          <p:cTn id="38" fill="hold" nodeType="afterGroup">
                            <p:stCondLst>
                              <p:cond delay="5000"/>
                            </p:stCondLst>
                            <p:childTnLst>
                              <p:par>
                                <p:cTn id="39" presetID="12" presetClass="entr" presetSubtype="2" fill="hold" grpId="0" nodeType="afterEffect">
                                  <p:stCondLst>
                                    <p:cond delay="0"/>
                                  </p:stCondLst>
                                  <p:childTnLst>
                                    <p:set>
                                      <p:cBhvr>
                                        <p:cTn id="40" dur="1" fill="hold">
                                          <p:stCondLst>
                                            <p:cond delay="0"/>
                                          </p:stCondLst>
                                        </p:cTn>
                                        <p:tgtEl>
                                          <p:spTgt spid="75812"/>
                                        </p:tgtEl>
                                        <p:attrNameLst>
                                          <p:attrName>style.visibility</p:attrName>
                                        </p:attrNameLst>
                                      </p:cBhvr>
                                      <p:to>
                                        <p:strVal val="visible"/>
                                      </p:to>
                                    </p:set>
                                    <p:animEffect transition="in" filter="slide(fromRight)">
                                      <p:cBhvr>
                                        <p:cTn id="41" dur="500"/>
                                        <p:tgtEl>
                                          <p:spTgt spid="75812"/>
                                        </p:tgtEl>
                                      </p:cBhvr>
                                    </p:animEffect>
                                  </p:childTnLst>
                                </p:cTn>
                              </p:par>
                            </p:childTnLst>
                          </p:cTn>
                        </p:par>
                        <p:par>
                          <p:cTn id="42" fill="hold" nodeType="afterGroup">
                            <p:stCondLst>
                              <p:cond delay="5500"/>
                            </p:stCondLst>
                            <p:childTnLst>
                              <p:par>
                                <p:cTn id="43" presetID="1" presetClass="entr" presetSubtype="0" fill="hold" nodeType="afterEffect">
                                  <p:stCondLst>
                                    <p:cond delay="0"/>
                                  </p:stCondLst>
                                  <p:childTnLst>
                                    <p:set>
                                      <p:cBhvr>
                                        <p:cTn id="44" dur="1" fill="hold">
                                          <p:stCondLst>
                                            <p:cond delay="499"/>
                                          </p:stCondLst>
                                        </p:cTn>
                                        <p:tgtEl>
                                          <p:spTgt spid="75813"/>
                                        </p:tgtEl>
                                        <p:attrNameLst>
                                          <p:attrName>style.visibility</p:attrName>
                                        </p:attrNameLst>
                                      </p:cBhvr>
                                      <p:to>
                                        <p:strVal val="visible"/>
                                      </p:to>
                                    </p:set>
                                  </p:childTnLst>
                                </p:cTn>
                              </p:par>
                            </p:childTnLst>
                          </p:cTn>
                        </p:par>
                        <p:par>
                          <p:cTn id="45" fill="hold" nodeType="afterGroup">
                            <p:stCondLst>
                              <p:cond delay="6000"/>
                            </p:stCondLst>
                            <p:childTnLst>
                              <p:par>
                                <p:cTn id="46" presetID="1" presetClass="entr" presetSubtype="0" fill="hold" nodeType="afterEffect">
                                  <p:stCondLst>
                                    <p:cond delay="0"/>
                                  </p:stCondLst>
                                  <p:childTnLst>
                                    <p:set>
                                      <p:cBhvr>
                                        <p:cTn id="47" dur="1" fill="hold">
                                          <p:stCondLst>
                                            <p:cond delay="499"/>
                                          </p:stCondLst>
                                        </p:cTn>
                                        <p:tgtEl>
                                          <p:spTgt spid="75814"/>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nodeType="withGroup">
                            <p:stCondLst>
                              <p:cond delay="0"/>
                            </p:stCondLst>
                            <p:childTnLst>
                              <p:par>
                                <p:cTn id="50" presetID="12" presetClass="entr" presetSubtype="4" fill="hold" grpId="0" nodeType="clickEffect">
                                  <p:stCondLst>
                                    <p:cond delay="0"/>
                                  </p:stCondLst>
                                  <p:childTnLst>
                                    <p:set>
                                      <p:cBhvr>
                                        <p:cTn id="51" dur="1" fill="hold">
                                          <p:stCondLst>
                                            <p:cond delay="0"/>
                                          </p:stCondLst>
                                        </p:cTn>
                                        <p:tgtEl>
                                          <p:spTgt spid="75810"/>
                                        </p:tgtEl>
                                        <p:attrNameLst>
                                          <p:attrName>style.visibility</p:attrName>
                                        </p:attrNameLst>
                                      </p:cBhvr>
                                      <p:to>
                                        <p:strVal val="visible"/>
                                      </p:to>
                                    </p:set>
                                    <p:animEffect transition="in" filter="slide(fromBottom)">
                                      <p:cBhvr>
                                        <p:cTn id="52" dur="500"/>
                                        <p:tgtEl>
                                          <p:spTgt spid="75810"/>
                                        </p:tgtEl>
                                      </p:cBhvr>
                                    </p:animEffect>
                                  </p:childTnLst>
                                </p:cTn>
                              </p:par>
                            </p:childTnLst>
                          </p:cTn>
                        </p:par>
                        <p:par>
                          <p:cTn id="53" fill="hold" nodeType="afterGroup">
                            <p:stCondLst>
                              <p:cond delay="500"/>
                            </p:stCondLst>
                            <p:childTnLst>
                              <p:par>
                                <p:cTn id="54" presetID="1" presetClass="entr" presetSubtype="0" fill="hold" nodeType="afterEffect">
                                  <p:stCondLst>
                                    <p:cond delay="0"/>
                                  </p:stCondLst>
                                  <p:childTnLst>
                                    <p:set>
                                      <p:cBhvr>
                                        <p:cTn id="55" dur="1" fill="hold">
                                          <p:stCondLst>
                                            <p:cond delay="499"/>
                                          </p:stCondLst>
                                        </p:cTn>
                                        <p:tgtEl>
                                          <p:spTgt spid="75781"/>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2" presetClass="entr" presetSubtype="1" fill="hold" grpId="0" nodeType="clickEffect">
                                  <p:stCondLst>
                                    <p:cond delay="0"/>
                                  </p:stCondLst>
                                  <p:childTnLst>
                                    <p:set>
                                      <p:cBhvr>
                                        <p:cTn id="59" dur="1" fill="hold">
                                          <p:stCondLst>
                                            <p:cond delay="0"/>
                                          </p:stCondLst>
                                        </p:cTn>
                                        <p:tgtEl>
                                          <p:spTgt spid="75782"/>
                                        </p:tgtEl>
                                        <p:attrNameLst>
                                          <p:attrName>style.visibility</p:attrName>
                                        </p:attrNameLst>
                                      </p:cBhvr>
                                      <p:to>
                                        <p:strVal val="visible"/>
                                      </p:to>
                                    </p:set>
                                    <p:animEffect transition="in" filter="slide(fromTop)">
                                      <p:cBhvr>
                                        <p:cTn id="60" dur="500"/>
                                        <p:tgtEl>
                                          <p:spTgt spid="75782"/>
                                        </p:tgtEl>
                                      </p:cBhvr>
                                    </p:animEffect>
                                  </p:childTnLst>
                                </p:cTn>
                              </p:par>
                            </p:childTnLst>
                          </p:cTn>
                        </p:par>
                        <p:par>
                          <p:cTn id="61" fill="hold" nodeType="afterGroup">
                            <p:stCondLst>
                              <p:cond delay="500"/>
                            </p:stCondLst>
                            <p:childTnLst>
                              <p:par>
                                <p:cTn id="62" presetID="1" presetClass="entr" presetSubtype="0" fill="hold" nodeType="afterEffect">
                                  <p:stCondLst>
                                    <p:cond delay="0"/>
                                  </p:stCondLst>
                                  <p:childTnLst>
                                    <p:set>
                                      <p:cBhvr>
                                        <p:cTn id="63" dur="1" fill="hold">
                                          <p:stCondLst>
                                            <p:cond delay="499"/>
                                          </p:stCondLst>
                                        </p:cTn>
                                        <p:tgtEl>
                                          <p:spTgt spid="75783"/>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75780"/>
                                        </p:tgtEl>
                                        <p:attrNameLst>
                                          <p:attrName>style.visibility</p:attrName>
                                        </p:attrNameLst>
                                      </p:cBhvr>
                                      <p:to>
                                        <p:strVal val="visible"/>
                                      </p:to>
                                    </p:set>
                                    <p:animEffect transition="in" filter="wipe(left)">
                                      <p:cBhvr>
                                        <p:cTn id="68" dur="500"/>
                                        <p:tgtEl>
                                          <p:spTgt spid="7578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75784"/>
                                        </p:tgtEl>
                                        <p:attrNameLst>
                                          <p:attrName>style.visibility</p:attrName>
                                        </p:attrNameLst>
                                      </p:cBhvr>
                                      <p:to>
                                        <p:strVal val="visible"/>
                                      </p:to>
                                    </p:set>
                                    <p:animEffect transition="in" filter="wipe(left)">
                                      <p:cBhvr>
                                        <p:cTn id="73" dur="500"/>
                                        <p:tgtEl>
                                          <p:spTgt spid="75784"/>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75785"/>
                                        </p:tgtEl>
                                        <p:attrNameLst>
                                          <p:attrName>style.visibility</p:attrName>
                                        </p:attrNameLst>
                                      </p:cBhvr>
                                      <p:to>
                                        <p:strVal val="visible"/>
                                      </p:to>
                                    </p:set>
                                    <p:animEffect transition="in" filter="wipe(left)">
                                      <p:cBhvr>
                                        <p:cTn id="78" dur="500"/>
                                        <p:tgtEl>
                                          <p:spTgt spid="7578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75786"/>
                                        </p:tgtEl>
                                        <p:attrNameLst>
                                          <p:attrName>style.visibility</p:attrName>
                                        </p:attrNameLst>
                                      </p:cBhvr>
                                      <p:to>
                                        <p:strVal val="visible"/>
                                      </p:to>
                                    </p:set>
                                    <p:animEffect transition="in" filter="wipe(left)">
                                      <p:cBhvr>
                                        <p:cTn id="83" dur="500"/>
                                        <p:tgtEl>
                                          <p:spTgt spid="75786"/>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5787"/>
                                        </p:tgtEl>
                                        <p:attrNameLst>
                                          <p:attrName>style.visibility</p:attrName>
                                        </p:attrNameLst>
                                      </p:cBhvr>
                                      <p:to>
                                        <p:strVal val="visible"/>
                                      </p:to>
                                    </p:set>
                                    <p:animEffect transition="in" filter="wipe(left)">
                                      <p:cBhvr>
                                        <p:cTn id="88" dur="500"/>
                                        <p:tgtEl>
                                          <p:spTgt spid="7578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75788"/>
                                        </p:tgtEl>
                                        <p:attrNameLst>
                                          <p:attrName>style.visibility</p:attrName>
                                        </p:attrNameLst>
                                      </p:cBhvr>
                                      <p:to>
                                        <p:strVal val="visible"/>
                                      </p:to>
                                    </p:set>
                                    <p:animEffect transition="in" filter="wipe(left)">
                                      <p:cBhvr>
                                        <p:cTn id="93" dur="500"/>
                                        <p:tgtEl>
                                          <p:spTgt spid="75788"/>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75789"/>
                                        </p:tgtEl>
                                        <p:attrNameLst>
                                          <p:attrName>style.visibility</p:attrName>
                                        </p:attrNameLst>
                                      </p:cBhvr>
                                      <p:to>
                                        <p:strVal val="visible"/>
                                      </p:to>
                                    </p:set>
                                    <p:animEffect transition="in" filter="wipe(left)">
                                      <p:cBhvr>
                                        <p:cTn id="98" dur="500"/>
                                        <p:tgtEl>
                                          <p:spTgt spid="7578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4" presetClass="entr" presetSubtype="16" fill="hold" nodeType="clickEffect">
                                  <p:stCondLst>
                                    <p:cond delay="0"/>
                                  </p:stCondLst>
                                  <p:childTnLst>
                                    <p:set>
                                      <p:cBhvr>
                                        <p:cTn id="102" dur="1" fill="hold">
                                          <p:stCondLst>
                                            <p:cond delay="0"/>
                                          </p:stCondLst>
                                        </p:cTn>
                                        <p:tgtEl>
                                          <p:spTgt spid="75809"/>
                                        </p:tgtEl>
                                        <p:attrNameLst>
                                          <p:attrName>style.visibility</p:attrName>
                                        </p:attrNameLst>
                                      </p:cBhvr>
                                      <p:to>
                                        <p:strVal val="visible"/>
                                      </p:to>
                                    </p:set>
                                    <p:animEffect transition="in" filter="box(in)">
                                      <p:cBhvr>
                                        <p:cTn id="103" dur="500"/>
                                        <p:tgtEl>
                                          <p:spTgt spid="7580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3" presetClass="entr" presetSubtype="16" fill="hold" grpId="0" nodeType="clickEffect">
                                  <p:stCondLst>
                                    <p:cond delay="0"/>
                                  </p:stCondLst>
                                  <p:childTnLst>
                                    <p:set>
                                      <p:cBhvr>
                                        <p:cTn id="107" dur="1" fill="hold">
                                          <p:stCondLst>
                                            <p:cond delay="0"/>
                                          </p:stCondLst>
                                        </p:cTn>
                                        <p:tgtEl>
                                          <p:spTgt spid="75806"/>
                                        </p:tgtEl>
                                        <p:attrNameLst>
                                          <p:attrName>style.visibility</p:attrName>
                                        </p:attrNameLst>
                                      </p:cBhvr>
                                      <p:to>
                                        <p:strVal val="visible"/>
                                      </p:to>
                                    </p:set>
                                    <p:anim calcmode="lin" valueType="num">
                                      <p:cBhvr>
                                        <p:cTn id="108" dur="500" fill="hold"/>
                                        <p:tgtEl>
                                          <p:spTgt spid="75806"/>
                                        </p:tgtEl>
                                        <p:attrNameLst>
                                          <p:attrName>ppt_w</p:attrName>
                                        </p:attrNameLst>
                                      </p:cBhvr>
                                      <p:tavLst>
                                        <p:tav tm="0">
                                          <p:val>
                                            <p:fltVal val="0"/>
                                          </p:val>
                                        </p:tav>
                                        <p:tav tm="100000">
                                          <p:val>
                                            <p:strVal val="#ppt_w"/>
                                          </p:val>
                                        </p:tav>
                                      </p:tavLst>
                                    </p:anim>
                                    <p:anim calcmode="lin" valueType="num">
                                      <p:cBhvr>
                                        <p:cTn id="109" dur="500" fill="hold"/>
                                        <p:tgtEl>
                                          <p:spTgt spid="75806"/>
                                        </p:tgtEl>
                                        <p:attrNameLst>
                                          <p:attrName>ppt_h</p:attrName>
                                        </p:attrNameLst>
                                      </p:cBhvr>
                                      <p:tavLst>
                                        <p:tav tm="0">
                                          <p:val>
                                            <p:fltVal val="0"/>
                                          </p:val>
                                        </p:tav>
                                        <p:tav tm="100000">
                                          <p:val>
                                            <p:strVal val="#ppt_h"/>
                                          </p:val>
                                        </p:tav>
                                      </p:tavLst>
                                    </p:anim>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2" presetClass="entr" presetSubtype="8" fill="hold" grpId="0" nodeType="clickEffect">
                                  <p:stCondLst>
                                    <p:cond delay="0"/>
                                  </p:stCondLst>
                                  <p:childTnLst>
                                    <p:set>
                                      <p:cBhvr>
                                        <p:cTn id="113" dur="1" fill="hold">
                                          <p:stCondLst>
                                            <p:cond delay="0"/>
                                          </p:stCondLst>
                                        </p:cTn>
                                        <p:tgtEl>
                                          <p:spTgt spid="75808"/>
                                        </p:tgtEl>
                                        <p:attrNameLst>
                                          <p:attrName>style.visibility</p:attrName>
                                        </p:attrNameLst>
                                      </p:cBhvr>
                                      <p:to>
                                        <p:strVal val="visible"/>
                                      </p:to>
                                    </p:set>
                                    <p:animEffect transition="in" filter="slide(fromLeft)">
                                      <p:cBhvr>
                                        <p:cTn id="114" dur="500"/>
                                        <p:tgtEl>
                                          <p:spTgt spid="75808"/>
                                        </p:tgtEl>
                                      </p:cBhvr>
                                    </p:animEffect>
                                  </p:childTnLst>
                                </p:cTn>
                              </p:par>
                            </p:childTnLst>
                          </p:cTn>
                        </p:par>
                        <p:par>
                          <p:cTn id="115" fill="hold" nodeType="afterGroup">
                            <p:stCondLst>
                              <p:cond delay="500"/>
                            </p:stCondLst>
                            <p:childTnLst>
                              <p:par>
                                <p:cTn id="116" presetID="1" presetClass="entr" presetSubtype="0" fill="hold" nodeType="afterEffect">
                                  <p:stCondLst>
                                    <p:cond delay="0"/>
                                  </p:stCondLst>
                                  <p:childTnLst>
                                    <p:set>
                                      <p:cBhvr>
                                        <p:cTn id="117" dur="1" fill="hold">
                                          <p:stCondLst>
                                            <p:cond delay="499"/>
                                          </p:stCondLst>
                                        </p:cTn>
                                        <p:tgtEl>
                                          <p:spTgt spid="75802"/>
                                        </p:tgtEl>
                                        <p:attrNameLst>
                                          <p:attrName>style.visibility</p:attrName>
                                        </p:attrNameLst>
                                      </p:cBhvr>
                                      <p:to>
                                        <p:strVal val="visible"/>
                                      </p:to>
                                    </p:se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9" presetClass="entr" presetSubtype="10" fill="hold" grpId="0" nodeType="clickEffect">
                                  <p:stCondLst>
                                    <p:cond delay="0"/>
                                  </p:stCondLst>
                                  <p:childTnLst>
                                    <p:set>
                                      <p:cBhvr>
                                        <p:cTn id="121" dur="1" fill="hold">
                                          <p:stCondLst>
                                            <p:cond delay="0"/>
                                          </p:stCondLst>
                                        </p:cTn>
                                        <p:tgtEl>
                                          <p:spTgt spid="75807"/>
                                        </p:tgtEl>
                                        <p:attrNameLst>
                                          <p:attrName>style.visibility</p:attrName>
                                        </p:attrNameLst>
                                      </p:cBhvr>
                                      <p:to>
                                        <p:strVal val="visible"/>
                                      </p:to>
                                    </p:set>
                                    <p:anim calcmode="lin" valueType="num">
                                      <p:cBhvr>
                                        <p:cTn id="122" dur="5000" fill="hold"/>
                                        <p:tgtEl>
                                          <p:spTgt spid="75807"/>
                                        </p:tgtEl>
                                        <p:attrNameLst>
                                          <p:attrName>ppt_w</p:attrName>
                                        </p:attrNameLst>
                                      </p:cBhvr>
                                      <p:tavLst>
                                        <p:tav tm="0" fmla="#ppt_w*sin(2.5*pi*$)">
                                          <p:val>
                                            <p:fltVal val="0"/>
                                          </p:val>
                                        </p:tav>
                                        <p:tav tm="100000">
                                          <p:val>
                                            <p:fltVal val="1"/>
                                          </p:val>
                                        </p:tav>
                                      </p:tavLst>
                                    </p:anim>
                                    <p:anim calcmode="lin" valueType="num">
                                      <p:cBhvr>
                                        <p:cTn id="123" dur="5000" fill="hold"/>
                                        <p:tgtEl>
                                          <p:spTgt spid="75807"/>
                                        </p:tgtEl>
                                        <p:attrNameLst>
                                          <p:attrName>ppt_h</p:attrName>
                                        </p:attrNameLst>
                                      </p:cBhvr>
                                      <p:tavLst>
                                        <p:tav tm="0">
                                          <p:val>
                                            <p:strVal val="#ppt_h"/>
                                          </p:val>
                                        </p:tav>
                                        <p:tav tm="100000">
                                          <p:val>
                                            <p:strVal val="#ppt_h"/>
                                          </p:val>
                                        </p:tav>
                                      </p:tavLst>
                                    </p:anim>
                                  </p:childTnLst>
                                </p:cTn>
                              </p:par>
                            </p:childTnLst>
                          </p:cTn>
                        </p:par>
                        <p:par>
                          <p:cTn id="124" fill="hold" nodeType="afterGroup">
                            <p:stCondLst>
                              <p:cond delay="5000"/>
                            </p:stCondLst>
                            <p:childTnLst>
                              <p:par>
                                <p:cTn id="125" presetID="1" presetClass="entr" presetSubtype="0" fill="hold" nodeType="afterEffect">
                                  <p:stCondLst>
                                    <p:cond delay="0"/>
                                  </p:stCondLst>
                                  <p:childTnLst>
                                    <p:set>
                                      <p:cBhvr>
                                        <p:cTn id="126" dur="1" fill="hold">
                                          <p:stCondLst>
                                            <p:cond delay="499"/>
                                          </p:stCondLst>
                                        </p:cTn>
                                        <p:tgtEl>
                                          <p:spTgt spid="75796"/>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75797"/>
                                        </p:tgtEl>
                                        <p:attrNameLst>
                                          <p:attrName>style.visibility</p:attrName>
                                        </p:attrNameLst>
                                      </p:cBhvr>
                                      <p:to>
                                        <p:strVal val="visible"/>
                                      </p:to>
                                    </p:set>
                                    <p:animEffect transition="in" filter="wipe(left)">
                                      <p:cBhvr>
                                        <p:cTn id="131" dur="500"/>
                                        <p:tgtEl>
                                          <p:spTgt spid="75797"/>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75798"/>
                                        </p:tgtEl>
                                        <p:attrNameLst>
                                          <p:attrName>style.visibility</p:attrName>
                                        </p:attrNameLst>
                                      </p:cBhvr>
                                      <p:to>
                                        <p:strVal val="visible"/>
                                      </p:to>
                                    </p:set>
                                    <p:animEffect transition="in" filter="wipe(left)">
                                      <p:cBhvr>
                                        <p:cTn id="136" dur="500"/>
                                        <p:tgtEl>
                                          <p:spTgt spid="75798"/>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75799"/>
                                        </p:tgtEl>
                                        <p:attrNameLst>
                                          <p:attrName>style.visibility</p:attrName>
                                        </p:attrNameLst>
                                      </p:cBhvr>
                                      <p:to>
                                        <p:strVal val="visible"/>
                                      </p:to>
                                    </p:set>
                                    <p:animEffect transition="in" filter="wipe(left)">
                                      <p:cBhvr>
                                        <p:cTn id="141" dur="500"/>
                                        <p:tgtEl>
                                          <p:spTgt spid="75799"/>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nodeType="clickEffect">
                                  <p:stCondLst>
                                    <p:cond delay="0"/>
                                  </p:stCondLst>
                                  <p:childTnLst>
                                    <p:set>
                                      <p:cBhvr>
                                        <p:cTn id="145" dur="1" fill="hold">
                                          <p:stCondLst>
                                            <p:cond delay="0"/>
                                          </p:stCondLst>
                                        </p:cTn>
                                        <p:tgtEl>
                                          <p:spTgt spid="75800"/>
                                        </p:tgtEl>
                                        <p:attrNameLst>
                                          <p:attrName>style.visibility</p:attrName>
                                        </p:attrNameLst>
                                      </p:cBhvr>
                                      <p:to>
                                        <p:strVal val="visible"/>
                                      </p:to>
                                    </p:set>
                                    <p:animEffect transition="in" filter="wipe(left)">
                                      <p:cBhvr>
                                        <p:cTn id="146" dur="500"/>
                                        <p:tgtEl>
                                          <p:spTgt spid="75800"/>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75801"/>
                                        </p:tgtEl>
                                        <p:attrNameLst>
                                          <p:attrName>style.visibility</p:attrName>
                                        </p:attrNameLst>
                                      </p:cBhvr>
                                      <p:to>
                                        <p:strVal val="visible"/>
                                      </p:to>
                                    </p:set>
                                    <p:animEffect transition="in" filter="wipe(left)">
                                      <p:cBhvr>
                                        <p:cTn id="151" dur="500"/>
                                        <p:tgtEl>
                                          <p:spTgt spid="75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06" grpId="0" animBg="1"/>
      <p:bldP spid="75778" grpId="0"/>
      <p:bldP spid="75779" grpId="0"/>
      <p:bldP spid="75780" grpId="0" autoUpdateAnimBg="0"/>
      <p:bldP spid="75782" grpId="0" animBg="1"/>
      <p:bldP spid="75784" grpId="0" autoUpdateAnimBg="0"/>
      <p:bldP spid="75785" grpId="0" autoUpdateAnimBg="0"/>
      <p:bldP spid="75795" grpId="0" animBg="1"/>
      <p:bldP spid="75803" grpId="0" animBg="1"/>
      <p:bldP spid="75804" grpId="0" animBg="1"/>
      <p:bldP spid="75805" grpId="0" animBg="1"/>
      <p:bldP spid="75807" grpId="0" animBg="1"/>
      <p:bldP spid="75808" grpId="0" animBg="1"/>
      <p:bldP spid="75810" grpId="0" animBg="1"/>
      <p:bldP spid="758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165100" y="388938"/>
            <a:ext cx="3470275" cy="5302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00FF"/>
                </a:solidFill>
                <a:latin typeface="Times New Roman" pitchFamily="18" charset="0"/>
              </a:rPr>
              <a:t>11.3.2   </a:t>
            </a:r>
            <a:r>
              <a:rPr kumimoji="1" lang="zh-CN" altLang="en-US" sz="2400" b="1">
                <a:solidFill>
                  <a:srgbClr val="0000FF"/>
                </a:solidFill>
                <a:latin typeface="Times New Roman" pitchFamily="18" charset="0"/>
              </a:rPr>
              <a:t>互感现象</a:t>
            </a:r>
          </a:p>
        </p:txBody>
      </p:sp>
      <p:sp>
        <p:nvSpPr>
          <p:cNvPr id="27651" name="Line 3"/>
          <p:cNvSpPr>
            <a:spLocks noChangeShapeType="1"/>
          </p:cNvSpPr>
          <p:nvPr/>
        </p:nvSpPr>
        <p:spPr bwMode="auto">
          <a:xfrm>
            <a:off x="6227763" y="2163763"/>
            <a:ext cx="2667000" cy="0"/>
          </a:xfrm>
          <a:prstGeom prst="line">
            <a:avLst/>
          </a:prstGeom>
          <a:noFill/>
          <a:ln w="28575">
            <a:solidFill>
              <a:srgbClr val="0000CC"/>
            </a:solidFill>
            <a:round/>
            <a:headEnd/>
            <a:tailEnd type="triangle" w="med" len="med"/>
          </a:ln>
        </p:spPr>
        <p:txBody>
          <a:bodyPr/>
          <a:lstStyle/>
          <a:p>
            <a:endParaRPr lang="zh-CN" altLang="en-US"/>
          </a:p>
        </p:txBody>
      </p:sp>
      <p:sp>
        <p:nvSpPr>
          <p:cNvPr id="27652" name="Line 4"/>
          <p:cNvSpPr>
            <a:spLocks noChangeShapeType="1"/>
          </p:cNvSpPr>
          <p:nvPr/>
        </p:nvSpPr>
        <p:spPr bwMode="auto">
          <a:xfrm>
            <a:off x="5008563" y="2163763"/>
            <a:ext cx="914400" cy="0"/>
          </a:xfrm>
          <a:prstGeom prst="line">
            <a:avLst/>
          </a:prstGeom>
          <a:noFill/>
          <a:ln w="28575">
            <a:solidFill>
              <a:srgbClr val="0000CC"/>
            </a:solidFill>
            <a:round/>
            <a:headEnd/>
            <a:tailEnd/>
          </a:ln>
        </p:spPr>
        <p:txBody>
          <a:bodyPr/>
          <a:lstStyle/>
          <a:p>
            <a:endParaRPr lang="zh-CN" altLang="en-US"/>
          </a:p>
        </p:txBody>
      </p:sp>
      <p:grpSp>
        <p:nvGrpSpPr>
          <p:cNvPr id="2" name="Group 5"/>
          <p:cNvGrpSpPr>
            <a:grpSpLocks/>
          </p:cNvGrpSpPr>
          <p:nvPr/>
        </p:nvGrpSpPr>
        <p:grpSpPr bwMode="auto">
          <a:xfrm>
            <a:off x="4932363" y="1390650"/>
            <a:ext cx="3743325" cy="433388"/>
            <a:chOff x="3107" y="876"/>
            <a:chExt cx="2358" cy="273"/>
          </a:xfrm>
        </p:grpSpPr>
        <p:sp>
          <p:nvSpPr>
            <p:cNvPr id="20516" name="Freeform 6"/>
            <p:cNvSpPr>
              <a:spLocks/>
            </p:cNvSpPr>
            <p:nvPr/>
          </p:nvSpPr>
          <p:spPr bwMode="auto">
            <a:xfrm>
              <a:off x="3107" y="876"/>
              <a:ext cx="641" cy="266"/>
            </a:xfrm>
            <a:custGeom>
              <a:avLst/>
              <a:gdLst>
                <a:gd name="T0" fmla="*/ 0 w 432"/>
                <a:gd name="T1" fmla="*/ 0 h 288"/>
                <a:gd name="T2" fmla="*/ 1039 w 432"/>
                <a:gd name="T3" fmla="*/ 97 h 288"/>
                <a:gd name="T4" fmla="*/ 3107 w 432"/>
                <a:gd name="T5" fmla="*/ 194 h 288"/>
                <a:gd name="T6" fmla="*/ 0 60000 65536"/>
                <a:gd name="T7" fmla="*/ 0 60000 65536"/>
                <a:gd name="T8" fmla="*/ 0 60000 65536"/>
                <a:gd name="T9" fmla="*/ 0 w 432"/>
                <a:gd name="T10" fmla="*/ 0 h 288"/>
                <a:gd name="T11" fmla="*/ 432 w 432"/>
                <a:gd name="T12" fmla="*/ 288 h 288"/>
              </a:gdLst>
              <a:ahLst/>
              <a:cxnLst>
                <a:cxn ang="T6">
                  <a:pos x="T0" y="T1"/>
                </a:cxn>
                <a:cxn ang="T7">
                  <a:pos x="T2" y="T3"/>
                </a:cxn>
                <a:cxn ang="T8">
                  <a:pos x="T4" y="T5"/>
                </a:cxn>
              </a:cxnLst>
              <a:rect l="T9" t="T10" r="T11" b="T12"/>
              <a:pathLst>
                <a:path w="432" h="288">
                  <a:moveTo>
                    <a:pt x="0" y="0"/>
                  </a:moveTo>
                  <a:cubicBezTo>
                    <a:pt x="36" y="48"/>
                    <a:pt x="72" y="96"/>
                    <a:pt x="144" y="144"/>
                  </a:cubicBezTo>
                  <a:cubicBezTo>
                    <a:pt x="216" y="192"/>
                    <a:pt x="324" y="240"/>
                    <a:pt x="432" y="288"/>
                  </a:cubicBezTo>
                </a:path>
              </a:pathLst>
            </a:custGeom>
            <a:noFill/>
            <a:ln w="28575">
              <a:solidFill>
                <a:srgbClr val="0000CC"/>
              </a:solidFill>
              <a:round/>
              <a:headEnd/>
              <a:tailEnd/>
            </a:ln>
          </p:spPr>
          <p:txBody>
            <a:bodyPr/>
            <a:lstStyle/>
            <a:p>
              <a:endParaRPr lang="zh-CN" altLang="en-US"/>
            </a:p>
          </p:txBody>
        </p:sp>
        <p:sp>
          <p:nvSpPr>
            <p:cNvPr id="20517" name="Freeform 7"/>
            <p:cNvSpPr>
              <a:spLocks/>
            </p:cNvSpPr>
            <p:nvPr/>
          </p:nvSpPr>
          <p:spPr bwMode="auto">
            <a:xfrm>
              <a:off x="3962" y="890"/>
              <a:ext cx="1503" cy="259"/>
            </a:xfrm>
            <a:custGeom>
              <a:avLst/>
              <a:gdLst>
                <a:gd name="T0" fmla="*/ 0 w 960"/>
                <a:gd name="T1" fmla="*/ 699 h 200"/>
                <a:gd name="T2" fmla="*/ 1807 w 960"/>
                <a:gd name="T3" fmla="*/ 699 h 200"/>
                <a:gd name="T4" fmla="*/ 5420 w 960"/>
                <a:gd name="T5" fmla="*/ 523 h 200"/>
                <a:gd name="T6" fmla="*/ 9031 w 960"/>
                <a:gd name="T7" fmla="*/ 0 h 200"/>
                <a:gd name="T8" fmla="*/ 0 60000 65536"/>
                <a:gd name="T9" fmla="*/ 0 60000 65536"/>
                <a:gd name="T10" fmla="*/ 0 60000 65536"/>
                <a:gd name="T11" fmla="*/ 0 60000 65536"/>
                <a:gd name="T12" fmla="*/ 0 w 960"/>
                <a:gd name="T13" fmla="*/ 0 h 200"/>
                <a:gd name="T14" fmla="*/ 960 w 960"/>
                <a:gd name="T15" fmla="*/ 200 h 200"/>
              </a:gdLst>
              <a:ahLst/>
              <a:cxnLst>
                <a:cxn ang="T8">
                  <a:pos x="T0" y="T1"/>
                </a:cxn>
                <a:cxn ang="T9">
                  <a:pos x="T2" y="T3"/>
                </a:cxn>
                <a:cxn ang="T10">
                  <a:pos x="T4" y="T5"/>
                </a:cxn>
                <a:cxn ang="T11">
                  <a:pos x="T6" y="T7"/>
                </a:cxn>
              </a:cxnLst>
              <a:rect l="T12" t="T13" r="T14" b="T15"/>
              <a:pathLst>
                <a:path w="960" h="200">
                  <a:moveTo>
                    <a:pt x="0" y="192"/>
                  </a:moveTo>
                  <a:cubicBezTo>
                    <a:pt x="48" y="196"/>
                    <a:pt x="96" y="200"/>
                    <a:pt x="192" y="192"/>
                  </a:cubicBezTo>
                  <a:cubicBezTo>
                    <a:pt x="288" y="184"/>
                    <a:pt x="448" y="176"/>
                    <a:pt x="576" y="144"/>
                  </a:cubicBezTo>
                  <a:cubicBezTo>
                    <a:pt x="704" y="112"/>
                    <a:pt x="832" y="56"/>
                    <a:pt x="960" y="0"/>
                  </a:cubicBezTo>
                </a:path>
              </a:pathLst>
            </a:custGeom>
            <a:noFill/>
            <a:ln w="28575">
              <a:solidFill>
                <a:srgbClr val="0000CC"/>
              </a:solidFill>
              <a:round/>
              <a:headEnd/>
              <a:tailEnd type="triangle" w="med" len="med"/>
            </a:ln>
          </p:spPr>
          <p:txBody>
            <a:bodyPr/>
            <a:lstStyle/>
            <a:p>
              <a:endParaRPr lang="zh-CN" altLang="en-US"/>
            </a:p>
          </p:txBody>
        </p:sp>
      </p:grpSp>
      <p:grpSp>
        <p:nvGrpSpPr>
          <p:cNvPr id="3" name="Group 8"/>
          <p:cNvGrpSpPr>
            <a:grpSpLocks/>
          </p:cNvGrpSpPr>
          <p:nvPr/>
        </p:nvGrpSpPr>
        <p:grpSpPr bwMode="auto">
          <a:xfrm>
            <a:off x="4932363" y="2444750"/>
            <a:ext cx="3743325" cy="479425"/>
            <a:chOff x="3107" y="1540"/>
            <a:chExt cx="2358" cy="302"/>
          </a:xfrm>
        </p:grpSpPr>
        <p:sp>
          <p:nvSpPr>
            <p:cNvPr id="20514" name="Freeform 9"/>
            <p:cNvSpPr>
              <a:spLocks/>
            </p:cNvSpPr>
            <p:nvPr/>
          </p:nvSpPr>
          <p:spPr bwMode="auto">
            <a:xfrm flipV="1">
              <a:off x="3107" y="1540"/>
              <a:ext cx="641" cy="265"/>
            </a:xfrm>
            <a:custGeom>
              <a:avLst/>
              <a:gdLst>
                <a:gd name="T0" fmla="*/ 0 w 432"/>
                <a:gd name="T1" fmla="*/ 0 h 288"/>
                <a:gd name="T2" fmla="*/ 1039 w 432"/>
                <a:gd name="T3" fmla="*/ 95 h 288"/>
                <a:gd name="T4" fmla="*/ 3107 w 432"/>
                <a:gd name="T5" fmla="*/ 190 h 288"/>
                <a:gd name="T6" fmla="*/ 0 60000 65536"/>
                <a:gd name="T7" fmla="*/ 0 60000 65536"/>
                <a:gd name="T8" fmla="*/ 0 60000 65536"/>
                <a:gd name="T9" fmla="*/ 0 w 432"/>
                <a:gd name="T10" fmla="*/ 0 h 288"/>
                <a:gd name="T11" fmla="*/ 432 w 432"/>
                <a:gd name="T12" fmla="*/ 288 h 288"/>
              </a:gdLst>
              <a:ahLst/>
              <a:cxnLst>
                <a:cxn ang="T6">
                  <a:pos x="T0" y="T1"/>
                </a:cxn>
                <a:cxn ang="T7">
                  <a:pos x="T2" y="T3"/>
                </a:cxn>
                <a:cxn ang="T8">
                  <a:pos x="T4" y="T5"/>
                </a:cxn>
              </a:cxnLst>
              <a:rect l="T9" t="T10" r="T11" b="T12"/>
              <a:pathLst>
                <a:path w="432" h="288">
                  <a:moveTo>
                    <a:pt x="0" y="0"/>
                  </a:moveTo>
                  <a:cubicBezTo>
                    <a:pt x="36" y="48"/>
                    <a:pt x="72" y="96"/>
                    <a:pt x="144" y="144"/>
                  </a:cubicBezTo>
                  <a:cubicBezTo>
                    <a:pt x="216" y="192"/>
                    <a:pt x="324" y="240"/>
                    <a:pt x="432" y="288"/>
                  </a:cubicBezTo>
                </a:path>
              </a:pathLst>
            </a:custGeom>
            <a:noFill/>
            <a:ln w="28575">
              <a:solidFill>
                <a:srgbClr val="0000CC"/>
              </a:solidFill>
              <a:round/>
              <a:headEnd/>
              <a:tailEnd/>
            </a:ln>
          </p:spPr>
          <p:txBody>
            <a:bodyPr/>
            <a:lstStyle/>
            <a:p>
              <a:endParaRPr lang="zh-CN" altLang="en-US"/>
            </a:p>
          </p:txBody>
        </p:sp>
        <p:sp>
          <p:nvSpPr>
            <p:cNvPr id="20515" name="Freeform 10"/>
            <p:cNvSpPr>
              <a:spLocks/>
            </p:cNvSpPr>
            <p:nvPr/>
          </p:nvSpPr>
          <p:spPr bwMode="auto">
            <a:xfrm flipV="1">
              <a:off x="3962" y="1540"/>
              <a:ext cx="1503" cy="302"/>
            </a:xfrm>
            <a:custGeom>
              <a:avLst/>
              <a:gdLst>
                <a:gd name="T0" fmla="*/ 0 w 960"/>
                <a:gd name="T1" fmla="*/ 1507 h 200"/>
                <a:gd name="T2" fmla="*/ 1807 w 960"/>
                <a:gd name="T3" fmla="*/ 1507 h 200"/>
                <a:gd name="T4" fmla="*/ 5420 w 960"/>
                <a:gd name="T5" fmla="*/ 1128 h 200"/>
                <a:gd name="T6" fmla="*/ 9031 w 960"/>
                <a:gd name="T7" fmla="*/ 0 h 200"/>
                <a:gd name="T8" fmla="*/ 0 60000 65536"/>
                <a:gd name="T9" fmla="*/ 0 60000 65536"/>
                <a:gd name="T10" fmla="*/ 0 60000 65536"/>
                <a:gd name="T11" fmla="*/ 0 60000 65536"/>
                <a:gd name="T12" fmla="*/ 0 w 960"/>
                <a:gd name="T13" fmla="*/ 0 h 200"/>
                <a:gd name="T14" fmla="*/ 960 w 960"/>
                <a:gd name="T15" fmla="*/ 200 h 200"/>
              </a:gdLst>
              <a:ahLst/>
              <a:cxnLst>
                <a:cxn ang="T8">
                  <a:pos x="T0" y="T1"/>
                </a:cxn>
                <a:cxn ang="T9">
                  <a:pos x="T2" y="T3"/>
                </a:cxn>
                <a:cxn ang="T10">
                  <a:pos x="T4" y="T5"/>
                </a:cxn>
                <a:cxn ang="T11">
                  <a:pos x="T6" y="T7"/>
                </a:cxn>
              </a:cxnLst>
              <a:rect l="T12" t="T13" r="T14" b="T15"/>
              <a:pathLst>
                <a:path w="960" h="200">
                  <a:moveTo>
                    <a:pt x="0" y="192"/>
                  </a:moveTo>
                  <a:cubicBezTo>
                    <a:pt x="48" y="196"/>
                    <a:pt x="96" y="200"/>
                    <a:pt x="192" y="192"/>
                  </a:cubicBezTo>
                  <a:cubicBezTo>
                    <a:pt x="288" y="184"/>
                    <a:pt x="448" y="176"/>
                    <a:pt x="576" y="144"/>
                  </a:cubicBezTo>
                  <a:cubicBezTo>
                    <a:pt x="704" y="112"/>
                    <a:pt x="832" y="56"/>
                    <a:pt x="960" y="0"/>
                  </a:cubicBezTo>
                </a:path>
              </a:pathLst>
            </a:custGeom>
            <a:noFill/>
            <a:ln w="28575">
              <a:solidFill>
                <a:srgbClr val="0000CC"/>
              </a:solidFill>
              <a:round/>
              <a:headEnd/>
              <a:tailEnd type="triangle" w="med" len="med"/>
            </a:ln>
          </p:spPr>
          <p:txBody>
            <a:bodyPr/>
            <a:lstStyle/>
            <a:p>
              <a:endParaRPr lang="zh-CN" altLang="en-US"/>
            </a:p>
          </p:txBody>
        </p:sp>
      </p:grpSp>
      <p:sp>
        <p:nvSpPr>
          <p:cNvPr id="27659" name="Oval 11"/>
          <p:cNvSpPr>
            <a:spLocks noChangeArrowheads="1"/>
          </p:cNvSpPr>
          <p:nvPr/>
        </p:nvSpPr>
        <p:spPr bwMode="auto">
          <a:xfrm>
            <a:off x="5922963" y="828675"/>
            <a:ext cx="1143000" cy="561975"/>
          </a:xfrm>
          <a:prstGeom prst="ellipse">
            <a:avLst/>
          </a:prstGeom>
          <a:noFill/>
          <a:ln w="28575">
            <a:solidFill>
              <a:srgbClr val="0000CC"/>
            </a:solidFill>
            <a:round/>
            <a:headEnd/>
            <a:tailEnd/>
          </a:ln>
        </p:spPr>
        <p:txBody>
          <a:bodyPr wrap="none" anchor="ctr"/>
          <a:lstStyle/>
          <a:p>
            <a:endParaRPr lang="zh-CN" altLang="en-US"/>
          </a:p>
        </p:txBody>
      </p:sp>
      <p:sp>
        <p:nvSpPr>
          <p:cNvPr id="27660" name="Oval 12"/>
          <p:cNvSpPr>
            <a:spLocks noChangeArrowheads="1"/>
          </p:cNvSpPr>
          <p:nvPr/>
        </p:nvSpPr>
        <p:spPr bwMode="auto">
          <a:xfrm>
            <a:off x="5846763" y="2795588"/>
            <a:ext cx="1143000" cy="561975"/>
          </a:xfrm>
          <a:prstGeom prst="ellipse">
            <a:avLst/>
          </a:prstGeom>
          <a:noFill/>
          <a:ln w="22225">
            <a:solidFill>
              <a:srgbClr val="0000CC"/>
            </a:solidFill>
            <a:round/>
            <a:headEnd/>
            <a:tailEnd/>
          </a:ln>
        </p:spPr>
        <p:txBody>
          <a:bodyPr wrap="none" anchor="ctr"/>
          <a:lstStyle/>
          <a:p>
            <a:endParaRPr lang="zh-CN" altLang="en-US"/>
          </a:p>
        </p:txBody>
      </p:sp>
      <p:sp>
        <p:nvSpPr>
          <p:cNvPr id="27661" name="Oval 13"/>
          <p:cNvSpPr>
            <a:spLocks noChangeAspect="1" noChangeArrowheads="1"/>
          </p:cNvSpPr>
          <p:nvPr/>
        </p:nvSpPr>
        <p:spPr bwMode="auto">
          <a:xfrm>
            <a:off x="5999163" y="1181100"/>
            <a:ext cx="990600" cy="1965325"/>
          </a:xfrm>
          <a:prstGeom prst="ellipse">
            <a:avLst/>
          </a:prstGeom>
          <a:noFill/>
          <a:ln w="28575">
            <a:solidFill>
              <a:srgbClr val="FF0000"/>
            </a:solidFill>
            <a:round/>
            <a:headEnd/>
            <a:tailEnd/>
          </a:ln>
        </p:spPr>
        <p:txBody>
          <a:bodyPr wrap="none" anchor="ctr"/>
          <a:lstStyle/>
          <a:p>
            <a:endParaRPr lang="zh-CN" altLang="en-US"/>
          </a:p>
        </p:txBody>
      </p:sp>
      <p:graphicFrame>
        <p:nvGraphicFramePr>
          <p:cNvPr id="27662" name="Object 14"/>
          <p:cNvGraphicFramePr>
            <a:graphicFrameLocks noChangeAspect="1"/>
          </p:cNvGraphicFramePr>
          <p:nvPr/>
        </p:nvGraphicFramePr>
        <p:xfrm>
          <a:off x="8243888" y="836613"/>
          <a:ext cx="323850" cy="434975"/>
        </p:xfrm>
        <a:graphic>
          <a:graphicData uri="http://schemas.openxmlformats.org/presentationml/2006/ole">
            <p:oleObj spid="_x0000_s20482" name="公式" r:id="rId3" imgW="142900" imgH="200070" progId="Equation.3">
              <p:embed/>
            </p:oleObj>
          </a:graphicData>
        </a:graphic>
      </p:graphicFrame>
      <p:sp>
        <p:nvSpPr>
          <p:cNvPr id="27663" name="Arc 15"/>
          <p:cNvSpPr>
            <a:spLocks/>
          </p:cNvSpPr>
          <p:nvPr/>
        </p:nvSpPr>
        <p:spPr bwMode="auto">
          <a:xfrm flipH="1">
            <a:off x="6157913" y="1320800"/>
            <a:ext cx="304800" cy="708025"/>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6600"/>
            </a:solidFill>
            <a:round/>
            <a:headEnd/>
            <a:tailEnd type="triangle" w="med" len="med"/>
          </a:ln>
        </p:spPr>
        <p:txBody>
          <a:bodyPr wrap="none" anchor="ctr"/>
          <a:lstStyle/>
          <a:p>
            <a:endParaRPr lang="zh-CN" altLang="en-US"/>
          </a:p>
        </p:txBody>
      </p:sp>
      <p:graphicFrame>
        <p:nvGraphicFramePr>
          <p:cNvPr id="27664" name="Object 16"/>
          <p:cNvGraphicFramePr>
            <a:graphicFrameLocks noChangeAspect="1"/>
          </p:cNvGraphicFramePr>
          <p:nvPr/>
        </p:nvGraphicFramePr>
        <p:xfrm>
          <a:off x="5716588" y="1314450"/>
          <a:ext cx="327025" cy="431800"/>
        </p:xfrm>
        <a:graphic>
          <a:graphicData uri="http://schemas.openxmlformats.org/presentationml/2006/ole">
            <p:oleObj spid="_x0000_s20483" name="公式" r:id="rId4" imgW="123721" imgH="180900" progId="Equation.3">
              <p:embed/>
            </p:oleObj>
          </a:graphicData>
        </a:graphic>
      </p:graphicFrame>
      <p:graphicFrame>
        <p:nvGraphicFramePr>
          <p:cNvPr id="27665" name="Object 17"/>
          <p:cNvGraphicFramePr>
            <a:graphicFrameLocks noChangeAspect="1"/>
          </p:cNvGraphicFramePr>
          <p:nvPr/>
        </p:nvGraphicFramePr>
        <p:xfrm>
          <a:off x="5473700" y="2781300"/>
          <a:ext cx="322263" cy="388938"/>
        </p:xfrm>
        <a:graphic>
          <a:graphicData uri="http://schemas.openxmlformats.org/presentationml/2006/ole">
            <p:oleObj spid="_x0000_s20484" name="公式" r:id="rId5" imgW="142900" imgH="180900" progId="Equation.3">
              <p:embed/>
            </p:oleObj>
          </a:graphicData>
        </a:graphic>
      </p:graphicFrame>
      <p:sp>
        <p:nvSpPr>
          <p:cNvPr id="27666" name="Oval 18"/>
          <p:cNvSpPr>
            <a:spLocks noChangeArrowheads="1"/>
          </p:cNvSpPr>
          <p:nvPr/>
        </p:nvSpPr>
        <p:spPr bwMode="auto">
          <a:xfrm>
            <a:off x="7446963" y="1181100"/>
            <a:ext cx="990600" cy="1965325"/>
          </a:xfrm>
          <a:prstGeom prst="ellipse">
            <a:avLst/>
          </a:prstGeom>
          <a:noFill/>
          <a:ln w="28575">
            <a:solidFill>
              <a:srgbClr val="990099"/>
            </a:solidFill>
            <a:round/>
            <a:headEnd/>
            <a:tailEnd/>
          </a:ln>
        </p:spPr>
        <p:txBody>
          <a:bodyPr wrap="none" anchor="ctr"/>
          <a:lstStyle/>
          <a:p>
            <a:endParaRPr lang="zh-CN" altLang="en-US"/>
          </a:p>
        </p:txBody>
      </p:sp>
      <p:graphicFrame>
        <p:nvGraphicFramePr>
          <p:cNvPr id="27667" name="Object 19"/>
          <p:cNvGraphicFramePr>
            <a:graphicFrameLocks noChangeAspect="1"/>
          </p:cNvGraphicFramePr>
          <p:nvPr/>
        </p:nvGraphicFramePr>
        <p:xfrm>
          <a:off x="8393113" y="2954338"/>
          <a:ext cx="341312" cy="387350"/>
        </p:xfrm>
        <a:graphic>
          <a:graphicData uri="http://schemas.openxmlformats.org/presentationml/2006/ole">
            <p:oleObj spid="_x0000_s20485" name="公式" r:id="rId6" imgW="152355" imgH="180900" progId="Equation.3">
              <p:embed/>
            </p:oleObj>
          </a:graphicData>
        </a:graphic>
      </p:graphicFrame>
      <p:sp>
        <p:nvSpPr>
          <p:cNvPr id="27668" name="Rectangle 20"/>
          <p:cNvSpPr>
            <a:spLocks noChangeArrowheads="1"/>
          </p:cNvSpPr>
          <p:nvPr/>
        </p:nvSpPr>
        <p:spPr bwMode="auto">
          <a:xfrm>
            <a:off x="515938" y="892175"/>
            <a:ext cx="4200525" cy="947738"/>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线圈</a:t>
            </a:r>
            <a:r>
              <a:rPr kumimoji="1" lang="zh-CN" altLang="en-US" sz="2400" b="1">
                <a:solidFill>
                  <a:srgbClr val="FF3300"/>
                </a:solidFill>
                <a:latin typeface="Times New Roman" pitchFamily="18" charset="0"/>
                <a:ea typeface="楷体_GB2312" pitchFamily="49" charset="-122"/>
              </a:rPr>
              <a:t> </a:t>
            </a:r>
            <a:r>
              <a:rPr kumimoji="1" lang="en-US" altLang="zh-CN" sz="2400" b="1">
                <a:solidFill>
                  <a:srgbClr val="FF3300"/>
                </a:solidFill>
                <a:latin typeface="Times New Roman" pitchFamily="18" charset="0"/>
                <a:ea typeface="楷体_GB2312" pitchFamily="49" charset="-122"/>
              </a:rPr>
              <a:t>1 </a:t>
            </a:r>
            <a:r>
              <a:rPr kumimoji="1" lang="zh-CN" altLang="en-US" sz="2400" b="1">
                <a:latin typeface="Times New Roman" pitchFamily="18" charset="0"/>
                <a:ea typeface="楷体_GB2312" pitchFamily="49" charset="-122"/>
              </a:rPr>
              <a:t>中的电流变化</a:t>
            </a:r>
          </a:p>
        </p:txBody>
      </p:sp>
      <p:sp>
        <p:nvSpPr>
          <p:cNvPr id="27669" name="Rectangle 21"/>
          <p:cNvSpPr>
            <a:spLocks noChangeArrowheads="1"/>
          </p:cNvSpPr>
          <p:nvPr/>
        </p:nvSpPr>
        <p:spPr bwMode="auto">
          <a:xfrm>
            <a:off x="525463" y="1404938"/>
            <a:ext cx="4464050" cy="947737"/>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引起线圈</a:t>
            </a:r>
            <a:r>
              <a:rPr kumimoji="1" lang="zh-CN" altLang="en-US" sz="2400" b="1">
                <a:solidFill>
                  <a:srgbClr val="FF0000"/>
                </a:solidFill>
                <a:latin typeface="Times New Roman" pitchFamily="18" charset="0"/>
                <a:ea typeface="楷体_GB2312" pitchFamily="49" charset="-122"/>
              </a:rPr>
              <a:t> </a:t>
            </a:r>
            <a:r>
              <a:rPr kumimoji="1" lang="en-US" altLang="zh-CN" sz="2400" b="1">
                <a:solidFill>
                  <a:srgbClr val="FF3300"/>
                </a:solidFill>
                <a:latin typeface="Times New Roman" pitchFamily="18" charset="0"/>
                <a:ea typeface="楷体_GB2312" pitchFamily="49" charset="-122"/>
              </a:rPr>
              <a:t>2 </a:t>
            </a:r>
            <a:r>
              <a:rPr kumimoji="1" lang="zh-CN" altLang="en-US" sz="2400" b="1">
                <a:latin typeface="Times New Roman" pitchFamily="18" charset="0"/>
                <a:ea typeface="楷体_GB2312" pitchFamily="49" charset="-122"/>
              </a:rPr>
              <a:t>的磁通量变化</a:t>
            </a:r>
          </a:p>
        </p:txBody>
      </p:sp>
      <p:sp>
        <p:nvSpPr>
          <p:cNvPr id="27670" name="Rectangle 22"/>
          <p:cNvSpPr>
            <a:spLocks noChangeArrowheads="1"/>
          </p:cNvSpPr>
          <p:nvPr/>
        </p:nvSpPr>
        <p:spPr bwMode="auto">
          <a:xfrm>
            <a:off x="525463" y="1951038"/>
            <a:ext cx="3903662" cy="947737"/>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线圈 </a:t>
            </a:r>
            <a:r>
              <a:rPr kumimoji="1" lang="en-US" altLang="zh-CN" sz="2400" b="1">
                <a:solidFill>
                  <a:srgbClr val="FF3300"/>
                </a:solidFill>
                <a:latin typeface="Times New Roman" pitchFamily="18" charset="0"/>
                <a:ea typeface="楷体_GB2312" pitchFamily="49" charset="-122"/>
              </a:rPr>
              <a:t>2 </a:t>
            </a:r>
            <a:r>
              <a:rPr kumimoji="1" lang="zh-CN" altLang="en-US" sz="2400" b="1">
                <a:latin typeface="Times New Roman" pitchFamily="18" charset="0"/>
                <a:ea typeface="楷体_GB2312" pitchFamily="49" charset="-122"/>
              </a:rPr>
              <a:t>中产生感应电动势</a:t>
            </a:r>
          </a:p>
        </p:txBody>
      </p:sp>
      <p:sp>
        <p:nvSpPr>
          <p:cNvPr id="27671" name="Rectangle 23"/>
          <p:cNvSpPr>
            <a:spLocks noChangeArrowheads="1"/>
          </p:cNvSpPr>
          <p:nvPr/>
        </p:nvSpPr>
        <p:spPr bwMode="auto">
          <a:xfrm>
            <a:off x="468313" y="3475038"/>
            <a:ext cx="1828800"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穿过线圈 </a:t>
            </a:r>
            <a:r>
              <a:rPr kumimoji="1" lang="en-US" altLang="zh-CN" sz="2400" b="1">
                <a:solidFill>
                  <a:srgbClr val="FF3300"/>
                </a:solidFill>
                <a:latin typeface="Times New Roman" pitchFamily="18" charset="0"/>
                <a:ea typeface="楷体_GB2312" pitchFamily="49" charset="-122"/>
              </a:rPr>
              <a:t>2</a:t>
            </a:r>
          </a:p>
        </p:txBody>
      </p:sp>
      <p:sp>
        <p:nvSpPr>
          <p:cNvPr id="27672" name="Rectangle 24"/>
          <p:cNvSpPr>
            <a:spLocks noChangeArrowheads="1"/>
          </p:cNvSpPr>
          <p:nvPr/>
        </p:nvSpPr>
        <p:spPr bwMode="auto">
          <a:xfrm>
            <a:off x="4214813" y="3457575"/>
            <a:ext cx="2601912"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线圈 </a:t>
            </a:r>
            <a:r>
              <a:rPr kumimoji="1" lang="en-US" altLang="zh-CN" sz="2400" b="1">
                <a:solidFill>
                  <a:srgbClr val="FF0000"/>
                </a:solidFill>
                <a:latin typeface="Times New Roman" pitchFamily="18" charset="0"/>
                <a:ea typeface="楷体_GB2312" pitchFamily="49" charset="-122"/>
              </a:rPr>
              <a:t>1</a:t>
            </a: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中电流</a:t>
            </a:r>
            <a:r>
              <a:rPr kumimoji="1" lang="zh-CN" altLang="en-US" sz="2400" b="1">
                <a:solidFill>
                  <a:srgbClr val="FF0000"/>
                </a:solidFill>
                <a:latin typeface="Times New Roman" pitchFamily="18" charset="0"/>
                <a:ea typeface="楷体_GB2312" pitchFamily="49" charset="-122"/>
              </a:rPr>
              <a:t> </a:t>
            </a:r>
            <a:r>
              <a:rPr kumimoji="1" lang="en-US" altLang="zh-CN" sz="2400" b="1" i="1">
                <a:solidFill>
                  <a:srgbClr val="FF0000"/>
                </a:solidFill>
                <a:latin typeface="Times New Roman" pitchFamily="18" charset="0"/>
                <a:ea typeface="楷体_GB2312" pitchFamily="49" charset="-122"/>
              </a:rPr>
              <a:t>I</a:t>
            </a:r>
            <a:r>
              <a:rPr kumimoji="1" lang="en-US" altLang="zh-CN" sz="2400" b="1" baseline="-25000">
                <a:solidFill>
                  <a:srgbClr val="FF0000"/>
                </a:solidFill>
                <a:latin typeface="Times New Roman" pitchFamily="18" charset="0"/>
                <a:ea typeface="楷体_GB2312" pitchFamily="49" charset="-122"/>
              </a:rPr>
              <a:t>1 </a:t>
            </a:r>
          </a:p>
        </p:txBody>
      </p:sp>
      <p:graphicFrame>
        <p:nvGraphicFramePr>
          <p:cNvPr id="27673" name="Object 25"/>
          <p:cNvGraphicFramePr>
            <a:graphicFrameLocks noChangeAspect="1"/>
          </p:cNvGraphicFramePr>
          <p:nvPr/>
        </p:nvGraphicFramePr>
        <p:xfrm>
          <a:off x="2987675" y="4052888"/>
          <a:ext cx="1443038" cy="388937"/>
        </p:xfrm>
        <a:graphic>
          <a:graphicData uri="http://schemas.openxmlformats.org/presentationml/2006/ole">
            <p:oleObj spid="_x0000_s20486" name="公式" r:id="rId7" imgW="762045" imgH="180900" progId="Equation.3">
              <p:embed/>
            </p:oleObj>
          </a:graphicData>
        </a:graphic>
      </p:graphicFrame>
      <p:graphicFrame>
        <p:nvGraphicFramePr>
          <p:cNvPr id="27674" name="Object 26"/>
          <p:cNvGraphicFramePr>
            <a:graphicFrameLocks noChangeAspect="1"/>
          </p:cNvGraphicFramePr>
          <p:nvPr/>
        </p:nvGraphicFramePr>
        <p:xfrm>
          <a:off x="2411413" y="4640263"/>
          <a:ext cx="1882775" cy="733425"/>
        </p:xfrm>
        <a:graphic>
          <a:graphicData uri="http://schemas.openxmlformats.org/presentationml/2006/ole">
            <p:oleObj spid="_x0000_s20487" name="公式" r:id="rId8" imgW="1000032" imgH="371520" progId="Equation.3">
              <p:embed/>
            </p:oleObj>
          </a:graphicData>
        </a:graphic>
      </p:graphicFrame>
      <p:graphicFrame>
        <p:nvGraphicFramePr>
          <p:cNvPr id="27675" name="Object 27"/>
          <p:cNvGraphicFramePr>
            <a:graphicFrameLocks noChangeAspect="1"/>
          </p:cNvGraphicFramePr>
          <p:nvPr/>
        </p:nvGraphicFramePr>
        <p:xfrm>
          <a:off x="4283075" y="4638675"/>
          <a:ext cx="2570163" cy="735013"/>
        </p:xfrm>
        <a:graphic>
          <a:graphicData uri="http://schemas.openxmlformats.org/presentationml/2006/ole">
            <p:oleObj spid="_x0000_s20488" name="公式" r:id="rId9" imgW="1381190" imgH="371520" progId="Equation.3">
              <p:embed/>
            </p:oleObj>
          </a:graphicData>
        </a:graphic>
      </p:graphicFrame>
      <p:sp>
        <p:nvSpPr>
          <p:cNvPr id="27676" name="Rectangle 28"/>
          <p:cNvSpPr>
            <a:spLocks noChangeArrowheads="1"/>
          </p:cNvSpPr>
          <p:nvPr/>
        </p:nvSpPr>
        <p:spPr bwMode="auto">
          <a:xfrm>
            <a:off x="179388" y="5486400"/>
            <a:ext cx="4032250" cy="979488"/>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若两线圈结构、相对位置及其周围介质分布不变时，</a:t>
            </a:r>
          </a:p>
        </p:txBody>
      </p:sp>
      <p:graphicFrame>
        <p:nvGraphicFramePr>
          <p:cNvPr id="27677" name="Object 29"/>
          <p:cNvGraphicFramePr>
            <a:graphicFrameLocks noChangeAspect="1"/>
          </p:cNvGraphicFramePr>
          <p:nvPr/>
        </p:nvGraphicFramePr>
        <p:xfrm>
          <a:off x="4356100" y="5600700"/>
          <a:ext cx="1701800" cy="735013"/>
        </p:xfrm>
        <a:graphic>
          <a:graphicData uri="http://schemas.openxmlformats.org/presentationml/2006/ole">
            <p:oleObj spid="_x0000_s20489" name="公式" r:id="rId10" imgW="904945" imgH="371520" progId="Equation.3">
              <p:embed/>
            </p:oleObj>
          </a:graphicData>
        </a:graphic>
      </p:graphicFrame>
      <p:sp>
        <p:nvSpPr>
          <p:cNvPr id="27678" name="Rectangle 30"/>
          <p:cNvSpPr>
            <a:spLocks noChangeArrowheads="1"/>
          </p:cNvSpPr>
          <p:nvPr/>
        </p:nvSpPr>
        <p:spPr bwMode="auto">
          <a:xfrm>
            <a:off x="2024063" y="3443288"/>
            <a:ext cx="2617787"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的磁通量正比于</a:t>
            </a:r>
          </a:p>
        </p:txBody>
      </p:sp>
      <p:graphicFrame>
        <p:nvGraphicFramePr>
          <p:cNvPr id="27679" name="Object 31"/>
          <p:cNvGraphicFramePr>
            <a:graphicFrameLocks noChangeAspect="1"/>
          </p:cNvGraphicFramePr>
          <p:nvPr/>
        </p:nvGraphicFramePr>
        <p:xfrm>
          <a:off x="6588125" y="5575300"/>
          <a:ext cx="1673225" cy="733425"/>
        </p:xfrm>
        <a:graphic>
          <a:graphicData uri="http://schemas.openxmlformats.org/presentationml/2006/ole">
            <p:oleObj spid="_x0000_s20490" name="公式" r:id="rId11" imgW="885766" imgH="371520" progId="Equation.3">
              <p:embed/>
            </p:oleObj>
          </a:graphicData>
        </a:graphic>
      </p:graphicFrame>
      <p:sp>
        <p:nvSpPr>
          <p:cNvPr id="27680" name="Rectangle 32"/>
          <p:cNvSpPr>
            <a:spLocks noChangeArrowheads="1"/>
          </p:cNvSpPr>
          <p:nvPr/>
        </p:nvSpPr>
        <p:spPr bwMode="auto">
          <a:xfrm>
            <a:off x="395288" y="4724400"/>
            <a:ext cx="2251075"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cs typeface="Times New Roman" pitchFamily="18" charset="0"/>
              </a:rPr>
              <a:t>互感电动势</a:t>
            </a:r>
            <a:r>
              <a:rPr kumimoji="1" lang="en-US" altLang="zh-CN" sz="2400" b="1">
                <a:latin typeface="Times New Roman" pitchFamily="18" charset="0"/>
                <a:ea typeface="楷体_GB2312" pitchFamily="49" charset="-122"/>
                <a:cs typeface="Times New Roman" pitchFamily="18" charset="0"/>
              </a:rPr>
              <a:t>:</a:t>
            </a:r>
          </a:p>
        </p:txBody>
      </p:sp>
      <p:sp>
        <p:nvSpPr>
          <p:cNvPr id="27681" name="Rectangle 33"/>
          <p:cNvSpPr>
            <a:spLocks noChangeArrowheads="1"/>
          </p:cNvSpPr>
          <p:nvPr/>
        </p:nvSpPr>
        <p:spPr bwMode="auto">
          <a:xfrm>
            <a:off x="5076825" y="3998913"/>
            <a:ext cx="2865438" cy="534987"/>
          </a:xfrm>
          <a:prstGeom prst="rect">
            <a:avLst/>
          </a:prstGeom>
          <a:noFill/>
          <a:ln w="9525" algn="ctr">
            <a:noFill/>
            <a:miter lim="800000"/>
            <a:headEnd/>
            <a:tailEnd/>
          </a:ln>
        </p:spPr>
        <p:txBody>
          <a:bodyPr>
            <a:spAutoFit/>
          </a:bodyPr>
          <a:lstStyle/>
          <a:p>
            <a:pPr algn="l">
              <a:lnSpc>
                <a:spcPct val="120000"/>
              </a:lnSpc>
            </a:pPr>
            <a:r>
              <a:rPr kumimoji="1" lang="en-US" altLang="zh-CN" sz="2000" b="1">
                <a:latin typeface="Times New Roman" pitchFamily="18" charset="0"/>
                <a:ea typeface="楷体_GB2312" pitchFamily="49" charset="-122"/>
              </a:rPr>
              <a:t>( </a:t>
            </a:r>
            <a:r>
              <a:rPr kumimoji="1" lang="en-US" altLang="zh-CN" sz="2000" b="1" i="1">
                <a:solidFill>
                  <a:srgbClr val="008000"/>
                </a:solidFill>
                <a:latin typeface="Times New Roman" pitchFamily="18" charset="0"/>
                <a:ea typeface="楷体_GB2312" pitchFamily="49" charset="-122"/>
              </a:rPr>
              <a:t>M</a:t>
            </a:r>
            <a:r>
              <a:rPr kumimoji="1" lang="en-US" altLang="zh-CN" sz="2000" b="1" baseline="-25000">
                <a:solidFill>
                  <a:srgbClr val="008000"/>
                </a:solidFill>
                <a:latin typeface="Times New Roman" pitchFamily="18" charset="0"/>
                <a:ea typeface="楷体_GB2312" pitchFamily="49" charset="-122"/>
              </a:rPr>
              <a:t>21</a:t>
            </a:r>
            <a:r>
              <a:rPr kumimoji="1" lang="zh-CN" altLang="en-US" sz="2000" b="1">
                <a:solidFill>
                  <a:srgbClr val="008000"/>
                </a:solidFill>
                <a:latin typeface="Times New Roman" pitchFamily="18" charset="0"/>
                <a:ea typeface="楷体_GB2312" pitchFamily="49" charset="-122"/>
              </a:rPr>
              <a:t>：</a:t>
            </a:r>
            <a:r>
              <a:rPr kumimoji="1" lang="zh-CN" altLang="en-US" sz="2400" b="1">
                <a:solidFill>
                  <a:srgbClr val="FF0000"/>
                </a:solidFill>
                <a:latin typeface="Times New Roman" pitchFamily="18" charset="0"/>
                <a:ea typeface="楷体_GB2312" pitchFamily="49" charset="-122"/>
              </a:rPr>
              <a:t>互感系数</a:t>
            </a:r>
            <a:r>
              <a:rPr kumimoji="1" lang="zh-CN" altLang="en-US" sz="2000" b="1">
                <a:solidFill>
                  <a:srgbClr val="FF0000"/>
                </a:solidFill>
                <a:latin typeface="Times New Roman" pitchFamily="18" charset="0"/>
                <a:ea typeface="楷体_GB2312" pitchFamily="49" charset="-122"/>
              </a:rPr>
              <a:t> </a:t>
            </a:r>
            <a:r>
              <a:rPr kumimoji="1" lang="en-US" altLang="zh-CN" sz="2000" b="1">
                <a:latin typeface="Times New Roman" pitchFamily="18" charset="0"/>
                <a:ea typeface="楷体_GB2312" pitchFamily="49" charset="-122"/>
              </a:rPr>
              <a:t>)</a:t>
            </a:r>
          </a:p>
        </p:txBody>
      </p:sp>
      <p:sp>
        <p:nvSpPr>
          <p:cNvPr id="27682" name="Rectangle 34"/>
          <p:cNvSpPr>
            <a:spLocks noChangeArrowheads="1"/>
          </p:cNvSpPr>
          <p:nvPr/>
        </p:nvSpPr>
        <p:spPr bwMode="auto">
          <a:xfrm>
            <a:off x="6350000" y="1757363"/>
            <a:ext cx="336550" cy="457200"/>
          </a:xfrm>
          <a:prstGeom prst="rect">
            <a:avLst/>
          </a:prstGeom>
          <a:noFill/>
          <a:ln w="9525">
            <a:noFill/>
            <a:miter lim="800000"/>
            <a:headEnd/>
            <a:tailEnd/>
          </a:ln>
        </p:spPr>
        <p:txBody>
          <a:bodyPr wrap="none">
            <a:spAutoFit/>
          </a:bodyPr>
          <a:lstStyle/>
          <a:p>
            <a:pPr algn="l"/>
            <a:r>
              <a:rPr kumimoji="1" lang="en-US" altLang="zh-CN" sz="2400" b="1">
                <a:latin typeface="Times New Roman" pitchFamily="18" charset="0"/>
                <a:ea typeface="楷体_GB2312" pitchFamily="49" charset="-122"/>
              </a:rPr>
              <a:t>1</a:t>
            </a:r>
          </a:p>
        </p:txBody>
      </p:sp>
      <p:sp>
        <p:nvSpPr>
          <p:cNvPr id="27683" name="Rectangle 35"/>
          <p:cNvSpPr>
            <a:spLocks noChangeArrowheads="1"/>
          </p:cNvSpPr>
          <p:nvPr/>
        </p:nvSpPr>
        <p:spPr bwMode="auto">
          <a:xfrm>
            <a:off x="7812088" y="1757363"/>
            <a:ext cx="336550" cy="457200"/>
          </a:xfrm>
          <a:prstGeom prst="rect">
            <a:avLst/>
          </a:prstGeom>
          <a:noFill/>
          <a:ln w="9525">
            <a:noFill/>
            <a:miter lim="800000"/>
            <a:headEnd/>
            <a:tailEnd/>
          </a:ln>
        </p:spPr>
        <p:txBody>
          <a:bodyPr wrap="none">
            <a:spAutoFit/>
          </a:bodyPr>
          <a:lstStyle/>
          <a:p>
            <a:pPr algn="l"/>
            <a:r>
              <a:rPr kumimoji="1" lang="en-US" altLang="zh-CN" sz="2400" b="1">
                <a:latin typeface="Times New Roman" pitchFamily="18" charset="0"/>
                <a:ea typeface="楷体_GB2312" pitchFamily="49" charset="-122"/>
              </a:rPr>
              <a:t>2</a:t>
            </a:r>
          </a:p>
        </p:txBody>
      </p:sp>
      <p:sp>
        <p:nvSpPr>
          <p:cNvPr id="27684" name="Rectangle 36"/>
          <p:cNvSpPr>
            <a:spLocks noChangeArrowheads="1"/>
          </p:cNvSpPr>
          <p:nvPr/>
        </p:nvSpPr>
        <p:spPr bwMode="auto">
          <a:xfrm>
            <a:off x="3059113" y="2430463"/>
            <a:ext cx="2160587" cy="534987"/>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FF3300"/>
                </a:solidFill>
                <a:latin typeface="Times New Roman" pitchFamily="18" charset="0"/>
                <a:ea typeface="楷体_GB2312" pitchFamily="49" charset="-122"/>
              </a:rPr>
              <a:t>——</a:t>
            </a:r>
            <a:r>
              <a:rPr kumimoji="1" lang="zh-CN" altLang="en-US" sz="2400" b="1">
                <a:solidFill>
                  <a:srgbClr val="FF3300"/>
                </a:solidFill>
                <a:latin typeface="Times New Roman" pitchFamily="18" charset="0"/>
                <a:ea typeface="楷体_GB2312" pitchFamily="49" charset="-122"/>
              </a:rPr>
              <a:t>互感现象</a:t>
            </a:r>
          </a:p>
        </p:txBody>
      </p:sp>
      <p:sp>
        <p:nvSpPr>
          <p:cNvPr id="27685" name="Rectangle 37"/>
          <p:cNvSpPr>
            <a:spLocks noChangeArrowheads="1"/>
          </p:cNvSpPr>
          <p:nvPr/>
        </p:nvSpPr>
        <p:spPr bwMode="auto">
          <a:xfrm>
            <a:off x="179388" y="2852738"/>
            <a:ext cx="4032250" cy="530225"/>
          </a:xfrm>
          <a:prstGeom prst="rect">
            <a:avLst/>
          </a:prstGeom>
          <a:noFill/>
          <a:ln w="9525">
            <a:noFill/>
            <a:miter lim="800000"/>
            <a:headEnd/>
            <a:tailEnd/>
          </a:ln>
        </p:spPr>
        <p:txBody>
          <a:bodyPr>
            <a:spAutoFit/>
          </a:bodyPr>
          <a:lstStyle/>
          <a:p>
            <a:pPr algn="l">
              <a:lnSpc>
                <a:spcPct val="120000"/>
              </a:lnSpc>
              <a:buClr>
                <a:srgbClr val="FF0000"/>
              </a:buClr>
              <a:buFont typeface="Wingdings" pitchFamily="2" charset="2"/>
              <a:buChar char="Ø"/>
            </a:pPr>
            <a:r>
              <a:rPr kumimoji="1" lang="en-US" altLang="zh-CN" sz="2400" b="1">
                <a:solidFill>
                  <a:srgbClr val="FF0000"/>
                </a:solidFill>
                <a:latin typeface="Times New Roman" pitchFamily="18" charset="0"/>
                <a:ea typeface="楷体_GB2312" pitchFamily="49" charset="-122"/>
                <a:cs typeface="Times New Roman" pitchFamily="18" charset="0"/>
              </a:rPr>
              <a:t>  </a:t>
            </a:r>
            <a:r>
              <a:rPr kumimoji="1" lang="zh-CN" altLang="en-US" sz="2400" b="1">
                <a:solidFill>
                  <a:srgbClr val="FF0000"/>
                </a:solidFill>
                <a:latin typeface="Times New Roman" pitchFamily="18" charset="0"/>
                <a:ea typeface="楷体_GB2312" pitchFamily="49" charset="-122"/>
                <a:cs typeface="Times New Roman" pitchFamily="18" charset="0"/>
              </a:rPr>
              <a:t>互感电动势的计算</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wipe(left)">
                                      <p:cBhvr>
                                        <p:cTn id="7" dur="500"/>
                                        <p:tgtEl>
                                          <p:spTgt spid="276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7" presetClass="entr" presetSubtype="8" fill="hold" grpId="0" nodeType="clickEffect">
                                  <p:stCondLst>
                                    <p:cond delay="0"/>
                                  </p:stCondLst>
                                  <p:childTnLst>
                                    <p:set>
                                      <p:cBhvr>
                                        <p:cTn id="11" dur="1" fill="hold">
                                          <p:stCondLst>
                                            <p:cond delay="0"/>
                                          </p:stCondLst>
                                        </p:cTn>
                                        <p:tgtEl>
                                          <p:spTgt spid="27661"/>
                                        </p:tgtEl>
                                        <p:attrNameLst>
                                          <p:attrName>style.visibility</p:attrName>
                                        </p:attrNameLst>
                                      </p:cBhvr>
                                      <p:to>
                                        <p:strVal val="visible"/>
                                      </p:to>
                                    </p:set>
                                    <p:anim calcmode="lin" valueType="num">
                                      <p:cBhvr additive="base">
                                        <p:cTn id="12" dur="500" fill="hold"/>
                                        <p:tgtEl>
                                          <p:spTgt spid="27661"/>
                                        </p:tgtEl>
                                        <p:attrNameLst>
                                          <p:attrName>ppt_x</p:attrName>
                                        </p:attrNameLst>
                                      </p:cBhvr>
                                      <p:tavLst>
                                        <p:tav tm="0">
                                          <p:val>
                                            <p:strVal val="0-#ppt_w/2"/>
                                          </p:val>
                                        </p:tav>
                                        <p:tav tm="100000">
                                          <p:val>
                                            <p:strVal val="#ppt_x"/>
                                          </p:val>
                                        </p:tav>
                                      </p:tavLst>
                                    </p:anim>
                                    <p:anim calcmode="lin" valueType="num">
                                      <p:cBhvr additive="base">
                                        <p:cTn id="13" dur="500" fill="hold"/>
                                        <p:tgtEl>
                                          <p:spTgt spid="27661"/>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500"/>
                            </p:stCondLst>
                            <p:childTnLst>
                              <p:par>
                                <p:cTn id="15" presetID="1" presetClass="entr" presetSubtype="0" fill="hold" nodeType="afterEffect">
                                  <p:stCondLst>
                                    <p:cond delay="0"/>
                                  </p:stCondLst>
                                  <p:childTnLst>
                                    <p:set>
                                      <p:cBhvr>
                                        <p:cTn id="16" dur="1" fill="hold">
                                          <p:stCondLst>
                                            <p:cond delay="499"/>
                                          </p:stCondLst>
                                        </p:cTn>
                                        <p:tgtEl>
                                          <p:spTgt spid="27665"/>
                                        </p:tgtEl>
                                        <p:attrNameLst>
                                          <p:attrName>style.visibility</p:attrName>
                                        </p:attrNameLst>
                                      </p:cBhvr>
                                      <p:to>
                                        <p:strVal val="visible"/>
                                      </p:to>
                                    </p:set>
                                  </p:childTnLst>
                                </p:cTn>
                              </p:par>
                              <p:par>
                                <p:cTn id="17" presetID="22" presetClass="entr" presetSubtype="8" fill="hold" grpId="0" nodeType="withEffect">
                                  <p:stCondLst>
                                    <p:cond delay="0"/>
                                  </p:stCondLst>
                                  <p:childTnLst>
                                    <p:set>
                                      <p:cBhvr>
                                        <p:cTn id="18" dur="1" fill="hold">
                                          <p:stCondLst>
                                            <p:cond delay="0"/>
                                          </p:stCondLst>
                                        </p:cTn>
                                        <p:tgtEl>
                                          <p:spTgt spid="27682"/>
                                        </p:tgtEl>
                                        <p:attrNameLst>
                                          <p:attrName>style.visibility</p:attrName>
                                        </p:attrNameLst>
                                      </p:cBhvr>
                                      <p:to>
                                        <p:strVal val="visible"/>
                                      </p:to>
                                    </p:set>
                                    <p:animEffect transition="in" filter="wipe(left)">
                                      <p:cBhvr>
                                        <p:cTn id="19" dur="500"/>
                                        <p:tgtEl>
                                          <p:spTgt spid="2768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7" presetClass="entr" presetSubtype="2" fill="hold" grpId="0" nodeType="clickEffect">
                                  <p:stCondLst>
                                    <p:cond delay="0"/>
                                  </p:stCondLst>
                                  <p:childTnLst>
                                    <p:set>
                                      <p:cBhvr>
                                        <p:cTn id="23" dur="1" fill="hold">
                                          <p:stCondLst>
                                            <p:cond delay="0"/>
                                          </p:stCondLst>
                                        </p:cTn>
                                        <p:tgtEl>
                                          <p:spTgt spid="27666"/>
                                        </p:tgtEl>
                                        <p:attrNameLst>
                                          <p:attrName>style.visibility</p:attrName>
                                        </p:attrNameLst>
                                      </p:cBhvr>
                                      <p:to>
                                        <p:strVal val="visible"/>
                                      </p:to>
                                    </p:set>
                                    <p:anim calcmode="lin" valueType="num">
                                      <p:cBhvr additive="base">
                                        <p:cTn id="24" dur="500" fill="hold"/>
                                        <p:tgtEl>
                                          <p:spTgt spid="27666"/>
                                        </p:tgtEl>
                                        <p:attrNameLst>
                                          <p:attrName>ppt_x</p:attrName>
                                        </p:attrNameLst>
                                      </p:cBhvr>
                                      <p:tavLst>
                                        <p:tav tm="0">
                                          <p:val>
                                            <p:strVal val="1+#ppt_w/2"/>
                                          </p:val>
                                        </p:tav>
                                        <p:tav tm="100000">
                                          <p:val>
                                            <p:strVal val="#ppt_x"/>
                                          </p:val>
                                        </p:tav>
                                      </p:tavLst>
                                    </p:anim>
                                    <p:anim calcmode="lin" valueType="num">
                                      <p:cBhvr additive="base">
                                        <p:cTn id="25" dur="500" fill="hold"/>
                                        <p:tgtEl>
                                          <p:spTgt spid="27666"/>
                                        </p:tgtEl>
                                        <p:attrNameLst>
                                          <p:attrName>ppt_y</p:attrName>
                                        </p:attrNameLst>
                                      </p:cBhvr>
                                      <p:tavLst>
                                        <p:tav tm="0">
                                          <p:val>
                                            <p:strVal val="#ppt_y"/>
                                          </p:val>
                                        </p:tav>
                                        <p:tav tm="100000">
                                          <p:val>
                                            <p:strVal val="#ppt_y"/>
                                          </p:val>
                                        </p:tav>
                                      </p:tavLst>
                                    </p:anim>
                                  </p:childTnLst>
                                </p:cTn>
                              </p:par>
                              <p:par>
                                <p:cTn id="26" presetID="22" presetClass="entr" presetSubtype="8" fill="hold" grpId="0" nodeType="withEffect">
                                  <p:stCondLst>
                                    <p:cond delay="0"/>
                                  </p:stCondLst>
                                  <p:childTnLst>
                                    <p:set>
                                      <p:cBhvr>
                                        <p:cTn id="27" dur="1" fill="hold">
                                          <p:stCondLst>
                                            <p:cond delay="0"/>
                                          </p:stCondLst>
                                        </p:cTn>
                                        <p:tgtEl>
                                          <p:spTgt spid="27683"/>
                                        </p:tgtEl>
                                        <p:attrNameLst>
                                          <p:attrName>style.visibility</p:attrName>
                                        </p:attrNameLst>
                                      </p:cBhvr>
                                      <p:to>
                                        <p:strVal val="visible"/>
                                      </p:to>
                                    </p:set>
                                    <p:animEffect transition="in" filter="wipe(left)">
                                      <p:cBhvr>
                                        <p:cTn id="28" dur="500"/>
                                        <p:tgtEl>
                                          <p:spTgt spid="27683"/>
                                        </p:tgtEl>
                                      </p:cBhvr>
                                    </p:animEffect>
                                  </p:childTnLst>
                                </p:cTn>
                              </p:par>
                            </p:childTnLst>
                          </p:cTn>
                        </p:par>
                        <p:par>
                          <p:cTn id="29" fill="hold" nodeType="afterGroup">
                            <p:stCondLst>
                              <p:cond delay="500"/>
                            </p:stCondLst>
                            <p:childTnLst>
                              <p:par>
                                <p:cTn id="30" presetID="1" presetClass="entr" presetSubtype="0" fill="hold" nodeType="afterEffect">
                                  <p:stCondLst>
                                    <p:cond delay="0"/>
                                  </p:stCondLst>
                                  <p:childTnLst>
                                    <p:set>
                                      <p:cBhvr>
                                        <p:cTn id="31" dur="1" fill="hold">
                                          <p:stCondLst>
                                            <p:cond delay="499"/>
                                          </p:stCondLst>
                                        </p:cTn>
                                        <p:tgtEl>
                                          <p:spTgt spid="27667"/>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27663"/>
                                        </p:tgtEl>
                                        <p:attrNameLst>
                                          <p:attrName>style.visibility</p:attrName>
                                        </p:attrNameLst>
                                      </p:cBhvr>
                                      <p:to>
                                        <p:strVal val="visible"/>
                                      </p:to>
                                    </p:set>
                                    <p:animEffect transition="in" filter="wipe(up)">
                                      <p:cBhvr>
                                        <p:cTn id="36" dur="500"/>
                                        <p:tgtEl>
                                          <p:spTgt spid="27663"/>
                                        </p:tgtEl>
                                      </p:cBhvr>
                                    </p:animEffect>
                                  </p:childTnLst>
                                </p:cTn>
                              </p:par>
                            </p:childTnLst>
                          </p:cTn>
                        </p:par>
                        <p:par>
                          <p:cTn id="37" fill="hold" nodeType="afterGroup">
                            <p:stCondLst>
                              <p:cond delay="500"/>
                            </p:stCondLst>
                            <p:childTnLst>
                              <p:par>
                                <p:cTn id="38" presetID="1" presetClass="entr" presetSubtype="0" fill="hold" nodeType="afterEffect">
                                  <p:stCondLst>
                                    <p:cond delay="0"/>
                                  </p:stCondLst>
                                  <p:childTnLst>
                                    <p:set>
                                      <p:cBhvr>
                                        <p:cTn id="39" dur="1" fill="hold">
                                          <p:stCondLst>
                                            <p:cond delay="499"/>
                                          </p:stCondLst>
                                        </p:cTn>
                                        <p:tgtEl>
                                          <p:spTgt spid="27664"/>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27652"/>
                                        </p:tgtEl>
                                        <p:attrNameLst>
                                          <p:attrName>style.visibility</p:attrName>
                                        </p:attrNameLst>
                                      </p:cBhvr>
                                      <p:to>
                                        <p:strVal val="visible"/>
                                      </p:to>
                                    </p:set>
                                    <p:animEffect transition="in" filter="slide(fromLeft)">
                                      <p:cBhvr>
                                        <p:cTn id="44" dur="500"/>
                                        <p:tgtEl>
                                          <p:spTgt spid="27652"/>
                                        </p:tgtEl>
                                      </p:cBhvr>
                                    </p:animEffect>
                                  </p:childTnLst>
                                </p:cTn>
                              </p:par>
                            </p:childTnLst>
                          </p:cTn>
                        </p:par>
                        <p:par>
                          <p:cTn id="45" fill="hold" nodeType="afterGroup">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7651"/>
                                        </p:tgtEl>
                                        <p:attrNameLst>
                                          <p:attrName>style.visibility</p:attrName>
                                        </p:attrNameLst>
                                      </p:cBhvr>
                                      <p:to>
                                        <p:strVal val="visible"/>
                                      </p:to>
                                    </p:set>
                                    <p:animEffect transition="in" filter="wipe(left)">
                                      <p:cBhvr>
                                        <p:cTn id="48" dur="500"/>
                                        <p:tgtEl>
                                          <p:spTgt spid="27651"/>
                                        </p:tgtEl>
                                      </p:cBhvr>
                                    </p:animEffect>
                                  </p:childTnLst>
                                </p:cTn>
                              </p:par>
                              <p:par>
                                <p:cTn id="49" presetID="22" presetClass="entr" presetSubtype="8" fill="hold" nodeType="with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left)">
                                      <p:cBhvr>
                                        <p:cTn id="51" dur="500"/>
                                        <p:tgtEl>
                                          <p:spTgt spid="2"/>
                                        </p:tgtEl>
                                      </p:cBhvr>
                                    </p:animEffect>
                                  </p:childTnLst>
                                </p:cTn>
                              </p:par>
                              <p:par>
                                <p:cTn id="52" presetID="22" presetClass="entr" presetSubtype="8" fill="hold" nodeType="with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left)">
                                      <p:cBhvr>
                                        <p:cTn id="54" dur="500"/>
                                        <p:tgtEl>
                                          <p:spTgt spid="3"/>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27660"/>
                                        </p:tgtEl>
                                        <p:attrNameLst>
                                          <p:attrName>style.visibility</p:attrName>
                                        </p:attrNameLst>
                                      </p:cBhvr>
                                      <p:to>
                                        <p:strVal val="visible"/>
                                      </p:to>
                                    </p:set>
                                    <p:animEffect transition="in" filter="wipe(left)">
                                      <p:cBhvr>
                                        <p:cTn id="57" dur="500"/>
                                        <p:tgtEl>
                                          <p:spTgt spid="27660"/>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7659"/>
                                        </p:tgtEl>
                                        <p:attrNameLst>
                                          <p:attrName>style.visibility</p:attrName>
                                        </p:attrNameLst>
                                      </p:cBhvr>
                                      <p:to>
                                        <p:strVal val="visible"/>
                                      </p:to>
                                    </p:set>
                                    <p:animEffect transition="in" filter="wipe(left)">
                                      <p:cBhvr>
                                        <p:cTn id="60" dur="500"/>
                                        <p:tgtEl>
                                          <p:spTgt spid="27659"/>
                                        </p:tgtEl>
                                      </p:cBhvr>
                                    </p:animEffect>
                                  </p:childTnLst>
                                </p:cTn>
                              </p:par>
                            </p:childTnLst>
                          </p:cTn>
                        </p:par>
                        <p:par>
                          <p:cTn id="61" fill="hold" nodeType="afterGroup">
                            <p:stCondLst>
                              <p:cond delay="1000"/>
                            </p:stCondLst>
                            <p:childTnLst>
                              <p:par>
                                <p:cTn id="62" presetID="1" presetClass="entr" presetSubtype="0" fill="hold" nodeType="afterEffect">
                                  <p:stCondLst>
                                    <p:cond delay="0"/>
                                  </p:stCondLst>
                                  <p:childTnLst>
                                    <p:set>
                                      <p:cBhvr>
                                        <p:cTn id="63" dur="1" fill="hold">
                                          <p:stCondLst>
                                            <p:cond delay="499"/>
                                          </p:stCondLst>
                                        </p:cTn>
                                        <p:tgtEl>
                                          <p:spTgt spid="27662"/>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7668"/>
                                        </p:tgtEl>
                                        <p:attrNameLst>
                                          <p:attrName>style.visibility</p:attrName>
                                        </p:attrNameLst>
                                      </p:cBhvr>
                                      <p:to>
                                        <p:strVal val="visible"/>
                                      </p:to>
                                    </p:set>
                                    <p:animEffect transition="in" filter="wipe(left)">
                                      <p:cBhvr>
                                        <p:cTn id="68" dur="500"/>
                                        <p:tgtEl>
                                          <p:spTgt spid="27668"/>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7669"/>
                                        </p:tgtEl>
                                        <p:attrNameLst>
                                          <p:attrName>style.visibility</p:attrName>
                                        </p:attrNameLst>
                                      </p:cBhvr>
                                      <p:to>
                                        <p:strVal val="visible"/>
                                      </p:to>
                                    </p:set>
                                    <p:animEffect transition="in" filter="wipe(left)">
                                      <p:cBhvr>
                                        <p:cTn id="73" dur="500"/>
                                        <p:tgtEl>
                                          <p:spTgt spid="27669"/>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7670"/>
                                        </p:tgtEl>
                                        <p:attrNameLst>
                                          <p:attrName>style.visibility</p:attrName>
                                        </p:attrNameLst>
                                      </p:cBhvr>
                                      <p:to>
                                        <p:strVal val="visible"/>
                                      </p:to>
                                    </p:set>
                                    <p:animEffect transition="in" filter="wipe(left)">
                                      <p:cBhvr>
                                        <p:cTn id="78" dur="500"/>
                                        <p:tgtEl>
                                          <p:spTgt spid="2767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7684"/>
                                        </p:tgtEl>
                                        <p:attrNameLst>
                                          <p:attrName>style.visibility</p:attrName>
                                        </p:attrNameLst>
                                      </p:cBhvr>
                                      <p:to>
                                        <p:strVal val="visible"/>
                                      </p:to>
                                    </p:set>
                                    <p:animEffect transition="in" filter="wipe(left)">
                                      <p:cBhvr>
                                        <p:cTn id="83" dur="500"/>
                                        <p:tgtEl>
                                          <p:spTgt spid="27684"/>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7685"/>
                                        </p:tgtEl>
                                        <p:attrNameLst>
                                          <p:attrName>style.visibility</p:attrName>
                                        </p:attrNameLst>
                                      </p:cBhvr>
                                      <p:to>
                                        <p:strVal val="visible"/>
                                      </p:to>
                                    </p:set>
                                    <p:animEffect transition="in" filter="wipe(left)">
                                      <p:cBhvr>
                                        <p:cTn id="88" dur="500"/>
                                        <p:tgtEl>
                                          <p:spTgt spid="27685"/>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7671"/>
                                        </p:tgtEl>
                                        <p:attrNameLst>
                                          <p:attrName>style.visibility</p:attrName>
                                        </p:attrNameLst>
                                      </p:cBhvr>
                                      <p:to>
                                        <p:strVal val="visible"/>
                                      </p:to>
                                    </p:set>
                                    <p:animEffect transition="in" filter="wipe(left)">
                                      <p:cBhvr>
                                        <p:cTn id="93" dur="500"/>
                                        <p:tgtEl>
                                          <p:spTgt spid="27671"/>
                                        </p:tgtEl>
                                      </p:cBhvr>
                                    </p:animEffect>
                                  </p:childTnLst>
                                </p:cTn>
                              </p:par>
                            </p:childTnLst>
                          </p:cTn>
                        </p:par>
                        <p:par>
                          <p:cTn id="94" fill="hold" nodeType="afterGroup">
                            <p:stCondLst>
                              <p:cond delay="500"/>
                            </p:stCondLst>
                            <p:childTnLst>
                              <p:par>
                                <p:cTn id="95" presetID="22" presetClass="entr" presetSubtype="8" fill="hold" grpId="0" nodeType="afterEffect">
                                  <p:stCondLst>
                                    <p:cond delay="0"/>
                                  </p:stCondLst>
                                  <p:childTnLst>
                                    <p:set>
                                      <p:cBhvr>
                                        <p:cTn id="96" dur="1" fill="hold">
                                          <p:stCondLst>
                                            <p:cond delay="0"/>
                                          </p:stCondLst>
                                        </p:cTn>
                                        <p:tgtEl>
                                          <p:spTgt spid="27678"/>
                                        </p:tgtEl>
                                        <p:attrNameLst>
                                          <p:attrName>style.visibility</p:attrName>
                                        </p:attrNameLst>
                                      </p:cBhvr>
                                      <p:to>
                                        <p:strVal val="visible"/>
                                      </p:to>
                                    </p:set>
                                    <p:animEffect transition="in" filter="wipe(left)">
                                      <p:cBhvr>
                                        <p:cTn id="97" dur="500"/>
                                        <p:tgtEl>
                                          <p:spTgt spid="27678"/>
                                        </p:tgtEl>
                                      </p:cBhvr>
                                    </p:animEffect>
                                  </p:childTnLst>
                                </p:cTn>
                              </p:par>
                            </p:childTnLst>
                          </p:cTn>
                        </p:par>
                        <p:par>
                          <p:cTn id="98" fill="hold" nodeType="afterGroup">
                            <p:stCondLst>
                              <p:cond delay="1000"/>
                            </p:stCondLst>
                            <p:childTnLst>
                              <p:par>
                                <p:cTn id="99" presetID="22" presetClass="entr" presetSubtype="8" fill="hold" grpId="0" nodeType="afterEffect">
                                  <p:stCondLst>
                                    <p:cond delay="0"/>
                                  </p:stCondLst>
                                  <p:childTnLst>
                                    <p:set>
                                      <p:cBhvr>
                                        <p:cTn id="100" dur="1" fill="hold">
                                          <p:stCondLst>
                                            <p:cond delay="0"/>
                                          </p:stCondLst>
                                        </p:cTn>
                                        <p:tgtEl>
                                          <p:spTgt spid="27672"/>
                                        </p:tgtEl>
                                        <p:attrNameLst>
                                          <p:attrName>style.visibility</p:attrName>
                                        </p:attrNameLst>
                                      </p:cBhvr>
                                      <p:to>
                                        <p:strVal val="visible"/>
                                      </p:to>
                                    </p:set>
                                    <p:animEffect transition="in" filter="wipe(left)">
                                      <p:cBhvr>
                                        <p:cTn id="101" dur="500"/>
                                        <p:tgtEl>
                                          <p:spTgt spid="27672"/>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27673"/>
                                        </p:tgtEl>
                                        <p:attrNameLst>
                                          <p:attrName>style.visibility</p:attrName>
                                        </p:attrNameLst>
                                      </p:cBhvr>
                                      <p:to>
                                        <p:strVal val="visible"/>
                                      </p:to>
                                    </p:set>
                                    <p:animEffect transition="in" filter="wipe(left)">
                                      <p:cBhvr>
                                        <p:cTn id="106" dur="500"/>
                                        <p:tgtEl>
                                          <p:spTgt spid="27673"/>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27681"/>
                                        </p:tgtEl>
                                        <p:attrNameLst>
                                          <p:attrName>style.visibility</p:attrName>
                                        </p:attrNameLst>
                                      </p:cBhvr>
                                      <p:to>
                                        <p:strVal val="visible"/>
                                      </p:to>
                                    </p:set>
                                    <p:animEffect transition="in" filter="wipe(left)">
                                      <p:cBhvr>
                                        <p:cTn id="111" dur="500"/>
                                        <p:tgtEl>
                                          <p:spTgt spid="27681"/>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7680"/>
                                        </p:tgtEl>
                                        <p:attrNameLst>
                                          <p:attrName>style.visibility</p:attrName>
                                        </p:attrNameLst>
                                      </p:cBhvr>
                                      <p:to>
                                        <p:strVal val="visible"/>
                                      </p:to>
                                    </p:set>
                                    <p:animEffect transition="in" filter="wipe(left)">
                                      <p:cBhvr>
                                        <p:cTn id="116" dur="500"/>
                                        <p:tgtEl>
                                          <p:spTgt spid="27680"/>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27674"/>
                                        </p:tgtEl>
                                        <p:attrNameLst>
                                          <p:attrName>style.visibility</p:attrName>
                                        </p:attrNameLst>
                                      </p:cBhvr>
                                      <p:to>
                                        <p:strVal val="visible"/>
                                      </p:to>
                                    </p:set>
                                    <p:animEffect transition="in" filter="wipe(left)">
                                      <p:cBhvr>
                                        <p:cTn id="121" dur="500"/>
                                        <p:tgtEl>
                                          <p:spTgt spid="27674"/>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27675"/>
                                        </p:tgtEl>
                                        <p:attrNameLst>
                                          <p:attrName>style.visibility</p:attrName>
                                        </p:attrNameLst>
                                      </p:cBhvr>
                                      <p:to>
                                        <p:strVal val="visible"/>
                                      </p:to>
                                    </p:set>
                                    <p:animEffect transition="in" filter="wipe(left)">
                                      <p:cBhvr>
                                        <p:cTn id="126" dur="500"/>
                                        <p:tgtEl>
                                          <p:spTgt spid="27675"/>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7676"/>
                                        </p:tgtEl>
                                        <p:attrNameLst>
                                          <p:attrName>style.visibility</p:attrName>
                                        </p:attrNameLst>
                                      </p:cBhvr>
                                      <p:to>
                                        <p:strVal val="visible"/>
                                      </p:to>
                                    </p:set>
                                    <p:animEffect transition="in" filter="wipe(left)">
                                      <p:cBhvr>
                                        <p:cTn id="131" dur="500"/>
                                        <p:tgtEl>
                                          <p:spTgt spid="27676"/>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27677"/>
                                        </p:tgtEl>
                                        <p:attrNameLst>
                                          <p:attrName>style.visibility</p:attrName>
                                        </p:attrNameLst>
                                      </p:cBhvr>
                                      <p:to>
                                        <p:strVal val="visible"/>
                                      </p:to>
                                    </p:set>
                                    <p:animEffect transition="in" filter="wipe(left)">
                                      <p:cBhvr>
                                        <p:cTn id="136" dur="500"/>
                                        <p:tgtEl>
                                          <p:spTgt spid="27677"/>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27679"/>
                                        </p:tgtEl>
                                        <p:attrNameLst>
                                          <p:attrName>style.visibility</p:attrName>
                                        </p:attrNameLst>
                                      </p:cBhvr>
                                      <p:to>
                                        <p:strVal val="visible"/>
                                      </p:to>
                                    </p:set>
                                    <p:animEffect transition="in" filter="wipe(left)">
                                      <p:cBhvr>
                                        <p:cTn id="141" dur="500"/>
                                        <p:tgtEl>
                                          <p:spTgt spid="276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0" grpId="0" autoUpdateAnimBg="0"/>
      <p:bldP spid="27651" grpId="0" animBg="1"/>
      <p:bldP spid="27652" grpId="0" animBg="1"/>
      <p:bldP spid="27659" grpId="0" animBg="1"/>
      <p:bldP spid="27660" grpId="0" animBg="1"/>
      <p:bldP spid="27661" grpId="0" animBg="1"/>
      <p:bldP spid="27663" grpId="0" animBg="1"/>
      <p:bldP spid="27666" grpId="0" animBg="1"/>
      <p:bldP spid="27668" grpId="0" autoUpdateAnimBg="0"/>
      <p:bldP spid="27669" grpId="0" autoUpdateAnimBg="0"/>
      <p:bldP spid="27670" grpId="0" autoUpdateAnimBg="0"/>
      <p:bldP spid="27671" grpId="0" autoUpdateAnimBg="0"/>
      <p:bldP spid="27672" grpId="0" autoUpdateAnimBg="0"/>
      <p:bldP spid="27676" grpId="0" autoUpdateAnimBg="0"/>
      <p:bldP spid="27678" grpId="0" autoUpdateAnimBg="0"/>
      <p:bldP spid="27680" grpId="0" autoUpdateAnimBg="0"/>
      <p:bldP spid="27681" grpId="0"/>
      <p:bldP spid="27682" grpId="0" autoUpdateAnimBg="0"/>
      <p:bldP spid="27683" grpId="0" autoUpdateAnimBg="0"/>
      <p:bldP spid="27684" grpId="0" autoUpdateAnimBg="0"/>
      <p:bldP spid="2768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179388" y="1484313"/>
            <a:ext cx="3232150"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(1)  </a:t>
            </a:r>
            <a:r>
              <a:rPr kumimoji="1" lang="zh-CN" altLang="en-US" sz="2400" b="1">
                <a:latin typeface="Times New Roman" pitchFamily="18" charset="0"/>
                <a:ea typeface="楷体_GB2312" pitchFamily="49" charset="-122"/>
                <a:cs typeface="Times New Roman" pitchFamily="18" charset="0"/>
              </a:rPr>
              <a:t>可以证明：</a:t>
            </a:r>
          </a:p>
        </p:txBody>
      </p:sp>
      <p:graphicFrame>
        <p:nvGraphicFramePr>
          <p:cNvPr id="28675" name="Object 3"/>
          <p:cNvGraphicFramePr>
            <a:graphicFrameLocks noChangeAspect="1"/>
          </p:cNvGraphicFramePr>
          <p:nvPr/>
        </p:nvGraphicFramePr>
        <p:xfrm>
          <a:off x="2414588" y="1544638"/>
          <a:ext cx="1860550" cy="388937"/>
        </p:xfrm>
        <a:graphic>
          <a:graphicData uri="http://schemas.openxmlformats.org/presentationml/2006/ole">
            <p:oleObj spid="_x0000_s21506" name="公式" r:id="rId3" imgW="1000032" imgH="180900" progId="Equation.3">
              <p:embed/>
            </p:oleObj>
          </a:graphicData>
        </a:graphic>
      </p:graphicFrame>
      <p:sp>
        <p:nvSpPr>
          <p:cNvPr id="28676" name="Rectangle 4"/>
          <p:cNvSpPr>
            <a:spLocks noChangeArrowheads="1"/>
          </p:cNvSpPr>
          <p:nvPr/>
        </p:nvSpPr>
        <p:spPr bwMode="auto">
          <a:xfrm>
            <a:off x="207963" y="2189163"/>
            <a:ext cx="7110412" cy="603250"/>
          </a:xfrm>
          <a:prstGeom prst="rect">
            <a:avLst/>
          </a:prstGeom>
          <a:noFill/>
          <a:ln w="9525" algn="ctr">
            <a:noFill/>
            <a:miter lim="800000"/>
            <a:headEnd/>
            <a:tailEnd/>
          </a:ln>
        </p:spPr>
        <p:txBody>
          <a:bodyPr tIns="82800" bIns="82800">
            <a:spAutoFit/>
          </a:bodyPr>
          <a:lstStyle/>
          <a:p>
            <a:pPr algn="just" eaLnBrk="0" hangingPunct="0">
              <a:lnSpc>
                <a:spcPct val="120000"/>
              </a:lnSpc>
            </a:pPr>
            <a:r>
              <a:rPr kumimoji="1" lang="en-US" altLang="zh-CN" sz="2400" b="1">
                <a:latin typeface="Times New Roman" pitchFamily="18" charset="0"/>
                <a:ea typeface="楷体_GB2312" pitchFamily="49" charset="-122"/>
              </a:rPr>
              <a:t>(2)  </a:t>
            </a:r>
            <a:r>
              <a:rPr kumimoji="1" lang="zh-CN" altLang="en-US" sz="2400" b="1">
                <a:latin typeface="Times New Roman" pitchFamily="18" charset="0"/>
                <a:ea typeface="楷体_GB2312" pitchFamily="49" charset="-122"/>
              </a:rPr>
              <a:t>两个线圈的</a:t>
            </a:r>
            <a:r>
              <a:rPr kumimoji="1" lang="zh-CN" altLang="en-US" sz="2400" b="1">
                <a:solidFill>
                  <a:srgbClr val="FF6600"/>
                </a:solidFill>
                <a:latin typeface="Times New Roman" pitchFamily="18" charset="0"/>
                <a:ea typeface="楷体_GB2312" pitchFamily="49" charset="-122"/>
              </a:rPr>
              <a:t>互感</a:t>
            </a:r>
            <a:r>
              <a:rPr kumimoji="1" lang="zh-CN" altLang="en-US" sz="2400" b="1">
                <a:latin typeface="Times New Roman" pitchFamily="18" charset="0"/>
                <a:ea typeface="楷体_GB2312" pitchFamily="49" charset="-122"/>
              </a:rPr>
              <a:t>与各自的</a:t>
            </a:r>
            <a:r>
              <a:rPr kumimoji="1" lang="zh-CN" altLang="en-US" sz="2400" b="1">
                <a:solidFill>
                  <a:srgbClr val="FF6600"/>
                </a:solidFill>
                <a:latin typeface="Times New Roman" pitchFamily="18" charset="0"/>
                <a:ea typeface="楷体_GB2312" pitchFamily="49" charset="-122"/>
              </a:rPr>
              <a:t>自感</a:t>
            </a:r>
            <a:r>
              <a:rPr kumimoji="1" lang="zh-CN" altLang="en-US" sz="2400" b="1">
                <a:latin typeface="Times New Roman" pitchFamily="18" charset="0"/>
                <a:ea typeface="楷体_GB2312" pitchFamily="49" charset="-122"/>
              </a:rPr>
              <a:t>有一定的关系</a:t>
            </a:r>
          </a:p>
        </p:txBody>
      </p:sp>
      <p:sp>
        <p:nvSpPr>
          <p:cNvPr id="28677" name="Text Box 5"/>
          <p:cNvSpPr txBox="1">
            <a:spLocks noChangeArrowheads="1"/>
          </p:cNvSpPr>
          <p:nvPr/>
        </p:nvSpPr>
        <p:spPr bwMode="auto">
          <a:xfrm>
            <a:off x="560388" y="847725"/>
            <a:ext cx="1330325" cy="457200"/>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buClr>
                <a:srgbClr val="00FFFF"/>
              </a:buClr>
              <a:buSzPts val="2400"/>
              <a:buFont typeface="Wingdings" pitchFamily="2" charset="2"/>
              <a:buNone/>
              <a:defRPr/>
            </a:pPr>
            <a:r>
              <a:rPr lang="zh-CN" altLang="en-US" sz="2400" b="1">
                <a:solidFill>
                  <a:srgbClr val="FF6600"/>
                </a:solidFill>
                <a:latin typeface="宋体" pitchFamily="2" charset="-122"/>
              </a:rPr>
              <a:t>讨论</a:t>
            </a:r>
            <a:endParaRPr lang="zh-CN" altLang="en-US"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graphicFrame>
        <p:nvGraphicFramePr>
          <p:cNvPr id="28678" name="Object 6"/>
          <p:cNvGraphicFramePr>
            <a:graphicFrameLocks noChangeAspect="1"/>
          </p:cNvGraphicFramePr>
          <p:nvPr/>
        </p:nvGraphicFramePr>
        <p:xfrm>
          <a:off x="1279525" y="2957513"/>
          <a:ext cx="1562100" cy="457200"/>
        </p:xfrm>
        <a:graphic>
          <a:graphicData uri="http://schemas.openxmlformats.org/presentationml/2006/ole">
            <p:oleObj spid="_x0000_s21507" name="公式" r:id="rId4" imgW="828768" imgH="218970" progId="Equation.3">
              <p:embed/>
            </p:oleObj>
          </a:graphicData>
        </a:graphic>
      </p:graphicFrame>
      <p:sp>
        <p:nvSpPr>
          <p:cNvPr id="28679" name="Text Box 7"/>
          <p:cNvSpPr txBox="1">
            <a:spLocks noChangeArrowheads="1"/>
          </p:cNvSpPr>
          <p:nvPr/>
        </p:nvSpPr>
        <p:spPr bwMode="auto">
          <a:xfrm>
            <a:off x="3008313" y="2890838"/>
            <a:ext cx="3411537" cy="611187"/>
          </a:xfrm>
          <a:prstGeom prst="rect">
            <a:avLst/>
          </a:prstGeom>
          <a:noFill/>
          <a:ln w="9525" algn="ctr">
            <a:noFill/>
            <a:miter lim="800000"/>
            <a:headEnd/>
            <a:tailEnd/>
          </a:ln>
        </p:spPr>
        <p:txBody>
          <a:bodyPr tIns="82800" bIns="82800">
            <a:spAutoFit/>
          </a:bodyPr>
          <a:lstStyle/>
          <a:p>
            <a:pPr algn="just" eaLnBrk="0" hangingPunct="0">
              <a:lnSpc>
                <a:spcPct val="120000"/>
              </a:lnSpc>
            </a:pPr>
            <a:r>
              <a:rPr lang="en-US" altLang="zh-CN" sz="2400" b="1" i="1">
                <a:solidFill>
                  <a:srgbClr val="FF6600"/>
                </a:solidFill>
                <a:latin typeface="Times New Roman" pitchFamily="18" charset="0"/>
                <a:ea typeface="楷体_GB2312" pitchFamily="49" charset="-122"/>
              </a:rPr>
              <a:t>k</a:t>
            </a:r>
            <a:r>
              <a:rPr lang="en-US" altLang="zh-CN" sz="2400" b="1">
                <a:solidFill>
                  <a:srgbClr val="FF6600"/>
                </a:solidFill>
                <a:latin typeface="Times New Roman" pitchFamily="18" charset="0"/>
                <a:ea typeface="楷体_GB2312" pitchFamily="49" charset="-122"/>
              </a:rPr>
              <a:t> </a:t>
            </a:r>
            <a:r>
              <a:rPr lang="zh-CN" altLang="en-US" sz="2400" b="1">
                <a:solidFill>
                  <a:srgbClr val="FF6600"/>
                </a:solidFill>
                <a:latin typeface="Times New Roman" pitchFamily="18" charset="0"/>
                <a:ea typeface="楷体_GB2312" pitchFamily="49" charset="-122"/>
              </a:rPr>
              <a:t>：</a:t>
            </a:r>
            <a:r>
              <a:rPr lang="zh-CN" altLang="en-US" sz="2400" b="1">
                <a:latin typeface="Times New Roman" pitchFamily="18" charset="0"/>
                <a:ea typeface="楷体_GB2312" pitchFamily="49" charset="-122"/>
              </a:rPr>
              <a:t>两线圈的</a:t>
            </a:r>
            <a:r>
              <a:rPr kumimoji="1" lang="zh-CN" altLang="en-US" sz="2400" b="1">
                <a:solidFill>
                  <a:srgbClr val="FF6600"/>
                </a:solidFill>
                <a:latin typeface="Times New Roman" pitchFamily="18" charset="0"/>
                <a:ea typeface="楷体_GB2312" pitchFamily="49" charset="-122"/>
              </a:rPr>
              <a:t>耦合系数</a:t>
            </a:r>
          </a:p>
        </p:txBody>
      </p:sp>
      <p:sp>
        <p:nvSpPr>
          <p:cNvPr id="28680" name="Text Box 8"/>
          <p:cNvSpPr txBox="1">
            <a:spLocks noChangeArrowheads="1"/>
          </p:cNvSpPr>
          <p:nvPr/>
        </p:nvSpPr>
        <p:spPr bwMode="auto">
          <a:xfrm>
            <a:off x="558800" y="3636963"/>
            <a:ext cx="7858125" cy="611187"/>
          </a:xfrm>
          <a:prstGeom prst="rect">
            <a:avLst/>
          </a:prstGeom>
          <a:noFill/>
          <a:ln w="9525" algn="ctr">
            <a:noFill/>
            <a:miter lim="800000"/>
            <a:headEnd/>
            <a:tailEnd/>
          </a:ln>
        </p:spPr>
        <p:txBody>
          <a:bodyPr tIns="82800" bIns="82800">
            <a:spAutoFit/>
          </a:bodyPr>
          <a:lstStyle/>
          <a:p>
            <a:pPr algn="just" eaLnBrk="0" hangingPunct="0">
              <a:lnSpc>
                <a:spcPct val="120000"/>
              </a:lnSpc>
            </a:pPr>
            <a:r>
              <a:rPr lang="zh-CN" altLang="en-US" sz="2400" b="1">
                <a:solidFill>
                  <a:srgbClr val="9900CC"/>
                </a:solidFill>
                <a:latin typeface="楷体_GB2312" pitchFamily="49" charset="-122"/>
                <a:ea typeface="楷体_GB2312" pitchFamily="49" charset="-122"/>
              </a:rPr>
              <a:t>改变两线圈的相对位置，可改变两线圈之间的耦合程度</a:t>
            </a:r>
          </a:p>
        </p:txBody>
      </p:sp>
      <p:graphicFrame>
        <p:nvGraphicFramePr>
          <p:cNvPr id="28681" name="Object 9"/>
          <p:cNvGraphicFramePr>
            <a:graphicFrameLocks noChangeAspect="1"/>
          </p:cNvGraphicFramePr>
          <p:nvPr/>
        </p:nvGraphicFramePr>
        <p:xfrm>
          <a:off x="4519613" y="4483100"/>
          <a:ext cx="1400175" cy="457200"/>
        </p:xfrm>
        <a:graphic>
          <a:graphicData uri="http://schemas.openxmlformats.org/presentationml/2006/ole">
            <p:oleObj spid="_x0000_s21508" name="公式" r:id="rId5" imgW="733411" imgH="218970" progId="Equation.3">
              <p:embed/>
            </p:oleObj>
          </a:graphicData>
        </a:graphic>
      </p:graphicFrame>
      <p:sp>
        <p:nvSpPr>
          <p:cNvPr id="28682" name="Text Box 10"/>
          <p:cNvSpPr txBox="1">
            <a:spLocks noChangeArrowheads="1"/>
          </p:cNvSpPr>
          <p:nvPr/>
        </p:nvSpPr>
        <p:spPr bwMode="auto">
          <a:xfrm>
            <a:off x="919163" y="4365625"/>
            <a:ext cx="3648075" cy="603250"/>
          </a:xfrm>
          <a:prstGeom prst="rect">
            <a:avLst/>
          </a:prstGeom>
          <a:noFill/>
          <a:ln w="9525" algn="ctr">
            <a:noFill/>
            <a:miter lim="800000"/>
            <a:headEnd/>
            <a:tailEnd/>
          </a:ln>
        </p:spPr>
        <p:txBody>
          <a:bodyPr wrap="none" tIns="82800" bIns="82800">
            <a:spAutoFit/>
          </a:bodyPr>
          <a:lstStyle/>
          <a:p>
            <a:pPr algn="just" eaLnBrk="0" hangingPunct="0">
              <a:lnSpc>
                <a:spcPct val="120000"/>
              </a:lnSpc>
            </a:pPr>
            <a:r>
              <a:rPr lang="en-US" altLang="zh-CN" sz="2400" b="1" i="1">
                <a:solidFill>
                  <a:srgbClr val="FF6600"/>
                </a:solidFill>
                <a:latin typeface="Times New Roman" pitchFamily="18" charset="0"/>
                <a:ea typeface="楷体_GB2312" pitchFamily="49" charset="-122"/>
              </a:rPr>
              <a:t>k </a:t>
            </a:r>
            <a:r>
              <a:rPr lang="en-US" altLang="zh-CN" sz="2400" b="1">
                <a:solidFill>
                  <a:srgbClr val="FF6600"/>
                </a:solidFill>
                <a:latin typeface="Times New Roman" pitchFamily="18" charset="0"/>
                <a:ea typeface="楷体_GB2312" pitchFamily="49" charset="-122"/>
              </a:rPr>
              <a:t>= 1</a:t>
            </a:r>
            <a:r>
              <a:rPr lang="en-US" altLang="zh-CN" sz="2400" b="1">
                <a:latin typeface="Times New Roman" pitchFamily="18" charset="0"/>
                <a:ea typeface="楷体_GB2312" pitchFamily="49" charset="-122"/>
              </a:rPr>
              <a:t> </a:t>
            </a:r>
            <a:r>
              <a:rPr lang="zh-CN" altLang="en-US" sz="2400" b="1">
                <a:latin typeface="Times New Roman" pitchFamily="18" charset="0"/>
                <a:ea typeface="楷体_GB2312" pitchFamily="49" charset="-122"/>
              </a:rPr>
              <a:t>两线圈为</a:t>
            </a:r>
            <a:r>
              <a:rPr lang="zh-CN" altLang="en-US" sz="2400" b="1">
                <a:solidFill>
                  <a:srgbClr val="008000"/>
                </a:solidFill>
                <a:latin typeface="Times New Roman" pitchFamily="18" charset="0"/>
                <a:ea typeface="楷体_GB2312" pitchFamily="49" charset="-122"/>
              </a:rPr>
              <a:t>完全</a:t>
            </a:r>
            <a:r>
              <a:rPr kumimoji="1" lang="zh-CN" altLang="en-US" sz="2400" b="1">
                <a:solidFill>
                  <a:srgbClr val="008000"/>
                </a:solidFill>
                <a:latin typeface="Times New Roman" pitchFamily="18" charset="0"/>
                <a:ea typeface="楷体_GB2312" pitchFamily="49" charset="-122"/>
              </a:rPr>
              <a:t>耦合</a:t>
            </a:r>
            <a:r>
              <a:rPr kumimoji="1" lang="zh-CN" altLang="en-US" sz="2400" b="1">
                <a:latin typeface="Times New Roman" pitchFamily="18" charset="0"/>
                <a:ea typeface="楷体_GB2312" pitchFamily="49" charset="-122"/>
              </a:rPr>
              <a:t>：</a:t>
            </a:r>
          </a:p>
        </p:txBody>
      </p:sp>
      <p:graphicFrame>
        <p:nvGraphicFramePr>
          <p:cNvPr id="28683" name="Object 11"/>
          <p:cNvGraphicFramePr>
            <a:graphicFrameLocks noChangeAspect="1"/>
          </p:cNvGraphicFramePr>
          <p:nvPr/>
        </p:nvGraphicFramePr>
        <p:xfrm>
          <a:off x="4891088" y="5341938"/>
          <a:ext cx="806450" cy="320675"/>
        </p:xfrm>
        <a:graphic>
          <a:graphicData uri="http://schemas.openxmlformats.org/presentationml/2006/ole">
            <p:oleObj spid="_x0000_s21509" name="公式" r:id="rId6" imgW="409522" imgH="142830" progId="Equation.3">
              <p:embed/>
            </p:oleObj>
          </a:graphicData>
        </a:graphic>
      </p:graphicFrame>
      <p:sp>
        <p:nvSpPr>
          <p:cNvPr id="28684" name="Text Box 12"/>
          <p:cNvSpPr txBox="1">
            <a:spLocks noChangeArrowheads="1"/>
          </p:cNvSpPr>
          <p:nvPr/>
        </p:nvSpPr>
        <p:spPr bwMode="auto">
          <a:xfrm>
            <a:off x="919163" y="5157788"/>
            <a:ext cx="3954462" cy="603250"/>
          </a:xfrm>
          <a:prstGeom prst="rect">
            <a:avLst/>
          </a:prstGeom>
          <a:noFill/>
          <a:ln w="9525" algn="ctr">
            <a:noFill/>
            <a:miter lim="800000"/>
            <a:headEnd/>
            <a:tailEnd/>
          </a:ln>
        </p:spPr>
        <p:txBody>
          <a:bodyPr wrap="none" tIns="82800" bIns="82800">
            <a:spAutoFit/>
          </a:bodyPr>
          <a:lstStyle/>
          <a:p>
            <a:pPr algn="just" eaLnBrk="0" hangingPunct="0">
              <a:lnSpc>
                <a:spcPct val="120000"/>
              </a:lnSpc>
            </a:pPr>
            <a:r>
              <a:rPr lang="en-US" altLang="zh-CN" sz="2400" b="1" i="1">
                <a:solidFill>
                  <a:srgbClr val="FF6600"/>
                </a:solidFill>
                <a:latin typeface="Times New Roman" pitchFamily="18" charset="0"/>
                <a:ea typeface="楷体_GB2312" pitchFamily="49" charset="-122"/>
              </a:rPr>
              <a:t>k </a:t>
            </a:r>
            <a:r>
              <a:rPr lang="en-US" altLang="zh-CN" sz="2400" b="1">
                <a:solidFill>
                  <a:srgbClr val="FF6600"/>
                </a:solidFill>
                <a:latin typeface="Times New Roman" pitchFamily="18" charset="0"/>
                <a:ea typeface="楷体_GB2312" pitchFamily="49" charset="-122"/>
              </a:rPr>
              <a:t>= 0</a:t>
            </a:r>
            <a:r>
              <a:rPr lang="en-US" altLang="zh-CN" sz="2400" b="1">
                <a:latin typeface="Times New Roman" pitchFamily="18" charset="0"/>
                <a:ea typeface="楷体_GB2312" pitchFamily="49" charset="-122"/>
              </a:rPr>
              <a:t> </a:t>
            </a:r>
            <a:r>
              <a:rPr lang="zh-CN" altLang="en-US" sz="2400" b="1">
                <a:latin typeface="Times New Roman" pitchFamily="18" charset="0"/>
                <a:ea typeface="楷体_GB2312" pitchFamily="49" charset="-122"/>
              </a:rPr>
              <a:t>两线圈间</a:t>
            </a:r>
            <a:r>
              <a:rPr lang="zh-CN" altLang="en-US" sz="2400" b="1">
                <a:solidFill>
                  <a:srgbClr val="008000"/>
                </a:solidFill>
                <a:latin typeface="Times New Roman" pitchFamily="18" charset="0"/>
                <a:ea typeface="楷体_GB2312" pitchFamily="49" charset="-122"/>
              </a:rPr>
              <a:t>无相互影响</a:t>
            </a:r>
            <a:r>
              <a:rPr lang="zh-CN" altLang="en-US" sz="2400" b="1">
                <a:latin typeface="Times New Roman" pitchFamily="18" charset="0"/>
                <a:ea typeface="楷体_GB2312" pitchFamily="49" charset="-122"/>
              </a:rPr>
              <a:t>：</a:t>
            </a:r>
            <a:endParaRPr kumimoji="1" lang="zh-CN" altLang="en-US" sz="2400" b="1">
              <a:latin typeface="Times New Roman" pitchFamily="18" charset="0"/>
              <a:ea typeface="楷体_GB2312" pitchFamily="49" charset="-122"/>
            </a:endParaRPr>
          </a:p>
        </p:txBody>
      </p:sp>
      <p:graphicFrame>
        <p:nvGraphicFramePr>
          <p:cNvPr id="28685" name="Object 13"/>
          <p:cNvGraphicFramePr>
            <a:graphicFrameLocks noChangeAspect="1"/>
          </p:cNvGraphicFramePr>
          <p:nvPr/>
        </p:nvGraphicFramePr>
        <p:xfrm>
          <a:off x="6300788" y="3032125"/>
          <a:ext cx="1116012" cy="327025"/>
        </p:xfrm>
        <a:graphic>
          <a:graphicData uri="http://schemas.openxmlformats.org/presentationml/2006/ole">
            <p:oleObj spid="_x0000_s21510" name="公式" r:id="rId7" imgW="647779" imgH="162000" progId="Equation.3">
              <p:embed/>
            </p:oleObj>
          </a:graphicData>
        </a:graphic>
      </p:graphicFrame>
      <p:sp>
        <p:nvSpPr>
          <p:cNvPr id="28686" name="AutoShape 14"/>
          <p:cNvSpPr>
            <a:spLocks noChangeArrowheads="1"/>
          </p:cNvSpPr>
          <p:nvPr/>
        </p:nvSpPr>
        <p:spPr bwMode="auto">
          <a:xfrm>
            <a:off x="179388" y="765175"/>
            <a:ext cx="360362"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8686"/>
                                        </p:tgtEl>
                                        <p:attrNameLst>
                                          <p:attrName>style.visibility</p:attrName>
                                        </p:attrNameLst>
                                      </p:cBhvr>
                                      <p:to>
                                        <p:strVal val="visible"/>
                                      </p:to>
                                    </p:set>
                                    <p:animEffect transition="in" filter="barn(outHorizontal)">
                                      <p:cBhvr>
                                        <p:cTn id="7" dur="1000"/>
                                        <p:tgtEl>
                                          <p:spTgt spid="28686"/>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28677"/>
                                        </p:tgtEl>
                                        <p:attrNameLst>
                                          <p:attrName>style.visibility</p:attrName>
                                        </p:attrNameLst>
                                      </p:cBhvr>
                                      <p:to>
                                        <p:strVal val="visible"/>
                                      </p:to>
                                    </p:set>
                                    <p:animEffect transition="in" filter="barn(outHorizontal)">
                                      <p:cBhvr>
                                        <p:cTn id="10" dur="1000"/>
                                        <p:tgtEl>
                                          <p:spTgt spid="2867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8674"/>
                                        </p:tgtEl>
                                        <p:attrNameLst>
                                          <p:attrName>style.visibility</p:attrName>
                                        </p:attrNameLst>
                                      </p:cBhvr>
                                      <p:to>
                                        <p:strVal val="visible"/>
                                      </p:to>
                                    </p:set>
                                    <p:animEffect transition="in" filter="wipe(left)">
                                      <p:cBhvr>
                                        <p:cTn id="15" dur="2000"/>
                                        <p:tgtEl>
                                          <p:spTgt spid="2867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8675"/>
                                        </p:tgtEl>
                                        <p:attrNameLst>
                                          <p:attrName>style.visibility</p:attrName>
                                        </p:attrNameLst>
                                      </p:cBhvr>
                                      <p:to>
                                        <p:strVal val="visible"/>
                                      </p:to>
                                    </p:set>
                                    <p:animEffect transition="in" filter="wipe(left)">
                                      <p:cBhvr>
                                        <p:cTn id="20" dur="2000"/>
                                        <p:tgtEl>
                                          <p:spTgt spid="2867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8676"/>
                                        </p:tgtEl>
                                        <p:attrNameLst>
                                          <p:attrName>style.visibility</p:attrName>
                                        </p:attrNameLst>
                                      </p:cBhvr>
                                      <p:to>
                                        <p:strVal val="visible"/>
                                      </p:to>
                                    </p:set>
                                    <p:animEffect transition="in" filter="wipe(left)">
                                      <p:cBhvr>
                                        <p:cTn id="25" dur="2000"/>
                                        <p:tgtEl>
                                          <p:spTgt spid="2867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8678"/>
                                        </p:tgtEl>
                                        <p:attrNameLst>
                                          <p:attrName>style.visibility</p:attrName>
                                        </p:attrNameLst>
                                      </p:cBhvr>
                                      <p:to>
                                        <p:strVal val="visible"/>
                                      </p:to>
                                    </p:set>
                                    <p:animEffect transition="in" filter="wipe(left)">
                                      <p:cBhvr>
                                        <p:cTn id="30" dur="500"/>
                                        <p:tgtEl>
                                          <p:spTgt spid="2867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8679"/>
                                        </p:tgtEl>
                                        <p:attrNameLst>
                                          <p:attrName>style.visibility</p:attrName>
                                        </p:attrNameLst>
                                      </p:cBhvr>
                                      <p:to>
                                        <p:strVal val="visible"/>
                                      </p:to>
                                    </p:set>
                                    <p:animEffect transition="in" filter="wipe(left)">
                                      <p:cBhvr>
                                        <p:cTn id="35" dur="500"/>
                                        <p:tgtEl>
                                          <p:spTgt spid="2867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8685"/>
                                        </p:tgtEl>
                                        <p:attrNameLst>
                                          <p:attrName>style.visibility</p:attrName>
                                        </p:attrNameLst>
                                      </p:cBhvr>
                                      <p:to>
                                        <p:strVal val="visible"/>
                                      </p:to>
                                    </p:set>
                                    <p:animEffect transition="in" filter="wipe(left)">
                                      <p:cBhvr>
                                        <p:cTn id="40" dur="500"/>
                                        <p:tgtEl>
                                          <p:spTgt spid="2868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28680"/>
                                        </p:tgtEl>
                                        <p:attrNameLst>
                                          <p:attrName>style.visibility</p:attrName>
                                        </p:attrNameLst>
                                      </p:cBhvr>
                                      <p:to>
                                        <p:strVal val="visible"/>
                                      </p:to>
                                    </p:set>
                                    <p:animEffect transition="in" filter="wipe(left)">
                                      <p:cBhvr>
                                        <p:cTn id="45" dur="500"/>
                                        <p:tgtEl>
                                          <p:spTgt spid="2868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8682"/>
                                        </p:tgtEl>
                                        <p:attrNameLst>
                                          <p:attrName>style.visibility</p:attrName>
                                        </p:attrNameLst>
                                      </p:cBhvr>
                                      <p:to>
                                        <p:strVal val="visible"/>
                                      </p:to>
                                    </p:set>
                                    <p:animEffect transition="in" filter="wipe(left)">
                                      <p:cBhvr>
                                        <p:cTn id="50" dur="500"/>
                                        <p:tgtEl>
                                          <p:spTgt spid="2868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28681"/>
                                        </p:tgtEl>
                                        <p:attrNameLst>
                                          <p:attrName>style.visibility</p:attrName>
                                        </p:attrNameLst>
                                      </p:cBhvr>
                                      <p:to>
                                        <p:strVal val="visible"/>
                                      </p:to>
                                    </p:set>
                                    <p:animEffect transition="in" filter="wipe(left)">
                                      <p:cBhvr>
                                        <p:cTn id="55" dur="500"/>
                                        <p:tgtEl>
                                          <p:spTgt spid="2868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8684"/>
                                        </p:tgtEl>
                                        <p:attrNameLst>
                                          <p:attrName>style.visibility</p:attrName>
                                        </p:attrNameLst>
                                      </p:cBhvr>
                                      <p:to>
                                        <p:strVal val="visible"/>
                                      </p:to>
                                    </p:set>
                                    <p:animEffect transition="in" filter="wipe(left)">
                                      <p:cBhvr>
                                        <p:cTn id="60" dur="500"/>
                                        <p:tgtEl>
                                          <p:spTgt spid="2868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28683"/>
                                        </p:tgtEl>
                                        <p:attrNameLst>
                                          <p:attrName>style.visibility</p:attrName>
                                        </p:attrNameLst>
                                      </p:cBhvr>
                                      <p:to>
                                        <p:strVal val="visible"/>
                                      </p:to>
                                    </p:set>
                                    <p:animEffect transition="in" filter="wipe(left)">
                                      <p:cBhvr>
                                        <p:cTn id="65" dur="500"/>
                                        <p:tgtEl>
                                          <p:spTgt spid="28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6" grpId="0"/>
      <p:bldP spid="28677" grpId="0"/>
      <p:bldP spid="28679" grpId="0"/>
      <p:bldP spid="28680" grpId="0"/>
      <p:bldP spid="28682" grpId="0"/>
      <p:bldP spid="28684" grpId="0"/>
      <p:bldP spid="2868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65" name="Rectangle 17"/>
          <p:cNvSpPr>
            <a:spLocks noChangeArrowheads="1"/>
          </p:cNvSpPr>
          <p:nvPr/>
        </p:nvSpPr>
        <p:spPr bwMode="auto">
          <a:xfrm>
            <a:off x="7673975" y="2724150"/>
            <a:ext cx="228600" cy="1219200"/>
          </a:xfrm>
          <a:prstGeom prst="rect">
            <a:avLst/>
          </a:prstGeom>
          <a:solidFill>
            <a:srgbClr val="008000"/>
          </a:solidFill>
          <a:ln w="9525">
            <a:solidFill>
              <a:schemeClr val="bg1"/>
            </a:solidFill>
            <a:miter lim="800000"/>
            <a:headEnd/>
            <a:tailEnd/>
          </a:ln>
        </p:spPr>
        <p:txBody>
          <a:bodyPr wrap="none" anchor="ctr"/>
          <a:lstStyle/>
          <a:p>
            <a:endParaRPr lang="zh-CN" altLang="en-US"/>
          </a:p>
        </p:txBody>
      </p:sp>
      <p:sp>
        <p:nvSpPr>
          <p:cNvPr id="78850" name="Rectangle 2"/>
          <p:cNvSpPr>
            <a:spLocks noChangeArrowheads="1"/>
          </p:cNvSpPr>
          <p:nvPr/>
        </p:nvSpPr>
        <p:spPr bwMode="auto">
          <a:xfrm>
            <a:off x="161925" y="488950"/>
            <a:ext cx="48895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rPr>
              <a:t>例</a:t>
            </a:r>
          </a:p>
        </p:txBody>
      </p:sp>
      <p:sp>
        <p:nvSpPr>
          <p:cNvPr id="78851" name="Rectangle 3"/>
          <p:cNvSpPr>
            <a:spLocks noChangeArrowheads="1"/>
          </p:cNvSpPr>
          <p:nvPr/>
        </p:nvSpPr>
        <p:spPr bwMode="auto">
          <a:xfrm>
            <a:off x="627063" y="506413"/>
            <a:ext cx="3810000"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rPr>
              <a:t>一无限长导线通有电流 </a:t>
            </a:r>
          </a:p>
        </p:txBody>
      </p:sp>
      <p:graphicFrame>
        <p:nvGraphicFramePr>
          <p:cNvPr id="78852" name="Object 4"/>
          <p:cNvGraphicFramePr>
            <a:graphicFrameLocks noChangeAspect="1"/>
          </p:cNvGraphicFramePr>
          <p:nvPr/>
        </p:nvGraphicFramePr>
        <p:xfrm>
          <a:off x="3852863" y="571500"/>
          <a:ext cx="1349375" cy="411163"/>
        </p:xfrm>
        <a:graphic>
          <a:graphicData uri="http://schemas.openxmlformats.org/presentationml/2006/ole">
            <p:oleObj spid="_x0000_s22530" name="公式" r:id="rId3" imgW="714502" imgH="190620" progId="Equation.3">
              <p:embed/>
            </p:oleObj>
          </a:graphicData>
        </a:graphic>
      </p:graphicFrame>
      <p:sp>
        <p:nvSpPr>
          <p:cNvPr id="78853" name="Rectangle 5"/>
          <p:cNvSpPr>
            <a:spLocks noChangeArrowheads="1"/>
          </p:cNvSpPr>
          <p:nvPr/>
        </p:nvSpPr>
        <p:spPr bwMode="auto">
          <a:xfrm>
            <a:off x="5156200" y="525463"/>
            <a:ext cx="373697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rPr>
              <a:t>现有一矩形线框与长直</a:t>
            </a:r>
          </a:p>
        </p:txBody>
      </p:sp>
      <p:sp>
        <p:nvSpPr>
          <p:cNvPr id="78854" name="Rectangle 6"/>
          <p:cNvSpPr>
            <a:spLocks noChangeArrowheads="1"/>
          </p:cNvSpPr>
          <p:nvPr/>
        </p:nvSpPr>
        <p:spPr bwMode="auto">
          <a:xfrm>
            <a:off x="690563" y="1036638"/>
            <a:ext cx="293687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rPr>
              <a:t>导线共面。</a:t>
            </a:r>
          </a:p>
        </p:txBody>
      </p:sp>
      <p:sp>
        <p:nvSpPr>
          <p:cNvPr id="78855" name="Rectangle 7"/>
          <p:cNvSpPr>
            <a:spLocks noChangeArrowheads="1"/>
          </p:cNvSpPr>
          <p:nvPr/>
        </p:nvSpPr>
        <p:spPr bwMode="auto">
          <a:xfrm>
            <a:off x="5383213" y="2038350"/>
            <a:ext cx="152400" cy="3429000"/>
          </a:xfrm>
          <a:prstGeom prst="rect">
            <a:avLst/>
          </a:prstGeom>
          <a:gradFill rotWithShape="0">
            <a:gsLst>
              <a:gs pos="0">
                <a:srgbClr val="005E76"/>
              </a:gs>
              <a:gs pos="50000">
                <a:srgbClr val="00CCFF"/>
              </a:gs>
              <a:gs pos="100000">
                <a:srgbClr val="005E76"/>
              </a:gs>
            </a:gsLst>
            <a:lin ang="0" scaled="1"/>
          </a:gradFill>
          <a:ln w="9525">
            <a:solidFill>
              <a:schemeClr val="tx1"/>
            </a:solidFill>
            <a:miter lim="800000"/>
            <a:headEnd/>
            <a:tailEnd/>
          </a:ln>
        </p:spPr>
        <p:txBody>
          <a:bodyPr wrap="none" anchor="ctr"/>
          <a:lstStyle/>
          <a:p>
            <a:endParaRPr lang="zh-CN" altLang="en-US"/>
          </a:p>
        </p:txBody>
      </p:sp>
      <p:sp>
        <p:nvSpPr>
          <p:cNvPr id="78856" name="Line 8"/>
          <p:cNvSpPr>
            <a:spLocks noChangeShapeType="1"/>
          </p:cNvSpPr>
          <p:nvPr/>
        </p:nvSpPr>
        <p:spPr bwMode="auto">
          <a:xfrm flipV="1">
            <a:off x="5451475" y="1412875"/>
            <a:ext cx="0" cy="609600"/>
          </a:xfrm>
          <a:prstGeom prst="line">
            <a:avLst/>
          </a:prstGeom>
          <a:noFill/>
          <a:ln w="44450">
            <a:solidFill>
              <a:srgbClr val="FF0000"/>
            </a:solidFill>
            <a:round/>
            <a:headEnd/>
            <a:tailEnd type="triangle" w="med" len="med"/>
          </a:ln>
        </p:spPr>
        <p:txBody>
          <a:bodyPr/>
          <a:lstStyle/>
          <a:p>
            <a:endParaRPr lang="zh-CN" altLang="en-US"/>
          </a:p>
        </p:txBody>
      </p:sp>
      <p:graphicFrame>
        <p:nvGraphicFramePr>
          <p:cNvPr id="78857" name="Object 9"/>
          <p:cNvGraphicFramePr>
            <a:graphicFrameLocks noChangeAspect="1"/>
          </p:cNvGraphicFramePr>
          <p:nvPr/>
        </p:nvGraphicFramePr>
        <p:xfrm>
          <a:off x="5110163" y="1673225"/>
          <a:ext cx="227012" cy="298450"/>
        </p:xfrm>
        <a:graphic>
          <a:graphicData uri="http://schemas.openxmlformats.org/presentationml/2006/ole">
            <p:oleObj spid="_x0000_s22531" name="公式" r:id="rId4" imgW="85632" imgH="123930" progId="Equation.3">
              <p:embed/>
            </p:oleObj>
          </a:graphicData>
        </a:graphic>
      </p:graphicFrame>
      <p:sp>
        <p:nvSpPr>
          <p:cNvPr id="78858" name="Rectangle 10"/>
          <p:cNvSpPr>
            <a:spLocks noChangeArrowheads="1"/>
          </p:cNvSpPr>
          <p:nvPr/>
        </p:nvSpPr>
        <p:spPr bwMode="auto">
          <a:xfrm>
            <a:off x="6192838" y="2724150"/>
            <a:ext cx="2286000" cy="1219200"/>
          </a:xfrm>
          <a:prstGeom prst="rect">
            <a:avLst/>
          </a:prstGeom>
          <a:noFill/>
          <a:ln w="22225">
            <a:solidFill>
              <a:schemeClr val="tx1"/>
            </a:solidFill>
            <a:miter lim="800000"/>
            <a:headEnd/>
            <a:tailEnd/>
          </a:ln>
        </p:spPr>
        <p:txBody>
          <a:bodyPr wrap="none" anchor="ctr"/>
          <a:lstStyle/>
          <a:p>
            <a:endParaRPr lang="zh-CN" altLang="en-US"/>
          </a:p>
        </p:txBody>
      </p:sp>
      <p:graphicFrame>
        <p:nvGraphicFramePr>
          <p:cNvPr id="78859" name="Object 11"/>
          <p:cNvGraphicFramePr>
            <a:graphicFrameLocks noChangeAspect="1"/>
          </p:cNvGraphicFramePr>
          <p:nvPr/>
        </p:nvGraphicFramePr>
        <p:xfrm>
          <a:off x="6237288" y="3216275"/>
          <a:ext cx="230187" cy="252413"/>
        </p:xfrm>
        <a:graphic>
          <a:graphicData uri="http://schemas.openxmlformats.org/presentationml/2006/ole">
            <p:oleObj spid="_x0000_s22532" name="公式" r:id="rId5" imgW="85632" imgH="104760" progId="Equation.3">
              <p:embed/>
            </p:oleObj>
          </a:graphicData>
        </a:graphic>
      </p:graphicFrame>
      <p:graphicFrame>
        <p:nvGraphicFramePr>
          <p:cNvPr id="78860" name="Object 12"/>
          <p:cNvGraphicFramePr>
            <a:graphicFrameLocks noChangeAspect="1"/>
          </p:cNvGraphicFramePr>
          <p:nvPr/>
        </p:nvGraphicFramePr>
        <p:xfrm>
          <a:off x="6030913" y="3840163"/>
          <a:ext cx="273050" cy="730250"/>
        </p:xfrm>
        <a:graphic>
          <a:graphicData uri="http://schemas.openxmlformats.org/presentationml/2006/ole">
            <p:oleObj spid="_x0000_s22533" name="公式" r:id="rId6" imgW="114266" imgH="371520" progId="Equation.3">
              <p:embed/>
            </p:oleObj>
          </a:graphicData>
        </a:graphic>
      </p:graphicFrame>
      <p:graphicFrame>
        <p:nvGraphicFramePr>
          <p:cNvPr id="78861" name="Object 13"/>
          <p:cNvGraphicFramePr>
            <a:graphicFrameLocks noChangeAspect="1"/>
          </p:cNvGraphicFramePr>
          <p:nvPr/>
        </p:nvGraphicFramePr>
        <p:xfrm>
          <a:off x="8218488" y="1930400"/>
          <a:ext cx="414337" cy="733425"/>
        </p:xfrm>
        <a:graphic>
          <a:graphicData uri="http://schemas.openxmlformats.org/presentationml/2006/ole">
            <p:oleObj spid="_x0000_s22534" name="公式" r:id="rId7" imgW="190444" imgH="371520" progId="Equation.3">
              <p:embed/>
            </p:oleObj>
          </a:graphicData>
        </a:graphic>
      </p:graphicFrame>
      <p:sp>
        <p:nvSpPr>
          <p:cNvPr id="78862" name="Rectangle 14"/>
          <p:cNvSpPr>
            <a:spLocks noChangeArrowheads="1"/>
          </p:cNvSpPr>
          <p:nvPr/>
        </p:nvSpPr>
        <p:spPr bwMode="auto">
          <a:xfrm>
            <a:off x="161925" y="1557338"/>
            <a:ext cx="4992688" cy="457200"/>
          </a:xfrm>
          <a:prstGeom prst="rect">
            <a:avLst/>
          </a:prstGeom>
          <a:noFill/>
          <a:ln w="9525">
            <a:noFill/>
            <a:miter lim="800000"/>
            <a:headEnd/>
            <a:tailEnd/>
          </a:ln>
        </p:spPr>
        <p:txBody>
          <a:bodyPr>
            <a:spAutoFit/>
          </a:bodyPr>
          <a:lstStyle/>
          <a:p>
            <a:pPr algn="l"/>
            <a:r>
              <a:rPr kumimoji="1" lang="zh-CN" altLang="en-US" sz="2400" b="1">
                <a:solidFill>
                  <a:srgbClr val="FF0000"/>
                </a:solidFill>
                <a:latin typeface="Times New Roman" pitchFamily="18" charset="0"/>
              </a:rPr>
              <a:t>求  </a:t>
            </a:r>
            <a:r>
              <a:rPr kumimoji="1" lang="zh-CN" altLang="en-US" sz="2400" b="1">
                <a:latin typeface="Times New Roman" pitchFamily="18" charset="0"/>
              </a:rPr>
              <a:t>互感系数和互感电动势</a:t>
            </a:r>
          </a:p>
        </p:txBody>
      </p:sp>
      <p:sp>
        <p:nvSpPr>
          <p:cNvPr id="78863" name="Rectangle 15"/>
          <p:cNvSpPr>
            <a:spLocks noChangeArrowheads="1"/>
          </p:cNvSpPr>
          <p:nvPr/>
        </p:nvSpPr>
        <p:spPr bwMode="auto">
          <a:xfrm>
            <a:off x="177800" y="2093913"/>
            <a:ext cx="48895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rPr>
              <a:t>解</a:t>
            </a:r>
          </a:p>
        </p:txBody>
      </p:sp>
      <p:graphicFrame>
        <p:nvGraphicFramePr>
          <p:cNvPr id="78866" name="Object 18"/>
          <p:cNvGraphicFramePr>
            <a:graphicFrameLocks noChangeAspect="1"/>
          </p:cNvGraphicFramePr>
          <p:nvPr/>
        </p:nvGraphicFramePr>
        <p:xfrm>
          <a:off x="7586663" y="4025900"/>
          <a:ext cx="341312" cy="317500"/>
        </p:xfrm>
        <a:graphic>
          <a:graphicData uri="http://schemas.openxmlformats.org/presentationml/2006/ole">
            <p:oleObj spid="_x0000_s22535" name="公式" r:id="rId8" imgW="152355" imgH="142830" progId="Equation.3">
              <p:embed/>
            </p:oleObj>
          </a:graphicData>
        </a:graphic>
      </p:graphicFrame>
      <p:graphicFrame>
        <p:nvGraphicFramePr>
          <p:cNvPr id="78867" name="Object 19"/>
          <p:cNvGraphicFramePr>
            <a:graphicFrameLocks noChangeAspect="1"/>
          </p:cNvGraphicFramePr>
          <p:nvPr/>
        </p:nvGraphicFramePr>
        <p:xfrm>
          <a:off x="8620125" y="5003800"/>
          <a:ext cx="227013" cy="252413"/>
        </p:xfrm>
        <a:graphic>
          <a:graphicData uri="http://schemas.openxmlformats.org/presentationml/2006/ole">
            <p:oleObj spid="_x0000_s22536" name="公式" r:id="rId9" imgW="76177" imgH="85860" progId="Equation.3">
              <p:embed/>
            </p:oleObj>
          </a:graphicData>
        </a:graphic>
      </p:graphicFrame>
      <p:sp>
        <p:nvSpPr>
          <p:cNvPr id="78868" name="Line 20"/>
          <p:cNvSpPr>
            <a:spLocks noChangeShapeType="1"/>
          </p:cNvSpPr>
          <p:nvPr/>
        </p:nvSpPr>
        <p:spPr bwMode="auto">
          <a:xfrm>
            <a:off x="5472113" y="4914900"/>
            <a:ext cx="3357562" cy="0"/>
          </a:xfrm>
          <a:prstGeom prst="line">
            <a:avLst/>
          </a:prstGeom>
          <a:noFill/>
          <a:ln w="22225">
            <a:solidFill>
              <a:schemeClr val="tx1"/>
            </a:solidFill>
            <a:round/>
            <a:headEnd/>
            <a:tailEnd type="triangle" w="med" len="med"/>
          </a:ln>
        </p:spPr>
        <p:txBody>
          <a:bodyPr/>
          <a:lstStyle/>
          <a:p>
            <a:endParaRPr lang="zh-CN" altLang="en-US"/>
          </a:p>
        </p:txBody>
      </p:sp>
      <p:graphicFrame>
        <p:nvGraphicFramePr>
          <p:cNvPr id="78877" name="Object 29"/>
          <p:cNvGraphicFramePr>
            <a:graphicFrameLocks noChangeAspect="1"/>
          </p:cNvGraphicFramePr>
          <p:nvPr/>
        </p:nvGraphicFramePr>
        <p:xfrm>
          <a:off x="5099050" y="4854575"/>
          <a:ext cx="287338" cy="315913"/>
        </p:xfrm>
        <a:graphic>
          <a:graphicData uri="http://schemas.openxmlformats.org/presentationml/2006/ole">
            <p:oleObj spid="_x0000_s22537" name="公式" r:id="rId10" imgW="85632" imgH="104760" progId="Equation.3">
              <p:embed/>
            </p:oleObj>
          </a:graphicData>
        </a:graphic>
      </p:graphicFrame>
      <p:graphicFrame>
        <p:nvGraphicFramePr>
          <p:cNvPr id="78879" name="Object 31"/>
          <p:cNvGraphicFramePr>
            <a:graphicFrameLocks noChangeAspect="1"/>
          </p:cNvGraphicFramePr>
          <p:nvPr/>
        </p:nvGraphicFramePr>
        <p:xfrm>
          <a:off x="7131050" y="2349500"/>
          <a:ext cx="363538" cy="322263"/>
        </p:xfrm>
        <a:graphic>
          <a:graphicData uri="http://schemas.openxmlformats.org/presentationml/2006/ole">
            <p:oleObj spid="_x0000_s22538" name="公式" r:id="rId11" imgW="161810" imgH="142830" progId="Equation.3">
              <p:embed/>
            </p:oleObj>
          </a:graphicData>
        </a:graphic>
      </p:graphicFrame>
      <p:sp>
        <p:nvSpPr>
          <p:cNvPr id="78880" name="Rectangle 32"/>
          <p:cNvSpPr>
            <a:spLocks noChangeArrowheads="1"/>
          </p:cNvSpPr>
          <p:nvPr/>
        </p:nvSpPr>
        <p:spPr bwMode="auto">
          <a:xfrm>
            <a:off x="5832475" y="5094288"/>
            <a:ext cx="2592388" cy="366712"/>
          </a:xfrm>
          <a:prstGeom prst="rect">
            <a:avLst/>
          </a:prstGeom>
          <a:noFill/>
          <a:ln w="9525">
            <a:noFill/>
            <a:miter lim="800000"/>
            <a:headEnd/>
            <a:tailEnd/>
          </a:ln>
        </p:spPr>
        <p:txBody>
          <a:bodyPr>
            <a:spAutoFit/>
          </a:bodyPr>
          <a:lstStyle/>
          <a:p>
            <a:pPr algn="l"/>
            <a:r>
              <a:rPr kumimoji="1" lang="zh-CN" altLang="en-US" b="1">
                <a:solidFill>
                  <a:srgbClr val="FF0000"/>
                </a:solidFill>
                <a:latin typeface="楷体_GB2312" pitchFamily="49" charset="-122"/>
                <a:ea typeface="楷体_GB2312" pitchFamily="49" charset="-122"/>
              </a:rPr>
              <a:t>（选顺时针方向为正）</a:t>
            </a:r>
            <a:r>
              <a:rPr kumimoji="1" lang="zh-CN" altLang="en-US" b="1">
                <a:solidFill>
                  <a:srgbClr val="FF9900"/>
                </a:solidFill>
                <a:latin typeface="楷体_GB2312" pitchFamily="49" charset="-122"/>
                <a:ea typeface="楷体_GB2312" pitchFamily="49" charset="-122"/>
              </a:rPr>
              <a:t> </a:t>
            </a:r>
          </a:p>
        </p:txBody>
      </p:sp>
      <p:sp>
        <p:nvSpPr>
          <p:cNvPr id="78881" name="Rectangle 33"/>
          <p:cNvSpPr>
            <a:spLocks noChangeArrowheads="1"/>
          </p:cNvSpPr>
          <p:nvPr/>
        </p:nvSpPr>
        <p:spPr bwMode="auto">
          <a:xfrm>
            <a:off x="611188" y="2049463"/>
            <a:ext cx="4681537"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建立坐标系，在线框上取窄条 </a:t>
            </a:r>
            <a:r>
              <a:rPr kumimoji="1" lang="en-US" altLang="zh-CN" sz="2400" b="1">
                <a:solidFill>
                  <a:srgbClr val="FF6600"/>
                </a:solidFill>
                <a:latin typeface="Times New Roman" pitchFamily="18" charset="0"/>
                <a:ea typeface="楷体_GB2312" pitchFamily="49" charset="-122"/>
              </a:rPr>
              <a:t>d</a:t>
            </a:r>
            <a:r>
              <a:rPr kumimoji="1" lang="en-US" altLang="zh-CN" sz="2400" b="1" i="1">
                <a:solidFill>
                  <a:srgbClr val="FF6600"/>
                </a:solidFill>
                <a:latin typeface="Times New Roman" pitchFamily="18" charset="0"/>
                <a:ea typeface="楷体_GB2312" pitchFamily="49" charset="-122"/>
              </a:rPr>
              <a:t>r</a:t>
            </a:r>
          </a:p>
        </p:txBody>
      </p:sp>
      <p:graphicFrame>
        <p:nvGraphicFramePr>
          <p:cNvPr id="78882" name="Object 34"/>
          <p:cNvGraphicFramePr>
            <a:graphicFrameLocks noChangeAspect="1"/>
          </p:cNvGraphicFramePr>
          <p:nvPr/>
        </p:nvGraphicFramePr>
        <p:xfrm>
          <a:off x="1042988" y="2565400"/>
          <a:ext cx="1033462" cy="733425"/>
        </p:xfrm>
        <a:graphic>
          <a:graphicData uri="http://schemas.openxmlformats.org/presentationml/2006/ole">
            <p:oleObj spid="_x0000_s22539" name="公式" r:id="rId12" imgW="533513" imgH="371520" progId="Equation.3">
              <p:embed/>
            </p:oleObj>
          </a:graphicData>
        </a:graphic>
      </p:graphicFrame>
      <p:sp>
        <p:nvSpPr>
          <p:cNvPr id="78883" name="Rectangle 35"/>
          <p:cNvSpPr>
            <a:spLocks noChangeArrowheads="1"/>
          </p:cNvSpPr>
          <p:nvPr/>
        </p:nvSpPr>
        <p:spPr bwMode="auto">
          <a:xfrm>
            <a:off x="727075" y="3429000"/>
            <a:ext cx="4276725"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穿过线框的磁通量</a:t>
            </a:r>
          </a:p>
        </p:txBody>
      </p:sp>
      <p:graphicFrame>
        <p:nvGraphicFramePr>
          <p:cNvPr id="78884" name="Object 36"/>
          <p:cNvGraphicFramePr>
            <a:graphicFrameLocks noChangeAspect="1"/>
          </p:cNvGraphicFramePr>
          <p:nvPr/>
        </p:nvGraphicFramePr>
        <p:xfrm>
          <a:off x="739775" y="4005263"/>
          <a:ext cx="1752600" cy="593725"/>
        </p:xfrm>
        <a:graphic>
          <a:graphicData uri="http://schemas.openxmlformats.org/presentationml/2006/ole">
            <p:oleObj spid="_x0000_s22540" name="公式" r:id="rId13" imgW="943034" imgH="295380" progId="Equation.3">
              <p:embed/>
            </p:oleObj>
          </a:graphicData>
        </a:graphic>
      </p:graphicFrame>
      <p:graphicFrame>
        <p:nvGraphicFramePr>
          <p:cNvPr id="78885" name="Object 37"/>
          <p:cNvGraphicFramePr>
            <a:graphicFrameLocks noChangeAspect="1"/>
          </p:cNvGraphicFramePr>
          <p:nvPr/>
        </p:nvGraphicFramePr>
        <p:xfrm>
          <a:off x="2865438" y="2784475"/>
          <a:ext cx="1095375" cy="320675"/>
        </p:xfrm>
        <a:graphic>
          <a:graphicData uri="http://schemas.openxmlformats.org/presentationml/2006/ole">
            <p:oleObj spid="_x0000_s22541" name="公式" r:id="rId14" imgW="571601" imgH="142830" progId="Equation.3">
              <p:embed/>
            </p:oleObj>
          </a:graphicData>
        </a:graphic>
      </p:graphicFrame>
      <p:graphicFrame>
        <p:nvGraphicFramePr>
          <p:cNvPr id="78886" name="Object 38"/>
          <p:cNvGraphicFramePr>
            <a:graphicFrameLocks noChangeAspect="1"/>
          </p:cNvGraphicFramePr>
          <p:nvPr/>
        </p:nvGraphicFramePr>
        <p:xfrm>
          <a:off x="2573338" y="3903663"/>
          <a:ext cx="1277937" cy="731837"/>
        </p:xfrm>
        <a:graphic>
          <a:graphicData uri="http://schemas.openxmlformats.org/presentationml/2006/ole">
            <p:oleObj spid="_x0000_s22542" name="公式" r:id="rId15" imgW="676143" imgH="371520" progId="Equation.3">
              <p:embed/>
            </p:oleObj>
          </a:graphicData>
        </a:graphic>
      </p:graphicFrame>
      <p:graphicFrame>
        <p:nvGraphicFramePr>
          <p:cNvPr id="78887" name="Object 39"/>
          <p:cNvGraphicFramePr>
            <a:graphicFrameLocks noChangeAspect="1"/>
          </p:cNvGraphicFramePr>
          <p:nvPr/>
        </p:nvGraphicFramePr>
        <p:xfrm>
          <a:off x="2220913" y="4786313"/>
          <a:ext cx="2030412" cy="730250"/>
        </p:xfrm>
        <a:graphic>
          <a:graphicData uri="http://schemas.openxmlformats.org/presentationml/2006/ole">
            <p:oleObj spid="_x0000_s22543" name="公式" r:id="rId16" imgW="1095389" imgH="371520" progId="Equation.3">
              <p:embed/>
            </p:oleObj>
          </a:graphicData>
        </a:graphic>
      </p:graphicFrame>
      <p:graphicFrame>
        <p:nvGraphicFramePr>
          <p:cNvPr id="78888" name="Object 40"/>
          <p:cNvGraphicFramePr>
            <a:graphicFrameLocks noChangeAspect="1"/>
          </p:cNvGraphicFramePr>
          <p:nvPr/>
        </p:nvGraphicFramePr>
        <p:xfrm>
          <a:off x="2547938" y="5721350"/>
          <a:ext cx="1303337" cy="731838"/>
        </p:xfrm>
        <a:graphic>
          <a:graphicData uri="http://schemas.openxmlformats.org/presentationml/2006/ole">
            <p:oleObj spid="_x0000_s22544" name="公式" r:id="rId17" imgW="685868" imgH="371520" progId="Equation.3">
              <p:embed/>
            </p:oleObj>
          </a:graphicData>
        </a:graphic>
      </p:graphicFrame>
      <p:graphicFrame>
        <p:nvGraphicFramePr>
          <p:cNvPr id="78889" name="Object 41"/>
          <p:cNvGraphicFramePr>
            <a:graphicFrameLocks noChangeAspect="1"/>
          </p:cNvGraphicFramePr>
          <p:nvPr/>
        </p:nvGraphicFramePr>
        <p:xfrm>
          <a:off x="3851275" y="5721350"/>
          <a:ext cx="2422525" cy="731838"/>
        </p:xfrm>
        <a:graphic>
          <a:graphicData uri="http://schemas.openxmlformats.org/presentationml/2006/ole">
            <p:oleObj spid="_x0000_s22545" name="公式" r:id="rId18" imgW="1305012" imgH="371520" progId="Equation.3">
              <p:embed/>
            </p:oleObj>
          </a:graphicData>
        </a:graphic>
      </p:graphicFrame>
      <p:sp>
        <p:nvSpPr>
          <p:cNvPr id="78890" name="Text Box 42"/>
          <p:cNvSpPr txBox="1">
            <a:spLocks noChangeArrowheads="1"/>
          </p:cNvSpPr>
          <p:nvPr/>
        </p:nvSpPr>
        <p:spPr bwMode="auto">
          <a:xfrm>
            <a:off x="746125" y="4879975"/>
            <a:ext cx="1976438" cy="530225"/>
          </a:xfrm>
          <a:prstGeom prst="rect">
            <a:avLst/>
          </a:prstGeom>
          <a:noFill/>
          <a:ln w="9525" algn="ctr">
            <a:noFill/>
            <a:miter lim="800000"/>
            <a:headEnd/>
            <a:tailEnd/>
          </a:ln>
        </p:spPr>
        <p:txBody>
          <a:bodyPr tIns="82800" bIns="82800">
            <a:spAutoFit/>
          </a:bodyPr>
          <a:lstStyle/>
          <a:p>
            <a:pPr algn="just" eaLnBrk="0" hangingPunct="0">
              <a:spcBef>
                <a:spcPct val="50000"/>
              </a:spcBef>
            </a:pPr>
            <a:r>
              <a:rPr kumimoji="1" lang="zh-CN" altLang="en-US" sz="2400" b="1">
                <a:latin typeface="Times New Roman" pitchFamily="18" charset="0"/>
                <a:ea typeface="楷体_GB2312" pitchFamily="49" charset="-122"/>
              </a:rPr>
              <a:t>互感系数</a:t>
            </a:r>
          </a:p>
        </p:txBody>
      </p:sp>
      <p:sp>
        <p:nvSpPr>
          <p:cNvPr id="78891" name="Text Box 43"/>
          <p:cNvSpPr txBox="1">
            <a:spLocks noChangeArrowheads="1"/>
          </p:cNvSpPr>
          <p:nvPr/>
        </p:nvSpPr>
        <p:spPr bwMode="auto">
          <a:xfrm>
            <a:off x="708025" y="5789613"/>
            <a:ext cx="2560638" cy="530225"/>
          </a:xfrm>
          <a:prstGeom prst="rect">
            <a:avLst/>
          </a:prstGeom>
          <a:noFill/>
          <a:ln w="9525" algn="ctr">
            <a:noFill/>
            <a:miter lim="800000"/>
            <a:headEnd/>
            <a:tailEnd/>
          </a:ln>
        </p:spPr>
        <p:txBody>
          <a:bodyPr tIns="82800" bIns="82800">
            <a:spAutoFit/>
          </a:bodyPr>
          <a:lstStyle/>
          <a:p>
            <a:pPr algn="just" eaLnBrk="0" hangingPunct="0">
              <a:spcBef>
                <a:spcPct val="50000"/>
              </a:spcBef>
            </a:pPr>
            <a:r>
              <a:rPr kumimoji="1" lang="zh-CN" altLang="en-US" sz="2400" b="1">
                <a:latin typeface="Times New Roman" pitchFamily="18" charset="0"/>
                <a:ea typeface="楷体_GB2312" pitchFamily="49" charset="-122"/>
              </a:rPr>
              <a:t>互感电动势</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50"/>
                                        </p:tgtEl>
                                        <p:attrNameLst>
                                          <p:attrName>style.visibility</p:attrName>
                                        </p:attrNameLst>
                                      </p:cBhvr>
                                      <p:to>
                                        <p:strVal val="visible"/>
                                      </p:to>
                                    </p:set>
                                    <p:animEffect transition="in" filter="wipe(left)">
                                      <p:cBhvr>
                                        <p:cTn id="7" dur="500"/>
                                        <p:tgtEl>
                                          <p:spTgt spid="788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851"/>
                                        </p:tgtEl>
                                        <p:attrNameLst>
                                          <p:attrName>style.visibility</p:attrName>
                                        </p:attrNameLst>
                                      </p:cBhvr>
                                      <p:to>
                                        <p:strVal val="visible"/>
                                      </p:to>
                                    </p:set>
                                    <p:animEffect transition="in" filter="wipe(left)">
                                      <p:cBhvr>
                                        <p:cTn id="12" dur="500"/>
                                        <p:tgtEl>
                                          <p:spTgt spid="78851"/>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78852"/>
                                        </p:tgtEl>
                                        <p:attrNameLst>
                                          <p:attrName>style.visibility</p:attrName>
                                        </p:attrNameLst>
                                      </p:cBhvr>
                                      <p:to>
                                        <p:strVal val="visible"/>
                                      </p:to>
                                    </p:set>
                                    <p:animEffect transition="in" filter="wipe(left)">
                                      <p:cBhvr>
                                        <p:cTn id="16" dur="500"/>
                                        <p:tgtEl>
                                          <p:spTgt spid="78852"/>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78853"/>
                                        </p:tgtEl>
                                        <p:attrNameLst>
                                          <p:attrName>style.visibility</p:attrName>
                                        </p:attrNameLst>
                                      </p:cBhvr>
                                      <p:to>
                                        <p:strVal val="visible"/>
                                      </p:to>
                                    </p:set>
                                    <p:animEffect transition="in" filter="wipe(left)">
                                      <p:cBhvr>
                                        <p:cTn id="20" dur="500"/>
                                        <p:tgtEl>
                                          <p:spTgt spid="78853"/>
                                        </p:tgtEl>
                                      </p:cBhvr>
                                    </p:animEffect>
                                  </p:childTnLst>
                                </p:cTn>
                              </p:par>
                            </p:childTnLst>
                          </p:cTn>
                        </p:par>
                        <p:par>
                          <p:cTn id="21" fill="hold" nodeType="afterGroup">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78854"/>
                                        </p:tgtEl>
                                        <p:attrNameLst>
                                          <p:attrName>style.visibility</p:attrName>
                                        </p:attrNameLst>
                                      </p:cBhvr>
                                      <p:to>
                                        <p:strVal val="visible"/>
                                      </p:to>
                                    </p:set>
                                    <p:animEffect transition="in" filter="wipe(left)">
                                      <p:cBhvr>
                                        <p:cTn id="24" dur="500"/>
                                        <p:tgtEl>
                                          <p:spTgt spid="7885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78855"/>
                                        </p:tgtEl>
                                        <p:attrNameLst>
                                          <p:attrName>style.visibility</p:attrName>
                                        </p:attrNameLst>
                                      </p:cBhvr>
                                      <p:to>
                                        <p:strVal val="visible"/>
                                      </p:to>
                                    </p:set>
                                    <p:animEffect transition="in" filter="wipe(left)">
                                      <p:cBhvr>
                                        <p:cTn id="29" dur="500"/>
                                        <p:tgtEl>
                                          <p:spTgt spid="7885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78856"/>
                                        </p:tgtEl>
                                        <p:attrNameLst>
                                          <p:attrName>style.visibility</p:attrName>
                                        </p:attrNameLst>
                                      </p:cBhvr>
                                      <p:to>
                                        <p:strVal val="visible"/>
                                      </p:to>
                                    </p:set>
                                    <p:animEffect transition="in" filter="wipe(left)">
                                      <p:cBhvr>
                                        <p:cTn id="34" dur="500"/>
                                        <p:tgtEl>
                                          <p:spTgt spid="78856"/>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78857"/>
                                        </p:tgtEl>
                                        <p:attrNameLst>
                                          <p:attrName>style.visibility</p:attrName>
                                        </p:attrNameLst>
                                      </p:cBhvr>
                                      <p:to>
                                        <p:strVal val="visible"/>
                                      </p:to>
                                    </p:set>
                                    <p:animEffect transition="in" filter="wipe(left)">
                                      <p:cBhvr>
                                        <p:cTn id="38" dur="500"/>
                                        <p:tgtEl>
                                          <p:spTgt spid="7885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78858"/>
                                        </p:tgtEl>
                                        <p:attrNameLst>
                                          <p:attrName>style.visibility</p:attrName>
                                        </p:attrNameLst>
                                      </p:cBhvr>
                                      <p:to>
                                        <p:strVal val="visible"/>
                                      </p:to>
                                    </p:set>
                                    <p:animEffect transition="in" filter="wipe(left)">
                                      <p:cBhvr>
                                        <p:cTn id="43" dur="500"/>
                                        <p:tgtEl>
                                          <p:spTgt spid="7885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8879"/>
                                        </p:tgtEl>
                                        <p:attrNameLst>
                                          <p:attrName>style.visibility</p:attrName>
                                        </p:attrNameLst>
                                      </p:cBhvr>
                                      <p:to>
                                        <p:strVal val="visible"/>
                                      </p:to>
                                    </p:set>
                                    <p:animEffect transition="in" filter="wipe(left)">
                                      <p:cBhvr>
                                        <p:cTn id="48" dur="500"/>
                                        <p:tgtEl>
                                          <p:spTgt spid="7887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78859"/>
                                        </p:tgtEl>
                                        <p:attrNameLst>
                                          <p:attrName>style.visibility</p:attrName>
                                        </p:attrNameLst>
                                      </p:cBhvr>
                                      <p:to>
                                        <p:strVal val="visible"/>
                                      </p:to>
                                    </p:set>
                                    <p:animEffect transition="in" filter="wipe(left)">
                                      <p:cBhvr>
                                        <p:cTn id="53" dur="500"/>
                                        <p:tgtEl>
                                          <p:spTgt spid="78859"/>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78860"/>
                                        </p:tgtEl>
                                        <p:attrNameLst>
                                          <p:attrName>style.visibility</p:attrName>
                                        </p:attrNameLst>
                                      </p:cBhvr>
                                      <p:to>
                                        <p:strVal val="visible"/>
                                      </p:to>
                                    </p:set>
                                    <p:animEffect transition="in" filter="wipe(left)">
                                      <p:cBhvr>
                                        <p:cTn id="58" dur="500"/>
                                        <p:tgtEl>
                                          <p:spTgt spid="7886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78861"/>
                                        </p:tgtEl>
                                        <p:attrNameLst>
                                          <p:attrName>style.visibility</p:attrName>
                                        </p:attrNameLst>
                                      </p:cBhvr>
                                      <p:to>
                                        <p:strVal val="visible"/>
                                      </p:to>
                                    </p:set>
                                    <p:animEffect transition="in" filter="wipe(left)">
                                      <p:cBhvr>
                                        <p:cTn id="63" dur="500"/>
                                        <p:tgtEl>
                                          <p:spTgt spid="78861"/>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78862"/>
                                        </p:tgtEl>
                                        <p:attrNameLst>
                                          <p:attrName>style.visibility</p:attrName>
                                        </p:attrNameLst>
                                      </p:cBhvr>
                                      <p:to>
                                        <p:strVal val="visible"/>
                                      </p:to>
                                    </p:set>
                                    <p:animEffect transition="in" filter="wipe(left)">
                                      <p:cBhvr>
                                        <p:cTn id="68" dur="500"/>
                                        <p:tgtEl>
                                          <p:spTgt spid="7886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78863"/>
                                        </p:tgtEl>
                                        <p:attrNameLst>
                                          <p:attrName>style.visibility</p:attrName>
                                        </p:attrNameLst>
                                      </p:cBhvr>
                                      <p:to>
                                        <p:strVal val="visible"/>
                                      </p:to>
                                    </p:set>
                                    <p:animEffect transition="in" filter="wipe(left)">
                                      <p:cBhvr>
                                        <p:cTn id="73" dur="500"/>
                                        <p:tgtEl>
                                          <p:spTgt spid="7886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2" presetClass="entr" presetSubtype="8" fill="hold" grpId="0" nodeType="clickEffect">
                                  <p:stCondLst>
                                    <p:cond delay="0"/>
                                  </p:stCondLst>
                                  <p:childTnLst>
                                    <p:set>
                                      <p:cBhvr>
                                        <p:cTn id="77" dur="1" fill="hold">
                                          <p:stCondLst>
                                            <p:cond delay="0"/>
                                          </p:stCondLst>
                                        </p:cTn>
                                        <p:tgtEl>
                                          <p:spTgt spid="78868"/>
                                        </p:tgtEl>
                                        <p:attrNameLst>
                                          <p:attrName>style.visibility</p:attrName>
                                        </p:attrNameLst>
                                      </p:cBhvr>
                                      <p:to>
                                        <p:strVal val="visible"/>
                                      </p:to>
                                    </p:set>
                                    <p:animEffect transition="in" filter="slide(fromLeft)">
                                      <p:cBhvr>
                                        <p:cTn id="78" dur="500"/>
                                        <p:tgtEl>
                                          <p:spTgt spid="78868"/>
                                        </p:tgtEl>
                                      </p:cBhvr>
                                    </p:animEffect>
                                  </p:childTnLst>
                                </p:cTn>
                              </p:par>
                            </p:childTnLst>
                          </p:cTn>
                        </p:par>
                        <p:par>
                          <p:cTn id="79" fill="hold" nodeType="afterGroup">
                            <p:stCondLst>
                              <p:cond delay="500"/>
                            </p:stCondLst>
                            <p:childTnLst>
                              <p:par>
                                <p:cTn id="80" presetID="1" presetClass="entr" presetSubtype="0" fill="hold" nodeType="afterEffect">
                                  <p:stCondLst>
                                    <p:cond delay="0"/>
                                  </p:stCondLst>
                                  <p:childTnLst>
                                    <p:set>
                                      <p:cBhvr>
                                        <p:cTn id="81" dur="1" fill="hold">
                                          <p:stCondLst>
                                            <p:cond delay="499"/>
                                          </p:stCondLst>
                                        </p:cTn>
                                        <p:tgtEl>
                                          <p:spTgt spid="78877"/>
                                        </p:tgtEl>
                                        <p:attrNameLst>
                                          <p:attrName>style.visibility</p:attrName>
                                        </p:attrNameLst>
                                      </p:cBhvr>
                                      <p:to>
                                        <p:strVal val="visible"/>
                                      </p:to>
                                    </p:set>
                                  </p:childTnLst>
                                </p:cTn>
                              </p:par>
                            </p:childTnLst>
                          </p:cTn>
                        </p:par>
                        <p:par>
                          <p:cTn id="82" fill="hold" nodeType="afterGroup">
                            <p:stCondLst>
                              <p:cond delay="1000"/>
                            </p:stCondLst>
                            <p:childTnLst>
                              <p:par>
                                <p:cTn id="83" presetID="1" presetClass="entr" presetSubtype="0" fill="hold" nodeType="afterEffect">
                                  <p:stCondLst>
                                    <p:cond delay="0"/>
                                  </p:stCondLst>
                                  <p:childTnLst>
                                    <p:set>
                                      <p:cBhvr>
                                        <p:cTn id="84" dur="1" fill="hold">
                                          <p:stCondLst>
                                            <p:cond delay="499"/>
                                          </p:stCondLst>
                                        </p:cTn>
                                        <p:tgtEl>
                                          <p:spTgt spid="78867"/>
                                        </p:tgtEl>
                                        <p:attrNameLst>
                                          <p:attrName>style.visibility</p:attrName>
                                        </p:attrNameLst>
                                      </p:cBhvr>
                                      <p:to>
                                        <p:strVal val="visible"/>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78881"/>
                                        </p:tgtEl>
                                        <p:attrNameLst>
                                          <p:attrName>style.visibility</p:attrName>
                                        </p:attrNameLst>
                                      </p:cBhvr>
                                      <p:to>
                                        <p:strVal val="visible"/>
                                      </p:to>
                                    </p:set>
                                    <p:animEffect transition="in" filter="wipe(left)">
                                      <p:cBhvr>
                                        <p:cTn id="89" dur="500"/>
                                        <p:tgtEl>
                                          <p:spTgt spid="78881"/>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3" presetClass="entr" presetSubtype="10" fill="hold" grpId="0" nodeType="clickEffect">
                                  <p:stCondLst>
                                    <p:cond delay="0"/>
                                  </p:stCondLst>
                                  <p:childTnLst>
                                    <p:set>
                                      <p:cBhvr>
                                        <p:cTn id="93" dur="1" fill="hold">
                                          <p:stCondLst>
                                            <p:cond delay="0"/>
                                          </p:stCondLst>
                                        </p:cTn>
                                        <p:tgtEl>
                                          <p:spTgt spid="78865"/>
                                        </p:tgtEl>
                                        <p:attrNameLst>
                                          <p:attrName>style.visibility</p:attrName>
                                        </p:attrNameLst>
                                      </p:cBhvr>
                                      <p:to>
                                        <p:strVal val="visible"/>
                                      </p:to>
                                    </p:set>
                                    <p:animEffect transition="in" filter="blinds(horizontal)">
                                      <p:cBhvr>
                                        <p:cTn id="94" dur="500"/>
                                        <p:tgtEl>
                                          <p:spTgt spid="78865"/>
                                        </p:tgtEl>
                                      </p:cBhvr>
                                    </p:animEffect>
                                  </p:childTnLst>
                                </p:cTn>
                              </p:par>
                              <p:par>
                                <p:cTn id="95" presetID="22" presetClass="entr" presetSubtype="4" fill="hold" nodeType="withEffect">
                                  <p:stCondLst>
                                    <p:cond delay="0"/>
                                  </p:stCondLst>
                                  <p:childTnLst>
                                    <p:set>
                                      <p:cBhvr>
                                        <p:cTn id="96" dur="1" fill="hold">
                                          <p:stCondLst>
                                            <p:cond delay="0"/>
                                          </p:stCondLst>
                                        </p:cTn>
                                        <p:tgtEl>
                                          <p:spTgt spid="78866"/>
                                        </p:tgtEl>
                                        <p:attrNameLst>
                                          <p:attrName>style.visibility</p:attrName>
                                        </p:attrNameLst>
                                      </p:cBhvr>
                                      <p:to>
                                        <p:strVal val="visible"/>
                                      </p:to>
                                    </p:set>
                                    <p:animEffect transition="in" filter="wipe(down)">
                                      <p:cBhvr>
                                        <p:cTn id="97" dur="500"/>
                                        <p:tgtEl>
                                          <p:spTgt spid="78866"/>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78882"/>
                                        </p:tgtEl>
                                        <p:attrNameLst>
                                          <p:attrName>style.visibility</p:attrName>
                                        </p:attrNameLst>
                                      </p:cBhvr>
                                      <p:to>
                                        <p:strVal val="visible"/>
                                      </p:to>
                                    </p:set>
                                    <p:animEffect transition="in" filter="wipe(left)">
                                      <p:cBhvr>
                                        <p:cTn id="102" dur="500"/>
                                        <p:tgtEl>
                                          <p:spTgt spid="78882"/>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 presetClass="entr" presetSubtype="4" fill="hold" nodeType="clickEffect">
                                  <p:stCondLst>
                                    <p:cond delay="0"/>
                                  </p:stCondLst>
                                  <p:childTnLst>
                                    <p:set>
                                      <p:cBhvr>
                                        <p:cTn id="106" dur="1" fill="hold">
                                          <p:stCondLst>
                                            <p:cond delay="0"/>
                                          </p:stCondLst>
                                        </p:cTn>
                                        <p:tgtEl>
                                          <p:spTgt spid="78885"/>
                                        </p:tgtEl>
                                        <p:attrNameLst>
                                          <p:attrName>style.visibility</p:attrName>
                                        </p:attrNameLst>
                                      </p:cBhvr>
                                      <p:to>
                                        <p:strVal val="visible"/>
                                      </p:to>
                                    </p:set>
                                    <p:anim calcmode="lin" valueType="num">
                                      <p:cBhvr additive="base">
                                        <p:cTn id="107" dur="500" fill="hold"/>
                                        <p:tgtEl>
                                          <p:spTgt spid="78885"/>
                                        </p:tgtEl>
                                        <p:attrNameLst>
                                          <p:attrName>ppt_x</p:attrName>
                                        </p:attrNameLst>
                                      </p:cBhvr>
                                      <p:tavLst>
                                        <p:tav tm="0">
                                          <p:val>
                                            <p:strVal val="#ppt_x"/>
                                          </p:val>
                                        </p:tav>
                                        <p:tav tm="100000">
                                          <p:val>
                                            <p:strVal val="#ppt_x"/>
                                          </p:val>
                                        </p:tav>
                                      </p:tavLst>
                                    </p:anim>
                                    <p:anim calcmode="lin" valueType="num">
                                      <p:cBhvr additive="base">
                                        <p:cTn id="108" dur="500" fill="hold"/>
                                        <p:tgtEl>
                                          <p:spTgt spid="78885"/>
                                        </p:tgtEl>
                                        <p:attrNameLst>
                                          <p:attrName>ppt_y</p:attrName>
                                        </p:attrNameLst>
                                      </p:cBhvr>
                                      <p:tavLst>
                                        <p:tav tm="0">
                                          <p:val>
                                            <p:strVal val="1+#ppt_h/2"/>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78883"/>
                                        </p:tgtEl>
                                        <p:attrNameLst>
                                          <p:attrName>style.visibility</p:attrName>
                                        </p:attrNameLst>
                                      </p:cBhvr>
                                      <p:to>
                                        <p:strVal val="visible"/>
                                      </p:to>
                                    </p:set>
                                    <p:animEffect transition="in" filter="wipe(left)">
                                      <p:cBhvr>
                                        <p:cTn id="113" dur="500"/>
                                        <p:tgtEl>
                                          <p:spTgt spid="7888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78884"/>
                                        </p:tgtEl>
                                        <p:attrNameLst>
                                          <p:attrName>style.visibility</p:attrName>
                                        </p:attrNameLst>
                                      </p:cBhvr>
                                      <p:to>
                                        <p:strVal val="visible"/>
                                      </p:to>
                                    </p:set>
                                    <p:animEffect transition="in" filter="wipe(left)">
                                      <p:cBhvr>
                                        <p:cTn id="118" dur="500"/>
                                        <p:tgtEl>
                                          <p:spTgt spid="78884"/>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78880"/>
                                        </p:tgtEl>
                                        <p:attrNameLst>
                                          <p:attrName>style.visibility</p:attrName>
                                        </p:attrNameLst>
                                      </p:cBhvr>
                                      <p:to>
                                        <p:strVal val="visible"/>
                                      </p:to>
                                    </p:set>
                                    <p:animEffect transition="in" filter="wipe(left)">
                                      <p:cBhvr>
                                        <p:cTn id="123" dur="2000"/>
                                        <p:tgtEl>
                                          <p:spTgt spid="78880"/>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nodeType="clickEffect">
                                  <p:stCondLst>
                                    <p:cond delay="0"/>
                                  </p:stCondLst>
                                  <p:childTnLst>
                                    <p:set>
                                      <p:cBhvr>
                                        <p:cTn id="127" dur="1" fill="hold">
                                          <p:stCondLst>
                                            <p:cond delay="0"/>
                                          </p:stCondLst>
                                        </p:cTn>
                                        <p:tgtEl>
                                          <p:spTgt spid="78886"/>
                                        </p:tgtEl>
                                        <p:attrNameLst>
                                          <p:attrName>style.visibility</p:attrName>
                                        </p:attrNameLst>
                                      </p:cBhvr>
                                      <p:to>
                                        <p:strVal val="visible"/>
                                      </p:to>
                                    </p:set>
                                    <p:animEffect transition="in" filter="wipe(left)">
                                      <p:cBhvr>
                                        <p:cTn id="128" dur="500"/>
                                        <p:tgtEl>
                                          <p:spTgt spid="78886"/>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grpId="0" nodeType="clickEffect">
                                  <p:stCondLst>
                                    <p:cond delay="0"/>
                                  </p:stCondLst>
                                  <p:childTnLst>
                                    <p:set>
                                      <p:cBhvr>
                                        <p:cTn id="132" dur="1" fill="hold">
                                          <p:stCondLst>
                                            <p:cond delay="0"/>
                                          </p:stCondLst>
                                        </p:cTn>
                                        <p:tgtEl>
                                          <p:spTgt spid="78890"/>
                                        </p:tgtEl>
                                        <p:attrNameLst>
                                          <p:attrName>style.visibility</p:attrName>
                                        </p:attrNameLst>
                                      </p:cBhvr>
                                      <p:to>
                                        <p:strVal val="visible"/>
                                      </p:to>
                                    </p:set>
                                    <p:animEffect transition="in" filter="wipe(left)">
                                      <p:cBhvr>
                                        <p:cTn id="133" dur="500"/>
                                        <p:tgtEl>
                                          <p:spTgt spid="78890"/>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78887"/>
                                        </p:tgtEl>
                                        <p:attrNameLst>
                                          <p:attrName>style.visibility</p:attrName>
                                        </p:attrNameLst>
                                      </p:cBhvr>
                                      <p:to>
                                        <p:strVal val="visible"/>
                                      </p:to>
                                    </p:set>
                                    <p:animEffect transition="in" filter="wipe(left)">
                                      <p:cBhvr>
                                        <p:cTn id="138" dur="500"/>
                                        <p:tgtEl>
                                          <p:spTgt spid="78887"/>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2" presetClass="entr" presetSubtype="8" fill="hold" grpId="0" nodeType="clickEffect">
                                  <p:stCondLst>
                                    <p:cond delay="0"/>
                                  </p:stCondLst>
                                  <p:childTnLst>
                                    <p:set>
                                      <p:cBhvr>
                                        <p:cTn id="142" dur="1" fill="hold">
                                          <p:stCondLst>
                                            <p:cond delay="0"/>
                                          </p:stCondLst>
                                        </p:cTn>
                                        <p:tgtEl>
                                          <p:spTgt spid="78891"/>
                                        </p:tgtEl>
                                        <p:attrNameLst>
                                          <p:attrName>style.visibility</p:attrName>
                                        </p:attrNameLst>
                                      </p:cBhvr>
                                      <p:to>
                                        <p:strVal val="visible"/>
                                      </p:to>
                                    </p:set>
                                    <p:animEffect transition="in" filter="wipe(left)">
                                      <p:cBhvr>
                                        <p:cTn id="143" dur="500"/>
                                        <p:tgtEl>
                                          <p:spTgt spid="78891"/>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22" presetClass="entr" presetSubtype="8" fill="hold" nodeType="clickEffect">
                                  <p:stCondLst>
                                    <p:cond delay="0"/>
                                  </p:stCondLst>
                                  <p:childTnLst>
                                    <p:set>
                                      <p:cBhvr>
                                        <p:cTn id="147" dur="1" fill="hold">
                                          <p:stCondLst>
                                            <p:cond delay="0"/>
                                          </p:stCondLst>
                                        </p:cTn>
                                        <p:tgtEl>
                                          <p:spTgt spid="78888"/>
                                        </p:tgtEl>
                                        <p:attrNameLst>
                                          <p:attrName>style.visibility</p:attrName>
                                        </p:attrNameLst>
                                      </p:cBhvr>
                                      <p:to>
                                        <p:strVal val="visible"/>
                                      </p:to>
                                    </p:set>
                                    <p:animEffect transition="in" filter="wipe(left)">
                                      <p:cBhvr>
                                        <p:cTn id="148" dur="500"/>
                                        <p:tgtEl>
                                          <p:spTgt spid="78888"/>
                                        </p:tgtEl>
                                      </p:cBhvr>
                                    </p:animEffect>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2" presetClass="entr" presetSubtype="8" fill="hold" nodeType="clickEffect">
                                  <p:stCondLst>
                                    <p:cond delay="0"/>
                                  </p:stCondLst>
                                  <p:childTnLst>
                                    <p:set>
                                      <p:cBhvr>
                                        <p:cTn id="152" dur="1" fill="hold">
                                          <p:stCondLst>
                                            <p:cond delay="0"/>
                                          </p:stCondLst>
                                        </p:cTn>
                                        <p:tgtEl>
                                          <p:spTgt spid="78889"/>
                                        </p:tgtEl>
                                        <p:attrNameLst>
                                          <p:attrName>style.visibility</p:attrName>
                                        </p:attrNameLst>
                                      </p:cBhvr>
                                      <p:to>
                                        <p:strVal val="visible"/>
                                      </p:to>
                                    </p:set>
                                    <p:animEffect transition="in" filter="wipe(left)">
                                      <p:cBhvr>
                                        <p:cTn id="153" dur="500"/>
                                        <p:tgtEl>
                                          <p:spTgt spid="78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5" grpId="0" animBg="1"/>
      <p:bldP spid="78850" grpId="0"/>
      <p:bldP spid="78851" grpId="0"/>
      <p:bldP spid="78853" grpId="0"/>
      <p:bldP spid="78854" grpId="0"/>
      <p:bldP spid="78855" grpId="0" animBg="1"/>
      <p:bldP spid="78856" grpId="0" animBg="1"/>
      <p:bldP spid="78858" grpId="0" animBg="1"/>
      <p:bldP spid="78862" grpId="0"/>
      <p:bldP spid="78863" grpId="0" autoUpdateAnimBg="0"/>
      <p:bldP spid="78868" grpId="0" animBg="1"/>
      <p:bldP spid="78880" grpId="0" autoUpdateAnimBg="0"/>
      <p:bldP spid="78881" grpId="0" autoUpdateAnimBg="0"/>
      <p:bldP spid="78883" grpId="0" autoUpdateAnimBg="0"/>
      <p:bldP spid="78890" grpId="0"/>
      <p:bldP spid="7889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21" name="Text Box 25"/>
          <p:cNvSpPr txBox="1">
            <a:spLocks noChangeArrowheads="1"/>
          </p:cNvSpPr>
          <p:nvPr/>
        </p:nvSpPr>
        <p:spPr bwMode="auto">
          <a:xfrm>
            <a:off x="684213" y="3319463"/>
            <a:ext cx="3887787" cy="968375"/>
          </a:xfrm>
          <a:prstGeom prst="rect">
            <a:avLst/>
          </a:prstGeom>
          <a:noFill/>
          <a:ln w="9525">
            <a:noFill/>
            <a:miter lim="800000"/>
            <a:headEnd/>
            <a:tailEnd/>
          </a:ln>
        </p:spPr>
        <p:txBody>
          <a:bodyPr>
            <a:spAutoFit/>
          </a:bodyPr>
          <a:lstStyle/>
          <a:p>
            <a:pPr algn="l" defTabSz="762000" eaLnBrk="0" hangingPunct="0">
              <a:lnSpc>
                <a:spcPct val="120000"/>
              </a:lnSpc>
            </a:pPr>
            <a:r>
              <a:rPr kumimoji="1" lang="zh-CN" altLang="en-US" sz="2400" b="1">
                <a:latin typeface="Times New Roman" pitchFamily="18" charset="0"/>
                <a:ea typeface="楷体_GB2312" pitchFamily="49" charset="-122"/>
              </a:rPr>
              <a:t>由于 </a:t>
            </a:r>
            <a:r>
              <a:rPr kumimoji="1" lang="en-US" altLang="zh-CN" sz="2400" b="1" i="1">
                <a:solidFill>
                  <a:srgbClr val="FF6600"/>
                </a:solidFill>
                <a:latin typeface="Times New Roman" pitchFamily="18" charset="0"/>
                <a:ea typeface="楷体_GB2312" pitchFamily="49" charset="-122"/>
              </a:rPr>
              <a:t>b</a:t>
            </a:r>
            <a:r>
              <a:rPr kumimoji="1" lang="en-US" altLang="zh-CN" sz="2400" b="1">
                <a:solidFill>
                  <a:srgbClr val="FF6600"/>
                </a:solidFill>
                <a:latin typeface="Times New Roman" pitchFamily="18" charset="0"/>
                <a:ea typeface="楷体_GB2312" pitchFamily="49" charset="-122"/>
              </a:rPr>
              <a:t>&lt;&lt;</a:t>
            </a:r>
            <a:r>
              <a:rPr kumimoji="1" lang="en-US" altLang="zh-CN" sz="2400" b="1" i="1">
                <a:solidFill>
                  <a:srgbClr val="FF6600"/>
                </a:solidFill>
                <a:latin typeface="Times New Roman" pitchFamily="18" charset="0"/>
                <a:ea typeface="楷体_GB2312" pitchFamily="49" charset="-122"/>
              </a:rPr>
              <a:t>a</a:t>
            </a: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，小线圈处可视为均匀磁场</a:t>
            </a:r>
          </a:p>
        </p:txBody>
      </p:sp>
      <p:graphicFrame>
        <p:nvGraphicFramePr>
          <p:cNvPr id="80922" name="Object 26"/>
          <p:cNvGraphicFramePr>
            <a:graphicFrameLocks noChangeAspect="1"/>
          </p:cNvGraphicFramePr>
          <p:nvPr/>
        </p:nvGraphicFramePr>
        <p:xfrm>
          <a:off x="1016000" y="2214563"/>
          <a:ext cx="1997075" cy="892175"/>
        </p:xfrm>
        <a:graphic>
          <a:graphicData uri="http://schemas.openxmlformats.org/presentationml/2006/ole">
            <p:oleObj spid="_x0000_s23554" name="公式" r:id="rId3" imgW="1066755" imgH="457110" progId="Equation.3">
              <p:embed/>
            </p:oleObj>
          </a:graphicData>
        </a:graphic>
      </p:graphicFrame>
      <p:graphicFrame>
        <p:nvGraphicFramePr>
          <p:cNvPr id="80923" name="Object 27"/>
          <p:cNvGraphicFramePr>
            <a:graphicFrameLocks noChangeAspect="1"/>
          </p:cNvGraphicFramePr>
          <p:nvPr/>
        </p:nvGraphicFramePr>
        <p:xfrm>
          <a:off x="1016000" y="4581525"/>
          <a:ext cx="1647825" cy="409575"/>
        </p:xfrm>
        <a:graphic>
          <a:graphicData uri="http://schemas.openxmlformats.org/presentationml/2006/ole">
            <p:oleObj spid="_x0000_s23555" name="公式" r:id="rId4" imgW="876311" imgH="190620" progId="Equation.3">
              <p:embed/>
            </p:oleObj>
          </a:graphicData>
        </a:graphic>
      </p:graphicFrame>
      <p:graphicFrame>
        <p:nvGraphicFramePr>
          <p:cNvPr id="80924" name="Object 28"/>
          <p:cNvGraphicFramePr>
            <a:graphicFrameLocks noChangeAspect="1"/>
          </p:cNvGraphicFramePr>
          <p:nvPr/>
        </p:nvGraphicFramePr>
        <p:xfrm>
          <a:off x="2636838" y="4587875"/>
          <a:ext cx="1598612" cy="388938"/>
        </p:xfrm>
        <a:graphic>
          <a:graphicData uri="http://schemas.openxmlformats.org/presentationml/2006/ole">
            <p:oleObj spid="_x0000_s23556" name="公式" r:id="rId5" imgW="847677" imgH="180900" progId="Equation.3">
              <p:embed/>
            </p:oleObj>
          </a:graphicData>
        </a:graphic>
      </p:graphicFrame>
      <p:graphicFrame>
        <p:nvGraphicFramePr>
          <p:cNvPr id="80925" name="Object 29"/>
          <p:cNvGraphicFramePr>
            <a:graphicFrameLocks noChangeAspect="1"/>
          </p:cNvGraphicFramePr>
          <p:nvPr/>
        </p:nvGraphicFramePr>
        <p:xfrm>
          <a:off x="1016000" y="5273675"/>
          <a:ext cx="3167063" cy="892175"/>
        </p:xfrm>
        <a:graphic>
          <a:graphicData uri="http://schemas.openxmlformats.org/presentationml/2006/ole">
            <p:oleObj spid="_x0000_s23557" name="公式" r:id="rId6" imgW="1714534" imgH="457110" progId="Equation.3">
              <p:embed/>
            </p:oleObj>
          </a:graphicData>
        </a:graphic>
      </p:graphicFrame>
      <p:graphicFrame>
        <p:nvGraphicFramePr>
          <p:cNvPr id="80926" name="Object 30"/>
          <p:cNvGraphicFramePr>
            <a:graphicFrameLocks noChangeAspect="1"/>
          </p:cNvGraphicFramePr>
          <p:nvPr/>
        </p:nvGraphicFramePr>
        <p:xfrm>
          <a:off x="4643438" y="5287963"/>
          <a:ext cx="3786187" cy="892175"/>
        </p:xfrm>
        <a:graphic>
          <a:graphicData uri="http://schemas.openxmlformats.org/presentationml/2006/ole">
            <p:oleObj spid="_x0000_s23558" name="公式" r:id="rId7" imgW="2057332" imgH="457110" progId="Equation.3">
              <p:embed/>
            </p:oleObj>
          </a:graphicData>
        </a:graphic>
      </p:graphicFrame>
      <p:sp>
        <p:nvSpPr>
          <p:cNvPr id="80927" name="Rectangle 31"/>
          <p:cNvSpPr>
            <a:spLocks noChangeArrowheads="1"/>
          </p:cNvSpPr>
          <p:nvPr/>
        </p:nvSpPr>
        <p:spPr bwMode="auto">
          <a:xfrm>
            <a:off x="684213" y="1550988"/>
            <a:ext cx="2582862" cy="603250"/>
          </a:xfrm>
          <a:prstGeom prst="rect">
            <a:avLst/>
          </a:prstGeom>
          <a:noFill/>
          <a:ln w="9525" algn="ctr">
            <a:noFill/>
            <a:miter lim="800000"/>
            <a:headEnd/>
            <a:tailEnd/>
          </a:ln>
        </p:spPr>
        <p:txBody>
          <a:bodyPr tIns="82800" bIns="82800">
            <a:spAutoFit/>
          </a:bodyPr>
          <a:lstStyle/>
          <a:p>
            <a:pPr algn="just" eaLnBrk="0" hangingPunct="0">
              <a:lnSpc>
                <a:spcPct val="120000"/>
              </a:lnSpc>
            </a:pPr>
            <a:r>
              <a:rPr kumimoji="1" lang="zh-CN" altLang="en-US" sz="2400" b="1">
                <a:latin typeface="Times New Roman" pitchFamily="18" charset="0"/>
              </a:rPr>
              <a:t>互感系数</a:t>
            </a:r>
          </a:p>
        </p:txBody>
      </p:sp>
      <p:sp>
        <p:nvSpPr>
          <p:cNvPr id="80931" name="Rectangle 35"/>
          <p:cNvSpPr>
            <a:spLocks noChangeArrowheads="1"/>
          </p:cNvSpPr>
          <p:nvPr/>
        </p:nvSpPr>
        <p:spPr bwMode="auto">
          <a:xfrm>
            <a:off x="161925" y="504825"/>
            <a:ext cx="48895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rPr>
              <a:t>例</a:t>
            </a:r>
          </a:p>
        </p:txBody>
      </p:sp>
      <p:sp>
        <p:nvSpPr>
          <p:cNvPr id="80932" name="Rectangle 36"/>
          <p:cNvSpPr>
            <a:spLocks noChangeArrowheads="1"/>
          </p:cNvSpPr>
          <p:nvPr/>
        </p:nvSpPr>
        <p:spPr bwMode="auto">
          <a:xfrm>
            <a:off x="161925" y="1643063"/>
            <a:ext cx="48895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rPr>
              <a:t>求</a:t>
            </a:r>
          </a:p>
        </p:txBody>
      </p:sp>
      <p:sp>
        <p:nvSpPr>
          <p:cNvPr id="80933" name="Rectangle 37"/>
          <p:cNvSpPr>
            <a:spLocks noChangeArrowheads="1"/>
          </p:cNvSpPr>
          <p:nvPr/>
        </p:nvSpPr>
        <p:spPr bwMode="auto">
          <a:xfrm>
            <a:off x="161925" y="2297113"/>
            <a:ext cx="48895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rPr>
              <a:t>解</a:t>
            </a:r>
          </a:p>
        </p:txBody>
      </p:sp>
      <p:grpSp>
        <p:nvGrpSpPr>
          <p:cNvPr id="2" name="Group 46"/>
          <p:cNvGrpSpPr>
            <a:grpSpLocks/>
          </p:cNvGrpSpPr>
          <p:nvPr/>
        </p:nvGrpSpPr>
        <p:grpSpPr bwMode="auto">
          <a:xfrm>
            <a:off x="4473575" y="1808163"/>
            <a:ext cx="4419600" cy="2757487"/>
            <a:chOff x="2818" y="1139"/>
            <a:chExt cx="2784" cy="1737"/>
          </a:xfrm>
        </p:grpSpPr>
        <p:sp>
          <p:nvSpPr>
            <p:cNvPr id="23577" name="Oval 5"/>
            <p:cNvSpPr>
              <a:spLocks noChangeArrowheads="1"/>
            </p:cNvSpPr>
            <p:nvPr/>
          </p:nvSpPr>
          <p:spPr bwMode="auto">
            <a:xfrm>
              <a:off x="3250" y="1206"/>
              <a:ext cx="480" cy="1152"/>
            </a:xfrm>
            <a:prstGeom prst="ellipse">
              <a:avLst/>
            </a:prstGeom>
            <a:noFill/>
            <a:ln w="38100">
              <a:solidFill>
                <a:srgbClr val="008000"/>
              </a:solidFill>
              <a:round/>
              <a:headEnd/>
              <a:tailEnd/>
            </a:ln>
          </p:spPr>
          <p:txBody>
            <a:bodyPr wrap="none" anchor="ctr"/>
            <a:lstStyle/>
            <a:p>
              <a:endParaRPr lang="zh-CN" altLang="en-US"/>
            </a:p>
          </p:txBody>
        </p:sp>
        <p:sp>
          <p:nvSpPr>
            <p:cNvPr id="23578" name="Line 6"/>
            <p:cNvSpPr>
              <a:spLocks noChangeShapeType="1"/>
            </p:cNvSpPr>
            <p:nvPr/>
          </p:nvSpPr>
          <p:spPr bwMode="auto">
            <a:xfrm>
              <a:off x="2818" y="1830"/>
              <a:ext cx="2784" cy="0"/>
            </a:xfrm>
            <a:prstGeom prst="line">
              <a:avLst/>
            </a:prstGeom>
            <a:noFill/>
            <a:ln w="25400">
              <a:solidFill>
                <a:srgbClr val="FF0000"/>
              </a:solidFill>
              <a:prstDash val="lgDashDotDot"/>
              <a:round/>
              <a:headEnd/>
              <a:tailEnd/>
            </a:ln>
          </p:spPr>
          <p:txBody>
            <a:bodyPr/>
            <a:lstStyle/>
            <a:p>
              <a:endParaRPr lang="zh-CN" altLang="en-US"/>
            </a:p>
          </p:txBody>
        </p:sp>
        <p:sp>
          <p:nvSpPr>
            <p:cNvPr id="23579" name="Oval 7"/>
            <p:cNvSpPr>
              <a:spLocks noChangeArrowheads="1"/>
            </p:cNvSpPr>
            <p:nvPr/>
          </p:nvSpPr>
          <p:spPr bwMode="auto">
            <a:xfrm rot="-1929072">
              <a:off x="5026" y="1686"/>
              <a:ext cx="192" cy="288"/>
            </a:xfrm>
            <a:prstGeom prst="ellipse">
              <a:avLst/>
            </a:prstGeom>
            <a:noFill/>
            <a:ln w="28575">
              <a:solidFill>
                <a:srgbClr val="008000"/>
              </a:solidFill>
              <a:round/>
              <a:headEnd/>
              <a:tailEnd/>
            </a:ln>
          </p:spPr>
          <p:txBody>
            <a:bodyPr wrap="none" anchor="ctr"/>
            <a:lstStyle/>
            <a:p>
              <a:endParaRPr lang="zh-CN" altLang="en-US"/>
            </a:p>
          </p:txBody>
        </p:sp>
        <p:grpSp>
          <p:nvGrpSpPr>
            <p:cNvPr id="23580" name="Group 8"/>
            <p:cNvGrpSpPr>
              <a:grpSpLocks/>
            </p:cNvGrpSpPr>
            <p:nvPr/>
          </p:nvGrpSpPr>
          <p:grpSpPr bwMode="auto">
            <a:xfrm>
              <a:off x="3384" y="1376"/>
              <a:ext cx="298" cy="454"/>
              <a:chOff x="3542" y="2618"/>
              <a:chExt cx="298" cy="454"/>
            </a:xfrm>
          </p:grpSpPr>
          <p:sp>
            <p:nvSpPr>
              <p:cNvPr id="23594" name="Line 9"/>
              <p:cNvSpPr>
                <a:spLocks noChangeShapeType="1"/>
              </p:cNvSpPr>
              <p:nvPr/>
            </p:nvSpPr>
            <p:spPr bwMode="auto">
              <a:xfrm flipV="1">
                <a:off x="3648" y="2736"/>
                <a:ext cx="192" cy="336"/>
              </a:xfrm>
              <a:prstGeom prst="line">
                <a:avLst/>
              </a:prstGeom>
              <a:noFill/>
              <a:ln w="38100">
                <a:solidFill>
                  <a:srgbClr val="3333CC"/>
                </a:solidFill>
                <a:round/>
                <a:headEnd/>
                <a:tailEnd type="triangle" w="med" len="med"/>
              </a:ln>
            </p:spPr>
            <p:txBody>
              <a:bodyPr/>
              <a:lstStyle/>
              <a:p>
                <a:endParaRPr lang="zh-CN" altLang="en-US"/>
              </a:p>
            </p:txBody>
          </p:sp>
          <p:sp>
            <p:nvSpPr>
              <p:cNvPr id="23595" name="Text Box 10"/>
              <p:cNvSpPr txBox="1">
                <a:spLocks noChangeArrowheads="1"/>
              </p:cNvSpPr>
              <p:nvPr/>
            </p:nvSpPr>
            <p:spPr bwMode="auto">
              <a:xfrm>
                <a:off x="3542" y="2618"/>
                <a:ext cx="212" cy="288"/>
              </a:xfrm>
              <a:prstGeom prst="rect">
                <a:avLst/>
              </a:prstGeom>
              <a:noFill/>
              <a:ln w="9525">
                <a:noFill/>
                <a:miter lim="800000"/>
                <a:headEnd/>
                <a:tailEnd/>
              </a:ln>
            </p:spPr>
            <p:txBody>
              <a:bodyPr wrap="none">
                <a:spAutoFit/>
              </a:bodyPr>
              <a:lstStyle/>
              <a:p>
                <a:pPr algn="l" defTabSz="762000" eaLnBrk="0" hangingPunct="0"/>
                <a:r>
                  <a:rPr kumimoji="1" lang="en-US" altLang="zh-CN" sz="2400" b="1" i="1">
                    <a:solidFill>
                      <a:srgbClr val="3333CC"/>
                    </a:solidFill>
                    <a:latin typeface="Times New Roman" pitchFamily="18" charset="0"/>
                  </a:rPr>
                  <a:t>a</a:t>
                </a:r>
              </a:p>
            </p:txBody>
          </p:sp>
        </p:grpSp>
        <p:grpSp>
          <p:nvGrpSpPr>
            <p:cNvPr id="23581" name="Group 11"/>
            <p:cNvGrpSpPr>
              <a:grpSpLocks/>
            </p:cNvGrpSpPr>
            <p:nvPr/>
          </p:nvGrpSpPr>
          <p:grpSpPr bwMode="auto">
            <a:xfrm>
              <a:off x="5122" y="1820"/>
              <a:ext cx="260" cy="384"/>
              <a:chOff x="5280" y="3072"/>
              <a:chExt cx="260" cy="384"/>
            </a:xfrm>
          </p:grpSpPr>
          <p:sp>
            <p:nvSpPr>
              <p:cNvPr id="23592" name="Line 12"/>
              <p:cNvSpPr>
                <a:spLocks noChangeShapeType="1"/>
              </p:cNvSpPr>
              <p:nvPr/>
            </p:nvSpPr>
            <p:spPr bwMode="auto">
              <a:xfrm>
                <a:off x="5280" y="3072"/>
                <a:ext cx="96" cy="96"/>
              </a:xfrm>
              <a:prstGeom prst="line">
                <a:avLst/>
              </a:prstGeom>
              <a:noFill/>
              <a:ln w="28575">
                <a:solidFill>
                  <a:srgbClr val="3333CC"/>
                </a:solidFill>
                <a:round/>
                <a:headEnd/>
                <a:tailEnd type="triangle" w="med" len="med"/>
              </a:ln>
            </p:spPr>
            <p:txBody>
              <a:bodyPr/>
              <a:lstStyle/>
              <a:p>
                <a:endParaRPr lang="zh-CN" altLang="en-US"/>
              </a:p>
            </p:txBody>
          </p:sp>
          <p:sp>
            <p:nvSpPr>
              <p:cNvPr id="23593" name="Text Box 13"/>
              <p:cNvSpPr txBox="1">
                <a:spLocks noChangeArrowheads="1"/>
              </p:cNvSpPr>
              <p:nvPr/>
            </p:nvSpPr>
            <p:spPr bwMode="auto">
              <a:xfrm>
                <a:off x="5328" y="3168"/>
                <a:ext cx="212" cy="288"/>
              </a:xfrm>
              <a:prstGeom prst="rect">
                <a:avLst/>
              </a:prstGeom>
              <a:noFill/>
              <a:ln w="9525">
                <a:noFill/>
                <a:miter lim="800000"/>
                <a:headEnd/>
                <a:tailEnd/>
              </a:ln>
            </p:spPr>
            <p:txBody>
              <a:bodyPr wrap="none">
                <a:spAutoFit/>
              </a:bodyPr>
              <a:lstStyle/>
              <a:p>
                <a:pPr algn="l" defTabSz="762000" eaLnBrk="0" hangingPunct="0"/>
                <a:r>
                  <a:rPr kumimoji="1" lang="en-US" altLang="zh-CN" sz="2400" b="1" i="1">
                    <a:solidFill>
                      <a:srgbClr val="3333CC"/>
                    </a:solidFill>
                    <a:latin typeface="Times New Roman" pitchFamily="18" charset="0"/>
                  </a:rPr>
                  <a:t>b</a:t>
                </a:r>
              </a:p>
            </p:txBody>
          </p:sp>
        </p:grpSp>
        <p:grpSp>
          <p:nvGrpSpPr>
            <p:cNvPr id="23582" name="Group 14"/>
            <p:cNvGrpSpPr>
              <a:grpSpLocks/>
            </p:cNvGrpSpPr>
            <p:nvPr/>
          </p:nvGrpSpPr>
          <p:grpSpPr bwMode="auto">
            <a:xfrm>
              <a:off x="5251" y="1590"/>
              <a:ext cx="297" cy="248"/>
              <a:chOff x="5409" y="2832"/>
              <a:chExt cx="297" cy="248"/>
            </a:xfrm>
          </p:grpSpPr>
          <p:sp>
            <p:nvSpPr>
              <p:cNvPr id="23591" name="Freeform 15"/>
              <p:cNvSpPr>
                <a:spLocks/>
              </p:cNvSpPr>
              <p:nvPr/>
            </p:nvSpPr>
            <p:spPr bwMode="auto">
              <a:xfrm>
                <a:off x="5409" y="2955"/>
                <a:ext cx="76" cy="125"/>
              </a:xfrm>
              <a:custGeom>
                <a:avLst/>
                <a:gdLst>
                  <a:gd name="T0" fmla="*/ 0 w 76"/>
                  <a:gd name="T1" fmla="*/ 0 h 125"/>
                  <a:gd name="T2" fmla="*/ 76 w 76"/>
                  <a:gd name="T3" fmla="*/ 125 h 125"/>
                  <a:gd name="T4" fmla="*/ 0 60000 65536"/>
                  <a:gd name="T5" fmla="*/ 0 60000 65536"/>
                  <a:gd name="T6" fmla="*/ 0 w 76"/>
                  <a:gd name="T7" fmla="*/ 0 h 125"/>
                  <a:gd name="T8" fmla="*/ 76 w 76"/>
                  <a:gd name="T9" fmla="*/ 125 h 125"/>
                </a:gdLst>
                <a:ahLst/>
                <a:cxnLst>
                  <a:cxn ang="T4">
                    <a:pos x="T0" y="T1"/>
                  </a:cxn>
                  <a:cxn ang="T5">
                    <a:pos x="T2" y="T3"/>
                  </a:cxn>
                </a:cxnLst>
                <a:rect l="T6" t="T7" r="T8" b="T9"/>
                <a:pathLst>
                  <a:path w="76" h="125">
                    <a:moveTo>
                      <a:pt x="0" y="0"/>
                    </a:moveTo>
                    <a:cubicBezTo>
                      <a:pt x="65" y="22"/>
                      <a:pt x="76" y="60"/>
                      <a:pt x="76" y="125"/>
                    </a:cubicBezTo>
                  </a:path>
                </a:pathLst>
              </a:custGeom>
              <a:noFill/>
              <a:ln w="28575">
                <a:solidFill>
                  <a:srgbClr val="FF0000"/>
                </a:solidFill>
                <a:round/>
                <a:headEnd/>
                <a:tailEnd/>
              </a:ln>
            </p:spPr>
            <p:txBody>
              <a:bodyPr/>
              <a:lstStyle/>
              <a:p>
                <a:endParaRPr lang="zh-CN" altLang="en-US"/>
              </a:p>
            </p:txBody>
          </p:sp>
          <p:graphicFrame>
            <p:nvGraphicFramePr>
              <p:cNvPr id="23564" name="Object 16"/>
              <p:cNvGraphicFramePr>
                <a:graphicFrameLocks noChangeAspect="1"/>
              </p:cNvGraphicFramePr>
              <p:nvPr/>
            </p:nvGraphicFramePr>
            <p:xfrm>
              <a:off x="5511" y="2832"/>
              <a:ext cx="195" cy="248"/>
            </p:xfrm>
            <a:graphic>
              <a:graphicData uri="http://schemas.openxmlformats.org/presentationml/2006/ole">
                <p:oleObj spid="_x0000_s23564" name="公式" r:id="rId8" imgW="104812" imgH="142830" progId="Equation.3">
                  <p:embed/>
                </p:oleObj>
              </a:graphicData>
            </a:graphic>
          </p:graphicFrame>
        </p:grpSp>
        <p:grpSp>
          <p:nvGrpSpPr>
            <p:cNvPr id="23583" name="Group 17"/>
            <p:cNvGrpSpPr>
              <a:grpSpLocks/>
            </p:cNvGrpSpPr>
            <p:nvPr/>
          </p:nvGrpSpPr>
          <p:grpSpPr bwMode="auto">
            <a:xfrm>
              <a:off x="5122" y="1292"/>
              <a:ext cx="380" cy="528"/>
              <a:chOff x="5280" y="2544"/>
              <a:chExt cx="380" cy="528"/>
            </a:xfrm>
          </p:grpSpPr>
          <p:sp>
            <p:nvSpPr>
              <p:cNvPr id="23590" name="Line 18"/>
              <p:cNvSpPr>
                <a:spLocks noChangeShapeType="1"/>
              </p:cNvSpPr>
              <p:nvPr/>
            </p:nvSpPr>
            <p:spPr bwMode="auto">
              <a:xfrm flipV="1">
                <a:off x="5280" y="2784"/>
                <a:ext cx="288" cy="288"/>
              </a:xfrm>
              <a:prstGeom prst="line">
                <a:avLst/>
              </a:prstGeom>
              <a:noFill/>
              <a:ln w="28575">
                <a:solidFill>
                  <a:srgbClr val="800080"/>
                </a:solidFill>
                <a:round/>
                <a:headEnd/>
                <a:tailEnd type="triangle" w="med" len="med"/>
              </a:ln>
            </p:spPr>
            <p:txBody>
              <a:bodyPr/>
              <a:lstStyle/>
              <a:p>
                <a:endParaRPr lang="zh-CN" altLang="en-US"/>
              </a:p>
            </p:txBody>
          </p:sp>
          <p:graphicFrame>
            <p:nvGraphicFramePr>
              <p:cNvPr id="23563" name="Object 19"/>
              <p:cNvGraphicFramePr>
                <a:graphicFrameLocks noChangeAspect="1"/>
              </p:cNvGraphicFramePr>
              <p:nvPr/>
            </p:nvGraphicFramePr>
            <p:xfrm>
              <a:off x="5472" y="2544"/>
              <a:ext cx="188" cy="244"/>
            </p:xfrm>
            <a:graphic>
              <a:graphicData uri="http://schemas.openxmlformats.org/presentationml/2006/ole">
                <p:oleObj spid="_x0000_s23563" name="Equation" r:id="rId9" imgW="85632" imgH="123930" progId="Equation.3">
                  <p:embed/>
                </p:oleObj>
              </a:graphicData>
            </a:graphic>
          </p:graphicFrame>
        </p:grpSp>
        <p:grpSp>
          <p:nvGrpSpPr>
            <p:cNvPr id="23584" name="Group 20"/>
            <p:cNvGrpSpPr>
              <a:grpSpLocks/>
            </p:cNvGrpSpPr>
            <p:nvPr/>
          </p:nvGrpSpPr>
          <p:grpSpPr bwMode="auto">
            <a:xfrm>
              <a:off x="3504" y="1820"/>
              <a:ext cx="1632" cy="1056"/>
              <a:chOff x="3648" y="3072"/>
              <a:chExt cx="1632" cy="1056"/>
            </a:xfrm>
          </p:grpSpPr>
          <p:sp>
            <p:nvSpPr>
              <p:cNvPr id="23586" name="Line 21"/>
              <p:cNvSpPr>
                <a:spLocks noChangeShapeType="1"/>
              </p:cNvSpPr>
              <p:nvPr/>
            </p:nvSpPr>
            <p:spPr bwMode="auto">
              <a:xfrm flipH="1">
                <a:off x="3648" y="3072"/>
                <a:ext cx="0" cy="1056"/>
              </a:xfrm>
              <a:prstGeom prst="line">
                <a:avLst/>
              </a:prstGeom>
              <a:noFill/>
              <a:ln w="28575">
                <a:solidFill>
                  <a:schemeClr val="tx1"/>
                </a:solidFill>
                <a:prstDash val="dash"/>
                <a:round/>
                <a:headEnd/>
                <a:tailEnd/>
              </a:ln>
            </p:spPr>
            <p:txBody>
              <a:bodyPr/>
              <a:lstStyle/>
              <a:p>
                <a:endParaRPr lang="zh-CN" altLang="en-US"/>
              </a:p>
            </p:txBody>
          </p:sp>
          <p:sp>
            <p:nvSpPr>
              <p:cNvPr id="23587" name="Line 22"/>
              <p:cNvSpPr>
                <a:spLocks noChangeShapeType="1"/>
              </p:cNvSpPr>
              <p:nvPr/>
            </p:nvSpPr>
            <p:spPr bwMode="auto">
              <a:xfrm>
                <a:off x="5280" y="3072"/>
                <a:ext cx="0" cy="1056"/>
              </a:xfrm>
              <a:prstGeom prst="line">
                <a:avLst/>
              </a:prstGeom>
              <a:noFill/>
              <a:ln w="28575">
                <a:solidFill>
                  <a:schemeClr val="tx1"/>
                </a:solidFill>
                <a:prstDash val="dash"/>
                <a:round/>
                <a:headEnd/>
                <a:tailEnd/>
              </a:ln>
            </p:spPr>
            <p:txBody>
              <a:bodyPr/>
              <a:lstStyle/>
              <a:p>
                <a:endParaRPr lang="zh-CN" altLang="en-US"/>
              </a:p>
            </p:txBody>
          </p:sp>
          <p:sp>
            <p:nvSpPr>
              <p:cNvPr id="23588" name="Line 23"/>
              <p:cNvSpPr>
                <a:spLocks noChangeShapeType="1"/>
              </p:cNvSpPr>
              <p:nvPr/>
            </p:nvSpPr>
            <p:spPr bwMode="auto">
              <a:xfrm>
                <a:off x="3648" y="3936"/>
                <a:ext cx="1632" cy="0"/>
              </a:xfrm>
              <a:prstGeom prst="line">
                <a:avLst/>
              </a:prstGeom>
              <a:noFill/>
              <a:ln w="28575">
                <a:solidFill>
                  <a:schemeClr val="tx1"/>
                </a:solidFill>
                <a:round/>
                <a:headEnd type="triangle" w="med" len="med"/>
                <a:tailEnd type="triangle" w="med" len="med"/>
              </a:ln>
            </p:spPr>
            <p:txBody>
              <a:bodyPr/>
              <a:lstStyle/>
              <a:p>
                <a:endParaRPr lang="zh-CN" altLang="en-US"/>
              </a:p>
            </p:txBody>
          </p:sp>
          <p:sp>
            <p:nvSpPr>
              <p:cNvPr id="23589" name="Text Box 24"/>
              <p:cNvSpPr txBox="1">
                <a:spLocks noChangeArrowheads="1"/>
              </p:cNvSpPr>
              <p:nvPr/>
            </p:nvSpPr>
            <p:spPr bwMode="auto">
              <a:xfrm>
                <a:off x="4320" y="3648"/>
                <a:ext cx="212" cy="288"/>
              </a:xfrm>
              <a:prstGeom prst="rect">
                <a:avLst/>
              </a:prstGeom>
              <a:noFill/>
              <a:ln w="9525">
                <a:noFill/>
                <a:miter lim="800000"/>
                <a:headEnd/>
                <a:tailEnd/>
              </a:ln>
            </p:spPr>
            <p:txBody>
              <a:bodyPr wrap="none">
                <a:spAutoFit/>
              </a:bodyPr>
              <a:lstStyle/>
              <a:p>
                <a:pPr algn="l" defTabSz="762000" eaLnBrk="0" hangingPunct="0"/>
                <a:r>
                  <a:rPr kumimoji="1" lang="en-US" altLang="zh-CN" sz="2400" b="1" i="1">
                    <a:latin typeface="Times New Roman" pitchFamily="18" charset="0"/>
                  </a:rPr>
                  <a:t>d</a:t>
                </a:r>
              </a:p>
            </p:txBody>
          </p:sp>
        </p:grpSp>
        <p:sp>
          <p:nvSpPr>
            <p:cNvPr id="23585" name="Arc 39"/>
            <p:cNvSpPr>
              <a:spLocks/>
            </p:cNvSpPr>
            <p:nvPr/>
          </p:nvSpPr>
          <p:spPr bwMode="auto">
            <a:xfrm flipH="1">
              <a:off x="3163" y="1139"/>
              <a:ext cx="192" cy="44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rgbClr val="FF0000"/>
              </a:solidFill>
              <a:round/>
              <a:headEnd/>
              <a:tailEnd type="triangle" w="med" len="med"/>
            </a:ln>
          </p:spPr>
          <p:txBody>
            <a:bodyPr wrap="none" anchor="ctr"/>
            <a:lstStyle/>
            <a:p>
              <a:endParaRPr lang="zh-CN" altLang="en-US"/>
            </a:p>
          </p:txBody>
        </p:sp>
        <p:graphicFrame>
          <p:nvGraphicFramePr>
            <p:cNvPr id="23562" name="Object 40"/>
            <p:cNvGraphicFramePr>
              <a:graphicFrameLocks noChangeAspect="1"/>
            </p:cNvGraphicFramePr>
            <p:nvPr/>
          </p:nvGraphicFramePr>
          <p:xfrm>
            <a:off x="3022" y="1196"/>
            <a:ext cx="145" cy="188"/>
          </p:xfrm>
          <a:graphic>
            <a:graphicData uri="http://schemas.openxmlformats.org/presentationml/2006/ole">
              <p:oleObj spid="_x0000_s23562" name="公式" r:id="rId10" imgW="85632" imgH="123930" progId="Equation.3">
                <p:embed/>
              </p:oleObj>
            </a:graphicData>
          </a:graphic>
        </p:graphicFrame>
      </p:grpSp>
      <p:grpSp>
        <p:nvGrpSpPr>
          <p:cNvPr id="8" name="Group 45"/>
          <p:cNvGrpSpPr>
            <a:grpSpLocks/>
          </p:cNvGrpSpPr>
          <p:nvPr/>
        </p:nvGrpSpPr>
        <p:grpSpPr bwMode="auto">
          <a:xfrm>
            <a:off x="690563" y="419100"/>
            <a:ext cx="8364537" cy="1098550"/>
            <a:chOff x="435" y="264"/>
            <a:chExt cx="5269" cy="692"/>
          </a:xfrm>
        </p:grpSpPr>
        <p:graphicFrame>
          <p:nvGraphicFramePr>
            <p:cNvPr id="23559" name="Object 4"/>
            <p:cNvGraphicFramePr>
              <a:graphicFrameLocks noChangeAspect="1"/>
            </p:cNvGraphicFramePr>
            <p:nvPr/>
          </p:nvGraphicFramePr>
          <p:xfrm>
            <a:off x="5006" y="700"/>
            <a:ext cx="159" cy="202"/>
          </p:xfrm>
          <a:graphic>
            <a:graphicData uri="http://schemas.openxmlformats.org/presentationml/2006/ole">
              <p:oleObj spid="_x0000_s23559" name="公式" r:id="rId11" imgW="104812" imgH="142830" progId="Equation.3">
                <p:embed/>
              </p:oleObj>
            </a:graphicData>
          </a:graphic>
        </p:graphicFrame>
        <p:graphicFrame>
          <p:nvGraphicFramePr>
            <p:cNvPr id="23560" name="Object 2"/>
            <p:cNvGraphicFramePr>
              <a:graphicFrameLocks noChangeAspect="1"/>
            </p:cNvGraphicFramePr>
            <p:nvPr/>
          </p:nvGraphicFramePr>
          <p:xfrm>
            <a:off x="1089" y="668"/>
            <a:ext cx="260" cy="245"/>
          </p:xfrm>
          <a:graphic>
            <a:graphicData uri="http://schemas.openxmlformats.org/presentationml/2006/ole">
              <p:oleObj spid="_x0000_s23560" name="公式" r:id="rId12" imgW="190444" imgH="180900" progId="Equation.3">
                <p:embed/>
              </p:oleObj>
            </a:graphicData>
          </a:graphic>
        </p:graphicFrame>
        <p:graphicFrame>
          <p:nvGraphicFramePr>
            <p:cNvPr id="23561" name="Object 3"/>
            <p:cNvGraphicFramePr>
              <a:graphicFrameLocks noChangeAspect="1"/>
            </p:cNvGraphicFramePr>
            <p:nvPr/>
          </p:nvGraphicFramePr>
          <p:xfrm>
            <a:off x="2202" y="671"/>
            <a:ext cx="621" cy="231"/>
          </p:xfrm>
          <a:graphic>
            <a:graphicData uri="http://schemas.openxmlformats.org/presentationml/2006/ole">
              <p:oleObj spid="_x0000_s23561" name="公式" r:id="rId13" imgW="504878" imgH="162000" progId="Equation.3">
                <p:embed/>
              </p:oleObj>
            </a:graphicData>
          </a:graphic>
        </p:graphicFrame>
        <p:sp>
          <p:nvSpPr>
            <p:cNvPr id="23573" name="Rectangle 32"/>
            <p:cNvSpPr>
              <a:spLocks noChangeArrowheads="1"/>
            </p:cNvSpPr>
            <p:nvPr/>
          </p:nvSpPr>
          <p:spPr bwMode="auto">
            <a:xfrm>
              <a:off x="435" y="264"/>
              <a:ext cx="5269" cy="392"/>
            </a:xfrm>
            <a:prstGeom prst="rect">
              <a:avLst/>
            </a:prstGeom>
            <a:noFill/>
            <a:ln w="9525" algn="ctr">
              <a:noFill/>
              <a:miter lim="800000"/>
              <a:headEnd/>
              <a:tailEnd/>
            </a:ln>
          </p:spPr>
          <p:txBody>
            <a:bodyPr wrap="none" tIns="82800" bIns="82800">
              <a:spAutoFit/>
            </a:bodyPr>
            <a:lstStyle/>
            <a:p>
              <a:pPr algn="just" eaLnBrk="0" hangingPunct="0">
                <a:lnSpc>
                  <a:spcPct val="125000"/>
                </a:lnSpc>
              </a:pPr>
              <a:r>
                <a:rPr kumimoji="1" lang="zh-CN" altLang="en-US" sz="2400" b="1">
                  <a:latin typeface="Times New Roman" pitchFamily="18" charset="0"/>
                </a:rPr>
                <a:t>在半径为 </a:t>
              </a:r>
              <a:r>
                <a:rPr kumimoji="1" lang="en-US" altLang="zh-CN" sz="2400" b="1" i="1">
                  <a:solidFill>
                    <a:srgbClr val="FF6600"/>
                  </a:solidFill>
                  <a:latin typeface="Times New Roman" pitchFamily="18" charset="0"/>
                </a:rPr>
                <a:t>a</a:t>
              </a:r>
              <a:r>
                <a:rPr kumimoji="1" lang="en-US" altLang="zh-CN" sz="2400" b="1" i="1">
                  <a:solidFill>
                    <a:srgbClr val="66FFFF"/>
                  </a:solidFill>
                  <a:latin typeface="Times New Roman" pitchFamily="18" charset="0"/>
                </a:rPr>
                <a:t> </a:t>
              </a:r>
              <a:r>
                <a:rPr kumimoji="1" lang="zh-CN" altLang="en-US" sz="2400" b="1">
                  <a:latin typeface="Times New Roman" pitchFamily="18" charset="0"/>
                </a:rPr>
                <a:t>的</a:t>
              </a:r>
              <a:r>
                <a:rPr kumimoji="1" lang="zh-CN" altLang="en-US" sz="2400" b="1">
                  <a:solidFill>
                    <a:schemeClr val="bg1"/>
                  </a:solidFill>
                  <a:latin typeface="Times New Roman" pitchFamily="18" charset="0"/>
                </a:rPr>
                <a:t> </a:t>
              </a:r>
              <a:r>
                <a:rPr kumimoji="1" lang="en-US" altLang="zh-CN" sz="2400" b="1" i="1">
                  <a:solidFill>
                    <a:srgbClr val="FF6600"/>
                  </a:solidFill>
                  <a:latin typeface="Times New Roman" pitchFamily="18" charset="0"/>
                </a:rPr>
                <a:t>N</a:t>
              </a:r>
              <a:r>
                <a:rPr kumimoji="1" lang="en-US" altLang="zh-CN" sz="2400" b="1" i="1">
                  <a:solidFill>
                    <a:srgbClr val="66FFFF"/>
                  </a:solidFill>
                  <a:latin typeface="Times New Roman" pitchFamily="18" charset="0"/>
                </a:rPr>
                <a:t>  </a:t>
              </a:r>
              <a:r>
                <a:rPr kumimoji="1" lang="zh-CN" altLang="en-US" sz="2400" b="1">
                  <a:latin typeface="Times New Roman" pitchFamily="18" charset="0"/>
                </a:rPr>
                <a:t>匝载流线圈的轴线上 </a:t>
              </a:r>
              <a:r>
                <a:rPr kumimoji="1" lang="en-US" altLang="zh-CN" sz="2400" b="1" i="1">
                  <a:solidFill>
                    <a:srgbClr val="FF6600"/>
                  </a:solidFill>
                  <a:latin typeface="Times New Roman" pitchFamily="18" charset="0"/>
                </a:rPr>
                <a:t>d  </a:t>
              </a:r>
              <a:r>
                <a:rPr kumimoji="1" lang="zh-CN" altLang="en-US" sz="2400" b="1">
                  <a:latin typeface="Times New Roman" pitchFamily="18" charset="0"/>
                </a:rPr>
                <a:t>处，有一半径为 </a:t>
              </a:r>
              <a:r>
                <a:rPr kumimoji="1" lang="en-US" altLang="zh-CN" sz="2400" b="1" i="1">
                  <a:solidFill>
                    <a:srgbClr val="FF6600"/>
                  </a:solidFill>
                  <a:latin typeface="Times New Roman" pitchFamily="18" charset="0"/>
                </a:rPr>
                <a:t>b</a:t>
              </a:r>
              <a:r>
                <a:rPr kumimoji="1" lang="en-US" altLang="zh-CN" sz="2400" b="1">
                  <a:latin typeface="Times New Roman" pitchFamily="18" charset="0"/>
                </a:rPr>
                <a:t> </a:t>
              </a:r>
              <a:r>
                <a:rPr kumimoji="1" lang="zh-CN" altLang="en-US" sz="2400" b="1">
                  <a:latin typeface="Times New Roman" pitchFamily="18" charset="0"/>
                </a:rPr>
                <a:t>、</a:t>
              </a:r>
            </a:p>
          </p:txBody>
        </p:sp>
        <p:sp>
          <p:nvSpPr>
            <p:cNvPr id="23574" name="Rectangle 33"/>
            <p:cNvSpPr>
              <a:spLocks noChangeArrowheads="1"/>
            </p:cNvSpPr>
            <p:nvPr/>
          </p:nvSpPr>
          <p:spPr bwMode="auto">
            <a:xfrm>
              <a:off x="1292" y="608"/>
              <a:ext cx="1171" cy="334"/>
            </a:xfrm>
            <a:prstGeom prst="rect">
              <a:avLst/>
            </a:prstGeom>
            <a:noFill/>
            <a:ln w="9525" algn="ctr">
              <a:noFill/>
              <a:miter lim="800000"/>
              <a:headEnd/>
              <a:tailEnd/>
            </a:ln>
          </p:spPr>
          <p:txBody>
            <a:bodyPr tIns="82800" bIns="82800">
              <a:spAutoFit/>
            </a:bodyPr>
            <a:lstStyle/>
            <a:p>
              <a:pPr algn="just" eaLnBrk="0" hangingPunct="0"/>
              <a:r>
                <a:rPr kumimoji="1" lang="zh-CN" altLang="en-US" sz="2400" b="1">
                  <a:latin typeface="Times New Roman" pitchFamily="18" charset="0"/>
                </a:rPr>
                <a:t>的圆线圈</a:t>
              </a:r>
            </a:p>
          </p:txBody>
        </p:sp>
        <p:sp>
          <p:nvSpPr>
            <p:cNvPr id="23575" name="Rectangle 34"/>
            <p:cNvSpPr>
              <a:spLocks noChangeArrowheads="1"/>
            </p:cNvSpPr>
            <p:nvPr/>
          </p:nvSpPr>
          <p:spPr bwMode="auto">
            <a:xfrm>
              <a:off x="2796" y="622"/>
              <a:ext cx="2777" cy="334"/>
            </a:xfrm>
            <a:prstGeom prst="rect">
              <a:avLst/>
            </a:prstGeom>
            <a:noFill/>
            <a:ln w="9525" algn="ctr">
              <a:noFill/>
              <a:miter lim="800000"/>
              <a:headEnd/>
              <a:tailEnd/>
            </a:ln>
          </p:spPr>
          <p:txBody>
            <a:bodyPr tIns="82800" bIns="82800">
              <a:spAutoFit/>
            </a:bodyPr>
            <a:lstStyle/>
            <a:p>
              <a:pPr algn="just" eaLnBrk="0" hangingPunct="0"/>
              <a:r>
                <a:rPr kumimoji="1" lang="zh-CN" altLang="en-US" sz="2400" b="1">
                  <a:latin typeface="Times New Roman" pitchFamily="18" charset="0"/>
                </a:rPr>
                <a:t>，且两线圈法线间夹角为</a:t>
              </a:r>
            </a:p>
          </p:txBody>
        </p:sp>
        <p:sp>
          <p:nvSpPr>
            <p:cNvPr id="23576" name="Rectangle 41"/>
            <p:cNvSpPr>
              <a:spLocks noChangeArrowheads="1"/>
            </p:cNvSpPr>
            <p:nvPr/>
          </p:nvSpPr>
          <p:spPr bwMode="auto">
            <a:xfrm>
              <a:off x="444" y="608"/>
              <a:ext cx="695" cy="334"/>
            </a:xfrm>
            <a:prstGeom prst="rect">
              <a:avLst/>
            </a:prstGeom>
            <a:noFill/>
            <a:ln w="9525" algn="ctr">
              <a:noFill/>
              <a:miter lim="800000"/>
              <a:headEnd/>
              <a:tailEnd/>
            </a:ln>
          </p:spPr>
          <p:txBody>
            <a:bodyPr wrap="none" tIns="82800" bIns="82800">
              <a:spAutoFit/>
            </a:bodyPr>
            <a:lstStyle/>
            <a:p>
              <a:pPr algn="just" eaLnBrk="0" hangingPunct="0"/>
              <a:r>
                <a:rPr kumimoji="1" lang="zh-CN" altLang="en-US" sz="2400" b="1">
                  <a:latin typeface="Times New Roman" pitchFamily="18" charset="0"/>
                </a:rPr>
                <a:t>匝数为</a:t>
              </a:r>
            </a:p>
          </p:txBody>
        </p:sp>
      </p:grpSp>
      <p:sp>
        <p:nvSpPr>
          <p:cNvPr id="80939" name="AutoShape 43">
            <a:hlinkClick r:id="rId14" action="ppaction://hlinksldjump" highlightClick="1"/>
          </p:cNvPr>
          <p:cNvSpPr>
            <a:spLocks noChangeArrowheads="1"/>
          </p:cNvSpPr>
          <p:nvPr/>
        </p:nvSpPr>
        <p:spPr bwMode="auto">
          <a:xfrm>
            <a:off x="8677275" y="6202363"/>
            <a:ext cx="287338"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0931"/>
                                        </p:tgtEl>
                                        <p:attrNameLst>
                                          <p:attrName>style.visibility</p:attrName>
                                        </p:attrNameLst>
                                      </p:cBhvr>
                                      <p:to>
                                        <p:strVal val="visible"/>
                                      </p:to>
                                    </p:set>
                                    <p:animEffect transition="in" filter="wipe(left)">
                                      <p:cBhvr>
                                        <p:cTn id="7" dur="500"/>
                                        <p:tgtEl>
                                          <p:spTgt spid="8093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0932"/>
                                        </p:tgtEl>
                                        <p:attrNameLst>
                                          <p:attrName>style.visibility</p:attrName>
                                        </p:attrNameLst>
                                      </p:cBhvr>
                                      <p:to>
                                        <p:strVal val="visible"/>
                                      </p:to>
                                    </p:set>
                                    <p:animEffect transition="in" filter="wipe(left)">
                                      <p:cBhvr>
                                        <p:cTn id="21" dur="500"/>
                                        <p:tgtEl>
                                          <p:spTgt spid="80932"/>
                                        </p:tgtEl>
                                      </p:cBhvr>
                                    </p:animEffect>
                                  </p:childTnLst>
                                </p:cTn>
                              </p:par>
                            </p:childTnLst>
                          </p:cTn>
                        </p:par>
                        <p:par>
                          <p:cTn id="22" fill="hold" nodeType="afterGroup">
                            <p:stCondLst>
                              <p:cond delay="500"/>
                            </p:stCondLst>
                            <p:childTnLst>
                              <p:par>
                                <p:cTn id="23" presetID="22" presetClass="entr" presetSubtype="8" fill="hold" grpId="0" nodeType="afterEffect">
                                  <p:stCondLst>
                                    <p:cond delay="0"/>
                                  </p:stCondLst>
                                  <p:childTnLst>
                                    <p:set>
                                      <p:cBhvr>
                                        <p:cTn id="24" dur="1" fill="hold">
                                          <p:stCondLst>
                                            <p:cond delay="0"/>
                                          </p:stCondLst>
                                        </p:cTn>
                                        <p:tgtEl>
                                          <p:spTgt spid="80927"/>
                                        </p:tgtEl>
                                        <p:attrNameLst>
                                          <p:attrName>style.visibility</p:attrName>
                                        </p:attrNameLst>
                                      </p:cBhvr>
                                      <p:to>
                                        <p:strVal val="visible"/>
                                      </p:to>
                                    </p:set>
                                    <p:animEffect transition="in" filter="wipe(left)">
                                      <p:cBhvr>
                                        <p:cTn id="25" dur="500"/>
                                        <p:tgtEl>
                                          <p:spTgt spid="8092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0933"/>
                                        </p:tgtEl>
                                        <p:attrNameLst>
                                          <p:attrName>style.visibility</p:attrName>
                                        </p:attrNameLst>
                                      </p:cBhvr>
                                      <p:to>
                                        <p:strVal val="visible"/>
                                      </p:to>
                                    </p:set>
                                    <p:animEffect transition="in" filter="wipe(left)">
                                      <p:cBhvr>
                                        <p:cTn id="30" dur="500"/>
                                        <p:tgtEl>
                                          <p:spTgt spid="8093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80922"/>
                                        </p:tgtEl>
                                        <p:attrNameLst>
                                          <p:attrName>style.visibility</p:attrName>
                                        </p:attrNameLst>
                                      </p:cBhvr>
                                      <p:to>
                                        <p:strVal val="visible"/>
                                      </p:to>
                                    </p:set>
                                    <p:animEffect transition="in" filter="wipe(left)">
                                      <p:cBhvr>
                                        <p:cTn id="35" dur="500"/>
                                        <p:tgtEl>
                                          <p:spTgt spid="8092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80921"/>
                                        </p:tgtEl>
                                        <p:attrNameLst>
                                          <p:attrName>style.visibility</p:attrName>
                                        </p:attrNameLst>
                                      </p:cBhvr>
                                      <p:to>
                                        <p:strVal val="visible"/>
                                      </p:to>
                                    </p:set>
                                    <p:animEffect transition="in" filter="wipe(left)">
                                      <p:cBhvr>
                                        <p:cTn id="40" dur="500"/>
                                        <p:tgtEl>
                                          <p:spTgt spid="8092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80923"/>
                                        </p:tgtEl>
                                        <p:attrNameLst>
                                          <p:attrName>style.visibility</p:attrName>
                                        </p:attrNameLst>
                                      </p:cBhvr>
                                      <p:to>
                                        <p:strVal val="visible"/>
                                      </p:to>
                                    </p:set>
                                    <p:animEffect transition="in" filter="wipe(left)">
                                      <p:cBhvr>
                                        <p:cTn id="45" dur="500"/>
                                        <p:tgtEl>
                                          <p:spTgt spid="8092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80924"/>
                                        </p:tgtEl>
                                        <p:attrNameLst>
                                          <p:attrName>style.visibility</p:attrName>
                                        </p:attrNameLst>
                                      </p:cBhvr>
                                      <p:to>
                                        <p:strVal val="visible"/>
                                      </p:to>
                                    </p:set>
                                    <p:animEffect transition="in" filter="wipe(left)">
                                      <p:cBhvr>
                                        <p:cTn id="50" dur="500"/>
                                        <p:tgtEl>
                                          <p:spTgt spid="8092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80925"/>
                                        </p:tgtEl>
                                        <p:attrNameLst>
                                          <p:attrName>style.visibility</p:attrName>
                                        </p:attrNameLst>
                                      </p:cBhvr>
                                      <p:to>
                                        <p:strVal val="visible"/>
                                      </p:to>
                                    </p:set>
                                    <p:animEffect transition="in" filter="wipe(left)">
                                      <p:cBhvr>
                                        <p:cTn id="55" dur="500"/>
                                        <p:tgtEl>
                                          <p:spTgt spid="8092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80926"/>
                                        </p:tgtEl>
                                        <p:attrNameLst>
                                          <p:attrName>style.visibility</p:attrName>
                                        </p:attrNameLst>
                                      </p:cBhvr>
                                      <p:to>
                                        <p:strVal val="visible"/>
                                      </p:to>
                                    </p:set>
                                    <p:animEffect transition="in" filter="wipe(left)">
                                      <p:cBhvr>
                                        <p:cTn id="60" dur="500"/>
                                        <p:tgtEl>
                                          <p:spTgt spid="8092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80939"/>
                                        </p:tgtEl>
                                        <p:attrNameLst>
                                          <p:attrName>style.visibility</p:attrName>
                                        </p:attrNameLst>
                                      </p:cBhvr>
                                      <p:to>
                                        <p:strVal val="visible"/>
                                      </p:to>
                                    </p:set>
                                    <p:animEffect transition="in" filter="wipe(left)">
                                      <p:cBhvr>
                                        <p:cTn id="65" dur="500"/>
                                        <p:tgtEl>
                                          <p:spTgt spid="80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21" grpId="0"/>
      <p:bldP spid="80927" grpId="0"/>
      <p:bldP spid="80931" grpId="0"/>
      <p:bldP spid="80932" grpId="0"/>
      <p:bldP spid="80933" grpId="0" autoUpdateAnimBg="0"/>
      <p:bldP spid="8093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Text Box 4">
            <a:hlinkClick r:id="rId3"/>
          </p:cNvPr>
          <p:cNvSpPr txBox="1">
            <a:spLocks noChangeArrowheads="1"/>
          </p:cNvSpPr>
          <p:nvPr/>
        </p:nvSpPr>
        <p:spPr bwMode="auto">
          <a:xfrm>
            <a:off x="2268538" y="376238"/>
            <a:ext cx="4032250" cy="609600"/>
          </a:xfrm>
          <a:prstGeom prst="rect">
            <a:avLst/>
          </a:prstGeom>
          <a:noFill/>
          <a:ln w="9525">
            <a:noFill/>
            <a:miter lim="800000"/>
            <a:headEnd/>
            <a:tailEnd/>
          </a:ln>
        </p:spPr>
        <p:txBody>
          <a:bodyPr>
            <a:spAutoFit/>
          </a:bodyPr>
          <a:lstStyle/>
          <a:p>
            <a:pPr algn="l">
              <a:lnSpc>
                <a:spcPct val="120000"/>
              </a:lnSpc>
            </a:pPr>
            <a:r>
              <a:rPr lang="en-US" altLang="zh-CN" sz="2800" b="1">
                <a:solidFill>
                  <a:schemeClr val="accent2"/>
                </a:solidFill>
                <a:latin typeface="Times New Roman" pitchFamily="18" charset="0"/>
              </a:rPr>
              <a:t>§11.4    </a:t>
            </a:r>
            <a:r>
              <a:rPr lang="zh-CN" altLang="en-US" sz="2800" b="1">
                <a:solidFill>
                  <a:schemeClr val="accent2"/>
                </a:solidFill>
                <a:latin typeface="黑体" pitchFamily="49" charset="-122"/>
                <a:ea typeface="黑体" pitchFamily="49" charset="-122"/>
              </a:rPr>
              <a:t>磁场的能量</a:t>
            </a:r>
          </a:p>
        </p:txBody>
      </p:sp>
      <p:sp>
        <p:nvSpPr>
          <p:cNvPr id="7173" name="Rectangle 5"/>
          <p:cNvSpPr>
            <a:spLocks noChangeArrowheads="1"/>
          </p:cNvSpPr>
          <p:nvPr/>
        </p:nvSpPr>
        <p:spPr bwMode="auto">
          <a:xfrm>
            <a:off x="107950" y="2133600"/>
            <a:ext cx="3384550" cy="5302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00FF"/>
                </a:solidFill>
                <a:latin typeface="Times New Roman" pitchFamily="18" charset="0"/>
              </a:rPr>
              <a:t>11.4.1   </a:t>
            </a:r>
            <a:r>
              <a:rPr kumimoji="1" lang="zh-CN" altLang="en-US" sz="2400" b="1">
                <a:solidFill>
                  <a:srgbClr val="0000FF"/>
                </a:solidFill>
                <a:latin typeface="Times New Roman" pitchFamily="18" charset="0"/>
              </a:rPr>
              <a:t>自感磁能</a:t>
            </a:r>
          </a:p>
        </p:txBody>
      </p:sp>
      <p:sp>
        <p:nvSpPr>
          <p:cNvPr id="7177" name="Text Box 9"/>
          <p:cNvSpPr txBox="1">
            <a:spLocks noChangeArrowheads="1"/>
          </p:cNvSpPr>
          <p:nvPr/>
        </p:nvSpPr>
        <p:spPr bwMode="auto">
          <a:xfrm>
            <a:off x="179388" y="2665413"/>
            <a:ext cx="2089150" cy="530225"/>
          </a:xfrm>
          <a:prstGeom prst="rect">
            <a:avLst/>
          </a:prstGeom>
          <a:noFill/>
          <a:ln w="9525">
            <a:noFill/>
            <a:miter lim="800000"/>
            <a:headEnd/>
            <a:tailEnd/>
          </a:ln>
        </p:spPr>
        <p:txBody>
          <a:bodyPr>
            <a:spAutoFit/>
          </a:bodyPr>
          <a:lstStyle/>
          <a:p>
            <a:pPr algn="l">
              <a:lnSpc>
                <a:spcPct val="120000"/>
              </a:lnSpc>
              <a:buClr>
                <a:srgbClr val="006600"/>
              </a:buClr>
              <a:buFont typeface="Wingdings" pitchFamily="2" charset="2"/>
              <a:buNone/>
            </a:pPr>
            <a:r>
              <a:rPr kumimoji="1" lang="zh-CN" altLang="en-US" sz="2400" b="1">
                <a:solidFill>
                  <a:srgbClr val="FF0000"/>
                </a:solidFill>
                <a:latin typeface="楷体_GB2312" pitchFamily="49" charset="-122"/>
                <a:ea typeface="楷体_GB2312" pitchFamily="49" charset="-122"/>
              </a:rPr>
              <a:t>实验分析</a:t>
            </a:r>
            <a:r>
              <a:rPr kumimoji="1" lang="zh-CN" altLang="en-US" sz="2400" b="1">
                <a:solidFill>
                  <a:srgbClr val="FF0000"/>
                </a:solidFill>
                <a:latin typeface="楷体_GB2312" pitchFamily="49" charset="-122"/>
                <a:ea typeface="楷体_GB2312" pitchFamily="49" charset="-122"/>
                <a:cs typeface="Times New Roman" pitchFamily="18" charset="0"/>
              </a:rPr>
              <a:t>  </a:t>
            </a:r>
            <a:endParaRPr kumimoji="1" lang="zh-CN" altLang="en-US" sz="2400" b="1">
              <a:solidFill>
                <a:srgbClr val="FF0000"/>
              </a:solidFill>
              <a:latin typeface="楷体_GB2312" pitchFamily="49" charset="-122"/>
              <a:ea typeface="楷体_GB2312" pitchFamily="49" charset="-122"/>
            </a:endParaRPr>
          </a:p>
        </p:txBody>
      </p:sp>
      <p:sp>
        <p:nvSpPr>
          <p:cNvPr id="7178" name="Text Box 10"/>
          <p:cNvSpPr txBox="1">
            <a:spLocks noChangeArrowheads="1"/>
          </p:cNvSpPr>
          <p:nvPr/>
        </p:nvSpPr>
        <p:spPr bwMode="auto">
          <a:xfrm>
            <a:off x="1819275" y="2719388"/>
            <a:ext cx="2160588" cy="493712"/>
          </a:xfrm>
          <a:prstGeom prst="rect">
            <a:avLst/>
          </a:prstGeom>
          <a:noFill/>
          <a:ln w="9525">
            <a:noFill/>
            <a:miter lim="800000"/>
            <a:headEnd/>
            <a:tailEnd/>
          </a:ln>
        </p:spPr>
        <p:txBody>
          <a:bodyPr>
            <a:spAutoFit/>
          </a:bodyPr>
          <a:lstStyle/>
          <a:p>
            <a:pPr algn="l">
              <a:lnSpc>
                <a:spcPct val="120000"/>
              </a:lnSpc>
            </a:pPr>
            <a:r>
              <a:rPr kumimoji="1" lang="zh-CN" altLang="en-US" sz="2200" b="1">
                <a:latin typeface="Times New Roman" pitchFamily="18" charset="0"/>
                <a:ea typeface="楷体_GB2312" pitchFamily="49" charset="-122"/>
              </a:rPr>
              <a:t>当 </a:t>
            </a:r>
            <a:r>
              <a:rPr kumimoji="1" lang="en-US" altLang="zh-CN" sz="2200" b="1" i="1">
                <a:solidFill>
                  <a:srgbClr val="FF6600"/>
                </a:solidFill>
                <a:latin typeface="Times New Roman" pitchFamily="18" charset="0"/>
                <a:ea typeface="楷体_GB2312" pitchFamily="49" charset="-122"/>
              </a:rPr>
              <a:t>K</a:t>
            </a:r>
            <a:r>
              <a:rPr kumimoji="1" lang="en-US" altLang="zh-CN" sz="2200" b="1" baseline="-25000">
                <a:solidFill>
                  <a:srgbClr val="FF6600"/>
                </a:solidFill>
                <a:latin typeface="Times New Roman" pitchFamily="18" charset="0"/>
                <a:ea typeface="楷体_GB2312" pitchFamily="49" charset="-122"/>
              </a:rPr>
              <a:t>1</a:t>
            </a:r>
            <a:r>
              <a:rPr kumimoji="1" lang="en-US" altLang="zh-CN" sz="2200" b="1" baseline="-25000">
                <a:latin typeface="Times New Roman" pitchFamily="18" charset="0"/>
                <a:ea typeface="楷体_GB2312" pitchFamily="49" charset="-122"/>
              </a:rPr>
              <a:t> </a:t>
            </a:r>
            <a:r>
              <a:rPr kumimoji="1" lang="zh-CN" altLang="en-US" sz="2200" b="1">
                <a:latin typeface="Times New Roman" pitchFamily="18" charset="0"/>
                <a:ea typeface="楷体_GB2312" pitchFamily="49" charset="-122"/>
              </a:rPr>
              <a:t>接通时</a:t>
            </a:r>
            <a:r>
              <a:rPr kumimoji="1" lang="en-US" altLang="zh-CN" sz="2200" b="1">
                <a:latin typeface="Times New Roman" pitchFamily="18" charset="0"/>
                <a:ea typeface="楷体_GB2312" pitchFamily="49" charset="-122"/>
              </a:rPr>
              <a:t>:</a:t>
            </a:r>
          </a:p>
        </p:txBody>
      </p:sp>
      <p:graphicFrame>
        <p:nvGraphicFramePr>
          <p:cNvPr id="7179" name="Object 11"/>
          <p:cNvGraphicFramePr>
            <a:graphicFrameLocks/>
          </p:cNvGraphicFramePr>
          <p:nvPr/>
        </p:nvGraphicFramePr>
        <p:xfrm>
          <a:off x="3708400" y="2770188"/>
          <a:ext cx="1258888" cy="388937"/>
        </p:xfrm>
        <a:graphic>
          <a:graphicData uri="http://schemas.openxmlformats.org/presentationml/2006/ole">
            <p:oleObj spid="_x0000_s24578" name="公式" r:id="rId4" imgW="657233" imgH="180900" progId="Equation.3">
              <p:embed/>
            </p:oleObj>
          </a:graphicData>
        </a:graphic>
      </p:graphicFrame>
      <p:graphicFrame>
        <p:nvGraphicFramePr>
          <p:cNvPr id="7180" name="Object 12"/>
          <p:cNvGraphicFramePr>
            <a:graphicFrameLocks noChangeAspect="1"/>
          </p:cNvGraphicFramePr>
          <p:nvPr/>
        </p:nvGraphicFramePr>
        <p:xfrm>
          <a:off x="971550" y="3192463"/>
          <a:ext cx="1323975" cy="727075"/>
        </p:xfrm>
        <a:graphic>
          <a:graphicData uri="http://schemas.openxmlformats.org/presentationml/2006/ole">
            <p:oleObj spid="_x0000_s24579" name="公式" r:id="rId5" imgW="800134" imgH="371520" progId="Equation.3">
              <p:embed/>
            </p:oleObj>
          </a:graphicData>
        </a:graphic>
      </p:graphicFrame>
      <p:graphicFrame>
        <p:nvGraphicFramePr>
          <p:cNvPr id="7181" name="Object 13"/>
          <p:cNvGraphicFramePr>
            <a:graphicFrameLocks/>
          </p:cNvGraphicFramePr>
          <p:nvPr/>
        </p:nvGraphicFramePr>
        <p:xfrm>
          <a:off x="1187450" y="3914775"/>
          <a:ext cx="3059113" cy="593725"/>
        </p:xfrm>
        <a:graphic>
          <a:graphicData uri="http://schemas.openxmlformats.org/presentationml/2006/ole">
            <p:oleObj spid="_x0000_s24580" name="公式" r:id="rId6" imgW="1666990" imgH="295380" progId="Equation.3">
              <p:embed/>
            </p:oleObj>
          </a:graphicData>
        </a:graphic>
      </p:graphicFrame>
      <p:sp>
        <p:nvSpPr>
          <p:cNvPr id="7192" name="AutoShape 24"/>
          <p:cNvSpPr>
            <a:spLocks noChangeArrowheads="1"/>
          </p:cNvSpPr>
          <p:nvPr/>
        </p:nvSpPr>
        <p:spPr bwMode="auto">
          <a:xfrm>
            <a:off x="238125" y="4795838"/>
            <a:ext cx="1238250" cy="865187"/>
          </a:xfrm>
          <a:prstGeom prst="wedgeRectCallout">
            <a:avLst>
              <a:gd name="adj1" fmla="val 59745"/>
              <a:gd name="adj2" fmla="val -98074"/>
            </a:avLst>
          </a:prstGeom>
          <a:solidFill>
            <a:srgbClr val="99CCFF"/>
          </a:solidFill>
          <a:ln w="9525">
            <a:solidFill>
              <a:srgbClr val="00CCFF"/>
            </a:solidFill>
            <a:miter lim="800000"/>
            <a:headEnd/>
            <a:tailEnd/>
          </a:ln>
        </p:spPr>
        <p:txBody>
          <a:bodyPr/>
          <a:lstStyle/>
          <a:p>
            <a:pPr>
              <a:lnSpc>
                <a:spcPct val="120000"/>
              </a:lnSpc>
            </a:pPr>
            <a:r>
              <a:rPr lang="zh-CN" altLang="en-US" sz="2000" b="1">
                <a:solidFill>
                  <a:srgbClr val="FF0000"/>
                </a:solidFill>
                <a:ea typeface="楷体_GB2312" pitchFamily="49" charset="-122"/>
              </a:rPr>
              <a:t>电源作的功</a:t>
            </a:r>
          </a:p>
        </p:txBody>
      </p:sp>
      <p:sp>
        <p:nvSpPr>
          <p:cNvPr id="7193" name="AutoShape 25"/>
          <p:cNvSpPr>
            <a:spLocks noChangeArrowheads="1"/>
          </p:cNvSpPr>
          <p:nvPr/>
        </p:nvSpPr>
        <p:spPr bwMode="auto">
          <a:xfrm>
            <a:off x="1555750" y="4795838"/>
            <a:ext cx="2295525" cy="865187"/>
          </a:xfrm>
          <a:prstGeom prst="wedgeRectCallout">
            <a:avLst>
              <a:gd name="adj1" fmla="val -2421"/>
              <a:gd name="adj2" fmla="val -94769"/>
            </a:avLst>
          </a:prstGeom>
          <a:solidFill>
            <a:srgbClr val="99CCFF"/>
          </a:solidFill>
          <a:ln w="9525">
            <a:solidFill>
              <a:srgbClr val="00CCFF"/>
            </a:solidFill>
            <a:miter lim="800000"/>
            <a:headEnd/>
            <a:tailEnd/>
          </a:ln>
        </p:spPr>
        <p:txBody>
          <a:bodyPr/>
          <a:lstStyle/>
          <a:p>
            <a:pPr>
              <a:lnSpc>
                <a:spcPct val="120000"/>
              </a:lnSpc>
            </a:pPr>
            <a:r>
              <a:rPr lang="zh-CN" altLang="en-US" sz="2000" b="1">
                <a:solidFill>
                  <a:srgbClr val="FF0000"/>
                </a:solidFill>
                <a:ea typeface="楷体_GB2312" pitchFamily="49" charset="-122"/>
              </a:rPr>
              <a:t>自感电动势反抗电流建立作的功</a:t>
            </a:r>
          </a:p>
        </p:txBody>
      </p:sp>
      <p:sp>
        <p:nvSpPr>
          <p:cNvPr id="7194" name="AutoShape 26"/>
          <p:cNvSpPr>
            <a:spLocks noChangeArrowheads="1"/>
          </p:cNvSpPr>
          <p:nvPr/>
        </p:nvSpPr>
        <p:spPr bwMode="auto">
          <a:xfrm>
            <a:off x="3898900" y="4795838"/>
            <a:ext cx="1897063" cy="865187"/>
          </a:xfrm>
          <a:prstGeom prst="wedgeRectCallout">
            <a:avLst>
              <a:gd name="adj1" fmla="val -52426"/>
              <a:gd name="adj2" fmla="val -96787"/>
            </a:avLst>
          </a:prstGeom>
          <a:solidFill>
            <a:srgbClr val="99CCFF"/>
          </a:solidFill>
          <a:ln w="9525">
            <a:solidFill>
              <a:srgbClr val="00CCFF"/>
            </a:solidFill>
            <a:miter lim="800000"/>
            <a:headEnd/>
            <a:tailEnd/>
          </a:ln>
        </p:spPr>
        <p:txBody>
          <a:bodyPr/>
          <a:lstStyle/>
          <a:p>
            <a:pPr>
              <a:lnSpc>
                <a:spcPct val="120000"/>
              </a:lnSpc>
            </a:pPr>
            <a:r>
              <a:rPr lang="zh-CN" altLang="en-US" sz="2000" b="1">
                <a:solidFill>
                  <a:srgbClr val="FF0000"/>
                </a:solidFill>
                <a:ea typeface="楷体_GB2312" pitchFamily="49" charset="-122"/>
              </a:rPr>
              <a:t>电阻消耗的焦耳热</a:t>
            </a:r>
          </a:p>
        </p:txBody>
      </p:sp>
      <p:sp>
        <p:nvSpPr>
          <p:cNvPr id="7195" name="Text Box 27"/>
          <p:cNvSpPr txBox="1">
            <a:spLocks noChangeArrowheads="1"/>
          </p:cNvSpPr>
          <p:nvPr/>
        </p:nvSpPr>
        <p:spPr bwMode="auto">
          <a:xfrm>
            <a:off x="179388" y="5629275"/>
            <a:ext cx="5832475" cy="979488"/>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电源克服 </a:t>
            </a:r>
            <a:r>
              <a:rPr kumimoji="1" lang="en-US" altLang="zh-CN" sz="2400" b="1" i="1">
                <a:solidFill>
                  <a:srgbClr val="FF0000"/>
                </a:solidFill>
                <a:latin typeface="Times New Roman" pitchFamily="18" charset="0"/>
                <a:ea typeface="楷体_GB2312" pitchFamily="49" charset="-122"/>
              </a:rPr>
              <a:t>L </a:t>
            </a:r>
            <a:r>
              <a:rPr kumimoji="1" lang="zh-CN" altLang="en-US" sz="2400" b="1">
                <a:latin typeface="Times New Roman" pitchFamily="18" charset="0"/>
                <a:ea typeface="楷体_GB2312" pitchFamily="49" charset="-122"/>
              </a:rPr>
              <a:t>的自感电动势所付出的电能，则转变为磁场能储存在螺绕环内的磁场中</a:t>
            </a:r>
            <a:r>
              <a:rPr kumimoji="1" lang="zh-CN" altLang="en-US" sz="2400">
                <a:latin typeface="Times New Roman" pitchFamily="18" charset="0"/>
                <a:ea typeface="楷体_GB2312" pitchFamily="49" charset="-122"/>
              </a:rPr>
              <a:t> </a:t>
            </a:r>
          </a:p>
        </p:txBody>
      </p:sp>
      <p:grpSp>
        <p:nvGrpSpPr>
          <p:cNvPr id="2" name="Group 31"/>
          <p:cNvGrpSpPr>
            <a:grpSpLocks/>
          </p:cNvGrpSpPr>
          <p:nvPr/>
        </p:nvGrpSpPr>
        <p:grpSpPr bwMode="auto">
          <a:xfrm>
            <a:off x="5795963" y="2205038"/>
            <a:ext cx="2879725" cy="2154237"/>
            <a:chOff x="3334" y="2115"/>
            <a:chExt cx="1814" cy="1357"/>
          </a:xfrm>
        </p:grpSpPr>
        <p:grpSp>
          <p:nvGrpSpPr>
            <p:cNvPr id="24617" name="Group 32"/>
            <p:cNvGrpSpPr>
              <a:grpSpLocks/>
            </p:cNvGrpSpPr>
            <p:nvPr/>
          </p:nvGrpSpPr>
          <p:grpSpPr bwMode="auto">
            <a:xfrm>
              <a:off x="4302" y="2308"/>
              <a:ext cx="589" cy="136"/>
              <a:chOff x="930" y="3249"/>
              <a:chExt cx="589" cy="136"/>
            </a:xfrm>
          </p:grpSpPr>
          <p:sp>
            <p:nvSpPr>
              <p:cNvPr id="24644" name="Oval 33"/>
              <p:cNvSpPr>
                <a:spLocks noChangeArrowheads="1"/>
              </p:cNvSpPr>
              <p:nvPr/>
            </p:nvSpPr>
            <p:spPr bwMode="auto">
              <a:xfrm>
                <a:off x="1020"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4645" name="Oval 34"/>
              <p:cNvSpPr>
                <a:spLocks noChangeArrowheads="1"/>
              </p:cNvSpPr>
              <p:nvPr/>
            </p:nvSpPr>
            <p:spPr bwMode="auto">
              <a:xfrm>
                <a:off x="1111"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4646" name="Oval 35"/>
              <p:cNvSpPr>
                <a:spLocks noChangeArrowheads="1"/>
              </p:cNvSpPr>
              <p:nvPr/>
            </p:nvSpPr>
            <p:spPr bwMode="auto">
              <a:xfrm>
                <a:off x="1201"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4647" name="Oval 36"/>
              <p:cNvSpPr>
                <a:spLocks noChangeArrowheads="1"/>
              </p:cNvSpPr>
              <p:nvPr/>
            </p:nvSpPr>
            <p:spPr bwMode="auto">
              <a:xfrm>
                <a:off x="1292"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4648" name="Oval 37"/>
              <p:cNvSpPr>
                <a:spLocks noChangeArrowheads="1"/>
              </p:cNvSpPr>
              <p:nvPr/>
            </p:nvSpPr>
            <p:spPr bwMode="auto">
              <a:xfrm>
                <a:off x="1383"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4649" name="Rectangle 38"/>
              <p:cNvSpPr>
                <a:spLocks noChangeArrowheads="1"/>
              </p:cNvSpPr>
              <p:nvPr/>
            </p:nvSpPr>
            <p:spPr bwMode="auto">
              <a:xfrm>
                <a:off x="930" y="3294"/>
                <a:ext cx="589" cy="91"/>
              </a:xfrm>
              <a:prstGeom prst="rect">
                <a:avLst/>
              </a:prstGeom>
              <a:solidFill>
                <a:schemeClr val="bg1"/>
              </a:solidFill>
              <a:ln w="9525">
                <a:noFill/>
                <a:miter lim="800000"/>
                <a:headEnd/>
                <a:tailEnd/>
              </a:ln>
            </p:spPr>
            <p:txBody>
              <a:bodyPr wrap="none" anchor="ctr"/>
              <a:lstStyle/>
              <a:p>
                <a:endParaRPr lang="zh-CN" altLang="en-US"/>
              </a:p>
            </p:txBody>
          </p:sp>
        </p:grpSp>
        <p:sp>
          <p:nvSpPr>
            <p:cNvPr id="24618" name="Rectangle 39"/>
            <p:cNvSpPr>
              <a:spLocks noChangeArrowheads="1"/>
            </p:cNvSpPr>
            <p:nvPr/>
          </p:nvSpPr>
          <p:spPr bwMode="auto">
            <a:xfrm>
              <a:off x="3606" y="2296"/>
              <a:ext cx="409" cy="91"/>
            </a:xfrm>
            <a:prstGeom prst="rect">
              <a:avLst/>
            </a:prstGeom>
            <a:gradFill rotWithShape="1">
              <a:gsLst>
                <a:gs pos="0">
                  <a:srgbClr val="996600"/>
                </a:gs>
                <a:gs pos="100000">
                  <a:srgbClr val="FFFF00"/>
                </a:gs>
              </a:gsLst>
              <a:lin ang="5400000" scaled="1"/>
            </a:gradFill>
            <a:ln w="9525">
              <a:solidFill>
                <a:schemeClr val="tx1"/>
              </a:solidFill>
              <a:miter lim="800000"/>
              <a:headEnd/>
              <a:tailEnd/>
            </a:ln>
          </p:spPr>
          <p:txBody>
            <a:bodyPr wrap="none" anchor="ctr"/>
            <a:lstStyle/>
            <a:p>
              <a:endParaRPr lang="zh-CN" altLang="en-US"/>
            </a:p>
          </p:txBody>
        </p:sp>
        <p:sp>
          <p:nvSpPr>
            <p:cNvPr id="24619" name="Line 40"/>
            <p:cNvSpPr>
              <a:spLocks noChangeShapeType="1"/>
            </p:cNvSpPr>
            <p:nvPr/>
          </p:nvSpPr>
          <p:spPr bwMode="auto">
            <a:xfrm flipH="1">
              <a:off x="3334" y="2341"/>
              <a:ext cx="272" cy="0"/>
            </a:xfrm>
            <a:prstGeom prst="line">
              <a:avLst/>
            </a:prstGeom>
            <a:noFill/>
            <a:ln w="9525">
              <a:solidFill>
                <a:schemeClr val="tx1"/>
              </a:solidFill>
              <a:round/>
              <a:headEnd/>
              <a:tailEnd/>
            </a:ln>
          </p:spPr>
          <p:txBody>
            <a:bodyPr/>
            <a:lstStyle/>
            <a:p>
              <a:endParaRPr lang="zh-CN" altLang="en-US"/>
            </a:p>
          </p:txBody>
        </p:sp>
        <p:sp>
          <p:nvSpPr>
            <p:cNvPr id="24620" name="Line 41"/>
            <p:cNvSpPr>
              <a:spLocks noChangeShapeType="1"/>
            </p:cNvSpPr>
            <p:nvPr/>
          </p:nvSpPr>
          <p:spPr bwMode="auto">
            <a:xfrm>
              <a:off x="3334" y="2341"/>
              <a:ext cx="0" cy="862"/>
            </a:xfrm>
            <a:prstGeom prst="line">
              <a:avLst/>
            </a:prstGeom>
            <a:noFill/>
            <a:ln w="9525">
              <a:solidFill>
                <a:schemeClr val="tx1"/>
              </a:solidFill>
              <a:round/>
              <a:headEnd/>
              <a:tailEnd/>
            </a:ln>
          </p:spPr>
          <p:txBody>
            <a:bodyPr/>
            <a:lstStyle/>
            <a:p>
              <a:endParaRPr lang="zh-CN" altLang="en-US"/>
            </a:p>
          </p:txBody>
        </p:sp>
        <p:sp>
          <p:nvSpPr>
            <p:cNvPr id="24621" name="Line 42"/>
            <p:cNvSpPr>
              <a:spLocks noChangeShapeType="1"/>
            </p:cNvSpPr>
            <p:nvPr/>
          </p:nvSpPr>
          <p:spPr bwMode="auto">
            <a:xfrm>
              <a:off x="3334" y="3203"/>
              <a:ext cx="408" cy="0"/>
            </a:xfrm>
            <a:prstGeom prst="line">
              <a:avLst/>
            </a:prstGeom>
            <a:noFill/>
            <a:ln w="9525">
              <a:solidFill>
                <a:schemeClr val="tx1"/>
              </a:solidFill>
              <a:round/>
              <a:headEnd/>
              <a:tailEnd/>
            </a:ln>
          </p:spPr>
          <p:txBody>
            <a:bodyPr/>
            <a:lstStyle/>
            <a:p>
              <a:endParaRPr lang="zh-CN" altLang="en-US"/>
            </a:p>
          </p:txBody>
        </p:sp>
        <p:sp>
          <p:nvSpPr>
            <p:cNvPr id="24622" name="Line 43"/>
            <p:cNvSpPr>
              <a:spLocks noChangeShapeType="1"/>
            </p:cNvSpPr>
            <p:nvPr/>
          </p:nvSpPr>
          <p:spPr bwMode="auto">
            <a:xfrm flipV="1">
              <a:off x="5148" y="2341"/>
              <a:ext cx="0" cy="862"/>
            </a:xfrm>
            <a:prstGeom prst="line">
              <a:avLst/>
            </a:prstGeom>
            <a:noFill/>
            <a:ln w="9525">
              <a:solidFill>
                <a:schemeClr val="tx1"/>
              </a:solidFill>
              <a:round/>
              <a:headEnd/>
              <a:tailEnd/>
            </a:ln>
          </p:spPr>
          <p:txBody>
            <a:bodyPr/>
            <a:lstStyle/>
            <a:p>
              <a:endParaRPr lang="zh-CN" altLang="en-US"/>
            </a:p>
          </p:txBody>
        </p:sp>
        <p:sp>
          <p:nvSpPr>
            <p:cNvPr id="24623" name="Line 44"/>
            <p:cNvSpPr>
              <a:spLocks noChangeShapeType="1"/>
            </p:cNvSpPr>
            <p:nvPr/>
          </p:nvSpPr>
          <p:spPr bwMode="auto">
            <a:xfrm>
              <a:off x="4014" y="2341"/>
              <a:ext cx="363" cy="0"/>
            </a:xfrm>
            <a:prstGeom prst="line">
              <a:avLst/>
            </a:prstGeom>
            <a:noFill/>
            <a:ln w="9525">
              <a:solidFill>
                <a:schemeClr val="tx1"/>
              </a:solidFill>
              <a:round/>
              <a:headEnd/>
              <a:tailEnd/>
            </a:ln>
          </p:spPr>
          <p:txBody>
            <a:bodyPr/>
            <a:lstStyle/>
            <a:p>
              <a:endParaRPr lang="zh-CN" altLang="en-US"/>
            </a:p>
          </p:txBody>
        </p:sp>
        <p:sp>
          <p:nvSpPr>
            <p:cNvPr id="24624" name="Line 45"/>
            <p:cNvSpPr>
              <a:spLocks noChangeShapeType="1"/>
            </p:cNvSpPr>
            <p:nvPr/>
          </p:nvSpPr>
          <p:spPr bwMode="auto">
            <a:xfrm>
              <a:off x="4830" y="2341"/>
              <a:ext cx="318" cy="0"/>
            </a:xfrm>
            <a:prstGeom prst="line">
              <a:avLst/>
            </a:prstGeom>
            <a:noFill/>
            <a:ln w="9525">
              <a:solidFill>
                <a:schemeClr val="tx1"/>
              </a:solidFill>
              <a:round/>
              <a:headEnd/>
              <a:tailEnd/>
            </a:ln>
          </p:spPr>
          <p:txBody>
            <a:bodyPr/>
            <a:lstStyle/>
            <a:p>
              <a:endParaRPr lang="zh-CN" altLang="en-US"/>
            </a:p>
          </p:txBody>
        </p:sp>
        <p:sp>
          <p:nvSpPr>
            <p:cNvPr id="24625" name="Line 46"/>
            <p:cNvSpPr>
              <a:spLocks noChangeShapeType="1"/>
            </p:cNvSpPr>
            <p:nvPr/>
          </p:nvSpPr>
          <p:spPr bwMode="auto">
            <a:xfrm>
              <a:off x="3334" y="2795"/>
              <a:ext cx="1043" cy="0"/>
            </a:xfrm>
            <a:prstGeom prst="line">
              <a:avLst/>
            </a:prstGeom>
            <a:noFill/>
            <a:ln w="9525">
              <a:solidFill>
                <a:schemeClr val="tx1"/>
              </a:solidFill>
              <a:round/>
              <a:headEnd/>
              <a:tailEnd/>
            </a:ln>
          </p:spPr>
          <p:txBody>
            <a:bodyPr/>
            <a:lstStyle/>
            <a:p>
              <a:endParaRPr lang="zh-CN" altLang="en-US"/>
            </a:p>
          </p:txBody>
        </p:sp>
        <p:sp>
          <p:nvSpPr>
            <p:cNvPr id="24626" name="Line 47"/>
            <p:cNvSpPr>
              <a:spLocks noChangeShapeType="1"/>
            </p:cNvSpPr>
            <p:nvPr/>
          </p:nvSpPr>
          <p:spPr bwMode="auto">
            <a:xfrm>
              <a:off x="4604" y="2795"/>
              <a:ext cx="544" cy="0"/>
            </a:xfrm>
            <a:prstGeom prst="line">
              <a:avLst/>
            </a:prstGeom>
            <a:noFill/>
            <a:ln w="9525">
              <a:solidFill>
                <a:schemeClr val="tx1"/>
              </a:solidFill>
              <a:round/>
              <a:headEnd/>
              <a:tailEnd/>
            </a:ln>
          </p:spPr>
          <p:txBody>
            <a:bodyPr/>
            <a:lstStyle/>
            <a:p>
              <a:endParaRPr lang="zh-CN" altLang="en-US"/>
            </a:p>
          </p:txBody>
        </p:sp>
        <p:sp>
          <p:nvSpPr>
            <p:cNvPr id="24627" name="Oval 48"/>
            <p:cNvSpPr>
              <a:spLocks noChangeArrowheads="1"/>
            </p:cNvSpPr>
            <p:nvPr/>
          </p:nvSpPr>
          <p:spPr bwMode="auto">
            <a:xfrm>
              <a:off x="4377" y="2771"/>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4628" name="Oval 49"/>
            <p:cNvSpPr>
              <a:spLocks noChangeArrowheads="1"/>
            </p:cNvSpPr>
            <p:nvPr/>
          </p:nvSpPr>
          <p:spPr bwMode="auto">
            <a:xfrm>
              <a:off x="4604" y="2762"/>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4629" name="Line 50"/>
            <p:cNvSpPr>
              <a:spLocks noChangeShapeType="1"/>
            </p:cNvSpPr>
            <p:nvPr/>
          </p:nvSpPr>
          <p:spPr bwMode="auto">
            <a:xfrm>
              <a:off x="3742" y="3113"/>
              <a:ext cx="0" cy="181"/>
            </a:xfrm>
            <a:prstGeom prst="line">
              <a:avLst/>
            </a:prstGeom>
            <a:noFill/>
            <a:ln w="15875">
              <a:solidFill>
                <a:schemeClr val="tx1"/>
              </a:solidFill>
              <a:round/>
              <a:headEnd/>
              <a:tailEnd/>
            </a:ln>
          </p:spPr>
          <p:txBody>
            <a:bodyPr/>
            <a:lstStyle/>
            <a:p>
              <a:endParaRPr lang="zh-CN" altLang="en-US"/>
            </a:p>
          </p:txBody>
        </p:sp>
        <p:sp>
          <p:nvSpPr>
            <p:cNvPr id="24630" name="Line 51"/>
            <p:cNvSpPr>
              <a:spLocks noChangeShapeType="1"/>
            </p:cNvSpPr>
            <p:nvPr/>
          </p:nvSpPr>
          <p:spPr bwMode="auto">
            <a:xfrm>
              <a:off x="3787" y="3158"/>
              <a:ext cx="0" cy="91"/>
            </a:xfrm>
            <a:prstGeom prst="line">
              <a:avLst/>
            </a:prstGeom>
            <a:noFill/>
            <a:ln w="31750">
              <a:solidFill>
                <a:schemeClr val="tx1"/>
              </a:solidFill>
              <a:round/>
              <a:headEnd/>
              <a:tailEnd/>
            </a:ln>
          </p:spPr>
          <p:txBody>
            <a:bodyPr/>
            <a:lstStyle/>
            <a:p>
              <a:endParaRPr lang="zh-CN" altLang="en-US"/>
            </a:p>
          </p:txBody>
        </p:sp>
        <p:sp>
          <p:nvSpPr>
            <p:cNvPr id="24631" name="Line 52"/>
            <p:cNvSpPr>
              <a:spLocks noChangeShapeType="1"/>
            </p:cNvSpPr>
            <p:nvPr/>
          </p:nvSpPr>
          <p:spPr bwMode="auto">
            <a:xfrm>
              <a:off x="3787" y="3203"/>
              <a:ext cx="454" cy="0"/>
            </a:xfrm>
            <a:prstGeom prst="line">
              <a:avLst/>
            </a:prstGeom>
            <a:noFill/>
            <a:ln w="9525">
              <a:solidFill>
                <a:schemeClr val="tx1"/>
              </a:solidFill>
              <a:round/>
              <a:headEnd/>
              <a:tailEnd/>
            </a:ln>
          </p:spPr>
          <p:txBody>
            <a:bodyPr/>
            <a:lstStyle/>
            <a:p>
              <a:endParaRPr lang="zh-CN" altLang="en-US"/>
            </a:p>
          </p:txBody>
        </p:sp>
        <p:sp>
          <p:nvSpPr>
            <p:cNvPr id="24632" name="Line 53"/>
            <p:cNvSpPr>
              <a:spLocks noChangeShapeType="1"/>
            </p:cNvSpPr>
            <p:nvPr/>
          </p:nvSpPr>
          <p:spPr bwMode="auto">
            <a:xfrm>
              <a:off x="4422" y="3203"/>
              <a:ext cx="726" cy="0"/>
            </a:xfrm>
            <a:prstGeom prst="line">
              <a:avLst/>
            </a:prstGeom>
            <a:noFill/>
            <a:ln w="9525">
              <a:solidFill>
                <a:schemeClr val="tx1"/>
              </a:solidFill>
              <a:round/>
              <a:headEnd/>
              <a:tailEnd/>
            </a:ln>
          </p:spPr>
          <p:txBody>
            <a:bodyPr/>
            <a:lstStyle/>
            <a:p>
              <a:endParaRPr lang="zh-CN" altLang="en-US"/>
            </a:p>
          </p:txBody>
        </p:sp>
        <p:sp>
          <p:nvSpPr>
            <p:cNvPr id="24633" name="Rectangle 54"/>
            <p:cNvSpPr>
              <a:spLocks noChangeArrowheads="1"/>
            </p:cNvSpPr>
            <p:nvPr/>
          </p:nvSpPr>
          <p:spPr bwMode="auto">
            <a:xfrm>
              <a:off x="4649" y="3167"/>
              <a:ext cx="318" cy="68"/>
            </a:xfrm>
            <a:prstGeom prst="rect">
              <a:avLst/>
            </a:prstGeom>
            <a:solidFill>
              <a:srgbClr val="808080"/>
            </a:solidFill>
            <a:ln w="9525">
              <a:solidFill>
                <a:schemeClr val="tx1"/>
              </a:solidFill>
              <a:miter lim="800000"/>
              <a:headEnd/>
              <a:tailEnd/>
            </a:ln>
          </p:spPr>
          <p:txBody>
            <a:bodyPr wrap="none" anchor="ctr"/>
            <a:lstStyle/>
            <a:p>
              <a:endParaRPr lang="zh-CN" altLang="en-US"/>
            </a:p>
          </p:txBody>
        </p:sp>
        <p:sp>
          <p:nvSpPr>
            <p:cNvPr id="24634" name="Oval 55"/>
            <p:cNvSpPr>
              <a:spLocks noChangeArrowheads="1"/>
            </p:cNvSpPr>
            <p:nvPr/>
          </p:nvSpPr>
          <p:spPr bwMode="auto">
            <a:xfrm>
              <a:off x="4195" y="3170"/>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4635" name="Oval 56"/>
            <p:cNvSpPr>
              <a:spLocks noChangeArrowheads="1"/>
            </p:cNvSpPr>
            <p:nvPr/>
          </p:nvSpPr>
          <p:spPr bwMode="auto">
            <a:xfrm>
              <a:off x="4422" y="3173"/>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4636" name="Line 57"/>
            <p:cNvSpPr>
              <a:spLocks noChangeShapeType="1"/>
            </p:cNvSpPr>
            <p:nvPr/>
          </p:nvSpPr>
          <p:spPr bwMode="auto">
            <a:xfrm flipV="1">
              <a:off x="4404" y="2659"/>
              <a:ext cx="182" cy="136"/>
            </a:xfrm>
            <a:prstGeom prst="line">
              <a:avLst/>
            </a:prstGeom>
            <a:noFill/>
            <a:ln w="9525">
              <a:solidFill>
                <a:schemeClr val="tx1"/>
              </a:solidFill>
              <a:round/>
              <a:headEnd/>
              <a:tailEnd/>
            </a:ln>
          </p:spPr>
          <p:txBody>
            <a:bodyPr/>
            <a:lstStyle/>
            <a:p>
              <a:endParaRPr lang="zh-CN" altLang="en-US"/>
            </a:p>
          </p:txBody>
        </p:sp>
        <p:sp>
          <p:nvSpPr>
            <p:cNvPr id="24637" name="Line 58"/>
            <p:cNvSpPr>
              <a:spLocks noChangeShapeType="1"/>
            </p:cNvSpPr>
            <p:nvPr/>
          </p:nvSpPr>
          <p:spPr bwMode="auto">
            <a:xfrm flipV="1">
              <a:off x="4223" y="3040"/>
              <a:ext cx="182" cy="136"/>
            </a:xfrm>
            <a:prstGeom prst="line">
              <a:avLst/>
            </a:prstGeom>
            <a:noFill/>
            <a:ln w="9525">
              <a:solidFill>
                <a:schemeClr val="tx1"/>
              </a:solidFill>
              <a:round/>
              <a:headEnd/>
              <a:tailEnd/>
            </a:ln>
          </p:spPr>
          <p:txBody>
            <a:bodyPr/>
            <a:lstStyle/>
            <a:p>
              <a:endParaRPr lang="zh-CN" altLang="en-US"/>
            </a:p>
          </p:txBody>
        </p:sp>
        <p:sp>
          <p:nvSpPr>
            <p:cNvPr id="24638" name="Text Box 59"/>
            <p:cNvSpPr txBox="1">
              <a:spLocks noChangeArrowheads="1"/>
            </p:cNvSpPr>
            <p:nvPr/>
          </p:nvSpPr>
          <p:spPr bwMode="auto">
            <a:xfrm>
              <a:off x="3696" y="2115"/>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R</a:t>
              </a:r>
            </a:p>
          </p:txBody>
        </p:sp>
        <p:sp>
          <p:nvSpPr>
            <p:cNvPr id="24639" name="Text Box 60"/>
            <p:cNvSpPr txBox="1">
              <a:spLocks noChangeArrowheads="1"/>
            </p:cNvSpPr>
            <p:nvPr/>
          </p:nvSpPr>
          <p:spPr bwMode="auto">
            <a:xfrm>
              <a:off x="4468" y="2115"/>
              <a:ext cx="272" cy="231"/>
            </a:xfrm>
            <a:prstGeom prst="rect">
              <a:avLst/>
            </a:prstGeom>
            <a:noFill/>
            <a:ln w="9525">
              <a:noFill/>
              <a:miter lim="800000"/>
              <a:headEnd/>
              <a:tailEnd/>
            </a:ln>
          </p:spPr>
          <p:txBody>
            <a:bodyPr>
              <a:spAutoFit/>
            </a:bodyPr>
            <a:lstStyle/>
            <a:p>
              <a:pPr algn="l">
                <a:spcBef>
                  <a:spcPct val="50000"/>
                </a:spcBef>
              </a:pPr>
              <a:r>
                <a:rPr lang="en-US" altLang="zh-CN" b="1" i="1">
                  <a:solidFill>
                    <a:srgbClr val="0000FF"/>
                  </a:solidFill>
                  <a:latin typeface="Times New Roman" pitchFamily="18" charset="0"/>
                </a:rPr>
                <a:t>L</a:t>
              </a:r>
            </a:p>
          </p:txBody>
        </p:sp>
        <p:sp>
          <p:nvSpPr>
            <p:cNvPr id="24640" name="Text Box 61"/>
            <p:cNvSpPr txBox="1">
              <a:spLocks noChangeArrowheads="1"/>
            </p:cNvSpPr>
            <p:nvPr/>
          </p:nvSpPr>
          <p:spPr bwMode="auto">
            <a:xfrm>
              <a:off x="3606" y="3203"/>
              <a:ext cx="227" cy="269"/>
            </a:xfrm>
            <a:prstGeom prst="rect">
              <a:avLst/>
            </a:prstGeom>
            <a:noFill/>
            <a:ln w="9525">
              <a:noFill/>
              <a:miter lim="800000"/>
              <a:headEnd/>
              <a:tailEnd/>
            </a:ln>
          </p:spPr>
          <p:txBody>
            <a:bodyPr>
              <a:spAutoFit/>
            </a:bodyPr>
            <a:lstStyle/>
            <a:p>
              <a:pPr algn="l">
                <a:spcBef>
                  <a:spcPct val="50000"/>
                </a:spcBef>
              </a:pPr>
              <a:r>
                <a:rPr lang="en-US" altLang="zh-CN" sz="2200" b="1" i="1">
                  <a:solidFill>
                    <a:srgbClr val="FF0000"/>
                  </a:solidFill>
                  <a:latin typeface="Times New Roman" pitchFamily="18" charset="0"/>
                </a:rPr>
                <a:t>ε</a:t>
              </a:r>
            </a:p>
          </p:txBody>
        </p:sp>
        <p:sp>
          <p:nvSpPr>
            <p:cNvPr id="24641" name="Text Box 62"/>
            <p:cNvSpPr txBox="1">
              <a:spLocks noChangeArrowheads="1"/>
            </p:cNvSpPr>
            <p:nvPr/>
          </p:nvSpPr>
          <p:spPr bwMode="auto">
            <a:xfrm>
              <a:off x="4604" y="3203"/>
              <a:ext cx="363"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BX</a:t>
              </a:r>
            </a:p>
          </p:txBody>
        </p:sp>
        <p:sp>
          <p:nvSpPr>
            <p:cNvPr id="24642" name="Text Box 63"/>
            <p:cNvSpPr txBox="1">
              <a:spLocks noChangeArrowheads="1"/>
            </p:cNvSpPr>
            <p:nvPr/>
          </p:nvSpPr>
          <p:spPr bwMode="auto">
            <a:xfrm>
              <a:off x="4105" y="2523"/>
              <a:ext cx="317" cy="231"/>
            </a:xfrm>
            <a:prstGeom prst="rect">
              <a:avLst/>
            </a:prstGeom>
            <a:noFill/>
            <a:ln w="9525">
              <a:noFill/>
              <a:miter lim="800000"/>
              <a:headEnd/>
              <a:tailEnd/>
            </a:ln>
          </p:spPr>
          <p:txBody>
            <a:bodyPr>
              <a:spAutoFit/>
            </a:bodyPr>
            <a:lstStyle/>
            <a:p>
              <a:pPr algn="l">
                <a:spcBef>
                  <a:spcPct val="50000"/>
                </a:spcBef>
              </a:pPr>
              <a:r>
                <a:rPr lang="en-US" altLang="zh-CN" b="1" i="1">
                  <a:solidFill>
                    <a:srgbClr val="008000"/>
                  </a:solidFill>
                  <a:latin typeface="Times New Roman" pitchFamily="18" charset="0"/>
                </a:rPr>
                <a:t>K</a:t>
              </a:r>
              <a:r>
                <a:rPr lang="en-US" altLang="zh-CN" b="1" baseline="-25000">
                  <a:solidFill>
                    <a:srgbClr val="008000"/>
                  </a:solidFill>
                  <a:latin typeface="Times New Roman" pitchFamily="18" charset="0"/>
                </a:rPr>
                <a:t>2</a:t>
              </a:r>
              <a:endParaRPr lang="en-US" altLang="zh-CN" b="1">
                <a:solidFill>
                  <a:srgbClr val="008000"/>
                </a:solidFill>
                <a:latin typeface="Times New Roman" pitchFamily="18" charset="0"/>
              </a:endParaRPr>
            </a:p>
          </p:txBody>
        </p:sp>
        <p:sp>
          <p:nvSpPr>
            <p:cNvPr id="24643" name="Text Box 64"/>
            <p:cNvSpPr txBox="1">
              <a:spLocks noChangeArrowheads="1"/>
            </p:cNvSpPr>
            <p:nvPr/>
          </p:nvSpPr>
          <p:spPr bwMode="auto">
            <a:xfrm>
              <a:off x="3969" y="2976"/>
              <a:ext cx="317" cy="231"/>
            </a:xfrm>
            <a:prstGeom prst="rect">
              <a:avLst/>
            </a:prstGeom>
            <a:noFill/>
            <a:ln w="9525">
              <a:noFill/>
              <a:miter lim="800000"/>
              <a:headEnd/>
              <a:tailEnd/>
            </a:ln>
          </p:spPr>
          <p:txBody>
            <a:bodyPr>
              <a:spAutoFit/>
            </a:bodyPr>
            <a:lstStyle/>
            <a:p>
              <a:pPr algn="l">
                <a:spcBef>
                  <a:spcPct val="50000"/>
                </a:spcBef>
              </a:pPr>
              <a:r>
                <a:rPr lang="en-US" altLang="zh-CN" b="1" i="1">
                  <a:solidFill>
                    <a:srgbClr val="008000"/>
                  </a:solidFill>
                  <a:latin typeface="Times New Roman" pitchFamily="18" charset="0"/>
                </a:rPr>
                <a:t>K</a:t>
              </a:r>
              <a:r>
                <a:rPr lang="en-US" altLang="zh-CN" b="1" baseline="-25000">
                  <a:solidFill>
                    <a:srgbClr val="008000"/>
                  </a:solidFill>
                  <a:latin typeface="Times New Roman" pitchFamily="18" charset="0"/>
                </a:rPr>
                <a:t>1</a:t>
              </a:r>
              <a:endParaRPr lang="en-US" altLang="zh-CN" b="1">
                <a:solidFill>
                  <a:srgbClr val="008000"/>
                </a:solidFill>
                <a:latin typeface="Times New Roman" pitchFamily="18" charset="0"/>
              </a:endParaRPr>
            </a:p>
          </p:txBody>
        </p:sp>
      </p:grpSp>
      <p:grpSp>
        <p:nvGrpSpPr>
          <p:cNvPr id="4" name="Group 70"/>
          <p:cNvGrpSpPr>
            <a:grpSpLocks/>
          </p:cNvGrpSpPr>
          <p:nvPr/>
        </p:nvGrpSpPr>
        <p:grpSpPr bwMode="auto">
          <a:xfrm>
            <a:off x="7164388" y="3527425"/>
            <a:ext cx="431800" cy="431800"/>
            <a:chOff x="2744" y="1389"/>
            <a:chExt cx="272" cy="272"/>
          </a:xfrm>
        </p:grpSpPr>
        <p:sp>
          <p:nvSpPr>
            <p:cNvPr id="24613" name="Rectangle 66"/>
            <p:cNvSpPr>
              <a:spLocks noChangeArrowheads="1"/>
            </p:cNvSpPr>
            <p:nvPr/>
          </p:nvSpPr>
          <p:spPr bwMode="auto">
            <a:xfrm>
              <a:off x="2789" y="1389"/>
              <a:ext cx="182" cy="272"/>
            </a:xfrm>
            <a:prstGeom prst="rect">
              <a:avLst/>
            </a:prstGeom>
            <a:solidFill>
              <a:schemeClr val="bg1"/>
            </a:solidFill>
            <a:ln w="9525">
              <a:noFill/>
              <a:miter lim="800000"/>
              <a:headEnd/>
              <a:tailEnd/>
            </a:ln>
          </p:spPr>
          <p:txBody>
            <a:bodyPr wrap="none" anchor="ctr"/>
            <a:lstStyle/>
            <a:p>
              <a:endParaRPr lang="zh-CN" altLang="en-US"/>
            </a:p>
          </p:txBody>
        </p:sp>
        <p:sp>
          <p:nvSpPr>
            <p:cNvPr id="24614" name="Oval 67"/>
            <p:cNvSpPr>
              <a:spLocks noChangeArrowheads="1"/>
            </p:cNvSpPr>
            <p:nvPr/>
          </p:nvSpPr>
          <p:spPr bwMode="auto">
            <a:xfrm>
              <a:off x="2744" y="1567"/>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4615" name="Oval 68"/>
            <p:cNvSpPr>
              <a:spLocks noChangeArrowheads="1"/>
            </p:cNvSpPr>
            <p:nvPr/>
          </p:nvSpPr>
          <p:spPr bwMode="auto">
            <a:xfrm>
              <a:off x="2971" y="1570"/>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4616" name="Line 69"/>
            <p:cNvSpPr>
              <a:spLocks noChangeShapeType="1"/>
            </p:cNvSpPr>
            <p:nvPr/>
          </p:nvSpPr>
          <p:spPr bwMode="auto">
            <a:xfrm flipV="1">
              <a:off x="2772" y="1570"/>
              <a:ext cx="199" cy="3"/>
            </a:xfrm>
            <a:prstGeom prst="line">
              <a:avLst/>
            </a:prstGeom>
            <a:noFill/>
            <a:ln w="9525">
              <a:solidFill>
                <a:schemeClr val="tx1"/>
              </a:solidFill>
              <a:round/>
              <a:headEnd/>
              <a:tailEnd/>
            </a:ln>
          </p:spPr>
          <p:txBody>
            <a:bodyPr/>
            <a:lstStyle/>
            <a:p>
              <a:endParaRPr lang="zh-CN" altLang="en-US"/>
            </a:p>
          </p:txBody>
        </p:sp>
      </p:grpSp>
      <p:grpSp>
        <p:nvGrpSpPr>
          <p:cNvPr id="5" name="Group 71"/>
          <p:cNvGrpSpPr>
            <a:grpSpLocks/>
          </p:cNvGrpSpPr>
          <p:nvPr/>
        </p:nvGrpSpPr>
        <p:grpSpPr bwMode="auto">
          <a:xfrm>
            <a:off x="6108700" y="4492625"/>
            <a:ext cx="2952750" cy="2022475"/>
            <a:chOff x="2880" y="709"/>
            <a:chExt cx="1860" cy="1274"/>
          </a:xfrm>
        </p:grpSpPr>
        <p:sp>
          <p:nvSpPr>
            <p:cNvPr id="24599" name="Line 72"/>
            <p:cNvSpPr>
              <a:spLocks noChangeShapeType="1"/>
            </p:cNvSpPr>
            <p:nvPr/>
          </p:nvSpPr>
          <p:spPr bwMode="auto">
            <a:xfrm flipV="1">
              <a:off x="3061" y="709"/>
              <a:ext cx="0" cy="1088"/>
            </a:xfrm>
            <a:prstGeom prst="line">
              <a:avLst/>
            </a:prstGeom>
            <a:noFill/>
            <a:ln w="9525">
              <a:solidFill>
                <a:schemeClr val="tx1"/>
              </a:solidFill>
              <a:round/>
              <a:headEnd/>
              <a:tailEnd type="triangle" w="med" len="med"/>
            </a:ln>
          </p:spPr>
          <p:txBody>
            <a:bodyPr/>
            <a:lstStyle/>
            <a:p>
              <a:endParaRPr lang="zh-CN" altLang="en-US"/>
            </a:p>
          </p:txBody>
        </p:sp>
        <p:sp>
          <p:nvSpPr>
            <p:cNvPr id="24600" name="Line 73"/>
            <p:cNvSpPr>
              <a:spLocks noChangeShapeType="1"/>
            </p:cNvSpPr>
            <p:nvPr/>
          </p:nvSpPr>
          <p:spPr bwMode="auto">
            <a:xfrm>
              <a:off x="3061" y="1797"/>
              <a:ext cx="1588" cy="0"/>
            </a:xfrm>
            <a:prstGeom prst="line">
              <a:avLst/>
            </a:prstGeom>
            <a:noFill/>
            <a:ln w="9525">
              <a:solidFill>
                <a:schemeClr val="tx1"/>
              </a:solidFill>
              <a:round/>
              <a:headEnd/>
              <a:tailEnd type="triangle" w="med" len="med"/>
            </a:ln>
          </p:spPr>
          <p:txBody>
            <a:bodyPr/>
            <a:lstStyle/>
            <a:p>
              <a:endParaRPr lang="zh-CN" altLang="en-US"/>
            </a:p>
          </p:txBody>
        </p:sp>
        <p:sp>
          <p:nvSpPr>
            <p:cNvPr id="24601" name="Freeform 74"/>
            <p:cNvSpPr>
              <a:spLocks/>
            </p:cNvSpPr>
            <p:nvPr/>
          </p:nvSpPr>
          <p:spPr bwMode="auto">
            <a:xfrm>
              <a:off x="3061" y="1253"/>
              <a:ext cx="499" cy="545"/>
            </a:xfrm>
            <a:custGeom>
              <a:avLst/>
              <a:gdLst>
                <a:gd name="T0" fmla="*/ 0 w 499"/>
                <a:gd name="T1" fmla="*/ 545 h 545"/>
                <a:gd name="T2" fmla="*/ 135 w 499"/>
                <a:gd name="T3" fmla="*/ 236 h 545"/>
                <a:gd name="T4" fmla="*/ 311 w 499"/>
                <a:gd name="T5" fmla="*/ 68 h 545"/>
                <a:gd name="T6" fmla="*/ 499 w 499"/>
                <a:gd name="T7" fmla="*/ 0 h 545"/>
                <a:gd name="T8" fmla="*/ 0 60000 65536"/>
                <a:gd name="T9" fmla="*/ 0 60000 65536"/>
                <a:gd name="T10" fmla="*/ 0 60000 65536"/>
                <a:gd name="T11" fmla="*/ 0 60000 65536"/>
                <a:gd name="T12" fmla="*/ 0 w 499"/>
                <a:gd name="T13" fmla="*/ 0 h 545"/>
                <a:gd name="T14" fmla="*/ 499 w 499"/>
                <a:gd name="T15" fmla="*/ 545 h 545"/>
              </a:gdLst>
              <a:ahLst/>
              <a:cxnLst>
                <a:cxn ang="T8">
                  <a:pos x="T0" y="T1"/>
                </a:cxn>
                <a:cxn ang="T9">
                  <a:pos x="T2" y="T3"/>
                </a:cxn>
                <a:cxn ang="T10">
                  <a:pos x="T4" y="T5"/>
                </a:cxn>
                <a:cxn ang="T11">
                  <a:pos x="T6" y="T7"/>
                </a:cxn>
              </a:cxnLst>
              <a:rect l="T12" t="T13" r="T14" b="T15"/>
              <a:pathLst>
                <a:path w="499" h="545">
                  <a:moveTo>
                    <a:pt x="0" y="545"/>
                  </a:moveTo>
                  <a:cubicBezTo>
                    <a:pt x="22" y="494"/>
                    <a:pt x="83" y="315"/>
                    <a:pt x="135" y="236"/>
                  </a:cubicBezTo>
                  <a:cubicBezTo>
                    <a:pt x="187" y="157"/>
                    <a:pt x="250" y="107"/>
                    <a:pt x="311" y="68"/>
                  </a:cubicBezTo>
                  <a:cubicBezTo>
                    <a:pt x="372" y="29"/>
                    <a:pt x="460" y="14"/>
                    <a:pt x="499" y="0"/>
                  </a:cubicBezTo>
                </a:path>
              </a:pathLst>
            </a:custGeom>
            <a:noFill/>
            <a:ln w="19050">
              <a:solidFill>
                <a:srgbClr val="0000FF"/>
              </a:solidFill>
              <a:round/>
              <a:headEnd/>
              <a:tailEnd/>
            </a:ln>
          </p:spPr>
          <p:txBody>
            <a:bodyPr/>
            <a:lstStyle/>
            <a:p>
              <a:endParaRPr lang="zh-CN" altLang="en-US"/>
            </a:p>
          </p:txBody>
        </p:sp>
        <p:sp>
          <p:nvSpPr>
            <p:cNvPr id="24602" name="Line 75"/>
            <p:cNvSpPr>
              <a:spLocks noChangeShapeType="1"/>
            </p:cNvSpPr>
            <p:nvPr/>
          </p:nvSpPr>
          <p:spPr bwMode="auto">
            <a:xfrm>
              <a:off x="3560" y="1253"/>
              <a:ext cx="409" cy="0"/>
            </a:xfrm>
            <a:prstGeom prst="line">
              <a:avLst/>
            </a:prstGeom>
            <a:noFill/>
            <a:ln w="19050">
              <a:solidFill>
                <a:srgbClr val="0000FF"/>
              </a:solidFill>
              <a:round/>
              <a:headEnd/>
              <a:tailEnd/>
            </a:ln>
          </p:spPr>
          <p:txBody>
            <a:bodyPr/>
            <a:lstStyle/>
            <a:p>
              <a:endParaRPr lang="zh-CN" altLang="en-US"/>
            </a:p>
          </p:txBody>
        </p:sp>
        <p:sp>
          <p:nvSpPr>
            <p:cNvPr id="24603" name="Line 76"/>
            <p:cNvSpPr>
              <a:spLocks noChangeShapeType="1"/>
            </p:cNvSpPr>
            <p:nvPr/>
          </p:nvSpPr>
          <p:spPr bwMode="auto">
            <a:xfrm>
              <a:off x="3560" y="1253"/>
              <a:ext cx="0" cy="544"/>
            </a:xfrm>
            <a:prstGeom prst="line">
              <a:avLst/>
            </a:prstGeom>
            <a:noFill/>
            <a:ln w="9525">
              <a:solidFill>
                <a:schemeClr val="tx1"/>
              </a:solidFill>
              <a:prstDash val="dash"/>
              <a:round/>
              <a:headEnd/>
              <a:tailEnd/>
            </a:ln>
          </p:spPr>
          <p:txBody>
            <a:bodyPr/>
            <a:lstStyle/>
            <a:p>
              <a:endParaRPr lang="zh-CN" altLang="en-US"/>
            </a:p>
          </p:txBody>
        </p:sp>
        <p:sp>
          <p:nvSpPr>
            <p:cNvPr id="24604" name="Line 77"/>
            <p:cNvSpPr>
              <a:spLocks noChangeShapeType="1"/>
            </p:cNvSpPr>
            <p:nvPr/>
          </p:nvSpPr>
          <p:spPr bwMode="auto">
            <a:xfrm flipH="1">
              <a:off x="3061" y="1253"/>
              <a:ext cx="499" cy="0"/>
            </a:xfrm>
            <a:prstGeom prst="line">
              <a:avLst/>
            </a:prstGeom>
            <a:noFill/>
            <a:ln w="9525">
              <a:solidFill>
                <a:schemeClr val="tx1"/>
              </a:solidFill>
              <a:prstDash val="dash"/>
              <a:round/>
              <a:headEnd/>
              <a:tailEnd/>
            </a:ln>
          </p:spPr>
          <p:txBody>
            <a:bodyPr/>
            <a:lstStyle/>
            <a:p>
              <a:endParaRPr lang="zh-CN" altLang="en-US"/>
            </a:p>
          </p:txBody>
        </p:sp>
        <p:sp>
          <p:nvSpPr>
            <p:cNvPr id="24605" name="Text Box 78"/>
            <p:cNvSpPr txBox="1">
              <a:spLocks noChangeArrowheads="1"/>
            </p:cNvSpPr>
            <p:nvPr/>
          </p:nvSpPr>
          <p:spPr bwMode="auto">
            <a:xfrm>
              <a:off x="2880" y="1706"/>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o</a:t>
              </a:r>
            </a:p>
          </p:txBody>
        </p:sp>
        <p:sp>
          <p:nvSpPr>
            <p:cNvPr id="24606" name="Text Box 79"/>
            <p:cNvSpPr txBox="1">
              <a:spLocks noChangeArrowheads="1"/>
            </p:cNvSpPr>
            <p:nvPr/>
          </p:nvSpPr>
          <p:spPr bwMode="auto">
            <a:xfrm>
              <a:off x="2880" y="709"/>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i</a:t>
              </a:r>
            </a:p>
          </p:txBody>
        </p:sp>
        <p:sp>
          <p:nvSpPr>
            <p:cNvPr id="24607" name="Text Box 80"/>
            <p:cNvSpPr txBox="1">
              <a:spLocks noChangeArrowheads="1"/>
            </p:cNvSpPr>
            <p:nvPr/>
          </p:nvSpPr>
          <p:spPr bwMode="auto">
            <a:xfrm>
              <a:off x="2880" y="1117"/>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I</a:t>
              </a:r>
            </a:p>
          </p:txBody>
        </p:sp>
        <p:sp>
          <p:nvSpPr>
            <p:cNvPr id="24608" name="Text Box 81"/>
            <p:cNvSpPr txBox="1">
              <a:spLocks noChangeArrowheads="1"/>
            </p:cNvSpPr>
            <p:nvPr/>
          </p:nvSpPr>
          <p:spPr bwMode="auto">
            <a:xfrm>
              <a:off x="3152" y="1389"/>
              <a:ext cx="363" cy="231"/>
            </a:xfrm>
            <a:prstGeom prst="rect">
              <a:avLst/>
            </a:prstGeom>
            <a:noFill/>
            <a:ln w="9525">
              <a:noFill/>
              <a:miter lim="800000"/>
              <a:headEnd/>
              <a:tailEnd/>
            </a:ln>
          </p:spPr>
          <p:txBody>
            <a:bodyPr>
              <a:spAutoFit/>
            </a:bodyPr>
            <a:lstStyle/>
            <a:p>
              <a:pPr algn="l">
                <a:spcBef>
                  <a:spcPct val="50000"/>
                </a:spcBef>
              </a:pPr>
              <a:r>
                <a:rPr lang="en-US" altLang="zh-CN" b="1" i="1">
                  <a:solidFill>
                    <a:srgbClr val="FF0000"/>
                  </a:solidFill>
                  <a:latin typeface="Times New Roman" pitchFamily="18" charset="0"/>
                </a:rPr>
                <a:t>i</a:t>
              </a:r>
              <a:r>
                <a:rPr lang="en-US" altLang="zh-CN" b="1">
                  <a:solidFill>
                    <a:srgbClr val="FF0000"/>
                  </a:solidFill>
                  <a:latin typeface="Times New Roman" pitchFamily="18" charset="0"/>
                </a:rPr>
                <a:t>(</a:t>
              </a:r>
              <a:r>
                <a:rPr lang="en-US" altLang="zh-CN" b="1" i="1">
                  <a:solidFill>
                    <a:srgbClr val="FF0000"/>
                  </a:solidFill>
                  <a:latin typeface="Times New Roman" pitchFamily="18" charset="0"/>
                </a:rPr>
                <a:t>t</a:t>
              </a:r>
              <a:r>
                <a:rPr lang="en-US" altLang="zh-CN" b="1">
                  <a:solidFill>
                    <a:srgbClr val="FF0000"/>
                  </a:solidFill>
                  <a:latin typeface="Times New Roman" pitchFamily="18" charset="0"/>
                </a:rPr>
                <a:t>)</a:t>
              </a:r>
            </a:p>
          </p:txBody>
        </p:sp>
        <p:sp>
          <p:nvSpPr>
            <p:cNvPr id="24609" name="Text Box 82"/>
            <p:cNvSpPr txBox="1">
              <a:spLocks noChangeArrowheads="1"/>
            </p:cNvSpPr>
            <p:nvPr/>
          </p:nvSpPr>
          <p:spPr bwMode="auto">
            <a:xfrm>
              <a:off x="3470" y="1752"/>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t</a:t>
              </a:r>
              <a:r>
                <a:rPr lang="en-US" altLang="zh-CN" b="1" baseline="-25000">
                  <a:latin typeface="Times New Roman" pitchFamily="18" charset="0"/>
                </a:rPr>
                <a:t>0</a:t>
              </a:r>
              <a:endParaRPr lang="en-US" altLang="zh-CN" b="1">
                <a:latin typeface="Times New Roman" pitchFamily="18" charset="0"/>
              </a:endParaRPr>
            </a:p>
          </p:txBody>
        </p:sp>
        <p:sp>
          <p:nvSpPr>
            <p:cNvPr id="24610" name="Text Box 83"/>
            <p:cNvSpPr txBox="1">
              <a:spLocks noChangeArrowheads="1"/>
            </p:cNvSpPr>
            <p:nvPr/>
          </p:nvSpPr>
          <p:spPr bwMode="auto">
            <a:xfrm>
              <a:off x="3878" y="1752"/>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t</a:t>
              </a:r>
              <a:r>
                <a:rPr lang="en-US" altLang="zh-CN" b="1" baseline="-25000">
                  <a:latin typeface="Times New Roman" pitchFamily="18" charset="0"/>
                </a:rPr>
                <a:t>1</a:t>
              </a:r>
              <a:endParaRPr lang="en-US" altLang="zh-CN" b="1">
                <a:latin typeface="Times New Roman" pitchFamily="18" charset="0"/>
              </a:endParaRPr>
            </a:p>
          </p:txBody>
        </p:sp>
        <p:sp>
          <p:nvSpPr>
            <p:cNvPr id="24611" name="Text Box 84"/>
            <p:cNvSpPr txBox="1">
              <a:spLocks noChangeArrowheads="1"/>
            </p:cNvSpPr>
            <p:nvPr/>
          </p:nvSpPr>
          <p:spPr bwMode="auto">
            <a:xfrm>
              <a:off x="4468" y="1752"/>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t</a:t>
              </a:r>
            </a:p>
          </p:txBody>
        </p:sp>
        <p:sp>
          <p:nvSpPr>
            <p:cNvPr id="24612" name="Line 85"/>
            <p:cNvSpPr>
              <a:spLocks noChangeShapeType="1"/>
            </p:cNvSpPr>
            <p:nvPr/>
          </p:nvSpPr>
          <p:spPr bwMode="auto">
            <a:xfrm>
              <a:off x="3969" y="1253"/>
              <a:ext cx="0" cy="544"/>
            </a:xfrm>
            <a:prstGeom prst="line">
              <a:avLst/>
            </a:prstGeom>
            <a:noFill/>
            <a:ln w="9525">
              <a:solidFill>
                <a:schemeClr val="tx1"/>
              </a:solidFill>
              <a:prstDash val="dash"/>
              <a:round/>
              <a:headEnd/>
              <a:tailEnd/>
            </a:ln>
          </p:spPr>
          <p:txBody>
            <a:bodyPr/>
            <a:lstStyle/>
            <a:p>
              <a:endParaRPr lang="zh-CN" altLang="en-US"/>
            </a:p>
          </p:txBody>
        </p:sp>
      </p:grpSp>
      <p:sp>
        <p:nvSpPr>
          <p:cNvPr id="7254" name="Rectangle 86"/>
          <p:cNvSpPr>
            <a:spLocks noChangeArrowheads="1"/>
          </p:cNvSpPr>
          <p:nvPr/>
        </p:nvSpPr>
        <p:spPr bwMode="auto">
          <a:xfrm>
            <a:off x="250825" y="981075"/>
            <a:ext cx="1441450" cy="534988"/>
          </a:xfrm>
          <a:prstGeom prst="rect">
            <a:avLst/>
          </a:prstGeom>
          <a:solidFill>
            <a:srgbClr val="CCFFCC"/>
          </a:solidFill>
          <a:ln w="9525">
            <a:solidFill>
              <a:srgbClr val="00FF00"/>
            </a:solid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电场能量</a:t>
            </a:r>
          </a:p>
        </p:txBody>
      </p:sp>
      <p:sp>
        <p:nvSpPr>
          <p:cNvPr id="7255" name="Rectangle 87"/>
          <p:cNvSpPr>
            <a:spLocks noChangeArrowheads="1"/>
          </p:cNvSpPr>
          <p:nvPr/>
        </p:nvSpPr>
        <p:spPr bwMode="auto">
          <a:xfrm>
            <a:off x="250825" y="1557338"/>
            <a:ext cx="1441450" cy="534987"/>
          </a:xfrm>
          <a:prstGeom prst="rect">
            <a:avLst/>
          </a:prstGeom>
          <a:solidFill>
            <a:srgbClr val="CCFFCC"/>
          </a:solidFill>
          <a:ln w="9525">
            <a:solidFill>
              <a:srgbClr val="00FF00"/>
            </a:solid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磁场能量</a:t>
            </a:r>
          </a:p>
        </p:txBody>
      </p:sp>
      <p:sp>
        <p:nvSpPr>
          <p:cNvPr id="7256" name="Rectangle 88"/>
          <p:cNvSpPr>
            <a:spLocks noChangeArrowheads="1"/>
          </p:cNvSpPr>
          <p:nvPr/>
        </p:nvSpPr>
        <p:spPr bwMode="auto">
          <a:xfrm>
            <a:off x="1763713" y="981075"/>
            <a:ext cx="6288087" cy="534988"/>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0000"/>
                </a:solidFill>
                <a:ea typeface="楷体_GB2312" pitchFamily="49" charset="-122"/>
              </a:rPr>
              <a:t>外力克服静电场力作功转化为静电场的能量</a:t>
            </a:r>
          </a:p>
        </p:txBody>
      </p:sp>
      <p:sp>
        <p:nvSpPr>
          <p:cNvPr id="7257" name="Rectangle 89"/>
          <p:cNvSpPr>
            <a:spLocks noChangeArrowheads="1"/>
          </p:cNvSpPr>
          <p:nvPr/>
        </p:nvSpPr>
        <p:spPr bwMode="auto">
          <a:xfrm>
            <a:off x="1763713" y="1557338"/>
            <a:ext cx="6911975" cy="534987"/>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0000"/>
                </a:solidFill>
                <a:ea typeface="楷体_GB2312" pitchFamily="49" charset="-122"/>
              </a:rPr>
              <a:t>电源克服感应电动势所作的功转化为磁场的能量</a:t>
            </a:r>
          </a:p>
        </p:txBody>
      </p:sp>
      <p:graphicFrame>
        <p:nvGraphicFramePr>
          <p:cNvPr id="7258" name="Object 90"/>
          <p:cNvGraphicFramePr>
            <a:graphicFrameLocks noChangeAspect="1"/>
          </p:cNvGraphicFramePr>
          <p:nvPr/>
        </p:nvGraphicFramePr>
        <p:xfrm>
          <a:off x="3132138" y="3206750"/>
          <a:ext cx="2266950" cy="727075"/>
        </p:xfrm>
        <a:graphic>
          <a:graphicData uri="http://schemas.openxmlformats.org/presentationml/2006/ole">
            <p:oleObj spid="_x0000_s24581" name="公式" r:id="rId7" imgW="1400099" imgH="371520" progId="Equation.3">
              <p:embed/>
            </p:oleObj>
          </a:graphicData>
        </a:graphic>
      </p:graphicFrame>
      <p:sp>
        <p:nvSpPr>
          <p:cNvPr id="7259" name="AutoShape 91"/>
          <p:cNvSpPr>
            <a:spLocks noChangeArrowheads="1"/>
          </p:cNvSpPr>
          <p:nvPr/>
        </p:nvSpPr>
        <p:spPr bwMode="auto">
          <a:xfrm>
            <a:off x="466725" y="3508375"/>
            <a:ext cx="433388" cy="144463"/>
          </a:xfrm>
          <a:prstGeom prst="rightArrow">
            <a:avLst>
              <a:gd name="adj1" fmla="val 50000"/>
              <a:gd name="adj2" fmla="val 75000"/>
            </a:avLst>
          </a:prstGeom>
          <a:solidFill>
            <a:srgbClr val="0000FF"/>
          </a:solidFill>
          <a:ln w="9525" algn="ctr">
            <a:solidFill>
              <a:schemeClr val="tx1"/>
            </a:solidFill>
            <a:miter lim="800000"/>
            <a:headEnd/>
            <a:tailEnd/>
          </a:ln>
        </p:spPr>
        <p:txBody>
          <a:bodyPr wrap="none" anchor="ctr"/>
          <a:lstStyle/>
          <a:p>
            <a:endParaRPr lang="zh-CN" altLang="en-US"/>
          </a:p>
        </p:txBody>
      </p:sp>
      <p:sp>
        <p:nvSpPr>
          <p:cNvPr id="7260" name="AutoShape 92"/>
          <p:cNvSpPr>
            <a:spLocks noChangeArrowheads="1"/>
          </p:cNvSpPr>
          <p:nvPr/>
        </p:nvSpPr>
        <p:spPr bwMode="auto">
          <a:xfrm>
            <a:off x="2627313" y="3524250"/>
            <a:ext cx="433387" cy="144463"/>
          </a:xfrm>
          <a:prstGeom prst="rightArrow">
            <a:avLst>
              <a:gd name="adj1" fmla="val 50000"/>
              <a:gd name="adj2" fmla="val 75000"/>
            </a:avLst>
          </a:prstGeom>
          <a:solidFill>
            <a:srgbClr val="0000FF"/>
          </a:solidFill>
          <a:ln w="9525" algn="ctr">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254"/>
                                        </p:tgtEl>
                                        <p:attrNameLst>
                                          <p:attrName>style.visibility</p:attrName>
                                        </p:attrNameLst>
                                      </p:cBhvr>
                                      <p:to>
                                        <p:strVal val="visible"/>
                                      </p:to>
                                    </p:set>
                                    <p:animEffect transition="in" filter="wipe(left)">
                                      <p:cBhvr>
                                        <p:cTn id="7" dur="500"/>
                                        <p:tgtEl>
                                          <p:spTgt spid="72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256"/>
                                        </p:tgtEl>
                                        <p:attrNameLst>
                                          <p:attrName>style.visibility</p:attrName>
                                        </p:attrNameLst>
                                      </p:cBhvr>
                                      <p:to>
                                        <p:strVal val="visible"/>
                                      </p:to>
                                    </p:set>
                                    <p:animEffect transition="in" filter="wipe(left)">
                                      <p:cBhvr>
                                        <p:cTn id="12" dur="500"/>
                                        <p:tgtEl>
                                          <p:spTgt spid="725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255"/>
                                        </p:tgtEl>
                                        <p:attrNameLst>
                                          <p:attrName>style.visibility</p:attrName>
                                        </p:attrNameLst>
                                      </p:cBhvr>
                                      <p:to>
                                        <p:strVal val="visible"/>
                                      </p:to>
                                    </p:set>
                                    <p:animEffect transition="in" filter="wipe(left)">
                                      <p:cBhvr>
                                        <p:cTn id="17" dur="500"/>
                                        <p:tgtEl>
                                          <p:spTgt spid="72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257"/>
                                        </p:tgtEl>
                                        <p:attrNameLst>
                                          <p:attrName>style.visibility</p:attrName>
                                        </p:attrNameLst>
                                      </p:cBhvr>
                                      <p:to>
                                        <p:strVal val="visible"/>
                                      </p:to>
                                    </p:set>
                                    <p:animEffect transition="in" filter="wipe(left)">
                                      <p:cBhvr>
                                        <p:cTn id="22" dur="500"/>
                                        <p:tgtEl>
                                          <p:spTgt spid="72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73"/>
                                        </p:tgtEl>
                                        <p:attrNameLst>
                                          <p:attrName>style.visibility</p:attrName>
                                        </p:attrNameLst>
                                      </p:cBhvr>
                                      <p:to>
                                        <p:strVal val="visible"/>
                                      </p:to>
                                    </p:set>
                                    <p:animEffect transition="in" filter="wipe(left)">
                                      <p:cBhvr>
                                        <p:cTn id="27" dur="500"/>
                                        <p:tgtEl>
                                          <p:spTgt spid="717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177"/>
                                        </p:tgtEl>
                                        <p:attrNameLst>
                                          <p:attrName>style.visibility</p:attrName>
                                        </p:attrNameLst>
                                      </p:cBhvr>
                                      <p:to>
                                        <p:strVal val="visible"/>
                                      </p:to>
                                    </p:set>
                                    <p:animEffect transition="in" filter="wipe(left)">
                                      <p:cBhvr>
                                        <p:cTn id="32" dur="500"/>
                                        <p:tgtEl>
                                          <p:spTgt spid="71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178"/>
                                        </p:tgtEl>
                                        <p:attrNameLst>
                                          <p:attrName>style.visibility</p:attrName>
                                        </p:attrNameLst>
                                      </p:cBhvr>
                                      <p:to>
                                        <p:strVal val="visible"/>
                                      </p:to>
                                    </p:set>
                                    <p:animEffect transition="in" filter="wipe(left)">
                                      <p:cBhvr>
                                        <p:cTn id="42" dur="500"/>
                                        <p:tgtEl>
                                          <p:spTgt spid="717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179"/>
                                        </p:tgtEl>
                                        <p:attrNameLst>
                                          <p:attrName>style.visibility</p:attrName>
                                        </p:attrNameLst>
                                      </p:cBhvr>
                                      <p:to>
                                        <p:strVal val="visible"/>
                                      </p:to>
                                    </p:set>
                                    <p:animEffect transition="in" filter="wipe(left)">
                                      <p:cBhvr>
                                        <p:cTn id="52" dur="500"/>
                                        <p:tgtEl>
                                          <p:spTgt spid="717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7259"/>
                                        </p:tgtEl>
                                        <p:attrNameLst>
                                          <p:attrName>style.visibility</p:attrName>
                                        </p:attrNameLst>
                                      </p:cBhvr>
                                      <p:to>
                                        <p:strVal val="visible"/>
                                      </p:to>
                                    </p:set>
                                    <p:animEffect transition="in" filter="wipe(left)">
                                      <p:cBhvr>
                                        <p:cTn id="57" dur="500"/>
                                        <p:tgtEl>
                                          <p:spTgt spid="7259"/>
                                        </p:tgtEl>
                                      </p:cBhvr>
                                    </p:animEffect>
                                  </p:childTnLst>
                                </p:cTn>
                              </p:par>
                            </p:childTnLst>
                          </p:cTn>
                        </p:par>
                        <p:par>
                          <p:cTn id="58" fill="hold" nodeType="afterGroup">
                            <p:stCondLst>
                              <p:cond delay="500"/>
                            </p:stCondLst>
                            <p:childTnLst>
                              <p:par>
                                <p:cTn id="59" presetID="22" presetClass="entr" presetSubtype="8" fill="hold" nodeType="afterEffect">
                                  <p:stCondLst>
                                    <p:cond delay="0"/>
                                  </p:stCondLst>
                                  <p:childTnLst>
                                    <p:set>
                                      <p:cBhvr>
                                        <p:cTn id="60" dur="1" fill="hold">
                                          <p:stCondLst>
                                            <p:cond delay="0"/>
                                          </p:stCondLst>
                                        </p:cTn>
                                        <p:tgtEl>
                                          <p:spTgt spid="7180"/>
                                        </p:tgtEl>
                                        <p:attrNameLst>
                                          <p:attrName>style.visibility</p:attrName>
                                        </p:attrNameLst>
                                      </p:cBhvr>
                                      <p:to>
                                        <p:strVal val="visible"/>
                                      </p:to>
                                    </p:set>
                                    <p:animEffect transition="in" filter="wipe(left)">
                                      <p:cBhvr>
                                        <p:cTn id="61" dur="500"/>
                                        <p:tgtEl>
                                          <p:spTgt spid="718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7260"/>
                                        </p:tgtEl>
                                        <p:attrNameLst>
                                          <p:attrName>style.visibility</p:attrName>
                                        </p:attrNameLst>
                                      </p:cBhvr>
                                      <p:to>
                                        <p:strVal val="visible"/>
                                      </p:to>
                                    </p:set>
                                    <p:animEffect transition="in" filter="wipe(left)">
                                      <p:cBhvr>
                                        <p:cTn id="66" dur="500"/>
                                        <p:tgtEl>
                                          <p:spTgt spid="7260"/>
                                        </p:tgtEl>
                                      </p:cBhvr>
                                    </p:animEffect>
                                  </p:childTnLst>
                                </p:cTn>
                              </p:par>
                            </p:childTnLst>
                          </p:cTn>
                        </p:par>
                        <p:par>
                          <p:cTn id="67" fill="hold" nodeType="afterGroup">
                            <p:stCondLst>
                              <p:cond delay="500"/>
                            </p:stCondLst>
                            <p:childTnLst>
                              <p:par>
                                <p:cTn id="68" presetID="22" presetClass="entr" presetSubtype="8" fill="hold" nodeType="afterEffect">
                                  <p:stCondLst>
                                    <p:cond delay="0"/>
                                  </p:stCondLst>
                                  <p:childTnLst>
                                    <p:set>
                                      <p:cBhvr>
                                        <p:cTn id="69" dur="1" fill="hold">
                                          <p:stCondLst>
                                            <p:cond delay="0"/>
                                          </p:stCondLst>
                                        </p:cTn>
                                        <p:tgtEl>
                                          <p:spTgt spid="7258"/>
                                        </p:tgtEl>
                                        <p:attrNameLst>
                                          <p:attrName>style.visibility</p:attrName>
                                        </p:attrNameLst>
                                      </p:cBhvr>
                                      <p:to>
                                        <p:strVal val="visible"/>
                                      </p:to>
                                    </p:set>
                                    <p:animEffect transition="in" filter="wipe(left)">
                                      <p:cBhvr>
                                        <p:cTn id="70" dur="500"/>
                                        <p:tgtEl>
                                          <p:spTgt spid="7258"/>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7181"/>
                                        </p:tgtEl>
                                        <p:attrNameLst>
                                          <p:attrName>style.visibility</p:attrName>
                                        </p:attrNameLst>
                                      </p:cBhvr>
                                      <p:to>
                                        <p:strVal val="visible"/>
                                      </p:to>
                                    </p:set>
                                    <p:animEffect transition="in" filter="wipe(left)">
                                      <p:cBhvr>
                                        <p:cTn id="75" dur="500"/>
                                        <p:tgtEl>
                                          <p:spTgt spid="7181"/>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7192"/>
                                        </p:tgtEl>
                                        <p:attrNameLst>
                                          <p:attrName>style.visibility</p:attrName>
                                        </p:attrNameLst>
                                      </p:cBhvr>
                                      <p:to>
                                        <p:strVal val="visible"/>
                                      </p:to>
                                    </p:set>
                                    <p:animEffect transition="in" filter="wipe(up)">
                                      <p:cBhvr>
                                        <p:cTn id="80" dur="500"/>
                                        <p:tgtEl>
                                          <p:spTgt spid="719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7194"/>
                                        </p:tgtEl>
                                        <p:attrNameLst>
                                          <p:attrName>style.visibility</p:attrName>
                                        </p:attrNameLst>
                                      </p:cBhvr>
                                      <p:to>
                                        <p:strVal val="visible"/>
                                      </p:to>
                                    </p:set>
                                    <p:animEffect transition="in" filter="wipe(up)">
                                      <p:cBhvr>
                                        <p:cTn id="85" dur="500"/>
                                        <p:tgtEl>
                                          <p:spTgt spid="7194"/>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7193"/>
                                        </p:tgtEl>
                                        <p:attrNameLst>
                                          <p:attrName>style.visibility</p:attrName>
                                        </p:attrNameLst>
                                      </p:cBhvr>
                                      <p:to>
                                        <p:strVal val="visible"/>
                                      </p:to>
                                    </p:set>
                                    <p:animEffect transition="in" filter="wipe(up)">
                                      <p:cBhvr>
                                        <p:cTn id="90" dur="500"/>
                                        <p:tgtEl>
                                          <p:spTgt spid="7193"/>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7195"/>
                                        </p:tgtEl>
                                        <p:attrNameLst>
                                          <p:attrName>style.visibility</p:attrName>
                                        </p:attrNameLst>
                                      </p:cBhvr>
                                      <p:to>
                                        <p:strVal val="visible"/>
                                      </p:to>
                                    </p:set>
                                    <p:animEffect transition="in" filter="wipe(left)">
                                      <p:cBhvr>
                                        <p:cTn id="95" dur="500"/>
                                        <p:tgtEl>
                                          <p:spTgt spid="7195"/>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3" presetClass="entr" presetSubtype="5" fill="hold" nodeType="clickEffect">
                                  <p:stCondLst>
                                    <p:cond delay="0"/>
                                  </p:stCondLst>
                                  <p:childTnLst>
                                    <p:set>
                                      <p:cBhvr>
                                        <p:cTn id="99" dur="1" fill="hold">
                                          <p:stCondLst>
                                            <p:cond delay="0"/>
                                          </p:stCondLst>
                                        </p:cTn>
                                        <p:tgtEl>
                                          <p:spTgt spid="5"/>
                                        </p:tgtEl>
                                        <p:attrNameLst>
                                          <p:attrName>style.visibility</p:attrName>
                                        </p:attrNameLst>
                                      </p:cBhvr>
                                      <p:to>
                                        <p:strVal val="visible"/>
                                      </p:to>
                                    </p:set>
                                    <p:animEffect transition="in" filter="blinds(vertical)">
                                      <p:cBhvr>
                                        <p:cTn id="10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 grpId="0" autoUpdateAnimBg="0"/>
      <p:bldP spid="7177" grpId="0" autoUpdateAnimBg="0"/>
      <p:bldP spid="7178" grpId="0" autoUpdateAnimBg="0"/>
      <p:bldP spid="7192" grpId="0" animBg="1"/>
      <p:bldP spid="7193" grpId="0" animBg="1"/>
      <p:bldP spid="7194" grpId="0" animBg="1"/>
      <p:bldP spid="7195" grpId="0" autoUpdateAnimBg="0"/>
      <p:bldP spid="7254" grpId="0" animBg="1" autoUpdateAnimBg="0"/>
      <p:bldP spid="7255" grpId="0" animBg="1" autoUpdateAnimBg="0"/>
      <p:bldP spid="7256" grpId="0" autoUpdateAnimBg="0"/>
      <p:bldP spid="7257" grpId="0" autoUpdateAnimBg="0"/>
      <p:bldP spid="7259" grpId="0" animBg="1"/>
      <p:bldP spid="726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p:cNvSpPr txBox="1">
            <a:spLocks noChangeArrowheads="1"/>
          </p:cNvSpPr>
          <p:nvPr/>
        </p:nvSpPr>
        <p:spPr bwMode="auto">
          <a:xfrm>
            <a:off x="180975" y="476250"/>
            <a:ext cx="3527425" cy="493713"/>
          </a:xfrm>
          <a:prstGeom prst="rect">
            <a:avLst/>
          </a:prstGeom>
          <a:noFill/>
          <a:ln w="9525">
            <a:noFill/>
            <a:miter lim="800000"/>
            <a:headEnd/>
            <a:tailEnd/>
          </a:ln>
        </p:spPr>
        <p:txBody>
          <a:bodyPr>
            <a:spAutoFit/>
          </a:bodyPr>
          <a:lstStyle/>
          <a:p>
            <a:pPr algn="l">
              <a:lnSpc>
                <a:spcPct val="120000"/>
              </a:lnSpc>
            </a:pPr>
            <a:r>
              <a:rPr kumimoji="1" lang="zh-CN" altLang="en-US" sz="2200" b="1">
                <a:latin typeface="Times New Roman" pitchFamily="18" charset="0"/>
                <a:ea typeface="楷体_GB2312" pitchFamily="49" charset="-122"/>
              </a:rPr>
              <a:t>当 </a:t>
            </a:r>
            <a:r>
              <a:rPr kumimoji="1" lang="en-US" altLang="zh-CN" sz="2200" b="1" i="1">
                <a:solidFill>
                  <a:srgbClr val="FF6600"/>
                </a:solidFill>
                <a:latin typeface="Times New Roman" pitchFamily="18" charset="0"/>
                <a:ea typeface="楷体_GB2312" pitchFamily="49" charset="-122"/>
              </a:rPr>
              <a:t>K</a:t>
            </a:r>
            <a:r>
              <a:rPr kumimoji="1" lang="en-US" altLang="zh-CN" sz="2200" b="1" baseline="-25000">
                <a:solidFill>
                  <a:srgbClr val="FF6600"/>
                </a:solidFill>
                <a:latin typeface="Times New Roman" pitchFamily="18" charset="0"/>
                <a:ea typeface="楷体_GB2312" pitchFamily="49" charset="-122"/>
              </a:rPr>
              <a:t>1</a:t>
            </a:r>
            <a:r>
              <a:rPr kumimoji="1" lang="en-US" altLang="zh-CN" sz="2200" b="1" i="1">
                <a:solidFill>
                  <a:srgbClr val="FF6600"/>
                </a:solidFill>
                <a:latin typeface="Times New Roman" pitchFamily="18" charset="0"/>
                <a:ea typeface="楷体_GB2312" pitchFamily="49" charset="-122"/>
              </a:rPr>
              <a:t> </a:t>
            </a:r>
            <a:r>
              <a:rPr kumimoji="1" lang="zh-CN" altLang="en-US" sz="2200" b="1">
                <a:latin typeface="Times New Roman" pitchFamily="18" charset="0"/>
                <a:ea typeface="楷体_GB2312" pitchFamily="49" charset="-122"/>
              </a:rPr>
              <a:t>断开，接通 </a:t>
            </a:r>
            <a:r>
              <a:rPr kumimoji="1" lang="en-US" altLang="zh-CN" sz="2200" b="1" i="1">
                <a:solidFill>
                  <a:srgbClr val="FF6600"/>
                </a:solidFill>
                <a:latin typeface="Times New Roman" pitchFamily="18" charset="0"/>
                <a:ea typeface="楷体_GB2312" pitchFamily="49" charset="-122"/>
              </a:rPr>
              <a:t>K</a:t>
            </a:r>
            <a:r>
              <a:rPr kumimoji="1" lang="en-US" altLang="zh-CN" sz="2200" b="1" baseline="-25000">
                <a:solidFill>
                  <a:srgbClr val="FF6600"/>
                </a:solidFill>
                <a:latin typeface="Times New Roman" pitchFamily="18" charset="0"/>
                <a:ea typeface="楷体_GB2312" pitchFamily="49" charset="-122"/>
              </a:rPr>
              <a:t>2 </a:t>
            </a:r>
            <a:r>
              <a:rPr kumimoji="1" lang="zh-CN" altLang="en-US" sz="2200" b="1">
                <a:latin typeface="Times New Roman" pitchFamily="18" charset="0"/>
                <a:ea typeface="楷体_GB2312" pitchFamily="49" charset="-122"/>
              </a:rPr>
              <a:t>时</a:t>
            </a:r>
          </a:p>
        </p:txBody>
      </p:sp>
      <p:graphicFrame>
        <p:nvGraphicFramePr>
          <p:cNvPr id="32773" name="Object 5"/>
          <p:cNvGraphicFramePr>
            <a:graphicFrameLocks/>
          </p:cNvGraphicFramePr>
          <p:nvPr/>
        </p:nvGraphicFramePr>
        <p:xfrm>
          <a:off x="3321050" y="547688"/>
          <a:ext cx="889000" cy="388937"/>
        </p:xfrm>
        <a:graphic>
          <a:graphicData uri="http://schemas.openxmlformats.org/presentationml/2006/ole">
            <p:oleObj spid="_x0000_s25602" name="公式" r:id="rId3" imgW="457335" imgH="180900" progId="Equation.3">
              <p:embed/>
            </p:oleObj>
          </a:graphicData>
        </a:graphic>
      </p:graphicFrame>
      <p:graphicFrame>
        <p:nvGraphicFramePr>
          <p:cNvPr id="32774" name="Object 6"/>
          <p:cNvGraphicFramePr>
            <a:graphicFrameLocks/>
          </p:cNvGraphicFramePr>
          <p:nvPr/>
        </p:nvGraphicFramePr>
        <p:xfrm>
          <a:off x="1419225" y="1779588"/>
          <a:ext cx="2216150" cy="641350"/>
        </p:xfrm>
        <a:graphic>
          <a:graphicData uri="http://schemas.openxmlformats.org/presentationml/2006/ole">
            <p:oleObj spid="_x0000_s25603" name="公式" r:id="rId4" imgW="1190746" imgH="314280" progId="Equation.3">
              <p:embed/>
            </p:oleObj>
          </a:graphicData>
        </a:graphic>
      </p:graphicFrame>
      <p:graphicFrame>
        <p:nvGraphicFramePr>
          <p:cNvPr id="32775" name="Object 7"/>
          <p:cNvGraphicFramePr>
            <a:graphicFrameLocks/>
          </p:cNvGraphicFramePr>
          <p:nvPr/>
        </p:nvGraphicFramePr>
        <p:xfrm>
          <a:off x="1416050" y="1052513"/>
          <a:ext cx="2032000" cy="733425"/>
        </p:xfrm>
        <a:graphic>
          <a:graphicData uri="http://schemas.openxmlformats.org/presentationml/2006/ole">
            <p:oleObj spid="_x0000_s25604" name="公式" r:id="rId5" imgW="1095389" imgH="371520" progId="Equation.3">
              <p:embed/>
            </p:oleObj>
          </a:graphicData>
        </a:graphic>
      </p:graphicFrame>
      <p:sp>
        <p:nvSpPr>
          <p:cNvPr id="32781" name="AutoShape 13"/>
          <p:cNvSpPr>
            <a:spLocks noChangeArrowheads="1"/>
          </p:cNvSpPr>
          <p:nvPr/>
        </p:nvSpPr>
        <p:spPr bwMode="auto">
          <a:xfrm>
            <a:off x="539750" y="2708275"/>
            <a:ext cx="1954213" cy="871538"/>
          </a:xfrm>
          <a:prstGeom prst="wedgeRectCallout">
            <a:avLst>
              <a:gd name="adj1" fmla="val 28356"/>
              <a:gd name="adj2" fmla="val -89736"/>
            </a:avLst>
          </a:prstGeom>
          <a:solidFill>
            <a:srgbClr val="99CCFF"/>
          </a:solidFill>
          <a:ln w="9525">
            <a:solidFill>
              <a:srgbClr val="00CCFF"/>
            </a:solidFill>
            <a:miter lim="800000"/>
            <a:headEnd/>
            <a:tailEnd/>
          </a:ln>
        </p:spPr>
        <p:txBody>
          <a:bodyPr/>
          <a:lstStyle/>
          <a:p>
            <a:pPr>
              <a:lnSpc>
                <a:spcPct val="120000"/>
              </a:lnSpc>
            </a:pPr>
            <a:r>
              <a:rPr lang="zh-CN" altLang="en-US" sz="2200" b="1">
                <a:solidFill>
                  <a:srgbClr val="FF0000"/>
                </a:solidFill>
                <a:ea typeface="楷体_GB2312" pitchFamily="49" charset="-122"/>
              </a:rPr>
              <a:t>储存于线圈磁场中的磁场能</a:t>
            </a:r>
          </a:p>
        </p:txBody>
      </p:sp>
      <p:sp>
        <p:nvSpPr>
          <p:cNvPr id="32782" name="AutoShape 14"/>
          <p:cNvSpPr>
            <a:spLocks noChangeArrowheads="1"/>
          </p:cNvSpPr>
          <p:nvPr/>
        </p:nvSpPr>
        <p:spPr bwMode="auto">
          <a:xfrm>
            <a:off x="2884488" y="2708275"/>
            <a:ext cx="1687512" cy="871538"/>
          </a:xfrm>
          <a:prstGeom prst="wedgeRectCallout">
            <a:avLst>
              <a:gd name="adj1" fmla="val -40602"/>
              <a:gd name="adj2" fmla="val -101319"/>
            </a:avLst>
          </a:prstGeom>
          <a:solidFill>
            <a:srgbClr val="99CCFF"/>
          </a:solidFill>
          <a:ln w="9525">
            <a:solidFill>
              <a:srgbClr val="00CCFF"/>
            </a:solidFill>
            <a:miter lim="800000"/>
            <a:headEnd/>
            <a:tailEnd/>
          </a:ln>
        </p:spPr>
        <p:txBody>
          <a:bodyPr/>
          <a:lstStyle/>
          <a:p>
            <a:pPr>
              <a:lnSpc>
                <a:spcPct val="120000"/>
              </a:lnSpc>
            </a:pPr>
            <a:r>
              <a:rPr lang="zh-CN" altLang="en-US" sz="2200" b="1">
                <a:solidFill>
                  <a:srgbClr val="FF0000"/>
                </a:solidFill>
                <a:ea typeface="楷体_GB2312" pitchFamily="49" charset="-122"/>
              </a:rPr>
              <a:t>电阻消耗的焦耳热</a:t>
            </a:r>
          </a:p>
        </p:txBody>
      </p:sp>
      <p:sp>
        <p:nvSpPr>
          <p:cNvPr id="32783" name="Text Box 15"/>
          <p:cNvSpPr txBox="1">
            <a:spLocks noChangeArrowheads="1"/>
          </p:cNvSpPr>
          <p:nvPr/>
        </p:nvSpPr>
        <p:spPr bwMode="auto">
          <a:xfrm>
            <a:off x="179388" y="3652838"/>
            <a:ext cx="4968875" cy="530225"/>
          </a:xfrm>
          <a:prstGeom prst="rect">
            <a:avLst/>
          </a:prstGeom>
          <a:noFill/>
          <a:ln w="9525">
            <a:noFill/>
            <a:miter lim="800000"/>
            <a:headEnd/>
            <a:tailEnd/>
          </a:ln>
        </p:spPr>
        <p:txBody>
          <a:bodyPr>
            <a:spAutoFit/>
          </a:bodyPr>
          <a:lstStyle/>
          <a:p>
            <a:pPr algn="l">
              <a:lnSpc>
                <a:spcPct val="120000"/>
              </a:lnSpc>
              <a:buClr>
                <a:srgbClr val="00FFFF"/>
              </a:buClr>
              <a:buFont typeface="Wingdings" pitchFamily="2" charset="2"/>
              <a:buNone/>
            </a:pPr>
            <a:r>
              <a:rPr kumimoji="1" lang="zh-CN" altLang="en-US" sz="2400" b="1">
                <a:solidFill>
                  <a:srgbClr val="FF0000"/>
                </a:solidFill>
                <a:latin typeface="Times New Roman" pitchFamily="18" charset="0"/>
              </a:rPr>
              <a:t>结论：</a:t>
            </a:r>
            <a:r>
              <a:rPr kumimoji="1" lang="zh-CN" altLang="en-US" sz="2400" b="1">
                <a:solidFill>
                  <a:srgbClr val="006600"/>
                </a:solidFill>
                <a:latin typeface="楷体_GB2312" pitchFamily="49" charset="-122"/>
                <a:ea typeface="楷体_GB2312" pitchFamily="49" charset="-122"/>
              </a:rPr>
              <a:t>通有电流的线圈存在能量</a:t>
            </a:r>
            <a:r>
              <a:rPr kumimoji="1" lang="zh-CN" altLang="en-US" sz="2400" b="1">
                <a:solidFill>
                  <a:srgbClr val="66FFFF"/>
                </a:solidFill>
                <a:latin typeface="楷体_GB2312" pitchFamily="49" charset="-122"/>
                <a:ea typeface="楷体_GB2312" pitchFamily="49" charset="-122"/>
                <a:cs typeface="Times New Roman" pitchFamily="18" charset="0"/>
              </a:rPr>
              <a:t> </a:t>
            </a:r>
            <a:endParaRPr kumimoji="1" lang="zh-CN" altLang="en-US" sz="2400" b="1">
              <a:solidFill>
                <a:srgbClr val="66FFFF"/>
              </a:solidFill>
              <a:latin typeface="楷体_GB2312" pitchFamily="49" charset="-122"/>
              <a:ea typeface="楷体_GB2312" pitchFamily="49" charset="-122"/>
            </a:endParaRPr>
          </a:p>
        </p:txBody>
      </p:sp>
      <p:sp>
        <p:nvSpPr>
          <p:cNvPr id="32784" name="Text Box 16"/>
          <p:cNvSpPr txBox="1">
            <a:spLocks noChangeArrowheads="1"/>
          </p:cNvSpPr>
          <p:nvPr/>
        </p:nvSpPr>
        <p:spPr bwMode="auto">
          <a:xfrm>
            <a:off x="3563938" y="4090988"/>
            <a:ext cx="1714500" cy="530225"/>
          </a:xfrm>
          <a:prstGeom prst="rect">
            <a:avLst/>
          </a:prstGeom>
          <a:noFill/>
          <a:ln w="9525">
            <a:noFill/>
            <a:miter lim="800000"/>
            <a:headEnd/>
            <a:tailEnd/>
          </a:ln>
        </p:spPr>
        <p:txBody>
          <a:bodyPr wrap="none">
            <a:spAutoFit/>
          </a:bodyPr>
          <a:lstStyle/>
          <a:p>
            <a:pPr algn="l">
              <a:lnSpc>
                <a:spcPct val="120000"/>
              </a:lnSpc>
            </a:pPr>
            <a:r>
              <a:rPr kumimoji="1" lang="en-US" altLang="zh-CN" sz="2400" b="1">
                <a:solidFill>
                  <a:srgbClr val="9900CC"/>
                </a:solidFill>
                <a:latin typeface="Times New Roman" pitchFamily="18" charset="0"/>
                <a:ea typeface="楷体_GB2312" pitchFamily="49" charset="-122"/>
              </a:rPr>
              <a:t>——</a:t>
            </a:r>
            <a:r>
              <a:rPr kumimoji="1" lang="en-US" altLang="zh-CN" sz="2400" b="1">
                <a:solidFill>
                  <a:srgbClr val="9900CC"/>
                </a:solidFill>
                <a:latin typeface="楷体_GB2312" pitchFamily="49" charset="-122"/>
                <a:ea typeface="楷体_GB2312" pitchFamily="49" charset="-122"/>
              </a:rPr>
              <a:t> </a:t>
            </a:r>
            <a:r>
              <a:rPr kumimoji="1" lang="zh-CN" altLang="en-US" sz="2400" b="1">
                <a:solidFill>
                  <a:srgbClr val="9900CC"/>
                </a:solidFill>
                <a:latin typeface="楷体_GB2312" pitchFamily="49" charset="-122"/>
                <a:ea typeface="楷体_GB2312" pitchFamily="49" charset="-122"/>
              </a:rPr>
              <a:t>磁能</a:t>
            </a:r>
            <a:r>
              <a:rPr kumimoji="1" lang="zh-CN" altLang="en-US" sz="2400" b="1">
                <a:solidFill>
                  <a:srgbClr val="9900CC"/>
                </a:solidFill>
                <a:latin typeface="楷体_GB2312" pitchFamily="49" charset="-122"/>
                <a:ea typeface="楷体_GB2312" pitchFamily="49" charset="-122"/>
                <a:cs typeface="Times New Roman" pitchFamily="18" charset="0"/>
              </a:rPr>
              <a:t> </a:t>
            </a:r>
            <a:endParaRPr kumimoji="1" lang="zh-CN" altLang="en-US" sz="2400" b="1">
              <a:solidFill>
                <a:srgbClr val="9900CC"/>
              </a:solidFill>
              <a:latin typeface="楷体_GB2312" pitchFamily="49" charset="-122"/>
              <a:ea typeface="楷体_GB2312" pitchFamily="49" charset="-122"/>
            </a:endParaRPr>
          </a:p>
        </p:txBody>
      </p:sp>
      <p:sp>
        <p:nvSpPr>
          <p:cNvPr id="32787" name="Text Box 19"/>
          <p:cNvSpPr txBox="1">
            <a:spLocks noChangeArrowheads="1"/>
          </p:cNvSpPr>
          <p:nvPr/>
        </p:nvSpPr>
        <p:spPr bwMode="auto">
          <a:xfrm>
            <a:off x="107950" y="4692650"/>
            <a:ext cx="8642350" cy="96837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自感为 </a:t>
            </a:r>
            <a:r>
              <a:rPr kumimoji="1" lang="en-US" altLang="zh-CN" sz="2400" b="1" i="1">
                <a:solidFill>
                  <a:srgbClr val="FF0000"/>
                </a:solidFill>
                <a:latin typeface="Times New Roman" pitchFamily="18" charset="0"/>
                <a:ea typeface="楷体_GB2312" pitchFamily="49" charset="-122"/>
              </a:rPr>
              <a:t>L</a:t>
            </a:r>
            <a:r>
              <a:rPr kumimoji="1" lang="en-US" altLang="zh-CN" sz="2400" b="1">
                <a:solidFill>
                  <a:srgbClr val="FF0000"/>
                </a:solidFill>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的线圈中通有电流 </a:t>
            </a:r>
            <a:r>
              <a:rPr kumimoji="1" lang="zh-CN" altLang="en-US" sz="2400" b="1">
                <a:solidFill>
                  <a:srgbClr val="FF0000"/>
                </a:solidFill>
                <a:latin typeface="Times New Roman" pitchFamily="18" charset="0"/>
                <a:ea typeface="楷体_GB2312" pitchFamily="49" charset="-122"/>
              </a:rPr>
              <a:t> </a:t>
            </a:r>
            <a:r>
              <a:rPr kumimoji="1" lang="en-US" altLang="zh-CN" sz="2400" b="1" i="1">
                <a:solidFill>
                  <a:srgbClr val="FF0000"/>
                </a:solidFill>
                <a:latin typeface="Times New Roman" pitchFamily="18" charset="0"/>
                <a:ea typeface="楷体_GB2312" pitchFamily="49" charset="-122"/>
              </a:rPr>
              <a:t>I  </a:t>
            </a:r>
            <a:r>
              <a:rPr kumimoji="1" lang="zh-CN" altLang="en-US" sz="2400" b="1">
                <a:latin typeface="Times New Roman" pitchFamily="18" charset="0"/>
                <a:ea typeface="楷体_GB2312" pitchFamily="49" charset="-122"/>
              </a:rPr>
              <a:t>时所储存的磁能为电流</a:t>
            </a:r>
            <a:r>
              <a:rPr kumimoji="1" lang="zh-CN" altLang="en-US" sz="2400" b="1" i="1">
                <a:solidFill>
                  <a:srgbClr val="FF0000"/>
                </a:solidFill>
                <a:latin typeface="Times New Roman" pitchFamily="18" charset="0"/>
                <a:ea typeface="楷体_GB2312" pitchFamily="49" charset="-122"/>
              </a:rPr>
              <a:t>  </a:t>
            </a:r>
            <a:r>
              <a:rPr kumimoji="1" lang="en-US" altLang="zh-CN" sz="2400" b="1" i="1">
                <a:solidFill>
                  <a:srgbClr val="FF0000"/>
                </a:solidFill>
                <a:latin typeface="Times New Roman" pitchFamily="18" charset="0"/>
                <a:ea typeface="楷体_GB2312" pitchFamily="49" charset="-122"/>
              </a:rPr>
              <a:t>I  </a:t>
            </a:r>
            <a:r>
              <a:rPr kumimoji="1" lang="zh-CN" altLang="en-US" sz="2400" b="1">
                <a:latin typeface="Times New Roman" pitchFamily="18" charset="0"/>
                <a:ea typeface="楷体_GB2312" pitchFamily="49" charset="-122"/>
              </a:rPr>
              <a:t>消失时自感电动势所做的功：</a:t>
            </a:r>
          </a:p>
        </p:txBody>
      </p:sp>
      <p:graphicFrame>
        <p:nvGraphicFramePr>
          <p:cNvPr id="32788" name="Object 20"/>
          <p:cNvGraphicFramePr>
            <a:graphicFrameLocks noChangeAspect="1"/>
          </p:cNvGraphicFramePr>
          <p:nvPr/>
        </p:nvGraphicFramePr>
        <p:xfrm>
          <a:off x="1001713" y="5805488"/>
          <a:ext cx="2274887" cy="593725"/>
        </p:xfrm>
        <a:graphic>
          <a:graphicData uri="http://schemas.openxmlformats.org/presentationml/2006/ole">
            <p:oleObj spid="_x0000_s25605" name="公式" r:id="rId6" imgW="1228835" imgH="295380" progId="Equation.3">
              <p:embed/>
            </p:oleObj>
          </a:graphicData>
        </a:graphic>
      </p:graphicFrame>
      <p:graphicFrame>
        <p:nvGraphicFramePr>
          <p:cNvPr id="32789" name="Object 21"/>
          <p:cNvGraphicFramePr>
            <a:graphicFrameLocks noChangeAspect="1"/>
          </p:cNvGraphicFramePr>
          <p:nvPr/>
        </p:nvGraphicFramePr>
        <p:xfrm>
          <a:off x="3363913" y="5734050"/>
          <a:ext cx="935037" cy="733425"/>
        </p:xfrm>
        <a:graphic>
          <a:graphicData uri="http://schemas.openxmlformats.org/presentationml/2006/ole">
            <p:oleObj spid="_x0000_s25606" name="公式" r:id="rId7" imgW="485699" imgH="371520" progId="Equation.3">
              <p:embed/>
            </p:oleObj>
          </a:graphicData>
        </a:graphic>
      </p:graphicFrame>
      <p:graphicFrame>
        <p:nvGraphicFramePr>
          <p:cNvPr id="32790" name="Object 22"/>
          <p:cNvGraphicFramePr>
            <a:graphicFrameLocks noChangeAspect="1"/>
          </p:cNvGraphicFramePr>
          <p:nvPr/>
        </p:nvGraphicFramePr>
        <p:xfrm>
          <a:off x="4414838" y="5934075"/>
          <a:ext cx="658812" cy="411163"/>
        </p:xfrm>
        <a:graphic>
          <a:graphicData uri="http://schemas.openxmlformats.org/presentationml/2006/ole">
            <p:oleObj spid="_x0000_s25607" name="公式" r:id="rId8" imgW="333344" imgH="190620" progId="Equation.3">
              <p:embed/>
            </p:oleObj>
          </a:graphicData>
        </a:graphic>
      </p:graphicFrame>
      <p:sp>
        <p:nvSpPr>
          <p:cNvPr id="32791" name="Text Box 23"/>
          <p:cNvSpPr txBox="1">
            <a:spLocks noChangeArrowheads="1"/>
          </p:cNvSpPr>
          <p:nvPr/>
        </p:nvSpPr>
        <p:spPr bwMode="auto">
          <a:xfrm>
            <a:off x="5246688" y="5876925"/>
            <a:ext cx="2376487" cy="534988"/>
          </a:xfrm>
          <a:prstGeom prst="rect">
            <a:avLst/>
          </a:prstGeom>
          <a:noFill/>
          <a:ln w="9525">
            <a:noFill/>
            <a:miter lim="800000"/>
            <a:headEnd/>
            <a:tailEnd/>
          </a:ln>
        </p:spPr>
        <p:txBody>
          <a:bodyPr>
            <a:spAutoFit/>
          </a:bodyPr>
          <a:lstStyle/>
          <a:p>
            <a:pPr algn="l">
              <a:lnSpc>
                <a:spcPct val="120000"/>
              </a:lnSpc>
              <a:spcBef>
                <a:spcPct val="50000"/>
              </a:spcBef>
            </a:pPr>
            <a:r>
              <a:rPr kumimoji="1" lang="en-US" altLang="zh-CN" sz="2400" b="1">
                <a:solidFill>
                  <a:srgbClr val="9900CC"/>
                </a:solidFill>
                <a:ea typeface="楷体_GB2312" pitchFamily="49" charset="-122"/>
              </a:rPr>
              <a:t>(</a:t>
            </a:r>
            <a:r>
              <a:rPr kumimoji="1" lang="zh-CN" altLang="en-US" sz="2400" b="1">
                <a:solidFill>
                  <a:srgbClr val="9900CC"/>
                </a:solidFill>
                <a:ea typeface="楷体_GB2312" pitchFamily="49" charset="-122"/>
              </a:rPr>
              <a:t>自感磁能公式</a:t>
            </a:r>
            <a:r>
              <a:rPr kumimoji="1" lang="en-US" altLang="zh-CN" sz="2400" b="1">
                <a:solidFill>
                  <a:srgbClr val="9900CC"/>
                </a:solidFill>
                <a:ea typeface="楷体_GB2312" pitchFamily="49" charset="-122"/>
              </a:rPr>
              <a:t>)</a:t>
            </a:r>
          </a:p>
        </p:txBody>
      </p:sp>
      <p:grpSp>
        <p:nvGrpSpPr>
          <p:cNvPr id="2" name="Group 68"/>
          <p:cNvGrpSpPr>
            <a:grpSpLocks/>
          </p:cNvGrpSpPr>
          <p:nvPr/>
        </p:nvGrpSpPr>
        <p:grpSpPr bwMode="auto">
          <a:xfrm>
            <a:off x="5580063" y="333375"/>
            <a:ext cx="2879725" cy="2124075"/>
            <a:chOff x="3515" y="210"/>
            <a:chExt cx="1814" cy="1338"/>
          </a:xfrm>
        </p:grpSpPr>
        <p:grpSp>
          <p:nvGrpSpPr>
            <p:cNvPr id="25634" name="Group 24"/>
            <p:cNvGrpSpPr>
              <a:grpSpLocks/>
            </p:cNvGrpSpPr>
            <p:nvPr/>
          </p:nvGrpSpPr>
          <p:grpSpPr bwMode="auto">
            <a:xfrm>
              <a:off x="3515" y="210"/>
              <a:ext cx="1814" cy="1338"/>
              <a:chOff x="3334" y="2115"/>
              <a:chExt cx="1814" cy="1338"/>
            </a:xfrm>
          </p:grpSpPr>
          <p:grpSp>
            <p:nvGrpSpPr>
              <p:cNvPr id="25640" name="Group 25"/>
              <p:cNvGrpSpPr>
                <a:grpSpLocks/>
              </p:cNvGrpSpPr>
              <p:nvPr/>
            </p:nvGrpSpPr>
            <p:grpSpPr bwMode="auto">
              <a:xfrm>
                <a:off x="4302" y="2308"/>
                <a:ext cx="589" cy="136"/>
                <a:chOff x="930" y="3249"/>
                <a:chExt cx="589" cy="136"/>
              </a:xfrm>
            </p:grpSpPr>
            <p:sp>
              <p:nvSpPr>
                <p:cNvPr id="25667" name="Oval 26"/>
                <p:cNvSpPr>
                  <a:spLocks noChangeArrowheads="1"/>
                </p:cNvSpPr>
                <p:nvPr/>
              </p:nvSpPr>
              <p:spPr bwMode="auto">
                <a:xfrm>
                  <a:off x="1020"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5668" name="Oval 27"/>
                <p:cNvSpPr>
                  <a:spLocks noChangeArrowheads="1"/>
                </p:cNvSpPr>
                <p:nvPr/>
              </p:nvSpPr>
              <p:spPr bwMode="auto">
                <a:xfrm>
                  <a:off x="1111"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5669" name="Oval 28"/>
                <p:cNvSpPr>
                  <a:spLocks noChangeArrowheads="1"/>
                </p:cNvSpPr>
                <p:nvPr/>
              </p:nvSpPr>
              <p:spPr bwMode="auto">
                <a:xfrm>
                  <a:off x="1201"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5670" name="Oval 29"/>
                <p:cNvSpPr>
                  <a:spLocks noChangeArrowheads="1"/>
                </p:cNvSpPr>
                <p:nvPr/>
              </p:nvSpPr>
              <p:spPr bwMode="auto">
                <a:xfrm>
                  <a:off x="1292"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5671" name="Oval 30"/>
                <p:cNvSpPr>
                  <a:spLocks noChangeArrowheads="1"/>
                </p:cNvSpPr>
                <p:nvPr/>
              </p:nvSpPr>
              <p:spPr bwMode="auto">
                <a:xfrm>
                  <a:off x="1383" y="3249"/>
                  <a:ext cx="91" cy="91"/>
                </a:xfrm>
                <a:prstGeom prst="ellipse">
                  <a:avLst/>
                </a:prstGeom>
                <a:noFill/>
                <a:ln w="31750">
                  <a:solidFill>
                    <a:srgbClr val="FF0000"/>
                  </a:solidFill>
                  <a:round/>
                  <a:headEnd/>
                  <a:tailEnd/>
                </a:ln>
              </p:spPr>
              <p:txBody>
                <a:bodyPr wrap="none" anchor="ctr"/>
                <a:lstStyle/>
                <a:p>
                  <a:endParaRPr lang="zh-CN" altLang="en-US"/>
                </a:p>
              </p:txBody>
            </p:sp>
            <p:sp>
              <p:nvSpPr>
                <p:cNvPr id="25672" name="Rectangle 31"/>
                <p:cNvSpPr>
                  <a:spLocks noChangeArrowheads="1"/>
                </p:cNvSpPr>
                <p:nvPr/>
              </p:nvSpPr>
              <p:spPr bwMode="auto">
                <a:xfrm>
                  <a:off x="930" y="3294"/>
                  <a:ext cx="589" cy="91"/>
                </a:xfrm>
                <a:prstGeom prst="rect">
                  <a:avLst/>
                </a:prstGeom>
                <a:solidFill>
                  <a:schemeClr val="bg1"/>
                </a:solidFill>
                <a:ln w="9525">
                  <a:noFill/>
                  <a:miter lim="800000"/>
                  <a:headEnd/>
                  <a:tailEnd/>
                </a:ln>
              </p:spPr>
              <p:txBody>
                <a:bodyPr wrap="none" anchor="ctr"/>
                <a:lstStyle/>
                <a:p>
                  <a:endParaRPr lang="zh-CN" altLang="en-US"/>
                </a:p>
              </p:txBody>
            </p:sp>
          </p:grpSp>
          <p:sp>
            <p:nvSpPr>
              <p:cNvPr id="25641" name="Rectangle 32"/>
              <p:cNvSpPr>
                <a:spLocks noChangeArrowheads="1"/>
              </p:cNvSpPr>
              <p:nvPr/>
            </p:nvSpPr>
            <p:spPr bwMode="auto">
              <a:xfrm>
                <a:off x="3606" y="2296"/>
                <a:ext cx="409" cy="91"/>
              </a:xfrm>
              <a:prstGeom prst="rect">
                <a:avLst/>
              </a:prstGeom>
              <a:gradFill rotWithShape="1">
                <a:gsLst>
                  <a:gs pos="0">
                    <a:srgbClr val="996600"/>
                  </a:gs>
                  <a:gs pos="100000">
                    <a:srgbClr val="FFFF00"/>
                  </a:gs>
                </a:gsLst>
                <a:lin ang="5400000" scaled="1"/>
              </a:gradFill>
              <a:ln w="9525">
                <a:solidFill>
                  <a:schemeClr val="tx1"/>
                </a:solidFill>
                <a:miter lim="800000"/>
                <a:headEnd/>
                <a:tailEnd/>
              </a:ln>
            </p:spPr>
            <p:txBody>
              <a:bodyPr wrap="none" anchor="ctr"/>
              <a:lstStyle/>
              <a:p>
                <a:endParaRPr lang="zh-CN" altLang="en-US"/>
              </a:p>
            </p:txBody>
          </p:sp>
          <p:sp>
            <p:nvSpPr>
              <p:cNvPr id="25642" name="Line 33"/>
              <p:cNvSpPr>
                <a:spLocks noChangeShapeType="1"/>
              </p:cNvSpPr>
              <p:nvPr/>
            </p:nvSpPr>
            <p:spPr bwMode="auto">
              <a:xfrm flipH="1">
                <a:off x="3334" y="2341"/>
                <a:ext cx="272" cy="0"/>
              </a:xfrm>
              <a:prstGeom prst="line">
                <a:avLst/>
              </a:prstGeom>
              <a:noFill/>
              <a:ln w="9525">
                <a:solidFill>
                  <a:schemeClr val="tx1"/>
                </a:solidFill>
                <a:round/>
                <a:headEnd/>
                <a:tailEnd/>
              </a:ln>
            </p:spPr>
            <p:txBody>
              <a:bodyPr/>
              <a:lstStyle/>
              <a:p>
                <a:endParaRPr lang="zh-CN" altLang="en-US"/>
              </a:p>
            </p:txBody>
          </p:sp>
          <p:sp>
            <p:nvSpPr>
              <p:cNvPr id="25643" name="Line 34"/>
              <p:cNvSpPr>
                <a:spLocks noChangeShapeType="1"/>
              </p:cNvSpPr>
              <p:nvPr/>
            </p:nvSpPr>
            <p:spPr bwMode="auto">
              <a:xfrm>
                <a:off x="3334" y="2341"/>
                <a:ext cx="0" cy="862"/>
              </a:xfrm>
              <a:prstGeom prst="line">
                <a:avLst/>
              </a:prstGeom>
              <a:noFill/>
              <a:ln w="9525">
                <a:solidFill>
                  <a:schemeClr val="tx1"/>
                </a:solidFill>
                <a:round/>
                <a:headEnd/>
                <a:tailEnd/>
              </a:ln>
            </p:spPr>
            <p:txBody>
              <a:bodyPr/>
              <a:lstStyle/>
              <a:p>
                <a:endParaRPr lang="zh-CN" altLang="en-US"/>
              </a:p>
            </p:txBody>
          </p:sp>
          <p:sp>
            <p:nvSpPr>
              <p:cNvPr id="25644" name="Line 35"/>
              <p:cNvSpPr>
                <a:spLocks noChangeShapeType="1"/>
              </p:cNvSpPr>
              <p:nvPr/>
            </p:nvSpPr>
            <p:spPr bwMode="auto">
              <a:xfrm>
                <a:off x="3334" y="3203"/>
                <a:ext cx="408" cy="0"/>
              </a:xfrm>
              <a:prstGeom prst="line">
                <a:avLst/>
              </a:prstGeom>
              <a:noFill/>
              <a:ln w="9525">
                <a:solidFill>
                  <a:schemeClr val="tx1"/>
                </a:solidFill>
                <a:round/>
                <a:headEnd/>
                <a:tailEnd/>
              </a:ln>
            </p:spPr>
            <p:txBody>
              <a:bodyPr/>
              <a:lstStyle/>
              <a:p>
                <a:endParaRPr lang="zh-CN" altLang="en-US"/>
              </a:p>
            </p:txBody>
          </p:sp>
          <p:sp>
            <p:nvSpPr>
              <p:cNvPr id="25645" name="Line 36"/>
              <p:cNvSpPr>
                <a:spLocks noChangeShapeType="1"/>
              </p:cNvSpPr>
              <p:nvPr/>
            </p:nvSpPr>
            <p:spPr bwMode="auto">
              <a:xfrm flipV="1">
                <a:off x="5148" y="2341"/>
                <a:ext cx="0" cy="862"/>
              </a:xfrm>
              <a:prstGeom prst="line">
                <a:avLst/>
              </a:prstGeom>
              <a:noFill/>
              <a:ln w="9525">
                <a:solidFill>
                  <a:schemeClr val="tx1"/>
                </a:solidFill>
                <a:round/>
                <a:headEnd/>
                <a:tailEnd/>
              </a:ln>
            </p:spPr>
            <p:txBody>
              <a:bodyPr/>
              <a:lstStyle/>
              <a:p>
                <a:endParaRPr lang="zh-CN" altLang="en-US"/>
              </a:p>
            </p:txBody>
          </p:sp>
          <p:sp>
            <p:nvSpPr>
              <p:cNvPr id="25646" name="Line 37"/>
              <p:cNvSpPr>
                <a:spLocks noChangeShapeType="1"/>
              </p:cNvSpPr>
              <p:nvPr/>
            </p:nvSpPr>
            <p:spPr bwMode="auto">
              <a:xfrm>
                <a:off x="4014" y="2341"/>
                <a:ext cx="363" cy="0"/>
              </a:xfrm>
              <a:prstGeom prst="line">
                <a:avLst/>
              </a:prstGeom>
              <a:noFill/>
              <a:ln w="9525">
                <a:solidFill>
                  <a:schemeClr val="tx1"/>
                </a:solidFill>
                <a:round/>
                <a:headEnd/>
                <a:tailEnd/>
              </a:ln>
            </p:spPr>
            <p:txBody>
              <a:bodyPr/>
              <a:lstStyle/>
              <a:p>
                <a:endParaRPr lang="zh-CN" altLang="en-US"/>
              </a:p>
            </p:txBody>
          </p:sp>
          <p:sp>
            <p:nvSpPr>
              <p:cNvPr id="25647" name="Line 38"/>
              <p:cNvSpPr>
                <a:spLocks noChangeShapeType="1"/>
              </p:cNvSpPr>
              <p:nvPr/>
            </p:nvSpPr>
            <p:spPr bwMode="auto">
              <a:xfrm>
                <a:off x="4830" y="2341"/>
                <a:ext cx="318" cy="0"/>
              </a:xfrm>
              <a:prstGeom prst="line">
                <a:avLst/>
              </a:prstGeom>
              <a:noFill/>
              <a:ln w="9525">
                <a:solidFill>
                  <a:schemeClr val="tx1"/>
                </a:solidFill>
                <a:round/>
                <a:headEnd/>
                <a:tailEnd/>
              </a:ln>
            </p:spPr>
            <p:txBody>
              <a:bodyPr/>
              <a:lstStyle/>
              <a:p>
                <a:endParaRPr lang="zh-CN" altLang="en-US"/>
              </a:p>
            </p:txBody>
          </p:sp>
          <p:sp>
            <p:nvSpPr>
              <p:cNvPr id="25648" name="Line 39"/>
              <p:cNvSpPr>
                <a:spLocks noChangeShapeType="1"/>
              </p:cNvSpPr>
              <p:nvPr/>
            </p:nvSpPr>
            <p:spPr bwMode="auto">
              <a:xfrm>
                <a:off x="3334" y="2795"/>
                <a:ext cx="1043" cy="0"/>
              </a:xfrm>
              <a:prstGeom prst="line">
                <a:avLst/>
              </a:prstGeom>
              <a:noFill/>
              <a:ln w="9525">
                <a:solidFill>
                  <a:schemeClr val="tx1"/>
                </a:solidFill>
                <a:round/>
                <a:headEnd/>
                <a:tailEnd/>
              </a:ln>
            </p:spPr>
            <p:txBody>
              <a:bodyPr/>
              <a:lstStyle/>
              <a:p>
                <a:endParaRPr lang="zh-CN" altLang="en-US"/>
              </a:p>
            </p:txBody>
          </p:sp>
          <p:sp>
            <p:nvSpPr>
              <p:cNvPr id="25649" name="Line 40"/>
              <p:cNvSpPr>
                <a:spLocks noChangeShapeType="1"/>
              </p:cNvSpPr>
              <p:nvPr/>
            </p:nvSpPr>
            <p:spPr bwMode="auto">
              <a:xfrm>
                <a:off x="4604" y="2795"/>
                <a:ext cx="544" cy="0"/>
              </a:xfrm>
              <a:prstGeom prst="line">
                <a:avLst/>
              </a:prstGeom>
              <a:noFill/>
              <a:ln w="9525">
                <a:solidFill>
                  <a:schemeClr val="tx1"/>
                </a:solidFill>
                <a:round/>
                <a:headEnd/>
                <a:tailEnd/>
              </a:ln>
            </p:spPr>
            <p:txBody>
              <a:bodyPr/>
              <a:lstStyle/>
              <a:p>
                <a:endParaRPr lang="zh-CN" altLang="en-US"/>
              </a:p>
            </p:txBody>
          </p:sp>
          <p:sp>
            <p:nvSpPr>
              <p:cNvPr id="25650" name="Oval 41"/>
              <p:cNvSpPr>
                <a:spLocks noChangeArrowheads="1"/>
              </p:cNvSpPr>
              <p:nvPr/>
            </p:nvSpPr>
            <p:spPr bwMode="auto">
              <a:xfrm>
                <a:off x="4377" y="2771"/>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5651" name="Oval 42"/>
              <p:cNvSpPr>
                <a:spLocks noChangeArrowheads="1"/>
              </p:cNvSpPr>
              <p:nvPr/>
            </p:nvSpPr>
            <p:spPr bwMode="auto">
              <a:xfrm>
                <a:off x="4604" y="2762"/>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5652" name="Line 43"/>
              <p:cNvSpPr>
                <a:spLocks noChangeShapeType="1"/>
              </p:cNvSpPr>
              <p:nvPr/>
            </p:nvSpPr>
            <p:spPr bwMode="auto">
              <a:xfrm>
                <a:off x="3742" y="3113"/>
                <a:ext cx="0" cy="181"/>
              </a:xfrm>
              <a:prstGeom prst="line">
                <a:avLst/>
              </a:prstGeom>
              <a:noFill/>
              <a:ln w="15875">
                <a:solidFill>
                  <a:schemeClr val="tx1"/>
                </a:solidFill>
                <a:round/>
                <a:headEnd/>
                <a:tailEnd/>
              </a:ln>
            </p:spPr>
            <p:txBody>
              <a:bodyPr/>
              <a:lstStyle/>
              <a:p>
                <a:endParaRPr lang="zh-CN" altLang="en-US"/>
              </a:p>
            </p:txBody>
          </p:sp>
          <p:sp>
            <p:nvSpPr>
              <p:cNvPr id="25653" name="Line 44"/>
              <p:cNvSpPr>
                <a:spLocks noChangeShapeType="1"/>
              </p:cNvSpPr>
              <p:nvPr/>
            </p:nvSpPr>
            <p:spPr bwMode="auto">
              <a:xfrm>
                <a:off x="3787" y="3158"/>
                <a:ext cx="0" cy="91"/>
              </a:xfrm>
              <a:prstGeom prst="line">
                <a:avLst/>
              </a:prstGeom>
              <a:noFill/>
              <a:ln w="31750">
                <a:solidFill>
                  <a:schemeClr val="tx1"/>
                </a:solidFill>
                <a:round/>
                <a:headEnd/>
                <a:tailEnd/>
              </a:ln>
            </p:spPr>
            <p:txBody>
              <a:bodyPr/>
              <a:lstStyle/>
              <a:p>
                <a:endParaRPr lang="zh-CN" altLang="en-US"/>
              </a:p>
            </p:txBody>
          </p:sp>
          <p:sp>
            <p:nvSpPr>
              <p:cNvPr id="25654" name="Line 45"/>
              <p:cNvSpPr>
                <a:spLocks noChangeShapeType="1"/>
              </p:cNvSpPr>
              <p:nvPr/>
            </p:nvSpPr>
            <p:spPr bwMode="auto">
              <a:xfrm>
                <a:off x="3787" y="3203"/>
                <a:ext cx="454" cy="0"/>
              </a:xfrm>
              <a:prstGeom prst="line">
                <a:avLst/>
              </a:prstGeom>
              <a:noFill/>
              <a:ln w="9525">
                <a:solidFill>
                  <a:schemeClr val="tx1"/>
                </a:solidFill>
                <a:round/>
                <a:headEnd/>
                <a:tailEnd/>
              </a:ln>
            </p:spPr>
            <p:txBody>
              <a:bodyPr/>
              <a:lstStyle/>
              <a:p>
                <a:endParaRPr lang="zh-CN" altLang="en-US"/>
              </a:p>
            </p:txBody>
          </p:sp>
          <p:sp>
            <p:nvSpPr>
              <p:cNvPr id="25655" name="Line 46"/>
              <p:cNvSpPr>
                <a:spLocks noChangeShapeType="1"/>
              </p:cNvSpPr>
              <p:nvPr/>
            </p:nvSpPr>
            <p:spPr bwMode="auto">
              <a:xfrm>
                <a:off x="4422" y="3203"/>
                <a:ext cx="726" cy="0"/>
              </a:xfrm>
              <a:prstGeom prst="line">
                <a:avLst/>
              </a:prstGeom>
              <a:noFill/>
              <a:ln w="9525">
                <a:solidFill>
                  <a:schemeClr val="tx1"/>
                </a:solidFill>
                <a:round/>
                <a:headEnd/>
                <a:tailEnd/>
              </a:ln>
            </p:spPr>
            <p:txBody>
              <a:bodyPr/>
              <a:lstStyle/>
              <a:p>
                <a:endParaRPr lang="zh-CN" altLang="en-US"/>
              </a:p>
            </p:txBody>
          </p:sp>
          <p:sp>
            <p:nvSpPr>
              <p:cNvPr id="25656" name="Rectangle 47"/>
              <p:cNvSpPr>
                <a:spLocks noChangeArrowheads="1"/>
              </p:cNvSpPr>
              <p:nvPr/>
            </p:nvSpPr>
            <p:spPr bwMode="auto">
              <a:xfrm>
                <a:off x="4649" y="3167"/>
                <a:ext cx="318" cy="68"/>
              </a:xfrm>
              <a:prstGeom prst="rect">
                <a:avLst/>
              </a:prstGeom>
              <a:solidFill>
                <a:srgbClr val="808080"/>
              </a:solidFill>
              <a:ln w="9525">
                <a:solidFill>
                  <a:schemeClr val="tx1"/>
                </a:solidFill>
                <a:miter lim="800000"/>
                <a:headEnd/>
                <a:tailEnd/>
              </a:ln>
            </p:spPr>
            <p:txBody>
              <a:bodyPr wrap="none" anchor="ctr"/>
              <a:lstStyle/>
              <a:p>
                <a:endParaRPr lang="zh-CN" altLang="en-US"/>
              </a:p>
            </p:txBody>
          </p:sp>
          <p:sp>
            <p:nvSpPr>
              <p:cNvPr id="25657" name="Oval 48"/>
              <p:cNvSpPr>
                <a:spLocks noChangeArrowheads="1"/>
              </p:cNvSpPr>
              <p:nvPr/>
            </p:nvSpPr>
            <p:spPr bwMode="auto">
              <a:xfrm>
                <a:off x="4195" y="3170"/>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5658" name="Oval 49"/>
              <p:cNvSpPr>
                <a:spLocks noChangeArrowheads="1"/>
              </p:cNvSpPr>
              <p:nvPr/>
            </p:nvSpPr>
            <p:spPr bwMode="auto">
              <a:xfrm>
                <a:off x="4422" y="3173"/>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5659" name="Line 50"/>
              <p:cNvSpPr>
                <a:spLocks noChangeShapeType="1"/>
              </p:cNvSpPr>
              <p:nvPr/>
            </p:nvSpPr>
            <p:spPr bwMode="auto">
              <a:xfrm flipV="1">
                <a:off x="4404" y="2659"/>
                <a:ext cx="182" cy="136"/>
              </a:xfrm>
              <a:prstGeom prst="line">
                <a:avLst/>
              </a:prstGeom>
              <a:noFill/>
              <a:ln w="9525">
                <a:solidFill>
                  <a:schemeClr val="tx1"/>
                </a:solidFill>
                <a:round/>
                <a:headEnd/>
                <a:tailEnd/>
              </a:ln>
            </p:spPr>
            <p:txBody>
              <a:bodyPr/>
              <a:lstStyle/>
              <a:p>
                <a:endParaRPr lang="zh-CN" altLang="en-US"/>
              </a:p>
            </p:txBody>
          </p:sp>
          <p:sp>
            <p:nvSpPr>
              <p:cNvPr id="25660" name="Line 51"/>
              <p:cNvSpPr>
                <a:spLocks noChangeShapeType="1"/>
              </p:cNvSpPr>
              <p:nvPr/>
            </p:nvSpPr>
            <p:spPr bwMode="auto">
              <a:xfrm flipV="1">
                <a:off x="4223" y="3040"/>
                <a:ext cx="182" cy="136"/>
              </a:xfrm>
              <a:prstGeom prst="line">
                <a:avLst/>
              </a:prstGeom>
              <a:noFill/>
              <a:ln w="9525">
                <a:solidFill>
                  <a:schemeClr val="tx1"/>
                </a:solidFill>
                <a:round/>
                <a:headEnd/>
                <a:tailEnd/>
              </a:ln>
            </p:spPr>
            <p:txBody>
              <a:bodyPr/>
              <a:lstStyle/>
              <a:p>
                <a:endParaRPr lang="zh-CN" altLang="en-US"/>
              </a:p>
            </p:txBody>
          </p:sp>
          <p:sp>
            <p:nvSpPr>
              <p:cNvPr id="25661" name="Text Box 52"/>
              <p:cNvSpPr txBox="1">
                <a:spLocks noChangeArrowheads="1"/>
              </p:cNvSpPr>
              <p:nvPr/>
            </p:nvSpPr>
            <p:spPr bwMode="auto">
              <a:xfrm>
                <a:off x="3696" y="2115"/>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R</a:t>
                </a:r>
              </a:p>
            </p:txBody>
          </p:sp>
          <p:sp>
            <p:nvSpPr>
              <p:cNvPr id="25662" name="Text Box 53"/>
              <p:cNvSpPr txBox="1">
                <a:spLocks noChangeArrowheads="1"/>
              </p:cNvSpPr>
              <p:nvPr/>
            </p:nvSpPr>
            <p:spPr bwMode="auto">
              <a:xfrm>
                <a:off x="4468" y="2115"/>
                <a:ext cx="272" cy="231"/>
              </a:xfrm>
              <a:prstGeom prst="rect">
                <a:avLst/>
              </a:prstGeom>
              <a:noFill/>
              <a:ln w="9525">
                <a:noFill/>
                <a:miter lim="800000"/>
                <a:headEnd/>
                <a:tailEnd/>
              </a:ln>
            </p:spPr>
            <p:txBody>
              <a:bodyPr>
                <a:spAutoFit/>
              </a:bodyPr>
              <a:lstStyle/>
              <a:p>
                <a:pPr algn="l">
                  <a:spcBef>
                    <a:spcPct val="50000"/>
                  </a:spcBef>
                </a:pPr>
                <a:r>
                  <a:rPr lang="en-US" altLang="zh-CN" b="1" i="1">
                    <a:solidFill>
                      <a:srgbClr val="0000FF"/>
                    </a:solidFill>
                    <a:latin typeface="Times New Roman" pitchFamily="18" charset="0"/>
                  </a:rPr>
                  <a:t>L</a:t>
                </a:r>
              </a:p>
            </p:txBody>
          </p:sp>
          <p:sp>
            <p:nvSpPr>
              <p:cNvPr id="25663" name="Text Box 54"/>
              <p:cNvSpPr txBox="1">
                <a:spLocks noChangeArrowheads="1"/>
              </p:cNvSpPr>
              <p:nvPr/>
            </p:nvSpPr>
            <p:spPr bwMode="auto">
              <a:xfrm>
                <a:off x="3606" y="3203"/>
                <a:ext cx="227" cy="250"/>
              </a:xfrm>
              <a:prstGeom prst="rect">
                <a:avLst/>
              </a:prstGeom>
              <a:noFill/>
              <a:ln w="9525">
                <a:noFill/>
                <a:miter lim="800000"/>
                <a:headEnd/>
                <a:tailEnd/>
              </a:ln>
            </p:spPr>
            <p:txBody>
              <a:bodyPr>
                <a:spAutoFit/>
              </a:bodyPr>
              <a:lstStyle/>
              <a:p>
                <a:pPr algn="l">
                  <a:spcBef>
                    <a:spcPct val="50000"/>
                  </a:spcBef>
                </a:pPr>
                <a:r>
                  <a:rPr lang="en-US" altLang="zh-CN" sz="2000" b="1" i="1">
                    <a:solidFill>
                      <a:srgbClr val="FF0000"/>
                    </a:solidFill>
                    <a:latin typeface="Times New Roman" pitchFamily="18" charset="0"/>
                  </a:rPr>
                  <a:t>ε</a:t>
                </a:r>
              </a:p>
            </p:txBody>
          </p:sp>
          <p:sp>
            <p:nvSpPr>
              <p:cNvPr id="25664" name="Text Box 55"/>
              <p:cNvSpPr txBox="1">
                <a:spLocks noChangeArrowheads="1"/>
              </p:cNvSpPr>
              <p:nvPr/>
            </p:nvSpPr>
            <p:spPr bwMode="auto">
              <a:xfrm>
                <a:off x="4604" y="3203"/>
                <a:ext cx="363"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BX</a:t>
                </a:r>
              </a:p>
            </p:txBody>
          </p:sp>
          <p:sp>
            <p:nvSpPr>
              <p:cNvPr id="25665" name="Text Box 56"/>
              <p:cNvSpPr txBox="1">
                <a:spLocks noChangeArrowheads="1"/>
              </p:cNvSpPr>
              <p:nvPr/>
            </p:nvSpPr>
            <p:spPr bwMode="auto">
              <a:xfrm>
                <a:off x="4105" y="2523"/>
                <a:ext cx="317" cy="231"/>
              </a:xfrm>
              <a:prstGeom prst="rect">
                <a:avLst/>
              </a:prstGeom>
              <a:noFill/>
              <a:ln w="9525">
                <a:noFill/>
                <a:miter lim="800000"/>
                <a:headEnd/>
                <a:tailEnd/>
              </a:ln>
            </p:spPr>
            <p:txBody>
              <a:bodyPr>
                <a:spAutoFit/>
              </a:bodyPr>
              <a:lstStyle/>
              <a:p>
                <a:pPr algn="l">
                  <a:spcBef>
                    <a:spcPct val="50000"/>
                  </a:spcBef>
                </a:pPr>
                <a:r>
                  <a:rPr lang="en-US" altLang="zh-CN" b="1" i="1">
                    <a:solidFill>
                      <a:srgbClr val="008000"/>
                    </a:solidFill>
                    <a:latin typeface="Times New Roman" pitchFamily="18" charset="0"/>
                  </a:rPr>
                  <a:t>K</a:t>
                </a:r>
                <a:r>
                  <a:rPr lang="en-US" altLang="zh-CN" b="1" baseline="-25000">
                    <a:solidFill>
                      <a:srgbClr val="008000"/>
                    </a:solidFill>
                    <a:latin typeface="Times New Roman" pitchFamily="18" charset="0"/>
                  </a:rPr>
                  <a:t>2</a:t>
                </a:r>
                <a:endParaRPr lang="en-US" altLang="zh-CN" b="1">
                  <a:solidFill>
                    <a:srgbClr val="008000"/>
                  </a:solidFill>
                  <a:latin typeface="Times New Roman" pitchFamily="18" charset="0"/>
                </a:endParaRPr>
              </a:p>
            </p:txBody>
          </p:sp>
          <p:sp>
            <p:nvSpPr>
              <p:cNvPr id="25666" name="Text Box 57"/>
              <p:cNvSpPr txBox="1">
                <a:spLocks noChangeArrowheads="1"/>
              </p:cNvSpPr>
              <p:nvPr/>
            </p:nvSpPr>
            <p:spPr bwMode="auto">
              <a:xfrm>
                <a:off x="3969" y="2976"/>
                <a:ext cx="317" cy="231"/>
              </a:xfrm>
              <a:prstGeom prst="rect">
                <a:avLst/>
              </a:prstGeom>
              <a:noFill/>
              <a:ln w="9525">
                <a:noFill/>
                <a:miter lim="800000"/>
                <a:headEnd/>
                <a:tailEnd/>
              </a:ln>
            </p:spPr>
            <p:txBody>
              <a:bodyPr>
                <a:spAutoFit/>
              </a:bodyPr>
              <a:lstStyle/>
              <a:p>
                <a:pPr algn="l">
                  <a:spcBef>
                    <a:spcPct val="50000"/>
                  </a:spcBef>
                </a:pPr>
                <a:r>
                  <a:rPr lang="en-US" altLang="zh-CN" b="1" i="1">
                    <a:solidFill>
                      <a:srgbClr val="008000"/>
                    </a:solidFill>
                    <a:latin typeface="Times New Roman" pitchFamily="18" charset="0"/>
                  </a:rPr>
                  <a:t>K</a:t>
                </a:r>
                <a:r>
                  <a:rPr lang="en-US" altLang="zh-CN" b="1" baseline="-25000">
                    <a:solidFill>
                      <a:srgbClr val="008000"/>
                    </a:solidFill>
                    <a:latin typeface="Times New Roman" pitchFamily="18" charset="0"/>
                  </a:rPr>
                  <a:t>1</a:t>
                </a:r>
                <a:endParaRPr lang="en-US" altLang="zh-CN" b="1">
                  <a:solidFill>
                    <a:srgbClr val="008000"/>
                  </a:solidFill>
                  <a:latin typeface="Times New Roman" pitchFamily="18" charset="0"/>
                </a:endParaRPr>
              </a:p>
            </p:txBody>
          </p:sp>
        </p:grpSp>
        <p:grpSp>
          <p:nvGrpSpPr>
            <p:cNvPr id="25635" name="Group 63"/>
            <p:cNvGrpSpPr>
              <a:grpSpLocks/>
            </p:cNvGrpSpPr>
            <p:nvPr/>
          </p:nvGrpSpPr>
          <p:grpSpPr bwMode="auto">
            <a:xfrm>
              <a:off x="4558" y="639"/>
              <a:ext cx="272" cy="318"/>
              <a:chOff x="2381" y="2341"/>
              <a:chExt cx="272" cy="318"/>
            </a:xfrm>
          </p:grpSpPr>
          <p:sp>
            <p:nvSpPr>
              <p:cNvPr id="25636" name="Rectangle 64"/>
              <p:cNvSpPr>
                <a:spLocks noChangeArrowheads="1"/>
              </p:cNvSpPr>
              <p:nvPr/>
            </p:nvSpPr>
            <p:spPr bwMode="auto">
              <a:xfrm>
                <a:off x="2426" y="2341"/>
                <a:ext cx="182" cy="318"/>
              </a:xfrm>
              <a:prstGeom prst="rect">
                <a:avLst/>
              </a:prstGeom>
              <a:solidFill>
                <a:schemeClr val="bg1"/>
              </a:solidFill>
              <a:ln w="9525">
                <a:noFill/>
                <a:miter lim="800000"/>
                <a:headEnd/>
                <a:tailEnd/>
              </a:ln>
            </p:spPr>
            <p:txBody>
              <a:bodyPr wrap="none" anchor="ctr"/>
              <a:lstStyle/>
              <a:p>
                <a:endParaRPr lang="zh-CN" altLang="en-US"/>
              </a:p>
            </p:txBody>
          </p:sp>
          <p:sp>
            <p:nvSpPr>
              <p:cNvPr id="25637" name="Oval 65"/>
              <p:cNvSpPr>
                <a:spLocks noChangeArrowheads="1"/>
              </p:cNvSpPr>
              <p:nvPr/>
            </p:nvSpPr>
            <p:spPr bwMode="auto">
              <a:xfrm>
                <a:off x="2381" y="2565"/>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5638" name="Oval 66"/>
              <p:cNvSpPr>
                <a:spLocks noChangeArrowheads="1"/>
              </p:cNvSpPr>
              <p:nvPr/>
            </p:nvSpPr>
            <p:spPr bwMode="auto">
              <a:xfrm>
                <a:off x="2608" y="2568"/>
                <a:ext cx="45" cy="45"/>
              </a:xfrm>
              <a:prstGeom prst="ellipse">
                <a:avLst/>
              </a:prstGeom>
              <a:solidFill>
                <a:schemeClr val="tx1"/>
              </a:solidFill>
              <a:ln w="9525">
                <a:solidFill>
                  <a:schemeClr val="tx1"/>
                </a:solidFill>
                <a:round/>
                <a:headEnd/>
                <a:tailEnd/>
              </a:ln>
            </p:spPr>
            <p:txBody>
              <a:bodyPr wrap="none" anchor="ctr"/>
              <a:lstStyle/>
              <a:p>
                <a:endParaRPr lang="zh-CN" altLang="en-US"/>
              </a:p>
            </p:txBody>
          </p:sp>
          <p:sp>
            <p:nvSpPr>
              <p:cNvPr id="25639" name="Line 67"/>
              <p:cNvSpPr>
                <a:spLocks noChangeShapeType="1"/>
              </p:cNvSpPr>
              <p:nvPr/>
            </p:nvSpPr>
            <p:spPr bwMode="auto">
              <a:xfrm flipV="1">
                <a:off x="2409" y="2568"/>
                <a:ext cx="199" cy="3"/>
              </a:xfrm>
              <a:prstGeom prst="line">
                <a:avLst/>
              </a:prstGeom>
              <a:noFill/>
              <a:ln w="9525">
                <a:solidFill>
                  <a:schemeClr val="tx1"/>
                </a:solidFill>
                <a:round/>
                <a:headEnd/>
                <a:tailEnd/>
              </a:ln>
            </p:spPr>
            <p:txBody>
              <a:bodyPr/>
              <a:lstStyle/>
              <a:p>
                <a:endParaRPr lang="zh-CN" altLang="en-US"/>
              </a:p>
            </p:txBody>
          </p:sp>
        </p:grpSp>
      </p:grpSp>
      <p:grpSp>
        <p:nvGrpSpPr>
          <p:cNvPr id="6" name="Group 69"/>
          <p:cNvGrpSpPr>
            <a:grpSpLocks/>
          </p:cNvGrpSpPr>
          <p:nvPr/>
        </p:nvGrpSpPr>
        <p:grpSpPr bwMode="auto">
          <a:xfrm>
            <a:off x="5292725" y="2565400"/>
            <a:ext cx="3384550" cy="2093913"/>
            <a:chOff x="2880" y="709"/>
            <a:chExt cx="2132" cy="1319"/>
          </a:xfrm>
        </p:grpSpPr>
        <p:sp>
          <p:nvSpPr>
            <p:cNvPr id="25618" name="Line 70"/>
            <p:cNvSpPr>
              <a:spLocks noChangeShapeType="1"/>
            </p:cNvSpPr>
            <p:nvPr/>
          </p:nvSpPr>
          <p:spPr bwMode="auto">
            <a:xfrm flipV="1">
              <a:off x="3061" y="709"/>
              <a:ext cx="0" cy="1088"/>
            </a:xfrm>
            <a:prstGeom prst="line">
              <a:avLst/>
            </a:prstGeom>
            <a:noFill/>
            <a:ln w="9525">
              <a:solidFill>
                <a:schemeClr val="tx1"/>
              </a:solidFill>
              <a:round/>
              <a:headEnd/>
              <a:tailEnd type="triangle" w="med" len="med"/>
            </a:ln>
          </p:spPr>
          <p:txBody>
            <a:bodyPr/>
            <a:lstStyle/>
            <a:p>
              <a:endParaRPr lang="zh-CN" altLang="en-US"/>
            </a:p>
          </p:txBody>
        </p:sp>
        <p:sp>
          <p:nvSpPr>
            <p:cNvPr id="25619" name="Line 71"/>
            <p:cNvSpPr>
              <a:spLocks noChangeShapeType="1"/>
            </p:cNvSpPr>
            <p:nvPr/>
          </p:nvSpPr>
          <p:spPr bwMode="auto">
            <a:xfrm>
              <a:off x="3061" y="1797"/>
              <a:ext cx="1815" cy="0"/>
            </a:xfrm>
            <a:prstGeom prst="line">
              <a:avLst/>
            </a:prstGeom>
            <a:noFill/>
            <a:ln w="9525">
              <a:solidFill>
                <a:schemeClr val="tx1"/>
              </a:solidFill>
              <a:round/>
              <a:headEnd/>
              <a:tailEnd type="triangle" w="med" len="med"/>
            </a:ln>
          </p:spPr>
          <p:txBody>
            <a:bodyPr/>
            <a:lstStyle/>
            <a:p>
              <a:endParaRPr lang="zh-CN" altLang="en-US"/>
            </a:p>
          </p:txBody>
        </p:sp>
        <p:sp>
          <p:nvSpPr>
            <p:cNvPr id="25620" name="Freeform 72"/>
            <p:cNvSpPr>
              <a:spLocks/>
            </p:cNvSpPr>
            <p:nvPr/>
          </p:nvSpPr>
          <p:spPr bwMode="auto">
            <a:xfrm>
              <a:off x="3061" y="1253"/>
              <a:ext cx="499" cy="545"/>
            </a:xfrm>
            <a:custGeom>
              <a:avLst/>
              <a:gdLst>
                <a:gd name="T0" fmla="*/ 0 w 499"/>
                <a:gd name="T1" fmla="*/ 545 h 545"/>
                <a:gd name="T2" fmla="*/ 135 w 499"/>
                <a:gd name="T3" fmla="*/ 236 h 545"/>
                <a:gd name="T4" fmla="*/ 311 w 499"/>
                <a:gd name="T5" fmla="*/ 68 h 545"/>
                <a:gd name="T6" fmla="*/ 499 w 499"/>
                <a:gd name="T7" fmla="*/ 0 h 545"/>
                <a:gd name="T8" fmla="*/ 0 60000 65536"/>
                <a:gd name="T9" fmla="*/ 0 60000 65536"/>
                <a:gd name="T10" fmla="*/ 0 60000 65536"/>
                <a:gd name="T11" fmla="*/ 0 60000 65536"/>
                <a:gd name="T12" fmla="*/ 0 w 499"/>
                <a:gd name="T13" fmla="*/ 0 h 545"/>
                <a:gd name="T14" fmla="*/ 499 w 499"/>
                <a:gd name="T15" fmla="*/ 545 h 545"/>
              </a:gdLst>
              <a:ahLst/>
              <a:cxnLst>
                <a:cxn ang="T8">
                  <a:pos x="T0" y="T1"/>
                </a:cxn>
                <a:cxn ang="T9">
                  <a:pos x="T2" y="T3"/>
                </a:cxn>
                <a:cxn ang="T10">
                  <a:pos x="T4" y="T5"/>
                </a:cxn>
                <a:cxn ang="T11">
                  <a:pos x="T6" y="T7"/>
                </a:cxn>
              </a:cxnLst>
              <a:rect l="T12" t="T13" r="T14" b="T15"/>
              <a:pathLst>
                <a:path w="499" h="545">
                  <a:moveTo>
                    <a:pt x="0" y="545"/>
                  </a:moveTo>
                  <a:cubicBezTo>
                    <a:pt x="22" y="494"/>
                    <a:pt x="83" y="315"/>
                    <a:pt x="135" y="236"/>
                  </a:cubicBezTo>
                  <a:cubicBezTo>
                    <a:pt x="187" y="157"/>
                    <a:pt x="250" y="107"/>
                    <a:pt x="311" y="68"/>
                  </a:cubicBezTo>
                  <a:cubicBezTo>
                    <a:pt x="372" y="29"/>
                    <a:pt x="460" y="14"/>
                    <a:pt x="499" y="0"/>
                  </a:cubicBezTo>
                </a:path>
              </a:pathLst>
            </a:custGeom>
            <a:noFill/>
            <a:ln w="19050">
              <a:solidFill>
                <a:srgbClr val="0000FF"/>
              </a:solidFill>
              <a:round/>
              <a:headEnd/>
              <a:tailEnd/>
            </a:ln>
          </p:spPr>
          <p:txBody>
            <a:bodyPr/>
            <a:lstStyle/>
            <a:p>
              <a:endParaRPr lang="zh-CN" altLang="en-US"/>
            </a:p>
          </p:txBody>
        </p:sp>
        <p:sp>
          <p:nvSpPr>
            <p:cNvPr id="25621" name="Line 73"/>
            <p:cNvSpPr>
              <a:spLocks noChangeShapeType="1"/>
            </p:cNvSpPr>
            <p:nvPr/>
          </p:nvSpPr>
          <p:spPr bwMode="auto">
            <a:xfrm>
              <a:off x="3560" y="1253"/>
              <a:ext cx="409" cy="0"/>
            </a:xfrm>
            <a:prstGeom prst="line">
              <a:avLst/>
            </a:prstGeom>
            <a:noFill/>
            <a:ln w="19050">
              <a:solidFill>
                <a:srgbClr val="0000FF"/>
              </a:solidFill>
              <a:round/>
              <a:headEnd/>
              <a:tailEnd/>
            </a:ln>
          </p:spPr>
          <p:txBody>
            <a:bodyPr/>
            <a:lstStyle/>
            <a:p>
              <a:endParaRPr lang="zh-CN" altLang="en-US"/>
            </a:p>
          </p:txBody>
        </p:sp>
        <p:sp>
          <p:nvSpPr>
            <p:cNvPr id="25622" name="Line 74"/>
            <p:cNvSpPr>
              <a:spLocks noChangeShapeType="1"/>
            </p:cNvSpPr>
            <p:nvPr/>
          </p:nvSpPr>
          <p:spPr bwMode="auto">
            <a:xfrm>
              <a:off x="3560" y="1253"/>
              <a:ext cx="0" cy="544"/>
            </a:xfrm>
            <a:prstGeom prst="line">
              <a:avLst/>
            </a:prstGeom>
            <a:noFill/>
            <a:ln w="9525">
              <a:solidFill>
                <a:schemeClr val="tx1"/>
              </a:solidFill>
              <a:prstDash val="dash"/>
              <a:round/>
              <a:headEnd/>
              <a:tailEnd/>
            </a:ln>
          </p:spPr>
          <p:txBody>
            <a:bodyPr/>
            <a:lstStyle/>
            <a:p>
              <a:endParaRPr lang="zh-CN" altLang="en-US"/>
            </a:p>
          </p:txBody>
        </p:sp>
        <p:sp>
          <p:nvSpPr>
            <p:cNvPr id="25623" name="Line 75"/>
            <p:cNvSpPr>
              <a:spLocks noChangeShapeType="1"/>
            </p:cNvSpPr>
            <p:nvPr/>
          </p:nvSpPr>
          <p:spPr bwMode="auto">
            <a:xfrm flipH="1">
              <a:off x="3061" y="1253"/>
              <a:ext cx="499" cy="0"/>
            </a:xfrm>
            <a:prstGeom prst="line">
              <a:avLst/>
            </a:prstGeom>
            <a:noFill/>
            <a:ln w="9525">
              <a:solidFill>
                <a:schemeClr val="tx1"/>
              </a:solidFill>
              <a:prstDash val="dash"/>
              <a:round/>
              <a:headEnd/>
              <a:tailEnd/>
            </a:ln>
          </p:spPr>
          <p:txBody>
            <a:bodyPr/>
            <a:lstStyle/>
            <a:p>
              <a:endParaRPr lang="zh-CN" altLang="en-US"/>
            </a:p>
          </p:txBody>
        </p:sp>
        <p:sp>
          <p:nvSpPr>
            <p:cNvPr id="25624" name="Text Box 76"/>
            <p:cNvSpPr txBox="1">
              <a:spLocks noChangeArrowheads="1"/>
            </p:cNvSpPr>
            <p:nvPr/>
          </p:nvSpPr>
          <p:spPr bwMode="auto">
            <a:xfrm>
              <a:off x="2880" y="1706"/>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o</a:t>
              </a:r>
            </a:p>
          </p:txBody>
        </p:sp>
        <p:sp>
          <p:nvSpPr>
            <p:cNvPr id="25625" name="Text Box 77"/>
            <p:cNvSpPr txBox="1">
              <a:spLocks noChangeArrowheads="1"/>
            </p:cNvSpPr>
            <p:nvPr/>
          </p:nvSpPr>
          <p:spPr bwMode="auto">
            <a:xfrm>
              <a:off x="2880" y="709"/>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i</a:t>
              </a:r>
            </a:p>
          </p:txBody>
        </p:sp>
        <p:sp>
          <p:nvSpPr>
            <p:cNvPr id="25626" name="Text Box 78"/>
            <p:cNvSpPr txBox="1">
              <a:spLocks noChangeArrowheads="1"/>
            </p:cNvSpPr>
            <p:nvPr/>
          </p:nvSpPr>
          <p:spPr bwMode="auto">
            <a:xfrm>
              <a:off x="2880" y="1117"/>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I</a:t>
              </a:r>
            </a:p>
          </p:txBody>
        </p:sp>
        <p:sp>
          <p:nvSpPr>
            <p:cNvPr id="25627" name="Text Box 79"/>
            <p:cNvSpPr txBox="1">
              <a:spLocks noChangeArrowheads="1"/>
            </p:cNvSpPr>
            <p:nvPr/>
          </p:nvSpPr>
          <p:spPr bwMode="auto">
            <a:xfrm>
              <a:off x="3198" y="1389"/>
              <a:ext cx="363" cy="231"/>
            </a:xfrm>
            <a:prstGeom prst="rect">
              <a:avLst/>
            </a:prstGeom>
            <a:noFill/>
            <a:ln w="9525">
              <a:noFill/>
              <a:miter lim="800000"/>
              <a:headEnd/>
              <a:tailEnd/>
            </a:ln>
          </p:spPr>
          <p:txBody>
            <a:bodyPr>
              <a:spAutoFit/>
            </a:bodyPr>
            <a:lstStyle/>
            <a:p>
              <a:pPr algn="l">
                <a:spcBef>
                  <a:spcPct val="50000"/>
                </a:spcBef>
              </a:pPr>
              <a:r>
                <a:rPr lang="en-US" altLang="zh-CN" b="1" i="1">
                  <a:solidFill>
                    <a:srgbClr val="FF0000"/>
                  </a:solidFill>
                  <a:latin typeface="Times New Roman" pitchFamily="18" charset="0"/>
                </a:rPr>
                <a:t>i</a:t>
              </a:r>
              <a:r>
                <a:rPr lang="en-US" altLang="zh-CN" b="1">
                  <a:solidFill>
                    <a:srgbClr val="FF0000"/>
                  </a:solidFill>
                  <a:latin typeface="Times New Roman" pitchFamily="18" charset="0"/>
                </a:rPr>
                <a:t>(</a:t>
              </a:r>
              <a:r>
                <a:rPr lang="en-US" altLang="zh-CN" b="1" i="1">
                  <a:solidFill>
                    <a:srgbClr val="FF0000"/>
                  </a:solidFill>
                  <a:latin typeface="Times New Roman" pitchFamily="18" charset="0"/>
                </a:rPr>
                <a:t>t</a:t>
              </a:r>
              <a:r>
                <a:rPr lang="en-US" altLang="zh-CN" b="1">
                  <a:solidFill>
                    <a:srgbClr val="FF0000"/>
                  </a:solidFill>
                  <a:latin typeface="Times New Roman" pitchFamily="18" charset="0"/>
                </a:rPr>
                <a:t>)</a:t>
              </a:r>
            </a:p>
          </p:txBody>
        </p:sp>
        <p:sp>
          <p:nvSpPr>
            <p:cNvPr id="25628" name="Text Box 80"/>
            <p:cNvSpPr txBox="1">
              <a:spLocks noChangeArrowheads="1"/>
            </p:cNvSpPr>
            <p:nvPr/>
          </p:nvSpPr>
          <p:spPr bwMode="auto">
            <a:xfrm>
              <a:off x="3470" y="1752"/>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t</a:t>
              </a:r>
              <a:r>
                <a:rPr lang="en-US" altLang="zh-CN" b="1" baseline="-25000">
                  <a:latin typeface="Times New Roman" pitchFamily="18" charset="0"/>
                </a:rPr>
                <a:t>0</a:t>
              </a:r>
              <a:endParaRPr lang="en-US" altLang="zh-CN" b="1">
                <a:latin typeface="Times New Roman" pitchFamily="18" charset="0"/>
              </a:endParaRPr>
            </a:p>
          </p:txBody>
        </p:sp>
        <p:sp>
          <p:nvSpPr>
            <p:cNvPr id="25629" name="Text Box 81"/>
            <p:cNvSpPr txBox="1">
              <a:spLocks noChangeArrowheads="1"/>
            </p:cNvSpPr>
            <p:nvPr/>
          </p:nvSpPr>
          <p:spPr bwMode="auto">
            <a:xfrm>
              <a:off x="3878" y="1752"/>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t</a:t>
              </a:r>
              <a:r>
                <a:rPr lang="en-US" altLang="zh-CN" b="1" baseline="-25000">
                  <a:latin typeface="Times New Roman" pitchFamily="18" charset="0"/>
                </a:rPr>
                <a:t>1</a:t>
              </a:r>
              <a:endParaRPr lang="en-US" altLang="zh-CN" b="1">
                <a:latin typeface="Times New Roman" pitchFamily="18" charset="0"/>
              </a:endParaRPr>
            </a:p>
          </p:txBody>
        </p:sp>
        <p:sp>
          <p:nvSpPr>
            <p:cNvPr id="25630" name="Text Box 82"/>
            <p:cNvSpPr txBox="1">
              <a:spLocks noChangeArrowheads="1"/>
            </p:cNvSpPr>
            <p:nvPr/>
          </p:nvSpPr>
          <p:spPr bwMode="auto">
            <a:xfrm>
              <a:off x="4740" y="1797"/>
              <a:ext cx="272"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t</a:t>
              </a:r>
            </a:p>
          </p:txBody>
        </p:sp>
        <p:sp>
          <p:nvSpPr>
            <p:cNvPr id="25631" name="Line 83"/>
            <p:cNvSpPr>
              <a:spLocks noChangeShapeType="1"/>
            </p:cNvSpPr>
            <p:nvPr/>
          </p:nvSpPr>
          <p:spPr bwMode="auto">
            <a:xfrm>
              <a:off x="3969" y="1253"/>
              <a:ext cx="0" cy="544"/>
            </a:xfrm>
            <a:prstGeom prst="line">
              <a:avLst/>
            </a:prstGeom>
            <a:noFill/>
            <a:ln w="9525">
              <a:solidFill>
                <a:schemeClr val="tx1"/>
              </a:solidFill>
              <a:prstDash val="dash"/>
              <a:round/>
              <a:headEnd/>
              <a:tailEnd/>
            </a:ln>
          </p:spPr>
          <p:txBody>
            <a:bodyPr/>
            <a:lstStyle/>
            <a:p>
              <a:endParaRPr lang="zh-CN" altLang="en-US"/>
            </a:p>
          </p:txBody>
        </p:sp>
        <p:sp>
          <p:nvSpPr>
            <p:cNvPr id="25632" name="Freeform 84"/>
            <p:cNvSpPr>
              <a:spLocks/>
            </p:cNvSpPr>
            <p:nvPr/>
          </p:nvSpPr>
          <p:spPr bwMode="auto">
            <a:xfrm rot="-4997289">
              <a:off x="3969" y="1253"/>
              <a:ext cx="499" cy="545"/>
            </a:xfrm>
            <a:custGeom>
              <a:avLst/>
              <a:gdLst>
                <a:gd name="T0" fmla="*/ 0 w 499"/>
                <a:gd name="T1" fmla="*/ 545 h 545"/>
                <a:gd name="T2" fmla="*/ 135 w 499"/>
                <a:gd name="T3" fmla="*/ 236 h 545"/>
                <a:gd name="T4" fmla="*/ 311 w 499"/>
                <a:gd name="T5" fmla="*/ 68 h 545"/>
                <a:gd name="T6" fmla="*/ 499 w 499"/>
                <a:gd name="T7" fmla="*/ 0 h 545"/>
                <a:gd name="T8" fmla="*/ 0 60000 65536"/>
                <a:gd name="T9" fmla="*/ 0 60000 65536"/>
                <a:gd name="T10" fmla="*/ 0 60000 65536"/>
                <a:gd name="T11" fmla="*/ 0 60000 65536"/>
                <a:gd name="T12" fmla="*/ 0 w 499"/>
                <a:gd name="T13" fmla="*/ 0 h 545"/>
                <a:gd name="T14" fmla="*/ 499 w 499"/>
                <a:gd name="T15" fmla="*/ 545 h 545"/>
              </a:gdLst>
              <a:ahLst/>
              <a:cxnLst>
                <a:cxn ang="T8">
                  <a:pos x="T0" y="T1"/>
                </a:cxn>
                <a:cxn ang="T9">
                  <a:pos x="T2" y="T3"/>
                </a:cxn>
                <a:cxn ang="T10">
                  <a:pos x="T4" y="T5"/>
                </a:cxn>
                <a:cxn ang="T11">
                  <a:pos x="T6" y="T7"/>
                </a:cxn>
              </a:cxnLst>
              <a:rect l="T12" t="T13" r="T14" b="T15"/>
              <a:pathLst>
                <a:path w="499" h="545">
                  <a:moveTo>
                    <a:pt x="0" y="545"/>
                  </a:moveTo>
                  <a:cubicBezTo>
                    <a:pt x="22" y="494"/>
                    <a:pt x="83" y="315"/>
                    <a:pt x="135" y="236"/>
                  </a:cubicBezTo>
                  <a:cubicBezTo>
                    <a:pt x="187" y="157"/>
                    <a:pt x="250" y="107"/>
                    <a:pt x="311" y="68"/>
                  </a:cubicBezTo>
                  <a:cubicBezTo>
                    <a:pt x="372" y="29"/>
                    <a:pt x="460" y="14"/>
                    <a:pt x="499" y="0"/>
                  </a:cubicBezTo>
                </a:path>
              </a:pathLst>
            </a:custGeom>
            <a:noFill/>
            <a:ln w="19050">
              <a:solidFill>
                <a:srgbClr val="0000FF"/>
              </a:solidFill>
              <a:round/>
              <a:headEnd/>
              <a:tailEnd/>
            </a:ln>
          </p:spPr>
          <p:txBody>
            <a:bodyPr/>
            <a:lstStyle/>
            <a:p>
              <a:endParaRPr lang="zh-CN" altLang="en-US"/>
            </a:p>
          </p:txBody>
        </p:sp>
        <p:graphicFrame>
          <p:nvGraphicFramePr>
            <p:cNvPr id="25608" name="Object 85"/>
            <p:cNvGraphicFramePr>
              <a:graphicFrameLocks noChangeAspect="1"/>
            </p:cNvGraphicFramePr>
            <p:nvPr/>
          </p:nvGraphicFramePr>
          <p:xfrm>
            <a:off x="4105" y="1434"/>
            <a:ext cx="269" cy="196"/>
          </p:xfrm>
          <a:graphic>
            <a:graphicData uri="http://schemas.openxmlformats.org/presentationml/2006/ole">
              <p:oleObj spid="_x0000_s25608" name="公式" r:id="rId9" imgW="238257" imgH="162000" progId="Equation.3">
                <p:embed/>
              </p:oleObj>
            </a:graphicData>
          </a:graphic>
        </p:graphicFrame>
        <p:sp>
          <p:nvSpPr>
            <p:cNvPr id="25633" name="Text Box 86"/>
            <p:cNvSpPr txBox="1">
              <a:spLocks noChangeArrowheads="1"/>
            </p:cNvSpPr>
            <p:nvPr/>
          </p:nvSpPr>
          <p:spPr bwMode="auto">
            <a:xfrm>
              <a:off x="4377" y="1752"/>
              <a:ext cx="317" cy="231"/>
            </a:xfrm>
            <a:prstGeom prst="rect">
              <a:avLst/>
            </a:prstGeom>
            <a:noFill/>
            <a:ln w="9525">
              <a:noFill/>
              <a:miter lim="800000"/>
              <a:headEnd/>
              <a:tailEnd/>
            </a:ln>
          </p:spPr>
          <p:txBody>
            <a:bodyPr>
              <a:spAutoFit/>
            </a:bodyPr>
            <a:lstStyle/>
            <a:p>
              <a:pPr algn="l">
                <a:spcBef>
                  <a:spcPct val="50000"/>
                </a:spcBef>
              </a:pPr>
              <a:r>
                <a:rPr lang="en-US" altLang="zh-CN" b="1" i="1">
                  <a:latin typeface="Times New Roman" pitchFamily="18" charset="0"/>
                </a:rPr>
                <a:t>t</a:t>
              </a:r>
              <a:r>
                <a:rPr lang="en-US" altLang="zh-CN" b="1" i="1" baseline="-25000">
                  <a:latin typeface="Times New Roman" pitchFamily="18" charset="0"/>
                </a:rPr>
                <a:t>2</a:t>
              </a:r>
              <a:endParaRPr lang="en-US" altLang="zh-CN" b="1">
                <a:latin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wipe(left)">
                                      <p:cBhvr>
                                        <p:cTn id="7" dur="500"/>
                                        <p:tgtEl>
                                          <p:spTgt spid="327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2773"/>
                                        </p:tgtEl>
                                        <p:attrNameLst>
                                          <p:attrName>style.visibility</p:attrName>
                                        </p:attrNameLst>
                                      </p:cBhvr>
                                      <p:to>
                                        <p:strVal val="visible"/>
                                      </p:to>
                                    </p:set>
                                    <p:animEffect transition="in" filter="wipe(left)">
                                      <p:cBhvr>
                                        <p:cTn id="22" dur="500"/>
                                        <p:tgtEl>
                                          <p:spTgt spid="3277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2775"/>
                                        </p:tgtEl>
                                        <p:attrNameLst>
                                          <p:attrName>style.visibility</p:attrName>
                                        </p:attrNameLst>
                                      </p:cBhvr>
                                      <p:to>
                                        <p:strVal val="visible"/>
                                      </p:to>
                                    </p:set>
                                    <p:animEffect transition="in" filter="wipe(left)">
                                      <p:cBhvr>
                                        <p:cTn id="27" dur="500"/>
                                        <p:tgtEl>
                                          <p:spTgt spid="3277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2774"/>
                                        </p:tgtEl>
                                        <p:attrNameLst>
                                          <p:attrName>style.visibility</p:attrName>
                                        </p:attrNameLst>
                                      </p:cBhvr>
                                      <p:to>
                                        <p:strVal val="visible"/>
                                      </p:to>
                                    </p:set>
                                    <p:animEffect transition="in" filter="wipe(left)">
                                      <p:cBhvr>
                                        <p:cTn id="32" dur="500"/>
                                        <p:tgtEl>
                                          <p:spTgt spid="3277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2781"/>
                                        </p:tgtEl>
                                        <p:attrNameLst>
                                          <p:attrName>style.visibility</p:attrName>
                                        </p:attrNameLst>
                                      </p:cBhvr>
                                      <p:to>
                                        <p:strVal val="visible"/>
                                      </p:to>
                                    </p:set>
                                    <p:animEffect transition="in" filter="wipe(up)">
                                      <p:cBhvr>
                                        <p:cTn id="37" dur="500"/>
                                        <p:tgtEl>
                                          <p:spTgt spid="3278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32782"/>
                                        </p:tgtEl>
                                        <p:attrNameLst>
                                          <p:attrName>style.visibility</p:attrName>
                                        </p:attrNameLst>
                                      </p:cBhvr>
                                      <p:to>
                                        <p:strVal val="visible"/>
                                      </p:to>
                                    </p:set>
                                    <p:animEffect transition="in" filter="wipe(up)">
                                      <p:cBhvr>
                                        <p:cTn id="42" dur="500"/>
                                        <p:tgtEl>
                                          <p:spTgt spid="3278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2783"/>
                                        </p:tgtEl>
                                        <p:attrNameLst>
                                          <p:attrName>style.visibility</p:attrName>
                                        </p:attrNameLst>
                                      </p:cBhvr>
                                      <p:to>
                                        <p:strVal val="visible"/>
                                      </p:to>
                                    </p:set>
                                    <p:animEffect transition="in" filter="wipe(left)">
                                      <p:cBhvr>
                                        <p:cTn id="47" dur="500"/>
                                        <p:tgtEl>
                                          <p:spTgt spid="3278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2784"/>
                                        </p:tgtEl>
                                        <p:attrNameLst>
                                          <p:attrName>style.visibility</p:attrName>
                                        </p:attrNameLst>
                                      </p:cBhvr>
                                      <p:to>
                                        <p:strVal val="visible"/>
                                      </p:to>
                                    </p:set>
                                    <p:animEffect transition="in" filter="wipe(left)">
                                      <p:cBhvr>
                                        <p:cTn id="52" dur="500"/>
                                        <p:tgtEl>
                                          <p:spTgt spid="3278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2787"/>
                                        </p:tgtEl>
                                        <p:attrNameLst>
                                          <p:attrName>style.visibility</p:attrName>
                                        </p:attrNameLst>
                                      </p:cBhvr>
                                      <p:to>
                                        <p:strVal val="visible"/>
                                      </p:to>
                                    </p:set>
                                    <p:animEffect transition="in" filter="wipe(left)">
                                      <p:cBhvr>
                                        <p:cTn id="57" dur="500"/>
                                        <p:tgtEl>
                                          <p:spTgt spid="3278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2788"/>
                                        </p:tgtEl>
                                        <p:attrNameLst>
                                          <p:attrName>style.visibility</p:attrName>
                                        </p:attrNameLst>
                                      </p:cBhvr>
                                      <p:to>
                                        <p:strVal val="visible"/>
                                      </p:to>
                                    </p:set>
                                    <p:animEffect transition="in" filter="wipe(left)">
                                      <p:cBhvr>
                                        <p:cTn id="62" dur="500"/>
                                        <p:tgtEl>
                                          <p:spTgt spid="3278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2789"/>
                                        </p:tgtEl>
                                        <p:attrNameLst>
                                          <p:attrName>style.visibility</p:attrName>
                                        </p:attrNameLst>
                                      </p:cBhvr>
                                      <p:to>
                                        <p:strVal val="visible"/>
                                      </p:to>
                                    </p:set>
                                    <p:animEffect transition="in" filter="wipe(left)">
                                      <p:cBhvr>
                                        <p:cTn id="67" dur="500"/>
                                        <p:tgtEl>
                                          <p:spTgt spid="3278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32790"/>
                                        </p:tgtEl>
                                        <p:attrNameLst>
                                          <p:attrName>style.visibility</p:attrName>
                                        </p:attrNameLst>
                                      </p:cBhvr>
                                      <p:to>
                                        <p:strVal val="visible"/>
                                      </p:to>
                                    </p:set>
                                    <p:animEffect transition="in" filter="wipe(left)">
                                      <p:cBhvr>
                                        <p:cTn id="72" dur="500"/>
                                        <p:tgtEl>
                                          <p:spTgt spid="32790"/>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32791"/>
                                        </p:tgtEl>
                                        <p:attrNameLst>
                                          <p:attrName>style.visibility</p:attrName>
                                        </p:attrNameLst>
                                      </p:cBhvr>
                                      <p:to>
                                        <p:strVal val="visible"/>
                                      </p:to>
                                    </p:set>
                                    <p:animEffect transition="in" filter="wipe(left)">
                                      <p:cBhvr>
                                        <p:cTn id="77" dur="500"/>
                                        <p:tgtEl>
                                          <p:spTgt spid="32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utoUpdateAnimBg="0"/>
      <p:bldP spid="32781" grpId="0" animBg="1"/>
      <p:bldP spid="32782" grpId="0" animBg="1"/>
      <p:bldP spid="32783" grpId="0" autoUpdateAnimBg="0"/>
      <p:bldP spid="32784" grpId="0" autoUpdateAnimBg="0"/>
      <p:bldP spid="32787" grpId="0" autoUpdateAnimBg="0"/>
      <p:bldP spid="3279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611188" y="533400"/>
            <a:ext cx="1241425" cy="457200"/>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buClr>
                <a:srgbClr val="00FFFF"/>
              </a:buClr>
              <a:buSzPts val="2400"/>
              <a:buFont typeface="Wingdings" pitchFamily="2" charset="2"/>
              <a:buNone/>
              <a:defRPr/>
            </a:pPr>
            <a:r>
              <a:rPr lang="zh-CN" altLang="en-US" sz="2400" b="1">
                <a:solidFill>
                  <a:srgbClr val="FF6600"/>
                </a:solidFill>
                <a:latin typeface="宋体" pitchFamily="2" charset="-122"/>
              </a:rPr>
              <a:t>讨论</a:t>
            </a:r>
            <a:endParaRPr lang="zh-CN" altLang="en-US"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sp>
        <p:nvSpPr>
          <p:cNvPr id="26629" name="AutoShape 3"/>
          <p:cNvSpPr>
            <a:spLocks noChangeArrowheads="1"/>
          </p:cNvSpPr>
          <p:nvPr/>
        </p:nvSpPr>
        <p:spPr bwMode="auto">
          <a:xfrm>
            <a:off x="179388" y="461963"/>
            <a:ext cx="360362"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81924" name="Object 4"/>
          <p:cNvGraphicFramePr>
            <a:graphicFrameLocks noChangeAspect="1"/>
          </p:cNvGraphicFramePr>
          <p:nvPr/>
        </p:nvGraphicFramePr>
        <p:xfrm>
          <a:off x="1374775" y="1765300"/>
          <a:ext cx="1397000" cy="730250"/>
        </p:xfrm>
        <a:graphic>
          <a:graphicData uri="http://schemas.openxmlformats.org/presentationml/2006/ole">
            <p:oleObj spid="_x0000_s26626" name="公式" r:id="rId3" imgW="733411" imgH="371520" progId="Equation.3">
              <p:embed/>
            </p:oleObj>
          </a:graphicData>
        </a:graphic>
      </p:graphicFrame>
      <p:sp>
        <p:nvSpPr>
          <p:cNvPr id="81925" name="Rectangle 5"/>
          <p:cNvSpPr>
            <a:spLocks noChangeArrowheads="1"/>
          </p:cNvSpPr>
          <p:nvPr/>
        </p:nvSpPr>
        <p:spPr bwMode="auto">
          <a:xfrm>
            <a:off x="396875" y="1125538"/>
            <a:ext cx="3527425" cy="457200"/>
          </a:xfrm>
          <a:prstGeom prst="rect">
            <a:avLst/>
          </a:prstGeom>
          <a:noFill/>
          <a:ln w="9525">
            <a:noFill/>
            <a:miter lim="800000"/>
            <a:headEnd/>
            <a:tailEnd/>
          </a:ln>
        </p:spPr>
        <p:txBody>
          <a:bodyPr>
            <a:spAutoFit/>
          </a:bodyPr>
          <a:lstStyle/>
          <a:p>
            <a:pPr algn="l"/>
            <a:r>
              <a:rPr kumimoji="1" lang="zh-CN" altLang="en-US" sz="2400" b="1">
                <a:latin typeface="楷体_GB2312" pitchFamily="49" charset="-122"/>
                <a:ea typeface="楷体_GB2312" pitchFamily="49" charset="-122"/>
                <a:cs typeface="Times New Roman" pitchFamily="18" charset="0"/>
              </a:rPr>
              <a:t>与</a:t>
            </a:r>
            <a:r>
              <a:rPr kumimoji="1" lang="zh-CN" altLang="en-US" sz="2400" b="1">
                <a:solidFill>
                  <a:srgbClr val="FF6600"/>
                </a:solidFill>
                <a:latin typeface="楷体_GB2312" pitchFamily="49" charset="-122"/>
                <a:ea typeface="楷体_GB2312" pitchFamily="49" charset="-122"/>
                <a:cs typeface="Times New Roman" pitchFamily="18" charset="0"/>
              </a:rPr>
              <a:t>电容储能</a:t>
            </a:r>
            <a:r>
              <a:rPr kumimoji="1" lang="zh-CN" altLang="en-US" sz="2400" b="1">
                <a:latin typeface="楷体_GB2312" pitchFamily="49" charset="-122"/>
                <a:ea typeface="楷体_GB2312" pitchFamily="49" charset="-122"/>
                <a:cs typeface="Times New Roman" pitchFamily="18" charset="0"/>
              </a:rPr>
              <a:t>比较</a:t>
            </a:r>
          </a:p>
        </p:txBody>
      </p:sp>
      <p:graphicFrame>
        <p:nvGraphicFramePr>
          <p:cNvPr id="81926" name="Object 6"/>
          <p:cNvGraphicFramePr>
            <a:graphicFrameLocks noChangeAspect="1"/>
          </p:cNvGraphicFramePr>
          <p:nvPr/>
        </p:nvGraphicFramePr>
        <p:xfrm>
          <a:off x="3765550" y="1736725"/>
          <a:ext cx="1096963" cy="754063"/>
        </p:xfrm>
        <a:graphic>
          <a:graphicData uri="http://schemas.openxmlformats.org/presentationml/2006/ole">
            <p:oleObj spid="_x0000_s26627" name="公式" r:id="rId4" imgW="571601" imgH="380970" progId="Equation.3">
              <p:embed/>
            </p:oleObj>
          </a:graphicData>
        </a:graphic>
      </p:graphicFrame>
      <p:sp>
        <p:nvSpPr>
          <p:cNvPr id="81927" name="AutoShape 7"/>
          <p:cNvSpPr>
            <a:spLocks noChangeArrowheads="1"/>
          </p:cNvSpPr>
          <p:nvPr/>
        </p:nvSpPr>
        <p:spPr bwMode="auto">
          <a:xfrm>
            <a:off x="2924175" y="2028825"/>
            <a:ext cx="685800" cy="188913"/>
          </a:xfrm>
          <a:prstGeom prst="leftRightArrow">
            <a:avLst>
              <a:gd name="adj1" fmla="val 50000"/>
              <a:gd name="adj2" fmla="val 72605"/>
            </a:avLst>
          </a:prstGeom>
          <a:gradFill rotWithShape="1">
            <a:gsLst>
              <a:gs pos="0">
                <a:srgbClr val="000000"/>
              </a:gs>
              <a:gs pos="50000">
                <a:srgbClr val="FFCCFF"/>
              </a:gs>
              <a:gs pos="100000">
                <a:srgbClr val="000000"/>
              </a:gs>
            </a:gsLst>
            <a:lin ang="5400000" scaled="1"/>
          </a:gradFill>
          <a:ln w="9525">
            <a:solidFill>
              <a:srgbClr val="800080"/>
            </a:solidFill>
            <a:miter lim="800000"/>
            <a:headEnd/>
            <a:tailEnd/>
          </a:ln>
        </p:spPr>
        <p:txBody>
          <a:bodyPr wrap="none" anchor="ctr"/>
          <a:lstStyle/>
          <a:p>
            <a:endParaRPr lang="zh-CN" altLang="en-US"/>
          </a:p>
        </p:txBody>
      </p:sp>
      <p:sp>
        <p:nvSpPr>
          <p:cNvPr id="81928" name="Text Box 8"/>
          <p:cNvSpPr txBox="1">
            <a:spLocks noChangeArrowheads="1"/>
          </p:cNvSpPr>
          <p:nvPr/>
        </p:nvSpPr>
        <p:spPr bwMode="auto">
          <a:xfrm>
            <a:off x="5289550" y="1463675"/>
            <a:ext cx="3314700" cy="1477963"/>
          </a:xfrm>
          <a:prstGeom prst="rect">
            <a:avLst/>
          </a:prstGeom>
          <a:noFill/>
          <a:ln w="9525">
            <a:noFill/>
            <a:miter lim="800000"/>
            <a:headEnd/>
            <a:tailEnd/>
          </a:ln>
        </p:spPr>
        <p:txBody>
          <a:bodyPr>
            <a:spAutoFit/>
          </a:bodyPr>
          <a:lstStyle/>
          <a:p>
            <a:pPr algn="l">
              <a:lnSpc>
                <a:spcPct val="125000"/>
              </a:lnSpc>
            </a:pPr>
            <a:r>
              <a:rPr kumimoji="1" lang="zh-CN" altLang="en-US" sz="2400" b="1">
                <a:solidFill>
                  <a:srgbClr val="008000"/>
                </a:solidFill>
                <a:latin typeface="楷体_GB2312" pitchFamily="49" charset="-122"/>
                <a:ea typeface="楷体_GB2312" pitchFamily="49" charset="-122"/>
              </a:rPr>
              <a:t>自感线圈也是一个储能元件，自感系数反映线圈储能的本领。</a:t>
            </a:r>
          </a:p>
        </p:txBody>
      </p:sp>
      <p:sp>
        <p:nvSpPr>
          <p:cNvPr id="81929" name="Rectangle 9"/>
          <p:cNvSpPr>
            <a:spLocks noChangeArrowheads="1"/>
          </p:cNvSpPr>
          <p:nvPr/>
        </p:nvSpPr>
        <p:spPr bwMode="auto">
          <a:xfrm>
            <a:off x="107950" y="2898775"/>
            <a:ext cx="3527425" cy="5302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00FF"/>
                </a:solidFill>
                <a:latin typeface="Times New Roman" pitchFamily="18" charset="0"/>
              </a:rPr>
              <a:t>11.4.2   </a:t>
            </a:r>
            <a:r>
              <a:rPr kumimoji="1" lang="zh-CN" altLang="en-US" sz="2400" b="1">
                <a:solidFill>
                  <a:srgbClr val="0000FF"/>
                </a:solidFill>
                <a:latin typeface="Times New Roman" pitchFamily="18" charset="0"/>
              </a:rPr>
              <a:t>互感磁能</a:t>
            </a:r>
          </a:p>
        </p:txBody>
      </p:sp>
      <p:sp>
        <p:nvSpPr>
          <p:cNvPr id="81930" name="Rectangle 10"/>
          <p:cNvSpPr>
            <a:spLocks noChangeArrowheads="1"/>
          </p:cNvSpPr>
          <p:nvPr/>
        </p:nvSpPr>
        <p:spPr bwMode="auto">
          <a:xfrm>
            <a:off x="360363" y="3646488"/>
            <a:ext cx="3275012" cy="534987"/>
          </a:xfrm>
          <a:prstGeom prst="rect">
            <a:avLst/>
          </a:prstGeom>
          <a:solidFill>
            <a:srgbClr val="FFFF99"/>
          </a:solidFill>
          <a:ln w="9525">
            <a:solidFill>
              <a:srgbClr val="FFFF00"/>
            </a:solidFill>
            <a:miter lim="800000"/>
            <a:headEnd/>
            <a:tailEnd/>
          </a:ln>
        </p:spPr>
        <p:txBody>
          <a:bodyPr>
            <a:spAutoFit/>
          </a:bodyPr>
          <a:lstStyle/>
          <a:p>
            <a:pPr algn="l">
              <a:lnSpc>
                <a:spcPct val="120000"/>
              </a:lnSpc>
            </a:pPr>
            <a:r>
              <a:rPr kumimoji="1" lang="zh-CN" altLang="en-US" sz="2400" b="1">
                <a:latin typeface="楷体_GB2312" pitchFamily="49" charset="-122"/>
                <a:ea typeface="楷体_GB2312" pitchFamily="49" charset="-122"/>
              </a:rPr>
              <a:t>一个线圈</a:t>
            </a:r>
            <a:r>
              <a:rPr kumimoji="1" lang="zh-CN" altLang="en-US" sz="2400" b="1">
                <a:solidFill>
                  <a:srgbClr val="FF3300"/>
                </a:solidFill>
                <a:latin typeface="楷体_GB2312" pitchFamily="49" charset="-122"/>
                <a:ea typeface="楷体_GB2312" pitchFamily="49" charset="-122"/>
              </a:rPr>
              <a:t>电流</a:t>
            </a:r>
            <a:r>
              <a:rPr kumimoji="1" lang="zh-CN" altLang="en-US" sz="2400" b="1">
                <a:latin typeface="楷体_GB2312" pitchFamily="49" charset="-122"/>
                <a:ea typeface="楷体_GB2312" pitchFamily="49" charset="-122"/>
              </a:rPr>
              <a:t>发生变化</a:t>
            </a:r>
            <a:endParaRPr kumimoji="1" lang="zh-CN" altLang="en-US" sz="2400">
              <a:latin typeface="楷体_GB2312" pitchFamily="49" charset="-122"/>
              <a:ea typeface="楷体_GB2312" pitchFamily="49" charset="-122"/>
            </a:endParaRPr>
          </a:p>
        </p:txBody>
      </p:sp>
      <p:sp>
        <p:nvSpPr>
          <p:cNvPr id="81931" name="Rectangle 11"/>
          <p:cNvSpPr>
            <a:spLocks noChangeArrowheads="1"/>
          </p:cNvSpPr>
          <p:nvPr/>
        </p:nvSpPr>
        <p:spPr bwMode="auto">
          <a:xfrm>
            <a:off x="4287838" y="3646488"/>
            <a:ext cx="4171950" cy="534987"/>
          </a:xfrm>
          <a:prstGeom prst="rect">
            <a:avLst/>
          </a:prstGeom>
          <a:solidFill>
            <a:srgbClr val="FFFF99"/>
          </a:solidFill>
          <a:ln w="9525">
            <a:solidFill>
              <a:srgbClr val="FFFF00"/>
            </a:solidFill>
            <a:miter lim="800000"/>
            <a:headEnd/>
            <a:tailEnd/>
          </a:ln>
        </p:spPr>
        <p:txBody>
          <a:bodyPr>
            <a:spAutoFit/>
          </a:bodyPr>
          <a:lstStyle/>
          <a:p>
            <a:pPr algn="l">
              <a:lnSpc>
                <a:spcPct val="120000"/>
              </a:lnSpc>
            </a:pPr>
            <a:r>
              <a:rPr kumimoji="1" lang="zh-CN" altLang="en-US" sz="2400" b="1">
                <a:latin typeface="楷体_GB2312" pitchFamily="49" charset="-122"/>
                <a:ea typeface="楷体_GB2312" pitchFamily="49" charset="-122"/>
              </a:rPr>
              <a:t>周围空间会产生变化的</a:t>
            </a:r>
            <a:r>
              <a:rPr kumimoji="1" lang="zh-CN" altLang="en-US" sz="2400" b="1">
                <a:solidFill>
                  <a:srgbClr val="FF3300"/>
                </a:solidFill>
                <a:latin typeface="楷体_GB2312" pitchFamily="49" charset="-122"/>
                <a:ea typeface="楷体_GB2312" pitchFamily="49" charset="-122"/>
              </a:rPr>
              <a:t>磁场</a:t>
            </a:r>
            <a:endParaRPr kumimoji="1" lang="zh-CN" altLang="en-US" sz="2400">
              <a:solidFill>
                <a:srgbClr val="FF3300"/>
              </a:solidFill>
              <a:latin typeface="楷体_GB2312" pitchFamily="49" charset="-122"/>
              <a:ea typeface="楷体_GB2312" pitchFamily="49" charset="-122"/>
            </a:endParaRPr>
          </a:p>
        </p:txBody>
      </p:sp>
      <p:sp>
        <p:nvSpPr>
          <p:cNvPr id="81933" name="AutoShape 13"/>
          <p:cNvSpPr>
            <a:spLocks noChangeArrowheads="1"/>
          </p:cNvSpPr>
          <p:nvPr/>
        </p:nvSpPr>
        <p:spPr bwMode="auto">
          <a:xfrm>
            <a:off x="3722688" y="3833813"/>
            <a:ext cx="361950" cy="144462"/>
          </a:xfrm>
          <a:prstGeom prst="rightArrow">
            <a:avLst>
              <a:gd name="adj1" fmla="val 50000"/>
              <a:gd name="adj2" fmla="val 62638"/>
            </a:avLst>
          </a:prstGeom>
          <a:solidFill>
            <a:srgbClr val="FF9900"/>
          </a:solidFill>
          <a:ln w="9525" algn="ctr">
            <a:solidFill>
              <a:schemeClr val="tx1"/>
            </a:solidFill>
            <a:miter lim="800000"/>
            <a:headEnd/>
            <a:tailEnd/>
          </a:ln>
        </p:spPr>
        <p:txBody>
          <a:bodyPr wrap="none" anchor="ctr"/>
          <a:lstStyle/>
          <a:p>
            <a:endParaRPr lang="zh-CN" altLang="en-US"/>
          </a:p>
        </p:txBody>
      </p:sp>
      <p:sp>
        <p:nvSpPr>
          <p:cNvPr id="81934" name="Rectangle 14"/>
          <p:cNvSpPr>
            <a:spLocks noChangeArrowheads="1"/>
          </p:cNvSpPr>
          <p:nvPr/>
        </p:nvSpPr>
        <p:spPr bwMode="auto">
          <a:xfrm>
            <a:off x="2268538" y="4654550"/>
            <a:ext cx="6191250" cy="534988"/>
          </a:xfrm>
          <a:prstGeom prst="rect">
            <a:avLst/>
          </a:prstGeom>
          <a:solidFill>
            <a:srgbClr val="FFFF99"/>
          </a:solidFill>
          <a:ln w="9525">
            <a:solidFill>
              <a:srgbClr val="FFFF00"/>
            </a:solidFill>
            <a:miter lim="800000"/>
            <a:headEnd/>
            <a:tailEnd/>
          </a:ln>
        </p:spPr>
        <p:txBody>
          <a:bodyPr>
            <a:spAutoFit/>
          </a:bodyPr>
          <a:lstStyle/>
          <a:p>
            <a:pPr algn="l">
              <a:lnSpc>
                <a:spcPct val="120000"/>
              </a:lnSpc>
            </a:pPr>
            <a:r>
              <a:rPr kumimoji="1" lang="zh-CN" altLang="en-US" sz="2400" b="1">
                <a:latin typeface="楷体_GB2312" pitchFamily="49" charset="-122"/>
                <a:ea typeface="楷体_GB2312" pitchFamily="49" charset="-122"/>
              </a:rPr>
              <a:t>处于此空间的另一个线圈中产生感应电动势</a:t>
            </a:r>
            <a:endParaRPr kumimoji="1" lang="zh-CN" altLang="en-US" sz="2400">
              <a:latin typeface="楷体_GB2312" pitchFamily="49" charset="-122"/>
              <a:ea typeface="楷体_GB2312" pitchFamily="49" charset="-122"/>
            </a:endParaRPr>
          </a:p>
        </p:txBody>
      </p:sp>
      <p:sp>
        <p:nvSpPr>
          <p:cNvPr id="81935" name="AutoShape 15"/>
          <p:cNvSpPr>
            <a:spLocks noChangeArrowheads="1"/>
          </p:cNvSpPr>
          <p:nvPr/>
        </p:nvSpPr>
        <p:spPr bwMode="auto">
          <a:xfrm rot="5400000">
            <a:off x="5918994" y="4345781"/>
            <a:ext cx="331788" cy="142875"/>
          </a:xfrm>
          <a:prstGeom prst="rightArrow">
            <a:avLst>
              <a:gd name="adj1" fmla="val 50000"/>
              <a:gd name="adj2" fmla="val 58056"/>
            </a:avLst>
          </a:prstGeom>
          <a:solidFill>
            <a:srgbClr val="FF9900"/>
          </a:solidFill>
          <a:ln w="9525" algn="ctr">
            <a:solidFill>
              <a:schemeClr val="tx1"/>
            </a:solidFill>
            <a:miter lim="800000"/>
            <a:headEnd/>
            <a:tailEnd/>
          </a:ln>
        </p:spPr>
        <p:txBody>
          <a:bodyPr wrap="none" anchor="ctr"/>
          <a:lstStyle/>
          <a:p>
            <a:endParaRPr lang="zh-CN" altLang="en-US"/>
          </a:p>
        </p:txBody>
      </p:sp>
      <p:sp>
        <p:nvSpPr>
          <p:cNvPr id="81936" name="Rectangle 16"/>
          <p:cNvSpPr>
            <a:spLocks noChangeArrowheads="1"/>
          </p:cNvSpPr>
          <p:nvPr/>
        </p:nvSpPr>
        <p:spPr bwMode="auto">
          <a:xfrm>
            <a:off x="422275" y="5445125"/>
            <a:ext cx="8326438" cy="979488"/>
          </a:xfrm>
          <a:prstGeom prst="rect">
            <a:avLst/>
          </a:prstGeom>
          <a:solidFill>
            <a:srgbClr val="CCFFFF"/>
          </a:solidFill>
          <a:ln w="9525">
            <a:solidFill>
              <a:srgbClr val="00FFFF"/>
            </a:solid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在这样的互感现象中磁场能量在</a:t>
            </a:r>
            <a:r>
              <a:rPr kumimoji="1" lang="zh-CN" altLang="en-US" sz="2400" b="1">
                <a:solidFill>
                  <a:srgbClr val="FF3300"/>
                </a:solidFill>
                <a:latin typeface="Times New Roman" pitchFamily="18" charset="0"/>
                <a:ea typeface="楷体_GB2312" pitchFamily="49" charset="-122"/>
              </a:rPr>
              <a:t>线圈 </a:t>
            </a:r>
            <a:r>
              <a:rPr kumimoji="1" lang="en-US" altLang="zh-CN" sz="2400" b="1">
                <a:solidFill>
                  <a:srgbClr val="FF3300"/>
                </a:solidFill>
                <a:latin typeface="Times New Roman" pitchFamily="18" charset="0"/>
                <a:ea typeface="楷体_GB2312" pitchFamily="49" charset="-122"/>
              </a:rPr>
              <a:t>1</a:t>
            </a: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和</a:t>
            </a:r>
            <a:r>
              <a:rPr kumimoji="1" lang="zh-CN" altLang="en-US" sz="2400" b="1">
                <a:solidFill>
                  <a:srgbClr val="FF3300"/>
                </a:solidFill>
                <a:latin typeface="Times New Roman" pitchFamily="18" charset="0"/>
                <a:ea typeface="楷体_GB2312" pitchFamily="49" charset="-122"/>
              </a:rPr>
              <a:t>线圈 </a:t>
            </a:r>
            <a:r>
              <a:rPr kumimoji="1" lang="en-US" altLang="zh-CN" sz="2400" b="1">
                <a:solidFill>
                  <a:srgbClr val="FF3300"/>
                </a:solidFill>
                <a:latin typeface="Times New Roman" pitchFamily="18" charset="0"/>
                <a:ea typeface="楷体_GB2312" pitchFamily="49" charset="-122"/>
              </a:rPr>
              <a:t>2</a:t>
            </a: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中相互转换，这时线圈中的能量就是</a:t>
            </a:r>
            <a:r>
              <a:rPr kumimoji="1" lang="zh-CN" altLang="en-US" sz="2400" b="1">
                <a:solidFill>
                  <a:srgbClr val="FF3300"/>
                </a:solidFill>
                <a:latin typeface="Times New Roman" pitchFamily="18" charset="0"/>
                <a:ea typeface="楷体_GB2312" pitchFamily="49" charset="-122"/>
              </a:rPr>
              <a:t>互感磁能</a:t>
            </a:r>
            <a:r>
              <a:rPr kumimoji="1" lang="zh-CN" altLang="en-US" sz="2400" b="1">
                <a:latin typeface="Times New Roman" pitchFamily="18" charset="0"/>
                <a:ea typeface="楷体_GB2312" pitchFamily="49" charset="-122"/>
              </a:rPr>
              <a:t>。</a:t>
            </a:r>
            <a:r>
              <a:rPr kumimoji="1" lang="zh-CN" altLang="en-US" sz="2400">
                <a:latin typeface="Times New Roman" pitchFamily="18" charset="0"/>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5"/>
                                        </p:tgtEl>
                                        <p:attrNameLst>
                                          <p:attrName>style.visibility</p:attrName>
                                        </p:attrNameLst>
                                      </p:cBhvr>
                                      <p:to>
                                        <p:strVal val="visible"/>
                                      </p:to>
                                    </p:set>
                                    <p:animEffect transition="in" filter="wipe(left)">
                                      <p:cBhvr>
                                        <p:cTn id="7" dur="500"/>
                                        <p:tgtEl>
                                          <p:spTgt spid="819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1924"/>
                                        </p:tgtEl>
                                        <p:attrNameLst>
                                          <p:attrName>style.visibility</p:attrName>
                                        </p:attrNameLst>
                                      </p:cBhvr>
                                      <p:to>
                                        <p:strVal val="visible"/>
                                      </p:to>
                                    </p:set>
                                    <p:animEffect transition="in" filter="wipe(left)">
                                      <p:cBhvr>
                                        <p:cTn id="12" dur="500"/>
                                        <p:tgtEl>
                                          <p:spTgt spid="819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1926"/>
                                        </p:tgtEl>
                                        <p:attrNameLst>
                                          <p:attrName>style.visibility</p:attrName>
                                        </p:attrNameLst>
                                      </p:cBhvr>
                                      <p:to>
                                        <p:strVal val="visible"/>
                                      </p:to>
                                    </p:set>
                                    <p:animEffect transition="in" filter="wipe(left)">
                                      <p:cBhvr>
                                        <p:cTn id="17" dur="500"/>
                                        <p:tgtEl>
                                          <p:spTgt spid="8192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81927"/>
                                        </p:tgtEl>
                                        <p:attrNameLst>
                                          <p:attrName>style.visibility</p:attrName>
                                        </p:attrNameLst>
                                      </p:cBhvr>
                                      <p:to>
                                        <p:strVal val="visible"/>
                                      </p:to>
                                    </p:set>
                                    <p:animEffect transition="in" filter="barn(outVertical)">
                                      <p:cBhvr>
                                        <p:cTn id="22" dur="500"/>
                                        <p:tgtEl>
                                          <p:spTgt spid="8192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28"/>
                                        </p:tgtEl>
                                        <p:attrNameLst>
                                          <p:attrName>style.visibility</p:attrName>
                                        </p:attrNameLst>
                                      </p:cBhvr>
                                      <p:to>
                                        <p:strVal val="visible"/>
                                      </p:to>
                                    </p:set>
                                    <p:animEffect transition="in" filter="wipe(left)">
                                      <p:cBhvr>
                                        <p:cTn id="27" dur="500"/>
                                        <p:tgtEl>
                                          <p:spTgt spid="819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29"/>
                                        </p:tgtEl>
                                        <p:attrNameLst>
                                          <p:attrName>style.visibility</p:attrName>
                                        </p:attrNameLst>
                                      </p:cBhvr>
                                      <p:to>
                                        <p:strVal val="visible"/>
                                      </p:to>
                                    </p:set>
                                    <p:animEffect transition="in" filter="wipe(left)">
                                      <p:cBhvr>
                                        <p:cTn id="32" dur="500"/>
                                        <p:tgtEl>
                                          <p:spTgt spid="8192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1930"/>
                                        </p:tgtEl>
                                        <p:attrNameLst>
                                          <p:attrName>style.visibility</p:attrName>
                                        </p:attrNameLst>
                                      </p:cBhvr>
                                      <p:to>
                                        <p:strVal val="visible"/>
                                      </p:to>
                                    </p:set>
                                    <p:animEffect transition="in" filter="wipe(left)">
                                      <p:cBhvr>
                                        <p:cTn id="37" dur="500"/>
                                        <p:tgtEl>
                                          <p:spTgt spid="8193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1933"/>
                                        </p:tgtEl>
                                        <p:attrNameLst>
                                          <p:attrName>style.visibility</p:attrName>
                                        </p:attrNameLst>
                                      </p:cBhvr>
                                      <p:to>
                                        <p:strVal val="visible"/>
                                      </p:to>
                                    </p:set>
                                    <p:animEffect transition="in" filter="wipe(left)">
                                      <p:cBhvr>
                                        <p:cTn id="42" dur="500"/>
                                        <p:tgtEl>
                                          <p:spTgt spid="81933"/>
                                        </p:tgtEl>
                                      </p:cBhvr>
                                    </p:animEffect>
                                  </p:childTnLst>
                                </p:cTn>
                              </p:par>
                            </p:childTnLst>
                          </p:cTn>
                        </p:par>
                        <p:par>
                          <p:cTn id="43" fill="hold" nodeType="afterGroup">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81931"/>
                                        </p:tgtEl>
                                        <p:attrNameLst>
                                          <p:attrName>style.visibility</p:attrName>
                                        </p:attrNameLst>
                                      </p:cBhvr>
                                      <p:to>
                                        <p:strVal val="visible"/>
                                      </p:to>
                                    </p:set>
                                    <p:animEffect transition="in" filter="wipe(left)">
                                      <p:cBhvr>
                                        <p:cTn id="46" dur="500"/>
                                        <p:tgtEl>
                                          <p:spTgt spid="8193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81935"/>
                                        </p:tgtEl>
                                        <p:attrNameLst>
                                          <p:attrName>style.visibility</p:attrName>
                                        </p:attrNameLst>
                                      </p:cBhvr>
                                      <p:to>
                                        <p:strVal val="visible"/>
                                      </p:to>
                                    </p:set>
                                    <p:animEffect transition="in" filter="wipe(left)">
                                      <p:cBhvr>
                                        <p:cTn id="51" dur="500"/>
                                        <p:tgtEl>
                                          <p:spTgt spid="81935"/>
                                        </p:tgtEl>
                                      </p:cBhvr>
                                    </p:animEffect>
                                  </p:childTnLst>
                                </p:cTn>
                              </p:par>
                            </p:childTnLst>
                          </p:cTn>
                        </p:par>
                        <p:par>
                          <p:cTn id="52" fill="hold" nodeType="afterGroup">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81934"/>
                                        </p:tgtEl>
                                        <p:attrNameLst>
                                          <p:attrName>style.visibility</p:attrName>
                                        </p:attrNameLst>
                                      </p:cBhvr>
                                      <p:to>
                                        <p:strVal val="visible"/>
                                      </p:to>
                                    </p:set>
                                    <p:animEffect transition="in" filter="wipe(left)">
                                      <p:cBhvr>
                                        <p:cTn id="55" dur="500"/>
                                        <p:tgtEl>
                                          <p:spTgt spid="8193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81936"/>
                                        </p:tgtEl>
                                        <p:attrNameLst>
                                          <p:attrName>style.visibility</p:attrName>
                                        </p:attrNameLst>
                                      </p:cBhvr>
                                      <p:to>
                                        <p:strVal val="visible"/>
                                      </p:to>
                                    </p:set>
                                    <p:animEffect transition="in" filter="wipe(left)">
                                      <p:cBhvr>
                                        <p:cTn id="60" dur="500"/>
                                        <p:tgtEl>
                                          <p:spTgt spid="819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autoUpdateAnimBg="0"/>
      <p:bldP spid="81927" grpId="0" animBg="1"/>
      <p:bldP spid="81928" grpId="0" autoUpdateAnimBg="0"/>
      <p:bldP spid="81929" grpId="0" autoUpdateAnimBg="0"/>
      <p:bldP spid="81930" grpId="0" animBg="1" autoUpdateAnimBg="0"/>
      <p:bldP spid="81931" grpId="0" animBg="1" autoUpdateAnimBg="0"/>
      <p:bldP spid="81933" grpId="0" animBg="1"/>
      <p:bldP spid="81934" grpId="0" animBg="1" autoUpdateAnimBg="0"/>
      <p:bldP spid="81935" grpId="0" animBg="1"/>
      <p:bldP spid="81936"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2"/>
          <p:cNvSpPr txBox="1">
            <a:spLocks noChangeArrowheads="1"/>
          </p:cNvSpPr>
          <p:nvPr/>
        </p:nvSpPr>
        <p:spPr bwMode="auto">
          <a:xfrm>
            <a:off x="179388" y="595313"/>
            <a:ext cx="3600450" cy="5302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00FF"/>
                </a:solidFill>
                <a:latin typeface="Times New Roman" pitchFamily="18" charset="0"/>
              </a:rPr>
              <a:t>11.4.3   </a:t>
            </a:r>
            <a:r>
              <a:rPr kumimoji="1" lang="zh-CN" altLang="en-US" sz="2400" b="1">
                <a:solidFill>
                  <a:srgbClr val="0000FF"/>
                </a:solidFill>
                <a:latin typeface="Times New Roman" pitchFamily="18" charset="0"/>
              </a:rPr>
              <a:t>磁场能量</a:t>
            </a:r>
          </a:p>
        </p:txBody>
      </p:sp>
      <p:sp>
        <p:nvSpPr>
          <p:cNvPr id="35843" name="Rectangle 3"/>
          <p:cNvSpPr>
            <a:spLocks noChangeArrowheads="1"/>
          </p:cNvSpPr>
          <p:nvPr/>
        </p:nvSpPr>
        <p:spPr bwMode="auto">
          <a:xfrm>
            <a:off x="2628900" y="620713"/>
            <a:ext cx="3455988" cy="534987"/>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CC0000"/>
                </a:solidFill>
                <a:latin typeface="Times New Roman" pitchFamily="18" charset="0"/>
                <a:ea typeface="楷体_GB2312" pitchFamily="49" charset="-122"/>
                <a:cs typeface="Times New Roman" pitchFamily="18" charset="0"/>
              </a:rPr>
              <a:t>(</a:t>
            </a:r>
            <a:r>
              <a:rPr kumimoji="1" lang="zh-CN" altLang="en-US" sz="2400" b="1">
                <a:solidFill>
                  <a:srgbClr val="CC0000"/>
                </a:solidFill>
                <a:latin typeface="Times New Roman" pitchFamily="18" charset="0"/>
                <a:ea typeface="楷体_GB2312" pitchFamily="49" charset="-122"/>
                <a:cs typeface="Times New Roman" pitchFamily="18" charset="0"/>
              </a:rPr>
              <a:t>以无限长直螺线管为例</a:t>
            </a:r>
            <a:r>
              <a:rPr kumimoji="1" lang="en-US" altLang="zh-CN" sz="2400" b="1">
                <a:solidFill>
                  <a:srgbClr val="CC0000"/>
                </a:solidFill>
                <a:latin typeface="Times New Roman" pitchFamily="18" charset="0"/>
                <a:ea typeface="楷体_GB2312" pitchFamily="49" charset="-122"/>
                <a:cs typeface="Times New Roman" pitchFamily="18" charset="0"/>
              </a:rPr>
              <a:t>)</a:t>
            </a:r>
          </a:p>
        </p:txBody>
      </p:sp>
      <p:sp>
        <p:nvSpPr>
          <p:cNvPr id="35844" name="AutoShape 4"/>
          <p:cNvSpPr>
            <a:spLocks noChangeArrowheads="1"/>
          </p:cNvSpPr>
          <p:nvPr/>
        </p:nvSpPr>
        <p:spPr bwMode="auto">
          <a:xfrm rot="-5395948">
            <a:off x="6067425" y="149225"/>
            <a:ext cx="1371600" cy="3962400"/>
          </a:xfrm>
          <a:prstGeom prst="can">
            <a:avLst>
              <a:gd name="adj" fmla="val 37957"/>
            </a:avLst>
          </a:prstGeom>
          <a:gradFill rotWithShape="0">
            <a:gsLst>
              <a:gs pos="0">
                <a:srgbClr val="A5A5A5"/>
              </a:gs>
              <a:gs pos="50000">
                <a:srgbClr val="C0C0C0"/>
              </a:gs>
              <a:gs pos="100000">
                <a:srgbClr val="A5A5A5"/>
              </a:gs>
            </a:gsLst>
            <a:lin ang="5400000" scaled="1"/>
          </a:gradFill>
          <a:ln w="9525">
            <a:solidFill>
              <a:schemeClr val="tx1"/>
            </a:solidFill>
            <a:round/>
            <a:headEnd/>
            <a:tailEnd/>
          </a:ln>
        </p:spPr>
        <p:txBody>
          <a:bodyPr wrap="none" anchor="ctr"/>
          <a:lstStyle/>
          <a:p>
            <a:endParaRPr lang="zh-CN" altLang="en-US"/>
          </a:p>
        </p:txBody>
      </p:sp>
      <p:sp>
        <p:nvSpPr>
          <p:cNvPr id="35845" name="Line 5"/>
          <p:cNvSpPr>
            <a:spLocks noChangeShapeType="1"/>
          </p:cNvSpPr>
          <p:nvPr/>
        </p:nvSpPr>
        <p:spPr bwMode="auto">
          <a:xfrm>
            <a:off x="4089400" y="2127250"/>
            <a:ext cx="4875213" cy="0"/>
          </a:xfrm>
          <a:prstGeom prst="line">
            <a:avLst/>
          </a:prstGeom>
          <a:noFill/>
          <a:ln w="9525">
            <a:solidFill>
              <a:schemeClr val="tx1"/>
            </a:solidFill>
            <a:prstDash val="lgDashDot"/>
            <a:round/>
            <a:headEnd/>
            <a:tailEnd/>
          </a:ln>
        </p:spPr>
        <p:txBody>
          <a:bodyPr/>
          <a:lstStyle/>
          <a:p>
            <a:endParaRPr lang="zh-CN" altLang="en-US"/>
          </a:p>
        </p:txBody>
      </p:sp>
      <p:grpSp>
        <p:nvGrpSpPr>
          <p:cNvPr id="2" name="Group 6"/>
          <p:cNvGrpSpPr>
            <a:grpSpLocks/>
          </p:cNvGrpSpPr>
          <p:nvPr/>
        </p:nvGrpSpPr>
        <p:grpSpPr bwMode="auto">
          <a:xfrm>
            <a:off x="5384800" y="1349375"/>
            <a:ext cx="2971800" cy="1574800"/>
            <a:chOff x="3360" y="1572"/>
            <a:chExt cx="1872" cy="992"/>
          </a:xfrm>
        </p:grpSpPr>
        <p:sp>
          <p:nvSpPr>
            <p:cNvPr id="27671" name="Freeform 7"/>
            <p:cNvSpPr>
              <a:spLocks/>
            </p:cNvSpPr>
            <p:nvPr/>
          </p:nvSpPr>
          <p:spPr bwMode="auto">
            <a:xfrm>
              <a:off x="3360"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72" name="Freeform 8"/>
            <p:cNvSpPr>
              <a:spLocks/>
            </p:cNvSpPr>
            <p:nvPr/>
          </p:nvSpPr>
          <p:spPr bwMode="auto">
            <a:xfrm>
              <a:off x="3504"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73" name="Freeform 9"/>
            <p:cNvSpPr>
              <a:spLocks/>
            </p:cNvSpPr>
            <p:nvPr/>
          </p:nvSpPr>
          <p:spPr bwMode="auto">
            <a:xfrm>
              <a:off x="3648"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74" name="Freeform 10"/>
            <p:cNvSpPr>
              <a:spLocks/>
            </p:cNvSpPr>
            <p:nvPr/>
          </p:nvSpPr>
          <p:spPr bwMode="auto">
            <a:xfrm>
              <a:off x="3936"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75" name="Freeform 11"/>
            <p:cNvSpPr>
              <a:spLocks/>
            </p:cNvSpPr>
            <p:nvPr/>
          </p:nvSpPr>
          <p:spPr bwMode="auto">
            <a:xfrm>
              <a:off x="3792"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76" name="Freeform 12"/>
            <p:cNvSpPr>
              <a:spLocks/>
            </p:cNvSpPr>
            <p:nvPr/>
          </p:nvSpPr>
          <p:spPr bwMode="auto">
            <a:xfrm>
              <a:off x="4800"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77" name="Freeform 13"/>
            <p:cNvSpPr>
              <a:spLocks/>
            </p:cNvSpPr>
            <p:nvPr/>
          </p:nvSpPr>
          <p:spPr bwMode="auto">
            <a:xfrm>
              <a:off x="4944"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78" name="Freeform 14"/>
            <p:cNvSpPr>
              <a:spLocks/>
            </p:cNvSpPr>
            <p:nvPr/>
          </p:nvSpPr>
          <p:spPr bwMode="auto">
            <a:xfrm>
              <a:off x="5088"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79" name="Freeform 15"/>
            <p:cNvSpPr>
              <a:spLocks/>
            </p:cNvSpPr>
            <p:nvPr/>
          </p:nvSpPr>
          <p:spPr bwMode="auto">
            <a:xfrm>
              <a:off x="4656"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80" name="Freeform 16"/>
            <p:cNvSpPr>
              <a:spLocks/>
            </p:cNvSpPr>
            <p:nvPr/>
          </p:nvSpPr>
          <p:spPr bwMode="auto">
            <a:xfrm>
              <a:off x="4512"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81" name="Freeform 17"/>
            <p:cNvSpPr>
              <a:spLocks/>
            </p:cNvSpPr>
            <p:nvPr/>
          </p:nvSpPr>
          <p:spPr bwMode="auto">
            <a:xfrm>
              <a:off x="4368"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82" name="Freeform 18"/>
            <p:cNvSpPr>
              <a:spLocks/>
            </p:cNvSpPr>
            <p:nvPr/>
          </p:nvSpPr>
          <p:spPr bwMode="auto">
            <a:xfrm>
              <a:off x="4224"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sp>
          <p:nvSpPr>
            <p:cNvPr id="27683" name="Freeform 19"/>
            <p:cNvSpPr>
              <a:spLocks/>
            </p:cNvSpPr>
            <p:nvPr/>
          </p:nvSpPr>
          <p:spPr bwMode="auto">
            <a:xfrm>
              <a:off x="4080" y="1572"/>
              <a:ext cx="144" cy="992"/>
            </a:xfrm>
            <a:custGeom>
              <a:avLst/>
              <a:gdLst>
                <a:gd name="T0" fmla="*/ 0 w 240"/>
                <a:gd name="T1" fmla="*/ 64 h 992"/>
                <a:gd name="T2" fmla="*/ 4 w 240"/>
                <a:gd name="T3" fmla="*/ 16 h 992"/>
                <a:gd name="T4" fmla="*/ 15 w 240"/>
                <a:gd name="T5" fmla="*/ 160 h 992"/>
                <a:gd name="T6" fmla="*/ 19 w 240"/>
                <a:gd name="T7" fmla="*/ 496 h 992"/>
                <a:gd name="T8" fmla="*/ 15 w 240"/>
                <a:gd name="T9" fmla="*/ 832 h 992"/>
                <a:gd name="T10" fmla="*/ 4 w 240"/>
                <a:gd name="T11" fmla="*/ 976 h 992"/>
                <a:gd name="T12" fmla="*/ 4 w 240"/>
                <a:gd name="T13" fmla="*/ 928 h 992"/>
                <a:gd name="T14" fmla="*/ 0 60000 65536"/>
                <a:gd name="T15" fmla="*/ 0 60000 65536"/>
                <a:gd name="T16" fmla="*/ 0 60000 65536"/>
                <a:gd name="T17" fmla="*/ 0 60000 65536"/>
                <a:gd name="T18" fmla="*/ 0 60000 65536"/>
                <a:gd name="T19" fmla="*/ 0 60000 65536"/>
                <a:gd name="T20" fmla="*/ 0 60000 65536"/>
                <a:gd name="T21" fmla="*/ 0 w 240"/>
                <a:gd name="T22" fmla="*/ 0 h 992"/>
                <a:gd name="T23" fmla="*/ 240 w 240"/>
                <a:gd name="T24" fmla="*/ 992 h 99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0" h="992">
                  <a:moveTo>
                    <a:pt x="0" y="64"/>
                  </a:moveTo>
                  <a:cubicBezTo>
                    <a:pt x="8" y="32"/>
                    <a:pt x="16" y="0"/>
                    <a:pt x="48" y="16"/>
                  </a:cubicBezTo>
                  <a:cubicBezTo>
                    <a:pt x="80" y="32"/>
                    <a:pt x="160" y="80"/>
                    <a:pt x="192" y="160"/>
                  </a:cubicBezTo>
                  <a:cubicBezTo>
                    <a:pt x="224" y="240"/>
                    <a:pt x="240" y="384"/>
                    <a:pt x="240" y="496"/>
                  </a:cubicBezTo>
                  <a:cubicBezTo>
                    <a:pt x="240" y="608"/>
                    <a:pt x="224" y="752"/>
                    <a:pt x="192" y="832"/>
                  </a:cubicBezTo>
                  <a:cubicBezTo>
                    <a:pt x="160" y="912"/>
                    <a:pt x="72" y="960"/>
                    <a:pt x="48" y="976"/>
                  </a:cubicBezTo>
                  <a:cubicBezTo>
                    <a:pt x="24" y="992"/>
                    <a:pt x="36" y="960"/>
                    <a:pt x="48" y="928"/>
                  </a:cubicBezTo>
                </a:path>
              </a:pathLst>
            </a:custGeom>
            <a:noFill/>
            <a:ln w="22225">
              <a:solidFill>
                <a:srgbClr val="00CC00"/>
              </a:solidFill>
              <a:round/>
              <a:headEnd/>
              <a:tailEnd/>
            </a:ln>
          </p:spPr>
          <p:txBody>
            <a:bodyPr/>
            <a:lstStyle/>
            <a:p>
              <a:endParaRPr lang="zh-CN" altLang="en-US"/>
            </a:p>
          </p:txBody>
        </p:sp>
      </p:grpSp>
      <p:graphicFrame>
        <p:nvGraphicFramePr>
          <p:cNvPr id="35860" name="Object 20"/>
          <p:cNvGraphicFramePr>
            <a:graphicFrameLocks noChangeAspect="1"/>
          </p:cNvGraphicFramePr>
          <p:nvPr/>
        </p:nvGraphicFramePr>
        <p:xfrm>
          <a:off x="4919663" y="1700213"/>
          <a:ext cx="341312" cy="387350"/>
        </p:xfrm>
        <a:graphic>
          <a:graphicData uri="http://schemas.openxmlformats.org/presentationml/2006/ole">
            <p:oleObj spid="_x0000_s27650" name="公式" r:id="rId3" imgW="152355" imgH="180900" progId="Equation.3">
              <p:embed/>
            </p:oleObj>
          </a:graphicData>
        </a:graphic>
      </p:graphicFrame>
      <p:graphicFrame>
        <p:nvGraphicFramePr>
          <p:cNvPr id="35861" name="Object 21"/>
          <p:cNvGraphicFramePr>
            <a:graphicFrameLocks/>
          </p:cNvGraphicFramePr>
          <p:nvPr/>
        </p:nvGraphicFramePr>
        <p:xfrm>
          <a:off x="987425" y="1341438"/>
          <a:ext cx="2144713" cy="409575"/>
        </p:xfrm>
        <a:graphic>
          <a:graphicData uri="http://schemas.openxmlformats.org/presentationml/2006/ole">
            <p:oleObj spid="_x0000_s27651" name="公式" r:id="rId4" imgW="1152657" imgH="190620" progId="Equation.3">
              <p:embed/>
            </p:oleObj>
          </a:graphicData>
        </a:graphic>
      </p:graphicFrame>
      <p:sp>
        <p:nvSpPr>
          <p:cNvPr id="35862" name="Line 22"/>
          <p:cNvSpPr>
            <a:spLocks noChangeShapeType="1"/>
          </p:cNvSpPr>
          <p:nvPr/>
        </p:nvSpPr>
        <p:spPr bwMode="auto">
          <a:xfrm flipV="1">
            <a:off x="6375400" y="1901825"/>
            <a:ext cx="0" cy="457200"/>
          </a:xfrm>
          <a:prstGeom prst="line">
            <a:avLst/>
          </a:prstGeom>
          <a:noFill/>
          <a:ln w="38100">
            <a:solidFill>
              <a:srgbClr val="FF0000"/>
            </a:solidFill>
            <a:round/>
            <a:headEnd/>
            <a:tailEnd type="triangle" w="med" len="med"/>
          </a:ln>
        </p:spPr>
        <p:txBody>
          <a:bodyPr/>
          <a:lstStyle/>
          <a:p>
            <a:endParaRPr lang="zh-CN" altLang="en-US"/>
          </a:p>
        </p:txBody>
      </p:sp>
      <p:graphicFrame>
        <p:nvGraphicFramePr>
          <p:cNvPr id="35863" name="Object 23"/>
          <p:cNvGraphicFramePr>
            <a:graphicFrameLocks noChangeAspect="1"/>
          </p:cNvGraphicFramePr>
          <p:nvPr/>
        </p:nvGraphicFramePr>
        <p:xfrm>
          <a:off x="6165850" y="1038225"/>
          <a:ext cx="230188" cy="298450"/>
        </p:xfrm>
        <a:graphic>
          <a:graphicData uri="http://schemas.openxmlformats.org/presentationml/2006/ole">
            <p:oleObj spid="_x0000_s27652" name="公式" r:id="rId5" imgW="85632" imgH="123930" progId="Equation.3">
              <p:embed/>
            </p:oleObj>
          </a:graphicData>
        </a:graphic>
      </p:graphicFrame>
      <p:sp>
        <p:nvSpPr>
          <p:cNvPr id="35864" name="Line 24"/>
          <p:cNvSpPr>
            <a:spLocks noChangeShapeType="1"/>
          </p:cNvSpPr>
          <p:nvPr/>
        </p:nvSpPr>
        <p:spPr bwMode="auto">
          <a:xfrm flipH="1">
            <a:off x="4241800" y="2130425"/>
            <a:ext cx="685800" cy="0"/>
          </a:xfrm>
          <a:prstGeom prst="line">
            <a:avLst/>
          </a:prstGeom>
          <a:noFill/>
          <a:ln w="44450">
            <a:solidFill>
              <a:srgbClr val="0000FF"/>
            </a:solidFill>
            <a:round/>
            <a:headEnd/>
            <a:tailEnd type="triangle" w="med" len="med"/>
          </a:ln>
        </p:spPr>
        <p:txBody>
          <a:bodyPr/>
          <a:lstStyle/>
          <a:p>
            <a:endParaRPr lang="zh-CN" altLang="en-US"/>
          </a:p>
        </p:txBody>
      </p:sp>
      <p:graphicFrame>
        <p:nvGraphicFramePr>
          <p:cNvPr id="35865" name="Object 25"/>
          <p:cNvGraphicFramePr>
            <a:graphicFrameLocks noChangeAspect="1"/>
          </p:cNvGraphicFramePr>
          <p:nvPr/>
        </p:nvGraphicFramePr>
        <p:xfrm>
          <a:off x="4373563" y="1628775"/>
          <a:ext cx="277812" cy="371475"/>
        </p:xfrm>
        <a:graphic>
          <a:graphicData uri="http://schemas.openxmlformats.org/presentationml/2006/ole">
            <p:oleObj spid="_x0000_s27653" name="公式" r:id="rId6" imgW="114266" imgH="162000" progId="Equation.3">
              <p:embed/>
            </p:oleObj>
          </a:graphicData>
        </a:graphic>
      </p:graphicFrame>
      <p:graphicFrame>
        <p:nvGraphicFramePr>
          <p:cNvPr id="35866" name="Object 26"/>
          <p:cNvGraphicFramePr>
            <a:graphicFrameLocks noChangeAspect="1"/>
          </p:cNvGraphicFramePr>
          <p:nvPr/>
        </p:nvGraphicFramePr>
        <p:xfrm>
          <a:off x="684213" y="2636838"/>
          <a:ext cx="1011237" cy="730250"/>
        </p:xfrm>
        <a:graphic>
          <a:graphicData uri="http://schemas.openxmlformats.org/presentationml/2006/ole">
            <p:oleObj spid="_x0000_s27654" name="公式" r:id="rId7" imgW="533513" imgH="371520" progId="Equation.3">
              <p:embed/>
            </p:oleObj>
          </a:graphicData>
        </a:graphic>
      </p:graphicFrame>
      <p:sp>
        <p:nvSpPr>
          <p:cNvPr id="35867" name="Rectangle 27"/>
          <p:cNvSpPr>
            <a:spLocks noChangeArrowheads="1"/>
          </p:cNvSpPr>
          <p:nvPr/>
        </p:nvSpPr>
        <p:spPr bwMode="auto">
          <a:xfrm>
            <a:off x="166688" y="1916113"/>
            <a:ext cx="4405312"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长直螺线管的自感为：</a:t>
            </a:r>
          </a:p>
        </p:txBody>
      </p:sp>
      <p:graphicFrame>
        <p:nvGraphicFramePr>
          <p:cNvPr id="35868" name="Object 28"/>
          <p:cNvGraphicFramePr>
            <a:graphicFrameLocks/>
          </p:cNvGraphicFramePr>
          <p:nvPr/>
        </p:nvGraphicFramePr>
        <p:xfrm>
          <a:off x="900113" y="3644900"/>
          <a:ext cx="2724150" cy="730250"/>
        </p:xfrm>
        <a:graphic>
          <a:graphicData uri="http://schemas.openxmlformats.org/presentationml/2006/ole">
            <p:oleObj spid="_x0000_s27655" name="公式" r:id="rId8" imgW="1476277" imgH="371520" progId="Equation.3">
              <p:embed/>
            </p:oleObj>
          </a:graphicData>
        </a:graphic>
      </p:graphicFrame>
      <p:graphicFrame>
        <p:nvGraphicFramePr>
          <p:cNvPr id="35869" name="Object 29"/>
          <p:cNvGraphicFramePr>
            <a:graphicFrameLocks/>
          </p:cNvGraphicFramePr>
          <p:nvPr/>
        </p:nvGraphicFramePr>
        <p:xfrm>
          <a:off x="3635375" y="3644900"/>
          <a:ext cx="1800225" cy="798513"/>
        </p:xfrm>
        <a:graphic>
          <a:graphicData uri="http://schemas.openxmlformats.org/presentationml/2006/ole">
            <p:oleObj spid="_x0000_s27656" name="公式" r:id="rId9" imgW="961943" imgH="409590" progId="Equation.3">
              <p:embed/>
            </p:oleObj>
          </a:graphicData>
        </a:graphic>
      </p:graphicFrame>
      <p:graphicFrame>
        <p:nvGraphicFramePr>
          <p:cNvPr id="35870" name="Object 30"/>
          <p:cNvGraphicFramePr>
            <a:graphicFrameLocks/>
          </p:cNvGraphicFramePr>
          <p:nvPr/>
        </p:nvGraphicFramePr>
        <p:xfrm>
          <a:off x="5454650" y="3644900"/>
          <a:ext cx="917575" cy="798513"/>
        </p:xfrm>
        <a:graphic>
          <a:graphicData uri="http://schemas.openxmlformats.org/presentationml/2006/ole">
            <p:oleObj spid="_x0000_s27657" name="公式" r:id="rId10" imgW="466790" imgH="409590" progId="Equation.3">
              <p:embed/>
            </p:oleObj>
          </a:graphicData>
        </a:graphic>
      </p:graphicFrame>
      <p:graphicFrame>
        <p:nvGraphicFramePr>
          <p:cNvPr id="35872" name="Object 32"/>
          <p:cNvGraphicFramePr>
            <a:graphicFrameLocks noChangeAspect="1"/>
          </p:cNvGraphicFramePr>
          <p:nvPr/>
        </p:nvGraphicFramePr>
        <p:xfrm>
          <a:off x="1042988" y="5362575"/>
          <a:ext cx="2601912" cy="803275"/>
        </p:xfrm>
        <a:graphic>
          <a:graphicData uri="http://schemas.openxmlformats.org/presentationml/2006/ole">
            <p:oleObj spid="_x0000_s27658" name="公式" r:id="rId11" imgW="1400099" imgH="409590" progId="Equation.3">
              <p:embed/>
            </p:oleObj>
          </a:graphicData>
        </a:graphic>
      </p:graphicFrame>
      <p:sp>
        <p:nvSpPr>
          <p:cNvPr id="35873" name="Text Box 33"/>
          <p:cNvSpPr txBox="1">
            <a:spLocks noChangeArrowheads="1"/>
          </p:cNvSpPr>
          <p:nvPr/>
        </p:nvSpPr>
        <p:spPr bwMode="auto">
          <a:xfrm>
            <a:off x="179388" y="4508500"/>
            <a:ext cx="5248275"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3300"/>
                </a:solidFill>
                <a:latin typeface="Times New Roman" pitchFamily="18" charset="0"/>
                <a:ea typeface="楷体_GB2312" pitchFamily="49" charset="-122"/>
              </a:rPr>
              <a:t>磁场能量密度</a:t>
            </a:r>
            <a:r>
              <a:rPr kumimoji="1" lang="zh-CN" altLang="en-US" sz="2400" b="1">
                <a:latin typeface="Times New Roman" pitchFamily="18" charset="0"/>
                <a:ea typeface="楷体_GB2312" pitchFamily="49" charset="-122"/>
              </a:rPr>
              <a:t>的普遍计算公式</a:t>
            </a:r>
          </a:p>
        </p:txBody>
      </p:sp>
      <p:sp>
        <p:nvSpPr>
          <p:cNvPr id="35874" name="Text Box 34"/>
          <p:cNvSpPr txBox="1">
            <a:spLocks noChangeArrowheads="1"/>
          </p:cNvSpPr>
          <p:nvPr/>
        </p:nvSpPr>
        <p:spPr bwMode="auto">
          <a:xfrm>
            <a:off x="3779838" y="5494338"/>
            <a:ext cx="3792537" cy="534987"/>
          </a:xfrm>
          <a:prstGeom prst="rect">
            <a:avLst/>
          </a:prstGeom>
          <a:noFill/>
          <a:ln w="9525">
            <a:noFill/>
            <a:miter lim="800000"/>
            <a:headEnd/>
            <a:tailEnd/>
          </a:ln>
        </p:spPr>
        <p:txBody>
          <a:bodyPr wrap="none">
            <a:spAutoFit/>
          </a:bodyPr>
          <a:lstStyle/>
          <a:p>
            <a:pPr algn="l">
              <a:lnSpc>
                <a:spcPct val="120000"/>
              </a:lnSpc>
            </a:pPr>
            <a:r>
              <a:rPr kumimoji="1" lang="en-US" altLang="zh-CN" sz="2400" b="1">
                <a:solidFill>
                  <a:srgbClr val="008000"/>
                </a:solidFill>
                <a:latin typeface="Times New Roman" pitchFamily="18" charset="0"/>
                <a:ea typeface="楷体_GB2312" pitchFamily="49" charset="-122"/>
              </a:rPr>
              <a:t>(</a:t>
            </a:r>
            <a:r>
              <a:rPr kumimoji="1" lang="zh-CN" altLang="en-US" sz="2400" b="1">
                <a:solidFill>
                  <a:srgbClr val="008000"/>
                </a:solidFill>
                <a:latin typeface="Times New Roman" pitchFamily="18" charset="0"/>
                <a:ea typeface="楷体_GB2312" pitchFamily="49" charset="-122"/>
              </a:rPr>
              <a:t>适用于均匀与非均匀磁场</a:t>
            </a:r>
            <a:r>
              <a:rPr kumimoji="1" lang="en-US" altLang="zh-CN" sz="2400" b="1">
                <a:solidFill>
                  <a:srgbClr val="008000"/>
                </a:solidFill>
                <a:latin typeface="Times New Roman" pitchFamily="18" charset="0"/>
                <a:ea typeface="楷体_GB2312" pitchFamily="49" charset="-122"/>
              </a:rPr>
              <a:t>)</a:t>
            </a:r>
          </a:p>
        </p:txBody>
      </p:sp>
      <p:graphicFrame>
        <p:nvGraphicFramePr>
          <p:cNvPr id="35875" name="Object 35"/>
          <p:cNvGraphicFramePr>
            <a:graphicFrameLocks noChangeAspect="1"/>
          </p:cNvGraphicFramePr>
          <p:nvPr/>
        </p:nvGraphicFramePr>
        <p:xfrm>
          <a:off x="1778000" y="2651125"/>
          <a:ext cx="1571625" cy="730250"/>
        </p:xfrm>
        <a:graphic>
          <a:graphicData uri="http://schemas.openxmlformats.org/presentationml/2006/ole">
            <p:oleObj spid="_x0000_s27659" name="公式" r:id="rId12" imgW="847677" imgH="371520" progId="Equation.3">
              <p:embed/>
            </p:oleObj>
          </a:graphicData>
        </a:graphic>
      </p:graphicFrame>
      <p:graphicFrame>
        <p:nvGraphicFramePr>
          <p:cNvPr id="35876" name="Object 36"/>
          <p:cNvGraphicFramePr>
            <a:graphicFrameLocks noChangeAspect="1"/>
          </p:cNvGraphicFramePr>
          <p:nvPr/>
        </p:nvGraphicFramePr>
        <p:xfrm>
          <a:off x="3359150" y="2809875"/>
          <a:ext cx="920750" cy="411163"/>
        </p:xfrm>
        <a:graphic>
          <a:graphicData uri="http://schemas.openxmlformats.org/presentationml/2006/ole">
            <p:oleObj spid="_x0000_s27660" name="公式" r:id="rId13" imgW="485699" imgH="190620" progId="Equation.3">
              <p:embed/>
            </p:oleObj>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5842"/>
                                        </p:tgtEl>
                                        <p:attrNameLst>
                                          <p:attrName>style.visibility</p:attrName>
                                        </p:attrNameLst>
                                      </p:cBhvr>
                                      <p:to>
                                        <p:strVal val="visible"/>
                                      </p:to>
                                    </p:set>
                                    <p:animEffect transition="in" filter="wipe(left)">
                                      <p:cBhvr>
                                        <p:cTn id="7" dur="500"/>
                                        <p:tgtEl>
                                          <p:spTgt spid="358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transition="in" filter="wipe(left)">
                                      <p:cBhvr>
                                        <p:cTn id="12" dur="500"/>
                                        <p:tgtEl>
                                          <p:spTgt spid="358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7" presetClass="entr" presetSubtype="2" fill="hold" grpId="0" nodeType="clickEffect">
                                  <p:stCondLst>
                                    <p:cond delay="0"/>
                                  </p:stCondLst>
                                  <p:childTnLst>
                                    <p:set>
                                      <p:cBhvr>
                                        <p:cTn id="16" dur="1" fill="hold">
                                          <p:stCondLst>
                                            <p:cond delay="0"/>
                                          </p:stCondLst>
                                        </p:cTn>
                                        <p:tgtEl>
                                          <p:spTgt spid="35844"/>
                                        </p:tgtEl>
                                        <p:attrNameLst>
                                          <p:attrName>style.visibility</p:attrName>
                                        </p:attrNameLst>
                                      </p:cBhvr>
                                      <p:to>
                                        <p:strVal val="visible"/>
                                      </p:to>
                                    </p:set>
                                    <p:anim calcmode="lin" valueType="num">
                                      <p:cBhvr additive="base">
                                        <p:cTn id="17" dur="5000" fill="hold"/>
                                        <p:tgtEl>
                                          <p:spTgt spid="35844"/>
                                        </p:tgtEl>
                                        <p:attrNameLst>
                                          <p:attrName>ppt_x</p:attrName>
                                        </p:attrNameLst>
                                      </p:cBhvr>
                                      <p:tavLst>
                                        <p:tav tm="0">
                                          <p:val>
                                            <p:strVal val="1+#ppt_w/2"/>
                                          </p:val>
                                        </p:tav>
                                        <p:tav tm="100000">
                                          <p:val>
                                            <p:strVal val="#ppt_x"/>
                                          </p:val>
                                        </p:tav>
                                      </p:tavLst>
                                    </p:anim>
                                    <p:anim calcmode="lin" valueType="num">
                                      <p:cBhvr additive="base">
                                        <p:cTn id="18" dur="5000" fill="hold"/>
                                        <p:tgtEl>
                                          <p:spTgt spid="35844"/>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35845"/>
                                        </p:tgtEl>
                                        <p:attrNameLst>
                                          <p:attrName>style.visibility</p:attrName>
                                        </p:attrNameLst>
                                      </p:cBhvr>
                                      <p:to>
                                        <p:strVal val="visible"/>
                                      </p:to>
                                    </p:set>
                                    <p:animEffect transition="in" filter="slide(fromLeft)">
                                      <p:cBhvr>
                                        <p:cTn id="23" dur="500"/>
                                        <p:tgtEl>
                                          <p:spTgt spid="3584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3" presetClass="entr" presetSubtype="16"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2" presetClass="entr" presetSubtype="4" fill="hold" nodeType="clickEffect">
                                  <p:stCondLst>
                                    <p:cond delay="0"/>
                                  </p:stCondLst>
                                  <p:childTnLst>
                                    <p:set>
                                      <p:cBhvr>
                                        <p:cTn id="33" dur="1" fill="hold">
                                          <p:stCondLst>
                                            <p:cond delay="0"/>
                                          </p:stCondLst>
                                        </p:cTn>
                                        <p:tgtEl>
                                          <p:spTgt spid="35860"/>
                                        </p:tgtEl>
                                        <p:attrNameLst>
                                          <p:attrName>style.visibility</p:attrName>
                                        </p:attrNameLst>
                                      </p:cBhvr>
                                      <p:to>
                                        <p:strVal val="visible"/>
                                      </p:to>
                                    </p:set>
                                    <p:animEffect transition="in" filter="slide(fromBottom)">
                                      <p:cBhvr>
                                        <p:cTn id="34" dur="500"/>
                                        <p:tgtEl>
                                          <p:spTgt spid="3586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35862"/>
                                        </p:tgtEl>
                                        <p:attrNameLst>
                                          <p:attrName>style.visibility</p:attrName>
                                        </p:attrNameLst>
                                      </p:cBhvr>
                                      <p:to>
                                        <p:strVal val="visible"/>
                                      </p:to>
                                    </p:set>
                                    <p:animEffect transition="in" filter="slide(fromBottom)">
                                      <p:cBhvr>
                                        <p:cTn id="39" dur="500"/>
                                        <p:tgtEl>
                                          <p:spTgt spid="35862"/>
                                        </p:tgtEl>
                                      </p:cBhvr>
                                    </p:animEffect>
                                  </p:childTnLst>
                                </p:cTn>
                              </p:par>
                            </p:childTnLst>
                          </p:cTn>
                        </p:par>
                        <p:par>
                          <p:cTn id="40" fill="hold" nodeType="afterGroup">
                            <p:stCondLst>
                              <p:cond delay="500"/>
                            </p:stCondLst>
                            <p:childTnLst>
                              <p:par>
                                <p:cTn id="41" presetID="1" presetClass="entr" presetSubtype="0" fill="hold" nodeType="afterEffect">
                                  <p:stCondLst>
                                    <p:cond delay="0"/>
                                  </p:stCondLst>
                                  <p:childTnLst>
                                    <p:set>
                                      <p:cBhvr>
                                        <p:cTn id="42" dur="1" fill="hold">
                                          <p:stCondLst>
                                            <p:cond delay="499"/>
                                          </p:stCondLst>
                                        </p:cTn>
                                        <p:tgtEl>
                                          <p:spTgt spid="35863"/>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2" fill="hold" grpId="0" nodeType="clickEffect">
                                  <p:stCondLst>
                                    <p:cond delay="0"/>
                                  </p:stCondLst>
                                  <p:childTnLst>
                                    <p:set>
                                      <p:cBhvr>
                                        <p:cTn id="46" dur="1" fill="hold">
                                          <p:stCondLst>
                                            <p:cond delay="0"/>
                                          </p:stCondLst>
                                        </p:cTn>
                                        <p:tgtEl>
                                          <p:spTgt spid="35864"/>
                                        </p:tgtEl>
                                        <p:attrNameLst>
                                          <p:attrName>style.visibility</p:attrName>
                                        </p:attrNameLst>
                                      </p:cBhvr>
                                      <p:to>
                                        <p:strVal val="visible"/>
                                      </p:to>
                                    </p:set>
                                    <p:animEffect transition="in" filter="slide(fromRight)">
                                      <p:cBhvr>
                                        <p:cTn id="47" dur="500"/>
                                        <p:tgtEl>
                                          <p:spTgt spid="35864"/>
                                        </p:tgtEl>
                                      </p:cBhvr>
                                    </p:animEffect>
                                  </p:childTnLst>
                                </p:cTn>
                              </p:par>
                            </p:childTnLst>
                          </p:cTn>
                        </p:par>
                        <p:par>
                          <p:cTn id="48" fill="hold" nodeType="afterGroup">
                            <p:stCondLst>
                              <p:cond delay="500"/>
                            </p:stCondLst>
                            <p:childTnLst>
                              <p:par>
                                <p:cTn id="49" presetID="1" presetClass="entr" presetSubtype="0" fill="hold" nodeType="afterEffect">
                                  <p:stCondLst>
                                    <p:cond delay="0"/>
                                  </p:stCondLst>
                                  <p:childTnLst>
                                    <p:set>
                                      <p:cBhvr>
                                        <p:cTn id="50" dur="1" fill="hold">
                                          <p:stCondLst>
                                            <p:cond delay="499"/>
                                          </p:stCondLst>
                                        </p:cTn>
                                        <p:tgtEl>
                                          <p:spTgt spid="35865"/>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5861"/>
                                        </p:tgtEl>
                                        <p:attrNameLst>
                                          <p:attrName>style.visibility</p:attrName>
                                        </p:attrNameLst>
                                      </p:cBhvr>
                                      <p:to>
                                        <p:strVal val="visible"/>
                                      </p:to>
                                    </p:set>
                                    <p:animEffect transition="in" filter="wipe(left)">
                                      <p:cBhvr>
                                        <p:cTn id="55" dur="500"/>
                                        <p:tgtEl>
                                          <p:spTgt spid="3586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35867"/>
                                        </p:tgtEl>
                                        <p:attrNameLst>
                                          <p:attrName>style.visibility</p:attrName>
                                        </p:attrNameLst>
                                      </p:cBhvr>
                                      <p:to>
                                        <p:strVal val="visible"/>
                                      </p:to>
                                    </p:set>
                                    <p:animEffect transition="in" filter="wipe(left)">
                                      <p:cBhvr>
                                        <p:cTn id="60" dur="500"/>
                                        <p:tgtEl>
                                          <p:spTgt spid="3586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35866"/>
                                        </p:tgtEl>
                                        <p:attrNameLst>
                                          <p:attrName>style.visibility</p:attrName>
                                        </p:attrNameLst>
                                      </p:cBhvr>
                                      <p:to>
                                        <p:strVal val="visible"/>
                                      </p:to>
                                    </p:set>
                                    <p:animEffect transition="in" filter="wipe(left)">
                                      <p:cBhvr>
                                        <p:cTn id="65" dur="500"/>
                                        <p:tgtEl>
                                          <p:spTgt spid="3586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35875"/>
                                        </p:tgtEl>
                                        <p:attrNameLst>
                                          <p:attrName>style.visibility</p:attrName>
                                        </p:attrNameLst>
                                      </p:cBhvr>
                                      <p:to>
                                        <p:strVal val="visible"/>
                                      </p:to>
                                    </p:set>
                                    <p:animEffect transition="in" filter="wipe(left)">
                                      <p:cBhvr>
                                        <p:cTn id="70" dur="500"/>
                                        <p:tgtEl>
                                          <p:spTgt spid="3587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35876"/>
                                        </p:tgtEl>
                                        <p:attrNameLst>
                                          <p:attrName>style.visibility</p:attrName>
                                        </p:attrNameLst>
                                      </p:cBhvr>
                                      <p:to>
                                        <p:strVal val="visible"/>
                                      </p:to>
                                    </p:set>
                                    <p:animEffect transition="in" filter="wipe(left)">
                                      <p:cBhvr>
                                        <p:cTn id="75" dur="500"/>
                                        <p:tgtEl>
                                          <p:spTgt spid="35876"/>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35868"/>
                                        </p:tgtEl>
                                        <p:attrNameLst>
                                          <p:attrName>style.visibility</p:attrName>
                                        </p:attrNameLst>
                                      </p:cBhvr>
                                      <p:to>
                                        <p:strVal val="visible"/>
                                      </p:to>
                                    </p:set>
                                    <p:animEffect transition="in" filter="wipe(left)">
                                      <p:cBhvr>
                                        <p:cTn id="80" dur="500"/>
                                        <p:tgtEl>
                                          <p:spTgt spid="3586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35869"/>
                                        </p:tgtEl>
                                        <p:attrNameLst>
                                          <p:attrName>style.visibility</p:attrName>
                                        </p:attrNameLst>
                                      </p:cBhvr>
                                      <p:to>
                                        <p:strVal val="visible"/>
                                      </p:to>
                                    </p:set>
                                    <p:animEffect transition="in" filter="wipe(left)">
                                      <p:cBhvr>
                                        <p:cTn id="85" dur="500"/>
                                        <p:tgtEl>
                                          <p:spTgt spid="35869"/>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35870"/>
                                        </p:tgtEl>
                                        <p:attrNameLst>
                                          <p:attrName>style.visibility</p:attrName>
                                        </p:attrNameLst>
                                      </p:cBhvr>
                                      <p:to>
                                        <p:strVal val="visible"/>
                                      </p:to>
                                    </p:set>
                                    <p:animEffect transition="in" filter="wipe(left)">
                                      <p:cBhvr>
                                        <p:cTn id="90" dur="500"/>
                                        <p:tgtEl>
                                          <p:spTgt spid="35870"/>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35873"/>
                                        </p:tgtEl>
                                        <p:attrNameLst>
                                          <p:attrName>style.visibility</p:attrName>
                                        </p:attrNameLst>
                                      </p:cBhvr>
                                      <p:to>
                                        <p:strVal val="visible"/>
                                      </p:to>
                                    </p:set>
                                    <p:animEffect transition="in" filter="wipe(left)">
                                      <p:cBhvr>
                                        <p:cTn id="95" dur="500"/>
                                        <p:tgtEl>
                                          <p:spTgt spid="35873"/>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4" presetClass="entr" presetSubtype="32" fill="hold" nodeType="clickEffect">
                                  <p:stCondLst>
                                    <p:cond delay="0"/>
                                  </p:stCondLst>
                                  <p:childTnLst>
                                    <p:set>
                                      <p:cBhvr>
                                        <p:cTn id="99" dur="1" fill="hold">
                                          <p:stCondLst>
                                            <p:cond delay="0"/>
                                          </p:stCondLst>
                                        </p:cTn>
                                        <p:tgtEl>
                                          <p:spTgt spid="35872"/>
                                        </p:tgtEl>
                                        <p:attrNameLst>
                                          <p:attrName>style.visibility</p:attrName>
                                        </p:attrNameLst>
                                      </p:cBhvr>
                                      <p:to>
                                        <p:strVal val="visible"/>
                                      </p:to>
                                    </p:set>
                                    <p:animEffect transition="in" filter="box(out)">
                                      <p:cBhvr>
                                        <p:cTn id="100" dur="500"/>
                                        <p:tgtEl>
                                          <p:spTgt spid="35872"/>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35874"/>
                                        </p:tgtEl>
                                        <p:attrNameLst>
                                          <p:attrName>style.visibility</p:attrName>
                                        </p:attrNameLst>
                                      </p:cBhvr>
                                      <p:to>
                                        <p:strVal val="visible"/>
                                      </p:to>
                                    </p:set>
                                    <p:animEffect transition="in" filter="wipe(left)">
                                      <p:cBhvr>
                                        <p:cTn id="105" dur="500"/>
                                        <p:tgtEl>
                                          <p:spTgt spid="358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autoUpdateAnimBg="0"/>
      <p:bldP spid="35843" grpId="0" autoUpdateAnimBg="0"/>
      <p:bldP spid="35844" grpId="0" animBg="1"/>
      <p:bldP spid="35845" grpId="0" animBg="1"/>
      <p:bldP spid="35862" grpId="0" animBg="1"/>
      <p:bldP spid="35864" grpId="0" animBg="1"/>
      <p:bldP spid="35867" grpId="0" autoUpdateAnimBg="0"/>
      <p:bldP spid="35873" grpId="0" autoUpdateAnimBg="0"/>
      <p:bldP spid="35874"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866" name="Object 2"/>
          <p:cNvGraphicFramePr>
            <a:graphicFrameLocks/>
          </p:cNvGraphicFramePr>
          <p:nvPr/>
        </p:nvGraphicFramePr>
        <p:xfrm>
          <a:off x="696913" y="1576388"/>
          <a:ext cx="2033587" cy="798512"/>
        </p:xfrm>
        <a:graphic>
          <a:graphicData uri="http://schemas.openxmlformats.org/presentationml/2006/ole">
            <p:oleObj spid="_x0000_s28674" name="公式" r:id="rId3" imgW="1095389" imgH="409590" progId="Equation.3">
              <p:embed/>
            </p:oleObj>
          </a:graphicData>
        </a:graphic>
      </p:graphicFrame>
      <p:sp>
        <p:nvSpPr>
          <p:cNvPr id="36867" name="Text Box 3"/>
          <p:cNvSpPr txBox="1">
            <a:spLocks noChangeArrowheads="1"/>
          </p:cNvSpPr>
          <p:nvPr/>
        </p:nvSpPr>
        <p:spPr bwMode="auto">
          <a:xfrm>
            <a:off x="179388" y="784225"/>
            <a:ext cx="6264275"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6600"/>
                </a:solidFill>
                <a:latin typeface="Times New Roman" pitchFamily="18" charset="0"/>
                <a:ea typeface="楷体_GB2312" pitchFamily="49" charset="-122"/>
              </a:rPr>
              <a:t>磁场能量密度</a:t>
            </a:r>
            <a:r>
              <a:rPr kumimoji="1" lang="zh-CN" altLang="en-US" sz="2400" b="1">
                <a:latin typeface="Times New Roman" pitchFamily="18" charset="0"/>
                <a:ea typeface="楷体_GB2312" pitchFamily="49" charset="-122"/>
              </a:rPr>
              <a:t>与</a:t>
            </a:r>
            <a:r>
              <a:rPr kumimoji="1" lang="zh-CN" altLang="en-US" sz="2400" b="1">
                <a:solidFill>
                  <a:srgbClr val="FF6600"/>
                </a:solidFill>
                <a:latin typeface="Times New Roman" pitchFamily="18" charset="0"/>
                <a:ea typeface="楷体_GB2312" pitchFamily="49" charset="-122"/>
              </a:rPr>
              <a:t>电场能量密度</a:t>
            </a:r>
            <a:r>
              <a:rPr kumimoji="1" lang="zh-CN" altLang="en-US" sz="2400" b="1">
                <a:latin typeface="Times New Roman" pitchFamily="18" charset="0"/>
                <a:ea typeface="楷体_GB2312" pitchFamily="49" charset="-122"/>
              </a:rPr>
              <a:t>公式的比较</a:t>
            </a:r>
          </a:p>
        </p:txBody>
      </p:sp>
      <p:graphicFrame>
        <p:nvGraphicFramePr>
          <p:cNvPr id="36868" name="Object 4"/>
          <p:cNvGraphicFramePr>
            <a:graphicFrameLocks/>
          </p:cNvGraphicFramePr>
          <p:nvPr/>
        </p:nvGraphicFramePr>
        <p:xfrm>
          <a:off x="3708400" y="1576388"/>
          <a:ext cx="2243138" cy="730250"/>
        </p:xfrm>
        <a:graphic>
          <a:graphicData uri="http://schemas.openxmlformats.org/presentationml/2006/ole">
            <p:oleObj spid="_x0000_s28675" name="公式" r:id="rId4" imgW="1209655" imgH="371520" progId="Equation.3">
              <p:embed/>
            </p:oleObj>
          </a:graphicData>
        </a:graphic>
      </p:graphicFrame>
      <p:sp>
        <p:nvSpPr>
          <p:cNvPr id="36869" name="AutoShape 5"/>
          <p:cNvSpPr>
            <a:spLocks noChangeArrowheads="1"/>
          </p:cNvSpPr>
          <p:nvPr/>
        </p:nvSpPr>
        <p:spPr bwMode="auto">
          <a:xfrm>
            <a:off x="2854325" y="1885950"/>
            <a:ext cx="712788" cy="134938"/>
          </a:xfrm>
          <a:prstGeom prst="leftRightArrow">
            <a:avLst>
              <a:gd name="adj1" fmla="val 54694"/>
              <a:gd name="adj2" fmla="val 187768"/>
            </a:avLst>
          </a:prstGeom>
          <a:solidFill>
            <a:srgbClr val="0000FF"/>
          </a:solidFill>
          <a:ln w="9525" algn="ctr">
            <a:solidFill>
              <a:schemeClr val="tx1"/>
            </a:solidFill>
            <a:miter lim="800000"/>
            <a:headEnd/>
            <a:tailEnd/>
          </a:ln>
        </p:spPr>
        <p:txBody>
          <a:bodyPr anchor="ctr">
            <a:spAutoFit/>
          </a:bodyPr>
          <a:lstStyle/>
          <a:p>
            <a:endParaRPr lang="zh-CN" altLang="en-US"/>
          </a:p>
        </p:txBody>
      </p:sp>
      <p:sp>
        <p:nvSpPr>
          <p:cNvPr id="36870" name="Text Box 6"/>
          <p:cNvSpPr txBox="1">
            <a:spLocks noChangeArrowheads="1"/>
          </p:cNvSpPr>
          <p:nvPr/>
        </p:nvSpPr>
        <p:spPr bwMode="auto">
          <a:xfrm>
            <a:off x="250825" y="2584450"/>
            <a:ext cx="2362200"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在有限区域内</a:t>
            </a:r>
          </a:p>
        </p:txBody>
      </p:sp>
      <p:sp>
        <p:nvSpPr>
          <p:cNvPr id="36871" name="Freeform 7"/>
          <p:cNvSpPr>
            <a:spLocks/>
          </p:cNvSpPr>
          <p:nvPr/>
        </p:nvSpPr>
        <p:spPr bwMode="auto">
          <a:xfrm>
            <a:off x="6642100" y="1098550"/>
            <a:ext cx="2235200" cy="1798638"/>
          </a:xfrm>
          <a:custGeom>
            <a:avLst/>
            <a:gdLst>
              <a:gd name="T0" fmla="*/ 2147483647 w 1240"/>
              <a:gd name="T1" fmla="*/ 2147483647 h 1256"/>
              <a:gd name="T2" fmla="*/ 2147483647 w 1240"/>
              <a:gd name="T3" fmla="*/ 2147483647 h 1256"/>
              <a:gd name="T4" fmla="*/ 2147483647 w 1240"/>
              <a:gd name="T5" fmla="*/ 2147483647 h 1256"/>
              <a:gd name="T6" fmla="*/ 2147483647 w 1240"/>
              <a:gd name="T7" fmla="*/ 2147483647 h 1256"/>
              <a:gd name="T8" fmla="*/ 2147483647 w 1240"/>
              <a:gd name="T9" fmla="*/ 2147483647 h 1256"/>
              <a:gd name="T10" fmla="*/ 2147483647 w 1240"/>
              <a:gd name="T11" fmla="*/ 2147483647 h 1256"/>
              <a:gd name="T12" fmla="*/ 2147483647 w 1240"/>
              <a:gd name="T13" fmla="*/ 2147483647 h 1256"/>
              <a:gd name="T14" fmla="*/ 2147483647 w 1240"/>
              <a:gd name="T15" fmla="*/ 2147483647 h 1256"/>
              <a:gd name="T16" fmla="*/ 2147483647 w 1240"/>
              <a:gd name="T17" fmla="*/ 2147483647 h 1256"/>
              <a:gd name="T18" fmla="*/ 2147483647 w 1240"/>
              <a:gd name="T19" fmla="*/ 2147483647 h 125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40"/>
              <a:gd name="T31" fmla="*/ 0 h 1256"/>
              <a:gd name="T32" fmla="*/ 1240 w 1240"/>
              <a:gd name="T33" fmla="*/ 1256 h 125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40" h="1256">
                <a:moveTo>
                  <a:pt x="1016" y="32"/>
                </a:moveTo>
                <a:cubicBezTo>
                  <a:pt x="904" y="8"/>
                  <a:pt x="688" y="0"/>
                  <a:pt x="536" y="32"/>
                </a:cubicBezTo>
                <a:cubicBezTo>
                  <a:pt x="384" y="64"/>
                  <a:pt x="192" y="144"/>
                  <a:pt x="104" y="224"/>
                </a:cubicBezTo>
                <a:cubicBezTo>
                  <a:pt x="16" y="304"/>
                  <a:pt x="8" y="392"/>
                  <a:pt x="8" y="512"/>
                </a:cubicBezTo>
                <a:cubicBezTo>
                  <a:pt x="8" y="632"/>
                  <a:pt x="0" y="824"/>
                  <a:pt x="104" y="944"/>
                </a:cubicBezTo>
                <a:cubicBezTo>
                  <a:pt x="208" y="1064"/>
                  <a:pt x="464" y="1208"/>
                  <a:pt x="632" y="1232"/>
                </a:cubicBezTo>
                <a:cubicBezTo>
                  <a:pt x="800" y="1256"/>
                  <a:pt x="1016" y="1184"/>
                  <a:pt x="1112" y="1088"/>
                </a:cubicBezTo>
                <a:cubicBezTo>
                  <a:pt x="1208" y="992"/>
                  <a:pt x="1192" y="808"/>
                  <a:pt x="1208" y="656"/>
                </a:cubicBezTo>
                <a:cubicBezTo>
                  <a:pt x="1224" y="504"/>
                  <a:pt x="1240" y="280"/>
                  <a:pt x="1208" y="176"/>
                </a:cubicBezTo>
                <a:cubicBezTo>
                  <a:pt x="1176" y="72"/>
                  <a:pt x="1128" y="56"/>
                  <a:pt x="1016" y="32"/>
                </a:cubicBezTo>
                <a:close/>
              </a:path>
            </a:pathLst>
          </a:custGeom>
          <a:gradFill rotWithShape="1">
            <a:gsLst>
              <a:gs pos="0">
                <a:srgbClr val="99FF66"/>
              </a:gs>
              <a:gs pos="100000">
                <a:srgbClr val="74C24E"/>
              </a:gs>
            </a:gsLst>
            <a:path path="rect">
              <a:fillToRect l="50000" t="50000" r="50000" b="50000"/>
            </a:path>
          </a:gradFill>
          <a:ln w="19050">
            <a:solidFill>
              <a:srgbClr val="FF0000"/>
            </a:solidFill>
            <a:round/>
            <a:headEnd/>
            <a:tailEnd/>
          </a:ln>
        </p:spPr>
        <p:txBody>
          <a:bodyPr/>
          <a:lstStyle/>
          <a:p>
            <a:endParaRPr lang="zh-CN" altLang="en-US"/>
          </a:p>
        </p:txBody>
      </p:sp>
      <p:sp>
        <p:nvSpPr>
          <p:cNvPr id="36872" name="AutoShape 8"/>
          <p:cNvSpPr>
            <a:spLocks noChangeArrowheads="1"/>
          </p:cNvSpPr>
          <p:nvPr/>
        </p:nvSpPr>
        <p:spPr bwMode="auto">
          <a:xfrm>
            <a:off x="7532688" y="1574800"/>
            <a:ext cx="314325" cy="360363"/>
          </a:xfrm>
          <a:prstGeom prst="cube">
            <a:avLst>
              <a:gd name="adj" fmla="val 25000"/>
            </a:avLst>
          </a:prstGeom>
          <a:solidFill>
            <a:schemeClr val="accent1"/>
          </a:solidFill>
          <a:ln w="28575">
            <a:solidFill>
              <a:srgbClr val="FFFF00"/>
            </a:solidFill>
            <a:miter lim="800000"/>
            <a:headEnd/>
            <a:tailEnd/>
          </a:ln>
        </p:spPr>
        <p:txBody>
          <a:bodyPr wrap="none" anchor="ctr"/>
          <a:lstStyle/>
          <a:p>
            <a:endParaRPr lang="zh-CN" altLang="en-US"/>
          </a:p>
        </p:txBody>
      </p:sp>
      <p:sp>
        <p:nvSpPr>
          <p:cNvPr id="36873" name="Rectangle 9"/>
          <p:cNvSpPr>
            <a:spLocks noChangeArrowheads="1"/>
          </p:cNvSpPr>
          <p:nvPr/>
        </p:nvSpPr>
        <p:spPr bwMode="auto">
          <a:xfrm>
            <a:off x="7902575" y="1262063"/>
            <a:ext cx="557213" cy="457200"/>
          </a:xfrm>
          <a:prstGeom prst="rect">
            <a:avLst/>
          </a:prstGeom>
          <a:noFill/>
          <a:ln w="9525">
            <a:noFill/>
            <a:miter lim="800000"/>
            <a:headEnd/>
            <a:tailEnd/>
          </a:ln>
        </p:spPr>
        <p:txBody>
          <a:bodyPr wrap="none">
            <a:spAutoFit/>
          </a:bodyPr>
          <a:lstStyle/>
          <a:p>
            <a:pPr algn="l"/>
            <a:r>
              <a:rPr kumimoji="1" lang="en-US" altLang="zh-CN" sz="2400" b="1">
                <a:solidFill>
                  <a:srgbClr val="000099"/>
                </a:solidFill>
                <a:latin typeface="Times New Roman" pitchFamily="18" charset="0"/>
                <a:ea typeface="楷体_GB2312" pitchFamily="49" charset="-122"/>
              </a:rPr>
              <a:t>d</a:t>
            </a:r>
            <a:r>
              <a:rPr kumimoji="1" lang="en-US" altLang="zh-CN" sz="2400" b="1" i="1">
                <a:solidFill>
                  <a:srgbClr val="000099"/>
                </a:solidFill>
                <a:latin typeface="Times New Roman" pitchFamily="18" charset="0"/>
                <a:ea typeface="楷体_GB2312" pitchFamily="49" charset="-122"/>
              </a:rPr>
              <a:t>V</a:t>
            </a:r>
          </a:p>
        </p:txBody>
      </p:sp>
      <p:sp>
        <p:nvSpPr>
          <p:cNvPr id="36874" name="Rectangle 10"/>
          <p:cNvSpPr>
            <a:spLocks noChangeArrowheads="1"/>
          </p:cNvSpPr>
          <p:nvPr/>
        </p:nvSpPr>
        <p:spPr bwMode="auto">
          <a:xfrm>
            <a:off x="7519988" y="2295525"/>
            <a:ext cx="619125" cy="457200"/>
          </a:xfrm>
          <a:prstGeom prst="rect">
            <a:avLst/>
          </a:prstGeom>
          <a:noFill/>
          <a:ln w="9525">
            <a:noFill/>
            <a:miter lim="800000"/>
            <a:headEnd/>
            <a:tailEnd/>
          </a:ln>
        </p:spPr>
        <p:txBody>
          <a:bodyPr>
            <a:spAutoFit/>
          </a:bodyPr>
          <a:lstStyle/>
          <a:p>
            <a:pPr algn="l"/>
            <a:r>
              <a:rPr kumimoji="1" lang="en-US" altLang="zh-CN" sz="2400" b="1" i="1">
                <a:latin typeface="Times New Roman" pitchFamily="18" charset="0"/>
                <a:ea typeface="楷体_GB2312" pitchFamily="49" charset="-122"/>
              </a:rPr>
              <a:t>V</a:t>
            </a:r>
          </a:p>
        </p:txBody>
      </p:sp>
      <p:sp>
        <p:nvSpPr>
          <p:cNvPr id="36875" name="Rectangle 11"/>
          <p:cNvSpPr>
            <a:spLocks noChangeArrowheads="1"/>
          </p:cNvSpPr>
          <p:nvPr/>
        </p:nvSpPr>
        <p:spPr bwMode="auto">
          <a:xfrm>
            <a:off x="7473950" y="1587500"/>
            <a:ext cx="439738" cy="396875"/>
          </a:xfrm>
          <a:prstGeom prst="rect">
            <a:avLst/>
          </a:prstGeom>
          <a:noFill/>
          <a:ln w="9525">
            <a:noFill/>
            <a:miter lim="800000"/>
            <a:headEnd/>
            <a:tailEnd/>
          </a:ln>
        </p:spPr>
        <p:txBody>
          <a:bodyPr>
            <a:spAutoFit/>
          </a:bodyPr>
          <a:lstStyle/>
          <a:p>
            <a:pPr algn="l"/>
            <a:r>
              <a:rPr kumimoji="1" lang="en-US" altLang="zh-CN" sz="2000" b="1" i="1">
                <a:latin typeface="Times New Roman" pitchFamily="18" charset="0"/>
                <a:ea typeface="楷体_GB2312" pitchFamily="49" charset="-122"/>
              </a:rPr>
              <a:t>w</a:t>
            </a:r>
          </a:p>
        </p:txBody>
      </p:sp>
      <p:graphicFrame>
        <p:nvGraphicFramePr>
          <p:cNvPr id="36876" name="Object 12"/>
          <p:cNvGraphicFramePr>
            <a:graphicFrameLocks/>
          </p:cNvGraphicFramePr>
          <p:nvPr/>
        </p:nvGraphicFramePr>
        <p:xfrm>
          <a:off x="630238" y="3290888"/>
          <a:ext cx="3221037" cy="733425"/>
        </p:xfrm>
        <a:graphic>
          <a:graphicData uri="http://schemas.openxmlformats.org/presentationml/2006/ole">
            <p:oleObj spid="_x0000_s28676" name="公式" r:id="rId5" imgW="1752623" imgH="371520" progId="Equation.3">
              <p:embed/>
            </p:oleObj>
          </a:graphicData>
        </a:graphic>
      </p:graphicFrame>
      <p:sp>
        <p:nvSpPr>
          <p:cNvPr id="36877" name="AutoShape 13"/>
          <p:cNvSpPr>
            <a:spLocks noChangeArrowheads="1"/>
          </p:cNvSpPr>
          <p:nvPr/>
        </p:nvSpPr>
        <p:spPr bwMode="auto">
          <a:xfrm>
            <a:off x="4016375" y="3548063"/>
            <a:ext cx="823913" cy="134937"/>
          </a:xfrm>
          <a:prstGeom prst="leftRightArrow">
            <a:avLst>
              <a:gd name="adj1" fmla="val 54694"/>
              <a:gd name="adj2" fmla="val 217042"/>
            </a:avLst>
          </a:prstGeom>
          <a:solidFill>
            <a:srgbClr val="0000FF"/>
          </a:solidFill>
          <a:ln w="9525" algn="ctr">
            <a:solidFill>
              <a:schemeClr val="tx1"/>
            </a:solidFill>
            <a:miter lim="800000"/>
            <a:headEnd/>
            <a:tailEnd/>
          </a:ln>
        </p:spPr>
        <p:txBody>
          <a:bodyPr anchor="ctr">
            <a:spAutoFit/>
          </a:bodyPr>
          <a:lstStyle/>
          <a:p>
            <a:endParaRPr lang="zh-CN" altLang="en-US"/>
          </a:p>
        </p:txBody>
      </p:sp>
      <p:graphicFrame>
        <p:nvGraphicFramePr>
          <p:cNvPr id="36878" name="Object 14"/>
          <p:cNvGraphicFramePr>
            <a:graphicFrameLocks noChangeAspect="1"/>
          </p:cNvGraphicFramePr>
          <p:nvPr/>
        </p:nvGraphicFramePr>
        <p:xfrm>
          <a:off x="5076825" y="3232150"/>
          <a:ext cx="3070225" cy="735013"/>
        </p:xfrm>
        <a:graphic>
          <a:graphicData uri="http://schemas.openxmlformats.org/presentationml/2006/ole">
            <p:oleObj spid="_x0000_s28677" name="公式" r:id="rId6" imgW="1676445" imgH="371520" progId="Equation.3">
              <p:embed/>
            </p:oleObj>
          </a:graphicData>
        </a:graphic>
      </p:graphicFrame>
      <p:sp>
        <p:nvSpPr>
          <p:cNvPr id="36879" name="Rectangle 15"/>
          <p:cNvSpPr>
            <a:spLocks noChangeArrowheads="1"/>
          </p:cNvSpPr>
          <p:nvPr/>
        </p:nvSpPr>
        <p:spPr bwMode="auto">
          <a:xfrm>
            <a:off x="755650" y="4556125"/>
            <a:ext cx="7272338" cy="528638"/>
          </a:xfrm>
          <a:prstGeom prst="rect">
            <a:avLst/>
          </a:prstGeom>
          <a:solidFill>
            <a:srgbClr val="00FFFF">
              <a:alpha val="50000"/>
            </a:srgbClr>
          </a:solidFill>
          <a:ln w="9525" algn="ctr">
            <a:solidFill>
              <a:srgbClr val="00CCFF">
                <a:alpha val="80000"/>
              </a:srgbClr>
            </a:solidFill>
            <a:miter lim="800000"/>
            <a:headEnd/>
            <a:tailEnd/>
          </a:ln>
          <a:effectLst/>
          <a:extLst>
            <a:ext uri="{AF507438-7753-43E0-B8FC-AC1667EBCBE1}"/>
          </a:extLst>
        </p:spPr>
        <p:txBody>
          <a:bodyPr anchor="ctr">
            <a:spAutoFit/>
          </a:bodyPr>
          <a:lstStyle/>
          <a:p>
            <a:pPr>
              <a:defRPr/>
            </a:pPr>
            <a:r>
              <a:rPr lang="en-US" altLang="zh-CN" sz="2800">
                <a:solidFill>
                  <a:srgbClr val="00FFFF"/>
                </a:solidFill>
                <a:effectDag name="">
                  <a:cont type="tree" name="">
                    <a:effect ref="fillLine"/>
                    <a:outerShdw dist="38100" dir="13500000" algn="br">
                      <a:srgbClr val="55FFFF"/>
                    </a:outerShdw>
                  </a:cont>
                  <a:cont type="tree" name="">
                    <a:effect ref="fillLine"/>
                    <a:outerShdw dist="38100" dir="2700000" algn="tl">
                      <a:srgbClr val="009999"/>
                    </a:outerShdw>
                  </a:cont>
                  <a:effect ref="fillLine"/>
                </a:effectDag>
                <a:latin typeface="Times New Roman" pitchFamily="18" charset="0"/>
              </a:rPr>
              <a:t> </a:t>
            </a:r>
          </a:p>
        </p:txBody>
      </p:sp>
      <p:sp>
        <p:nvSpPr>
          <p:cNvPr id="36880" name="Text Box 16"/>
          <p:cNvSpPr txBox="1">
            <a:spLocks noChangeArrowheads="1"/>
          </p:cNvSpPr>
          <p:nvPr/>
        </p:nvSpPr>
        <p:spPr bwMode="auto">
          <a:xfrm>
            <a:off x="836613" y="4527550"/>
            <a:ext cx="7389812"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0000"/>
                </a:solidFill>
                <a:latin typeface="Times New Roman" pitchFamily="18" charset="0"/>
                <a:ea typeface="楷体_GB2312" pitchFamily="49" charset="-122"/>
              </a:rPr>
              <a:t>磁场能量公式与电场能量公式具有完全对称的形式</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6867"/>
                                        </p:tgtEl>
                                        <p:attrNameLst>
                                          <p:attrName>style.visibility</p:attrName>
                                        </p:attrNameLst>
                                      </p:cBhvr>
                                      <p:to>
                                        <p:strVal val="visible"/>
                                      </p:to>
                                    </p:set>
                                    <p:animEffect transition="in" filter="wipe(left)">
                                      <p:cBhvr>
                                        <p:cTn id="7" dur="500"/>
                                        <p:tgtEl>
                                          <p:spTgt spid="368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6866"/>
                                        </p:tgtEl>
                                        <p:attrNameLst>
                                          <p:attrName>style.visibility</p:attrName>
                                        </p:attrNameLst>
                                      </p:cBhvr>
                                      <p:to>
                                        <p:strVal val="visible"/>
                                      </p:to>
                                    </p:set>
                                    <p:animEffect transition="in" filter="box(out)">
                                      <p:cBhvr>
                                        <p:cTn id="12" dur="500"/>
                                        <p:tgtEl>
                                          <p:spTgt spid="368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6869"/>
                                        </p:tgtEl>
                                        <p:attrNameLst>
                                          <p:attrName>style.visibility</p:attrName>
                                        </p:attrNameLst>
                                      </p:cBhvr>
                                      <p:to>
                                        <p:strVal val="visible"/>
                                      </p:to>
                                    </p:set>
                                    <p:animEffect transition="in" filter="box(in)">
                                      <p:cBhvr>
                                        <p:cTn id="17" dur="500"/>
                                        <p:tgtEl>
                                          <p:spTgt spid="368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36868"/>
                                        </p:tgtEl>
                                        <p:attrNameLst>
                                          <p:attrName>style.visibility</p:attrName>
                                        </p:attrNameLst>
                                      </p:cBhvr>
                                      <p:to>
                                        <p:strVal val="visible"/>
                                      </p:to>
                                    </p:set>
                                    <p:animEffect transition="in" filter="wipe(up)">
                                      <p:cBhvr>
                                        <p:cTn id="22" dur="500"/>
                                        <p:tgtEl>
                                          <p:spTgt spid="368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6870"/>
                                        </p:tgtEl>
                                        <p:attrNameLst>
                                          <p:attrName>style.visibility</p:attrName>
                                        </p:attrNameLst>
                                      </p:cBhvr>
                                      <p:to>
                                        <p:strVal val="visible"/>
                                      </p:to>
                                    </p:set>
                                    <p:animEffect transition="in" filter="wipe(left)">
                                      <p:cBhvr>
                                        <p:cTn id="27" dur="500"/>
                                        <p:tgtEl>
                                          <p:spTgt spid="3687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6871"/>
                                        </p:tgtEl>
                                        <p:attrNameLst>
                                          <p:attrName>style.visibility</p:attrName>
                                        </p:attrNameLst>
                                      </p:cBhvr>
                                      <p:to>
                                        <p:strVal val="visible"/>
                                      </p:to>
                                    </p:set>
                                    <p:animEffect transition="in" filter="wipe(left)">
                                      <p:cBhvr>
                                        <p:cTn id="32" dur="500"/>
                                        <p:tgtEl>
                                          <p:spTgt spid="368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6874"/>
                                        </p:tgtEl>
                                        <p:attrNameLst>
                                          <p:attrName>style.visibility</p:attrName>
                                        </p:attrNameLst>
                                      </p:cBhvr>
                                      <p:to>
                                        <p:strVal val="visible"/>
                                      </p:to>
                                    </p:set>
                                    <p:animEffect transition="in" filter="wipe(left)">
                                      <p:cBhvr>
                                        <p:cTn id="37" dur="500"/>
                                        <p:tgtEl>
                                          <p:spTgt spid="3687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6872"/>
                                        </p:tgtEl>
                                        <p:attrNameLst>
                                          <p:attrName>style.visibility</p:attrName>
                                        </p:attrNameLst>
                                      </p:cBhvr>
                                      <p:to>
                                        <p:strVal val="visible"/>
                                      </p:to>
                                    </p:set>
                                    <p:animEffect transition="in" filter="wipe(left)">
                                      <p:cBhvr>
                                        <p:cTn id="42" dur="500"/>
                                        <p:tgtEl>
                                          <p:spTgt spid="3687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6873"/>
                                        </p:tgtEl>
                                        <p:attrNameLst>
                                          <p:attrName>style.visibility</p:attrName>
                                        </p:attrNameLst>
                                      </p:cBhvr>
                                      <p:to>
                                        <p:strVal val="visible"/>
                                      </p:to>
                                    </p:set>
                                    <p:animEffect transition="in" filter="wipe(left)">
                                      <p:cBhvr>
                                        <p:cTn id="47" dur="500"/>
                                        <p:tgtEl>
                                          <p:spTgt spid="3687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36875"/>
                                        </p:tgtEl>
                                        <p:attrNameLst>
                                          <p:attrName>style.visibility</p:attrName>
                                        </p:attrNameLst>
                                      </p:cBhvr>
                                      <p:to>
                                        <p:strVal val="visible"/>
                                      </p:to>
                                    </p:set>
                                    <p:animEffect transition="in" filter="wipe(left)">
                                      <p:cBhvr>
                                        <p:cTn id="52" dur="500"/>
                                        <p:tgtEl>
                                          <p:spTgt spid="3687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32" fill="hold" nodeType="clickEffect">
                                  <p:stCondLst>
                                    <p:cond delay="0"/>
                                  </p:stCondLst>
                                  <p:childTnLst>
                                    <p:set>
                                      <p:cBhvr>
                                        <p:cTn id="56" dur="1" fill="hold">
                                          <p:stCondLst>
                                            <p:cond delay="0"/>
                                          </p:stCondLst>
                                        </p:cTn>
                                        <p:tgtEl>
                                          <p:spTgt spid="36876"/>
                                        </p:tgtEl>
                                        <p:attrNameLst>
                                          <p:attrName>style.visibility</p:attrName>
                                        </p:attrNameLst>
                                      </p:cBhvr>
                                      <p:to>
                                        <p:strVal val="visible"/>
                                      </p:to>
                                    </p:set>
                                    <p:animEffect transition="in" filter="box(out)">
                                      <p:cBhvr>
                                        <p:cTn id="57" dur="500"/>
                                        <p:tgtEl>
                                          <p:spTgt spid="3687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36877"/>
                                        </p:tgtEl>
                                        <p:attrNameLst>
                                          <p:attrName>style.visibility</p:attrName>
                                        </p:attrNameLst>
                                      </p:cBhvr>
                                      <p:to>
                                        <p:strVal val="visible"/>
                                      </p:to>
                                    </p:set>
                                    <p:animEffect transition="in" filter="box(in)">
                                      <p:cBhvr>
                                        <p:cTn id="62" dur="500"/>
                                        <p:tgtEl>
                                          <p:spTgt spid="3687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6878"/>
                                        </p:tgtEl>
                                        <p:attrNameLst>
                                          <p:attrName>style.visibility</p:attrName>
                                        </p:attrNameLst>
                                      </p:cBhvr>
                                      <p:to>
                                        <p:strVal val="visible"/>
                                      </p:to>
                                    </p:set>
                                    <p:animEffect transition="in" filter="wipe(left)">
                                      <p:cBhvr>
                                        <p:cTn id="67" dur="500"/>
                                        <p:tgtEl>
                                          <p:spTgt spid="3687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6880"/>
                                        </p:tgtEl>
                                        <p:attrNameLst>
                                          <p:attrName>style.visibility</p:attrName>
                                        </p:attrNameLst>
                                      </p:cBhvr>
                                      <p:to>
                                        <p:strVal val="visible"/>
                                      </p:to>
                                    </p:set>
                                    <p:animEffect transition="in" filter="wipe(left)">
                                      <p:cBhvr>
                                        <p:cTn id="72" dur="500"/>
                                        <p:tgtEl>
                                          <p:spTgt spid="36880"/>
                                        </p:tgtEl>
                                      </p:cBhvr>
                                    </p:animEffect>
                                  </p:childTnLst>
                                </p:cTn>
                              </p:par>
                              <p:par>
                                <p:cTn id="73" presetID="4" presetClass="entr" presetSubtype="16" fill="hold" grpId="0" nodeType="withEffect">
                                  <p:stCondLst>
                                    <p:cond delay="0"/>
                                  </p:stCondLst>
                                  <p:childTnLst>
                                    <p:set>
                                      <p:cBhvr>
                                        <p:cTn id="74" dur="1" fill="hold">
                                          <p:stCondLst>
                                            <p:cond delay="0"/>
                                          </p:stCondLst>
                                        </p:cTn>
                                        <p:tgtEl>
                                          <p:spTgt spid="36879"/>
                                        </p:tgtEl>
                                        <p:attrNameLst>
                                          <p:attrName>style.visibility</p:attrName>
                                        </p:attrNameLst>
                                      </p:cBhvr>
                                      <p:to>
                                        <p:strVal val="visible"/>
                                      </p:to>
                                    </p:set>
                                    <p:animEffect transition="in" filter="box(in)">
                                      <p:cBhvr>
                                        <p:cTn id="75" dur="2000"/>
                                        <p:tgtEl>
                                          <p:spTgt spid="368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autoUpdateAnimBg="0"/>
      <p:bldP spid="36869" grpId="0" animBg="1"/>
      <p:bldP spid="36870" grpId="0" autoUpdateAnimBg="0"/>
      <p:bldP spid="36871" grpId="0" animBg="1"/>
      <p:bldP spid="36872" grpId="0" animBg="1"/>
      <p:bldP spid="36873" grpId="0" autoUpdateAnimBg="0"/>
      <p:bldP spid="36874" grpId="0" autoUpdateAnimBg="0"/>
      <p:bldP spid="36875" grpId="0" autoUpdateAnimBg="0"/>
      <p:bldP spid="36877" grpId="0" animBg="1"/>
      <p:bldP spid="36879" grpId="0" animBg="1"/>
      <p:bldP spid="36880"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946" name="Object 2"/>
          <p:cNvGraphicFramePr>
            <a:graphicFrameLocks noChangeAspect="1"/>
          </p:cNvGraphicFramePr>
          <p:nvPr/>
        </p:nvGraphicFramePr>
        <p:xfrm>
          <a:off x="1466850" y="3776663"/>
          <a:ext cx="1392238" cy="735012"/>
        </p:xfrm>
        <a:graphic>
          <a:graphicData uri="http://schemas.openxmlformats.org/presentationml/2006/ole">
            <p:oleObj spid="_x0000_s29698" name="公式" r:id="rId3" imgW="733411" imgH="371520" progId="Equation.3">
              <p:embed/>
            </p:oleObj>
          </a:graphicData>
        </a:graphic>
      </p:graphicFrame>
      <p:sp>
        <p:nvSpPr>
          <p:cNvPr id="82947" name="AutoShape 3"/>
          <p:cNvSpPr>
            <a:spLocks noChangeArrowheads="1"/>
          </p:cNvSpPr>
          <p:nvPr/>
        </p:nvSpPr>
        <p:spPr bwMode="auto">
          <a:xfrm>
            <a:off x="5924550" y="995363"/>
            <a:ext cx="2590800" cy="259080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891" y="10800"/>
                </a:moveTo>
                <a:cubicBezTo>
                  <a:pt x="3891" y="14616"/>
                  <a:pt x="6984" y="17709"/>
                  <a:pt x="10800" y="17709"/>
                </a:cubicBezTo>
                <a:cubicBezTo>
                  <a:pt x="14616" y="17709"/>
                  <a:pt x="17709" y="14616"/>
                  <a:pt x="17709" y="10800"/>
                </a:cubicBezTo>
                <a:cubicBezTo>
                  <a:pt x="17709" y="6984"/>
                  <a:pt x="14616" y="3891"/>
                  <a:pt x="10800" y="3891"/>
                </a:cubicBezTo>
                <a:cubicBezTo>
                  <a:pt x="6984" y="3891"/>
                  <a:pt x="3891" y="6984"/>
                  <a:pt x="3891" y="10800"/>
                </a:cubicBezTo>
                <a:close/>
              </a:path>
            </a:pathLst>
          </a:custGeom>
          <a:gradFill rotWithShape="1">
            <a:gsLst>
              <a:gs pos="0">
                <a:srgbClr val="FF66FF"/>
              </a:gs>
              <a:gs pos="100000">
                <a:srgbClr val="762F76"/>
              </a:gs>
            </a:gsLst>
            <a:path path="rect">
              <a:fillToRect l="50000" t="50000" r="50000" b="50000"/>
            </a:path>
          </a:gradFill>
          <a:ln w="9525">
            <a:solidFill>
              <a:schemeClr val="tx1"/>
            </a:solidFill>
            <a:round/>
            <a:headEnd/>
            <a:tailEnd/>
          </a:ln>
        </p:spPr>
        <p:txBody>
          <a:bodyPr wrap="none" anchor="ctr"/>
          <a:lstStyle/>
          <a:p>
            <a:endParaRPr lang="zh-CN" altLang="en-US"/>
          </a:p>
        </p:txBody>
      </p:sp>
      <p:sp>
        <p:nvSpPr>
          <p:cNvPr id="82948" name="Line 4"/>
          <p:cNvSpPr>
            <a:spLocks noChangeShapeType="1"/>
          </p:cNvSpPr>
          <p:nvPr/>
        </p:nvSpPr>
        <p:spPr bwMode="auto">
          <a:xfrm>
            <a:off x="5924550" y="2233613"/>
            <a:ext cx="0" cy="2209800"/>
          </a:xfrm>
          <a:prstGeom prst="line">
            <a:avLst/>
          </a:prstGeom>
          <a:noFill/>
          <a:ln w="9525">
            <a:solidFill>
              <a:schemeClr val="tx1"/>
            </a:solidFill>
            <a:prstDash val="dash"/>
            <a:round/>
            <a:headEnd/>
            <a:tailEnd/>
          </a:ln>
        </p:spPr>
        <p:txBody>
          <a:bodyPr/>
          <a:lstStyle/>
          <a:p>
            <a:endParaRPr lang="zh-CN" altLang="en-US"/>
          </a:p>
        </p:txBody>
      </p:sp>
      <p:sp>
        <p:nvSpPr>
          <p:cNvPr id="82949" name="Line 5"/>
          <p:cNvSpPr>
            <a:spLocks noChangeShapeType="1"/>
          </p:cNvSpPr>
          <p:nvPr/>
        </p:nvSpPr>
        <p:spPr bwMode="auto">
          <a:xfrm>
            <a:off x="6381750" y="2138363"/>
            <a:ext cx="0" cy="2286000"/>
          </a:xfrm>
          <a:prstGeom prst="line">
            <a:avLst/>
          </a:prstGeom>
          <a:noFill/>
          <a:ln w="9525">
            <a:solidFill>
              <a:schemeClr val="tx1"/>
            </a:solidFill>
            <a:prstDash val="dash"/>
            <a:round/>
            <a:headEnd/>
            <a:tailEnd/>
          </a:ln>
        </p:spPr>
        <p:txBody>
          <a:bodyPr/>
          <a:lstStyle/>
          <a:p>
            <a:endParaRPr lang="zh-CN" altLang="en-US"/>
          </a:p>
        </p:txBody>
      </p:sp>
      <p:sp>
        <p:nvSpPr>
          <p:cNvPr id="82950" name="Line 6"/>
          <p:cNvSpPr>
            <a:spLocks noChangeShapeType="1"/>
          </p:cNvSpPr>
          <p:nvPr/>
        </p:nvSpPr>
        <p:spPr bwMode="auto">
          <a:xfrm>
            <a:off x="8515350" y="2214563"/>
            <a:ext cx="0" cy="2209800"/>
          </a:xfrm>
          <a:prstGeom prst="line">
            <a:avLst/>
          </a:prstGeom>
          <a:noFill/>
          <a:ln w="9525">
            <a:solidFill>
              <a:schemeClr val="tx1"/>
            </a:solidFill>
            <a:prstDash val="dash"/>
            <a:round/>
            <a:headEnd/>
            <a:tailEnd/>
          </a:ln>
        </p:spPr>
        <p:txBody>
          <a:bodyPr/>
          <a:lstStyle/>
          <a:p>
            <a:endParaRPr lang="zh-CN" altLang="en-US"/>
          </a:p>
        </p:txBody>
      </p:sp>
      <p:sp>
        <p:nvSpPr>
          <p:cNvPr id="82951" name="Line 7"/>
          <p:cNvSpPr>
            <a:spLocks noChangeShapeType="1"/>
          </p:cNvSpPr>
          <p:nvPr/>
        </p:nvSpPr>
        <p:spPr bwMode="auto">
          <a:xfrm>
            <a:off x="8058150" y="2214563"/>
            <a:ext cx="0" cy="2209800"/>
          </a:xfrm>
          <a:prstGeom prst="line">
            <a:avLst/>
          </a:prstGeom>
          <a:noFill/>
          <a:ln w="9525">
            <a:solidFill>
              <a:schemeClr val="tx1"/>
            </a:solidFill>
            <a:prstDash val="dash"/>
            <a:round/>
            <a:headEnd/>
            <a:tailEnd/>
          </a:ln>
        </p:spPr>
        <p:txBody>
          <a:bodyPr/>
          <a:lstStyle/>
          <a:p>
            <a:endParaRPr lang="zh-CN" altLang="en-US"/>
          </a:p>
        </p:txBody>
      </p:sp>
      <p:grpSp>
        <p:nvGrpSpPr>
          <p:cNvPr id="2" name="Group 8"/>
          <p:cNvGrpSpPr>
            <a:grpSpLocks/>
          </p:cNvGrpSpPr>
          <p:nvPr/>
        </p:nvGrpSpPr>
        <p:grpSpPr bwMode="auto">
          <a:xfrm>
            <a:off x="5924550" y="3890963"/>
            <a:ext cx="2590800" cy="533400"/>
            <a:chOff x="3696" y="2160"/>
            <a:chExt cx="1632" cy="336"/>
          </a:xfrm>
        </p:grpSpPr>
        <p:sp>
          <p:nvSpPr>
            <p:cNvPr id="29743" name="Rectangle 9"/>
            <p:cNvSpPr>
              <a:spLocks noChangeArrowheads="1"/>
            </p:cNvSpPr>
            <p:nvPr/>
          </p:nvSpPr>
          <p:spPr bwMode="auto">
            <a:xfrm>
              <a:off x="3696" y="2160"/>
              <a:ext cx="1632" cy="336"/>
            </a:xfrm>
            <a:prstGeom prst="rect">
              <a:avLst/>
            </a:prstGeom>
            <a:noFill/>
            <a:ln w="9525">
              <a:solidFill>
                <a:schemeClr val="tx1"/>
              </a:solidFill>
              <a:miter lim="800000"/>
              <a:headEnd/>
              <a:tailEnd/>
            </a:ln>
          </p:spPr>
          <p:txBody>
            <a:bodyPr wrap="none" anchor="ctr"/>
            <a:lstStyle/>
            <a:p>
              <a:endParaRPr lang="zh-CN" altLang="en-US"/>
            </a:p>
          </p:txBody>
        </p:sp>
        <p:sp>
          <p:nvSpPr>
            <p:cNvPr id="29744" name="Line 10"/>
            <p:cNvSpPr>
              <a:spLocks noChangeShapeType="1"/>
            </p:cNvSpPr>
            <p:nvPr/>
          </p:nvSpPr>
          <p:spPr bwMode="auto">
            <a:xfrm>
              <a:off x="3984" y="2160"/>
              <a:ext cx="0" cy="336"/>
            </a:xfrm>
            <a:prstGeom prst="line">
              <a:avLst/>
            </a:prstGeom>
            <a:noFill/>
            <a:ln w="9525">
              <a:solidFill>
                <a:schemeClr val="tx1"/>
              </a:solidFill>
              <a:round/>
              <a:headEnd/>
              <a:tailEnd/>
            </a:ln>
          </p:spPr>
          <p:txBody>
            <a:bodyPr/>
            <a:lstStyle/>
            <a:p>
              <a:endParaRPr lang="zh-CN" altLang="en-US"/>
            </a:p>
          </p:txBody>
        </p:sp>
        <p:sp>
          <p:nvSpPr>
            <p:cNvPr id="29745" name="Line 11"/>
            <p:cNvSpPr>
              <a:spLocks noChangeShapeType="1"/>
            </p:cNvSpPr>
            <p:nvPr/>
          </p:nvSpPr>
          <p:spPr bwMode="auto">
            <a:xfrm>
              <a:off x="5040" y="2160"/>
              <a:ext cx="0" cy="336"/>
            </a:xfrm>
            <a:prstGeom prst="line">
              <a:avLst/>
            </a:prstGeom>
            <a:noFill/>
            <a:ln w="9525">
              <a:solidFill>
                <a:schemeClr val="tx1"/>
              </a:solidFill>
              <a:round/>
              <a:headEnd/>
              <a:tailEnd/>
            </a:ln>
          </p:spPr>
          <p:txBody>
            <a:bodyPr/>
            <a:lstStyle/>
            <a:p>
              <a:endParaRPr lang="zh-CN" altLang="en-US"/>
            </a:p>
          </p:txBody>
        </p:sp>
      </p:grpSp>
      <p:sp>
        <p:nvSpPr>
          <p:cNvPr id="82956" name="Line 12"/>
          <p:cNvSpPr>
            <a:spLocks noChangeShapeType="1"/>
          </p:cNvSpPr>
          <p:nvPr/>
        </p:nvSpPr>
        <p:spPr bwMode="auto">
          <a:xfrm flipH="1" flipV="1">
            <a:off x="6381750" y="1300163"/>
            <a:ext cx="838200" cy="990600"/>
          </a:xfrm>
          <a:prstGeom prst="line">
            <a:avLst/>
          </a:prstGeom>
          <a:noFill/>
          <a:ln w="9525">
            <a:solidFill>
              <a:schemeClr val="tx1"/>
            </a:solidFill>
            <a:round/>
            <a:headEnd/>
            <a:tailEnd type="triangle" w="med" len="med"/>
          </a:ln>
        </p:spPr>
        <p:txBody>
          <a:bodyPr/>
          <a:lstStyle/>
          <a:p>
            <a:endParaRPr lang="zh-CN" altLang="en-US"/>
          </a:p>
        </p:txBody>
      </p:sp>
      <p:sp>
        <p:nvSpPr>
          <p:cNvPr id="82957" name="Line 13"/>
          <p:cNvSpPr>
            <a:spLocks noChangeShapeType="1"/>
          </p:cNvSpPr>
          <p:nvPr/>
        </p:nvSpPr>
        <p:spPr bwMode="auto">
          <a:xfrm flipV="1">
            <a:off x="7219950" y="1757363"/>
            <a:ext cx="685800" cy="533400"/>
          </a:xfrm>
          <a:prstGeom prst="line">
            <a:avLst/>
          </a:prstGeom>
          <a:noFill/>
          <a:ln w="9525">
            <a:solidFill>
              <a:schemeClr val="tx1"/>
            </a:solidFill>
            <a:round/>
            <a:headEnd/>
            <a:tailEnd type="triangle" w="med" len="med"/>
          </a:ln>
        </p:spPr>
        <p:txBody>
          <a:bodyPr/>
          <a:lstStyle/>
          <a:p>
            <a:endParaRPr lang="zh-CN" altLang="en-US"/>
          </a:p>
        </p:txBody>
      </p:sp>
      <p:sp>
        <p:nvSpPr>
          <p:cNvPr id="82958" name="Rectangle 14"/>
          <p:cNvSpPr>
            <a:spLocks noChangeArrowheads="1"/>
          </p:cNvSpPr>
          <p:nvPr/>
        </p:nvSpPr>
        <p:spPr bwMode="auto">
          <a:xfrm>
            <a:off x="5924550" y="3890963"/>
            <a:ext cx="457200" cy="533400"/>
          </a:xfrm>
          <a:prstGeom prst="rect">
            <a:avLst/>
          </a:prstGeom>
          <a:solidFill>
            <a:srgbClr val="FF66FF">
              <a:alpha val="50195"/>
            </a:srgbClr>
          </a:solidFill>
          <a:ln w="9525">
            <a:solidFill>
              <a:schemeClr val="tx1"/>
            </a:solidFill>
            <a:miter lim="800000"/>
            <a:headEnd/>
            <a:tailEnd/>
          </a:ln>
        </p:spPr>
        <p:txBody>
          <a:bodyPr wrap="none" anchor="ctr"/>
          <a:lstStyle/>
          <a:p>
            <a:endParaRPr lang="zh-CN" altLang="en-US"/>
          </a:p>
        </p:txBody>
      </p:sp>
      <p:sp>
        <p:nvSpPr>
          <p:cNvPr id="82959" name="Rectangle 15"/>
          <p:cNvSpPr>
            <a:spLocks noChangeArrowheads="1"/>
          </p:cNvSpPr>
          <p:nvPr/>
        </p:nvSpPr>
        <p:spPr bwMode="auto">
          <a:xfrm>
            <a:off x="8058150" y="3890963"/>
            <a:ext cx="457200" cy="533400"/>
          </a:xfrm>
          <a:prstGeom prst="rect">
            <a:avLst/>
          </a:prstGeom>
          <a:solidFill>
            <a:srgbClr val="FF66FF">
              <a:alpha val="50195"/>
            </a:srgbClr>
          </a:solidFill>
          <a:ln w="9525">
            <a:solidFill>
              <a:schemeClr val="tx1"/>
            </a:solidFill>
            <a:miter lim="800000"/>
            <a:headEnd/>
            <a:tailEnd/>
          </a:ln>
        </p:spPr>
        <p:txBody>
          <a:bodyPr wrap="none" anchor="ctr"/>
          <a:lstStyle/>
          <a:p>
            <a:endParaRPr lang="zh-CN" altLang="en-US"/>
          </a:p>
        </p:txBody>
      </p:sp>
      <p:sp>
        <p:nvSpPr>
          <p:cNvPr id="82960" name="Line 16"/>
          <p:cNvSpPr>
            <a:spLocks noChangeShapeType="1"/>
          </p:cNvSpPr>
          <p:nvPr/>
        </p:nvSpPr>
        <p:spPr bwMode="auto">
          <a:xfrm>
            <a:off x="7219950" y="614363"/>
            <a:ext cx="0" cy="4038600"/>
          </a:xfrm>
          <a:prstGeom prst="line">
            <a:avLst/>
          </a:prstGeom>
          <a:noFill/>
          <a:ln w="22225">
            <a:solidFill>
              <a:srgbClr val="008000"/>
            </a:solidFill>
            <a:prstDash val="lgDashDot"/>
            <a:round/>
            <a:headEnd/>
            <a:tailEnd/>
          </a:ln>
        </p:spPr>
        <p:txBody>
          <a:bodyPr/>
          <a:lstStyle/>
          <a:p>
            <a:endParaRPr lang="zh-CN" altLang="en-US"/>
          </a:p>
        </p:txBody>
      </p:sp>
      <p:sp>
        <p:nvSpPr>
          <p:cNvPr id="82961" name="Line 17"/>
          <p:cNvSpPr>
            <a:spLocks noChangeShapeType="1"/>
          </p:cNvSpPr>
          <p:nvPr/>
        </p:nvSpPr>
        <p:spPr bwMode="auto">
          <a:xfrm>
            <a:off x="6991350" y="614363"/>
            <a:ext cx="0" cy="381000"/>
          </a:xfrm>
          <a:prstGeom prst="line">
            <a:avLst/>
          </a:prstGeom>
          <a:noFill/>
          <a:ln w="22225">
            <a:solidFill>
              <a:srgbClr val="FF6600"/>
            </a:solidFill>
            <a:round/>
            <a:headEnd/>
            <a:tailEnd type="triangle" w="med" len="med"/>
          </a:ln>
        </p:spPr>
        <p:txBody>
          <a:bodyPr/>
          <a:lstStyle/>
          <a:p>
            <a:endParaRPr lang="zh-CN" altLang="en-US"/>
          </a:p>
        </p:txBody>
      </p:sp>
      <p:sp>
        <p:nvSpPr>
          <p:cNvPr id="82962" name="Freeform 18"/>
          <p:cNvSpPr>
            <a:spLocks/>
          </p:cNvSpPr>
          <p:nvPr/>
        </p:nvSpPr>
        <p:spPr bwMode="auto">
          <a:xfrm rot="587367">
            <a:off x="6459538" y="1139825"/>
            <a:ext cx="523875" cy="46355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63" name="Freeform 19"/>
          <p:cNvSpPr>
            <a:spLocks/>
          </p:cNvSpPr>
          <p:nvPr/>
        </p:nvSpPr>
        <p:spPr bwMode="auto">
          <a:xfrm rot="-831457">
            <a:off x="6000750" y="1528763"/>
            <a:ext cx="596900" cy="4953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64" name="Freeform 20"/>
          <p:cNvSpPr>
            <a:spLocks/>
          </p:cNvSpPr>
          <p:nvPr/>
        </p:nvSpPr>
        <p:spPr bwMode="auto">
          <a:xfrm rot="-3283021">
            <a:off x="5873750" y="2112963"/>
            <a:ext cx="596900" cy="4953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65" name="Freeform 21"/>
          <p:cNvSpPr>
            <a:spLocks/>
          </p:cNvSpPr>
          <p:nvPr/>
        </p:nvSpPr>
        <p:spPr bwMode="auto">
          <a:xfrm rot="-4825388">
            <a:off x="6083300" y="2662238"/>
            <a:ext cx="596900" cy="4572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66" name="Freeform 22"/>
          <p:cNvSpPr>
            <a:spLocks/>
          </p:cNvSpPr>
          <p:nvPr/>
        </p:nvSpPr>
        <p:spPr bwMode="auto">
          <a:xfrm rot="-6218819">
            <a:off x="6543675" y="3024188"/>
            <a:ext cx="533400" cy="4191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67" name="Freeform 23"/>
          <p:cNvSpPr>
            <a:spLocks/>
          </p:cNvSpPr>
          <p:nvPr/>
        </p:nvSpPr>
        <p:spPr bwMode="auto">
          <a:xfrm rot="-8396552">
            <a:off x="7143750" y="3128963"/>
            <a:ext cx="520700" cy="4191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68" name="Freeform 24"/>
          <p:cNvSpPr>
            <a:spLocks/>
          </p:cNvSpPr>
          <p:nvPr/>
        </p:nvSpPr>
        <p:spPr bwMode="auto">
          <a:xfrm rot="-10353676">
            <a:off x="7518400" y="2974975"/>
            <a:ext cx="596900" cy="4191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69" name="Freeform 25"/>
          <p:cNvSpPr>
            <a:spLocks/>
          </p:cNvSpPr>
          <p:nvPr/>
        </p:nvSpPr>
        <p:spPr bwMode="auto">
          <a:xfrm rot="9690286">
            <a:off x="7826375" y="2582863"/>
            <a:ext cx="609600" cy="3810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70" name="Freeform 26"/>
          <p:cNvSpPr>
            <a:spLocks/>
          </p:cNvSpPr>
          <p:nvPr/>
        </p:nvSpPr>
        <p:spPr bwMode="auto">
          <a:xfrm rot="8026436">
            <a:off x="7959725" y="2066925"/>
            <a:ext cx="596900" cy="3810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71" name="Freeform 27"/>
          <p:cNvSpPr>
            <a:spLocks/>
          </p:cNvSpPr>
          <p:nvPr/>
        </p:nvSpPr>
        <p:spPr bwMode="auto">
          <a:xfrm rot="6046016">
            <a:off x="7838282" y="1520031"/>
            <a:ext cx="514350" cy="379413"/>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72" name="Freeform 28"/>
          <p:cNvSpPr>
            <a:spLocks/>
          </p:cNvSpPr>
          <p:nvPr/>
        </p:nvSpPr>
        <p:spPr bwMode="auto">
          <a:xfrm rot="4385294">
            <a:off x="7504113" y="1182688"/>
            <a:ext cx="520700" cy="457200"/>
          </a:xfrm>
          <a:custGeom>
            <a:avLst/>
            <a:gdLst>
              <a:gd name="T0" fmla="*/ 2147483647 w 376"/>
              <a:gd name="T1" fmla="*/ 2147483647 h 312"/>
              <a:gd name="T2" fmla="*/ 2147483647 w 376"/>
              <a:gd name="T3" fmla="*/ 2147483647 h 312"/>
              <a:gd name="T4" fmla="*/ 2147483647 w 376"/>
              <a:gd name="T5" fmla="*/ 2147483647 h 312"/>
              <a:gd name="T6" fmla="*/ 0 w 376"/>
              <a:gd name="T7" fmla="*/ 2147483647 h 312"/>
              <a:gd name="T8" fmla="*/ 0 60000 65536"/>
              <a:gd name="T9" fmla="*/ 0 60000 65536"/>
              <a:gd name="T10" fmla="*/ 0 60000 65536"/>
              <a:gd name="T11" fmla="*/ 0 60000 65536"/>
              <a:gd name="T12" fmla="*/ 0 w 376"/>
              <a:gd name="T13" fmla="*/ 0 h 312"/>
              <a:gd name="T14" fmla="*/ 376 w 376"/>
              <a:gd name="T15" fmla="*/ 312 h 312"/>
            </a:gdLst>
            <a:ahLst/>
            <a:cxnLst>
              <a:cxn ang="T8">
                <a:pos x="T0" y="T1"/>
              </a:cxn>
              <a:cxn ang="T9">
                <a:pos x="T2" y="T3"/>
              </a:cxn>
              <a:cxn ang="T10">
                <a:pos x="T4" y="T5"/>
              </a:cxn>
              <a:cxn ang="T11">
                <a:pos x="T6" y="T7"/>
              </a:cxn>
            </a:cxnLst>
            <a:rect l="T12" t="T13" r="T14" b="T15"/>
            <a:pathLst>
              <a:path w="376" h="312">
                <a:moveTo>
                  <a:pt x="336" y="232"/>
                </a:moveTo>
                <a:cubicBezTo>
                  <a:pt x="356" y="272"/>
                  <a:pt x="376" y="312"/>
                  <a:pt x="336" y="280"/>
                </a:cubicBezTo>
                <a:cubicBezTo>
                  <a:pt x="296" y="248"/>
                  <a:pt x="152" y="80"/>
                  <a:pt x="96" y="40"/>
                </a:cubicBezTo>
                <a:cubicBezTo>
                  <a:pt x="40" y="0"/>
                  <a:pt x="16" y="40"/>
                  <a:pt x="0" y="40"/>
                </a:cubicBezTo>
              </a:path>
            </a:pathLst>
          </a:custGeom>
          <a:noFill/>
          <a:ln w="28575">
            <a:solidFill>
              <a:srgbClr val="FF9900"/>
            </a:solidFill>
            <a:round/>
            <a:headEnd/>
            <a:tailEnd/>
          </a:ln>
        </p:spPr>
        <p:txBody>
          <a:bodyPr/>
          <a:lstStyle/>
          <a:p>
            <a:endParaRPr lang="zh-CN" altLang="en-US"/>
          </a:p>
        </p:txBody>
      </p:sp>
      <p:sp>
        <p:nvSpPr>
          <p:cNvPr id="82973" name="Freeform 29"/>
          <p:cNvSpPr>
            <a:spLocks/>
          </p:cNvSpPr>
          <p:nvPr/>
        </p:nvSpPr>
        <p:spPr bwMode="auto">
          <a:xfrm>
            <a:off x="7372350" y="690563"/>
            <a:ext cx="76200" cy="838200"/>
          </a:xfrm>
          <a:custGeom>
            <a:avLst/>
            <a:gdLst>
              <a:gd name="T0" fmla="*/ 2147483647 w 104"/>
              <a:gd name="T1" fmla="*/ 0 h 528"/>
              <a:gd name="T2" fmla="*/ 2147483647 w 104"/>
              <a:gd name="T3" fmla="*/ 2147483647 h 528"/>
              <a:gd name="T4" fmla="*/ 2147483647 w 104"/>
              <a:gd name="T5" fmla="*/ 2147483647 h 528"/>
              <a:gd name="T6" fmla="*/ 2147483647 w 104"/>
              <a:gd name="T7" fmla="*/ 2147483647 h 528"/>
              <a:gd name="T8" fmla="*/ 2147483647 w 104"/>
              <a:gd name="T9" fmla="*/ 2147483647 h 528"/>
              <a:gd name="T10" fmla="*/ 0 60000 65536"/>
              <a:gd name="T11" fmla="*/ 0 60000 65536"/>
              <a:gd name="T12" fmla="*/ 0 60000 65536"/>
              <a:gd name="T13" fmla="*/ 0 60000 65536"/>
              <a:gd name="T14" fmla="*/ 0 60000 65536"/>
              <a:gd name="T15" fmla="*/ 0 w 104"/>
              <a:gd name="T16" fmla="*/ 0 h 528"/>
              <a:gd name="T17" fmla="*/ 104 w 104"/>
              <a:gd name="T18" fmla="*/ 528 h 528"/>
            </a:gdLst>
            <a:ahLst/>
            <a:cxnLst>
              <a:cxn ang="T10">
                <a:pos x="T0" y="T1"/>
              </a:cxn>
              <a:cxn ang="T11">
                <a:pos x="T2" y="T3"/>
              </a:cxn>
              <a:cxn ang="T12">
                <a:pos x="T4" y="T5"/>
              </a:cxn>
              <a:cxn ang="T13">
                <a:pos x="T6" y="T7"/>
              </a:cxn>
              <a:cxn ang="T14">
                <a:pos x="T8" y="T9"/>
              </a:cxn>
            </a:cxnLst>
            <a:rect l="T15" t="T16" r="T17" b="T18"/>
            <a:pathLst>
              <a:path w="104" h="528">
                <a:moveTo>
                  <a:pt x="8" y="0"/>
                </a:moveTo>
                <a:cubicBezTo>
                  <a:pt x="8" y="176"/>
                  <a:pt x="8" y="352"/>
                  <a:pt x="8" y="432"/>
                </a:cubicBezTo>
                <a:cubicBezTo>
                  <a:pt x="8" y="512"/>
                  <a:pt x="0" y="464"/>
                  <a:pt x="8" y="480"/>
                </a:cubicBezTo>
                <a:cubicBezTo>
                  <a:pt x="16" y="496"/>
                  <a:pt x="40" y="528"/>
                  <a:pt x="56" y="528"/>
                </a:cubicBezTo>
                <a:cubicBezTo>
                  <a:pt x="72" y="528"/>
                  <a:pt x="88" y="504"/>
                  <a:pt x="104" y="480"/>
                </a:cubicBezTo>
              </a:path>
            </a:pathLst>
          </a:custGeom>
          <a:noFill/>
          <a:ln w="28575">
            <a:solidFill>
              <a:srgbClr val="FF9900"/>
            </a:solidFill>
            <a:round/>
            <a:headEnd/>
            <a:tailEnd/>
          </a:ln>
        </p:spPr>
        <p:txBody>
          <a:bodyPr/>
          <a:lstStyle/>
          <a:p>
            <a:endParaRPr lang="zh-CN" altLang="en-US"/>
          </a:p>
        </p:txBody>
      </p:sp>
      <p:sp>
        <p:nvSpPr>
          <p:cNvPr id="82974" name="Text Box 30"/>
          <p:cNvSpPr txBox="1">
            <a:spLocks noChangeArrowheads="1"/>
          </p:cNvSpPr>
          <p:nvPr/>
        </p:nvSpPr>
        <p:spPr bwMode="auto">
          <a:xfrm>
            <a:off x="161925" y="2236788"/>
            <a:ext cx="48895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rPr>
              <a:t>解</a:t>
            </a:r>
          </a:p>
        </p:txBody>
      </p:sp>
      <p:sp>
        <p:nvSpPr>
          <p:cNvPr id="82975" name="Text Box 31"/>
          <p:cNvSpPr txBox="1">
            <a:spLocks noChangeArrowheads="1"/>
          </p:cNvSpPr>
          <p:nvPr/>
        </p:nvSpPr>
        <p:spPr bwMode="auto">
          <a:xfrm>
            <a:off x="619125" y="2239963"/>
            <a:ext cx="2819400"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根据安培环路定理</a:t>
            </a:r>
          </a:p>
        </p:txBody>
      </p:sp>
      <p:graphicFrame>
        <p:nvGraphicFramePr>
          <p:cNvPr id="82976" name="Object 32"/>
          <p:cNvGraphicFramePr>
            <a:graphicFrameLocks noChangeAspect="1"/>
          </p:cNvGraphicFramePr>
          <p:nvPr/>
        </p:nvGraphicFramePr>
        <p:xfrm>
          <a:off x="3041650" y="2876550"/>
          <a:ext cx="1490663" cy="735013"/>
        </p:xfrm>
        <a:graphic>
          <a:graphicData uri="http://schemas.openxmlformats.org/presentationml/2006/ole">
            <p:oleObj spid="_x0000_s29699" name="公式" r:id="rId4" imgW="790679" imgH="371520" progId="Equation.3">
              <p:embed/>
            </p:oleObj>
          </a:graphicData>
        </a:graphic>
      </p:graphicFrame>
      <p:graphicFrame>
        <p:nvGraphicFramePr>
          <p:cNvPr id="82977" name="Object 33"/>
          <p:cNvGraphicFramePr>
            <a:graphicFrameLocks noChangeAspect="1"/>
          </p:cNvGraphicFramePr>
          <p:nvPr/>
        </p:nvGraphicFramePr>
        <p:xfrm>
          <a:off x="3402013" y="2292350"/>
          <a:ext cx="1328737" cy="388938"/>
        </p:xfrm>
        <a:graphic>
          <a:graphicData uri="http://schemas.openxmlformats.org/presentationml/2006/ole">
            <p:oleObj spid="_x0000_s29700" name="公式" r:id="rId5" imgW="695322" imgH="180900" progId="Equation.3">
              <p:embed/>
            </p:oleObj>
          </a:graphicData>
        </a:graphic>
      </p:graphicFrame>
      <p:graphicFrame>
        <p:nvGraphicFramePr>
          <p:cNvPr id="82978" name="Object 34"/>
          <p:cNvGraphicFramePr>
            <a:graphicFrameLocks noChangeAspect="1"/>
          </p:cNvGraphicFramePr>
          <p:nvPr/>
        </p:nvGraphicFramePr>
        <p:xfrm>
          <a:off x="1106488" y="2876550"/>
          <a:ext cx="1096962" cy="733425"/>
        </p:xfrm>
        <a:graphic>
          <a:graphicData uri="http://schemas.openxmlformats.org/presentationml/2006/ole">
            <p:oleObj spid="_x0000_s29701" name="公式" r:id="rId6" imgW="571601" imgH="371520" progId="Equation.3">
              <p:embed/>
            </p:oleObj>
          </a:graphicData>
        </a:graphic>
      </p:graphicFrame>
      <p:graphicFrame>
        <p:nvGraphicFramePr>
          <p:cNvPr id="82979" name="Object 35"/>
          <p:cNvGraphicFramePr>
            <a:graphicFrameLocks noChangeAspect="1"/>
          </p:cNvGraphicFramePr>
          <p:nvPr/>
        </p:nvGraphicFramePr>
        <p:xfrm>
          <a:off x="2906713" y="3732213"/>
          <a:ext cx="1741487" cy="755650"/>
        </p:xfrm>
        <a:graphic>
          <a:graphicData uri="http://schemas.openxmlformats.org/presentationml/2006/ole">
            <p:oleObj spid="_x0000_s29702" name="公式" r:id="rId7" imgW="923855" imgH="380970" progId="Equation.3">
              <p:embed/>
            </p:oleObj>
          </a:graphicData>
        </a:graphic>
      </p:graphicFrame>
      <p:graphicFrame>
        <p:nvGraphicFramePr>
          <p:cNvPr id="82980" name="Object 36"/>
          <p:cNvGraphicFramePr>
            <a:graphicFrameLocks noChangeAspect="1"/>
          </p:cNvGraphicFramePr>
          <p:nvPr/>
        </p:nvGraphicFramePr>
        <p:xfrm>
          <a:off x="7461250" y="2079625"/>
          <a:ext cx="306388" cy="349250"/>
        </p:xfrm>
        <a:graphic>
          <a:graphicData uri="http://schemas.openxmlformats.org/presentationml/2006/ole">
            <p:oleObj spid="_x0000_s29703" name="公式" r:id="rId8" imgW="152355" imgH="180900" progId="Equation.3">
              <p:embed/>
            </p:oleObj>
          </a:graphicData>
        </a:graphic>
      </p:graphicFrame>
      <p:graphicFrame>
        <p:nvGraphicFramePr>
          <p:cNvPr id="82981" name="Object 37"/>
          <p:cNvGraphicFramePr>
            <a:graphicFrameLocks noChangeAspect="1"/>
          </p:cNvGraphicFramePr>
          <p:nvPr/>
        </p:nvGraphicFramePr>
        <p:xfrm>
          <a:off x="6642100" y="1943100"/>
          <a:ext cx="323850" cy="346075"/>
        </p:xfrm>
        <a:graphic>
          <a:graphicData uri="http://schemas.openxmlformats.org/presentationml/2006/ole">
            <p:oleObj spid="_x0000_s29704" name="公式" r:id="rId9" imgW="161810" imgH="180900" progId="Equation.3">
              <p:embed/>
            </p:oleObj>
          </a:graphicData>
        </a:graphic>
      </p:graphicFrame>
      <p:graphicFrame>
        <p:nvGraphicFramePr>
          <p:cNvPr id="82982" name="Object 38"/>
          <p:cNvGraphicFramePr>
            <a:graphicFrameLocks noChangeAspect="1"/>
          </p:cNvGraphicFramePr>
          <p:nvPr/>
        </p:nvGraphicFramePr>
        <p:xfrm>
          <a:off x="8577263" y="4059238"/>
          <a:ext cx="204787" cy="282575"/>
        </p:xfrm>
        <a:graphic>
          <a:graphicData uri="http://schemas.openxmlformats.org/presentationml/2006/ole">
            <p:oleObj spid="_x0000_s29705" name="公式" r:id="rId10" imgW="85632" imgH="142830" progId="Equation.3">
              <p:embed/>
            </p:oleObj>
          </a:graphicData>
        </a:graphic>
      </p:graphicFrame>
      <p:graphicFrame>
        <p:nvGraphicFramePr>
          <p:cNvPr id="82983" name="Object 39"/>
          <p:cNvGraphicFramePr>
            <a:graphicFrameLocks noChangeAspect="1"/>
          </p:cNvGraphicFramePr>
          <p:nvPr/>
        </p:nvGraphicFramePr>
        <p:xfrm>
          <a:off x="2322513" y="4856163"/>
          <a:ext cx="1568450" cy="320675"/>
        </p:xfrm>
        <a:graphic>
          <a:graphicData uri="http://schemas.openxmlformats.org/presentationml/2006/ole">
            <p:oleObj spid="_x0000_s29706" name="公式" r:id="rId11" imgW="828768" imgH="142830" progId="Equation.3">
              <p:embed/>
            </p:oleObj>
          </a:graphicData>
        </a:graphic>
      </p:graphicFrame>
      <p:sp>
        <p:nvSpPr>
          <p:cNvPr id="82984" name="Text Box 40"/>
          <p:cNvSpPr txBox="1">
            <a:spLocks noChangeArrowheads="1"/>
          </p:cNvSpPr>
          <p:nvPr/>
        </p:nvSpPr>
        <p:spPr bwMode="auto">
          <a:xfrm>
            <a:off x="723900" y="4772025"/>
            <a:ext cx="1524000"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取体积元</a:t>
            </a:r>
          </a:p>
        </p:txBody>
      </p:sp>
      <p:graphicFrame>
        <p:nvGraphicFramePr>
          <p:cNvPr id="82985" name="Object 41"/>
          <p:cNvGraphicFramePr>
            <a:graphicFrameLocks noChangeAspect="1"/>
          </p:cNvGraphicFramePr>
          <p:nvPr/>
        </p:nvGraphicFramePr>
        <p:xfrm>
          <a:off x="831850" y="5576888"/>
          <a:ext cx="1712913" cy="547687"/>
        </p:xfrm>
        <a:graphic>
          <a:graphicData uri="http://schemas.openxmlformats.org/presentationml/2006/ole">
            <p:oleObj spid="_x0000_s29707" name="公式" r:id="rId12" imgW="914400" imgH="266760" progId="Equation.3">
              <p:embed/>
            </p:oleObj>
          </a:graphicData>
        </a:graphic>
      </p:graphicFrame>
      <p:graphicFrame>
        <p:nvGraphicFramePr>
          <p:cNvPr id="82986" name="Object 42"/>
          <p:cNvGraphicFramePr>
            <a:graphicFrameLocks noChangeAspect="1"/>
          </p:cNvGraphicFramePr>
          <p:nvPr/>
        </p:nvGraphicFramePr>
        <p:xfrm>
          <a:off x="2597150" y="5441950"/>
          <a:ext cx="2695575" cy="752475"/>
        </p:xfrm>
        <a:graphic>
          <a:graphicData uri="http://schemas.openxmlformats.org/presentationml/2006/ole">
            <p:oleObj spid="_x0000_s29708" name="公式" r:id="rId13" imgW="1457367" imgH="380970" progId="Equation.3">
              <p:embed/>
            </p:oleObj>
          </a:graphicData>
        </a:graphic>
      </p:graphicFrame>
      <p:graphicFrame>
        <p:nvGraphicFramePr>
          <p:cNvPr id="82987" name="Object 43"/>
          <p:cNvGraphicFramePr>
            <a:graphicFrameLocks noChangeAspect="1"/>
          </p:cNvGraphicFramePr>
          <p:nvPr/>
        </p:nvGraphicFramePr>
        <p:xfrm>
          <a:off x="5414963" y="5441950"/>
          <a:ext cx="2127250" cy="866775"/>
        </p:xfrm>
        <a:graphic>
          <a:graphicData uri="http://schemas.openxmlformats.org/presentationml/2006/ole">
            <p:oleObj spid="_x0000_s29709" name="公式" r:id="rId14" imgW="1142932" imgH="447660" progId="Equation.3">
              <p:embed/>
            </p:oleObj>
          </a:graphicData>
        </a:graphic>
      </p:graphicFrame>
      <p:graphicFrame>
        <p:nvGraphicFramePr>
          <p:cNvPr id="82988" name="Object 44"/>
          <p:cNvGraphicFramePr>
            <a:graphicFrameLocks noChangeAspect="1"/>
          </p:cNvGraphicFramePr>
          <p:nvPr/>
        </p:nvGraphicFramePr>
        <p:xfrm>
          <a:off x="6754813" y="630238"/>
          <a:ext cx="233362" cy="300037"/>
        </p:xfrm>
        <a:graphic>
          <a:graphicData uri="http://schemas.openxmlformats.org/presentationml/2006/ole">
            <p:oleObj spid="_x0000_s29710" name="公式" r:id="rId15" imgW="85632" imgH="123930" progId="Equation.3">
              <p:embed/>
            </p:oleObj>
          </a:graphicData>
        </a:graphic>
      </p:graphicFrame>
      <p:sp>
        <p:nvSpPr>
          <p:cNvPr id="82989" name="AutoShape 45"/>
          <p:cNvSpPr>
            <a:spLocks noChangeArrowheads="1"/>
          </p:cNvSpPr>
          <p:nvPr/>
        </p:nvSpPr>
        <p:spPr bwMode="auto">
          <a:xfrm>
            <a:off x="2322513" y="3178175"/>
            <a:ext cx="533400" cy="166688"/>
          </a:xfrm>
          <a:prstGeom prst="leftRightArrow">
            <a:avLst>
              <a:gd name="adj1" fmla="val 50000"/>
              <a:gd name="adj2" fmla="val 64000"/>
            </a:avLst>
          </a:prstGeom>
          <a:solidFill>
            <a:srgbClr val="0000FF"/>
          </a:solidFill>
          <a:ln w="9525">
            <a:solidFill>
              <a:schemeClr val="tx1"/>
            </a:solidFill>
            <a:miter lim="800000"/>
            <a:headEnd/>
            <a:tailEnd/>
          </a:ln>
          <a:effectLst/>
          <a:extLst>
            <a:ext uri="{AF507438-7753-43E0-B8FC-AC1667EBCBE1}"/>
          </a:extLst>
        </p:spPr>
        <p:txBody>
          <a:bodyPr wrap="none" anchor="ctr"/>
          <a:lstStyle/>
          <a:p>
            <a:pPr>
              <a:defRPr/>
            </a:pPr>
            <a:endParaRPr lang="zh-CN" altLang="zh-CN" sz="3200">
              <a:solidFill>
                <a:srgbClr val="0000FF"/>
              </a:solidFill>
              <a:effectDag name="">
                <a:cont type="tree" name="">
                  <a:effect ref="fillLine"/>
                  <a:outerShdw dist="38100" dir="13500000" algn="br">
                    <a:srgbClr val="5555FF"/>
                  </a:outerShdw>
                </a:cont>
                <a:cont type="tree" name="">
                  <a:effect ref="fillLine"/>
                  <a:outerShdw dist="38100" dir="2700000" algn="tl">
                    <a:srgbClr val="000099"/>
                  </a:outerShdw>
                </a:cont>
                <a:effect ref="fillLine"/>
              </a:effectDag>
              <a:latin typeface="Times New Roman" pitchFamily="18" charset="0"/>
            </a:endParaRPr>
          </a:p>
        </p:txBody>
      </p:sp>
      <p:sp>
        <p:nvSpPr>
          <p:cNvPr id="82990" name="Text Box 46"/>
          <p:cNvSpPr txBox="1">
            <a:spLocks noChangeArrowheads="1"/>
          </p:cNvSpPr>
          <p:nvPr/>
        </p:nvSpPr>
        <p:spPr bwMode="auto">
          <a:xfrm>
            <a:off x="161925" y="592138"/>
            <a:ext cx="488950" cy="457200"/>
          </a:xfrm>
          <a:prstGeom prst="rect">
            <a:avLst/>
          </a:prstGeom>
          <a:noFill/>
          <a:ln w="9525">
            <a:noFill/>
            <a:miter lim="800000"/>
            <a:headEnd/>
            <a:tailEnd/>
          </a:ln>
        </p:spPr>
        <p:txBody>
          <a:bodyPr wrap="none">
            <a:spAutoFit/>
          </a:bodyPr>
          <a:lstStyle/>
          <a:p>
            <a:pPr algn="l"/>
            <a:r>
              <a:rPr kumimoji="1" lang="zh-CN" altLang="en-US" sz="2400" b="1">
                <a:solidFill>
                  <a:srgbClr val="FF0000"/>
                </a:solidFill>
                <a:latin typeface="Times New Roman" pitchFamily="18" charset="0"/>
              </a:rPr>
              <a:t>例</a:t>
            </a:r>
          </a:p>
        </p:txBody>
      </p:sp>
      <p:sp>
        <p:nvSpPr>
          <p:cNvPr id="82991" name="Text Box 47"/>
          <p:cNvSpPr txBox="1">
            <a:spLocks noChangeArrowheads="1"/>
          </p:cNvSpPr>
          <p:nvPr/>
        </p:nvSpPr>
        <p:spPr bwMode="auto">
          <a:xfrm>
            <a:off x="695325" y="554038"/>
            <a:ext cx="5603875" cy="1003300"/>
          </a:xfrm>
          <a:prstGeom prst="rect">
            <a:avLst/>
          </a:prstGeom>
          <a:noFill/>
          <a:ln w="9525">
            <a:noFill/>
            <a:miter lim="800000"/>
            <a:headEnd/>
            <a:tailEnd/>
          </a:ln>
        </p:spPr>
        <p:txBody>
          <a:bodyPr>
            <a:spAutoFit/>
          </a:bodyPr>
          <a:lstStyle/>
          <a:p>
            <a:pPr algn="l">
              <a:lnSpc>
                <a:spcPct val="115000"/>
              </a:lnSpc>
            </a:pPr>
            <a:r>
              <a:rPr kumimoji="1" lang="zh-CN" altLang="en-US" sz="2400" b="1">
                <a:latin typeface="Times New Roman" pitchFamily="18" charset="0"/>
              </a:rPr>
              <a:t>一由</a:t>
            </a:r>
            <a:r>
              <a:rPr kumimoji="1" lang="zh-CN" altLang="en-US" sz="2400" b="1">
                <a:solidFill>
                  <a:schemeClr val="bg1"/>
                </a:solidFill>
                <a:latin typeface="Times New Roman" pitchFamily="18" charset="0"/>
              </a:rPr>
              <a:t> </a:t>
            </a:r>
            <a:r>
              <a:rPr kumimoji="1" lang="en-US" altLang="zh-CN" sz="2400" b="1" i="1">
                <a:solidFill>
                  <a:srgbClr val="FF6600"/>
                </a:solidFill>
                <a:latin typeface="Times New Roman" pitchFamily="18" charset="0"/>
              </a:rPr>
              <a:t>N</a:t>
            </a:r>
            <a:r>
              <a:rPr kumimoji="1" lang="en-US" altLang="zh-CN" sz="2400" b="1">
                <a:solidFill>
                  <a:schemeClr val="bg1"/>
                </a:solidFill>
                <a:latin typeface="Times New Roman" pitchFamily="18" charset="0"/>
              </a:rPr>
              <a:t> </a:t>
            </a:r>
            <a:r>
              <a:rPr kumimoji="1" lang="zh-CN" altLang="en-US" sz="2400" b="1">
                <a:latin typeface="Times New Roman" pitchFamily="18" charset="0"/>
              </a:rPr>
              <a:t>匝线圈绕成的矩形螺绕环，通有电流</a:t>
            </a:r>
            <a:r>
              <a:rPr kumimoji="1" lang="zh-CN" altLang="en-US" sz="2400" b="1" i="1">
                <a:solidFill>
                  <a:srgbClr val="FF6600"/>
                </a:solidFill>
                <a:latin typeface="Times New Roman" pitchFamily="18" charset="0"/>
              </a:rPr>
              <a:t> </a:t>
            </a:r>
            <a:r>
              <a:rPr kumimoji="1" lang="en-US" altLang="zh-CN" sz="2800" b="1" i="1">
                <a:solidFill>
                  <a:srgbClr val="FF6600"/>
                </a:solidFill>
                <a:latin typeface="Times New Roman" pitchFamily="18" charset="0"/>
              </a:rPr>
              <a:t>I</a:t>
            </a:r>
            <a:r>
              <a:rPr kumimoji="1" lang="en-US" altLang="zh-CN" sz="2400" b="1">
                <a:solidFill>
                  <a:schemeClr val="bg1"/>
                </a:solidFill>
                <a:latin typeface="Times New Roman" pitchFamily="18" charset="0"/>
              </a:rPr>
              <a:t> </a:t>
            </a:r>
            <a:r>
              <a:rPr kumimoji="1" lang="zh-CN" altLang="en-US" sz="2400" b="1">
                <a:latin typeface="Times New Roman" pitchFamily="18" charset="0"/>
              </a:rPr>
              <a:t>，其中充有均匀磁介质</a:t>
            </a:r>
          </a:p>
        </p:txBody>
      </p:sp>
      <p:sp>
        <p:nvSpPr>
          <p:cNvPr id="82992" name="Text Box 48"/>
          <p:cNvSpPr txBox="1">
            <a:spLocks noChangeArrowheads="1"/>
          </p:cNvSpPr>
          <p:nvPr/>
        </p:nvSpPr>
        <p:spPr bwMode="auto">
          <a:xfrm>
            <a:off x="161925" y="1603375"/>
            <a:ext cx="3236913" cy="530225"/>
          </a:xfrm>
          <a:prstGeom prst="rect">
            <a:avLst/>
          </a:prstGeom>
          <a:noFill/>
          <a:ln w="9525" algn="ctr">
            <a:noFill/>
            <a:miter lim="800000"/>
            <a:headEnd/>
            <a:tailEnd/>
          </a:ln>
        </p:spPr>
        <p:txBody>
          <a:bodyPr tIns="82800" bIns="82800">
            <a:spAutoFit/>
          </a:bodyPr>
          <a:lstStyle/>
          <a:p>
            <a:pPr algn="just" eaLnBrk="0" hangingPunct="0">
              <a:spcBef>
                <a:spcPct val="50000"/>
              </a:spcBef>
            </a:pPr>
            <a:r>
              <a:rPr kumimoji="1" lang="zh-CN" altLang="en-US" sz="2400" b="1">
                <a:solidFill>
                  <a:srgbClr val="FF0000"/>
                </a:solidFill>
                <a:latin typeface="Times New Roman" pitchFamily="18" charset="0"/>
              </a:rPr>
              <a:t>求   </a:t>
            </a:r>
            <a:r>
              <a:rPr kumimoji="1" lang="zh-CN" altLang="en-US" sz="2400" b="1">
                <a:latin typeface="Times New Roman" pitchFamily="18" charset="0"/>
              </a:rPr>
              <a:t>磁场能量</a:t>
            </a:r>
            <a:r>
              <a:rPr kumimoji="1" lang="en-US" altLang="zh-CN" sz="2400" b="1" i="1">
                <a:solidFill>
                  <a:srgbClr val="FF6600"/>
                </a:solidFill>
                <a:latin typeface="Times New Roman" pitchFamily="18" charset="0"/>
              </a:rPr>
              <a:t>W</a:t>
            </a:r>
            <a:r>
              <a:rPr kumimoji="1" lang="en-US" altLang="zh-CN" sz="2400" b="1" i="1" baseline="-25000">
                <a:solidFill>
                  <a:srgbClr val="FF6600"/>
                </a:solidFill>
                <a:latin typeface="Times New Roman" pitchFamily="18" charset="0"/>
              </a:rPr>
              <a:t>m</a:t>
            </a:r>
            <a:endParaRPr kumimoji="1" lang="en-US" altLang="zh-CN" sz="2400" b="1" i="1">
              <a:solidFill>
                <a:srgbClr val="FF6600"/>
              </a:solidFill>
              <a:latin typeface="Times New Roman" pitchFamily="18" charset="0"/>
            </a:endParaRPr>
          </a:p>
        </p:txBody>
      </p:sp>
      <p:sp>
        <p:nvSpPr>
          <p:cNvPr id="82994" name="AutoShape 50">
            <a:hlinkClick r:id="rId16" action="ppaction://hlinksldjump" highlightClick="1"/>
          </p:cNvPr>
          <p:cNvSpPr>
            <a:spLocks noChangeArrowheads="1"/>
          </p:cNvSpPr>
          <p:nvPr/>
        </p:nvSpPr>
        <p:spPr bwMode="auto">
          <a:xfrm>
            <a:off x="8677275" y="6202363"/>
            <a:ext cx="287338"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990"/>
                                        </p:tgtEl>
                                        <p:attrNameLst>
                                          <p:attrName>style.visibility</p:attrName>
                                        </p:attrNameLst>
                                      </p:cBhvr>
                                      <p:to>
                                        <p:strVal val="visible"/>
                                      </p:to>
                                    </p:set>
                                    <p:animEffect transition="in" filter="wipe(left)">
                                      <p:cBhvr>
                                        <p:cTn id="7" dur="500"/>
                                        <p:tgtEl>
                                          <p:spTgt spid="829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991"/>
                                        </p:tgtEl>
                                        <p:attrNameLst>
                                          <p:attrName>style.visibility</p:attrName>
                                        </p:attrNameLst>
                                      </p:cBhvr>
                                      <p:to>
                                        <p:strVal val="visible"/>
                                      </p:to>
                                    </p:set>
                                    <p:animEffect transition="in" filter="wipe(left)">
                                      <p:cBhvr>
                                        <p:cTn id="12" dur="500"/>
                                        <p:tgtEl>
                                          <p:spTgt spid="829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7" presetClass="entr" presetSubtype="2" fill="hold" grpId="0" nodeType="clickEffect">
                                  <p:stCondLst>
                                    <p:cond delay="0"/>
                                  </p:stCondLst>
                                  <p:childTnLst>
                                    <p:set>
                                      <p:cBhvr>
                                        <p:cTn id="16" dur="1" fill="hold">
                                          <p:stCondLst>
                                            <p:cond delay="0"/>
                                          </p:stCondLst>
                                        </p:cTn>
                                        <p:tgtEl>
                                          <p:spTgt spid="82947"/>
                                        </p:tgtEl>
                                        <p:attrNameLst>
                                          <p:attrName>style.visibility</p:attrName>
                                        </p:attrNameLst>
                                      </p:cBhvr>
                                      <p:to>
                                        <p:strVal val="visible"/>
                                      </p:to>
                                    </p:set>
                                    <p:anim calcmode="lin" valueType="num">
                                      <p:cBhvr additive="base">
                                        <p:cTn id="17" dur="1000" fill="hold"/>
                                        <p:tgtEl>
                                          <p:spTgt spid="82947"/>
                                        </p:tgtEl>
                                        <p:attrNameLst>
                                          <p:attrName>ppt_x</p:attrName>
                                        </p:attrNameLst>
                                      </p:cBhvr>
                                      <p:tavLst>
                                        <p:tav tm="0">
                                          <p:val>
                                            <p:strVal val="1+#ppt_w/2"/>
                                          </p:val>
                                        </p:tav>
                                        <p:tav tm="100000">
                                          <p:val>
                                            <p:strVal val="#ppt_x"/>
                                          </p:val>
                                        </p:tav>
                                      </p:tavLst>
                                    </p:anim>
                                    <p:anim calcmode="lin" valueType="num">
                                      <p:cBhvr additive="base">
                                        <p:cTn id="18" dur="1000" fill="hold"/>
                                        <p:tgtEl>
                                          <p:spTgt spid="82947"/>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82960"/>
                                        </p:tgtEl>
                                        <p:attrNameLst>
                                          <p:attrName>style.visibility</p:attrName>
                                        </p:attrNameLst>
                                      </p:cBhvr>
                                      <p:to>
                                        <p:strVal val="visible"/>
                                      </p:to>
                                    </p:set>
                                    <p:animEffect transition="in" filter="slide(fromBottom)">
                                      <p:cBhvr>
                                        <p:cTn id="23" dur="500"/>
                                        <p:tgtEl>
                                          <p:spTgt spid="8296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82957"/>
                                        </p:tgtEl>
                                        <p:attrNameLst>
                                          <p:attrName>style.visibility</p:attrName>
                                        </p:attrNameLst>
                                      </p:cBhvr>
                                      <p:to>
                                        <p:strVal val="visible"/>
                                      </p:to>
                                    </p:set>
                                  </p:childTnLst>
                                </p:cTn>
                              </p:par>
                            </p:childTnLst>
                          </p:cTn>
                        </p:par>
                        <p:par>
                          <p:cTn id="28" fill="hold" nodeType="afterGroup">
                            <p:stCondLst>
                              <p:cond delay="500"/>
                            </p:stCondLst>
                            <p:childTnLst>
                              <p:par>
                                <p:cTn id="29" presetID="3" presetClass="entr" presetSubtype="10" fill="hold" nodeType="afterEffect">
                                  <p:stCondLst>
                                    <p:cond delay="0"/>
                                  </p:stCondLst>
                                  <p:childTnLst>
                                    <p:set>
                                      <p:cBhvr>
                                        <p:cTn id="30" dur="1" fill="hold">
                                          <p:stCondLst>
                                            <p:cond delay="0"/>
                                          </p:stCondLst>
                                        </p:cTn>
                                        <p:tgtEl>
                                          <p:spTgt spid="82980"/>
                                        </p:tgtEl>
                                        <p:attrNameLst>
                                          <p:attrName>style.visibility</p:attrName>
                                        </p:attrNameLst>
                                      </p:cBhvr>
                                      <p:to>
                                        <p:strVal val="visible"/>
                                      </p:to>
                                    </p:set>
                                    <p:animEffect transition="in" filter="blinds(horizontal)">
                                      <p:cBhvr>
                                        <p:cTn id="31" dur="500"/>
                                        <p:tgtEl>
                                          <p:spTgt spid="8298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82956"/>
                                        </p:tgtEl>
                                        <p:attrNameLst>
                                          <p:attrName>style.visibility</p:attrName>
                                        </p:attrNameLst>
                                      </p:cBhvr>
                                      <p:to>
                                        <p:strVal val="visible"/>
                                      </p:to>
                                    </p:set>
                                  </p:childTnLst>
                                </p:cTn>
                              </p:par>
                            </p:childTnLst>
                          </p:cTn>
                        </p:par>
                        <p:par>
                          <p:cTn id="36" fill="hold" nodeType="afterGroup">
                            <p:stCondLst>
                              <p:cond delay="500"/>
                            </p:stCondLst>
                            <p:childTnLst>
                              <p:par>
                                <p:cTn id="37" presetID="12" presetClass="entr" presetSubtype="4" fill="hold" nodeType="afterEffect">
                                  <p:stCondLst>
                                    <p:cond delay="0"/>
                                  </p:stCondLst>
                                  <p:childTnLst>
                                    <p:set>
                                      <p:cBhvr>
                                        <p:cTn id="38" dur="1" fill="hold">
                                          <p:stCondLst>
                                            <p:cond delay="0"/>
                                          </p:stCondLst>
                                        </p:cTn>
                                        <p:tgtEl>
                                          <p:spTgt spid="82981"/>
                                        </p:tgtEl>
                                        <p:attrNameLst>
                                          <p:attrName>style.visibility</p:attrName>
                                        </p:attrNameLst>
                                      </p:cBhvr>
                                      <p:to>
                                        <p:strVal val="visible"/>
                                      </p:to>
                                    </p:set>
                                    <p:animEffect transition="in" filter="slide(fromBottom)">
                                      <p:cBhvr>
                                        <p:cTn id="39" dur="500"/>
                                        <p:tgtEl>
                                          <p:spTgt spid="8298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12" presetClass="entr" presetSubtype="1" fill="hold" grpId="0" nodeType="clickEffect">
                                  <p:stCondLst>
                                    <p:cond delay="0"/>
                                  </p:stCondLst>
                                  <p:childTnLst>
                                    <p:set>
                                      <p:cBhvr>
                                        <p:cTn id="43" dur="1" fill="hold">
                                          <p:stCondLst>
                                            <p:cond delay="0"/>
                                          </p:stCondLst>
                                        </p:cTn>
                                        <p:tgtEl>
                                          <p:spTgt spid="82961"/>
                                        </p:tgtEl>
                                        <p:attrNameLst>
                                          <p:attrName>style.visibility</p:attrName>
                                        </p:attrNameLst>
                                      </p:cBhvr>
                                      <p:to>
                                        <p:strVal val="visible"/>
                                      </p:to>
                                    </p:set>
                                    <p:animEffect transition="in" filter="slide(fromTop)">
                                      <p:cBhvr>
                                        <p:cTn id="44" dur="500"/>
                                        <p:tgtEl>
                                          <p:spTgt spid="82961"/>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499"/>
                                          </p:stCondLst>
                                        </p:cTn>
                                        <p:tgtEl>
                                          <p:spTgt spid="82988"/>
                                        </p:tgtEl>
                                        <p:attrNameLst>
                                          <p:attrName>style.visibility</p:attrName>
                                        </p:attrNameLst>
                                      </p:cBhvr>
                                      <p:to>
                                        <p:strVal val="visible"/>
                                      </p:to>
                                    </p:set>
                                  </p:childTnLst>
                                </p:cTn>
                              </p:par>
                            </p:childTnLst>
                          </p:cTn>
                        </p:par>
                        <p:par>
                          <p:cTn id="49" fill="hold" nodeType="afterGroup">
                            <p:stCondLst>
                              <p:cond delay="500"/>
                            </p:stCondLst>
                            <p:childTnLst>
                              <p:par>
                                <p:cTn id="50" presetID="9" presetClass="entr" presetSubtype="0" fill="hold" grpId="0" nodeType="afterEffect">
                                  <p:stCondLst>
                                    <p:cond delay="1000"/>
                                  </p:stCondLst>
                                  <p:childTnLst>
                                    <p:set>
                                      <p:cBhvr>
                                        <p:cTn id="51" dur="1" fill="hold">
                                          <p:stCondLst>
                                            <p:cond delay="0"/>
                                          </p:stCondLst>
                                        </p:cTn>
                                        <p:tgtEl>
                                          <p:spTgt spid="82962"/>
                                        </p:tgtEl>
                                        <p:attrNameLst>
                                          <p:attrName>style.visibility</p:attrName>
                                        </p:attrNameLst>
                                      </p:cBhvr>
                                      <p:to>
                                        <p:strVal val="visible"/>
                                      </p:to>
                                    </p:set>
                                    <p:animEffect transition="in" filter="dissolve">
                                      <p:cBhvr>
                                        <p:cTn id="52" dur="500"/>
                                        <p:tgtEl>
                                          <p:spTgt spid="82962"/>
                                        </p:tgtEl>
                                      </p:cBhvr>
                                    </p:animEffect>
                                  </p:childTnLst>
                                </p:cTn>
                              </p:par>
                            </p:childTnLst>
                          </p:cTn>
                        </p:par>
                        <p:par>
                          <p:cTn id="53" fill="hold" nodeType="afterGroup">
                            <p:stCondLst>
                              <p:cond delay="2000"/>
                            </p:stCondLst>
                            <p:childTnLst>
                              <p:par>
                                <p:cTn id="54" presetID="9" presetClass="entr" presetSubtype="0" fill="hold" grpId="0" nodeType="afterEffect">
                                  <p:stCondLst>
                                    <p:cond delay="1000"/>
                                  </p:stCondLst>
                                  <p:childTnLst>
                                    <p:set>
                                      <p:cBhvr>
                                        <p:cTn id="55" dur="1" fill="hold">
                                          <p:stCondLst>
                                            <p:cond delay="0"/>
                                          </p:stCondLst>
                                        </p:cTn>
                                        <p:tgtEl>
                                          <p:spTgt spid="82963"/>
                                        </p:tgtEl>
                                        <p:attrNameLst>
                                          <p:attrName>style.visibility</p:attrName>
                                        </p:attrNameLst>
                                      </p:cBhvr>
                                      <p:to>
                                        <p:strVal val="visible"/>
                                      </p:to>
                                    </p:set>
                                    <p:animEffect transition="in" filter="dissolve">
                                      <p:cBhvr>
                                        <p:cTn id="56" dur="500"/>
                                        <p:tgtEl>
                                          <p:spTgt spid="82963"/>
                                        </p:tgtEl>
                                      </p:cBhvr>
                                    </p:animEffect>
                                  </p:childTnLst>
                                </p:cTn>
                              </p:par>
                            </p:childTnLst>
                          </p:cTn>
                        </p:par>
                        <p:par>
                          <p:cTn id="57" fill="hold" nodeType="afterGroup">
                            <p:stCondLst>
                              <p:cond delay="3500"/>
                            </p:stCondLst>
                            <p:childTnLst>
                              <p:par>
                                <p:cTn id="58" presetID="9" presetClass="entr" presetSubtype="0" fill="hold" grpId="0" nodeType="afterEffect">
                                  <p:stCondLst>
                                    <p:cond delay="1000"/>
                                  </p:stCondLst>
                                  <p:childTnLst>
                                    <p:set>
                                      <p:cBhvr>
                                        <p:cTn id="59" dur="1" fill="hold">
                                          <p:stCondLst>
                                            <p:cond delay="0"/>
                                          </p:stCondLst>
                                        </p:cTn>
                                        <p:tgtEl>
                                          <p:spTgt spid="82964"/>
                                        </p:tgtEl>
                                        <p:attrNameLst>
                                          <p:attrName>style.visibility</p:attrName>
                                        </p:attrNameLst>
                                      </p:cBhvr>
                                      <p:to>
                                        <p:strVal val="visible"/>
                                      </p:to>
                                    </p:set>
                                    <p:animEffect transition="in" filter="dissolve">
                                      <p:cBhvr>
                                        <p:cTn id="60" dur="500"/>
                                        <p:tgtEl>
                                          <p:spTgt spid="82964"/>
                                        </p:tgtEl>
                                      </p:cBhvr>
                                    </p:animEffect>
                                  </p:childTnLst>
                                </p:cTn>
                              </p:par>
                            </p:childTnLst>
                          </p:cTn>
                        </p:par>
                        <p:par>
                          <p:cTn id="61" fill="hold" nodeType="afterGroup">
                            <p:stCondLst>
                              <p:cond delay="5000"/>
                            </p:stCondLst>
                            <p:childTnLst>
                              <p:par>
                                <p:cTn id="62" presetID="9" presetClass="entr" presetSubtype="0" fill="hold" grpId="0" nodeType="afterEffect">
                                  <p:stCondLst>
                                    <p:cond delay="0"/>
                                  </p:stCondLst>
                                  <p:childTnLst>
                                    <p:set>
                                      <p:cBhvr>
                                        <p:cTn id="63" dur="1" fill="hold">
                                          <p:stCondLst>
                                            <p:cond delay="0"/>
                                          </p:stCondLst>
                                        </p:cTn>
                                        <p:tgtEl>
                                          <p:spTgt spid="82965"/>
                                        </p:tgtEl>
                                        <p:attrNameLst>
                                          <p:attrName>style.visibility</p:attrName>
                                        </p:attrNameLst>
                                      </p:cBhvr>
                                      <p:to>
                                        <p:strVal val="visible"/>
                                      </p:to>
                                    </p:set>
                                    <p:animEffect transition="in" filter="dissolve">
                                      <p:cBhvr>
                                        <p:cTn id="64" dur="500"/>
                                        <p:tgtEl>
                                          <p:spTgt spid="82965"/>
                                        </p:tgtEl>
                                      </p:cBhvr>
                                    </p:animEffect>
                                  </p:childTnLst>
                                </p:cTn>
                              </p:par>
                            </p:childTnLst>
                          </p:cTn>
                        </p:par>
                        <p:par>
                          <p:cTn id="65" fill="hold" nodeType="afterGroup">
                            <p:stCondLst>
                              <p:cond delay="5500"/>
                            </p:stCondLst>
                            <p:childTnLst>
                              <p:par>
                                <p:cTn id="66" presetID="9" presetClass="entr" presetSubtype="0" fill="hold" grpId="0" nodeType="afterEffect">
                                  <p:stCondLst>
                                    <p:cond delay="1000"/>
                                  </p:stCondLst>
                                  <p:childTnLst>
                                    <p:set>
                                      <p:cBhvr>
                                        <p:cTn id="67" dur="1" fill="hold">
                                          <p:stCondLst>
                                            <p:cond delay="0"/>
                                          </p:stCondLst>
                                        </p:cTn>
                                        <p:tgtEl>
                                          <p:spTgt spid="82966"/>
                                        </p:tgtEl>
                                        <p:attrNameLst>
                                          <p:attrName>style.visibility</p:attrName>
                                        </p:attrNameLst>
                                      </p:cBhvr>
                                      <p:to>
                                        <p:strVal val="visible"/>
                                      </p:to>
                                    </p:set>
                                    <p:animEffect transition="in" filter="dissolve">
                                      <p:cBhvr>
                                        <p:cTn id="68" dur="500"/>
                                        <p:tgtEl>
                                          <p:spTgt spid="82966"/>
                                        </p:tgtEl>
                                      </p:cBhvr>
                                    </p:animEffect>
                                  </p:childTnLst>
                                </p:cTn>
                              </p:par>
                            </p:childTnLst>
                          </p:cTn>
                        </p:par>
                        <p:par>
                          <p:cTn id="69" fill="hold" nodeType="afterGroup">
                            <p:stCondLst>
                              <p:cond delay="7000"/>
                            </p:stCondLst>
                            <p:childTnLst>
                              <p:par>
                                <p:cTn id="70" presetID="9" presetClass="entr" presetSubtype="0" fill="hold" grpId="0" nodeType="afterEffect">
                                  <p:stCondLst>
                                    <p:cond delay="1000"/>
                                  </p:stCondLst>
                                  <p:childTnLst>
                                    <p:set>
                                      <p:cBhvr>
                                        <p:cTn id="71" dur="1" fill="hold">
                                          <p:stCondLst>
                                            <p:cond delay="0"/>
                                          </p:stCondLst>
                                        </p:cTn>
                                        <p:tgtEl>
                                          <p:spTgt spid="82967"/>
                                        </p:tgtEl>
                                        <p:attrNameLst>
                                          <p:attrName>style.visibility</p:attrName>
                                        </p:attrNameLst>
                                      </p:cBhvr>
                                      <p:to>
                                        <p:strVal val="visible"/>
                                      </p:to>
                                    </p:set>
                                    <p:animEffect transition="in" filter="dissolve">
                                      <p:cBhvr>
                                        <p:cTn id="72" dur="500"/>
                                        <p:tgtEl>
                                          <p:spTgt spid="82967"/>
                                        </p:tgtEl>
                                      </p:cBhvr>
                                    </p:animEffect>
                                  </p:childTnLst>
                                </p:cTn>
                              </p:par>
                            </p:childTnLst>
                          </p:cTn>
                        </p:par>
                        <p:par>
                          <p:cTn id="73" fill="hold" nodeType="afterGroup">
                            <p:stCondLst>
                              <p:cond delay="8500"/>
                            </p:stCondLst>
                            <p:childTnLst>
                              <p:par>
                                <p:cTn id="74" presetID="9" presetClass="entr" presetSubtype="0" fill="hold" grpId="0" nodeType="afterEffect">
                                  <p:stCondLst>
                                    <p:cond delay="1000"/>
                                  </p:stCondLst>
                                  <p:childTnLst>
                                    <p:set>
                                      <p:cBhvr>
                                        <p:cTn id="75" dur="1" fill="hold">
                                          <p:stCondLst>
                                            <p:cond delay="0"/>
                                          </p:stCondLst>
                                        </p:cTn>
                                        <p:tgtEl>
                                          <p:spTgt spid="82968"/>
                                        </p:tgtEl>
                                        <p:attrNameLst>
                                          <p:attrName>style.visibility</p:attrName>
                                        </p:attrNameLst>
                                      </p:cBhvr>
                                      <p:to>
                                        <p:strVal val="visible"/>
                                      </p:to>
                                    </p:set>
                                    <p:animEffect transition="in" filter="dissolve">
                                      <p:cBhvr>
                                        <p:cTn id="76" dur="500"/>
                                        <p:tgtEl>
                                          <p:spTgt spid="82968"/>
                                        </p:tgtEl>
                                      </p:cBhvr>
                                    </p:animEffect>
                                  </p:childTnLst>
                                </p:cTn>
                              </p:par>
                            </p:childTnLst>
                          </p:cTn>
                        </p:par>
                        <p:par>
                          <p:cTn id="77" fill="hold" nodeType="afterGroup">
                            <p:stCondLst>
                              <p:cond delay="10000"/>
                            </p:stCondLst>
                            <p:childTnLst>
                              <p:par>
                                <p:cTn id="78" presetID="9" presetClass="entr" presetSubtype="0" fill="hold" grpId="0" nodeType="afterEffect">
                                  <p:stCondLst>
                                    <p:cond delay="1000"/>
                                  </p:stCondLst>
                                  <p:childTnLst>
                                    <p:set>
                                      <p:cBhvr>
                                        <p:cTn id="79" dur="1" fill="hold">
                                          <p:stCondLst>
                                            <p:cond delay="0"/>
                                          </p:stCondLst>
                                        </p:cTn>
                                        <p:tgtEl>
                                          <p:spTgt spid="82969"/>
                                        </p:tgtEl>
                                        <p:attrNameLst>
                                          <p:attrName>style.visibility</p:attrName>
                                        </p:attrNameLst>
                                      </p:cBhvr>
                                      <p:to>
                                        <p:strVal val="visible"/>
                                      </p:to>
                                    </p:set>
                                    <p:animEffect transition="in" filter="dissolve">
                                      <p:cBhvr>
                                        <p:cTn id="80" dur="500"/>
                                        <p:tgtEl>
                                          <p:spTgt spid="82969"/>
                                        </p:tgtEl>
                                      </p:cBhvr>
                                    </p:animEffect>
                                  </p:childTnLst>
                                </p:cTn>
                              </p:par>
                            </p:childTnLst>
                          </p:cTn>
                        </p:par>
                        <p:par>
                          <p:cTn id="81" fill="hold" nodeType="afterGroup">
                            <p:stCondLst>
                              <p:cond delay="11500"/>
                            </p:stCondLst>
                            <p:childTnLst>
                              <p:par>
                                <p:cTn id="82" presetID="9" presetClass="entr" presetSubtype="0" fill="hold" grpId="0" nodeType="afterEffect">
                                  <p:stCondLst>
                                    <p:cond delay="1000"/>
                                  </p:stCondLst>
                                  <p:childTnLst>
                                    <p:set>
                                      <p:cBhvr>
                                        <p:cTn id="83" dur="1" fill="hold">
                                          <p:stCondLst>
                                            <p:cond delay="0"/>
                                          </p:stCondLst>
                                        </p:cTn>
                                        <p:tgtEl>
                                          <p:spTgt spid="82970"/>
                                        </p:tgtEl>
                                        <p:attrNameLst>
                                          <p:attrName>style.visibility</p:attrName>
                                        </p:attrNameLst>
                                      </p:cBhvr>
                                      <p:to>
                                        <p:strVal val="visible"/>
                                      </p:to>
                                    </p:set>
                                    <p:animEffect transition="in" filter="dissolve">
                                      <p:cBhvr>
                                        <p:cTn id="84" dur="500"/>
                                        <p:tgtEl>
                                          <p:spTgt spid="82970"/>
                                        </p:tgtEl>
                                      </p:cBhvr>
                                    </p:animEffect>
                                  </p:childTnLst>
                                </p:cTn>
                              </p:par>
                            </p:childTnLst>
                          </p:cTn>
                        </p:par>
                        <p:par>
                          <p:cTn id="85" fill="hold" nodeType="afterGroup">
                            <p:stCondLst>
                              <p:cond delay="13000"/>
                            </p:stCondLst>
                            <p:childTnLst>
                              <p:par>
                                <p:cTn id="86" presetID="9" presetClass="entr" presetSubtype="0" fill="hold" grpId="0" nodeType="afterEffect">
                                  <p:stCondLst>
                                    <p:cond delay="1000"/>
                                  </p:stCondLst>
                                  <p:childTnLst>
                                    <p:set>
                                      <p:cBhvr>
                                        <p:cTn id="87" dur="1" fill="hold">
                                          <p:stCondLst>
                                            <p:cond delay="0"/>
                                          </p:stCondLst>
                                        </p:cTn>
                                        <p:tgtEl>
                                          <p:spTgt spid="82971"/>
                                        </p:tgtEl>
                                        <p:attrNameLst>
                                          <p:attrName>style.visibility</p:attrName>
                                        </p:attrNameLst>
                                      </p:cBhvr>
                                      <p:to>
                                        <p:strVal val="visible"/>
                                      </p:to>
                                    </p:set>
                                    <p:animEffect transition="in" filter="dissolve">
                                      <p:cBhvr>
                                        <p:cTn id="88" dur="500"/>
                                        <p:tgtEl>
                                          <p:spTgt spid="82971"/>
                                        </p:tgtEl>
                                      </p:cBhvr>
                                    </p:animEffect>
                                  </p:childTnLst>
                                </p:cTn>
                              </p:par>
                            </p:childTnLst>
                          </p:cTn>
                        </p:par>
                        <p:par>
                          <p:cTn id="89" fill="hold" nodeType="afterGroup">
                            <p:stCondLst>
                              <p:cond delay="14500"/>
                            </p:stCondLst>
                            <p:childTnLst>
                              <p:par>
                                <p:cTn id="90" presetID="9" presetClass="entr" presetSubtype="0" fill="hold" grpId="0" nodeType="afterEffect">
                                  <p:stCondLst>
                                    <p:cond delay="1000"/>
                                  </p:stCondLst>
                                  <p:childTnLst>
                                    <p:set>
                                      <p:cBhvr>
                                        <p:cTn id="91" dur="1" fill="hold">
                                          <p:stCondLst>
                                            <p:cond delay="0"/>
                                          </p:stCondLst>
                                        </p:cTn>
                                        <p:tgtEl>
                                          <p:spTgt spid="82972"/>
                                        </p:tgtEl>
                                        <p:attrNameLst>
                                          <p:attrName>style.visibility</p:attrName>
                                        </p:attrNameLst>
                                      </p:cBhvr>
                                      <p:to>
                                        <p:strVal val="visible"/>
                                      </p:to>
                                    </p:set>
                                    <p:animEffect transition="in" filter="dissolve">
                                      <p:cBhvr>
                                        <p:cTn id="92" dur="500"/>
                                        <p:tgtEl>
                                          <p:spTgt spid="82972"/>
                                        </p:tgtEl>
                                      </p:cBhvr>
                                    </p:animEffect>
                                  </p:childTnLst>
                                </p:cTn>
                              </p:par>
                            </p:childTnLst>
                          </p:cTn>
                        </p:par>
                        <p:par>
                          <p:cTn id="93" fill="hold" nodeType="afterGroup">
                            <p:stCondLst>
                              <p:cond delay="16000"/>
                            </p:stCondLst>
                            <p:childTnLst>
                              <p:par>
                                <p:cTn id="94" presetID="9" presetClass="entr" presetSubtype="0" fill="hold" grpId="0" nodeType="afterEffect">
                                  <p:stCondLst>
                                    <p:cond delay="1000"/>
                                  </p:stCondLst>
                                  <p:childTnLst>
                                    <p:set>
                                      <p:cBhvr>
                                        <p:cTn id="95" dur="1" fill="hold">
                                          <p:stCondLst>
                                            <p:cond delay="0"/>
                                          </p:stCondLst>
                                        </p:cTn>
                                        <p:tgtEl>
                                          <p:spTgt spid="82973"/>
                                        </p:tgtEl>
                                        <p:attrNameLst>
                                          <p:attrName>style.visibility</p:attrName>
                                        </p:attrNameLst>
                                      </p:cBhvr>
                                      <p:to>
                                        <p:strVal val="visible"/>
                                      </p:to>
                                    </p:set>
                                    <p:animEffect transition="in" filter="dissolve">
                                      <p:cBhvr>
                                        <p:cTn id="96" dur="500"/>
                                        <p:tgtEl>
                                          <p:spTgt spid="82973"/>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82992"/>
                                        </p:tgtEl>
                                        <p:attrNameLst>
                                          <p:attrName>style.visibility</p:attrName>
                                        </p:attrNameLst>
                                      </p:cBhvr>
                                      <p:to>
                                        <p:strVal val="visible"/>
                                      </p:to>
                                    </p:set>
                                    <p:animEffect transition="in" filter="wipe(left)">
                                      <p:cBhvr>
                                        <p:cTn id="101" dur="500"/>
                                        <p:tgtEl>
                                          <p:spTgt spid="82992"/>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82974"/>
                                        </p:tgtEl>
                                        <p:attrNameLst>
                                          <p:attrName>style.visibility</p:attrName>
                                        </p:attrNameLst>
                                      </p:cBhvr>
                                      <p:to>
                                        <p:strVal val="visible"/>
                                      </p:to>
                                    </p:set>
                                    <p:animEffect transition="in" filter="wipe(left)">
                                      <p:cBhvr>
                                        <p:cTn id="106" dur="500"/>
                                        <p:tgtEl>
                                          <p:spTgt spid="82974"/>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82975"/>
                                        </p:tgtEl>
                                        <p:attrNameLst>
                                          <p:attrName>style.visibility</p:attrName>
                                        </p:attrNameLst>
                                      </p:cBhvr>
                                      <p:to>
                                        <p:strVal val="visible"/>
                                      </p:to>
                                    </p:set>
                                    <p:animEffect transition="in" filter="wipe(left)">
                                      <p:cBhvr>
                                        <p:cTn id="111" dur="500"/>
                                        <p:tgtEl>
                                          <p:spTgt spid="82975"/>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82977"/>
                                        </p:tgtEl>
                                        <p:attrNameLst>
                                          <p:attrName>style.visibility</p:attrName>
                                        </p:attrNameLst>
                                      </p:cBhvr>
                                      <p:to>
                                        <p:strVal val="visible"/>
                                      </p:to>
                                    </p:set>
                                    <p:animEffect transition="in" filter="wipe(left)">
                                      <p:cBhvr>
                                        <p:cTn id="116" dur="500"/>
                                        <p:tgtEl>
                                          <p:spTgt spid="82977"/>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82978"/>
                                        </p:tgtEl>
                                        <p:attrNameLst>
                                          <p:attrName>style.visibility</p:attrName>
                                        </p:attrNameLst>
                                      </p:cBhvr>
                                      <p:to>
                                        <p:strVal val="visible"/>
                                      </p:to>
                                    </p:set>
                                    <p:animEffect transition="in" filter="wipe(left)">
                                      <p:cBhvr>
                                        <p:cTn id="121" dur="500"/>
                                        <p:tgtEl>
                                          <p:spTgt spid="82978"/>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82989"/>
                                        </p:tgtEl>
                                        <p:attrNameLst>
                                          <p:attrName>style.visibility</p:attrName>
                                        </p:attrNameLst>
                                      </p:cBhvr>
                                      <p:to>
                                        <p:strVal val="visible"/>
                                      </p:to>
                                    </p:set>
                                    <p:animEffect transition="in" filter="wipe(left)">
                                      <p:cBhvr>
                                        <p:cTn id="126" dur="500"/>
                                        <p:tgtEl>
                                          <p:spTgt spid="82989"/>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82976"/>
                                        </p:tgtEl>
                                        <p:attrNameLst>
                                          <p:attrName>style.visibility</p:attrName>
                                        </p:attrNameLst>
                                      </p:cBhvr>
                                      <p:to>
                                        <p:strVal val="visible"/>
                                      </p:to>
                                    </p:set>
                                    <p:animEffect transition="in" filter="wipe(left)">
                                      <p:cBhvr>
                                        <p:cTn id="131" dur="500"/>
                                        <p:tgtEl>
                                          <p:spTgt spid="82976"/>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82946"/>
                                        </p:tgtEl>
                                        <p:attrNameLst>
                                          <p:attrName>style.visibility</p:attrName>
                                        </p:attrNameLst>
                                      </p:cBhvr>
                                      <p:to>
                                        <p:strVal val="visible"/>
                                      </p:to>
                                    </p:set>
                                    <p:animEffect transition="in" filter="wipe(left)">
                                      <p:cBhvr>
                                        <p:cTn id="136" dur="500"/>
                                        <p:tgtEl>
                                          <p:spTgt spid="82946"/>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82979"/>
                                        </p:tgtEl>
                                        <p:attrNameLst>
                                          <p:attrName>style.visibility</p:attrName>
                                        </p:attrNameLst>
                                      </p:cBhvr>
                                      <p:to>
                                        <p:strVal val="visible"/>
                                      </p:to>
                                    </p:set>
                                    <p:animEffect transition="in" filter="wipe(left)">
                                      <p:cBhvr>
                                        <p:cTn id="141" dur="500"/>
                                        <p:tgtEl>
                                          <p:spTgt spid="82979"/>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grpId="0" nodeType="clickEffect">
                                  <p:stCondLst>
                                    <p:cond delay="0"/>
                                  </p:stCondLst>
                                  <p:childTnLst>
                                    <p:set>
                                      <p:cBhvr>
                                        <p:cTn id="145" dur="1" fill="hold">
                                          <p:stCondLst>
                                            <p:cond delay="0"/>
                                          </p:stCondLst>
                                        </p:cTn>
                                        <p:tgtEl>
                                          <p:spTgt spid="82984"/>
                                        </p:tgtEl>
                                        <p:attrNameLst>
                                          <p:attrName>style.visibility</p:attrName>
                                        </p:attrNameLst>
                                      </p:cBhvr>
                                      <p:to>
                                        <p:strVal val="visible"/>
                                      </p:to>
                                    </p:set>
                                    <p:animEffect transition="in" filter="wipe(left)">
                                      <p:cBhvr>
                                        <p:cTn id="146" dur="500"/>
                                        <p:tgtEl>
                                          <p:spTgt spid="82984"/>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2" presetClass="entr" presetSubtype="1" fill="hold" grpId="0" nodeType="clickEffect">
                                  <p:stCondLst>
                                    <p:cond delay="0"/>
                                  </p:stCondLst>
                                  <p:childTnLst>
                                    <p:set>
                                      <p:cBhvr>
                                        <p:cTn id="150" dur="1" fill="hold">
                                          <p:stCondLst>
                                            <p:cond delay="0"/>
                                          </p:stCondLst>
                                        </p:cTn>
                                        <p:tgtEl>
                                          <p:spTgt spid="82948"/>
                                        </p:tgtEl>
                                        <p:attrNameLst>
                                          <p:attrName>style.visibility</p:attrName>
                                        </p:attrNameLst>
                                      </p:cBhvr>
                                      <p:to>
                                        <p:strVal val="visible"/>
                                      </p:to>
                                    </p:set>
                                    <p:animEffect transition="in" filter="slide(fromTop)">
                                      <p:cBhvr>
                                        <p:cTn id="151" dur="500"/>
                                        <p:tgtEl>
                                          <p:spTgt spid="82948"/>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12" presetClass="entr" presetSubtype="1" fill="hold" grpId="0" nodeType="clickEffect">
                                  <p:stCondLst>
                                    <p:cond delay="0"/>
                                  </p:stCondLst>
                                  <p:childTnLst>
                                    <p:set>
                                      <p:cBhvr>
                                        <p:cTn id="155" dur="1" fill="hold">
                                          <p:stCondLst>
                                            <p:cond delay="0"/>
                                          </p:stCondLst>
                                        </p:cTn>
                                        <p:tgtEl>
                                          <p:spTgt spid="82949"/>
                                        </p:tgtEl>
                                        <p:attrNameLst>
                                          <p:attrName>style.visibility</p:attrName>
                                        </p:attrNameLst>
                                      </p:cBhvr>
                                      <p:to>
                                        <p:strVal val="visible"/>
                                      </p:to>
                                    </p:set>
                                    <p:animEffect transition="in" filter="slide(fromTop)">
                                      <p:cBhvr>
                                        <p:cTn id="156" dur="500"/>
                                        <p:tgtEl>
                                          <p:spTgt spid="82949"/>
                                        </p:tgtEl>
                                      </p:cBhvr>
                                    </p:animEffect>
                                  </p:childTnLst>
                                </p:cTn>
                              </p:par>
                            </p:childTnLst>
                          </p:cTn>
                        </p:par>
                      </p:childTnLst>
                    </p:cTn>
                  </p:par>
                  <p:par>
                    <p:cTn id="157" fill="hold" nodeType="clickPar">
                      <p:stCondLst>
                        <p:cond delay="indefinite"/>
                      </p:stCondLst>
                      <p:childTnLst>
                        <p:par>
                          <p:cTn id="158" fill="hold" nodeType="withGroup">
                            <p:stCondLst>
                              <p:cond delay="0"/>
                            </p:stCondLst>
                            <p:childTnLst>
                              <p:par>
                                <p:cTn id="159" presetID="12" presetClass="entr" presetSubtype="1" fill="hold" grpId="0" nodeType="clickEffect">
                                  <p:stCondLst>
                                    <p:cond delay="0"/>
                                  </p:stCondLst>
                                  <p:childTnLst>
                                    <p:set>
                                      <p:cBhvr>
                                        <p:cTn id="160" dur="1" fill="hold">
                                          <p:stCondLst>
                                            <p:cond delay="0"/>
                                          </p:stCondLst>
                                        </p:cTn>
                                        <p:tgtEl>
                                          <p:spTgt spid="82951"/>
                                        </p:tgtEl>
                                        <p:attrNameLst>
                                          <p:attrName>style.visibility</p:attrName>
                                        </p:attrNameLst>
                                      </p:cBhvr>
                                      <p:to>
                                        <p:strVal val="visible"/>
                                      </p:to>
                                    </p:set>
                                    <p:animEffect transition="in" filter="slide(fromTop)">
                                      <p:cBhvr>
                                        <p:cTn id="161" dur="500"/>
                                        <p:tgtEl>
                                          <p:spTgt spid="82951"/>
                                        </p:tgtEl>
                                      </p:cBhvr>
                                    </p:animEffec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12" presetClass="entr" presetSubtype="1" fill="hold" grpId="0" nodeType="clickEffect">
                                  <p:stCondLst>
                                    <p:cond delay="0"/>
                                  </p:stCondLst>
                                  <p:childTnLst>
                                    <p:set>
                                      <p:cBhvr>
                                        <p:cTn id="165" dur="1" fill="hold">
                                          <p:stCondLst>
                                            <p:cond delay="0"/>
                                          </p:stCondLst>
                                        </p:cTn>
                                        <p:tgtEl>
                                          <p:spTgt spid="82950"/>
                                        </p:tgtEl>
                                        <p:attrNameLst>
                                          <p:attrName>style.visibility</p:attrName>
                                        </p:attrNameLst>
                                      </p:cBhvr>
                                      <p:to>
                                        <p:strVal val="visible"/>
                                      </p:to>
                                    </p:set>
                                    <p:animEffect transition="in" filter="slide(fromTop)">
                                      <p:cBhvr>
                                        <p:cTn id="166" dur="500"/>
                                        <p:tgtEl>
                                          <p:spTgt spid="82950"/>
                                        </p:tgtEl>
                                      </p:cBhvr>
                                    </p:animEffect>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3" presetClass="entr" presetSubtype="16" fill="hold" nodeType="clickEffect">
                                  <p:stCondLst>
                                    <p:cond delay="0"/>
                                  </p:stCondLst>
                                  <p:childTnLst>
                                    <p:set>
                                      <p:cBhvr>
                                        <p:cTn id="170" dur="1" fill="hold">
                                          <p:stCondLst>
                                            <p:cond delay="0"/>
                                          </p:stCondLst>
                                        </p:cTn>
                                        <p:tgtEl>
                                          <p:spTgt spid="2"/>
                                        </p:tgtEl>
                                        <p:attrNameLst>
                                          <p:attrName>style.visibility</p:attrName>
                                        </p:attrNameLst>
                                      </p:cBhvr>
                                      <p:to>
                                        <p:strVal val="visible"/>
                                      </p:to>
                                    </p:set>
                                    <p:anim calcmode="lin" valueType="num">
                                      <p:cBhvr>
                                        <p:cTn id="171" dur="500" fill="hold"/>
                                        <p:tgtEl>
                                          <p:spTgt spid="2"/>
                                        </p:tgtEl>
                                        <p:attrNameLst>
                                          <p:attrName>ppt_w</p:attrName>
                                        </p:attrNameLst>
                                      </p:cBhvr>
                                      <p:tavLst>
                                        <p:tav tm="0">
                                          <p:val>
                                            <p:fltVal val="0"/>
                                          </p:val>
                                        </p:tav>
                                        <p:tav tm="100000">
                                          <p:val>
                                            <p:strVal val="#ppt_w"/>
                                          </p:val>
                                        </p:tav>
                                      </p:tavLst>
                                    </p:anim>
                                    <p:anim calcmode="lin" valueType="num">
                                      <p:cBhvr>
                                        <p:cTn id="172" dur="500" fill="hold"/>
                                        <p:tgtEl>
                                          <p:spTgt spid="2"/>
                                        </p:tgtEl>
                                        <p:attrNameLst>
                                          <p:attrName>ppt_h</p:attrName>
                                        </p:attrNameLst>
                                      </p:cBhvr>
                                      <p:tavLst>
                                        <p:tav tm="0">
                                          <p:val>
                                            <p:fltVal val="0"/>
                                          </p:val>
                                        </p:tav>
                                        <p:tav tm="100000">
                                          <p:val>
                                            <p:strVal val="#ppt_h"/>
                                          </p:val>
                                        </p:tav>
                                      </p:tavLst>
                                    </p:anim>
                                  </p:childTnLst>
                                </p:cTn>
                              </p:par>
                            </p:childTnLst>
                          </p:cTn>
                        </p:par>
                        <p:par>
                          <p:cTn id="173" fill="hold" nodeType="afterGroup">
                            <p:stCondLst>
                              <p:cond delay="500"/>
                            </p:stCondLst>
                            <p:childTnLst>
                              <p:par>
                                <p:cTn id="174" presetID="1" presetClass="entr" presetSubtype="0" fill="hold" grpId="0" nodeType="afterEffect">
                                  <p:stCondLst>
                                    <p:cond delay="0"/>
                                  </p:stCondLst>
                                  <p:childTnLst>
                                    <p:set>
                                      <p:cBhvr>
                                        <p:cTn id="175" dur="1" fill="hold">
                                          <p:stCondLst>
                                            <p:cond delay="499"/>
                                          </p:stCondLst>
                                        </p:cTn>
                                        <p:tgtEl>
                                          <p:spTgt spid="82958"/>
                                        </p:tgtEl>
                                        <p:attrNameLst>
                                          <p:attrName>style.visibility</p:attrName>
                                        </p:attrNameLst>
                                      </p:cBhvr>
                                      <p:to>
                                        <p:strVal val="visible"/>
                                      </p:to>
                                    </p:set>
                                  </p:childTnLst>
                                </p:cTn>
                              </p:par>
                            </p:childTnLst>
                          </p:cTn>
                        </p:par>
                        <p:par>
                          <p:cTn id="176" fill="hold" nodeType="afterGroup">
                            <p:stCondLst>
                              <p:cond delay="1000"/>
                            </p:stCondLst>
                            <p:childTnLst>
                              <p:par>
                                <p:cTn id="177" presetID="1" presetClass="entr" presetSubtype="0" fill="hold" grpId="0" nodeType="afterEffect">
                                  <p:stCondLst>
                                    <p:cond delay="0"/>
                                  </p:stCondLst>
                                  <p:childTnLst>
                                    <p:set>
                                      <p:cBhvr>
                                        <p:cTn id="178" dur="1" fill="hold">
                                          <p:stCondLst>
                                            <p:cond delay="499"/>
                                          </p:stCondLst>
                                        </p:cTn>
                                        <p:tgtEl>
                                          <p:spTgt spid="82959"/>
                                        </p:tgtEl>
                                        <p:attrNameLst>
                                          <p:attrName>style.visibility</p:attrName>
                                        </p:attrNameLst>
                                      </p:cBhvr>
                                      <p:to>
                                        <p:strVal val="visible"/>
                                      </p:to>
                                    </p:set>
                                  </p:childTnLst>
                                </p:cTn>
                              </p:par>
                            </p:childTnLst>
                          </p:cTn>
                        </p:par>
                        <p:par>
                          <p:cTn id="179" fill="hold" nodeType="afterGroup">
                            <p:stCondLst>
                              <p:cond delay="1500"/>
                            </p:stCondLst>
                            <p:childTnLst>
                              <p:par>
                                <p:cTn id="180" presetID="12" presetClass="entr" presetSubtype="4" fill="hold" nodeType="afterEffect">
                                  <p:stCondLst>
                                    <p:cond delay="0"/>
                                  </p:stCondLst>
                                  <p:childTnLst>
                                    <p:set>
                                      <p:cBhvr>
                                        <p:cTn id="181" dur="1" fill="hold">
                                          <p:stCondLst>
                                            <p:cond delay="0"/>
                                          </p:stCondLst>
                                        </p:cTn>
                                        <p:tgtEl>
                                          <p:spTgt spid="82982"/>
                                        </p:tgtEl>
                                        <p:attrNameLst>
                                          <p:attrName>style.visibility</p:attrName>
                                        </p:attrNameLst>
                                      </p:cBhvr>
                                      <p:to>
                                        <p:strVal val="visible"/>
                                      </p:to>
                                    </p:set>
                                    <p:animEffect transition="in" filter="slide(fromBottom)">
                                      <p:cBhvr>
                                        <p:cTn id="182" dur="500"/>
                                        <p:tgtEl>
                                          <p:spTgt spid="82982"/>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8" fill="hold" nodeType="clickEffect">
                                  <p:stCondLst>
                                    <p:cond delay="0"/>
                                  </p:stCondLst>
                                  <p:childTnLst>
                                    <p:set>
                                      <p:cBhvr>
                                        <p:cTn id="186" dur="1" fill="hold">
                                          <p:stCondLst>
                                            <p:cond delay="0"/>
                                          </p:stCondLst>
                                        </p:cTn>
                                        <p:tgtEl>
                                          <p:spTgt spid="82983"/>
                                        </p:tgtEl>
                                        <p:attrNameLst>
                                          <p:attrName>style.visibility</p:attrName>
                                        </p:attrNameLst>
                                      </p:cBhvr>
                                      <p:to>
                                        <p:strVal val="visible"/>
                                      </p:to>
                                    </p:set>
                                    <p:animEffect transition="in" filter="wipe(left)">
                                      <p:cBhvr>
                                        <p:cTn id="187" dur="500"/>
                                        <p:tgtEl>
                                          <p:spTgt spid="82983"/>
                                        </p:tgtEl>
                                      </p:cBhvr>
                                    </p:animEffect>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2" presetClass="entr" presetSubtype="8" fill="hold" nodeType="clickEffect">
                                  <p:stCondLst>
                                    <p:cond delay="0"/>
                                  </p:stCondLst>
                                  <p:childTnLst>
                                    <p:set>
                                      <p:cBhvr>
                                        <p:cTn id="191" dur="1" fill="hold">
                                          <p:stCondLst>
                                            <p:cond delay="0"/>
                                          </p:stCondLst>
                                        </p:cTn>
                                        <p:tgtEl>
                                          <p:spTgt spid="82985"/>
                                        </p:tgtEl>
                                        <p:attrNameLst>
                                          <p:attrName>style.visibility</p:attrName>
                                        </p:attrNameLst>
                                      </p:cBhvr>
                                      <p:to>
                                        <p:strVal val="visible"/>
                                      </p:to>
                                    </p:set>
                                    <p:animEffect transition="in" filter="wipe(left)">
                                      <p:cBhvr>
                                        <p:cTn id="192" dur="500"/>
                                        <p:tgtEl>
                                          <p:spTgt spid="82985"/>
                                        </p:tgtEl>
                                      </p:cBhvr>
                                    </p:animEffect>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8" fill="hold" nodeType="clickEffect">
                                  <p:stCondLst>
                                    <p:cond delay="0"/>
                                  </p:stCondLst>
                                  <p:childTnLst>
                                    <p:set>
                                      <p:cBhvr>
                                        <p:cTn id="196" dur="1" fill="hold">
                                          <p:stCondLst>
                                            <p:cond delay="0"/>
                                          </p:stCondLst>
                                        </p:cTn>
                                        <p:tgtEl>
                                          <p:spTgt spid="82986"/>
                                        </p:tgtEl>
                                        <p:attrNameLst>
                                          <p:attrName>style.visibility</p:attrName>
                                        </p:attrNameLst>
                                      </p:cBhvr>
                                      <p:to>
                                        <p:strVal val="visible"/>
                                      </p:to>
                                    </p:set>
                                    <p:animEffect transition="in" filter="wipe(left)">
                                      <p:cBhvr>
                                        <p:cTn id="197" dur="500"/>
                                        <p:tgtEl>
                                          <p:spTgt spid="82986"/>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8" fill="hold" nodeType="clickEffect">
                                  <p:stCondLst>
                                    <p:cond delay="0"/>
                                  </p:stCondLst>
                                  <p:childTnLst>
                                    <p:set>
                                      <p:cBhvr>
                                        <p:cTn id="201" dur="1" fill="hold">
                                          <p:stCondLst>
                                            <p:cond delay="0"/>
                                          </p:stCondLst>
                                        </p:cTn>
                                        <p:tgtEl>
                                          <p:spTgt spid="82987"/>
                                        </p:tgtEl>
                                        <p:attrNameLst>
                                          <p:attrName>style.visibility</p:attrName>
                                        </p:attrNameLst>
                                      </p:cBhvr>
                                      <p:to>
                                        <p:strVal val="visible"/>
                                      </p:to>
                                    </p:set>
                                    <p:animEffect transition="in" filter="wipe(left)">
                                      <p:cBhvr>
                                        <p:cTn id="202" dur="500"/>
                                        <p:tgtEl>
                                          <p:spTgt spid="82987"/>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22" presetClass="entr" presetSubtype="8" fill="hold" grpId="0" nodeType="clickEffect">
                                  <p:stCondLst>
                                    <p:cond delay="0"/>
                                  </p:stCondLst>
                                  <p:childTnLst>
                                    <p:set>
                                      <p:cBhvr>
                                        <p:cTn id="206" dur="1" fill="hold">
                                          <p:stCondLst>
                                            <p:cond delay="0"/>
                                          </p:stCondLst>
                                        </p:cTn>
                                        <p:tgtEl>
                                          <p:spTgt spid="82994"/>
                                        </p:tgtEl>
                                        <p:attrNameLst>
                                          <p:attrName>style.visibility</p:attrName>
                                        </p:attrNameLst>
                                      </p:cBhvr>
                                      <p:to>
                                        <p:strVal val="visible"/>
                                      </p:to>
                                    </p:set>
                                    <p:animEffect transition="in" filter="wipe(left)">
                                      <p:cBhvr>
                                        <p:cTn id="207" dur="500"/>
                                        <p:tgtEl>
                                          <p:spTgt spid="82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animBg="1"/>
      <p:bldP spid="82948" grpId="0" animBg="1"/>
      <p:bldP spid="82949" grpId="0" animBg="1"/>
      <p:bldP spid="82950" grpId="0" animBg="1"/>
      <p:bldP spid="82951" grpId="0" animBg="1"/>
      <p:bldP spid="82956" grpId="0" animBg="1"/>
      <p:bldP spid="82957" grpId="0" animBg="1"/>
      <p:bldP spid="82958" grpId="0" animBg="1"/>
      <p:bldP spid="82959" grpId="0" animBg="1"/>
      <p:bldP spid="82960" grpId="0" animBg="1"/>
      <p:bldP spid="82961" grpId="0" animBg="1"/>
      <p:bldP spid="82962" grpId="0" animBg="1"/>
      <p:bldP spid="82963" grpId="0" animBg="1"/>
      <p:bldP spid="82964" grpId="0" animBg="1"/>
      <p:bldP spid="82965" grpId="0" animBg="1"/>
      <p:bldP spid="82966" grpId="0" animBg="1"/>
      <p:bldP spid="82967" grpId="0" animBg="1"/>
      <p:bldP spid="82968" grpId="0" animBg="1"/>
      <p:bldP spid="82969" grpId="0" animBg="1"/>
      <p:bldP spid="82970" grpId="0" animBg="1"/>
      <p:bldP spid="82971" grpId="0" animBg="1"/>
      <p:bldP spid="82972" grpId="0" animBg="1"/>
      <p:bldP spid="82973" grpId="0" animBg="1"/>
      <p:bldP spid="82974" grpId="0" autoUpdateAnimBg="0"/>
      <p:bldP spid="82975" grpId="0" autoUpdateAnimBg="0"/>
      <p:bldP spid="82984" grpId="0" autoUpdateAnimBg="0"/>
      <p:bldP spid="82989" grpId="0" animBg="1"/>
      <p:bldP spid="82990" grpId="0" autoUpdateAnimBg="0"/>
      <p:bldP spid="82991" grpId="0" autoUpdateAnimBg="0"/>
      <p:bldP spid="82992" grpId="0"/>
      <p:bldP spid="8299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5" name="Text Box 4">
            <a:hlinkClick r:id="rId3"/>
          </p:cNvPr>
          <p:cNvSpPr txBox="1">
            <a:spLocks noChangeArrowheads="1"/>
          </p:cNvSpPr>
          <p:nvPr/>
        </p:nvSpPr>
        <p:spPr bwMode="auto">
          <a:xfrm>
            <a:off x="1331913" y="476250"/>
            <a:ext cx="5903912" cy="519113"/>
          </a:xfrm>
          <a:prstGeom prst="rect">
            <a:avLst/>
          </a:prstGeom>
          <a:noFill/>
          <a:ln w="9525">
            <a:noFill/>
            <a:miter lim="800000"/>
            <a:headEnd/>
            <a:tailEnd/>
          </a:ln>
        </p:spPr>
        <p:txBody>
          <a:bodyPr>
            <a:spAutoFit/>
          </a:bodyPr>
          <a:lstStyle/>
          <a:p>
            <a:pPr algn="l">
              <a:spcBef>
                <a:spcPct val="50000"/>
              </a:spcBef>
            </a:pPr>
            <a:r>
              <a:rPr lang="en-US" altLang="zh-CN" sz="2800" b="1">
                <a:solidFill>
                  <a:schemeClr val="accent2"/>
                </a:solidFill>
                <a:latin typeface="Times New Roman" pitchFamily="18" charset="0"/>
              </a:rPr>
              <a:t>§11.5    </a:t>
            </a:r>
            <a:r>
              <a:rPr lang="zh-CN" altLang="en-US" sz="2800" b="1">
                <a:solidFill>
                  <a:schemeClr val="accent2"/>
                </a:solidFill>
                <a:latin typeface="黑体" pitchFamily="49" charset="-122"/>
                <a:ea typeface="黑体" pitchFamily="49" charset="-122"/>
              </a:rPr>
              <a:t>麦克斯韦电磁场理论简介</a:t>
            </a:r>
          </a:p>
        </p:txBody>
      </p:sp>
      <p:sp>
        <p:nvSpPr>
          <p:cNvPr id="8197" name="Text Box 5"/>
          <p:cNvSpPr txBox="1">
            <a:spLocks noChangeArrowheads="1"/>
          </p:cNvSpPr>
          <p:nvPr/>
        </p:nvSpPr>
        <p:spPr bwMode="auto">
          <a:xfrm>
            <a:off x="107950" y="1100138"/>
            <a:ext cx="3889375" cy="457200"/>
          </a:xfrm>
          <a:prstGeom prst="rect">
            <a:avLst/>
          </a:prstGeom>
          <a:noFill/>
          <a:ln w="9525">
            <a:noFill/>
            <a:miter lim="800000"/>
            <a:headEnd/>
            <a:tailEnd/>
          </a:ln>
        </p:spPr>
        <p:txBody>
          <a:bodyPr>
            <a:spAutoFit/>
          </a:bodyPr>
          <a:lstStyle/>
          <a:p>
            <a:pPr algn="l"/>
            <a:r>
              <a:rPr kumimoji="1" lang="en-US" altLang="zh-CN" sz="2400" b="1">
                <a:solidFill>
                  <a:srgbClr val="0000FF"/>
                </a:solidFill>
                <a:latin typeface="Times New Roman" pitchFamily="18" charset="0"/>
              </a:rPr>
              <a:t>11.5.1   </a:t>
            </a:r>
            <a:r>
              <a:rPr kumimoji="1" lang="zh-CN" altLang="en-US" sz="2400" b="1">
                <a:solidFill>
                  <a:srgbClr val="0000FF"/>
                </a:solidFill>
                <a:latin typeface="Times New Roman" pitchFamily="18" charset="0"/>
              </a:rPr>
              <a:t>位移电流假设</a:t>
            </a:r>
          </a:p>
        </p:txBody>
      </p:sp>
      <p:sp>
        <p:nvSpPr>
          <p:cNvPr id="8232" name="Text Box 40"/>
          <p:cNvSpPr txBox="1">
            <a:spLocks noChangeArrowheads="1"/>
          </p:cNvSpPr>
          <p:nvPr/>
        </p:nvSpPr>
        <p:spPr bwMode="auto">
          <a:xfrm>
            <a:off x="179388" y="1608138"/>
            <a:ext cx="3568700" cy="457200"/>
          </a:xfrm>
          <a:prstGeom prst="rect">
            <a:avLst/>
          </a:prstGeom>
          <a:noFill/>
          <a:ln w="9525">
            <a:noFill/>
            <a:miter lim="800000"/>
            <a:headEnd/>
            <a:tailEnd/>
          </a:ln>
        </p:spPr>
        <p:txBody>
          <a:bodyPr>
            <a:spAutoFit/>
          </a:bodyPr>
          <a:lstStyle/>
          <a:p>
            <a:pPr algn="l"/>
            <a:r>
              <a:rPr kumimoji="1" lang="en-US" altLang="zh-CN" sz="2400" b="1">
                <a:solidFill>
                  <a:srgbClr val="FF0000"/>
                </a:solidFill>
                <a:latin typeface="Times New Roman" pitchFamily="18" charset="0"/>
                <a:ea typeface="楷体_GB2312" pitchFamily="49" charset="-122"/>
              </a:rPr>
              <a:t>1</a:t>
            </a:r>
            <a:r>
              <a:rPr kumimoji="1" lang="zh-CN" altLang="en-US" sz="2400" b="1">
                <a:solidFill>
                  <a:srgbClr val="FF0000"/>
                </a:solidFill>
                <a:latin typeface="Times New Roman" pitchFamily="18" charset="0"/>
                <a:ea typeface="楷体_GB2312" pitchFamily="49" charset="-122"/>
              </a:rPr>
              <a:t>、问题的提出</a:t>
            </a:r>
          </a:p>
        </p:txBody>
      </p:sp>
      <p:graphicFrame>
        <p:nvGraphicFramePr>
          <p:cNvPr id="8233" name="Object 41"/>
          <p:cNvGraphicFramePr>
            <a:graphicFrameLocks noChangeAspect="1"/>
          </p:cNvGraphicFramePr>
          <p:nvPr/>
        </p:nvGraphicFramePr>
        <p:xfrm>
          <a:off x="2655888" y="2155825"/>
          <a:ext cx="1371600" cy="546100"/>
        </p:xfrm>
        <a:graphic>
          <a:graphicData uri="http://schemas.openxmlformats.org/presentationml/2006/ole">
            <p:oleObj spid="_x0000_s30722" name="公式" r:id="rId4" imgW="723956" imgH="266760" progId="Equation.3">
              <p:embed/>
            </p:oleObj>
          </a:graphicData>
        </a:graphic>
      </p:graphicFrame>
      <p:graphicFrame>
        <p:nvGraphicFramePr>
          <p:cNvPr id="8234" name="Object 42"/>
          <p:cNvGraphicFramePr>
            <a:graphicFrameLocks noChangeAspect="1"/>
          </p:cNvGraphicFramePr>
          <p:nvPr/>
        </p:nvGraphicFramePr>
        <p:xfrm>
          <a:off x="6199188" y="1271588"/>
          <a:ext cx="347662" cy="373062"/>
        </p:xfrm>
        <a:graphic>
          <a:graphicData uri="http://schemas.openxmlformats.org/presentationml/2006/ole">
            <p:oleObj spid="_x0000_s30723" name="Equation" r:id="rId5" imgW="104812" imgH="123930" progId="Equation.3">
              <p:embed/>
            </p:oleObj>
          </a:graphicData>
        </a:graphic>
      </p:graphicFrame>
      <p:grpSp>
        <p:nvGrpSpPr>
          <p:cNvPr id="2" name="Group 43"/>
          <p:cNvGrpSpPr>
            <a:grpSpLocks/>
          </p:cNvGrpSpPr>
          <p:nvPr/>
        </p:nvGrpSpPr>
        <p:grpSpPr bwMode="auto">
          <a:xfrm>
            <a:off x="5324475" y="1785938"/>
            <a:ext cx="3101975" cy="1314450"/>
            <a:chOff x="3024" y="576"/>
            <a:chExt cx="2496" cy="1104"/>
          </a:xfrm>
        </p:grpSpPr>
        <p:sp>
          <p:nvSpPr>
            <p:cNvPr id="30767" name="Line 44"/>
            <p:cNvSpPr>
              <a:spLocks noChangeShapeType="1"/>
            </p:cNvSpPr>
            <p:nvPr/>
          </p:nvSpPr>
          <p:spPr bwMode="auto">
            <a:xfrm>
              <a:off x="3024" y="576"/>
              <a:ext cx="1056" cy="0"/>
            </a:xfrm>
            <a:prstGeom prst="line">
              <a:avLst/>
            </a:prstGeom>
            <a:noFill/>
            <a:ln w="22225">
              <a:solidFill>
                <a:srgbClr val="0000FF"/>
              </a:solidFill>
              <a:round/>
              <a:headEnd/>
              <a:tailEnd/>
            </a:ln>
          </p:spPr>
          <p:txBody>
            <a:bodyPr/>
            <a:lstStyle/>
            <a:p>
              <a:endParaRPr lang="zh-CN" altLang="en-US"/>
            </a:p>
          </p:txBody>
        </p:sp>
        <p:sp>
          <p:nvSpPr>
            <p:cNvPr id="30768" name="Line 45"/>
            <p:cNvSpPr>
              <a:spLocks noChangeShapeType="1"/>
            </p:cNvSpPr>
            <p:nvPr/>
          </p:nvSpPr>
          <p:spPr bwMode="auto">
            <a:xfrm>
              <a:off x="3024" y="576"/>
              <a:ext cx="0" cy="912"/>
            </a:xfrm>
            <a:prstGeom prst="line">
              <a:avLst/>
            </a:prstGeom>
            <a:noFill/>
            <a:ln w="22225">
              <a:solidFill>
                <a:srgbClr val="0000FF"/>
              </a:solidFill>
              <a:round/>
              <a:headEnd/>
              <a:tailEnd/>
            </a:ln>
          </p:spPr>
          <p:txBody>
            <a:bodyPr/>
            <a:lstStyle/>
            <a:p>
              <a:endParaRPr lang="zh-CN" altLang="en-US"/>
            </a:p>
          </p:txBody>
        </p:sp>
        <p:sp>
          <p:nvSpPr>
            <p:cNvPr id="30769" name="Line 46"/>
            <p:cNvSpPr>
              <a:spLocks noChangeShapeType="1"/>
            </p:cNvSpPr>
            <p:nvPr/>
          </p:nvSpPr>
          <p:spPr bwMode="auto">
            <a:xfrm>
              <a:off x="3024" y="1488"/>
              <a:ext cx="336" cy="0"/>
            </a:xfrm>
            <a:prstGeom prst="line">
              <a:avLst/>
            </a:prstGeom>
            <a:noFill/>
            <a:ln w="22225">
              <a:solidFill>
                <a:srgbClr val="0000FF"/>
              </a:solidFill>
              <a:round/>
              <a:headEnd/>
              <a:tailEnd/>
            </a:ln>
          </p:spPr>
          <p:txBody>
            <a:bodyPr/>
            <a:lstStyle/>
            <a:p>
              <a:endParaRPr lang="zh-CN" altLang="en-US"/>
            </a:p>
          </p:txBody>
        </p:sp>
        <p:sp>
          <p:nvSpPr>
            <p:cNvPr id="30770" name="Rectangle 47"/>
            <p:cNvSpPr>
              <a:spLocks noChangeArrowheads="1"/>
            </p:cNvSpPr>
            <p:nvPr/>
          </p:nvSpPr>
          <p:spPr bwMode="auto">
            <a:xfrm>
              <a:off x="3360" y="1392"/>
              <a:ext cx="672" cy="144"/>
            </a:xfrm>
            <a:prstGeom prst="rect">
              <a:avLst/>
            </a:prstGeom>
            <a:solidFill>
              <a:srgbClr val="C0C0C0"/>
            </a:solidFill>
            <a:ln w="9525">
              <a:solidFill>
                <a:schemeClr val="tx1"/>
              </a:solidFill>
              <a:miter lim="800000"/>
              <a:headEnd/>
              <a:tailEnd/>
            </a:ln>
          </p:spPr>
          <p:txBody>
            <a:bodyPr wrap="none" anchor="ctr"/>
            <a:lstStyle/>
            <a:p>
              <a:endParaRPr lang="zh-CN" altLang="en-US"/>
            </a:p>
          </p:txBody>
        </p:sp>
        <p:sp>
          <p:nvSpPr>
            <p:cNvPr id="30771" name="Line 48"/>
            <p:cNvSpPr>
              <a:spLocks noChangeShapeType="1"/>
            </p:cNvSpPr>
            <p:nvPr/>
          </p:nvSpPr>
          <p:spPr bwMode="auto">
            <a:xfrm>
              <a:off x="4032" y="1488"/>
              <a:ext cx="816" cy="0"/>
            </a:xfrm>
            <a:prstGeom prst="line">
              <a:avLst/>
            </a:prstGeom>
            <a:noFill/>
            <a:ln w="22225">
              <a:solidFill>
                <a:srgbClr val="0000FF"/>
              </a:solidFill>
              <a:round/>
              <a:headEnd/>
              <a:tailEnd/>
            </a:ln>
          </p:spPr>
          <p:txBody>
            <a:bodyPr/>
            <a:lstStyle/>
            <a:p>
              <a:endParaRPr lang="zh-CN" altLang="en-US"/>
            </a:p>
          </p:txBody>
        </p:sp>
        <p:sp>
          <p:nvSpPr>
            <p:cNvPr id="30772" name="Line 49"/>
            <p:cNvSpPr>
              <a:spLocks noChangeShapeType="1"/>
            </p:cNvSpPr>
            <p:nvPr/>
          </p:nvSpPr>
          <p:spPr bwMode="auto">
            <a:xfrm>
              <a:off x="4848" y="1296"/>
              <a:ext cx="0" cy="384"/>
            </a:xfrm>
            <a:prstGeom prst="line">
              <a:avLst/>
            </a:prstGeom>
            <a:noFill/>
            <a:ln w="22225">
              <a:solidFill>
                <a:srgbClr val="008000"/>
              </a:solidFill>
              <a:round/>
              <a:headEnd/>
              <a:tailEnd/>
            </a:ln>
          </p:spPr>
          <p:txBody>
            <a:bodyPr/>
            <a:lstStyle/>
            <a:p>
              <a:endParaRPr lang="zh-CN" altLang="en-US"/>
            </a:p>
          </p:txBody>
        </p:sp>
        <p:sp>
          <p:nvSpPr>
            <p:cNvPr id="30773" name="Line 50"/>
            <p:cNvSpPr>
              <a:spLocks noChangeShapeType="1"/>
            </p:cNvSpPr>
            <p:nvPr/>
          </p:nvSpPr>
          <p:spPr bwMode="auto">
            <a:xfrm>
              <a:off x="4992" y="1392"/>
              <a:ext cx="0" cy="240"/>
            </a:xfrm>
            <a:prstGeom prst="line">
              <a:avLst/>
            </a:prstGeom>
            <a:noFill/>
            <a:ln w="22225">
              <a:solidFill>
                <a:srgbClr val="008000"/>
              </a:solidFill>
              <a:round/>
              <a:headEnd/>
              <a:tailEnd/>
            </a:ln>
          </p:spPr>
          <p:txBody>
            <a:bodyPr/>
            <a:lstStyle/>
            <a:p>
              <a:endParaRPr lang="zh-CN" altLang="en-US"/>
            </a:p>
          </p:txBody>
        </p:sp>
        <p:sp>
          <p:nvSpPr>
            <p:cNvPr id="30774" name="Line 51"/>
            <p:cNvSpPr>
              <a:spLocks noChangeShapeType="1"/>
            </p:cNvSpPr>
            <p:nvPr/>
          </p:nvSpPr>
          <p:spPr bwMode="auto">
            <a:xfrm>
              <a:off x="4992" y="1488"/>
              <a:ext cx="528" cy="0"/>
            </a:xfrm>
            <a:prstGeom prst="line">
              <a:avLst/>
            </a:prstGeom>
            <a:noFill/>
            <a:ln w="22225">
              <a:solidFill>
                <a:srgbClr val="0000FF"/>
              </a:solidFill>
              <a:round/>
              <a:headEnd/>
              <a:tailEnd/>
            </a:ln>
          </p:spPr>
          <p:txBody>
            <a:bodyPr/>
            <a:lstStyle/>
            <a:p>
              <a:endParaRPr lang="zh-CN" altLang="en-US"/>
            </a:p>
          </p:txBody>
        </p:sp>
        <p:sp>
          <p:nvSpPr>
            <p:cNvPr id="30775" name="Line 52"/>
            <p:cNvSpPr>
              <a:spLocks noChangeShapeType="1"/>
            </p:cNvSpPr>
            <p:nvPr/>
          </p:nvSpPr>
          <p:spPr bwMode="auto">
            <a:xfrm>
              <a:off x="5520" y="576"/>
              <a:ext cx="0" cy="912"/>
            </a:xfrm>
            <a:prstGeom prst="line">
              <a:avLst/>
            </a:prstGeom>
            <a:noFill/>
            <a:ln w="22225">
              <a:solidFill>
                <a:srgbClr val="0000FF"/>
              </a:solidFill>
              <a:round/>
              <a:headEnd/>
              <a:tailEnd/>
            </a:ln>
          </p:spPr>
          <p:txBody>
            <a:bodyPr/>
            <a:lstStyle/>
            <a:p>
              <a:endParaRPr lang="zh-CN" altLang="en-US"/>
            </a:p>
          </p:txBody>
        </p:sp>
        <p:sp>
          <p:nvSpPr>
            <p:cNvPr id="30776" name="Line 53"/>
            <p:cNvSpPr>
              <a:spLocks noChangeShapeType="1"/>
            </p:cNvSpPr>
            <p:nvPr/>
          </p:nvSpPr>
          <p:spPr bwMode="auto">
            <a:xfrm flipV="1">
              <a:off x="3120" y="768"/>
              <a:ext cx="0" cy="432"/>
            </a:xfrm>
            <a:prstGeom prst="line">
              <a:avLst/>
            </a:prstGeom>
            <a:noFill/>
            <a:ln w="22225">
              <a:solidFill>
                <a:srgbClr val="FF0000"/>
              </a:solidFill>
              <a:round/>
              <a:headEnd/>
              <a:tailEnd type="triangle" w="med" len="med"/>
            </a:ln>
          </p:spPr>
          <p:txBody>
            <a:bodyPr/>
            <a:lstStyle/>
            <a:p>
              <a:endParaRPr lang="zh-CN" altLang="en-US"/>
            </a:p>
          </p:txBody>
        </p:sp>
        <p:graphicFrame>
          <p:nvGraphicFramePr>
            <p:cNvPr id="30732" name="Object 54"/>
            <p:cNvGraphicFramePr>
              <a:graphicFrameLocks noChangeAspect="1"/>
            </p:cNvGraphicFramePr>
            <p:nvPr/>
          </p:nvGraphicFramePr>
          <p:xfrm>
            <a:off x="3216" y="816"/>
            <a:ext cx="254" cy="301"/>
          </p:xfrm>
          <a:graphic>
            <a:graphicData uri="http://schemas.openxmlformats.org/presentationml/2006/ole">
              <p:oleObj spid="_x0000_s30732" name="Equation" r:id="rId6" imgW="85632" imgH="123930" progId="Equation.3">
                <p:embed/>
              </p:oleObj>
            </a:graphicData>
          </a:graphic>
        </p:graphicFrame>
        <p:graphicFrame>
          <p:nvGraphicFramePr>
            <p:cNvPr id="30733" name="Object 55"/>
            <p:cNvGraphicFramePr>
              <a:graphicFrameLocks noChangeAspect="1"/>
            </p:cNvGraphicFramePr>
            <p:nvPr/>
          </p:nvGraphicFramePr>
          <p:xfrm>
            <a:off x="3552" y="1104"/>
            <a:ext cx="305" cy="301"/>
          </p:xfrm>
          <a:graphic>
            <a:graphicData uri="http://schemas.openxmlformats.org/presentationml/2006/ole">
              <p:oleObj spid="_x0000_s30733" name="Equation" r:id="rId7" imgW="114266" imgH="123930" progId="Equation.3">
                <p:embed/>
              </p:oleObj>
            </a:graphicData>
          </a:graphic>
        </p:graphicFrame>
        <p:graphicFrame>
          <p:nvGraphicFramePr>
            <p:cNvPr id="30734" name="Object 56"/>
            <p:cNvGraphicFramePr>
              <a:graphicFrameLocks noChangeAspect="1"/>
            </p:cNvGraphicFramePr>
            <p:nvPr/>
          </p:nvGraphicFramePr>
          <p:xfrm>
            <a:off x="4800" y="1008"/>
            <a:ext cx="254" cy="255"/>
          </p:xfrm>
          <a:graphic>
            <a:graphicData uri="http://schemas.openxmlformats.org/presentationml/2006/ole">
              <p:oleObj spid="_x0000_s30734" name="Equation" r:id="rId8" imgW="85632" imgH="104760" progId="Equation.3">
                <p:embed/>
              </p:oleObj>
            </a:graphicData>
          </a:graphic>
        </p:graphicFrame>
        <p:sp>
          <p:nvSpPr>
            <p:cNvPr id="30777" name="Line 57"/>
            <p:cNvSpPr>
              <a:spLocks noChangeShapeType="1"/>
            </p:cNvSpPr>
            <p:nvPr/>
          </p:nvSpPr>
          <p:spPr bwMode="auto">
            <a:xfrm>
              <a:off x="4080" y="576"/>
              <a:ext cx="1440" cy="0"/>
            </a:xfrm>
            <a:prstGeom prst="line">
              <a:avLst/>
            </a:prstGeom>
            <a:noFill/>
            <a:ln w="22225">
              <a:solidFill>
                <a:srgbClr val="0000FF"/>
              </a:solidFill>
              <a:round/>
              <a:headEnd/>
              <a:tailEnd/>
            </a:ln>
          </p:spPr>
          <p:txBody>
            <a:bodyPr/>
            <a:lstStyle/>
            <a:p>
              <a:endParaRPr lang="zh-CN" altLang="en-US"/>
            </a:p>
          </p:txBody>
        </p:sp>
      </p:grpSp>
      <p:sp>
        <p:nvSpPr>
          <p:cNvPr id="8250" name="Oval 58"/>
          <p:cNvSpPr>
            <a:spLocks noChangeArrowheads="1"/>
          </p:cNvSpPr>
          <p:nvPr/>
        </p:nvSpPr>
        <p:spPr bwMode="auto">
          <a:xfrm>
            <a:off x="6119813" y="1176338"/>
            <a:ext cx="477837" cy="971550"/>
          </a:xfrm>
          <a:prstGeom prst="ellipse">
            <a:avLst/>
          </a:prstGeom>
          <a:noFill/>
          <a:ln w="9525">
            <a:solidFill>
              <a:schemeClr val="tx1"/>
            </a:solidFill>
            <a:round/>
            <a:headEnd/>
            <a:tailEnd/>
          </a:ln>
        </p:spPr>
        <p:txBody>
          <a:bodyPr wrap="none" anchor="ctr"/>
          <a:lstStyle/>
          <a:p>
            <a:endParaRPr lang="zh-CN" altLang="en-US"/>
          </a:p>
        </p:txBody>
      </p:sp>
      <p:sp>
        <p:nvSpPr>
          <p:cNvPr id="8251" name="Freeform 59"/>
          <p:cNvSpPr>
            <a:spLocks/>
          </p:cNvSpPr>
          <p:nvPr/>
        </p:nvSpPr>
        <p:spPr bwMode="auto">
          <a:xfrm>
            <a:off x="5665788" y="3362325"/>
            <a:ext cx="725487" cy="908050"/>
          </a:xfrm>
          <a:custGeom>
            <a:avLst/>
            <a:gdLst>
              <a:gd name="T0" fmla="*/ 2147483647 w 704"/>
              <a:gd name="T1" fmla="*/ 2147483647 h 840"/>
              <a:gd name="T2" fmla="*/ 2147483647 w 704"/>
              <a:gd name="T3" fmla="*/ 2147483647 h 840"/>
              <a:gd name="T4" fmla="*/ 2147483647 w 704"/>
              <a:gd name="T5" fmla="*/ 2147483647 h 840"/>
              <a:gd name="T6" fmla="*/ 2147483647 w 704"/>
              <a:gd name="T7" fmla="*/ 2147483647 h 840"/>
              <a:gd name="T8" fmla="*/ 2147483647 w 704"/>
              <a:gd name="T9" fmla="*/ 2147483647 h 840"/>
              <a:gd name="T10" fmla="*/ 2147483647 w 704"/>
              <a:gd name="T11" fmla="*/ 2147483647 h 840"/>
              <a:gd name="T12" fmla="*/ 0 60000 65536"/>
              <a:gd name="T13" fmla="*/ 0 60000 65536"/>
              <a:gd name="T14" fmla="*/ 0 60000 65536"/>
              <a:gd name="T15" fmla="*/ 0 60000 65536"/>
              <a:gd name="T16" fmla="*/ 0 60000 65536"/>
              <a:gd name="T17" fmla="*/ 0 60000 65536"/>
              <a:gd name="T18" fmla="*/ 0 w 704"/>
              <a:gd name="T19" fmla="*/ 0 h 840"/>
              <a:gd name="T20" fmla="*/ 704 w 704"/>
              <a:gd name="T21" fmla="*/ 840 h 840"/>
            </a:gdLst>
            <a:ahLst/>
            <a:cxnLst>
              <a:cxn ang="T12">
                <a:pos x="T0" y="T1"/>
              </a:cxn>
              <a:cxn ang="T13">
                <a:pos x="T2" y="T3"/>
              </a:cxn>
              <a:cxn ang="T14">
                <a:pos x="T4" y="T5"/>
              </a:cxn>
              <a:cxn ang="T15">
                <a:pos x="T6" y="T7"/>
              </a:cxn>
              <a:cxn ang="T16">
                <a:pos x="T8" y="T9"/>
              </a:cxn>
              <a:cxn ang="T17">
                <a:pos x="T10" y="T11"/>
              </a:cxn>
            </a:cxnLst>
            <a:rect l="T18" t="T19" r="T20" b="T21"/>
            <a:pathLst>
              <a:path w="704" h="840">
                <a:moveTo>
                  <a:pt x="704" y="24"/>
                </a:moveTo>
                <a:cubicBezTo>
                  <a:pt x="584" y="12"/>
                  <a:pt x="464" y="0"/>
                  <a:pt x="368" y="24"/>
                </a:cubicBezTo>
                <a:cubicBezTo>
                  <a:pt x="272" y="48"/>
                  <a:pt x="184" y="64"/>
                  <a:pt x="128" y="168"/>
                </a:cubicBezTo>
                <a:cubicBezTo>
                  <a:pt x="72" y="272"/>
                  <a:pt x="0" y="544"/>
                  <a:pt x="32" y="648"/>
                </a:cubicBezTo>
                <a:cubicBezTo>
                  <a:pt x="64" y="752"/>
                  <a:pt x="208" y="760"/>
                  <a:pt x="320" y="792"/>
                </a:cubicBezTo>
                <a:cubicBezTo>
                  <a:pt x="432" y="824"/>
                  <a:pt x="568" y="832"/>
                  <a:pt x="704" y="840"/>
                </a:cubicBezTo>
              </a:path>
            </a:pathLst>
          </a:custGeom>
          <a:noFill/>
          <a:ln w="9525">
            <a:solidFill>
              <a:schemeClr val="tx1"/>
            </a:solidFill>
            <a:prstDash val="dash"/>
            <a:round/>
            <a:headEnd/>
            <a:tailEnd/>
          </a:ln>
        </p:spPr>
        <p:txBody>
          <a:bodyPr/>
          <a:lstStyle/>
          <a:p>
            <a:endParaRPr lang="zh-CN" altLang="en-US"/>
          </a:p>
        </p:txBody>
      </p:sp>
      <p:sp>
        <p:nvSpPr>
          <p:cNvPr id="8252" name="Freeform 60"/>
          <p:cNvSpPr>
            <a:spLocks/>
          </p:cNvSpPr>
          <p:nvPr/>
        </p:nvSpPr>
        <p:spPr bwMode="auto">
          <a:xfrm>
            <a:off x="6216650" y="3286125"/>
            <a:ext cx="1074738" cy="1030288"/>
          </a:xfrm>
          <a:custGeom>
            <a:avLst/>
            <a:gdLst>
              <a:gd name="T0" fmla="*/ 2147483647 w 920"/>
              <a:gd name="T1" fmla="*/ 2147483647 h 1016"/>
              <a:gd name="T2" fmla="*/ 2147483647 w 920"/>
              <a:gd name="T3" fmla="*/ 2147483647 h 1016"/>
              <a:gd name="T4" fmla="*/ 2147483647 w 920"/>
              <a:gd name="T5" fmla="*/ 2147483647 h 1016"/>
              <a:gd name="T6" fmla="*/ 2147483647 w 920"/>
              <a:gd name="T7" fmla="*/ 2147483647 h 1016"/>
              <a:gd name="T8" fmla="*/ 2147483647 w 920"/>
              <a:gd name="T9" fmla="*/ 2147483647 h 1016"/>
              <a:gd name="T10" fmla="*/ 2147483647 w 920"/>
              <a:gd name="T11" fmla="*/ 2147483647 h 1016"/>
              <a:gd name="T12" fmla="*/ 0 w 920"/>
              <a:gd name="T13" fmla="*/ 2147483647 h 1016"/>
              <a:gd name="T14" fmla="*/ 0 60000 65536"/>
              <a:gd name="T15" fmla="*/ 0 60000 65536"/>
              <a:gd name="T16" fmla="*/ 0 60000 65536"/>
              <a:gd name="T17" fmla="*/ 0 60000 65536"/>
              <a:gd name="T18" fmla="*/ 0 60000 65536"/>
              <a:gd name="T19" fmla="*/ 0 60000 65536"/>
              <a:gd name="T20" fmla="*/ 0 60000 65536"/>
              <a:gd name="T21" fmla="*/ 0 w 920"/>
              <a:gd name="T22" fmla="*/ 0 h 1016"/>
              <a:gd name="T23" fmla="*/ 920 w 920"/>
              <a:gd name="T24" fmla="*/ 1016 h 10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20" h="1016">
                <a:moveTo>
                  <a:pt x="48" y="80"/>
                </a:moveTo>
                <a:cubicBezTo>
                  <a:pt x="140" y="80"/>
                  <a:pt x="232" y="80"/>
                  <a:pt x="336" y="80"/>
                </a:cubicBezTo>
                <a:cubicBezTo>
                  <a:pt x="440" y="80"/>
                  <a:pt x="576" y="0"/>
                  <a:pt x="672" y="80"/>
                </a:cubicBezTo>
                <a:cubicBezTo>
                  <a:pt x="768" y="160"/>
                  <a:pt x="920" y="416"/>
                  <a:pt x="912" y="560"/>
                </a:cubicBezTo>
                <a:cubicBezTo>
                  <a:pt x="904" y="704"/>
                  <a:pt x="728" y="872"/>
                  <a:pt x="624" y="944"/>
                </a:cubicBezTo>
                <a:cubicBezTo>
                  <a:pt x="520" y="1016"/>
                  <a:pt x="392" y="1000"/>
                  <a:pt x="288" y="992"/>
                </a:cubicBezTo>
                <a:cubicBezTo>
                  <a:pt x="184" y="984"/>
                  <a:pt x="92" y="940"/>
                  <a:pt x="0" y="896"/>
                </a:cubicBezTo>
              </a:path>
            </a:pathLst>
          </a:custGeom>
          <a:noFill/>
          <a:ln w="9525">
            <a:solidFill>
              <a:srgbClr val="0000FF"/>
            </a:solidFill>
            <a:prstDash val="dash"/>
            <a:round/>
            <a:headEnd/>
            <a:tailEnd/>
          </a:ln>
        </p:spPr>
        <p:txBody>
          <a:bodyPr/>
          <a:lstStyle/>
          <a:p>
            <a:endParaRPr lang="zh-CN" altLang="en-US"/>
          </a:p>
        </p:txBody>
      </p:sp>
      <p:graphicFrame>
        <p:nvGraphicFramePr>
          <p:cNvPr id="8253" name="Object 61"/>
          <p:cNvGraphicFramePr>
            <a:graphicFrameLocks/>
          </p:cNvGraphicFramePr>
          <p:nvPr/>
        </p:nvGraphicFramePr>
        <p:xfrm>
          <a:off x="5722938" y="3468688"/>
          <a:ext cx="381000" cy="431800"/>
        </p:xfrm>
        <a:graphic>
          <a:graphicData uri="http://schemas.openxmlformats.org/presentationml/2006/ole">
            <p:oleObj spid="_x0000_s30724" name="公式" r:id="rId9" imgW="152355" imgH="180900" progId="Equation.3">
              <p:embed/>
            </p:oleObj>
          </a:graphicData>
        </a:graphic>
      </p:graphicFrame>
      <p:graphicFrame>
        <p:nvGraphicFramePr>
          <p:cNvPr id="8254" name="Object 62"/>
          <p:cNvGraphicFramePr>
            <a:graphicFrameLocks/>
          </p:cNvGraphicFramePr>
          <p:nvPr/>
        </p:nvGraphicFramePr>
        <p:xfrm>
          <a:off x="6780213" y="3467100"/>
          <a:ext cx="381000" cy="431800"/>
        </p:xfrm>
        <a:graphic>
          <a:graphicData uri="http://schemas.openxmlformats.org/presentationml/2006/ole">
            <p:oleObj spid="_x0000_s30725" name="公式" r:id="rId10" imgW="152355" imgH="180900" progId="Equation.3">
              <p:embed/>
            </p:oleObj>
          </a:graphicData>
        </a:graphic>
      </p:graphicFrame>
      <p:sp>
        <p:nvSpPr>
          <p:cNvPr id="8255" name="Oval 63"/>
          <p:cNvSpPr>
            <a:spLocks noChangeArrowheads="1"/>
          </p:cNvSpPr>
          <p:nvPr/>
        </p:nvSpPr>
        <p:spPr bwMode="auto">
          <a:xfrm>
            <a:off x="6137275" y="3382963"/>
            <a:ext cx="477838" cy="842962"/>
          </a:xfrm>
          <a:prstGeom prst="ellipse">
            <a:avLst/>
          </a:prstGeom>
          <a:solidFill>
            <a:srgbClr val="FFFF99"/>
          </a:solidFill>
          <a:ln w="9525">
            <a:solidFill>
              <a:schemeClr val="tx1"/>
            </a:solidFill>
            <a:round/>
            <a:headEnd/>
            <a:tailEnd/>
          </a:ln>
        </p:spPr>
        <p:txBody>
          <a:bodyPr wrap="none" anchor="ctr"/>
          <a:lstStyle/>
          <a:p>
            <a:endParaRPr lang="zh-CN" altLang="en-US"/>
          </a:p>
        </p:txBody>
      </p:sp>
      <p:graphicFrame>
        <p:nvGraphicFramePr>
          <p:cNvPr id="8256" name="Object 64"/>
          <p:cNvGraphicFramePr>
            <a:graphicFrameLocks noChangeAspect="1"/>
          </p:cNvGraphicFramePr>
          <p:nvPr/>
        </p:nvGraphicFramePr>
        <p:xfrm>
          <a:off x="6223000" y="3492500"/>
          <a:ext cx="347663" cy="373063"/>
        </p:xfrm>
        <a:graphic>
          <a:graphicData uri="http://schemas.openxmlformats.org/presentationml/2006/ole">
            <p:oleObj spid="_x0000_s30726" name="Equation" r:id="rId11" imgW="104812" imgH="123930" progId="Equation.3">
              <p:embed/>
            </p:oleObj>
          </a:graphicData>
        </a:graphic>
      </p:graphicFrame>
      <p:grpSp>
        <p:nvGrpSpPr>
          <p:cNvPr id="3" name="Group 65"/>
          <p:cNvGrpSpPr>
            <a:grpSpLocks/>
          </p:cNvGrpSpPr>
          <p:nvPr/>
        </p:nvGrpSpPr>
        <p:grpSpPr bwMode="auto">
          <a:xfrm>
            <a:off x="5302250" y="3865563"/>
            <a:ext cx="3103563" cy="1076325"/>
            <a:chOff x="2976" y="2352"/>
            <a:chExt cx="2496" cy="1104"/>
          </a:xfrm>
        </p:grpSpPr>
        <p:sp>
          <p:nvSpPr>
            <p:cNvPr id="30756" name="Line 66"/>
            <p:cNvSpPr>
              <a:spLocks noChangeShapeType="1"/>
            </p:cNvSpPr>
            <p:nvPr/>
          </p:nvSpPr>
          <p:spPr bwMode="auto">
            <a:xfrm flipV="1">
              <a:off x="3072" y="2592"/>
              <a:ext cx="0" cy="432"/>
            </a:xfrm>
            <a:prstGeom prst="line">
              <a:avLst/>
            </a:prstGeom>
            <a:noFill/>
            <a:ln w="22225">
              <a:solidFill>
                <a:srgbClr val="FF0000"/>
              </a:solidFill>
              <a:round/>
              <a:headEnd/>
              <a:tailEnd type="triangle" w="med" len="med"/>
            </a:ln>
          </p:spPr>
          <p:txBody>
            <a:bodyPr/>
            <a:lstStyle/>
            <a:p>
              <a:endParaRPr lang="zh-CN" altLang="en-US"/>
            </a:p>
          </p:txBody>
        </p:sp>
        <p:graphicFrame>
          <p:nvGraphicFramePr>
            <p:cNvPr id="30729" name="Object 67"/>
            <p:cNvGraphicFramePr>
              <a:graphicFrameLocks noChangeAspect="1"/>
            </p:cNvGraphicFramePr>
            <p:nvPr/>
          </p:nvGraphicFramePr>
          <p:xfrm>
            <a:off x="3120" y="2736"/>
            <a:ext cx="254" cy="301"/>
          </p:xfrm>
          <a:graphic>
            <a:graphicData uri="http://schemas.openxmlformats.org/presentationml/2006/ole">
              <p:oleObj spid="_x0000_s30729" name="Equation" r:id="rId12" imgW="85632" imgH="123930" progId="Equation.3">
                <p:embed/>
              </p:oleObj>
            </a:graphicData>
          </a:graphic>
        </p:graphicFrame>
        <p:sp>
          <p:nvSpPr>
            <p:cNvPr id="30757" name="Line 68"/>
            <p:cNvSpPr>
              <a:spLocks noChangeShapeType="1"/>
            </p:cNvSpPr>
            <p:nvPr/>
          </p:nvSpPr>
          <p:spPr bwMode="auto">
            <a:xfrm>
              <a:off x="2976" y="2352"/>
              <a:ext cx="1056" cy="0"/>
            </a:xfrm>
            <a:prstGeom prst="line">
              <a:avLst/>
            </a:prstGeom>
            <a:noFill/>
            <a:ln w="22225">
              <a:solidFill>
                <a:srgbClr val="0000FF"/>
              </a:solidFill>
              <a:round/>
              <a:headEnd/>
              <a:tailEnd/>
            </a:ln>
          </p:spPr>
          <p:txBody>
            <a:bodyPr/>
            <a:lstStyle/>
            <a:p>
              <a:endParaRPr lang="zh-CN" altLang="en-US"/>
            </a:p>
          </p:txBody>
        </p:sp>
        <p:sp>
          <p:nvSpPr>
            <p:cNvPr id="30758" name="Line 69"/>
            <p:cNvSpPr>
              <a:spLocks noChangeShapeType="1"/>
            </p:cNvSpPr>
            <p:nvPr/>
          </p:nvSpPr>
          <p:spPr bwMode="auto">
            <a:xfrm>
              <a:off x="2976" y="2352"/>
              <a:ext cx="0" cy="912"/>
            </a:xfrm>
            <a:prstGeom prst="line">
              <a:avLst/>
            </a:prstGeom>
            <a:noFill/>
            <a:ln w="22225">
              <a:solidFill>
                <a:srgbClr val="0000FF"/>
              </a:solidFill>
              <a:round/>
              <a:headEnd/>
              <a:tailEnd/>
            </a:ln>
          </p:spPr>
          <p:txBody>
            <a:bodyPr/>
            <a:lstStyle/>
            <a:p>
              <a:endParaRPr lang="zh-CN" altLang="en-US"/>
            </a:p>
          </p:txBody>
        </p:sp>
        <p:sp>
          <p:nvSpPr>
            <p:cNvPr id="30759" name="Line 70"/>
            <p:cNvSpPr>
              <a:spLocks noChangeShapeType="1"/>
            </p:cNvSpPr>
            <p:nvPr/>
          </p:nvSpPr>
          <p:spPr bwMode="auto">
            <a:xfrm>
              <a:off x="2976" y="3264"/>
              <a:ext cx="336" cy="0"/>
            </a:xfrm>
            <a:prstGeom prst="line">
              <a:avLst/>
            </a:prstGeom>
            <a:noFill/>
            <a:ln w="22225">
              <a:solidFill>
                <a:srgbClr val="0000FF"/>
              </a:solidFill>
              <a:round/>
              <a:headEnd/>
              <a:tailEnd/>
            </a:ln>
          </p:spPr>
          <p:txBody>
            <a:bodyPr/>
            <a:lstStyle/>
            <a:p>
              <a:endParaRPr lang="zh-CN" altLang="en-US"/>
            </a:p>
          </p:txBody>
        </p:sp>
        <p:sp>
          <p:nvSpPr>
            <p:cNvPr id="30760" name="Rectangle 71"/>
            <p:cNvSpPr>
              <a:spLocks noChangeArrowheads="1"/>
            </p:cNvSpPr>
            <p:nvPr/>
          </p:nvSpPr>
          <p:spPr bwMode="auto">
            <a:xfrm>
              <a:off x="3312" y="3168"/>
              <a:ext cx="672" cy="144"/>
            </a:xfrm>
            <a:prstGeom prst="rect">
              <a:avLst/>
            </a:prstGeom>
            <a:solidFill>
              <a:srgbClr val="C0C0C0"/>
            </a:solidFill>
            <a:ln w="9525">
              <a:solidFill>
                <a:schemeClr val="tx1"/>
              </a:solidFill>
              <a:miter lim="800000"/>
              <a:headEnd/>
              <a:tailEnd/>
            </a:ln>
          </p:spPr>
          <p:txBody>
            <a:bodyPr wrap="none" anchor="ctr"/>
            <a:lstStyle/>
            <a:p>
              <a:endParaRPr lang="zh-CN" altLang="en-US"/>
            </a:p>
          </p:txBody>
        </p:sp>
        <p:sp>
          <p:nvSpPr>
            <p:cNvPr id="30761" name="Line 72"/>
            <p:cNvSpPr>
              <a:spLocks noChangeShapeType="1"/>
            </p:cNvSpPr>
            <p:nvPr/>
          </p:nvSpPr>
          <p:spPr bwMode="auto">
            <a:xfrm>
              <a:off x="3984" y="3264"/>
              <a:ext cx="816" cy="0"/>
            </a:xfrm>
            <a:prstGeom prst="line">
              <a:avLst/>
            </a:prstGeom>
            <a:noFill/>
            <a:ln w="22225">
              <a:solidFill>
                <a:srgbClr val="0000FF"/>
              </a:solidFill>
              <a:round/>
              <a:headEnd/>
              <a:tailEnd/>
            </a:ln>
          </p:spPr>
          <p:txBody>
            <a:bodyPr/>
            <a:lstStyle/>
            <a:p>
              <a:endParaRPr lang="zh-CN" altLang="en-US"/>
            </a:p>
          </p:txBody>
        </p:sp>
        <p:sp>
          <p:nvSpPr>
            <p:cNvPr id="30762" name="Line 73"/>
            <p:cNvSpPr>
              <a:spLocks noChangeShapeType="1"/>
            </p:cNvSpPr>
            <p:nvPr/>
          </p:nvSpPr>
          <p:spPr bwMode="auto">
            <a:xfrm>
              <a:off x="4800" y="3072"/>
              <a:ext cx="0" cy="384"/>
            </a:xfrm>
            <a:prstGeom prst="line">
              <a:avLst/>
            </a:prstGeom>
            <a:noFill/>
            <a:ln w="22225">
              <a:solidFill>
                <a:srgbClr val="008000"/>
              </a:solidFill>
              <a:round/>
              <a:headEnd/>
              <a:tailEnd/>
            </a:ln>
          </p:spPr>
          <p:txBody>
            <a:bodyPr/>
            <a:lstStyle/>
            <a:p>
              <a:endParaRPr lang="zh-CN" altLang="en-US"/>
            </a:p>
          </p:txBody>
        </p:sp>
        <p:sp>
          <p:nvSpPr>
            <p:cNvPr id="30763" name="Line 74"/>
            <p:cNvSpPr>
              <a:spLocks noChangeShapeType="1"/>
            </p:cNvSpPr>
            <p:nvPr/>
          </p:nvSpPr>
          <p:spPr bwMode="auto">
            <a:xfrm>
              <a:off x="4944" y="3168"/>
              <a:ext cx="0" cy="240"/>
            </a:xfrm>
            <a:prstGeom prst="line">
              <a:avLst/>
            </a:prstGeom>
            <a:noFill/>
            <a:ln w="22225">
              <a:solidFill>
                <a:srgbClr val="008000"/>
              </a:solidFill>
              <a:round/>
              <a:headEnd/>
              <a:tailEnd/>
            </a:ln>
          </p:spPr>
          <p:txBody>
            <a:bodyPr/>
            <a:lstStyle/>
            <a:p>
              <a:endParaRPr lang="zh-CN" altLang="en-US"/>
            </a:p>
          </p:txBody>
        </p:sp>
        <p:sp>
          <p:nvSpPr>
            <p:cNvPr id="30764" name="Line 75"/>
            <p:cNvSpPr>
              <a:spLocks noChangeShapeType="1"/>
            </p:cNvSpPr>
            <p:nvPr/>
          </p:nvSpPr>
          <p:spPr bwMode="auto">
            <a:xfrm>
              <a:off x="4944" y="3264"/>
              <a:ext cx="528" cy="0"/>
            </a:xfrm>
            <a:prstGeom prst="line">
              <a:avLst/>
            </a:prstGeom>
            <a:noFill/>
            <a:ln w="22225">
              <a:solidFill>
                <a:srgbClr val="0000FF"/>
              </a:solidFill>
              <a:round/>
              <a:headEnd/>
              <a:tailEnd/>
            </a:ln>
          </p:spPr>
          <p:txBody>
            <a:bodyPr/>
            <a:lstStyle/>
            <a:p>
              <a:endParaRPr lang="zh-CN" altLang="en-US"/>
            </a:p>
          </p:txBody>
        </p:sp>
        <p:sp>
          <p:nvSpPr>
            <p:cNvPr id="30765" name="Line 76"/>
            <p:cNvSpPr>
              <a:spLocks noChangeShapeType="1"/>
            </p:cNvSpPr>
            <p:nvPr/>
          </p:nvSpPr>
          <p:spPr bwMode="auto">
            <a:xfrm>
              <a:off x="5472" y="2352"/>
              <a:ext cx="0" cy="912"/>
            </a:xfrm>
            <a:prstGeom prst="line">
              <a:avLst/>
            </a:prstGeom>
            <a:noFill/>
            <a:ln w="22225">
              <a:solidFill>
                <a:srgbClr val="0000FF"/>
              </a:solidFill>
              <a:round/>
              <a:headEnd/>
              <a:tailEnd/>
            </a:ln>
          </p:spPr>
          <p:txBody>
            <a:bodyPr/>
            <a:lstStyle/>
            <a:p>
              <a:endParaRPr lang="zh-CN" altLang="en-US"/>
            </a:p>
          </p:txBody>
        </p:sp>
        <p:graphicFrame>
          <p:nvGraphicFramePr>
            <p:cNvPr id="30730" name="Object 77"/>
            <p:cNvGraphicFramePr>
              <a:graphicFrameLocks noChangeAspect="1"/>
            </p:cNvGraphicFramePr>
            <p:nvPr/>
          </p:nvGraphicFramePr>
          <p:xfrm>
            <a:off x="3504" y="2880"/>
            <a:ext cx="305" cy="301"/>
          </p:xfrm>
          <a:graphic>
            <a:graphicData uri="http://schemas.openxmlformats.org/presentationml/2006/ole">
              <p:oleObj spid="_x0000_s30730" name="Equation" r:id="rId13" imgW="114266" imgH="123930" progId="Equation.3">
                <p:embed/>
              </p:oleObj>
            </a:graphicData>
          </a:graphic>
        </p:graphicFrame>
        <p:graphicFrame>
          <p:nvGraphicFramePr>
            <p:cNvPr id="30731" name="Object 78"/>
            <p:cNvGraphicFramePr>
              <a:graphicFrameLocks noChangeAspect="1"/>
            </p:cNvGraphicFramePr>
            <p:nvPr/>
          </p:nvGraphicFramePr>
          <p:xfrm>
            <a:off x="4752" y="2784"/>
            <a:ext cx="254" cy="255"/>
          </p:xfrm>
          <a:graphic>
            <a:graphicData uri="http://schemas.openxmlformats.org/presentationml/2006/ole">
              <p:oleObj spid="_x0000_s30731" name="Equation" r:id="rId14" imgW="85632" imgH="104760" progId="Equation.3">
                <p:embed/>
              </p:oleObj>
            </a:graphicData>
          </a:graphic>
        </p:graphicFrame>
        <p:sp>
          <p:nvSpPr>
            <p:cNvPr id="30766" name="Line 79"/>
            <p:cNvSpPr>
              <a:spLocks noChangeShapeType="1"/>
            </p:cNvSpPr>
            <p:nvPr/>
          </p:nvSpPr>
          <p:spPr bwMode="auto">
            <a:xfrm>
              <a:off x="4704" y="2352"/>
              <a:ext cx="768" cy="0"/>
            </a:xfrm>
            <a:prstGeom prst="line">
              <a:avLst/>
            </a:prstGeom>
            <a:noFill/>
            <a:ln w="22225">
              <a:solidFill>
                <a:srgbClr val="0000FF"/>
              </a:solidFill>
              <a:round/>
              <a:headEnd/>
              <a:tailEnd/>
            </a:ln>
          </p:spPr>
          <p:txBody>
            <a:bodyPr/>
            <a:lstStyle/>
            <a:p>
              <a:endParaRPr lang="zh-CN" altLang="en-US"/>
            </a:p>
          </p:txBody>
        </p:sp>
      </p:grpSp>
      <p:sp>
        <p:nvSpPr>
          <p:cNvPr id="8272" name="Rectangle 80"/>
          <p:cNvSpPr>
            <a:spLocks noChangeArrowheads="1"/>
          </p:cNvSpPr>
          <p:nvPr/>
        </p:nvSpPr>
        <p:spPr bwMode="auto">
          <a:xfrm>
            <a:off x="7416800" y="3408363"/>
            <a:ext cx="119063" cy="795337"/>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extLst>
        </p:spPr>
        <p:txBody>
          <a:bodyPr wrap="none" anchor="ctr"/>
          <a:lstStyle/>
          <a:p>
            <a:pPr>
              <a:defRPr/>
            </a:pPr>
            <a:endParaRPr lang="zh-CN" altLang="en-US"/>
          </a:p>
        </p:txBody>
      </p:sp>
      <p:sp>
        <p:nvSpPr>
          <p:cNvPr id="8273" name="Rectangle 81"/>
          <p:cNvSpPr>
            <a:spLocks noChangeArrowheads="1"/>
          </p:cNvSpPr>
          <p:nvPr/>
        </p:nvSpPr>
        <p:spPr bwMode="auto">
          <a:xfrm>
            <a:off x="6635750" y="3408363"/>
            <a:ext cx="119063" cy="795337"/>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extLst>
        </p:spPr>
        <p:txBody>
          <a:bodyPr wrap="none" anchor="ctr"/>
          <a:lstStyle/>
          <a:p>
            <a:pPr>
              <a:defRPr/>
            </a:pPr>
            <a:endParaRPr lang="zh-CN" altLang="en-US"/>
          </a:p>
        </p:txBody>
      </p:sp>
      <p:sp>
        <p:nvSpPr>
          <p:cNvPr id="8274" name="Text Box 82"/>
          <p:cNvSpPr txBox="1">
            <a:spLocks noChangeArrowheads="1"/>
          </p:cNvSpPr>
          <p:nvPr/>
        </p:nvSpPr>
        <p:spPr bwMode="auto">
          <a:xfrm>
            <a:off x="517525" y="2147888"/>
            <a:ext cx="1981200"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对稳恒电流</a:t>
            </a:r>
          </a:p>
        </p:txBody>
      </p:sp>
      <p:sp>
        <p:nvSpPr>
          <p:cNvPr id="8275" name="Text Box 83"/>
          <p:cNvSpPr txBox="1">
            <a:spLocks noChangeArrowheads="1"/>
          </p:cNvSpPr>
          <p:nvPr/>
        </p:nvSpPr>
        <p:spPr bwMode="auto">
          <a:xfrm>
            <a:off x="504825" y="2798763"/>
            <a:ext cx="1612900"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对 </a:t>
            </a:r>
            <a:r>
              <a:rPr kumimoji="1" lang="en-US" altLang="zh-CN" sz="2400" b="1" i="1">
                <a:solidFill>
                  <a:srgbClr val="FF6600"/>
                </a:solidFill>
                <a:latin typeface="Times New Roman" pitchFamily="18" charset="0"/>
                <a:ea typeface="楷体_GB2312" pitchFamily="49" charset="-122"/>
              </a:rPr>
              <a:t>S</a:t>
            </a:r>
            <a:r>
              <a:rPr kumimoji="1" lang="en-US" altLang="zh-CN" sz="2400" b="1" baseline="-25000">
                <a:solidFill>
                  <a:srgbClr val="FF6600"/>
                </a:solidFill>
                <a:latin typeface="Times New Roman" pitchFamily="18" charset="0"/>
                <a:ea typeface="楷体_GB2312" pitchFamily="49" charset="-122"/>
              </a:rPr>
              <a:t>1 </a:t>
            </a:r>
            <a:r>
              <a:rPr kumimoji="1" lang="zh-CN" altLang="en-US" sz="2400" b="1">
                <a:latin typeface="Times New Roman" pitchFamily="18" charset="0"/>
                <a:ea typeface="楷体_GB2312" pitchFamily="49" charset="-122"/>
              </a:rPr>
              <a:t>面</a:t>
            </a:r>
          </a:p>
        </p:txBody>
      </p:sp>
      <p:graphicFrame>
        <p:nvGraphicFramePr>
          <p:cNvPr id="8276" name="Object 84"/>
          <p:cNvGraphicFramePr>
            <a:graphicFrameLocks noChangeAspect="1"/>
          </p:cNvGraphicFramePr>
          <p:nvPr/>
        </p:nvGraphicFramePr>
        <p:xfrm>
          <a:off x="2693988" y="2740025"/>
          <a:ext cx="1357312" cy="544513"/>
        </p:xfrm>
        <a:graphic>
          <a:graphicData uri="http://schemas.openxmlformats.org/presentationml/2006/ole">
            <p:oleObj spid="_x0000_s30727" name="公式" r:id="rId15" imgW="723956" imgH="266760" progId="Equation.3">
              <p:embed/>
            </p:oleObj>
          </a:graphicData>
        </a:graphic>
      </p:graphicFrame>
      <p:sp>
        <p:nvSpPr>
          <p:cNvPr id="8277" name="Text Box 85"/>
          <p:cNvSpPr txBox="1">
            <a:spLocks noChangeArrowheads="1"/>
          </p:cNvSpPr>
          <p:nvPr/>
        </p:nvSpPr>
        <p:spPr bwMode="auto">
          <a:xfrm>
            <a:off x="517525" y="3446463"/>
            <a:ext cx="1576388"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对 </a:t>
            </a:r>
            <a:r>
              <a:rPr kumimoji="1" lang="en-US" altLang="zh-CN" sz="2400" b="1" i="1">
                <a:solidFill>
                  <a:srgbClr val="FF6600"/>
                </a:solidFill>
                <a:latin typeface="Times New Roman" pitchFamily="18" charset="0"/>
                <a:ea typeface="楷体_GB2312" pitchFamily="49" charset="-122"/>
              </a:rPr>
              <a:t>S</a:t>
            </a:r>
            <a:r>
              <a:rPr kumimoji="1" lang="en-US" altLang="zh-CN" sz="2400" b="1" baseline="-25000">
                <a:solidFill>
                  <a:srgbClr val="FF6600"/>
                </a:solidFill>
                <a:latin typeface="Times New Roman" pitchFamily="18" charset="0"/>
                <a:ea typeface="楷体_GB2312" pitchFamily="49" charset="-122"/>
              </a:rPr>
              <a:t>2 </a:t>
            </a:r>
            <a:r>
              <a:rPr kumimoji="1" lang="zh-CN" altLang="en-US" sz="2400" b="1">
                <a:latin typeface="Times New Roman" pitchFamily="18" charset="0"/>
                <a:ea typeface="楷体_GB2312" pitchFamily="49" charset="-122"/>
              </a:rPr>
              <a:t>面</a:t>
            </a:r>
          </a:p>
        </p:txBody>
      </p:sp>
      <p:graphicFrame>
        <p:nvGraphicFramePr>
          <p:cNvPr id="8278" name="Object 86"/>
          <p:cNvGraphicFramePr>
            <a:graphicFrameLocks noChangeAspect="1"/>
          </p:cNvGraphicFramePr>
          <p:nvPr/>
        </p:nvGraphicFramePr>
        <p:xfrm>
          <a:off x="2655888" y="3370263"/>
          <a:ext cx="1346200" cy="547687"/>
        </p:xfrm>
        <a:graphic>
          <a:graphicData uri="http://schemas.openxmlformats.org/presentationml/2006/ole">
            <p:oleObj spid="_x0000_s30728" name="公式" r:id="rId16" imgW="714502" imgH="266760" progId="Equation.3">
              <p:embed/>
            </p:oleObj>
          </a:graphicData>
        </a:graphic>
      </p:graphicFrame>
      <p:sp>
        <p:nvSpPr>
          <p:cNvPr id="8279" name="AutoShape 87"/>
          <p:cNvSpPr>
            <a:spLocks/>
          </p:cNvSpPr>
          <p:nvPr/>
        </p:nvSpPr>
        <p:spPr bwMode="auto">
          <a:xfrm>
            <a:off x="4203700" y="2962275"/>
            <a:ext cx="295275" cy="777875"/>
          </a:xfrm>
          <a:prstGeom prst="rightBrace">
            <a:avLst>
              <a:gd name="adj1" fmla="val 21953"/>
              <a:gd name="adj2" fmla="val 50000"/>
            </a:avLst>
          </a:prstGeom>
          <a:noFill/>
          <a:ln w="28575">
            <a:solidFill>
              <a:schemeClr val="tx1"/>
            </a:solidFill>
            <a:round/>
            <a:headEnd/>
            <a:tailEnd/>
          </a:ln>
        </p:spPr>
        <p:txBody>
          <a:bodyPr wrap="none" anchor="ctr"/>
          <a:lstStyle/>
          <a:p>
            <a:endParaRPr lang="zh-CN" altLang="en-US"/>
          </a:p>
        </p:txBody>
      </p:sp>
      <p:sp>
        <p:nvSpPr>
          <p:cNvPr id="8280" name="Text Box 88"/>
          <p:cNvSpPr txBox="1">
            <a:spLocks noChangeArrowheads="1"/>
          </p:cNvSpPr>
          <p:nvPr/>
        </p:nvSpPr>
        <p:spPr bwMode="auto">
          <a:xfrm>
            <a:off x="4537075" y="2887663"/>
            <a:ext cx="533400" cy="822325"/>
          </a:xfrm>
          <a:prstGeom prst="rect">
            <a:avLst/>
          </a:prstGeom>
          <a:noFill/>
          <a:ln w="9525">
            <a:noFill/>
            <a:miter lim="800000"/>
            <a:headEnd/>
            <a:tailEnd/>
          </a:ln>
        </p:spPr>
        <p:txBody>
          <a:bodyPr>
            <a:spAutoFit/>
          </a:bodyPr>
          <a:lstStyle/>
          <a:p>
            <a:pPr algn="l"/>
            <a:r>
              <a:rPr kumimoji="1" lang="zh-CN" altLang="en-US" sz="2400" b="1">
                <a:solidFill>
                  <a:srgbClr val="FF3300"/>
                </a:solidFill>
                <a:latin typeface="Times New Roman" pitchFamily="18" charset="0"/>
                <a:ea typeface="楷体_GB2312" pitchFamily="49" charset="-122"/>
              </a:rPr>
              <a:t>矛盾</a:t>
            </a:r>
          </a:p>
        </p:txBody>
      </p:sp>
      <p:sp>
        <p:nvSpPr>
          <p:cNvPr id="8282" name="Rectangle 90"/>
          <p:cNvSpPr>
            <a:spLocks noChangeArrowheads="1"/>
          </p:cNvSpPr>
          <p:nvPr/>
        </p:nvSpPr>
        <p:spPr bwMode="auto">
          <a:xfrm>
            <a:off x="250825" y="4005263"/>
            <a:ext cx="1103313" cy="457200"/>
          </a:xfrm>
          <a:prstGeom prst="rect">
            <a:avLst/>
          </a:prstGeom>
          <a:noFill/>
          <a:ln w="9525">
            <a:noFill/>
            <a:miter lim="800000"/>
            <a:headEnd/>
            <a:tailEnd/>
          </a:ln>
        </p:spPr>
        <p:txBody>
          <a:bodyPr wrap="none">
            <a:spAutoFit/>
          </a:bodyPr>
          <a:lstStyle/>
          <a:p>
            <a:pPr algn="l">
              <a:buClr>
                <a:srgbClr val="FF0000"/>
              </a:buClr>
              <a:buFont typeface="Wingdings" pitchFamily="2" charset="2"/>
              <a:buNone/>
            </a:pPr>
            <a:r>
              <a:rPr kumimoji="1" lang="zh-CN" altLang="en-US" sz="2400" b="1">
                <a:solidFill>
                  <a:srgbClr val="FF0000"/>
                </a:solidFill>
                <a:latin typeface="Times New Roman" pitchFamily="18" charset="0"/>
                <a:ea typeface="楷体_GB2312" pitchFamily="49" charset="-122"/>
                <a:cs typeface="Times New Roman" pitchFamily="18" charset="0"/>
              </a:rPr>
              <a:t>结论：</a:t>
            </a:r>
          </a:p>
        </p:txBody>
      </p:sp>
      <p:sp>
        <p:nvSpPr>
          <p:cNvPr id="8283" name="Text Box 91"/>
          <p:cNvSpPr txBox="1">
            <a:spLocks noChangeArrowheads="1"/>
          </p:cNvSpPr>
          <p:nvPr/>
        </p:nvSpPr>
        <p:spPr bwMode="auto">
          <a:xfrm>
            <a:off x="1109663" y="4008438"/>
            <a:ext cx="4038600" cy="933450"/>
          </a:xfrm>
          <a:prstGeom prst="rect">
            <a:avLst/>
          </a:prstGeom>
          <a:noFill/>
          <a:ln w="9525">
            <a:noFill/>
            <a:miter lim="800000"/>
            <a:headEnd/>
            <a:tailEnd/>
          </a:ln>
        </p:spPr>
        <p:txBody>
          <a:bodyPr>
            <a:spAutoFit/>
          </a:bodyPr>
          <a:lstStyle/>
          <a:p>
            <a:pPr algn="l">
              <a:lnSpc>
                <a:spcPct val="115000"/>
              </a:lnSpc>
            </a:pPr>
            <a:r>
              <a:rPr kumimoji="1" lang="zh-CN" altLang="en-US" sz="2400" b="1">
                <a:solidFill>
                  <a:srgbClr val="008000"/>
                </a:solidFill>
                <a:latin typeface="Times New Roman" pitchFamily="18" charset="0"/>
                <a:ea typeface="楷体_GB2312" pitchFamily="49" charset="-122"/>
              </a:rPr>
              <a:t>稳恒磁场的安培环路定理已不适用于非稳恒电流的电路</a:t>
            </a:r>
          </a:p>
        </p:txBody>
      </p:sp>
      <p:sp>
        <p:nvSpPr>
          <p:cNvPr id="8284" name="Text Box 92"/>
          <p:cNvSpPr txBox="1">
            <a:spLocks noChangeArrowheads="1"/>
          </p:cNvSpPr>
          <p:nvPr/>
        </p:nvSpPr>
        <p:spPr bwMode="auto">
          <a:xfrm>
            <a:off x="122238" y="4997450"/>
            <a:ext cx="3048000" cy="457200"/>
          </a:xfrm>
          <a:prstGeom prst="rect">
            <a:avLst/>
          </a:prstGeom>
          <a:noFill/>
          <a:ln w="9525">
            <a:noFill/>
            <a:miter lim="800000"/>
            <a:headEnd/>
            <a:tailEnd/>
          </a:ln>
        </p:spPr>
        <p:txBody>
          <a:bodyPr>
            <a:spAutoFit/>
          </a:bodyPr>
          <a:lstStyle/>
          <a:p>
            <a:pPr algn="l"/>
            <a:r>
              <a:rPr kumimoji="1" lang="en-US" altLang="zh-CN" sz="2400" b="1">
                <a:solidFill>
                  <a:srgbClr val="FF0000"/>
                </a:solidFill>
                <a:latin typeface="Times New Roman" pitchFamily="18" charset="0"/>
                <a:ea typeface="楷体_GB2312" pitchFamily="49" charset="-122"/>
              </a:rPr>
              <a:t>2</a:t>
            </a:r>
            <a:r>
              <a:rPr kumimoji="1" lang="zh-CN" altLang="en-US" sz="2400" b="1">
                <a:solidFill>
                  <a:srgbClr val="FF0000"/>
                </a:solidFill>
                <a:latin typeface="Times New Roman" pitchFamily="18" charset="0"/>
                <a:ea typeface="楷体_GB2312" pitchFamily="49" charset="-122"/>
              </a:rPr>
              <a:t>、位移电流假设</a:t>
            </a:r>
          </a:p>
        </p:txBody>
      </p:sp>
      <p:sp>
        <p:nvSpPr>
          <p:cNvPr id="8285" name="Text Box 93"/>
          <p:cNvSpPr txBox="1">
            <a:spLocks noChangeArrowheads="1"/>
          </p:cNvSpPr>
          <p:nvPr/>
        </p:nvSpPr>
        <p:spPr bwMode="auto">
          <a:xfrm>
            <a:off x="557213" y="5454650"/>
            <a:ext cx="8099425" cy="457200"/>
          </a:xfrm>
          <a:prstGeom prst="rect">
            <a:avLst/>
          </a:prstGeom>
          <a:noFill/>
          <a:ln w="9525">
            <a:noFill/>
            <a:miter lim="800000"/>
            <a:headEnd/>
            <a:tailEnd/>
          </a:ln>
        </p:spPr>
        <p:txBody>
          <a:bodyPr>
            <a:spAutoFit/>
          </a:bodyPr>
          <a:lstStyle/>
          <a:p>
            <a:pPr algn="l"/>
            <a:r>
              <a:rPr kumimoji="1" lang="zh-CN" altLang="en-US" sz="2400" b="1">
                <a:solidFill>
                  <a:srgbClr val="FF6600"/>
                </a:solidFill>
                <a:latin typeface="Times New Roman" pitchFamily="18" charset="0"/>
                <a:ea typeface="楷体_GB2312" pitchFamily="49" charset="-122"/>
              </a:rPr>
              <a:t>非稳恒</a:t>
            </a:r>
            <a:r>
              <a:rPr kumimoji="1" lang="zh-CN" altLang="en-US" sz="2400" b="1">
                <a:latin typeface="Times New Roman" pitchFamily="18" charset="0"/>
                <a:ea typeface="楷体_GB2312" pitchFamily="49" charset="-122"/>
              </a:rPr>
              <a:t>电路中，在传导电流中断处必发生电荷分布的变化</a:t>
            </a:r>
          </a:p>
        </p:txBody>
      </p:sp>
      <p:sp>
        <p:nvSpPr>
          <p:cNvPr id="8288" name="Text Box 96"/>
          <p:cNvSpPr txBox="1">
            <a:spLocks noChangeArrowheads="1"/>
          </p:cNvSpPr>
          <p:nvPr/>
        </p:nvSpPr>
        <p:spPr bwMode="auto">
          <a:xfrm>
            <a:off x="539750" y="5995988"/>
            <a:ext cx="5713413" cy="457200"/>
          </a:xfrm>
          <a:prstGeom prst="rect">
            <a:avLst/>
          </a:prstGeom>
          <a:noFill/>
          <a:ln w="9525">
            <a:noFill/>
            <a:miter lim="800000"/>
            <a:headEnd/>
            <a:tailEnd/>
          </a:ln>
        </p:spPr>
        <p:txBody>
          <a:bodyPr>
            <a:spAutoFit/>
          </a:bodyPr>
          <a:lstStyle/>
          <a:p>
            <a:pPr algn="l"/>
            <a:r>
              <a:rPr kumimoji="1" lang="zh-CN" altLang="en-US" sz="2400" b="1">
                <a:latin typeface="Times New Roman" pitchFamily="18" charset="0"/>
                <a:ea typeface="楷体_GB2312" pitchFamily="49" charset="-122"/>
              </a:rPr>
              <a:t>极板上电荷的变化必引起</a:t>
            </a:r>
            <a:r>
              <a:rPr kumimoji="1" lang="zh-CN" altLang="en-US" sz="2400" b="1">
                <a:solidFill>
                  <a:srgbClr val="FF6600"/>
                </a:solidFill>
                <a:latin typeface="Times New Roman" pitchFamily="18" charset="0"/>
                <a:ea typeface="楷体_GB2312" pitchFamily="49" charset="-122"/>
              </a:rPr>
              <a:t>电场的变化</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7"/>
                                        </p:tgtEl>
                                        <p:attrNameLst>
                                          <p:attrName>style.visibility</p:attrName>
                                        </p:attrNameLst>
                                      </p:cBhvr>
                                      <p:to>
                                        <p:strVal val="visible"/>
                                      </p:to>
                                    </p:set>
                                    <p:animEffect transition="in" filter="wipe(left)">
                                      <p:cBhvr>
                                        <p:cTn id="7" dur="500"/>
                                        <p:tgtEl>
                                          <p:spTgt spid="81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232"/>
                                        </p:tgtEl>
                                        <p:attrNameLst>
                                          <p:attrName>style.visibility</p:attrName>
                                        </p:attrNameLst>
                                      </p:cBhvr>
                                      <p:to>
                                        <p:strVal val="visible"/>
                                      </p:to>
                                    </p:set>
                                    <p:animEffect transition="in" filter="wipe(left)">
                                      <p:cBhvr>
                                        <p:cTn id="12" dur="500"/>
                                        <p:tgtEl>
                                          <p:spTgt spid="82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274"/>
                                        </p:tgtEl>
                                        <p:attrNameLst>
                                          <p:attrName>style.visibility</p:attrName>
                                        </p:attrNameLst>
                                      </p:cBhvr>
                                      <p:to>
                                        <p:strVal val="visible"/>
                                      </p:to>
                                    </p:set>
                                    <p:animEffect transition="in" filter="wipe(left)">
                                      <p:cBhvr>
                                        <p:cTn id="23" dur="500"/>
                                        <p:tgtEl>
                                          <p:spTgt spid="827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2" fill="hold" grpId="0" nodeType="clickEffect">
                                  <p:stCondLst>
                                    <p:cond delay="0"/>
                                  </p:stCondLst>
                                  <p:childTnLst>
                                    <p:set>
                                      <p:cBhvr>
                                        <p:cTn id="27" dur="1" fill="hold">
                                          <p:stCondLst>
                                            <p:cond delay="0"/>
                                          </p:stCondLst>
                                        </p:cTn>
                                        <p:tgtEl>
                                          <p:spTgt spid="8250"/>
                                        </p:tgtEl>
                                        <p:attrNameLst>
                                          <p:attrName>style.visibility</p:attrName>
                                        </p:attrNameLst>
                                      </p:cBhvr>
                                      <p:to>
                                        <p:strVal val="visible"/>
                                      </p:to>
                                    </p:set>
                                    <p:animEffect transition="in" filter="slide(fromRight)">
                                      <p:cBhvr>
                                        <p:cTn id="28" dur="500"/>
                                        <p:tgtEl>
                                          <p:spTgt spid="8250"/>
                                        </p:tgtEl>
                                      </p:cBhvr>
                                    </p:animEffect>
                                  </p:childTnLst>
                                </p:cTn>
                              </p:par>
                            </p:childTnLst>
                          </p:cTn>
                        </p:par>
                        <p:par>
                          <p:cTn id="29" fill="hold" nodeType="afterGroup">
                            <p:stCondLst>
                              <p:cond delay="500"/>
                            </p:stCondLst>
                            <p:childTnLst>
                              <p:par>
                                <p:cTn id="30" presetID="1" presetClass="entr" presetSubtype="0" fill="hold" nodeType="afterEffect">
                                  <p:stCondLst>
                                    <p:cond delay="0"/>
                                  </p:stCondLst>
                                  <p:childTnLst>
                                    <p:set>
                                      <p:cBhvr>
                                        <p:cTn id="31" dur="1" fill="hold">
                                          <p:stCondLst>
                                            <p:cond delay="499"/>
                                          </p:stCondLst>
                                        </p:cTn>
                                        <p:tgtEl>
                                          <p:spTgt spid="8234"/>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8233"/>
                                        </p:tgtEl>
                                        <p:attrNameLst>
                                          <p:attrName>style.visibility</p:attrName>
                                        </p:attrNameLst>
                                      </p:cBhvr>
                                      <p:to>
                                        <p:strVal val="visible"/>
                                      </p:to>
                                    </p:set>
                                    <p:animEffect transition="in" filter="wipe(left)">
                                      <p:cBhvr>
                                        <p:cTn id="36" dur="500"/>
                                        <p:tgtEl>
                                          <p:spTgt spid="823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p:cTn id="41" dur="500" fill="hold"/>
                                        <p:tgtEl>
                                          <p:spTgt spid="3"/>
                                        </p:tgtEl>
                                        <p:attrNameLst>
                                          <p:attrName>ppt_w</p:attrName>
                                        </p:attrNameLst>
                                      </p:cBhvr>
                                      <p:tavLst>
                                        <p:tav tm="0">
                                          <p:val>
                                            <p:fltVal val="0"/>
                                          </p:val>
                                        </p:tav>
                                        <p:tav tm="100000">
                                          <p:val>
                                            <p:strVal val="#ppt_w"/>
                                          </p:val>
                                        </p:tav>
                                      </p:tavLst>
                                    </p:anim>
                                    <p:anim calcmode="lin" valueType="num">
                                      <p:cBhvr>
                                        <p:cTn id="42"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16" fill="hold" grpId="0" nodeType="clickEffect">
                                  <p:stCondLst>
                                    <p:cond delay="0"/>
                                  </p:stCondLst>
                                  <p:childTnLst>
                                    <p:set>
                                      <p:cBhvr>
                                        <p:cTn id="46" dur="1" fill="hold">
                                          <p:stCondLst>
                                            <p:cond delay="0"/>
                                          </p:stCondLst>
                                        </p:cTn>
                                        <p:tgtEl>
                                          <p:spTgt spid="8273"/>
                                        </p:tgtEl>
                                        <p:attrNameLst>
                                          <p:attrName>style.visibility</p:attrName>
                                        </p:attrNameLst>
                                      </p:cBhvr>
                                      <p:to>
                                        <p:strVal val="visible"/>
                                      </p:to>
                                    </p:set>
                                    <p:anim calcmode="lin" valueType="num">
                                      <p:cBhvr>
                                        <p:cTn id="47" dur="500" fill="hold"/>
                                        <p:tgtEl>
                                          <p:spTgt spid="8273"/>
                                        </p:tgtEl>
                                        <p:attrNameLst>
                                          <p:attrName>ppt_w</p:attrName>
                                        </p:attrNameLst>
                                      </p:cBhvr>
                                      <p:tavLst>
                                        <p:tav tm="0">
                                          <p:val>
                                            <p:fltVal val="0"/>
                                          </p:val>
                                        </p:tav>
                                        <p:tav tm="100000">
                                          <p:val>
                                            <p:strVal val="#ppt_w"/>
                                          </p:val>
                                        </p:tav>
                                      </p:tavLst>
                                    </p:anim>
                                    <p:anim calcmode="lin" valueType="num">
                                      <p:cBhvr>
                                        <p:cTn id="48" dur="500" fill="hold"/>
                                        <p:tgtEl>
                                          <p:spTgt spid="8273"/>
                                        </p:tgtEl>
                                        <p:attrNameLst>
                                          <p:attrName>ppt_h</p:attrName>
                                        </p:attrNameLst>
                                      </p:cBhvr>
                                      <p:tavLst>
                                        <p:tav tm="0">
                                          <p:val>
                                            <p:fltVal val="0"/>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8272"/>
                                        </p:tgtEl>
                                        <p:attrNameLst>
                                          <p:attrName>style.visibility</p:attrName>
                                        </p:attrNameLst>
                                      </p:cBhvr>
                                      <p:to>
                                        <p:strVal val="visible"/>
                                      </p:to>
                                    </p:set>
                                    <p:anim calcmode="lin" valueType="num">
                                      <p:cBhvr>
                                        <p:cTn id="53" dur="500" fill="hold"/>
                                        <p:tgtEl>
                                          <p:spTgt spid="8272"/>
                                        </p:tgtEl>
                                        <p:attrNameLst>
                                          <p:attrName>ppt_w</p:attrName>
                                        </p:attrNameLst>
                                      </p:cBhvr>
                                      <p:tavLst>
                                        <p:tav tm="0">
                                          <p:val>
                                            <p:fltVal val="0"/>
                                          </p:val>
                                        </p:tav>
                                        <p:tav tm="100000">
                                          <p:val>
                                            <p:strVal val="#ppt_w"/>
                                          </p:val>
                                        </p:tav>
                                      </p:tavLst>
                                    </p:anim>
                                    <p:anim calcmode="lin" valueType="num">
                                      <p:cBhvr>
                                        <p:cTn id="54" dur="500" fill="hold"/>
                                        <p:tgtEl>
                                          <p:spTgt spid="8272"/>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grpId="0" nodeType="clickEffect">
                                  <p:stCondLst>
                                    <p:cond delay="0"/>
                                  </p:stCondLst>
                                  <p:childTnLst>
                                    <p:set>
                                      <p:cBhvr>
                                        <p:cTn id="58" dur="1" fill="hold">
                                          <p:stCondLst>
                                            <p:cond delay="0"/>
                                          </p:stCondLst>
                                        </p:cTn>
                                        <p:tgtEl>
                                          <p:spTgt spid="8255"/>
                                        </p:tgtEl>
                                        <p:attrNameLst>
                                          <p:attrName>style.visibility</p:attrName>
                                        </p:attrNameLst>
                                      </p:cBhvr>
                                      <p:to>
                                        <p:strVal val="visible"/>
                                      </p:to>
                                    </p:set>
                                    <p:animEffect transition="in" filter="dissolve">
                                      <p:cBhvr>
                                        <p:cTn id="59" dur="500"/>
                                        <p:tgtEl>
                                          <p:spTgt spid="8255"/>
                                        </p:tgtEl>
                                      </p:cBhvr>
                                    </p:animEffect>
                                  </p:childTnLst>
                                </p:cTn>
                              </p:par>
                            </p:childTnLst>
                          </p:cTn>
                        </p:par>
                        <p:par>
                          <p:cTn id="60" fill="hold" nodeType="afterGroup">
                            <p:stCondLst>
                              <p:cond delay="500"/>
                            </p:stCondLst>
                            <p:childTnLst>
                              <p:par>
                                <p:cTn id="61" presetID="1" presetClass="entr" presetSubtype="0" fill="hold" nodeType="afterEffect">
                                  <p:stCondLst>
                                    <p:cond delay="0"/>
                                  </p:stCondLst>
                                  <p:childTnLst>
                                    <p:set>
                                      <p:cBhvr>
                                        <p:cTn id="62" dur="1" fill="hold">
                                          <p:stCondLst>
                                            <p:cond delay="499"/>
                                          </p:stCondLst>
                                        </p:cTn>
                                        <p:tgtEl>
                                          <p:spTgt spid="8256"/>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2" presetClass="entr" presetSubtype="2" fill="hold" grpId="0" nodeType="clickEffect">
                                  <p:stCondLst>
                                    <p:cond delay="0"/>
                                  </p:stCondLst>
                                  <p:childTnLst>
                                    <p:set>
                                      <p:cBhvr>
                                        <p:cTn id="66" dur="1" fill="hold">
                                          <p:stCondLst>
                                            <p:cond delay="0"/>
                                          </p:stCondLst>
                                        </p:cTn>
                                        <p:tgtEl>
                                          <p:spTgt spid="8252"/>
                                        </p:tgtEl>
                                        <p:attrNameLst>
                                          <p:attrName>style.visibility</p:attrName>
                                        </p:attrNameLst>
                                      </p:cBhvr>
                                      <p:to>
                                        <p:strVal val="visible"/>
                                      </p:to>
                                    </p:set>
                                    <p:animEffect transition="in" filter="slide(fromRight)">
                                      <p:cBhvr>
                                        <p:cTn id="67" dur="500"/>
                                        <p:tgtEl>
                                          <p:spTgt spid="8252"/>
                                        </p:tgtEl>
                                      </p:cBhvr>
                                    </p:animEffect>
                                  </p:childTnLst>
                                </p:cTn>
                              </p:par>
                            </p:childTnLst>
                          </p:cTn>
                        </p:par>
                        <p:par>
                          <p:cTn id="68" fill="hold" nodeType="afterGroup">
                            <p:stCondLst>
                              <p:cond delay="500"/>
                            </p:stCondLst>
                            <p:childTnLst>
                              <p:par>
                                <p:cTn id="69" presetID="1" presetClass="entr" presetSubtype="0" fill="hold" nodeType="afterEffect">
                                  <p:stCondLst>
                                    <p:cond delay="0"/>
                                  </p:stCondLst>
                                  <p:childTnLst>
                                    <p:set>
                                      <p:cBhvr>
                                        <p:cTn id="70" dur="1" fill="hold">
                                          <p:stCondLst>
                                            <p:cond delay="499"/>
                                          </p:stCondLst>
                                        </p:cTn>
                                        <p:tgtEl>
                                          <p:spTgt spid="8254"/>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2" presetClass="entr" presetSubtype="8" fill="hold" grpId="0" nodeType="clickEffect">
                                  <p:stCondLst>
                                    <p:cond delay="0"/>
                                  </p:stCondLst>
                                  <p:childTnLst>
                                    <p:set>
                                      <p:cBhvr>
                                        <p:cTn id="74" dur="1" fill="hold">
                                          <p:stCondLst>
                                            <p:cond delay="0"/>
                                          </p:stCondLst>
                                        </p:cTn>
                                        <p:tgtEl>
                                          <p:spTgt spid="8251"/>
                                        </p:tgtEl>
                                        <p:attrNameLst>
                                          <p:attrName>style.visibility</p:attrName>
                                        </p:attrNameLst>
                                      </p:cBhvr>
                                      <p:to>
                                        <p:strVal val="visible"/>
                                      </p:to>
                                    </p:set>
                                    <p:animEffect transition="in" filter="slide(fromLeft)">
                                      <p:cBhvr>
                                        <p:cTn id="75" dur="500"/>
                                        <p:tgtEl>
                                          <p:spTgt spid="8251"/>
                                        </p:tgtEl>
                                      </p:cBhvr>
                                    </p:animEffect>
                                  </p:childTnLst>
                                </p:cTn>
                              </p:par>
                            </p:childTnLst>
                          </p:cTn>
                        </p:par>
                        <p:par>
                          <p:cTn id="76" fill="hold" nodeType="afterGroup">
                            <p:stCondLst>
                              <p:cond delay="500"/>
                            </p:stCondLst>
                            <p:childTnLst>
                              <p:par>
                                <p:cTn id="77" presetID="1" presetClass="entr" presetSubtype="0" fill="hold" nodeType="afterEffect">
                                  <p:stCondLst>
                                    <p:cond delay="0"/>
                                  </p:stCondLst>
                                  <p:childTnLst>
                                    <p:set>
                                      <p:cBhvr>
                                        <p:cTn id="78" dur="1" fill="hold">
                                          <p:stCondLst>
                                            <p:cond delay="499"/>
                                          </p:stCondLst>
                                        </p:cTn>
                                        <p:tgtEl>
                                          <p:spTgt spid="8253"/>
                                        </p:tgtEl>
                                        <p:attrNameLst>
                                          <p:attrName>style.visibility</p:attrName>
                                        </p:attrNameLst>
                                      </p:cBhvr>
                                      <p:to>
                                        <p:strVal val="visible"/>
                                      </p:to>
                                    </p:se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8275"/>
                                        </p:tgtEl>
                                        <p:attrNameLst>
                                          <p:attrName>style.visibility</p:attrName>
                                        </p:attrNameLst>
                                      </p:cBhvr>
                                      <p:to>
                                        <p:strVal val="visible"/>
                                      </p:to>
                                    </p:set>
                                    <p:animEffect transition="in" filter="wipe(left)">
                                      <p:cBhvr>
                                        <p:cTn id="83" dur="500"/>
                                        <p:tgtEl>
                                          <p:spTgt spid="8275"/>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8276"/>
                                        </p:tgtEl>
                                        <p:attrNameLst>
                                          <p:attrName>style.visibility</p:attrName>
                                        </p:attrNameLst>
                                      </p:cBhvr>
                                      <p:to>
                                        <p:strVal val="visible"/>
                                      </p:to>
                                    </p:set>
                                    <p:animEffect transition="in" filter="wipe(left)">
                                      <p:cBhvr>
                                        <p:cTn id="88" dur="500"/>
                                        <p:tgtEl>
                                          <p:spTgt spid="827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8277"/>
                                        </p:tgtEl>
                                        <p:attrNameLst>
                                          <p:attrName>style.visibility</p:attrName>
                                        </p:attrNameLst>
                                      </p:cBhvr>
                                      <p:to>
                                        <p:strVal val="visible"/>
                                      </p:to>
                                    </p:set>
                                    <p:animEffect transition="in" filter="wipe(left)">
                                      <p:cBhvr>
                                        <p:cTn id="93" dur="500"/>
                                        <p:tgtEl>
                                          <p:spTgt spid="8277"/>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8278"/>
                                        </p:tgtEl>
                                        <p:attrNameLst>
                                          <p:attrName>style.visibility</p:attrName>
                                        </p:attrNameLst>
                                      </p:cBhvr>
                                      <p:to>
                                        <p:strVal val="visible"/>
                                      </p:to>
                                    </p:set>
                                    <p:animEffect transition="in" filter="wipe(left)">
                                      <p:cBhvr>
                                        <p:cTn id="98" dur="500"/>
                                        <p:tgtEl>
                                          <p:spTgt spid="8278"/>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16" presetClass="entr" presetSubtype="42" fill="hold" grpId="0" nodeType="clickEffect">
                                  <p:stCondLst>
                                    <p:cond delay="0"/>
                                  </p:stCondLst>
                                  <p:childTnLst>
                                    <p:set>
                                      <p:cBhvr>
                                        <p:cTn id="102" dur="1" fill="hold">
                                          <p:stCondLst>
                                            <p:cond delay="0"/>
                                          </p:stCondLst>
                                        </p:cTn>
                                        <p:tgtEl>
                                          <p:spTgt spid="8279"/>
                                        </p:tgtEl>
                                        <p:attrNameLst>
                                          <p:attrName>style.visibility</p:attrName>
                                        </p:attrNameLst>
                                      </p:cBhvr>
                                      <p:to>
                                        <p:strVal val="visible"/>
                                      </p:to>
                                    </p:set>
                                    <p:animEffect transition="in" filter="barn(outHorizontal)">
                                      <p:cBhvr>
                                        <p:cTn id="103" dur="500"/>
                                        <p:tgtEl>
                                          <p:spTgt spid="8279"/>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8280"/>
                                        </p:tgtEl>
                                        <p:attrNameLst>
                                          <p:attrName>style.visibility</p:attrName>
                                        </p:attrNameLst>
                                      </p:cBhvr>
                                      <p:to>
                                        <p:strVal val="visible"/>
                                      </p:to>
                                    </p:set>
                                    <p:animEffect transition="in" filter="wipe(up)">
                                      <p:cBhvr>
                                        <p:cTn id="108" dur="500"/>
                                        <p:tgtEl>
                                          <p:spTgt spid="8280"/>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8282"/>
                                        </p:tgtEl>
                                        <p:attrNameLst>
                                          <p:attrName>style.visibility</p:attrName>
                                        </p:attrNameLst>
                                      </p:cBhvr>
                                      <p:to>
                                        <p:strVal val="visible"/>
                                      </p:to>
                                    </p:set>
                                    <p:animEffect transition="in" filter="wipe(left)">
                                      <p:cBhvr>
                                        <p:cTn id="113" dur="500"/>
                                        <p:tgtEl>
                                          <p:spTgt spid="828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grpId="0" nodeType="clickEffect">
                                  <p:stCondLst>
                                    <p:cond delay="0"/>
                                  </p:stCondLst>
                                  <p:childTnLst>
                                    <p:set>
                                      <p:cBhvr>
                                        <p:cTn id="117" dur="1" fill="hold">
                                          <p:stCondLst>
                                            <p:cond delay="0"/>
                                          </p:stCondLst>
                                        </p:cTn>
                                        <p:tgtEl>
                                          <p:spTgt spid="8283"/>
                                        </p:tgtEl>
                                        <p:attrNameLst>
                                          <p:attrName>style.visibility</p:attrName>
                                        </p:attrNameLst>
                                      </p:cBhvr>
                                      <p:to>
                                        <p:strVal val="visible"/>
                                      </p:to>
                                    </p:set>
                                    <p:animEffect transition="in" filter="wipe(left)">
                                      <p:cBhvr>
                                        <p:cTn id="118" dur="500"/>
                                        <p:tgtEl>
                                          <p:spTgt spid="8283"/>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8284"/>
                                        </p:tgtEl>
                                        <p:attrNameLst>
                                          <p:attrName>style.visibility</p:attrName>
                                        </p:attrNameLst>
                                      </p:cBhvr>
                                      <p:to>
                                        <p:strVal val="visible"/>
                                      </p:to>
                                    </p:set>
                                    <p:animEffect transition="in" filter="wipe(left)">
                                      <p:cBhvr>
                                        <p:cTn id="123" dur="500"/>
                                        <p:tgtEl>
                                          <p:spTgt spid="8284"/>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8285"/>
                                        </p:tgtEl>
                                        <p:attrNameLst>
                                          <p:attrName>style.visibility</p:attrName>
                                        </p:attrNameLst>
                                      </p:cBhvr>
                                      <p:to>
                                        <p:strVal val="visible"/>
                                      </p:to>
                                    </p:set>
                                    <p:animEffect transition="in" filter="wipe(left)">
                                      <p:cBhvr>
                                        <p:cTn id="128" dur="500"/>
                                        <p:tgtEl>
                                          <p:spTgt spid="8285"/>
                                        </p:tgtEl>
                                      </p:cBhvr>
                                    </p:animEffect>
                                  </p:childTnLst>
                                </p:cTn>
                              </p:par>
                            </p:childTnLst>
                          </p:cTn>
                        </p:par>
                        <p:par>
                          <p:cTn id="129" fill="hold" nodeType="afterGroup">
                            <p:stCondLst>
                              <p:cond delay="500"/>
                            </p:stCondLst>
                            <p:childTnLst>
                              <p:par>
                                <p:cTn id="130" presetID="22" presetClass="entr" presetSubtype="8" fill="hold" grpId="0" nodeType="afterEffect">
                                  <p:stCondLst>
                                    <p:cond delay="0"/>
                                  </p:stCondLst>
                                  <p:childTnLst>
                                    <p:set>
                                      <p:cBhvr>
                                        <p:cTn id="131" dur="1" fill="hold">
                                          <p:stCondLst>
                                            <p:cond delay="0"/>
                                          </p:stCondLst>
                                        </p:cTn>
                                        <p:tgtEl>
                                          <p:spTgt spid="8288"/>
                                        </p:tgtEl>
                                        <p:attrNameLst>
                                          <p:attrName>style.visibility</p:attrName>
                                        </p:attrNameLst>
                                      </p:cBhvr>
                                      <p:to>
                                        <p:strVal val="visible"/>
                                      </p:to>
                                    </p:set>
                                    <p:animEffect transition="in" filter="wipe(left)">
                                      <p:cBhvr>
                                        <p:cTn id="132" dur="500"/>
                                        <p:tgtEl>
                                          <p:spTgt spid="8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autoUpdateAnimBg="0"/>
      <p:bldP spid="8250" grpId="0" animBg="1"/>
      <p:bldP spid="8251" grpId="0" animBg="1"/>
      <p:bldP spid="8252" grpId="0" animBg="1"/>
      <p:bldP spid="8255" grpId="0" animBg="1"/>
      <p:bldP spid="8272" grpId="0" animBg="1"/>
      <p:bldP spid="8273" grpId="0" animBg="1"/>
      <p:bldP spid="8274" grpId="0" autoUpdateAnimBg="0"/>
      <p:bldP spid="8275" grpId="0" autoUpdateAnimBg="0"/>
      <p:bldP spid="8277" grpId="0" autoUpdateAnimBg="0"/>
      <p:bldP spid="8279" grpId="0" animBg="1"/>
      <p:bldP spid="8280" grpId="0" autoUpdateAnimBg="0"/>
      <p:bldP spid="8282" grpId="0" autoUpdateAnimBg="0"/>
      <p:bldP spid="8283" grpId="0" autoUpdateAnimBg="0"/>
      <p:bldP spid="8284" grpId="0" autoUpdateAnimBg="0"/>
      <p:bldP spid="8285" grpId="0" autoUpdateAnimBg="0"/>
      <p:bldP spid="8288"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0" name="Object 2"/>
          <p:cNvGraphicFramePr>
            <a:graphicFrameLocks noChangeAspect="1"/>
          </p:cNvGraphicFramePr>
          <p:nvPr/>
        </p:nvGraphicFramePr>
        <p:xfrm>
          <a:off x="3870325" y="3255963"/>
          <a:ext cx="1133475" cy="388937"/>
        </p:xfrm>
        <a:graphic>
          <a:graphicData uri="http://schemas.openxmlformats.org/presentationml/2006/ole">
            <p:oleObj spid="_x0000_s31746" name="公式" r:id="rId4" imgW="581056" imgH="180900" progId="Equation.3">
              <p:embed/>
            </p:oleObj>
          </a:graphicData>
        </a:graphic>
      </p:graphicFrame>
      <p:graphicFrame>
        <p:nvGraphicFramePr>
          <p:cNvPr id="89093" name="Object 5"/>
          <p:cNvGraphicFramePr>
            <a:graphicFrameLocks noChangeAspect="1"/>
          </p:cNvGraphicFramePr>
          <p:nvPr/>
        </p:nvGraphicFramePr>
        <p:xfrm>
          <a:off x="2916238" y="3851275"/>
          <a:ext cx="1511300" cy="730250"/>
        </p:xfrm>
        <a:graphic>
          <a:graphicData uri="http://schemas.openxmlformats.org/presentationml/2006/ole">
            <p:oleObj spid="_x0000_s31747" name="公式" r:id="rId5" imgW="800134" imgH="371520" progId="Equation.3">
              <p:embed/>
            </p:oleObj>
          </a:graphicData>
        </a:graphic>
      </p:graphicFrame>
      <p:graphicFrame>
        <p:nvGraphicFramePr>
          <p:cNvPr id="89094" name="Object 6"/>
          <p:cNvGraphicFramePr>
            <a:graphicFrameLocks noChangeAspect="1"/>
          </p:cNvGraphicFramePr>
          <p:nvPr/>
        </p:nvGraphicFramePr>
        <p:xfrm>
          <a:off x="876300" y="1196975"/>
          <a:ext cx="1003300" cy="730250"/>
        </p:xfrm>
        <a:graphic>
          <a:graphicData uri="http://schemas.openxmlformats.org/presentationml/2006/ole">
            <p:oleObj spid="_x0000_s31748" name="公式" r:id="rId6" imgW="523788" imgH="371520" progId="Equation.3">
              <p:embed/>
            </p:oleObj>
          </a:graphicData>
        </a:graphic>
      </p:graphicFrame>
      <p:sp>
        <p:nvSpPr>
          <p:cNvPr id="89095" name="Text Box 7"/>
          <p:cNvSpPr txBox="1">
            <a:spLocks noChangeArrowheads="1"/>
          </p:cNvSpPr>
          <p:nvPr/>
        </p:nvSpPr>
        <p:spPr bwMode="auto">
          <a:xfrm>
            <a:off x="179388" y="4724400"/>
            <a:ext cx="4824412"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FF0000"/>
                </a:solidFill>
                <a:latin typeface="Times New Roman" pitchFamily="18" charset="0"/>
                <a:ea typeface="楷体_GB2312" pitchFamily="49" charset="-122"/>
              </a:rPr>
              <a:t>位移电流假说：</a:t>
            </a:r>
            <a:endParaRPr kumimoji="1" lang="zh-CN" altLang="en-US" sz="2400" b="1">
              <a:latin typeface="Times New Roman" pitchFamily="18" charset="0"/>
              <a:ea typeface="楷体_GB2312" pitchFamily="49" charset="-122"/>
            </a:endParaRPr>
          </a:p>
        </p:txBody>
      </p:sp>
      <p:sp>
        <p:nvSpPr>
          <p:cNvPr id="89096" name="Text Box 8"/>
          <p:cNvSpPr txBox="1">
            <a:spLocks noChangeArrowheads="1"/>
          </p:cNvSpPr>
          <p:nvPr/>
        </p:nvSpPr>
        <p:spPr bwMode="auto">
          <a:xfrm>
            <a:off x="179388" y="476250"/>
            <a:ext cx="3744912" cy="603250"/>
          </a:xfrm>
          <a:prstGeom prst="rect">
            <a:avLst/>
          </a:prstGeom>
          <a:noFill/>
          <a:ln w="9525" algn="ctr">
            <a:noFill/>
            <a:miter lim="800000"/>
            <a:headEnd/>
            <a:tailEnd/>
          </a:ln>
        </p:spPr>
        <p:txBody>
          <a:bodyPr tIns="82800" bIns="82800">
            <a:spAutoFit/>
          </a:bodyPr>
          <a:lstStyle/>
          <a:p>
            <a:pPr algn="just" eaLnBrk="0" hangingPunct="0">
              <a:lnSpc>
                <a:spcPct val="120000"/>
              </a:lnSpc>
              <a:spcBef>
                <a:spcPct val="50000"/>
              </a:spcBef>
            </a:pPr>
            <a:r>
              <a:rPr lang="en-US" altLang="zh-CN" sz="2400" b="1">
                <a:solidFill>
                  <a:srgbClr val="008000"/>
                </a:solidFill>
                <a:latin typeface="Times New Roman" pitchFamily="18" charset="0"/>
                <a:ea typeface="楷体_GB2312" pitchFamily="49" charset="-122"/>
              </a:rPr>
              <a:t>(</a:t>
            </a:r>
            <a:r>
              <a:rPr lang="zh-CN" altLang="en-US" sz="2400" b="1">
                <a:solidFill>
                  <a:srgbClr val="008000"/>
                </a:solidFill>
                <a:latin typeface="Times New Roman" pitchFamily="18" charset="0"/>
                <a:ea typeface="楷体_GB2312" pitchFamily="49" charset="-122"/>
              </a:rPr>
              <a:t>以平行板电容器为例</a:t>
            </a:r>
            <a:r>
              <a:rPr lang="en-US" altLang="zh-CN" sz="2400" b="1">
                <a:solidFill>
                  <a:srgbClr val="008000"/>
                </a:solidFill>
                <a:latin typeface="Times New Roman" pitchFamily="18" charset="0"/>
                <a:ea typeface="楷体_GB2312" pitchFamily="49" charset="-122"/>
              </a:rPr>
              <a:t>)</a:t>
            </a:r>
          </a:p>
        </p:txBody>
      </p:sp>
      <p:sp>
        <p:nvSpPr>
          <p:cNvPr id="89097" name="Rectangle 9"/>
          <p:cNvSpPr>
            <a:spLocks noChangeArrowheads="1"/>
          </p:cNvSpPr>
          <p:nvPr/>
        </p:nvSpPr>
        <p:spPr bwMode="auto">
          <a:xfrm>
            <a:off x="5967413" y="890588"/>
            <a:ext cx="350837" cy="2222500"/>
          </a:xfrm>
          <a:prstGeom prst="rect">
            <a:avLst/>
          </a:prstGeom>
          <a:gradFill rotWithShape="0">
            <a:gsLst>
              <a:gs pos="0">
                <a:srgbClr val="00CCFF"/>
              </a:gs>
              <a:gs pos="100000">
                <a:srgbClr val="005E76"/>
              </a:gs>
            </a:gsLst>
            <a:lin ang="0" scaled="1"/>
          </a:gradFill>
          <a:ln w="9525">
            <a:solidFill>
              <a:schemeClr val="tx1"/>
            </a:solidFill>
            <a:miter lim="800000"/>
            <a:headEnd/>
            <a:tailEnd/>
          </a:ln>
        </p:spPr>
        <p:txBody>
          <a:bodyPr wrap="none" anchor="ctr"/>
          <a:lstStyle/>
          <a:p>
            <a:endParaRPr lang="zh-CN" altLang="en-US"/>
          </a:p>
        </p:txBody>
      </p:sp>
      <p:sp>
        <p:nvSpPr>
          <p:cNvPr id="89098" name="Rectangle 10"/>
          <p:cNvSpPr>
            <a:spLocks noChangeArrowheads="1"/>
          </p:cNvSpPr>
          <p:nvPr/>
        </p:nvSpPr>
        <p:spPr bwMode="auto">
          <a:xfrm>
            <a:off x="7491413" y="890588"/>
            <a:ext cx="350837" cy="2222500"/>
          </a:xfrm>
          <a:prstGeom prst="rect">
            <a:avLst/>
          </a:prstGeom>
          <a:gradFill rotWithShape="0">
            <a:gsLst>
              <a:gs pos="0">
                <a:srgbClr val="00CCFF"/>
              </a:gs>
              <a:gs pos="100000">
                <a:srgbClr val="005E76"/>
              </a:gs>
            </a:gsLst>
            <a:lin ang="0" scaled="1"/>
          </a:gradFill>
          <a:ln w="9525">
            <a:solidFill>
              <a:schemeClr val="tx1"/>
            </a:solidFill>
            <a:miter lim="800000"/>
            <a:headEnd/>
            <a:tailEnd/>
          </a:ln>
        </p:spPr>
        <p:txBody>
          <a:bodyPr wrap="none" anchor="ctr"/>
          <a:lstStyle/>
          <a:p>
            <a:endParaRPr lang="zh-CN" altLang="en-US"/>
          </a:p>
        </p:txBody>
      </p:sp>
      <p:sp>
        <p:nvSpPr>
          <p:cNvPr id="89099" name="Line 11"/>
          <p:cNvSpPr>
            <a:spLocks noChangeShapeType="1"/>
          </p:cNvSpPr>
          <p:nvPr/>
        </p:nvSpPr>
        <p:spPr bwMode="auto">
          <a:xfrm>
            <a:off x="5403850" y="1970088"/>
            <a:ext cx="487363" cy="1587"/>
          </a:xfrm>
          <a:prstGeom prst="line">
            <a:avLst/>
          </a:prstGeom>
          <a:noFill/>
          <a:ln w="25400">
            <a:solidFill>
              <a:srgbClr val="FF0000"/>
            </a:solidFill>
            <a:round/>
            <a:headEnd/>
            <a:tailEnd type="triangle" w="med" len="med"/>
          </a:ln>
        </p:spPr>
        <p:txBody>
          <a:bodyPr/>
          <a:lstStyle/>
          <a:p>
            <a:endParaRPr lang="zh-CN" altLang="en-US"/>
          </a:p>
        </p:txBody>
      </p:sp>
      <p:sp>
        <p:nvSpPr>
          <p:cNvPr id="89100" name="Line 12"/>
          <p:cNvSpPr>
            <a:spLocks noChangeShapeType="1"/>
          </p:cNvSpPr>
          <p:nvPr/>
        </p:nvSpPr>
        <p:spPr bwMode="auto">
          <a:xfrm flipV="1">
            <a:off x="7929563" y="1954213"/>
            <a:ext cx="530225" cy="15875"/>
          </a:xfrm>
          <a:prstGeom prst="line">
            <a:avLst/>
          </a:prstGeom>
          <a:noFill/>
          <a:ln w="25400">
            <a:solidFill>
              <a:srgbClr val="FF0000"/>
            </a:solidFill>
            <a:round/>
            <a:headEnd/>
            <a:tailEnd type="triangle" w="med" len="med"/>
          </a:ln>
        </p:spPr>
        <p:txBody>
          <a:bodyPr/>
          <a:lstStyle/>
          <a:p>
            <a:endParaRPr lang="zh-CN" altLang="en-US"/>
          </a:p>
        </p:txBody>
      </p:sp>
      <p:graphicFrame>
        <p:nvGraphicFramePr>
          <p:cNvPr id="89101" name="Object 13"/>
          <p:cNvGraphicFramePr>
            <a:graphicFrameLocks/>
          </p:cNvGraphicFramePr>
          <p:nvPr/>
        </p:nvGraphicFramePr>
        <p:xfrm>
          <a:off x="5861050" y="549275"/>
          <a:ext cx="528638" cy="385763"/>
        </p:xfrm>
        <a:graphic>
          <a:graphicData uri="http://schemas.openxmlformats.org/presentationml/2006/ole">
            <p:oleObj spid="_x0000_s31749" name="公式" r:id="rId7" imgW="257167" imgH="180900" progId="Equation.3">
              <p:embed/>
            </p:oleObj>
          </a:graphicData>
        </a:graphic>
      </p:graphicFrame>
      <p:graphicFrame>
        <p:nvGraphicFramePr>
          <p:cNvPr id="89102" name="Object 14"/>
          <p:cNvGraphicFramePr>
            <a:graphicFrameLocks noChangeAspect="1"/>
          </p:cNvGraphicFramePr>
          <p:nvPr/>
        </p:nvGraphicFramePr>
        <p:xfrm>
          <a:off x="7308850" y="476250"/>
          <a:ext cx="723900" cy="385763"/>
        </p:xfrm>
        <a:graphic>
          <a:graphicData uri="http://schemas.openxmlformats.org/presentationml/2006/ole">
            <p:oleObj spid="_x0000_s31750" name="公式" r:id="rId8" imgW="371433" imgH="180900" progId="Equation.3">
              <p:embed/>
            </p:oleObj>
          </a:graphicData>
        </a:graphic>
      </p:graphicFrame>
      <p:graphicFrame>
        <p:nvGraphicFramePr>
          <p:cNvPr id="89103" name="Object 15"/>
          <p:cNvGraphicFramePr>
            <a:graphicFrameLocks noChangeAspect="1"/>
          </p:cNvGraphicFramePr>
          <p:nvPr/>
        </p:nvGraphicFramePr>
        <p:xfrm>
          <a:off x="5292725" y="1535113"/>
          <a:ext cx="619125" cy="409575"/>
        </p:xfrm>
        <a:graphic>
          <a:graphicData uri="http://schemas.openxmlformats.org/presentationml/2006/ole">
            <p:oleObj spid="_x0000_s31751" name="公式" r:id="rId9" imgW="304710" imgH="190620" progId="Equation.3">
              <p:embed/>
            </p:oleObj>
          </a:graphicData>
        </a:graphic>
      </p:graphicFrame>
      <p:graphicFrame>
        <p:nvGraphicFramePr>
          <p:cNvPr id="89104" name="Object 16"/>
          <p:cNvGraphicFramePr>
            <a:graphicFrameLocks noChangeAspect="1"/>
          </p:cNvGraphicFramePr>
          <p:nvPr/>
        </p:nvGraphicFramePr>
        <p:xfrm>
          <a:off x="7885113" y="1557338"/>
          <a:ext cx="622300" cy="412750"/>
        </p:xfrm>
        <a:graphic>
          <a:graphicData uri="http://schemas.openxmlformats.org/presentationml/2006/ole">
            <p:oleObj spid="_x0000_s31752" name="公式" r:id="rId10" imgW="304710" imgH="190620" progId="Equation.3">
              <p:embed/>
            </p:oleObj>
          </a:graphicData>
        </a:graphic>
      </p:graphicFrame>
      <p:sp>
        <p:nvSpPr>
          <p:cNvPr id="89105" name="Line 17"/>
          <p:cNvSpPr>
            <a:spLocks noChangeShapeType="1"/>
          </p:cNvSpPr>
          <p:nvPr/>
        </p:nvSpPr>
        <p:spPr bwMode="auto">
          <a:xfrm>
            <a:off x="6367463" y="1055688"/>
            <a:ext cx="1143000" cy="1587"/>
          </a:xfrm>
          <a:prstGeom prst="line">
            <a:avLst/>
          </a:prstGeom>
          <a:noFill/>
          <a:ln w="22225">
            <a:solidFill>
              <a:srgbClr val="FF6600"/>
            </a:solidFill>
            <a:round/>
            <a:headEnd/>
            <a:tailEnd type="triangle" w="med" len="med"/>
          </a:ln>
        </p:spPr>
        <p:txBody>
          <a:bodyPr/>
          <a:lstStyle/>
          <a:p>
            <a:endParaRPr lang="zh-CN" altLang="en-US"/>
          </a:p>
        </p:txBody>
      </p:sp>
      <p:sp>
        <p:nvSpPr>
          <p:cNvPr id="89106" name="Line 18"/>
          <p:cNvSpPr>
            <a:spLocks noChangeShapeType="1"/>
          </p:cNvSpPr>
          <p:nvPr/>
        </p:nvSpPr>
        <p:spPr bwMode="auto">
          <a:xfrm>
            <a:off x="6367463" y="2274888"/>
            <a:ext cx="1143000" cy="1587"/>
          </a:xfrm>
          <a:prstGeom prst="line">
            <a:avLst/>
          </a:prstGeom>
          <a:noFill/>
          <a:ln w="22225">
            <a:solidFill>
              <a:srgbClr val="FF6600"/>
            </a:solidFill>
            <a:round/>
            <a:headEnd/>
            <a:tailEnd type="triangle" w="med" len="med"/>
          </a:ln>
        </p:spPr>
        <p:txBody>
          <a:bodyPr/>
          <a:lstStyle/>
          <a:p>
            <a:endParaRPr lang="zh-CN" altLang="en-US"/>
          </a:p>
        </p:txBody>
      </p:sp>
      <p:sp>
        <p:nvSpPr>
          <p:cNvPr id="89107" name="Line 19"/>
          <p:cNvSpPr>
            <a:spLocks noChangeShapeType="1"/>
          </p:cNvSpPr>
          <p:nvPr/>
        </p:nvSpPr>
        <p:spPr bwMode="auto">
          <a:xfrm>
            <a:off x="6367463" y="1665288"/>
            <a:ext cx="1143000" cy="1587"/>
          </a:xfrm>
          <a:prstGeom prst="line">
            <a:avLst/>
          </a:prstGeom>
          <a:noFill/>
          <a:ln w="22225">
            <a:solidFill>
              <a:srgbClr val="FF6600"/>
            </a:solidFill>
            <a:round/>
            <a:headEnd/>
            <a:tailEnd type="triangle" w="med" len="med"/>
          </a:ln>
        </p:spPr>
        <p:txBody>
          <a:bodyPr/>
          <a:lstStyle/>
          <a:p>
            <a:endParaRPr lang="zh-CN" altLang="en-US"/>
          </a:p>
        </p:txBody>
      </p:sp>
      <p:sp>
        <p:nvSpPr>
          <p:cNvPr id="89108" name="Line 20"/>
          <p:cNvSpPr>
            <a:spLocks noChangeShapeType="1"/>
          </p:cNvSpPr>
          <p:nvPr/>
        </p:nvSpPr>
        <p:spPr bwMode="auto">
          <a:xfrm>
            <a:off x="6367463" y="2884488"/>
            <a:ext cx="1143000" cy="1587"/>
          </a:xfrm>
          <a:prstGeom prst="line">
            <a:avLst/>
          </a:prstGeom>
          <a:noFill/>
          <a:ln w="22225">
            <a:solidFill>
              <a:srgbClr val="FF6600"/>
            </a:solidFill>
            <a:round/>
            <a:headEnd/>
            <a:tailEnd type="triangle" w="med" len="med"/>
          </a:ln>
        </p:spPr>
        <p:txBody>
          <a:bodyPr/>
          <a:lstStyle/>
          <a:p>
            <a:endParaRPr lang="zh-CN" altLang="en-US"/>
          </a:p>
        </p:txBody>
      </p:sp>
      <p:graphicFrame>
        <p:nvGraphicFramePr>
          <p:cNvPr id="89109" name="Object 21"/>
          <p:cNvGraphicFramePr>
            <a:graphicFrameLocks noChangeAspect="1"/>
          </p:cNvGraphicFramePr>
          <p:nvPr/>
        </p:nvGraphicFramePr>
        <p:xfrm>
          <a:off x="6588125" y="1773238"/>
          <a:ext cx="571500" cy="434975"/>
        </p:xfrm>
        <a:graphic>
          <a:graphicData uri="http://schemas.openxmlformats.org/presentationml/2006/ole">
            <p:oleObj spid="_x0000_s31753" name="公式" r:id="rId11" imgW="276346" imgH="200070" progId="Equation.3">
              <p:embed/>
            </p:oleObj>
          </a:graphicData>
        </a:graphic>
      </p:graphicFrame>
      <p:graphicFrame>
        <p:nvGraphicFramePr>
          <p:cNvPr id="89110" name="Object 22"/>
          <p:cNvGraphicFramePr>
            <a:graphicFrameLocks noChangeAspect="1"/>
          </p:cNvGraphicFramePr>
          <p:nvPr/>
        </p:nvGraphicFramePr>
        <p:xfrm>
          <a:off x="6588125" y="2520950"/>
          <a:ext cx="277813" cy="322263"/>
        </p:xfrm>
        <a:graphic>
          <a:graphicData uri="http://schemas.openxmlformats.org/presentationml/2006/ole">
            <p:oleObj spid="_x0000_s31754" name="公式" r:id="rId12" imgW="114266" imgH="142830" progId="Equation.3">
              <p:embed/>
            </p:oleObj>
          </a:graphicData>
        </a:graphic>
      </p:graphicFrame>
      <p:grpSp>
        <p:nvGrpSpPr>
          <p:cNvPr id="2" name="Group 23"/>
          <p:cNvGrpSpPr>
            <a:grpSpLocks/>
          </p:cNvGrpSpPr>
          <p:nvPr/>
        </p:nvGrpSpPr>
        <p:grpSpPr bwMode="auto">
          <a:xfrm>
            <a:off x="6030913" y="1023938"/>
            <a:ext cx="196850" cy="1924050"/>
            <a:chOff x="5926" y="808"/>
            <a:chExt cx="124" cy="1212"/>
          </a:xfrm>
        </p:grpSpPr>
        <p:grpSp>
          <p:nvGrpSpPr>
            <p:cNvPr id="31801" name="Group 24"/>
            <p:cNvGrpSpPr>
              <a:grpSpLocks/>
            </p:cNvGrpSpPr>
            <p:nvPr/>
          </p:nvGrpSpPr>
          <p:grpSpPr bwMode="auto">
            <a:xfrm>
              <a:off x="5926" y="808"/>
              <a:ext cx="124" cy="135"/>
              <a:chOff x="2352" y="1776"/>
              <a:chExt cx="144" cy="144"/>
            </a:xfrm>
          </p:grpSpPr>
          <p:sp>
            <p:nvSpPr>
              <p:cNvPr id="31826" name="Oval 25"/>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827" name="Line 26"/>
              <p:cNvSpPr>
                <a:spLocks noChangeShapeType="1"/>
              </p:cNvSpPr>
              <p:nvPr/>
            </p:nvSpPr>
            <p:spPr bwMode="auto">
              <a:xfrm>
                <a:off x="2385" y="1850"/>
                <a:ext cx="96" cy="0"/>
              </a:xfrm>
              <a:prstGeom prst="line">
                <a:avLst/>
              </a:prstGeom>
              <a:noFill/>
              <a:ln w="38100">
                <a:solidFill>
                  <a:srgbClr val="FF0000"/>
                </a:solidFill>
                <a:round/>
                <a:headEnd/>
                <a:tailEnd/>
              </a:ln>
            </p:spPr>
            <p:txBody>
              <a:bodyPr/>
              <a:lstStyle/>
              <a:p>
                <a:endParaRPr lang="zh-CN" altLang="en-US"/>
              </a:p>
            </p:txBody>
          </p:sp>
          <p:sp>
            <p:nvSpPr>
              <p:cNvPr id="31828" name="Line 27"/>
              <p:cNvSpPr>
                <a:spLocks noChangeShapeType="1"/>
              </p:cNvSpPr>
              <p:nvPr/>
            </p:nvSpPr>
            <p:spPr bwMode="auto">
              <a:xfrm>
                <a:off x="2433" y="1809"/>
                <a:ext cx="0" cy="96"/>
              </a:xfrm>
              <a:prstGeom prst="line">
                <a:avLst/>
              </a:prstGeom>
              <a:noFill/>
              <a:ln w="38100">
                <a:solidFill>
                  <a:srgbClr val="FF0000"/>
                </a:solidFill>
                <a:round/>
                <a:headEnd/>
                <a:tailEnd/>
              </a:ln>
            </p:spPr>
            <p:txBody>
              <a:bodyPr/>
              <a:lstStyle/>
              <a:p>
                <a:endParaRPr lang="zh-CN" altLang="en-US"/>
              </a:p>
            </p:txBody>
          </p:sp>
        </p:grpSp>
        <p:grpSp>
          <p:nvGrpSpPr>
            <p:cNvPr id="31802" name="Group 28"/>
            <p:cNvGrpSpPr>
              <a:grpSpLocks/>
            </p:cNvGrpSpPr>
            <p:nvPr/>
          </p:nvGrpSpPr>
          <p:grpSpPr bwMode="auto">
            <a:xfrm>
              <a:off x="5926" y="987"/>
              <a:ext cx="124" cy="135"/>
              <a:chOff x="2352" y="1776"/>
              <a:chExt cx="144" cy="144"/>
            </a:xfrm>
          </p:grpSpPr>
          <p:sp>
            <p:nvSpPr>
              <p:cNvPr id="31823" name="Oval 29"/>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824" name="Line 30"/>
              <p:cNvSpPr>
                <a:spLocks noChangeShapeType="1"/>
              </p:cNvSpPr>
              <p:nvPr/>
            </p:nvSpPr>
            <p:spPr bwMode="auto">
              <a:xfrm>
                <a:off x="2385" y="1850"/>
                <a:ext cx="96" cy="0"/>
              </a:xfrm>
              <a:prstGeom prst="line">
                <a:avLst/>
              </a:prstGeom>
              <a:noFill/>
              <a:ln w="38100">
                <a:solidFill>
                  <a:srgbClr val="FF0000"/>
                </a:solidFill>
                <a:round/>
                <a:headEnd/>
                <a:tailEnd/>
              </a:ln>
            </p:spPr>
            <p:txBody>
              <a:bodyPr/>
              <a:lstStyle/>
              <a:p>
                <a:endParaRPr lang="zh-CN" altLang="en-US"/>
              </a:p>
            </p:txBody>
          </p:sp>
          <p:sp>
            <p:nvSpPr>
              <p:cNvPr id="31825" name="Line 31"/>
              <p:cNvSpPr>
                <a:spLocks noChangeShapeType="1"/>
              </p:cNvSpPr>
              <p:nvPr/>
            </p:nvSpPr>
            <p:spPr bwMode="auto">
              <a:xfrm>
                <a:off x="2433" y="1809"/>
                <a:ext cx="0" cy="96"/>
              </a:xfrm>
              <a:prstGeom prst="line">
                <a:avLst/>
              </a:prstGeom>
              <a:noFill/>
              <a:ln w="38100">
                <a:solidFill>
                  <a:srgbClr val="FF0000"/>
                </a:solidFill>
                <a:round/>
                <a:headEnd/>
                <a:tailEnd/>
              </a:ln>
            </p:spPr>
            <p:txBody>
              <a:bodyPr/>
              <a:lstStyle/>
              <a:p>
                <a:endParaRPr lang="zh-CN" altLang="en-US"/>
              </a:p>
            </p:txBody>
          </p:sp>
        </p:grpSp>
        <p:grpSp>
          <p:nvGrpSpPr>
            <p:cNvPr id="31803" name="Group 32"/>
            <p:cNvGrpSpPr>
              <a:grpSpLocks/>
            </p:cNvGrpSpPr>
            <p:nvPr/>
          </p:nvGrpSpPr>
          <p:grpSpPr bwMode="auto">
            <a:xfrm>
              <a:off x="5926" y="1167"/>
              <a:ext cx="124" cy="135"/>
              <a:chOff x="2352" y="1776"/>
              <a:chExt cx="144" cy="144"/>
            </a:xfrm>
          </p:grpSpPr>
          <p:sp>
            <p:nvSpPr>
              <p:cNvPr id="31820" name="Oval 33"/>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821" name="Line 34"/>
              <p:cNvSpPr>
                <a:spLocks noChangeShapeType="1"/>
              </p:cNvSpPr>
              <p:nvPr/>
            </p:nvSpPr>
            <p:spPr bwMode="auto">
              <a:xfrm>
                <a:off x="2385" y="1850"/>
                <a:ext cx="96" cy="0"/>
              </a:xfrm>
              <a:prstGeom prst="line">
                <a:avLst/>
              </a:prstGeom>
              <a:noFill/>
              <a:ln w="38100">
                <a:solidFill>
                  <a:srgbClr val="FF0000"/>
                </a:solidFill>
                <a:round/>
                <a:headEnd/>
                <a:tailEnd/>
              </a:ln>
            </p:spPr>
            <p:txBody>
              <a:bodyPr/>
              <a:lstStyle/>
              <a:p>
                <a:endParaRPr lang="zh-CN" altLang="en-US"/>
              </a:p>
            </p:txBody>
          </p:sp>
          <p:sp>
            <p:nvSpPr>
              <p:cNvPr id="31822" name="Line 35"/>
              <p:cNvSpPr>
                <a:spLocks noChangeShapeType="1"/>
              </p:cNvSpPr>
              <p:nvPr/>
            </p:nvSpPr>
            <p:spPr bwMode="auto">
              <a:xfrm>
                <a:off x="2433" y="1809"/>
                <a:ext cx="0" cy="96"/>
              </a:xfrm>
              <a:prstGeom prst="line">
                <a:avLst/>
              </a:prstGeom>
              <a:noFill/>
              <a:ln w="38100">
                <a:solidFill>
                  <a:srgbClr val="FF0000"/>
                </a:solidFill>
                <a:round/>
                <a:headEnd/>
                <a:tailEnd/>
              </a:ln>
            </p:spPr>
            <p:txBody>
              <a:bodyPr/>
              <a:lstStyle/>
              <a:p>
                <a:endParaRPr lang="zh-CN" altLang="en-US"/>
              </a:p>
            </p:txBody>
          </p:sp>
        </p:grpSp>
        <p:grpSp>
          <p:nvGrpSpPr>
            <p:cNvPr id="31804" name="Group 36"/>
            <p:cNvGrpSpPr>
              <a:grpSpLocks/>
            </p:cNvGrpSpPr>
            <p:nvPr/>
          </p:nvGrpSpPr>
          <p:grpSpPr bwMode="auto">
            <a:xfrm>
              <a:off x="5926" y="1346"/>
              <a:ext cx="124" cy="135"/>
              <a:chOff x="2352" y="1776"/>
              <a:chExt cx="144" cy="144"/>
            </a:xfrm>
          </p:grpSpPr>
          <p:sp>
            <p:nvSpPr>
              <p:cNvPr id="31817" name="Oval 37"/>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818" name="Line 38"/>
              <p:cNvSpPr>
                <a:spLocks noChangeShapeType="1"/>
              </p:cNvSpPr>
              <p:nvPr/>
            </p:nvSpPr>
            <p:spPr bwMode="auto">
              <a:xfrm>
                <a:off x="2385" y="1850"/>
                <a:ext cx="96" cy="0"/>
              </a:xfrm>
              <a:prstGeom prst="line">
                <a:avLst/>
              </a:prstGeom>
              <a:noFill/>
              <a:ln w="38100">
                <a:solidFill>
                  <a:srgbClr val="FF0000"/>
                </a:solidFill>
                <a:round/>
                <a:headEnd/>
                <a:tailEnd/>
              </a:ln>
            </p:spPr>
            <p:txBody>
              <a:bodyPr/>
              <a:lstStyle/>
              <a:p>
                <a:endParaRPr lang="zh-CN" altLang="en-US"/>
              </a:p>
            </p:txBody>
          </p:sp>
          <p:sp>
            <p:nvSpPr>
              <p:cNvPr id="31819" name="Line 39"/>
              <p:cNvSpPr>
                <a:spLocks noChangeShapeType="1"/>
              </p:cNvSpPr>
              <p:nvPr/>
            </p:nvSpPr>
            <p:spPr bwMode="auto">
              <a:xfrm>
                <a:off x="2433" y="1809"/>
                <a:ext cx="0" cy="96"/>
              </a:xfrm>
              <a:prstGeom prst="line">
                <a:avLst/>
              </a:prstGeom>
              <a:noFill/>
              <a:ln w="38100">
                <a:solidFill>
                  <a:srgbClr val="FF0000"/>
                </a:solidFill>
                <a:round/>
                <a:headEnd/>
                <a:tailEnd/>
              </a:ln>
            </p:spPr>
            <p:txBody>
              <a:bodyPr/>
              <a:lstStyle/>
              <a:p>
                <a:endParaRPr lang="zh-CN" altLang="en-US"/>
              </a:p>
            </p:txBody>
          </p:sp>
        </p:grpSp>
        <p:grpSp>
          <p:nvGrpSpPr>
            <p:cNvPr id="31805" name="Group 40"/>
            <p:cNvGrpSpPr>
              <a:grpSpLocks/>
            </p:cNvGrpSpPr>
            <p:nvPr/>
          </p:nvGrpSpPr>
          <p:grpSpPr bwMode="auto">
            <a:xfrm>
              <a:off x="5926" y="1526"/>
              <a:ext cx="124" cy="135"/>
              <a:chOff x="2352" y="1776"/>
              <a:chExt cx="144" cy="144"/>
            </a:xfrm>
          </p:grpSpPr>
          <p:sp>
            <p:nvSpPr>
              <p:cNvPr id="31814" name="Oval 41"/>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815" name="Line 42"/>
              <p:cNvSpPr>
                <a:spLocks noChangeShapeType="1"/>
              </p:cNvSpPr>
              <p:nvPr/>
            </p:nvSpPr>
            <p:spPr bwMode="auto">
              <a:xfrm>
                <a:off x="2385" y="1850"/>
                <a:ext cx="96" cy="0"/>
              </a:xfrm>
              <a:prstGeom prst="line">
                <a:avLst/>
              </a:prstGeom>
              <a:noFill/>
              <a:ln w="38100">
                <a:solidFill>
                  <a:srgbClr val="FF0000"/>
                </a:solidFill>
                <a:round/>
                <a:headEnd/>
                <a:tailEnd/>
              </a:ln>
            </p:spPr>
            <p:txBody>
              <a:bodyPr/>
              <a:lstStyle/>
              <a:p>
                <a:endParaRPr lang="zh-CN" altLang="en-US"/>
              </a:p>
            </p:txBody>
          </p:sp>
          <p:sp>
            <p:nvSpPr>
              <p:cNvPr id="31816" name="Line 43"/>
              <p:cNvSpPr>
                <a:spLocks noChangeShapeType="1"/>
              </p:cNvSpPr>
              <p:nvPr/>
            </p:nvSpPr>
            <p:spPr bwMode="auto">
              <a:xfrm>
                <a:off x="2433" y="1809"/>
                <a:ext cx="0" cy="96"/>
              </a:xfrm>
              <a:prstGeom prst="line">
                <a:avLst/>
              </a:prstGeom>
              <a:noFill/>
              <a:ln w="38100">
                <a:solidFill>
                  <a:srgbClr val="FF0000"/>
                </a:solidFill>
                <a:round/>
                <a:headEnd/>
                <a:tailEnd/>
              </a:ln>
            </p:spPr>
            <p:txBody>
              <a:bodyPr/>
              <a:lstStyle/>
              <a:p>
                <a:endParaRPr lang="zh-CN" altLang="en-US"/>
              </a:p>
            </p:txBody>
          </p:sp>
        </p:grpSp>
        <p:grpSp>
          <p:nvGrpSpPr>
            <p:cNvPr id="31806" name="Group 44"/>
            <p:cNvGrpSpPr>
              <a:grpSpLocks/>
            </p:cNvGrpSpPr>
            <p:nvPr/>
          </p:nvGrpSpPr>
          <p:grpSpPr bwMode="auto">
            <a:xfrm>
              <a:off x="5926" y="1705"/>
              <a:ext cx="124" cy="135"/>
              <a:chOff x="2352" y="1776"/>
              <a:chExt cx="144" cy="144"/>
            </a:xfrm>
          </p:grpSpPr>
          <p:sp>
            <p:nvSpPr>
              <p:cNvPr id="31811" name="Oval 45"/>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812" name="Line 46"/>
              <p:cNvSpPr>
                <a:spLocks noChangeShapeType="1"/>
              </p:cNvSpPr>
              <p:nvPr/>
            </p:nvSpPr>
            <p:spPr bwMode="auto">
              <a:xfrm>
                <a:off x="2385" y="1850"/>
                <a:ext cx="96" cy="0"/>
              </a:xfrm>
              <a:prstGeom prst="line">
                <a:avLst/>
              </a:prstGeom>
              <a:noFill/>
              <a:ln w="38100">
                <a:solidFill>
                  <a:srgbClr val="FF0000"/>
                </a:solidFill>
                <a:round/>
                <a:headEnd/>
                <a:tailEnd/>
              </a:ln>
            </p:spPr>
            <p:txBody>
              <a:bodyPr/>
              <a:lstStyle/>
              <a:p>
                <a:endParaRPr lang="zh-CN" altLang="en-US"/>
              </a:p>
            </p:txBody>
          </p:sp>
          <p:sp>
            <p:nvSpPr>
              <p:cNvPr id="31813" name="Line 47"/>
              <p:cNvSpPr>
                <a:spLocks noChangeShapeType="1"/>
              </p:cNvSpPr>
              <p:nvPr/>
            </p:nvSpPr>
            <p:spPr bwMode="auto">
              <a:xfrm>
                <a:off x="2433" y="1809"/>
                <a:ext cx="0" cy="96"/>
              </a:xfrm>
              <a:prstGeom prst="line">
                <a:avLst/>
              </a:prstGeom>
              <a:noFill/>
              <a:ln w="38100">
                <a:solidFill>
                  <a:srgbClr val="FF0000"/>
                </a:solidFill>
                <a:round/>
                <a:headEnd/>
                <a:tailEnd/>
              </a:ln>
            </p:spPr>
            <p:txBody>
              <a:bodyPr/>
              <a:lstStyle/>
              <a:p>
                <a:endParaRPr lang="zh-CN" altLang="en-US"/>
              </a:p>
            </p:txBody>
          </p:sp>
        </p:grpSp>
        <p:grpSp>
          <p:nvGrpSpPr>
            <p:cNvPr id="31807" name="Group 48"/>
            <p:cNvGrpSpPr>
              <a:grpSpLocks/>
            </p:cNvGrpSpPr>
            <p:nvPr/>
          </p:nvGrpSpPr>
          <p:grpSpPr bwMode="auto">
            <a:xfrm>
              <a:off x="5926" y="1885"/>
              <a:ext cx="124" cy="135"/>
              <a:chOff x="2352" y="1776"/>
              <a:chExt cx="144" cy="144"/>
            </a:xfrm>
          </p:grpSpPr>
          <p:sp>
            <p:nvSpPr>
              <p:cNvPr id="31808" name="Oval 49"/>
              <p:cNvSpPr>
                <a:spLocks noChangeArrowheads="1"/>
              </p:cNvSpPr>
              <p:nvPr/>
            </p:nvSpPr>
            <p:spPr bwMode="auto">
              <a:xfrm>
                <a:off x="2352" y="1776"/>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809" name="Line 50"/>
              <p:cNvSpPr>
                <a:spLocks noChangeShapeType="1"/>
              </p:cNvSpPr>
              <p:nvPr/>
            </p:nvSpPr>
            <p:spPr bwMode="auto">
              <a:xfrm>
                <a:off x="2385" y="1850"/>
                <a:ext cx="96" cy="0"/>
              </a:xfrm>
              <a:prstGeom prst="line">
                <a:avLst/>
              </a:prstGeom>
              <a:noFill/>
              <a:ln w="38100">
                <a:solidFill>
                  <a:srgbClr val="FF0000"/>
                </a:solidFill>
                <a:round/>
                <a:headEnd/>
                <a:tailEnd/>
              </a:ln>
            </p:spPr>
            <p:txBody>
              <a:bodyPr/>
              <a:lstStyle/>
              <a:p>
                <a:endParaRPr lang="zh-CN" altLang="en-US"/>
              </a:p>
            </p:txBody>
          </p:sp>
          <p:sp>
            <p:nvSpPr>
              <p:cNvPr id="31810" name="Line 51"/>
              <p:cNvSpPr>
                <a:spLocks noChangeShapeType="1"/>
              </p:cNvSpPr>
              <p:nvPr/>
            </p:nvSpPr>
            <p:spPr bwMode="auto">
              <a:xfrm>
                <a:off x="2433" y="1809"/>
                <a:ext cx="0" cy="96"/>
              </a:xfrm>
              <a:prstGeom prst="line">
                <a:avLst/>
              </a:prstGeom>
              <a:noFill/>
              <a:ln w="38100">
                <a:solidFill>
                  <a:srgbClr val="FF0000"/>
                </a:solidFill>
                <a:round/>
                <a:headEnd/>
                <a:tailEnd/>
              </a:ln>
            </p:spPr>
            <p:txBody>
              <a:bodyPr/>
              <a:lstStyle/>
              <a:p>
                <a:endParaRPr lang="zh-CN" altLang="en-US"/>
              </a:p>
            </p:txBody>
          </p:sp>
        </p:grpSp>
      </p:grpSp>
      <p:grpSp>
        <p:nvGrpSpPr>
          <p:cNvPr id="10" name="Group 52"/>
          <p:cNvGrpSpPr>
            <a:grpSpLocks/>
          </p:cNvGrpSpPr>
          <p:nvPr/>
        </p:nvGrpSpPr>
        <p:grpSpPr bwMode="auto">
          <a:xfrm>
            <a:off x="7567613" y="1044575"/>
            <a:ext cx="193675" cy="1827213"/>
            <a:chOff x="6036" y="880"/>
            <a:chExt cx="122" cy="1151"/>
          </a:xfrm>
        </p:grpSpPr>
        <p:grpSp>
          <p:nvGrpSpPr>
            <p:cNvPr id="31780" name="Group 53"/>
            <p:cNvGrpSpPr>
              <a:grpSpLocks/>
            </p:cNvGrpSpPr>
            <p:nvPr/>
          </p:nvGrpSpPr>
          <p:grpSpPr bwMode="auto">
            <a:xfrm>
              <a:off x="6036" y="880"/>
              <a:ext cx="122" cy="133"/>
              <a:chOff x="2715" y="722"/>
              <a:chExt cx="144" cy="144"/>
            </a:xfrm>
          </p:grpSpPr>
          <p:sp>
            <p:nvSpPr>
              <p:cNvPr id="31799" name="Oval 54"/>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800" name="Line 55"/>
              <p:cNvSpPr>
                <a:spLocks noChangeShapeType="1"/>
              </p:cNvSpPr>
              <p:nvPr/>
            </p:nvSpPr>
            <p:spPr bwMode="auto">
              <a:xfrm>
                <a:off x="2741" y="807"/>
                <a:ext cx="96" cy="0"/>
              </a:xfrm>
              <a:prstGeom prst="line">
                <a:avLst/>
              </a:prstGeom>
              <a:noFill/>
              <a:ln w="38100">
                <a:solidFill>
                  <a:srgbClr val="FF0000"/>
                </a:solidFill>
                <a:round/>
                <a:headEnd/>
                <a:tailEnd/>
              </a:ln>
            </p:spPr>
            <p:txBody>
              <a:bodyPr/>
              <a:lstStyle/>
              <a:p>
                <a:endParaRPr lang="zh-CN" altLang="en-US"/>
              </a:p>
            </p:txBody>
          </p:sp>
        </p:grpSp>
        <p:grpSp>
          <p:nvGrpSpPr>
            <p:cNvPr id="31781" name="Group 56"/>
            <p:cNvGrpSpPr>
              <a:grpSpLocks/>
            </p:cNvGrpSpPr>
            <p:nvPr/>
          </p:nvGrpSpPr>
          <p:grpSpPr bwMode="auto">
            <a:xfrm>
              <a:off x="6036" y="1049"/>
              <a:ext cx="122" cy="133"/>
              <a:chOff x="2715" y="722"/>
              <a:chExt cx="144" cy="144"/>
            </a:xfrm>
          </p:grpSpPr>
          <p:sp>
            <p:nvSpPr>
              <p:cNvPr id="31797" name="Oval 57"/>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798" name="Line 58"/>
              <p:cNvSpPr>
                <a:spLocks noChangeShapeType="1"/>
              </p:cNvSpPr>
              <p:nvPr/>
            </p:nvSpPr>
            <p:spPr bwMode="auto">
              <a:xfrm>
                <a:off x="2741" y="807"/>
                <a:ext cx="96" cy="0"/>
              </a:xfrm>
              <a:prstGeom prst="line">
                <a:avLst/>
              </a:prstGeom>
              <a:noFill/>
              <a:ln w="38100">
                <a:solidFill>
                  <a:srgbClr val="FF0000"/>
                </a:solidFill>
                <a:round/>
                <a:headEnd/>
                <a:tailEnd/>
              </a:ln>
            </p:spPr>
            <p:txBody>
              <a:bodyPr/>
              <a:lstStyle/>
              <a:p>
                <a:endParaRPr lang="zh-CN" altLang="en-US"/>
              </a:p>
            </p:txBody>
          </p:sp>
        </p:grpSp>
        <p:grpSp>
          <p:nvGrpSpPr>
            <p:cNvPr id="31782" name="Group 59"/>
            <p:cNvGrpSpPr>
              <a:grpSpLocks/>
            </p:cNvGrpSpPr>
            <p:nvPr/>
          </p:nvGrpSpPr>
          <p:grpSpPr bwMode="auto">
            <a:xfrm>
              <a:off x="6036" y="1219"/>
              <a:ext cx="122" cy="133"/>
              <a:chOff x="2715" y="722"/>
              <a:chExt cx="144" cy="144"/>
            </a:xfrm>
          </p:grpSpPr>
          <p:sp>
            <p:nvSpPr>
              <p:cNvPr id="31795" name="Oval 60"/>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796" name="Line 61"/>
              <p:cNvSpPr>
                <a:spLocks noChangeShapeType="1"/>
              </p:cNvSpPr>
              <p:nvPr/>
            </p:nvSpPr>
            <p:spPr bwMode="auto">
              <a:xfrm>
                <a:off x="2741" y="807"/>
                <a:ext cx="96" cy="0"/>
              </a:xfrm>
              <a:prstGeom prst="line">
                <a:avLst/>
              </a:prstGeom>
              <a:noFill/>
              <a:ln w="38100">
                <a:solidFill>
                  <a:srgbClr val="FF0000"/>
                </a:solidFill>
                <a:round/>
                <a:headEnd/>
                <a:tailEnd/>
              </a:ln>
            </p:spPr>
            <p:txBody>
              <a:bodyPr/>
              <a:lstStyle/>
              <a:p>
                <a:endParaRPr lang="zh-CN" altLang="en-US"/>
              </a:p>
            </p:txBody>
          </p:sp>
        </p:grpSp>
        <p:grpSp>
          <p:nvGrpSpPr>
            <p:cNvPr id="31783" name="Group 62"/>
            <p:cNvGrpSpPr>
              <a:grpSpLocks/>
            </p:cNvGrpSpPr>
            <p:nvPr/>
          </p:nvGrpSpPr>
          <p:grpSpPr bwMode="auto">
            <a:xfrm>
              <a:off x="6036" y="1389"/>
              <a:ext cx="122" cy="133"/>
              <a:chOff x="2715" y="722"/>
              <a:chExt cx="144" cy="144"/>
            </a:xfrm>
          </p:grpSpPr>
          <p:sp>
            <p:nvSpPr>
              <p:cNvPr id="31793" name="Oval 63"/>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794" name="Line 64"/>
              <p:cNvSpPr>
                <a:spLocks noChangeShapeType="1"/>
              </p:cNvSpPr>
              <p:nvPr/>
            </p:nvSpPr>
            <p:spPr bwMode="auto">
              <a:xfrm>
                <a:off x="2741" y="807"/>
                <a:ext cx="96" cy="0"/>
              </a:xfrm>
              <a:prstGeom prst="line">
                <a:avLst/>
              </a:prstGeom>
              <a:noFill/>
              <a:ln w="38100">
                <a:solidFill>
                  <a:srgbClr val="FF0000"/>
                </a:solidFill>
                <a:round/>
                <a:headEnd/>
                <a:tailEnd/>
              </a:ln>
            </p:spPr>
            <p:txBody>
              <a:bodyPr/>
              <a:lstStyle/>
              <a:p>
                <a:endParaRPr lang="zh-CN" altLang="en-US"/>
              </a:p>
            </p:txBody>
          </p:sp>
        </p:grpSp>
        <p:grpSp>
          <p:nvGrpSpPr>
            <p:cNvPr id="31784" name="Group 65"/>
            <p:cNvGrpSpPr>
              <a:grpSpLocks/>
            </p:cNvGrpSpPr>
            <p:nvPr/>
          </p:nvGrpSpPr>
          <p:grpSpPr bwMode="auto">
            <a:xfrm>
              <a:off x="6036" y="1558"/>
              <a:ext cx="122" cy="133"/>
              <a:chOff x="2715" y="722"/>
              <a:chExt cx="144" cy="144"/>
            </a:xfrm>
          </p:grpSpPr>
          <p:sp>
            <p:nvSpPr>
              <p:cNvPr id="31791" name="Oval 66"/>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792" name="Line 67"/>
              <p:cNvSpPr>
                <a:spLocks noChangeShapeType="1"/>
              </p:cNvSpPr>
              <p:nvPr/>
            </p:nvSpPr>
            <p:spPr bwMode="auto">
              <a:xfrm>
                <a:off x="2741" y="807"/>
                <a:ext cx="96" cy="0"/>
              </a:xfrm>
              <a:prstGeom prst="line">
                <a:avLst/>
              </a:prstGeom>
              <a:noFill/>
              <a:ln w="38100">
                <a:solidFill>
                  <a:srgbClr val="FF0000"/>
                </a:solidFill>
                <a:round/>
                <a:headEnd/>
                <a:tailEnd/>
              </a:ln>
            </p:spPr>
            <p:txBody>
              <a:bodyPr/>
              <a:lstStyle/>
              <a:p>
                <a:endParaRPr lang="zh-CN" altLang="en-US"/>
              </a:p>
            </p:txBody>
          </p:sp>
        </p:grpSp>
        <p:grpSp>
          <p:nvGrpSpPr>
            <p:cNvPr id="31785" name="Group 68"/>
            <p:cNvGrpSpPr>
              <a:grpSpLocks/>
            </p:cNvGrpSpPr>
            <p:nvPr/>
          </p:nvGrpSpPr>
          <p:grpSpPr bwMode="auto">
            <a:xfrm>
              <a:off x="6036" y="1728"/>
              <a:ext cx="122" cy="133"/>
              <a:chOff x="2715" y="722"/>
              <a:chExt cx="144" cy="144"/>
            </a:xfrm>
          </p:grpSpPr>
          <p:sp>
            <p:nvSpPr>
              <p:cNvPr id="31789" name="Oval 69"/>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790" name="Line 70"/>
              <p:cNvSpPr>
                <a:spLocks noChangeShapeType="1"/>
              </p:cNvSpPr>
              <p:nvPr/>
            </p:nvSpPr>
            <p:spPr bwMode="auto">
              <a:xfrm>
                <a:off x="2741" y="807"/>
                <a:ext cx="96" cy="0"/>
              </a:xfrm>
              <a:prstGeom prst="line">
                <a:avLst/>
              </a:prstGeom>
              <a:noFill/>
              <a:ln w="38100">
                <a:solidFill>
                  <a:srgbClr val="FF0000"/>
                </a:solidFill>
                <a:round/>
                <a:headEnd/>
                <a:tailEnd/>
              </a:ln>
            </p:spPr>
            <p:txBody>
              <a:bodyPr/>
              <a:lstStyle/>
              <a:p>
                <a:endParaRPr lang="zh-CN" altLang="en-US"/>
              </a:p>
            </p:txBody>
          </p:sp>
        </p:grpSp>
        <p:grpSp>
          <p:nvGrpSpPr>
            <p:cNvPr id="31786" name="Group 71"/>
            <p:cNvGrpSpPr>
              <a:grpSpLocks/>
            </p:cNvGrpSpPr>
            <p:nvPr/>
          </p:nvGrpSpPr>
          <p:grpSpPr bwMode="auto">
            <a:xfrm>
              <a:off x="6036" y="1898"/>
              <a:ext cx="122" cy="133"/>
              <a:chOff x="2715" y="722"/>
              <a:chExt cx="144" cy="144"/>
            </a:xfrm>
          </p:grpSpPr>
          <p:sp>
            <p:nvSpPr>
              <p:cNvPr id="31787" name="Oval 72"/>
              <p:cNvSpPr>
                <a:spLocks noChangeArrowheads="1"/>
              </p:cNvSpPr>
              <p:nvPr/>
            </p:nvSpPr>
            <p:spPr bwMode="auto">
              <a:xfrm>
                <a:off x="2715" y="722"/>
                <a:ext cx="144" cy="144"/>
              </a:xfrm>
              <a:prstGeom prst="ellipse">
                <a:avLst/>
              </a:prstGeom>
              <a:solidFill>
                <a:schemeClr val="bg1"/>
              </a:solidFill>
              <a:ln w="9525">
                <a:solidFill>
                  <a:schemeClr val="tx1"/>
                </a:solidFill>
                <a:round/>
                <a:headEnd/>
                <a:tailEnd/>
              </a:ln>
            </p:spPr>
            <p:txBody>
              <a:bodyPr wrap="none" anchor="ctr"/>
              <a:lstStyle/>
              <a:p>
                <a:endParaRPr lang="zh-CN" altLang="en-US"/>
              </a:p>
            </p:txBody>
          </p:sp>
          <p:sp>
            <p:nvSpPr>
              <p:cNvPr id="31788" name="Line 73"/>
              <p:cNvSpPr>
                <a:spLocks noChangeShapeType="1"/>
              </p:cNvSpPr>
              <p:nvPr/>
            </p:nvSpPr>
            <p:spPr bwMode="auto">
              <a:xfrm>
                <a:off x="2741" y="807"/>
                <a:ext cx="96" cy="0"/>
              </a:xfrm>
              <a:prstGeom prst="line">
                <a:avLst/>
              </a:prstGeom>
              <a:noFill/>
              <a:ln w="38100">
                <a:solidFill>
                  <a:srgbClr val="FF0000"/>
                </a:solidFill>
                <a:round/>
                <a:headEnd/>
                <a:tailEnd/>
              </a:ln>
            </p:spPr>
            <p:txBody>
              <a:bodyPr/>
              <a:lstStyle/>
              <a:p>
                <a:endParaRPr lang="zh-CN" altLang="en-US"/>
              </a:p>
            </p:txBody>
          </p:sp>
        </p:grpSp>
      </p:grpSp>
      <p:sp>
        <p:nvSpPr>
          <p:cNvPr id="89162" name="Text Box 74"/>
          <p:cNvSpPr txBox="1">
            <a:spLocks noChangeArrowheads="1"/>
          </p:cNvSpPr>
          <p:nvPr/>
        </p:nvSpPr>
        <p:spPr bwMode="auto">
          <a:xfrm>
            <a:off x="179388" y="2205038"/>
            <a:ext cx="3744912" cy="603250"/>
          </a:xfrm>
          <a:prstGeom prst="rect">
            <a:avLst/>
          </a:prstGeom>
          <a:noFill/>
          <a:ln w="9525" algn="ctr">
            <a:noFill/>
            <a:miter lim="800000"/>
            <a:headEnd/>
            <a:tailEnd/>
          </a:ln>
        </p:spPr>
        <p:txBody>
          <a:bodyPr tIns="82800" bIns="82800">
            <a:spAutoFit/>
          </a:bodyPr>
          <a:lstStyle/>
          <a:p>
            <a:pPr algn="just" eaLnBrk="0" hangingPunct="0">
              <a:lnSpc>
                <a:spcPct val="120000"/>
              </a:lnSpc>
              <a:spcBef>
                <a:spcPct val="50000"/>
              </a:spcBef>
            </a:pPr>
            <a:r>
              <a:rPr lang="zh-CN" altLang="en-US" sz="2400" b="1">
                <a:latin typeface="Times New Roman" pitchFamily="18" charset="0"/>
                <a:ea typeface="楷体_GB2312" pitchFamily="49" charset="-122"/>
              </a:rPr>
              <a:t>则</a:t>
            </a:r>
            <a:r>
              <a:rPr lang="zh-CN" altLang="en-US" sz="2400" b="1">
                <a:solidFill>
                  <a:srgbClr val="FF6600"/>
                </a:solidFill>
                <a:latin typeface="Times New Roman" pitchFamily="18" charset="0"/>
                <a:ea typeface="楷体_GB2312" pitchFamily="49" charset="-122"/>
              </a:rPr>
              <a:t>传导电流密度</a:t>
            </a:r>
            <a:r>
              <a:rPr lang="zh-CN" altLang="en-US" sz="2400" b="1">
                <a:latin typeface="Times New Roman" pitchFamily="18" charset="0"/>
                <a:ea typeface="楷体_GB2312" pitchFamily="49" charset="-122"/>
              </a:rPr>
              <a:t>：</a:t>
            </a:r>
          </a:p>
        </p:txBody>
      </p:sp>
      <p:graphicFrame>
        <p:nvGraphicFramePr>
          <p:cNvPr id="89163" name="Object 75"/>
          <p:cNvGraphicFramePr>
            <a:graphicFrameLocks noChangeAspect="1"/>
          </p:cNvGraphicFramePr>
          <p:nvPr/>
        </p:nvGraphicFramePr>
        <p:xfrm>
          <a:off x="1258888" y="3862388"/>
          <a:ext cx="1122362" cy="731837"/>
        </p:xfrm>
        <a:graphic>
          <a:graphicData uri="http://schemas.openxmlformats.org/presentationml/2006/ole">
            <p:oleObj spid="_x0000_s31755" name="公式" r:id="rId13" imgW="581056" imgH="371520" progId="Equation.3">
              <p:embed/>
            </p:oleObj>
          </a:graphicData>
        </a:graphic>
      </p:graphicFrame>
      <p:sp>
        <p:nvSpPr>
          <p:cNvPr id="89164" name="Text Box 76"/>
          <p:cNvSpPr txBox="1">
            <a:spLocks noChangeArrowheads="1"/>
          </p:cNvSpPr>
          <p:nvPr/>
        </p:nvSpPr>
        <p:spPr bwMode="auto">
          <a:xfrm>
            <a:off x="250825" y="3113088"/>
            <a:ext cx="4105275" cy="603250"/>
          </a:xfrm>
          <a:prstGeom prst="rect">
            <a:avLst/>
          </a:prstGeom>
          <a:noFill/>
          <a:ln w="9525" algn="ctr">
            <a:noFill/>
            <a:miter lim="800000"/>
            <a:headEnd/>
            <a:tailEnd/>
          </a:ln>
        </p:spPr>
        <p:txBody>
          <a:bodyPr tIns="82800" bIns="82800">
            <a:spAutoFit/>
          </a:bodyPr>
          <a:lstStyle/>
          <a:p>
            <a:pPr algn="just" eaLnBrk="0" hangingPunct="0">
              <a:lnSpc>
                <a:spcPct val="120000"/>
              </a:lnSpc>
              <a:spcBef>
                <a:spcPct val="50000"/>
              </a:spcBef>
            </a:pPr>
            <a:r>
              <a:rPr lang="zh-CN" altLang="en-US" sz="2400" b="1">
                <a:latin typeface="Times New Roman" pitchFamily="18" charset="0"/>
                <a:ea typeface="楷体_GB2312" pitchFamily="49" charset="-122"/>
              </a:rPr>
              <a:t>极板间的电位移通量为：</a:t>
            </a:r>
          </a:p>
        </p:txBody>
      </p:sp>
      <p:graphicFrame>
        <p:nvGraphicFramePr>
          <p:cNvPr id="89165" name="Object 77"/>
          <p:cNvGraphicFramePr>
            <a:graphicFrameLocks noChangeAspect="1"/>
          </p:cNvGraphicFramePr>
          <p:nvPr/>
        </p:nvGraphicFramePr>
        <p:xfrm>
          <a:off x="4932363" y="3213100"/>
          <a:ext cx="935037" cy="388938"/>
        </p:xfrm>
        <a:graphic>
          <a:graphicData uri="http://schemas.openxmlformats.org/presentationml/2006/ole">
            <p:oleObj spid="_x0000_s31756" name="公式" r:id="rId14" imgW="485699" imgH="180900" progId="Equation.3">
              <p:embed/>
            </p:oleObj>
          </a:graphicData>
        </a:graphic>
      </p:graphicFrame>
      <p:sp>
        <p:nvSpPr>
          <p:cNvPr id="89167" name="Text Box 79"/>
          <p:cNvSpPr txBox="1">
            <a:spLocks noChangeArrowheads="1"/>
          </p:cNvSpPr>
          <p:nvPr/>
        </p:nvSpPr>
        <p:spPr bwMode="auto">
          <a:xfrm>
            <a:off x="323850" y="3789363"/>
            <a:ext cx="936625" cy="603250"/>
          </a:xfrm>
          <a:prstGeom prst="rect">
            <a:avLst/>
          </a:prstGeom>
          <a:noFill/>
          <a:ln w="9525" algn="ctr">
            <a:noFill/>
            <a:miter lim="800000"/>
            <a:headEnd/>
            <a:tailEnd/>
          </a:ln>
        </p:spPr>
        <p:txBody>
          <a:bodyPr tIns="82800" bIns="82800">
            <a:spAutoFit/>
          </a:bodyPr>
          <a:lstStyle/>
          <a:p>
            <a:pPr algn="just" eaLnBrk="0" hangingPunct="0">
              <a:lnSpc>
                <a:spcPct val="120000"/>
              </a:lnSpc>
              <a:spcBef>
                <a:spcPct val="50000"/>
              </a:spcBef>
            </a:pPr>
            <a:r>
              <a:rPr lang="zh-CN" altLang="en-US" sz="2400" b="1">
                <a:latin typeface="Times New Roman" pitchFamily="18" charset="0"/>
                <a:ea typeface="楷体_GB2312" pitchFamily="49" charset="-122"/>
              </a:rPr>
              <a:t>所以</a:t>
            </a:r>
          </a:p>
        </p:txBody>
      </p:sp>
      <p:graphicFrame>
        <p:nvGraphicFramePr>
          <p:cNvPr id="89168" name="Object 80"/>
          <p:cNvGraphicFramePr>
            <a:graphicFrameLocks noChangeAspect="1"/>
          </p:cNvGraphicFramePr>
          <p:nvPr/>
        </p:nvGraphicFramePr>
        <p:xfrm>
          <a:off x="2890838" y="2205038"/>
          <a:ext cx="960437" cy="731837"/>
        </p:xfrm>
        <a:graphic>
          <a:graphicData uri="http://schemas.openxmlformats.org/presentationml/2006/ole">
            <p:oleObj spid="_x0000_s31757" name="公式" r:id="rId15" imgW="495424" imgH="371520" progId="Equation.3">
              <p:embed/>
            </p:oleObj>
          </a:graphicData>
        </a:graphic>
      </p:graphicFrame>
      <p:graphicFrame>
        <p:nvGraphicFramePr>
          <p:cNvPr id="89170" name="Object 82"/>
          <p:cNvGraphicFramePr>
            <a:graphicFrameLocks noChangeAspect="1"/>
          </p:cNvGraphicFramePr>
          <p:nvPr/>
        </p:nvGraphicFramePr>
        <p:xfrm>
          <a:off x="1955800" y="1196975"/>
          <a:ext cx="1895475" cy="730250"/>
        </p:xfrm>
        <a:graphic>
          <a:graphicData uri="http://schemas.openxmlformats.org/presentationml/2006/ole">
            <p:oleObj spid="_x0000_s31758" name="公式" r:id="rId16" imgW="1019212" imgH="371520" progId="Equation.3">
              <p:embed/>
            </p:oleObj>
          </a:graphicData>
        </a:graphic>
      </p:graphicFrame>
      <p:sp>
        <p:nvSpPr>
          <p:cNvPr id="89172" name="AutoShape 84"/>
          <p:cNvSpPr>
            <a:spLocks noChangeArrowheads="1"/>
          </p:cNvSpPr>
          <p:nvPr/>
        </p:nvSpPr>
        <p:spPr bwMode="auto">
          <a:xfrm>
            <a:off x="4240213" y="2565400"/>
            <a:ext cx="869950" cy="500063"/>
          </a:xfrm>
          <a:prstGeom prst="wedgeRectCallout">
            <a:avLst>
              <a:gd name="adj1" fmla="val 1458"/>
              <a:gd name="adj2" fmla="val 93176"/>
            </a:avLst>
          </a:prstGeom>
          <a:solidFill>
            <a:srgbClr val="CC99FF">
              <a:alpha val="52156"/>
            </a:srgbClr>
          </a:solidFill>
          <a:ln w="9525">
            <a:solidFill>
              <a:srgbClr val="800080"/>
            </a:solidFill>
            <a:miter lim="800000"/>
            <a:headEnd/>
            <a:tailEnd/>
          </a:ln>
        </p:spPr>
        <p:txBody>
          <a:bodyPr/>
          <a:lstStyle/>
          <a:p>
            <a:endParaRPr kumimoji="1" lang="zh-CN" altLang="zh-CN" sz="2400">
              <a:latin typeface="Times New Roman" pitchFamily="18" charset="0"/>
              <a:ea typeface="楷体_GB2312" pitchFamily="49" charset="-122"/>
            </a:endParaRPr>
          </a:p>
        </p:txBody>
      </p:sp>
      <p:graphicFrame>
        <p:nvGraphicFramePr>
          <p:cNvPr id="89173" name="Object 85"/>
          <p:cNvGraphicFramePr>
            <a:graphicFrameLocks noChangeAspect="1"/>
          </p:cNvGraphicFramePr>
          <p:nvPr/>
        </p:nvGraphicFramePr>
        <p:xfrm>
          <a:off x="4284663" y="2654300"/>
          <a:ext cx="752475" cy="320675"/>
        </p:xfrm>
        <a:graphic>
          <a:graphicData uri="http://schemas.openxmlformats.org/presentationml/2006/ole">
            <p:oleObj spid="_x0000_s31759" name="公式" r:id="rId17" imgW="380887" imgH="142830" progId="Equation.3">
              <p:embed/>
            </p:oleObj>
          </a:graphicData>
        </a:graphic>
      </p:graphicFrame>
      <p:graphicFrame>
        <p:nvGraphicFramePr>
          <p:cNvPr id="89174" name="Object 86"/>
          <p:cNvGraphicFramePr>
            <a:graphicFrameLocks noChangeAspect="1"/>
          </p:cNvGraphicFramePr>
          <p:nvPr/>
        </p:nvGraphicFramePr>
        <p:xfrm>
          <a:off x="2455863" y="4857750"/>
          <a:ext cx="1052512" cy="754063"/>
        </p:xfrm>
        <a:graphic>
          <a:graphicData uri="http://schemas.openxmlformats.org/presentationml/2006/ole">
            <p:oleObj spid="_x0000_s31760" name="公式" r:id="rId18" imgW="542967" imgH="380970" progId="Equation.3">
              <p:embed/>
            </p:oleObj>
          </a:graphicData>
        </a:graphic>
      </p:graphicFrame>
      <p:sp>
        <p:nvSpPr>
          <p:cNvPr id="89175" name="Text Box 87"/>
          <p:cNvSpPr txBox="1">
            <a:spLocks noChangeArrowheads="1"/>
          </p:cNvSpPr>
          <p:nvPr/>
        </p:nvSpPr>
        <p:spPr bwMode="auto">
          <a:xfrm>
            <a:off x="3587750" y="4941888"/>
            <a:ext cx="2284413" cy="534987"/>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9900CC"/>
                </a:solidFill>
                <a:latin typeface="Times New Roman" pitchFamily="18" charset="0"/>
                <a:ea typeface="楷体_GB2312" pitchFamily="49" charset="-122"/>
              </a:rPr>
              <a:t>位移电流密度</a:t>
            </a:r>
          </a:p>
        </p:txBody>
      </p:sp>
      <p:graphicFrame>
        <p:nvGraphicFramePr>
          <p:cNvPr id="89176" name="Object 88"/>
          <p:cNvGraphicFramePr>
            <a:graphicFrameLocks noChangeAspect="1"/>
          </p:cNvGraphicFramePr>
          <p:nvPr/>
        </p:nvGraphicFramePr>
        <p:xfrm>
          <a:off x="2363788" y="5734050"/>
          <a:ext cx="1236662" cy="730250"/>
        </p:xfrm>
        <a:graphic>
          <a:graphicData uri="http://schemas.openxmlformats.org/presentationml/2006/ole">
            <p:oleObj spid="_x0000_s31761" name="公式" r:id="rId19" imgW="647779" imgH="371520" progId="Equation.3">
              <p:embed/>
            </p:oleObj>
          </a:graphicData>
        </a:graphic>
      </p:graphicFrame>
      <p:sp>
        <p:nvSpPr>
          <p:cNvPr id="89177" name="Text Box 89"/>
          <p:cNvSpPr txBox="1">
            <a:spLocks noChangeArrowheads="1"/>
          </p:cNvSpPr>
          <p:nvPr/>
        </p:nvSpPr>
        <p:spPr bwMode="auto">
          <a:xfrm>
            <a:off x="3659188" y="5851525"/>
            <a:ext cx="5884862" cy="534988"/>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9900CC"/>
                </a:solidFill>
                <a:latin typeface="Times New Roman" pitchFamily="18" charset="0"/>
                <a:ea typeface="楷体_GB2312" pitchFamily="49" charset="-122"/>
              </a:rPr>
              <a:t>位移电流</a:t>
            </a:r>
            <a:r>
              <a:rPr kumimoji="1" lang="zh-CN" altLang="en-US" sz="2400" b="1">
                <a:solidFill>
                  <a:srgbClr val="FF0000"/>
                </a:solidFill>
                <a:latin typeface="Times New Roman" pitchFamily="18" charset="0"/>
                <a:ea typeface="楷体_GB2312" pitchFamily="49" charset="-122"/>
              </a:rPr>
              <a:t> </a:t>
            </a:r>
            <a:r>
              <a:rPr kumimoji="1" lang="en-US" altLang="zh-CN" sz="2400" b="1">
                <a:solidFill>
                  <a:srgbClr val="008000"/>
                </a:solidFill>
                <a:latin typeface="Times New Roman" pitchFamily="18" charset="0"/>
                <a:ea typeface="楷体_GB2312" pitchFamily="49" charset="-122"/>
              </a:rPr>
              <a:t>(</a:t>
            </a:r>
            <a:r>
              <a:rPr kumimoji="1" lang="zh-CN" altLang="en-US" sz="2400" b="1">
                <a:solidFill>
                  <a:srgbClr val="008000"/>
                </a:solidFill>
                <a:latin typeface="Times New Roman" pitchFamily="18" charset="0"/>
                <a:ea typeface="楷体_GB2312" pitchFamily="49" charset="-122"/>
              </a:rPr>
              <a:t>电场变化等效为一种电流</a:t>
            </a:r>
            <a:r>
              <a:rPr kumimoji="1" lang="en-US" altLang="zh-CN" sz="2400" b="1">
                <a:solidFill>
                  <a:srgbClr val="008000"/>
                </a:solidFill>
                <a:latin typeface="Times New Roman" pitchFamily="18" charset="0"/>
                <a:ea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6"/>
                                        </p:tgtEl>
                                        <p:attrNameLst>
                                          <p:attrName>style.visibility</p:attrName>
                                        </p:attrNameLst>
                                      </p:cBhvr>
                                      <p:to>
                                        <p:strVal val="visible"/>
                                      </p:to>
                                    </p:set>
                                    <p:animEffect transition="in" filter="wipe(left)">
                                      <p:cBhvr>
                                        <p:cTn id="7" dur="500"/>
                                        <p:tgtEl>
                                          <p:spTgt spid="890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89097"/>
                                        </p:tgtEl>
                                        <p:attrNameLst>
                                          <p:attrName>style.visibility</p:attrName>
                                        </p:attrNameLst>
                                      </p:cBhvr>
                                      <p:to>
                                        <p:strVal val="visible"/>
                                      </p:to>
                                    </p:set>
                                    <p:anim calcmode="lin" valueType="num">
                                      <p:cBhvr>
                                        <p:cTn id="12" dur="500" fill="hold"/>
                                        <p:tgtEl>
                                          <p:spTgt spid="89097"/>
                                        </p:tgtEl>
                                        <p:attrNameLst>
                                          <p:attrName>ppt_w</p:attrName>
                                        </p:attrNameLst>
                                      </p:cBhvr>
                                      <p:tavLst>
                                        <p:tav tm="0">
                                          <p:val>
                                            <p:fltVal val="0"/>
                                          </p:val>
                                        </p:tav>
                                        <p:tav tm="100000">
                                          <p:val>
                                            <p:strVal val="#ppt_w"/>
                                          </p:val>
                                        </p:tav>
                                      </p:tavLst>
                                    </p:anim>
                                    <p:anim calcmode="lin" valueType="num">
                                      <p:cBhvr>
                                        <p:cTn id="13" dur="500" fill="hold"/>
                                        <p:tgtEl>
                                          <p:spTgt spid="89097"/>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89098"/>
                                        </p:tgtEl>
                                        <p:attrNameLst>
                                          <p:attrName>style.visibility</p:attrName>
                                        </p:attrNameLst>
                                      </p:cBhvr>
                                      <p:to>
                                        <p:strVal val="visible"/>
                                      </p:to>
                                    </p:set>
                                    <p:anim calcmode="lin" valueType="num">
                                      <p:cBhvr>
                                        <p:cTn id="18" dur="500" fill="hold"/>
                                        <p:tgtEl>
                                          <p:spTgt spid="89098"/>
                                        </p:tgtEl>
                                        <p:attrNameLst>
                                          <p:attrName>ppt_w</p:attrName>
                                        </p:attrNameLst>
                                      </p:cBhvr>
                                      <p:tavLst>
                                        <p:tav tm="0">
                                          <p:val>
                                            <p:fltVal val="0"/>
                                          </p:val>
                                        </p:tav>
                                        <p:tav tm="100000">
                                          <p:val>
                                            <p:strVal val="#ppt_w"/>
                                          </p:val>
                                        </p:tav>
                                      </p:tavLst>
                                    </p:anim>
                                    <p:anim calcmode="lin" valueType="num">
                                      <p:cBhvr>
                                        <p:cTn id="19" dur="500" fill="hold"/>
                                        <p:tgtEl>
                                          <p:spTgt spid="89098"/>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2" presetClass="entr" presetSubtype="8" fill="hold" grpId="0" nodeType="clickEffect">
                                  <p:stCondLst>
                                    <p:cond delay="0"/>
                                  </p:stCondLst>
                                  <p:childTnLst>
                                    <p:set>
                                      <p:cBhvr>
                                        <p:cTn id="23" dur="1" fill="hold">
                                          <p:stCondLst>
                                            <p:cond delay="0"/>
                                          </p:stCondLst>
                                        </p:cTn>
                                        <p:tgtEl>
                                          <p:spTgt spid="89099"/>
                                        </p:tgtEl>
                                        <p:attrNameLst>
                                          <p:attrName>style.visibility</p:attrName>
                                        </p:attrNameLst>
                                      </p:cBhvr>
                                      <p:to>
                                        <p:strVal val="visible"/>
                                      </p:to>
                                    </p:set>
                                    <p:animEffect transition="in" filter="slide(fromLeft)">
                                      <p:cBhvr>
                                        <p:cTn id="24" dur="500"/>
                                        <p:tgtEl>
                                          <p:spTgt spid="89099"/>
                                        </p:tgtEl>
                                      </p:cBhvr>
                                    </p:animEffect>
                                  </p:childTnLst>
                                </p:cTn>
                              </p:par>
                            </p:childTnLst>
                          </p:cTn>
                        </p:par>
                        <p:par>
                          <p:cTn id="25" fill="hold" nodeType="afterGroup">
                            <p:stCondLst>
                              <p:cond delay="500"/>
                            </p:stCondLst>
                            <p:childTnLst>
                              <p:par>
                                <p:cTn id="26" presetID="1" presetClass="entr" presetSubtype="0" fill="hold" nodeType="afterEffect">
                                  <p:stCondLst>
                                    <p:cond delay="0"/>
                                  </p:stCondLst>
                                  <p:childTnLst>
                                    <p:set>
                                      <p:cBhvr>
                                        <p:cTn id="27" dur="1" fill="hold">
                                          <p:stCondLst>
                                            <p:cond delay="499"/>
                                          </p:stCondLst>
                                        </p:cTn>
                                        <p:tgtEl>
                                          <p:spTgt spid="89103"/>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89100"/>
                                        </p:tgtEl>
                                        <p:attrNameLst>
                                          <p:attrName>style.visibility</p:attrName>
                                        </p:attrNameLst>
                                      </p:cBhvr>
                                      <p:to>
                                        <p:strVal val="visible"/>
                                      </p:to>
                                    </p:set>
                                    <p:animEffect transition="in" filter="slide(fromLeft)">
                                      <p:cBhvr>
                                        <p:cTn id="32" dur="500"/>
                                        <p:tgtEl>
                                          <p:spTgt spid="89100"/>
                                        </p:tgtEl>
                                      </p:cBhvr>
                                    </p:animEffect>
                                  </p:childTnLst>
                                </p:cTn>
                              </p:par>
                            </p:childTnLst>
                          </p:cTn>
                        </p:par>
                        <p:par>
                          <p:cTn id="33" fill="hold" nodeType="afterGroup">
                            <p:stCondLst>
                              <p:cond delay="500"/>
                            </p:stCondLst>
                            <p:childTnLst>
                              <p:par>
                                <p:cTn id="34" presetID="1" presetClass="entr" presetSubtype="0" fill="hold" nodeType="afterEffect">
                                  <p:stCondLst>
                                    <p:cond delay="0"/>
                                  </p:stCondLst>
                                  <p:childTnLst>
                                    <p:set>
                                      <p:cBhvr>
                                        <p:cTn id="35" dur="1" fill="hold">
                                          <p:stCondLst>
                                            <p:cond delay="499"/>
                                          </p:stCondLst>
                                        </p:cTn>
                                        <p:tgtEl>
                                          <p:spTgt spid="89104"/>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 calcmode="lin" valueType="num">
                                      <p:cBhvr>
                                        <p:cTn id="40" dur="500" fill="hold"/>
                                        <p:tgtEl>
                                          <p:spTgt spid="2"/>
                                        </p:tgtEl>
                                        <p:attrNameLst>
                                          <p:attrName>ppt_w</p:attrName>
                                        </p:attrNameLst>
                                      </p:cBhvr>
                                      <p:tavLst>
                                        <p:tav tm="0">
                                          <p:val>
                                            <p:fltVal val="0"/>
                                          </p:val>
                                        </p:tav>
                                        <p:tav tm="100000">
                                          <p:val>
                                            <p:strVal val="#ppt_w"/>
                                          </p:val>
                                        </p:tav>
                                      </p:tavLst>
                                    </p:anim>
                                    <p:anim calcmode="lin" valueType="num">
                                      <p:cBhvr>
                                        <p:cTn id="41" dur="500" fill="hold"/>
                                        <p:tgtEl>
                                          <p:spTgt spid="2"/>
                                        </p:tgtEl>
                                        <p:attrNameLst>
                                          <p:attrName>ppt_h</p:attrName>
                                        </p:attrNameLst>
                                      </p:cBhvr>
                                      <p:tavLst>
                                        <p:tav tm="0">
                                          <p:val>
                                            <p:fltVal val="0"/>
                                          </p:val>
                                        </p:tav>
                                        <p:tav tm="100000">
                                          <p:val>
                                            <p:strVal val="#ppt_h"/>
                                          </p:val>
                                        </p:tav>
                                      </p:tavLst>
                                    </p:anim>
                                  </p:childTnLst>
                                </p:cTn>
                              </p:par>
                            </p:childTnLst>
                          </p:cTn>
                        </p:par>
                        <p:par>
                          <p:cTn id="42" fill="hold" nodeType="afterGroup">
                            <p:stCondLst>
                              <p:cond delay="500"/>
                            </p:stCondLst>
                            <p:childTnLst>
                              <p:par>
                                <p:cTn id="43" presetID="1" presetClass="entr" presetSubtype="0" fill="hold" nodeType="afterEffect">
                                  <p:stCondLst>
                                    <p:cond delay="0"/>
                                  </p:stCondLst>
                                  <p:childTnLst>
                                    <p:set>
                                      <p:cBhvr>
                                        <p:cTn id="44" dur="1" fill="hold">
                                          <p:stCondLst>
                                            <p:cond delay="499"/>
                                          </p:stCondLst>
                                        </p:cTn>
                                        <p:tgtEl>
                                          <p:spTgt spid="89101"/>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3" presetClass="entr" presetSubtype="16"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p:cTn id="49" dur="500" fill="hold"/>
                                        <p:tgtEl>
                                          <p:spTgt spid="10"/>
                                        </p:tgtEl>
                                        <p:attrNameLst>
                                          <p:attrName>ppt_w</p:attrName>
                                        </p:attrNameLst>
                                      </p:cBhvr>
                                      <p:tavLst>
                                        <p:tav tm="0">
                                          <p:val>
                                            <p:fltVal val="0"/>
                                          </p:val>
                                        </p:tav>
                                        <p:tav tm="100000">
                                          <p:val>
                                            <p:strVal val="#ppt_w"/>
                                          </p:val>
                                        </p:tav>
                                      </p:tavLst>
                                    </p:anim>
                                    <p:anim calcmode="lin" valueType="num">
                                      <p:cBhvr>
                                        <p:cTn id="50" dur="500" fill="hold"/>
                                        <p:tgtEl>
                                          <p:spTgt spid="10"/>
                                        </p:tgtEl>
                                        <p:attrNameLst>
                                          <p:attrName>ppt_h</p:attrName>
                                        </p:attrNameLst>
                                      </p:cBhvr>
                                      <p:tavLst>
                                        <p:tav tm="0">
                                          <p:val>
                                            <p:fltVal val="0"/>
                                          </p:val>
                                        </p:tav>
                                        <p:tav tm="100000">
                                          <p:val>
                                            <p:strVal val="#ppt_h"/>
                                          </p:val>
                                        </p:tav>
                                      </p:tavLst>
                                    </p:anim>
                                  </p:childTnLst>
                                </p:cTn>
                              </p:par>
                            </p:childTnLst>
                          </p:cTn>
                        </p:par>
                        <p:par>
                          <p:cTn id="51" fill="hold" nodeType="afterGroup">
                            <p:stCondLst>
                              <p:cond delay="500"/>
                            </p:stCondLst>
                            <p:childTnLst>
                              <p:par>
                                <p:cTn id="52" presetID="1" presetClass="entr" presetSubtype="0" fill="hold" nodeType="afterEffect">
                                  <p:stCondLst>
                                    <p:cond delay="0"/>
                                  </p:stCondLst>
                                  <p:childTnLst>
                                    <p:set>
                                      <p:cBhvr>
                                        <p:cTn id="53" dur="1" fill="hold">
                                          <p:stCondLst>
                                            <p:cond delay="499"/>
                                          </p:stCondLst>
                                        </p:cTn>
                                        <p:tgtEl>
                                          <p:spTgt spid="89102"/>
                                        </p:tgtEl>
                                        <p:attrNameLst>
                                          <p:attrName>style.visibility</p:attrName>
                                        </p:attrNameLst>
                                      </p:cBhvr>
                                      <p:to>
                                        <p:strVal val="visible"/>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12" presetClass="entr" presetSubtype="4" fill="hold" nodeType="clickEffect">
                                  <p:stCondLst>
                                    <p:cond delay="0"/>
                                  </p:stCondLst>
                                  <p:childTnLst>
                                    <p:set>
                                      <p:cBhvr>
                                        <p:cTn id="57" dur="1" fill="hold">
                                          <p:stCondLst>
                                            <p:cond delay="0"/>
                                          </p:stCondLst>
                                        </p:cTn>
                                        <p:tgtEl>
                                          <p:spTgt spid="89110"/>
                                        </p:tgtEl>
                                        <p:attrNameLst>
                                          <p:attrName>style.visibility</p:attrName>
                                        </p:attrNameLst>
                                      </p:cBhvr>
                                      <p:to>
                                        <p:strVal val="visible"/>
                                      </p:to>
                                    </p:set>
                                    <p:animEffect transition="in" filter="slide(fromBottom)">
                                      <p:cBhvr>
                                        <p:cTn id="58" dur="500"/>
                                        <p:tgtEl>
                                          <p:spTgt spid="89110"/>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89094"/>
                                        </p:tgtEl>
                                        <p:attrNameLst>
                                          <p:attrName>style.visibility</p:attrName>
                                        </p:attrNameLst>
                                      </p:cBhvr>
                                      <p:to>
                                        <p:strVal val="visible"/>
                                      </p:to>
                                    </p:set>
                                    <p:animEffect transition="in" filter="wipe(left)">
                                      <p:cBhvr>
                                        <p:cTn id="63" dur="500"/>
                                        <p:tgtEl>
                                          <p:spTgt spid="89094"/>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89170"/>
                                        </p:tgtEl>
                                        <p:attrNameLst>
                                          <p:attrName>style.visibility</p:attrName>
                                        </p:attrNameLst>
                                      </p:cBhvr>
                                      <p:to>
                                        <p:strVal val="visible"/>
                                      </p:to>
                                    </p:set>
                                    <p:animEffect transition="in" filter="wipe(left)">
                                      <p:cBhvr>
                                        <p:cTn id="68" dur="500"/>
                                        <p:tgtEl>
                                          <p:spTgt spid="89170"/>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89162"/>
                                        </p:tgtEl>
                                        <p:attrNameLst>
                                          <p:attrName>style.visibility</p:attrName>
                                        </p:attrNameLst>
                                      </p:cBhvr>
                                      <p:to>
                                        <p:strVal val="visible"/>
                                      </p:to>
                                    </p:set>
                                    <p:animEffect transition="in" filter="wipe(left)">
                                      <p:cBhvr>
                                        <p:cTn id="73" dur="500"/>
                                        <p:tgtEl>
                                          <p:spTgt spid="89162"/>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89168"/>
                                        </p:tgtEl>
                                        <p:attrNameLst>
                                          <p:attrName>style.visibility</p:attrName>
                                        </p:attrNameLst>
                                      </p:cBhvr>
                                      <p:to>
                                        <p:strVal val="visible"/>
                                      </p:to>
                                    </p:set>
                                    <p:animEffect transition="in" filter="wipe(left)">
                                      <p:cBhvr>
                                        <p:cTn id="78" dur="500"/>
                                        <p:tgtEl>
                                          <p:spTgt spid="89168"/>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12" presetClass="entr" presetSubtype="8" fill="hold" grpId="0" nodeType="clickEffect">
                                  <p:stCondLst>
                                    <p:cond delay="0"/>
                                  </p:stCondLst>
                                  <p:childTnLst>
                                    <p:set>
                                      <p:cBhvr>
                                        <p:cTn id="82" dur="1" fill="hold">
                                          <p:stCondLst>
                                            <p:cond delay="0"/>
                                          </p:stCondLst>
                                        </p:cTn>
                                        <p:tgtEl>
                                          <p:spTgt spid="89105"/>
                                        </p:tgtEl>
                                        <p:attrNameLst>
                                          <p:attrName>style.visibility</p:attrName>
                                        </p:attrNameLst>
                                      </p:cBhvr>
                                      <p:to>
                                        <p:strVal val="visible"/>
                                      </p:to>
                                    </p:set>
                                    <p:animEffect transition="in" filter="slide(fromLeft)">
                                      <p:cBhvr>
                                        <p:cTn id="83" dur="500"/>
                                        <p:tgtEl>
                                          <p:spTgt spid="89105"/>
                                        </p:tgtEl>
                                      </p:cBhvr>
                                    </p:animEffect>
                                  </p:childTnLst>
                                </p:cTn>
                              </p:par>
                            </p:childTnLst>
                          </p:cTn>
                        </p:par>
                        <p:par>
                          <p:cTn id="84" fill="hold" nodeType="afterGroup">
                            <p:stCondLst>
                              <p:cond delay="500"/>
                            </p:stCondLst>
                            <p:childTnLst>
                              <p:par>
                                <p:cTn id="85" presetID="12" presetClass="entr" presetSubtype="8" fill="hold" grpId="0" nodeType="afterEffect">
                                  <p:stCondLst>
                                    <p:cond delay="0"/>
                                  </p:stCondLst>
                                  <p:childTnLst>
                                    <p:set>
                                      <p:cBhvr>
                                        <p:cTn id="86" dur="1" fill="hold">
                                          <p:stCondLst>
                                            <p:cond delay="0"/>
                                          </p:stCondLst>
                                        </p:cTn>
                                        <p:tgtEl>
                                          <p:spTgt spid="89107"/>
                                        </p:tgtEl>
                                        <p:attrNameLst>
                                          <p:attrName>style.visibility</p:attrName>
                                        </p:attrNameLst>
                                      </p:cBhvr>
                                      <p:to>
                                        <p:strVal val="visible"/>
                                      </p:to>
                                    </p:set>
                                    <p:animEffect transition="in" filter="slide(fromLeft)">
                                      <p:cBhvr>
                                        <p:cTn id="87" dur="500"/>
                                        <p:tgtEl>
                                          <p:spTgt spid="89107"/>
                                        </p:tgtEl>
                                      </p:cBhvr>
                                    </p:animEffect>
                                  </p:childTnLst>
                                </p:cTn>
                              </p:par>
                            </p:childTnLst>
                          </p:cTn>
                        </p:par>
                        <p:par>
                          <p:cTn id="88" fill="hold" nodeType="afterGroup">
                            <p:stCondLst>
                              <p:cond delay="1000"/>
                            </p:stCondLst>
                            <p:childTnLst>
                              <p:par>
                                <p:cTn id="89" presetID="12" presetClass="entr" presetSubtype="8" fill="hold" grpId="0" nodeType="afterEffect">
                                  <p:stCondLst>
                                    <p:cond delay="0"/>
                                  </p:stCondLst>
                                  <p:childTnLst>
                                    <p:set>
                                      <p:cBhvr>
                                        <p:cTn id="90" dur="1" fill="hold">
                                          <p:stCondLst>
                                            <p:cond delay="0"/>
                                          </p:stCondLst>
                                        </p:cTn>
                                        <p:tgtEl>
                                          <p:spTgt spid="89106"/>
                                        </p:tgtEl>
                                        <p:attrNameLst>
                                          <p:attrName>style.visibility</p:attrName>
                                        </p:attrNameLst>
                                      </p:cBhvr>
                                      <p:to>
                                        <p:strVal val="visible"/>
                                      </p:to>
                                    </p:set>
                                    <p:animEffect transition="in" filter="slide(fromLeft)">
                                      <p:cBhvr>
                                        <p:cTn id="91" dur="500"/>
                                        <p:tgtEl>
                                          <p:spTgt spid="89106"/>
                                        </p:tgtEl>
                                      </p:cBhvr>
                                    </p:animEffect>
                                  </p:childTnLst>
                                </p:cTn>
                              </p:par>
                            </p:childTnLst>
                          </p:cTn>
                        </p:par>
                        <p:par>
                          <p:cTn id="92" fill="hold" nodeType="afterGroup">
                            <p:stCondLst>
                              <p:cond delay="1500"/>
                            </p:stCondLst>
                            <p:childTnLst>
                              <p:par>
                                <p:cTn id="93" presetID="12" presetClass="entr" presetSubtype="8" fill="hold" grpId="0" nodeType="afterEffect">
                                  <p:stCondLst>
                                    <p:cond delay="0"/>
                                  </p:stCondLst>
                                  <p:childTnLst>
                                    <p:set>
                                      <p:cBhvr>
                                        <p:cTn id="94" dur="1" fill="hold">
                                          <p:stCondLst>
                                            <p:cond delay="0"/>
                                          </p:stCondLst>
                                        </p:cTn>
                                        <p:tgtEl>
                                          <p:spTgt spid="89108"/>
                                        </p:tgtEl>
                                        <p:attrNameLst>
                                          <p:attrName>style.visibility</p:attrName>
                                        </p:attrNameLst>
                                      </p:cBhvr>
                                      <p:to>
                                        <p:strVal val="visible"/>
                                      </p:to>
                                    </p:set>
                                    <p:animEffect transition="in" filter="slide(fromLeft)">
                                      <p:cBhvr>
                                        <p:cTn id="95" dur="500"/>
                                        <p:tgtEl>
                                          <p:spTgt spid="89108"/>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1" presetClass="entr" presetSubtype="0" fill="hold" nodeType="clickEffect">
                                  <p:stCondLst>
                                    <p:cond delay="0"/>
                                  </p:stCondLst>
                                  <p:childTnLst>
                                    <p:set>
                                      <p:cBhvr>
                                        <p:cTn id="99" dur="1" fill="hold">
                                          <p:stCondLst>
                                            <p:cond delay="499"/>
                                          </p:stCondLst>
                                        </p:cTn>
                                        <p:tgtEl>
                                          <p:spTgt spid="89109"/>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89164"/>
                                        </p:tgtEl>
                                        <p:attrNameLst>
                                          <p:attrName>style.visibility</p:attrName>
                                        </p:attrNameLst>
                                      </p:cBhvr>
                                      <p:to>
                                        <p:strVal val="visible"/>
                                      </p:to>
                                    </p:set>
                                    <p:animEffect transition="in" filter="wipe(left)">
                                      <p:cBhvr>
                                        <p:cTn id="104" dur="500"/>
                                        <p:tgtEl>
                                          <p:spTgt spid="89164"/>
                                        </p:tgtEl>
                                      </p:cBhvr>
                                    </p:animEffect>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2" presetClass="entr" presetSubtype="8" fill="hold" nodeType="clickEffect">
                                  <p:stCondLst>
                                    <p:cond delay="0"/>
                                  </p:stCondLst>
                                  <p:childTnLst>
                                    <p:set>
                                      <p:cBhvr>
                                        <p:cTn id="108" dur="1" fill="hold">
                                          <p:stCondLst>
                                            <p:cond delay="0"/>
                                          </p:stCondLst>
                                        </p:cTn>
                                        <p:tgtEl>
                                          <p:spTgt spid="89090"/>
                                        </p:tgtEl>
                                        <p:attrNameLst>
                                          <p:attrName>style.visibility</p:attrName>
                                        </p:attrNameLst>
                                      </p:cBhvr>
                                      <p:to>
                                        <p:strVal val="visible"/>
                                      </p:to>
                                    </p:set>
                                    <p:animEffect transition="in" filter="wipe(left)">
                                      <p:cBhvr>
                                        <p:cTn id="109" dur="500"/>
                                        <p:tgtEl>
                                          <p:spTgt spid="89090"/>
                                        </p:tgtEl>
                                      </p:cBhvr>
                                    </p:animEffec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6" presetClass="entr" presetSubtype="26" fill="hold" grpId="0" nodeType="clickEffect">
                                  <p:stCondLst>
                                    <p:cond delay="0"/>
                                  </p:stCondLst>
                                  <p:childTnLst>
                                    <p:set>
                                      <p:cBhvr>
                                        <p:cTn id="113" dur="1" fill="hold">
                                          <p:stCondLst>
                                            <p:cond delay="0"/>
                                          </p:stCondLst>
                                        </p:cTn>
                                        <p:tgtEl>
                                          <p:spTgt spid="89172"/>
                                        </p:tgtEl>
                                        <p:attrNameLst>
                                          <p:attrName>style.visibility</p:attrName>
                                        </p:attrNameLst>
                                      </p:cBhvr>
                                      <p:to>
                                        <p:strVal val="visible"/>
                                      </p:to>
                                    </p:set>
                                    <p:animEffect transition="in" filter="barn(inHorizontal)">
                                      <p:cBhvr>
                                        <p:cTn id="114" dur="500"/>
                                        <p:tgtEl>
                                          <p:spTgt spid="89172"/>
                                        </p:tgtEl>
                                      </p:cBhvr>
                                    </p:animEffect>
                                  </p:childTnLst>
                                </p:cTn>
                              </p:par>
                            </p:childTnLst>
                          </p:cTn>
                        </p:par>
                        <p:par>
                          <p:cTn id="115" fill="hold" nodeType="afterGroup">
                            <p:stCondLst>
                              <p:cond delay="500"/>
                            </p:stCondLst>
                            <p:childTnLst>
                              <p:par>
                                <p:cTn id="116" presetID="22" presetClass="entr" presetSubtype="8" fill="hold" nodeType="afterEffect">
                                  <p:stCondLst>
                                    <p:cond delay="0"/>
                                  </p:stCondLst>
                                  <p:childTnLst>
                                    <p:set>
                                      <p:cBhvr>
                                        <p:cTn id="117" dur="1" fill="hold">
                                          <p:stCondLst>
                                            <p:cond delay="0"/>
                                          </p:stCondLst>
                                        </p:cTn>
                                        <p:tgtEl>
                                          <p:spTgt spid="89173"/>
                                        </p:tgtEl>
                                        <p:attrNameLst>
                                          <p:attrName>style.visibility</p:attrName>
                                        </p:attrNameLst>
                                      </p:cBhvr>
                                      <p:to>
                                        <p:strVal val="visible"/>
                                      </p:to>
                                    </p:set>
                                    <p:animEffect transition="in" filter="wipe(left)">
                                      <p:cBhvr>
                                        <p:cTn id="118" dur="500"/>
                                        <p:tgtEl>
                                          <p:spTgt spid="89173"/>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8" fill="hold" nodeType="clickEffect">
                                  <p:stCondLst>
                                    <p:cond delay="0"/>
                                  </p:stCondLst>
                                  <p:childTnLst>
                                    <p:set>
                                      <p:cBhvr>
                                        <p:cTn id="122" dur="1" fill="hold">
                                          <p:stCondLst>
                                            <p:cond delay="0"/>
                                          </p:stCondLst>
                                        </p:cTn>
                                        <p:tgtEl>
                                          <p:spTgt spid="89165"/>
                                        </p:tgtEl>
                                        <p:attrNameLst>
                                          <p:attrName>style.visibility</p:attrName>
                                        </p:attrNameLst>
                                      </p:cBhvr>
                                      <p:to>
                                        <p:strVal val="visible"/>
                                      </p:to>
                                    </p:set>
                                    <p:animEffect transition="in" filter="wipe(left)">
                                      <p:cBhvr>
                                        <p:cTn id="123" dur="500"/>
                                        <p:tgtEl>
                                          <p:spTgt spid="89165"/>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22" presetClass="entr" presetSubtype="8" fill="hold" grpId="0" nodeType="clickEffect">
                                  <p:stCondLst>
                                    <p:cond delay="0"/>
                                  </p:stCondLst>
                                  <p:childTnLst>
                                    <p:set>
                                      <p:cBhvr>
                                        <p:cTn id="127" dur="1" fill="hold">
                                          <p:stCondLst>
                                            <p:cond delay="0"/>
                                          </p:stCondLst>
                                        </p:cTn>
                                        <p:tgtEl>
                                          <p:spTgt spid="89167"/>
                                        </p:tgtEl>
                                        <p:attrNameLst>
                                          <p:attrName>style.visibility</p:attrName>
                                        </p:attrNameLst>
                                      </p:cBhvr>
                                      <p:to>
                                        <p:strVal val="visible"/>
                                      </p:to>
                                    </p:set>
                                    <p:animEffect transition="in" filter="wipe(left)">
                                      <p:cBhvr>
                                        <p:cTn id="128" dur="500"/>
                                        <p:tgtEl>
                                          <p:spTgt spid="89167"/>
                                        </p:tgtEl>
                                      </p:cBhvr>
                                    </p:animEffect>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8" fill="hold" nodeType="clickEffect">
                                  <p:stCondLst>
                                    <p:cond delay="0"/>
                                  </p:stCondLst>
                                  <p:childTnLst>
                                    <p:set>
                                      <p:cBhvr>
                                        <p:cTn id="132" dur="1" fill="hold">
                                          <p:stCondLst>
                                            <p:cond delay="0"/>
                                          </p:stCondLst>
                                        </p:cTn>
                                        <p:tgtEl>
                                          <p:spTgt spid="89163"/>
                                        </p:tgtEl>
                                        <p:attrNameLst>
                                          <p:attrName>style.visibility</p:attrName>
                                        </p:attrNameLst>
                                      </p:cBhvr>
                                      <p:to>
                                        <p:strVal val="visible"/>
                                      </p:to>
                                    </p:set>
                                    <p:animEffect transition="in" filter="wipe(left)">
                                      <p:cBhvr>
                                        <p:cTn id="133" dur="500"/>
                                        <p:tgtEl>
                                          <p:spTgt spid="89163"/>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2" presetClass="entr" presetSubtype="8" fill="hold" nodeType="clickEffect">
                                  <p:stCondLst>
                                    <p:cond delay="0"/>
                                  </p:stCondLst>
                                  <p:childTnLst>
                                    <p:set>
                                      <p:cBhvr>
                                        <p:cTn id="137" dur="1" fill="hold">
                                          <p:stCondLst>
                                            <p:cond delay="0"/>
                                          </p:stCondLst>
                                        </p:cTn>
                                        <p:tgtEl>
                                          <p:spTgt spid="89093"/>
                                        </p:tgtEl>
                                        <p:attrNameLst>
                                          <p:attrName>style.visibility</p:attrName>
                                        </p:attrNameLst>
                                      </p:cBhvr>
                                      <p:to>
                                        <p:strVal val="visible"/>
                                      </p:to>
                                    </p:set>
                                    <p:animEffect transition="in" filter="wipe(left)">
                                      <p:cBhvr>
                                        <p:cTn id="138" dur="500"/>
                                        <p:tgtEl>
                                          <p:spTgt spid="89093"/>
                                        </p:tgtEl>
                                      </p:cBhvr>
                                    </p:animEffec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3" presetClass="entr" presetSubtype="32" fill="hold" grpId="0" nodeType="clickEffect">
                                  <p:stCondLst>
                                    <p:cond delay="0"/>
                                  </p:stCondLst>
                                  <p:iterate type="wd">
                                    <p:tmPct val="100000"/>
                                  </p:iterate>
                                  <p:childTnLst>
                                    <p:set>
                                      <p:cBhvr>
                                        <p:cTn id="142" dur="1" fill="hold">
                                          <p:stCondLst>
                                            <p:cond delay="0"/>
                                          </p:stCondLst>
                                        </p:cTn>
                                        <p:tgtEl>
                                          <p:spTgt spid="89095"/>
                                        </p:tgtEl>
                                        <p:attrNameLst>
                                          <p:attrName>style.visibility</p:attrName>
                                        </p:attrNameLst>
                                      </p:cBhvr>
                                      <p:to>
                                        <p:strVal val="visible"/>
                                      </p:to>
                                    </p:set>
                                    <p:anim calcmode="lin" valueType="num">
                                      <p:cBhvr>
                                        <p:cTn id="143" dur="300" fill="hold"/>
                                        <p:tgtEl>
                                          <p:spTgt spid="89095"/>
                                        </p:tgtEl>
                                        <p:attrNameLst>
                                          <p:attrName>ppt_w</p:attrName>
                                        </p:attrNameLst>
                                      </p:cBhvr>
                                      <p:tavLst>
                                        <p:tav tm="0">
                                          <p:val>
                                            <p:strVal val="4*#ppt_w"/>
                                          </p:val>
                                        </p:tav>
                                        <p:tav tm="100000">
                                          <p:val>
                                            <p:strVal val="#ppt_w"/>
                                          </p:val>
                                        </p:tav>
                                      </p:tavLst>
                                    </p:anim>
                                    <p:anim calcmode="lin" valueType="num">
                                      <p:cBhvr>
                                        <p:cTn id="144" dur="300" fill="hold"/>
                                        <p:tgtEl>
                                          <p:spTgt spid="89095"/>
                                        </p:tgtEl>
                                        <p:attrNameLst>
                                          <p:attrName>ppt_h</p:attrName>
                                        </p:attrNameLst>
                                      </p:cBhvr>
                                      <p:tavLst>
                                        <p:tav tm="0">
                                          <p:val>
                                            <p:strVal val="4*#ppt_h"/>
                                          </p:val>
                                        </p:tav>
                                        <p:tav tm="100000">
                                          <p:val>
                                            <p:strVal val="#ppt_h"/>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89174"/>
                                        </p:tgtEl>
                                        <p:attrNameLst>
                                          <p:attrName>style.visibility</p:attrName>
                                        </p:attrNameLst>
                                      </p:cBhvr>
                                      <p:to>
                                        <p:strVal val="visible"/>
                                      </p:to>
                                    </p:set>
                                    <p:animEffect transition="in" filter="wipe(left)">
                                      <p:cBhvr>
                                        <p:cTn id="149" dur="500"/>
                                        <p:tgtEl>
                                          <p:spTgt spid="89174"/>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3" presetClass="entr" presetSubtype="32" fill="hold" grpId="0" nodeType="clickEffect">
                                  <p:stCondLst>
                                    <p:cond delay="0"/>
                                  </p:stCondLst>
                                  <p:iterate type="wd">
                                    <p:tmPct val="100000"/>
                                  </p:iterate>
                                  <p:childTnLst>
                                    <p:set>
                                      <p:cBhvr>
                                        <p:cTn id="153" dur="1" fill="hold">
                                          <p:stCondLst>
                                            <p:cond delay="0"/>
                                          </p:stCondLst>
                                        </p:cTn>
                                        <p:tgtEl>
                                          <p:spTgt spid="89175"/>
                                        </p:tgtEl>
                                        <p:attrNameLst>
                                          <p:attrName>style.visibility</p:attrName>
                                        </p:attrNameLst>
                                      </p:cBhvr>
                                      <p:to>
                                        <p:strVal val="visible"/>
                                      </p:to>
                                    </p:set>
                                    <p:anim calcmode="lin" valueType="num">
                                      <p:cBhvr>
                                        <p:cTn id="154" dur="300" fill="hold"/>
                                        <p:tgtEl>
                                          <p:spTgt spid="89175"/>
                                        </p:tgtEl>
                                        <p:attrNameLst>
                                          <p:attrName>ppt_w</p:attrName>
                                        </p:attrNameLst>
                                      </p:cBhvr>
                                      <p:tavLst>
                                        <p:tav tm="0">
                                          <p:val>
                                            <p:strVal val="4*#ppt_w"/>
                                          </p:val>
                                        </p:tav>
                                        <p:tav tm="100000">
                                          <p:val>
                                            <p:strVal val="#ppt_w"/>
                                          </p:val>
                                        </p:tav>
                                      </p:tavLst>
                                    </p:anim>
                                    <p:anim calcmode="lin" valueType="num">
                                      <p:cBhvr>
                                        <p:cTn id="155" dur="300" fill="hold"/>
                                        <p:tgtEl>
                                          <p:spTgt spid="89175"/>
                                        </p:tgtEl>
                                        <p:attrNameLst>
                                          <p:attrName>ppt_h</p:attrName>
                                        </p:attrNameLst>
                                      </p:cBhvr>
                                      <p:tavLst>
                                        <p:tav tm="0">
                                          <p:val>
                                            <p:strVal val="4*#ppt_h"/>
                                          </p:val>
                                        </p:tav>
                                        <p:tav tm="100000">
                                          <p:val>
                                            <p:strVal val="#ppt_h"/>
                                          </p:val>
                                        </p:tav>
                                      </p:tavLst>
                                    </p:anim>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2" presetClass="entr" presetSubtype="8" fill="hold" nodeType="clickEffect">
                                  <p:stCondLst>
                                    <p:cond delay="0"/>
                                  </p:stCondLst>
                                  <p:childTnLst>
                                    <p:set>
                                      <p:cBhvr>
                                        <p:cTn id="159" dur="1" fill="hold">
                                          <p:stCondLst>
                                            <p:cond delay="0"/>
                                          </p:stCondLst>
                                        </p:cTn>
                                        <p:tgtEl>
                                          <p:spTgt spid="89176"/>
                                        </p:tgtEl>
                                        <p:attrNameLst>
                                          <p:attrName>style.visibility</p:attrName>
                                        </p:attrNameLst>
                                      </p:cBhvr>
                                      <p:to>
                                        <p:strVal val="visible"/>
                                      </p:to>
                                    </p:set>
                                    <p:animEffect transition="in" filter="wipe(left)">
                                      <p:cBhvr>
                                        <p:cTn id="160" dur="500"/>
                                        <p:tgtEl>
                                          <p:spTgt spid="89176"/>
                                        </p:tgtEl>
                                      </p:cBhvr>
                                    </p:animEffect>
                                  </p:childTnLst>
                                </p:cTn>
                              </p:par>
                            </p:childTnLst>
                          </p:cTn>
                        </p:par>
                      </p:childTnLst>
                    </p:cTn>
                  </p:par>
                  <p:par>
                    <p:cTn id="161" fill="hold" nodeType="clickPar">
                      <p:stCondLst>
                        <p:cond delay="indefinite"/>
                      </p:stCondLst>
                      <p:childTnLst>
                        <p:par>
                          <p:cTn id="162" fill="hold" nodeType="withGroup">
                            <p:stCondLst>
                              <p:cond delay="0"/>
                            </p:stCondLst>
                            <p:childTnLst>
                              <p:par>
                                <p:cTn id="163" presetID="23" presetClass="entr" presetSubtype="32" fill="hold" grpId="0" nodeType="clickEffect">
                                  <p:stCondLst>
                                    <p:cond delay="0"/>
                                  </p:stCondLst>
                                  <p:iterate type="wd">
                                    <p:tmPct val="100000"/>
                                  </p:iterate>
                                  <p:childTnLst>
                                    <p:set>
                                      <p:cBhvr>
                                        <p:cTn id="164" dur="1" fill="hold">
                                          <p:stCondLst>
                                            <p:cond delay="0"/>
                                          </p:stCondLst>
                                        </p:cTn>
                                        <p:tgtEl>
                                          <p:spTgt spid="89177"/>
                                        </p:tgtEl>
                                        <p:attrNameLst>
                                          <p:attrName>style.visibility</p:attrName>
                                        </p:attrNameLst>
                                      </p:cBhvr>
                                      <p:to>
                                        <p:strVal val="visible"/>
                                      </p:to>
                                    </p:set>
                                    <p:anim calcmode="lin" valueType="num">
                                      <p:cBhvr>
                                        <p:cTn id="165" dur="300" fill="hold"/>
                                        <p:tgtEl>
                                          <p:spTgt spid="89177"/>
                                        </p:tgtEl>
                                        <p:attrNameLst>
                                          <p:attrName>ppt_w</p:attrName>
                                        </p:attrNameLst>
                                      </p:cBhvr>
                                      <p:tavLst>
                                        <p:tav tm="0">
                                          <p:val>
                                            <p:strVal val="4*#ppt_w"/>
                                          </p:val>
                                        </p:tav>
                                        <p:tav tm="100000">
                                          <p:val>
                                            <p:strVal val="#ppt_w"/>
                                          </p:val>
                                        </p:tav>
                                      </p:tavLst>
                                    </p:anim>
                                    <p:anim calcmode="lin" valueType="num">
                                      <p:cBhvr>
                                        <p:cTn id="166" dur="300" fill="hold"/>
                                        <p:tgtEl>
                                          <p:spTgt spid="89177"/>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autoUpdateAnimBg="0"/>
      <p:bldP spid="89096" grpId="0"/>
      <p:bldP spid="89097" grpId="0" animBg="1"/>
      <p:bldP spid="89098" grpId="0" animBg="1"/>
      <p:bldP spid="89099" grpId="0" animBg="1"/>
      <p:bldP spid="89100" grpId="0" animBg="1"/>
      <p:bldP spid="89105" grpId="0" animBg="1"/>
      <p:bldP spid="89106" grpId="0" animBg="1"/>
      <p:bldP spid="89107" grpId="0" animBg="1"/>
      <p:bldP spid="89108" grpId="0" animBg="1"/>
      <p:bldP spid="89162" grpId="0"/>
      <p:bldP spid="89164" grpId="0"/>
      <p:bldP spid="89167" grpId="0"/>
      <p:bldP spid="89172" grpId="0" animBg="1" autoUpdateAnimBg="0"/>
      <p:bldP spid="89175" grpId="0" autoUpdateAnimBg="0"/>
      <p:bldP spid="89177"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 Box 4"/>
          <p:cNvSpPr txBox="1">
            <a:spLocks noChangeArrowheads="1"/>
          </p:cNvSpPr>
          <p:nvPr/>
        </p:nvSpPr>
        <p:spPr bwMode="auto">
          <a:xfrm>
            <a:off x="611188" y="547688"/>
            <a:ext cx="1241425" cy="457200"/>
          </a:xfrm>
          <a:prstGeom prst="rect">
            <a:avLst/>
          </a:prstGeom>
          <a:noFill/>
          <a:ln>
            <a:noFill/>
          </a:ln>
          <a:effectLst/>
          <a:extLst>
            <a:ext uri="{909E8E84-426E-40DD-AFC4-6F175D3DCCD1}"/>
            <a:ext uri="{91240B29-F687-4F45-9708-019B960494DF}"/>
            <a:ext uri="{AF507438-7753-43E0-B8FC-AC1667EBCBE1}"/>
          </a:extLst>
        </p:spPr>
        <p:txBody>
          <a:bodyPr>
            <a:spAutoFit/>
          </a:bodyPr>
          <a:lstStyle/>
          <a:p>
            <a:pPr algn="l">
              <a:buClr>
                <a:srgbClr val="00FFFF"/>
              </a:buClr>
              <a:buSzPts val="2400"/>
              <a:buFont typeface="Wingdings" pitchFamily="2" charset="2"/>
              <a:buNone/>
              <a:defRPr/>
            </a:pPr>
            <a:r>
              <a:rPr lang="zh-CN" altLang="en-US" sz="2400" b="1">
                <a:solidFill>
                  <a:srgbClr val="FF6600"/>
                </a:solidFill>
                <a:latin typeface="宋体" pitchFamily="2" charset="-122"/>
              </a:rPr>
              <a:t>讨论</a:t>
            </a:r>
            <a:endParaRPr lang="zh-CN" altLang="en-US" sz="3200">
              <a:solidFill>
                <a:schemeClr val="bg1"/>
              </a:solidFill>
              <a:effectDag name="">
                <a:cont type="tree" name="">
                  <a:effect ref="fillLine"/>
                  <a:outerShdw dist="38100" dir="13500000" algn="br">
                    <a:srgbClr val="FFFFFF"/>
                  </a:outerShdw>
                </a:cont>
                <a:cont type="tree" name="">
                  <a:effect ref="fillLine"/>
                  <a:outerShdw dist="38100" dir="2700000" algn="tl">
                    <a:srgbClr val="999999"/>
                  </a:outerShdw>
                </a:cont>
                <a:effect ref="fillLine"/>
              </a:effectDag>
              <a:latin typeface="Times New Roman" pitchFamily="18" charset="0"/>
            </a:endParaRPr>
          </a:p>
        </p:txBody>
      </p:sp>
      <p:sp>
        <p:nvSpPr>
          <p:cNvPr id="40965" name="AutoShape 5"/>
          <p:cNvSpPr>
            <a:spLocks noChangeArrowheads="1"/>
          </p:cNvSpPr>
          <p:nvPr/>
        </p:nvSpPr>
        <p:spPr bwMode="auto">
          <a:xfrm>
            <a:off x="179388" y="476250"/>
            <a:ext cx="360362"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headEnd/>
            <a:tailEnd/>
          </a:ln>
        </p:spPr>
        <p:txBody>
          <a:bodyPr wrap="none" anchor="ctr"/>
          <a:lstStyle/>
          <a:p>
            <a:endParaRPr lang="zh-CN" altLang="en-US"/>
          </a:p>
        </p:txBody>
      </p:sp>
      <p:graphicFrame>
        <p:nvGraphicFramePr>
          <p:cNvPr id="40966" name="Object 6"/>
          <p:cNvGraphicFramePr>
            <a:graphicFrameLocks noChangeAspect="1"/>
          </p:cNvGraphicFramePr>
          <p:nvPr/>
        </p:nvGraphicFramePr>
        <p:xfrm>
          <a:off x="3635375" y="1196975"/>
          <a:ext cx="2644775" cy="730250"/>
        </p:xfrm>
        <a:graphic>
          <a:graphicData uri="http://schemas.openxmlformats.org/presentationml/2006/ole">
            <p:oleObj spid="_x0000_s32770" name="公式" r:id="rId3" imgW="1438188" imgH="371520" progId="Equation.3">
              <p:embed/>
            </p:oleObj>
          </a:graphicData>
        </a:graphic>
      </p:graphicFrame>
      <p:sp>
        <p:nvSpPr>
          <p:cNvPr id="40967" name="Text Box 7"/>
          <p:cNvSpPr txBox="1">
            <a:spLocks noChangeArrowheads="1"/>
          </p:cNvSpPr>
          <p:nvPr/>
        </p:nvSpPr>
        <p:spPr bwMode="auto">
          <a:xfrm>
            <a:off x="179388" y="1268413"/>
            <a:ext cx="3816350"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(1)  </a:t>
            </a:r>
            <a:r>
              <a:rPr kumimoji="1" lang="zh-CN" altLang="en-US" sz="2400" b="1">
                <a:latin typeface="Times New Roman" pitchFamily="18" charset="0"/>
                <a:ea typeface="楷体_GB2312" pitchFamily="49" charset="-122"/>
              </a:rPr>
              <a:t>一般情况</a:t>
            </a:r>
            <a:r>
              <a:rPr kumimoji="1" lang="zh-CN" altLang="en-US" sz="2400" b="1">
                <a:solidFill>
                  <a:srgbClr val="FF6600"/>
                </a:solidFill>
                <a:latin typeface="Times New Roman" pitchFamily="18" charset="0"/>
                <a:ea typeface="楷体_GB2312" pitchFamily="49" charset="-122"/>
              </a:rPr>
              <a:t>位移电流</a:t>
            </a:r>
          </a:p>
        </p:txBody>
      </p:sp>
      <p:graphicFrame>
        <p:nvGraphicFramePr>
          <p:cNvPr id="40968" name="Object 8"/>
          <p:cNvGraphicFramePr>
            <a:graphicFrameLocks noChangeAspect="1"/>
          </p:cNvGraphicFramePr>
          <p:nvPr/>
        </p:nvGraphicFramePr>
        <p:xfrm>
          <a:off x="6372225" y="1168400"/>
          <a:ext cx="1371600" cy="755650"/>
        </p:xfrm>
        <a:graphic>
          <a:graphicData uri="http://schemas.openxmlformats.org/presentationml/2006/ole">
            <p:oleObj spid="_x0000_s32771" name="公式" r:id="rId4" imgW="723956" imgH="380970" progId="Equation.3">
              <p:embed/>
            </p:oleObj>
          </a:graphicData>
        </a:graphic>
      </p:graphicFrame>
      <p:sp>
        <p:nvSpPr>
          <p:cNvPr id="40969" name="Text Box 9"/>
          <p:cNvSpPr txBox="1">
            <a:spLocks noChangeArrowheads="1"/>
          </p:cNvSpPr>
          <p:nvPr/>
        </p:nvSpPr>
        <p:spPr bwMode="auto">
          <a:xfrm>
            <a:off x="179388" y="2060575"/>
            <a:ext cx="8424862"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(2)  </a:t>
            </a:r>
            <a:r>
              <a:rPr kumimoji="1" lang="zh-CN" altLang="en-US" sz="2400" b="1">
                <a:solidFill>
                  <a:srgbClr val="FF6600"/>
                </a:solidFill>
                <a:latin typeface="Times New Roman" pitchFamily="18" charset="0"/>
                <a:ea typeface="楷体_GB2312" pitchFamily="49" charset="-122"/>
              </a:rPr>
              <a:t>位移电流</a:t>
            </a:r>
            <a:r>
              <a:rPr kumimoji="1" lang="zh-CN" altLang="en-US" sz="2400" b="1">
                <a:latin typeface="Times New Roman" pitchFamily="18" charset="0"/>
                <a:ea typeface="楷体_GB2312" pitchFamily="49" charset="-122"/>
              </a:rPr>
              <a:t>与</a:t>
            </a:r>
            <a:r>
              <a:rPr kumimoji="1" lang="zh-CN" altLang="en-US" sz="2400" b="1">
                <a:solidFill>
                  <a:srgbClr val="FF6600"/>
                </a:solidFill>
                <a:latin typeface="Times New Roman" pitchFamily="18" charset="0"/>
                <a:ea typeface="楷体_GB2312" pitchFamily="49" charset="-122"/>
              </a:rPr>
              <a:t>传导电流</a:t>
            </a:r>
            <a:r>
              <a:rPr kumimoji="1" lang="zh-CN" altLang="en-US" sz="2400" b="1">
                <a:latin typeface="Times New Roman" pitchFamily="18" charset="0"/>
                <a:ea typeface="楷体_GB2312" pitchFamily="49" charset="-122"/>
              </a:rPr>
              <a:t>连接起来恰好构成连续的闭合电流</a:t>
            </a:r>
          </a:p>
        </p:txBody>
      </p:sp>
      <p:sp>
        <p:nvSpPr>
          <p:cNvPr id="40970" name="Text Box 10"/>
          <p:cNvSpPr txBox="1">
            <a:spLocks noChangeArrowheads="1"/>
          </p:cNvSpPr>
          <p:nvPr/>
        </p:nvSpPr>
        <p:spPr bwMode="auto">
          <a:xfrm>
            <a:off x="1258888" y="2708275"/>
            <a:ext cx="4038600" cy="457200"/>
          </a:xfrm>
          <a:prstGeom prst="rect">
            <a:avLst/>
          </a:prstGeom>
          <a:noFill/>
          <a:ln w="9525">
            <a:noFill/>
            <a:miter lim="800000"/>
            <a:headEnd/>
            <a:tailEnd/>
          </a:ln>
        </p:spPr>
        <p:txBody>
          <a:bodyPr>
            <a:spAutoFit/>
          </a:bodyPr>
          <a:lstStyle/>
          <a:p>
            <a:pPr algn="l"/>
            <a:r>
              <a:rPr kumimoji="1" lang="zh-CN" altLang="en-US" sz="2400" b="1">
                <a:solidFill>
                  <a:srgbClr val="008000"/>
                </a:solidFill>
                <a:latin typeface="Times New Roman" pitchFamily="18" charset="0"/>
                <a:ea typeface="楷体_GB2312" pitchFamily="49" charset="-122"/>
              </a:rPr>
              <a:t>麦克斯韦提出全电流的概念</a:t>
            </a:r>
          </a:p>
        </p:txBody>
      </p:sp>
      <p:graphicFrame>
        <p:nvGraphicFramePr>
          <p:cNvPr id="40971" name="Object 11"/>
          <p:cNvGraphicFramePr>
            <a:graphicFrameLocks noChangeAspect="1"/>
          </p:cNvGraphicFramePr>
          <p:nvPr/>
        </p:nvGraphicFramePr>
        <p:xfrm>
          <a:off x="2195513" y="3451225"/>
          <a:ext cx="2138362" cy="457200"/>
        </p:xfrm>
        <a:graphic>
          <a:graphicData uri="http://schemas.openxmlformats.org/presentationml/2006/ole">
            <p:oleObj spid="_x0000_s32772" name="公式" r:id="rId5" imgW="1028666" imgH="190620" progId="Equation.3">
              <p:embed/>
            </p:oleObj>
          </a:graphicData>
        </a:graphic>
      </p:graphicFrame>
      <p:grpSp>
        <p:nvGrpSpPr>
          <p:cNvPr id="2" name="Group 12"/>
          <p:cNvGrpSpPr>
            <a:grpSpLocks/>
          </p:cNvGrpSpPr>
          <p:nvPr/>
        </p:nvGrpSpPr>
        <p:grpSpPr bwMode="auto">
          <a:xfrm>
            <a:off x="5795963" y="2636838"/>
            <a:ext cx="3009900" cy="1524000"/>
            <a:chOff x="3072" y="480"/>
            <a:chExt cx="2496" cy="1536"/>
          </a:xfrm>
        </p:grpSpPr>
        <p:sp>
          <p:nvSpPr>
            <p:cNvPr id="32795" name="Line 13"/>
            <p:cNvSpPr>
              <a:spLocks noChangeShapeType="1"/>
            </p:cNvSpPr>
            <p:nvPr/>
          </p:nvSpPr>
          <p:spPr bwMode="auto">
            <a:xfrm flipV="1">
              <a:off x="3168" y="1056"/>
              <a:ext cx="0" cy="432"/>
            </a:xfrm>
            <a:prstGeom prst="line">
              <a:avLst/>
            </a:prstGeom>
            <a:noFill/>
            <a:ln w="22225">
              <a:solidFill>
                <a:srgbClr val="FF0000"/>
              </a:solidFill>
              <a:round/>
              <a:headEnd/>
              <a:tailEnd type="triangle" w="med" len="med"/>
            </a:ln>
          </p:spPr>
          <p:txBody>
            <a:bodyPr/>
            <a:lstStyle/>
            <a:p>
              <a:endParaRPr lang="zh-CN" altLang="en-US"/>
            </a:p>
          </p:txBody>
        </p:sp>
        <p:graphicFrame>
          <p:nvGraphicFramePr>
            <p:cNvPr id="32776" name="Object 14"/>
            <p:cNvGraphicFramePr>
              <a:graphicFrameLocks noChangeAspect="1"/>
            </p:cNvGraphicFramePr>
            <p:nvPr/>
          </p:nvGraphicFramePr>
          <p:xfrm>
            <a:off x="3226" y="998"/>
            <a:ext cx="330" cy="418"/>
          </p:xfrm>
          <a:graphic>
            <a:graphicData uri="http://schemas.openxmlformats.org/presentationml/2006/ole">
              <p:oleObj spid="_x0000_s32776" name="公式" r:id="rId6" imgW="123721" imgH="190620" progId="Equation.3">
                <p:embed/>
              </p:oleObj>
            </a:graphicData>
          </a:graphic>
        </p:graphicFrame>
        <p:sp>
          <p:nvSpPr>
            <p:cNvPr id="32796" name="Line 15"/>
            <p:cNvSpPr>
              <a:spLocks noChangeShapeType="1"/>
            </p:cNvSpPr>
            <p:nvPr/>
          </p:nvSpPr>
          <p:spPr bwMode="auto">
            <a:xfrm>
              <a:off x="3072" y="912"/>
              <a:ext cx="816" cy="0"/>
            </a:xfrm>
            <a:prstGeom prst="line">
              <a:avLst/>
            </a:prstGeom>
            <a:noFill/>
            <a:ln w="22225">
              <a:solidFill>
                <a:srgbClr val="0000FF"/>
              </a:solidFill>
              <a:round/>
              <a:headEnd/>
              <a:tailEnd/>
            </a:ln>
          </p:spPr>
          <p:txBody>
            <a:bodyPr/>
            <a:lstStyle/>
            <a:p>
              <a:endParaRPr lang="zh-CN" altLang="en-US"/>
            </a:p>
          </p:txBody>
        </p:sp>
        <p:sp>
          <p:nvSpPr>
            <p:cNvPr id="32797" name="Line 16"/>
            <p:cNvSpPr>
              <a:spLocks noChangeShapeType="1"/>
            </p:cNvSpPr>
            <p:nvPr/>
          </p:nvSpPr>
          <p:spPr bwMode="auto">
            <a:xfrm>
              <a:off x="3072" y="912"/>
              <a:ext cx="0" cy="912"/>
            </a:xfrm>
            <a:prstGeom prst="line">
              <a:avLst/>
            </a:prstGeom>
            <a:noFill/>
            <a:ln w="22225">
              <a:solidFill>
                <a:srgbClr val="0000FF"/>
              </a:solidFill>
              <a:round/>
              <a:headEnd/>
              <a:tailEnd/>
            </a:ln>
          </p:spPr>
          <p:txBody>
            <a:bodyPr/>
            <a:lstStyle/>
            <a:p>
              <a:endParaRPr lang="zh-CN" altLang="en-US"/>
            </a:p>
          </p:txBody>
        </p:sp>
        <p:sp>
          <p:nvSpPr>
            <p:cNvPr id="32798" name="Line 17"/>
            <p:cNvSpPr>
              <a:spLocks noChangeShapeType="1"/>
            </p:cNvSpPr>
            <p:nvPr/>
          </p:nvSpPr>
          <p:spPr bwMode="auto">
            <a:xfrm>
              <a:off x="3072" y="1824"/>
              <a:ext cx="336" cy="0"/>
            </a:xfrm>
            <a:prstGeom prst="line">
              <a:avLst/>
            </a:prstGeom>
            <a:noFill/>
            <a:ln w="22225">
              <a:solidFill>
                <a:srgbClr val="0000FF"/>
              </a:solidFill>
              <a:round/>
              <a:headEnd/>
              <a:tailEnd/>
            </a:ln>
          </p:spPr>
          <p:txBody>
            <a:bodyPr/>
            <a:lstStyle/>
            <a:p>
              <a:endParaRPr lang="zh-CN" altLang="en-US"/>
            </a:p>
          </p:txBody>
        </p:sp>
        <p:sp>
          <p:nvSpPr>
            <p:cNvPr id="32799" name="Rectangle 18"/>
            <p:cNvSpPr>
              <a:spLocks noChangeArrowheads="1"/>
            </p:cNvSpPr>
            <p:nvPr/>
          </p:nvSpPr>
          <p:spPr bwMode="auto">
            <a:xfrm>
              <a:off x="3408" y="1728"/>
              <a:ext cx="672" cy="144"/>
            </a:xfrm>
            <a:prstGeom prst="rect">
              <a:avLst/>
            </a:prstGeom>
            <a:solidFill>
              <a:srgbClr val="FF00FF"/>
            </a:solidFill>
            <a:ln w="9525">
              <a:solidFill>
                <a:schemeClr val="tx1"/>
              </a:solidFill>
              <a:miter lim="800000"/>
              <a:headEnd/>
              <a:tailEnd/>
            </a:ln>
          </p:spPr>
          <p:txBody>
            <a:bodyPr wrap="none" anchor="ctr"/>
            <a:lstStyle/>
            <a:p>
              <a:endParaRPr lang="zh-CN" altLang="en-US"/>
            </a:p>
          </p:txBody>
        </p:sp>
        <p:sp>
          <p:nvSpPr>
            <p:cNvPr id="32800" name="Line 19"/>
            <p:cNvSpPr>
              <a:spLocks noChangeShapeType="1"/>
            </p:cNvSpPr>
            <p:nvPr/>
          </p:nvSpPr>
          <p:spPr bwMode="auto">
            <a:xfrm>
              <a:off x="4080" y="1824"/>
              <a:ext cx="816" cy="0"/>
            </a:xfrm>
            <a:prstGeom prst="line">
              <a:avLst/>
            </a:prstGeom>
            <a:noFill/>
            <a:ln w="22225">
              <a:solidFill>
                <a:srgbClr val="0000FF"/>
              </a:solidFill>
              <a:round/>
              <a:headEnd/>
              <a:tailEnd/>
            </a:ln>
          </p:spPr>
          <p:txBody>
            <a:bodyPr/>
            <a:lstStyle/>
            <a:p>
              <a:endParaRPr lang="zh-CN" altLang="en-US"/>
            </a:p>
          </p:txBody>
        </p:sp>
        <p:sp>
          <p:nvSpPr>
            <p:cNvPr id="32801" name="Line 20"/>
            <p:cNvSpPr>
              <a:spLocks noChangeShapeType="1"/>
            </p:cNvSpPr>
            <p:nvPr/>
          </p:nvSpPr>
          <p:spPr bwMode="auto">
            <a:xfrm>
              <a:off x="4896" y="1632"/>
              <a:ext cx="0" cy="384"/>
            </a:xfrm>
            <a:prstGeom prst="line">
              <a:avLst/>
            </a:prstGeom>
            <a:noFill/>
            <a:ln w="22225">
              <a:solidFill>
                <a:srgbClr val="008000"/>
              </a:solidFill>
              <a:round/>
              <a:headEnd/>
              <a:tailEnd/>
            </a:ln>
          </p:spPr>
          <p:txBody>
            <a:bodyPr/>
            <a:lstStyle/>
            <a:p>
              <a:endParaRPr lang="zh-CN" altLang="en-US"/>
            </a:p>
          </p:txBody>
        </p:sp>
        <p:sp>
          <p:nvSpPr>
            <p:cNvPr id="32802" name="Line 21"/>
            <p:cNvSpPr>
              <a:spLocks noChangeShapeType="1"/>
            </p:cNvSpPr>
            <p:nvPr/>
          </p:nvSpPr>
          <p:spPr bwMode="auto">
            <a:xfrm>
              <a:off x="5040" y="1728"/>
              <a:ext cx="0" cy="240"/>
            </a:xfrm>
            <a:prstGeom prst="line">
              <a:avLst/>
            </a:prstGeom>
            <a:noFill/>
            <a:ln w="22225">
              <a:solidFill>
                <a:srgbClr val="008000"/>
              </a:solidFill>
              <a:round/>
              <a:headEnd/>
              <a:tailEnd/>
            </a:ln>
          </p:spPr>
          <p:txBody>
            <a:bodyPr/>
            <a:lstStyle/>
            <a:p>
              <a:endParaRPr lang="zh-CN" altLang="en-US"/>
            </a:p>
          </p:txBody>
        </p:sp>
        <p:sp>
          <p:nvSpPr>
            <p:cNvPr id="32803" name="Line 22"/>
            <p:cNvSpPr>
              <a:spLocks noChangeShapeType="1"/>
            </p:cNvSpPr>
            <p:nvPr/>
          </p:nvSpPr>
          <p:spPr bwMode="auto">
            <a:xfrm>
              <a:off x="5040" y="1824"/>
              <a:ext cx="528" cy="0"/>
            </a:xfrm>
            <a:prstGeom prst="line">
              <a:avLst/>
            </a:prstGeom>
            <a:noFill/>
            <a:ln w="22225">
              <a:solidFill>
                <a:srgbClr val="0000FF"/>
              </a:solidFill>
              <a:round/>
              <a:headEnd/>
              <a:tailEnd/>
            </a:ln>
          </p:spPr>
          <p:txBody>
            <a:bodyPr/>
            <a:lstStyle/>
            <a:p>
              <a:endParaRPr lang="zh-CN" altLang="en-US"/>
            </a:p>
          </p:txBody>
        </p:sp>
        <p:sp>
          <p:nvSpPr>
            <p:cNvPr id="32804" name="Line 23"/>
            <p:cNvSpPr>
              <a:spLocks noChangeShapeType="1"/>
            </p:cNvSpPr>
            <p:nvPr/>
          </p:nvSpPr>
          <p:spPr bwMode="auto">
            <a:xfrm>
              <a:off x="5568" y="912"/>
              <a:ext cx="0" cy="912"/>
            </a:xfrm>
            <a:prstGeom prst="line">
              <a:avLst/>
            </a:prstGeom>
            <a:noFill/>
            <a:ln w="22225">
              <a:solidFill>
                <a:srgbClr val="0000FF"/>
              </a:solidFill>
              <a:round/>
              <a:headEnd/>
              <a:tailEnd/>
            </a:ln>
          </p:spPr>
          <p:txBody>
            <a:bodyPr/>
            <a:lstStyle/>
            <a:p>
              <a:endParaRPr lang="zh-CN" altLang="en-US"/>
            </a:p>
          </p:txBody>
        </p:sp>
        <p:graphicFrame>
          <p:nvGraphicFramePr>
            <p:cNvPr id="32777" name="Object 24"/>
            <p:cNvGraphicFramePr>
              <a:graphicFrameLocks noChangeAspect="1"/>
            </p:cNvGraphicFramePr>
            <p:nvPr/>
          </p:nvGraphicFramePr>
          <p:xfrm>
            <a:off x="3600" y="1440"/>
            <a:ext cx="305" cy="301"/>
          </p:xfrm>
          <a:graphic>
            <a:graphicData uri="http://schemas.openxmlformats.org/presentationml/2006/ole">
              <p:oleObj spid="_x0000_s32777" name="Equation" r:id="rId7" imgW="114266" imgH="123930" progId="Equation.3">
                <p:embed/>
              </p:oleObj>
            </a:graphicData>
          </a:graphic>
        </p:graphicFrame>
        <p:graphicFrame>
          <p:nvGraphicFramePr>
            <p:cNvPr id="32778" name="Object 25"/>
            <p:cNvGraphicFramePr>
              <a:graphicFrameLocks noChangeAspect="1"/>
            </p:cNvGraphicFramePr>
            <p:nvPr/>
          </p:nvGraphicFramePr>
          <p:xfrm>
            <a:off x="4848" y="1344"/>
            <a:ext cx="254" cy="255"/>
          </p:xfrm>
          <a:graphic>
            <a:graphicData uri="http://schemas.openxmlformats.org/presentationml/2006/ole">
              <p:oleObj spid="_x0000_s32778" name="Equation" r:id="rId8" imgW="85632" imgH="104760" progId="Equation.3">
                <p:embed/>
              </p:oleObj>
            </a:graphicData>
          </a:graphic>
        </p:graphicFrame>
        <p:sp>
          <p:nvSpPr>
            <p:cNvPr id="32805" name="Line 26"/>
            <p:cNvSpPr>
              <a:spLocks noChangeShapeType="1"/>
            </p:cNvSpPr>
            <p:nvPr/>
          </p:nvSpPr>
          <p:spPr bwMode="auto">
            <a:xfrm>
              <a:off x="4800" y="912"/>
              <a:ext cx="768" cy="0"/>
            </a:xfrm>
            <a:prstGeom prst="line">
              <a:avLst/>
            </a:prstGeom>
            <a:noFill/>
            <a:ln w="22225">
              <a:solidFill>
                <a:srgbClr val="0000FF"/>
              </a:solidFill>
              <a:round/>
              <a:headEnd/>
              <a:tailEnd/>
            </a:ln>
          </p:spPr>
          <p:txBody>
            <a:bodyPr/>
            <a:lstStyle/>
            <a:p>
              <a:endParaRPr lang="zh-CN" altLang="en-US"/>
            </a:p>
          </p:txBody>
        </p:sp>
        <p:sp>
          <p:nvSpPr>
            <p:cNvPr id="40987" name="Rectangle 27"/>
            <p:cNvSpPr>
              <a:spLocks noChangeArrowheads="1"/>
            </p:cNvSpPr>
            <p:nvPr/>
          </p:nvSpPr>
          <p:spPr bwMode="auto">
            <a:xfrm>
              <a:off x="3888" y="480"/>
              <a:ext cx="96" cy="816"/>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extLst>
          </p:spPr>
          <p:txBody>
            <a:bodyPr wrap="none" anchor="ctr"/>
            <a:lstStyle/>
            <a:p>
              <a:pPr>
                <a:defRPr/>
              </a:pPr>
              <a:endParaRPr lang="zh-CN" altLang="en-US"/>
            </a:p>
          </p:txBody>
        </p:sp>
        <p:sp>
          <p:nvSpPr>
            <p:cNvPr id="40988" name="Rectangle 28"/>
            <p:cNvSpPr>
              <a:spLocks noChangeArrowheads="1"/>
            </p:cNvSpPr>
            <p:nvPr/>
          </p:nvSpPr>
          <p:spPr bwMode="auto">
            <a:xfrm>
              <a:off x="4704" y="480"/>
              <a:ext cx="96" cy="816"/>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0" scaled="1"/>
            </a:gradFill>
            <a:ln w="9525">
              <a:solidFill>
                <a:schemeClr val="tx1"/>
              </a:solidFill>
              <a:miter lim="800000"/>
              <a:headEnd/>
              <a:tailEnd/>
            </a:ln>
            <a:effectLst/>
            <a:extLst>
              <a:ext uri="{AF507438-7753-43E0-B8FC-AC1667EBCBE1}"/>
            </a:extLst>
          </p:spPr>
          <p:txBody>
            <a:bodyPr wrap="none" anchor="ctr"/>
            <a:lstStyle/>
            <a:p>
              <a:pPr>
                <a:defRPr/>
              </a:pPr>
              <a:endParaRPr lang="zh-CN" altLang="en-US"/>
            </a:p>
          </p:txBody>
        </p:sp>
      </p:grpSp>
      <p:grpSp>
        <p:nvGrpSpPr>
          <p:cNvPr id="3" name="Group 29"/>
          <p:cNvGrpSpPr>
            <a:grpSpLocks/>
          </p:cNvGrpSpPr>
          <p:nvPr/>
        </p:nvGrpSpPr>
        <p:grpSpPr bwMode="auto">
          <a:xfrm>
            <a:off x="6948488" y="2649538"/>
            <a:ext cx="777875" cy="708025"/>
            <a:chOff x="4380" y="1018"/>
            <a:chExt cx="490" cy="446"/>
          </a:xfrm>
        </p:grpSpPr>
        <p:grpSp>
          <p:nvGrpSpPr>
            <p:cNvPr id="32790" name="Group 30"/>
            <p:cNvGrpSpPr>
              <a:grpSpLocks/>
            </p:cNvGrpSpPr>
            <p:nvPr/>
          </p:nvGrpSpPr>
          <p:grpSpPr bwMode="auto">
            <a:xfrm>
              <a:off x="4380" y="1018"/>
              <a:ext cx="490" cy="446"/>
              <a:chOff x="4032" y="720"/>
              <a:chExt cx="624" cy="576"/>
            </a:xfrm>
          </p:grpSpPr>
          <p:sp>
            <p:nvSpPr>
              <p:cNvPr id="32791" name="Line 31"/>
              <p:cNvSpPr>
                <a:spLocks noChangeShapeType="1"/>
              </p:cNvSpPr>
              <p:nvPr/>
            </p:nvSpPr>
            <p:spPr bwMode="auto">
              <a:xfrm>
                <a:off x="4032" y="720"/>
                <a:ext cx="624" cy="0"/>
              </a:xfrm>
              <a:prstGeom prst="line">
                <a:avLst/>
              </a:prstGeom>
              <a:noFill/>
              <a:ln w="9525">
                <a:solidFill>
                  <a:srgbClr val="0000FF"/>
                </a:solidFill>
                <a:round/>
                <a:headEnd/>
                <a:tailEnd type="triangle" w="med" len="med"/>
              </a:ln>
            </p:spPr>
            <p:txBody>
              <a:bodyPr/>
              <a:lstStyle/>
              <a:p>
                <a:endParaRPr lang="zh-CN" altLang="en-US"/>
              </a:p>
            </p:txBody>
          </p:sp>
          <p:sp>
            <p:nvSpPr>
              <p:cNvPr id="32792" name="Line 32"/>
              <p:cNvSpPr>
                <a:spLocks noChangeShapeType="1"/>
              </p:cNvSpPr>
              <p:nvPr/>
            </p:nvSpPr>
            <p:spPr bwMode="auto">
              <a:xfrm>
                <a:off x="4032" y="912"/>
                <a:ext cx="624" cy="0"/>
              </a:xfrm>
              <a:prstGeom prst="line">
                <a:avLst/>
              </a:prstGeom>
              <a:noFill/>
              <a:ln w="9525">
                <a:solidFill>
                  <a:srgbClr val="0000FF"/>
                </a:solidFill>
                <a:round/>
                <a:headEnd/>
                <a:tailEnd type="triangle" w="med" len="med"/>
              </a:ln>
            </p:spPr>
            <p:txBody>
              <a:bodyPr/>
              <a:lstStyle/>
              <a:p>
                <a:endParaRPr lang="zh-CN" altLang="en-US"/>
              </a:p>
            </p:txBody>
          </p:sp>
          <p:sp>
            <p:nvSpPr>
              <p:cNvPr id="32793" name="Line 33"/>
              <p:cNvSpPr>
                <a:spLocks noChangeShapeType="1"/>
              </p:cNvSpPr>
              <p:nvPr/>
            </p:nvSpPr>
            <p:spPr bwMode="auto">
              <a:xfrm>
                <a:off x="4032" y="1104"/>
                <a:ext cx="624" cy="0"/>
              </a:xfrm>
              <a:prstGeom prst="line">
                <a:avLst/>
              </a:prstGeom>
              <a:noFill/>
              <a:ln w="9525">
                <a:solidFill>
                  <a:srgbClr val="0000FF"/>
                </a:solidFill>
                <a:round/>
                <a:headEnd/>
                <a:tailEnd type="triangle" w="med" len="med"/>
              </a:ln>
            </p:spPr>
            <p:txBody>
              <a:bodyPr/>
              <a:lstStyle/>
              <a:p>
                <a:endParaRPr lang="zh-CN" altLang="en-US"/>
              </a:p>
            </p:txBody>
          </p:sp>
          <p:sp>
            <p:nvSpPr>
              <p:cNvPr id="32794" name="Line 34"/>
              <p:cNvSpPr>
                <a:spLocks noChangeShapeType="1"/>
              </p:cNvSpPr>
              <p:nvPr/>
            </p:nvSpPr>
            <p:spPr bwMode="auto">
              <a:xfrm>
                <a:off x="4032" y="1296"/>
                <a:ext cx="624" cy="0"/>
              </a:xfrm>
              <a:prstGeom prst="line">
                <a:avLst/>
              </a:prstGeom>
              <a:noFill/>
              <a:ln w="9525">
                <a:solidFill>
                  <a:srgbClr val="0000FF"/>
                </a:solidFill>
                <a:round/>
                <a:headEnd/>
                <a:tailEnd type="triangle" w="med" len="med"/>
              </a:ln>
            </p:spPr>
            <p:txBody>
              <a:bodyPr/>
              <a:lstStyle/>
              <a:p>
                <a:endParaRPr lang="zh-CN" altLang="en-US"/>
              </a:p>
            </p:txBody>
          </p:sp>
        </p:grpSp>
        <p:graphicFrame>
          <p:nvGraphicFramePr>
            <p:cNvPr id="32775" name="Object 35"/>
            <p:cNvGraphicFramePr>
              <a:graphicFrameLocks/>
            </p:cNvGraphicFramePr>
            <p:nvPr/>
          </p:nvGraphicFramePr>
          <p:xfrm>
            <a:off x="4505" y="1079"/>
            <a:ext cx="224" cy="265"/>
          </p:xfrm>
          <a:graphic>
            <a:graphicData uri="http://schemas.openxmlformats.org/presentationml/2006/ole">
              <p:oleObj spid="_x0000_s32775" name="公式" r:id="rId9" imgW="314435" imgH="380970" progId="Equation.3">
                <p:embed/>
              </p:oleObj>
            </a:graphicData>
          </a:graphic>
        </p:graphicFrame>
      </p:grpSp>
      <p:sp>
        <p:nvSpPr>
          <p:cNvPr id="40996" name="Text Box 36"/>
          <p:cNvSpPr txBox="1">
            <a:spLocks noChangeArrowheads="1"/>
          </p:cNvSpPr>
          <p:nvPr/>
        </p:nvSpPr>
        <p:spPr bwMode="auto">
          <a:xfrm>
            <a:off x="539750" y="4221163"/>
            <a:ext cx="7632700" cy="530225"/>
          </a:xfrm>
          <a:prstGeom prst="rect">
            <a:avLst/>
          </a:prstGeom>
          <a:solidFill>
            <a:schemeClr val="accent1"/>
          </a:solidFill>
          <a:ln w="19050">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电流在空间永远是连续不中断的，并且构成闭合回路</a:t>
            </a:r>
          </a:p>
        </p:txBody>
      </p:sp>
      <p:sp>
        <p:nvSpPr>
          <p:cNvPr id="40999" name="Text Box 39"/>
          <p:cNvSpPr txBox="1">
            <a:spLocks noChangeArrowheads="1"/>
          </p:cNvSpPr>
          <p:nvPr/>
        </p:nvSpPr>
        <p:spPr bwMode="auto">
          <a:xfrm>
            <a:off x="468313" y="4868863"/>
            <a:ext cx="4267200" cy="530225"/>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麦克斯韦将安培环路定理推广</a:t>
            </a:r>
          </a:p>
        </p:txBody>
      </p:sp>
      <p:sp>
        <p:nvSpPr>
          <p:cNvPr id="41001" name="AutoShape 41"/>
          <p:cNvSpPr>
            <a:spLocks noChangeArrowheads="1"/>
          </p:cNvSpPr>
          <p:nvPr/>
        </p:nvSpPr>
        <p:spPr bwMode="auto">
          <a:xfrm>
            <a:off x="1258888" y="5445125"/>
            <a:ext cx="5761037" cy="1008063"/>
          </a:xfrm>
          <a:prstGeom prst="bevel">
            <a:avLst>
              <a:gd name="adj" fmla="val 4847"/>
            </a:avLst>
          </a:prstGeom>
          <a:solidFill>
            <a:srgbClr val="CCFFFF"/>
          </a:solidFill>
          <a:ln w="9525">
            <a:solidFill>
              <a:srgbClr val="00CCFF"/>
            </a:solidFill>
            <a:miter lim="800000"/>
            <a:headEnd/>
            <a:tailEnd/>
          </a:ln>
        </p:spPr>
        <p:txBody>
          <a:bodyPr wrap="none" anchor="ctr"/>
          <a:lstStyle/>
          <a:p>
            <a:endParaRPr lang="zh-CN" altLang="en-US"/>
          </a:p>
        </p:txBody>
      </p:sp>
      <p:sp>
        <p:nvSpPr>
          <p:cNvPr id="41002" name="Text Box 42"/>
          <p:cNvSpPr txBox="1">
            <a:spLocks noChangeArrowheads="1"/>
          </p:cNvSpPr>
          <p:nvPr/>
        </p:nvSpPr>
        <p:spPr bwMode="auto">
          <a:xfrm>
            <a:off x="7080250" y="5534025"/>
            <a:ext cx="1871663" cy="830263"/>
          </a:xfrm>
          <a:prstGeom prst="rect">
            <a:avLst/>
          </a:prstGeom>
          <a:noFill/>
          <a:ln w="9525">
            <a:noFill/>
            <a:miter lim="800000"/>
            <a:headEnd/>
            <a:tailEnd/>
          </a:ln>
        </p:spPr>
        <p:txBody>
          <a:bodyPr>
            <a:spAutoFit/>
          </a:bodyPr>
          <a:lstStyle/>
          <a:p>
            <a:r>
              <a:rPr kumimoji="1" lang="en-US" altLang="zh-CN" sz="2400" b="1">
                <a:solidFill>
                  <a:srgbClr val="FF0000"/>
                </a:solidFill>
                <a:latin typeface="Times New Roman" pitchFamily="18" charset="0"/>
                <a:ea typeface="楷体_GB2312" pitchFamily="49" charset="-122"/>
              </a:rPr>
              <a:t>(</a:t>
            </a:r>
            <a:r>
              <a:rPr kumimoji="1" lang="zh-CN" altLang="en-US" sz="2400" b="1">
                <a:solidFill>
                  <a:srgbClr val="FF0000"/>
                </a:solidFill>
                <a:latin typeface="Times New Roman" pitchFamily="18" charset="0"/>
                <a:ea typeface="楷体_GB2312" pitchFamily="49" charset="-122"/>
              </a:rPr>
              <a:t>全电流安培环路定理</a:t>
            </a:r>
            <a:r>
              <a:rPr kumimoji="1" lang="en-US" altLang="zh-CN" sz="2400" b="1">
                <a:solidFill>
                  <a:srgbClr val="FF0000"/>
                </a:solidFill>
                <a:latin typeface="Times New Roman" pitchFamily="18" charset="0"/>
                <a:ea typeface="楷体_GB2312" pitchFamily="49" charset="-122"/>
              </a:rPr>
              <a:t>)</a:t>
            </a:r>
          </a:p>
        </p:txBody>
      </p:sp>
      <p:graphicFrame>
        <p:nvGraphicFramePr>
          <p:cNvPr id="41003" name="Object 43"/>
          <p:cNvGraphicFramePr>
            <a:graphicFrameLocks noChangeAspect="1"/>
          </p:cNvGraphicFramePr>
          <p:nvPr/>
        </p:nvGraphicFramePr>
        <p:xfrm>
          <a:off x="1387475" y="5624513"/>
          <a:ext cx="3328988" cy="579437"/>
        </p:xfrm>
        <a:graphic>
          <a:graphicData uri="http://schemas.openxmlformats.org/presentationml/2006/ole">
            <p:oleObj spid="_x0000_s32773" name="公式" r:id="rId10" imgW="1705079" imgH="266760" progId="Equation.3">
              <p:embed/>
            </p:oleObj>
          </a:graphicData>
        </a:graphic>
      </p:graphicFrame>
      <p:graphicFrame>
        <p:nvGraphicFramePr>
          <p:cNvPr id="41004" name="Object 44"/>
          <p:cNvGraphicFramePr>
            <a:graphicFrameLocks noChangeAspect="1"/>
          </p:cNvGraphicFramePr>
          <p:nvPr/>
        </p:nvGraphicFramePr>
        <p:xfrm>
          <a:off x="4678363" y="5521325"/>
          <a:ext cx="2249487" cy="795338"/>
        </p:xfrm>
        <a:graphic>
          <a:graphicData uri="http://schemas.openxmlformats.org/presentationml/2006/ole">
            <p:oleObj spid="_x0000_s32774" name="公式" r:id="rId11" imgW="1142932" imgH="38097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965"/>
                                        </p:tgtEl>
                                        <p:attrNameLst>
                                          <p:attrName>style.visibility</p:attrName>
                                        </p:attrNameLst>
                                      </p:cBhvr>
                                      <p:to>
                                        <p:strVal val="visible"/>
                                      </p:to>
                                    </p:set>
                                    <p:animEffect transition="in" filter="dissolve">
                                      <p:cBhvr>
                                        <p:cTn id="7" dur="1000"/>
                                        <p:tgtEl>
                                          <p:spTgt spid="40965"/>
                                        </p:tgtEl>
                                      </p:cBhvr>
                                    </p:animEffect>
                                  </p:childTnLst>
                                </p:cTn>
                              </p:par>
                            </p:childTnLst>
                          </p:cTn>
                        </p:par>
                        <p:par>
                          <p:cTn id="8" fill="hold" nodeType="afterGroup">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40964"/>
                                        </p:tgtEl>
                                        <p:attrNameLst>
                                          <p:attrName>style.visibility</p:attrName>
                                        </p:attrNameLst>
                                      </p:cBhvr>
                                      <p:to>
                                        <p:strVal val="visible"/>
                                      </p:to>
                                    </p:set>
                                    <p:animEffect transition="in" filter="wipe(left)">
                                      <p:cBhvr>
                                        <p:cTn id="11" dur="500"/>
                                        <p:tgtEl>
                                          <p:spTgt spid="40964"/>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40967"/>
                                        </p:tgtEl>
                                        <p:attrNameLst>
                                          <p:attrName>style.visibility</p:attrName>
                                        </p:attrNameLst>
                                      </p:cBhvr>
                                      <p:to>
                                        <p:strVal val="visible"/>
                                      </p:to>
                                    </p:set>
                                    <p:animEffect transition="in" filter="wipe(left)">
                                      <p:cBhvr>
                                        <p:cTn id="16" dur="500"/>
                                        <p:tgtEl>
                                          <p:spTgt spid="4096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0966"/>
                                        </p:tgtEl>
                                        <p:attrNameLst>
                                          <p:attrName>style.visibility</p:attrName>
                                        </p:attrNameLst>
                                      </p:cBhvr>
                                      <p:to>
                                        <p:strVal val="visible"/>
                                      </p:to>
                                    </p:set>
                                    <p:animEffect transition="in" filter="wipe(left)">
                                      <p:cBhvr>
                                        <p:cTn id="21" dur="500"/>
                                        <p:tgtEl>
                                          <p:spTgt spid="4096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0968"/>
                                        </p:tgtEl>
                                        <p:attrNameLst>
                                          <p:attrName>style.visibility</p:attrName>
                                        </p:attrNameLst>
                                      </p:cBhvr>
                                      <p:to>
                                        <p:strVal val="visible"/>
                                      </p:to>
                                    </p:set>
                                    <p:animEffect transition="in" filter="wipe(left)">
                                      <p:cBhvr>
                                        <p:cTn id="26" dur="500"/>
                                        <p:tgtEl>
                                          <p:spTgt spid="4096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40969"/>
                                        </p:tgtEl>
                                        <p:attrNameLst>
                                          <p:attrName>style.visibility</p:attrName>
                                        </p:attrNameLst>
                                      </p:cBhvr>
                                      <p:to>
                                        <p:strVal val="visible"/>
                                      </p:to>
                                    </p:set>
                                    <p:animEffect transition="in" filter="wipe(left)">
                                      <p:cBhvr>
                                        <p:cTn id="31" dur="500"/>
                                        <p:tgtEl>
                                          <p:spTgt spid="40969"/>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0970"/>
                                        </p:tgtEl>
                                        <p:attrNameLst>
                                          <p:attrName>style.visibility</p:attrName>
                                        </p:attrNameLst>
                                      </p:cBhvr>
                                      <p:to>
                                        <p:strVal val="visible"/>
                                      </p:to>
                                    </p:set>
                                    <p:animEffect transition="in" filter="wipe(left)">
                                      <p:cBhvr>
                                        <p:cTn id="36" dur="500"/>
                                        <p:tgtEl>
                                          <p:spTgt spid="4097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blinds(horizontal)">
                                      <p:cBhvr>
                                        <p:cTn id="41" dur="500"/>
                                        <p:tgtEl>
                                          <p:spTgt spid="2"/>
                                        </p:tgtEl>
                                      </p:cBhvr>
                                    </p:animEffect>
                                  </p:childTnLst>
                                </p:cTn>
                              </p:par>
                              <p:par>
                                <p:cTn id="42" presetID="22" presetClass="entr" presetSubtype="8" fill="hold" nodeType="with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left)">
                                      <p:cBhvr>
                                        <p:cTn id="44" dur="500"/>
                                        <p:tgtEl>
                                          <p:spTgt spid="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0971"/>
                                        </p:tgtEl>
                                        <p:attrNameLst>
                                          <p:attrName>style.visibility</p:attrName>
                                        </p:attrNameLst>
                                      </p:cBhvr>
                                      <p:to>
                                        <p:strVal val="visible"/>
                                      </p:to>
                                    </p:set>
                                    <p:animEffect transition="in" filter="wipe(left)">
                                      <p:cBhvr>
                                        <p:cTn id="49" dur="500"/>
                                        <p:tgtEl>
                                          <p:spTgt spid="40971"/>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0996"/>
                                        </p:tgtEl>
                                        <p:attrNameLst>
                                          <p:attrName>style.visibility</p:attrName>
                                        </p:attrNameLst>
                                      </p:cBhvr>
                                      <p:to>
                                        <p:strVal val="visible"/>
                                      </p:to>
                                    </p:set>
                                    <p:animEffect transition="in" filter="wipe(left)">
                                      <p:cBhvr>
                                        <p:cTn id="54" dur="500"/>
                                        <p:tgtEl>
                                          <p:spTgt spid="40996"/>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0999"/>
                                        </p:tgtEl>
                                        <p:attrNameLst>
                                          <p:attrName>style.visibility</p:attrName>
                                        </p:attrNameLst>
                                      </p:cBhvr>
                                      <p:to>
                                        <p:strVal val="visible"/>
                                      </p:to>
                                    </p:set>
                                    <p:animEffect transition="in" filter="wipe(left)">
                                      <p:cBhvr>
                                        <p:cTn id="59" dur="500"/>
                                        <p:tgtEl>
                                          <p:spTgt spid="4099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41003"/>
                                        </p:tgtEl>
                                        <p:attrNameLst>
                                          <p:attrName>style.visibility</p:attrName>
                                        </p:attrNameLst>
                                      </p:cBhvr>
                                      <p:to>
                                        <p:strVal val="visible"/>
                                      </p:to>
                                    </p:set>
                                    <p:animEffect transition="in" filter="wipe(left)">
                                      <p:cBhvr>
                                        <p:cTn id="64" dur="500"/>
                                        <p:tgtEl>
                                          <p:spTgt spid="41003"/>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41004"/>
                                        </p:tgtEl>
                                        <p:attrNameLst>
                                          <p:attrName>style.visibility</p:attrName>
                                        </p:attrNameLst>
                                      </p:cBhvr>
                                      <p:to>
                                        <p:strVal val="visible"/>
                                      </p:to>
                                    </p:set>
                                    <p:animEffect transition="in" filter="wipe(left)">
                                      <p:cBhvr>
                                        <p:cTn id="69" dur="500"/>
                                        <p:tgtEl>
                                          <p:spTgt spid="41004"/>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41001"/>
                                        </p:tgtEl>
                                        <p:attrNameLst>
                                          <p:attrName>style.visibility</p:attrName>
                                        </p:attrNameLst>
                                      </p:cBhvr>
                                      <p:to>
                                        <p:strVal val="visible"/>
                                      </p:to>
                                    </p:set>
                                    <p:animEffect transition="in" filter="dissolve">
                                      <p:cBhvr>
                                        <p:cTn id="72" dur="2000"/>
                                        <p:tgtEl>
                                          <p:spTgt spid="4100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41002"/>
                                        </p:tgtEl>
                                        <p:attrNameLst>
                                          <p:attrName>style.visibility</p:attrName>
                                        </p:attrNameLst>
                                      </p:cBhvr>
                                      <p:to>
                                        <p:strVal val="visible"/>
                                      </p:to>
                                    </p:set>
                                    <p:animEffect transition="in" filter="wipe(left)">
                                      <p:cBhvr>
                                        <p:cTn id="77" dur="500"/>
                                        <p:tgtEl>
                                          <p:spTgt spid="41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autoUpdateAnimBg="0"/>
      <p:bldP spid="40965" grpId="0" animBg="1"/>
      <p:bldP spid="40967" grpId="0" autoUpdateAnimBg="0"/>
      <p:bldP spid="40969" grpId="0" autoUpdateAnimBg="0"/>
      <p:bldP spid="40970" grpId="0" autoUpdateAnimBg="0"/>
      <p:bldP spid="40996" grpId="0" animBg="1"/>
      <p:bldP spid="40999" grpId="0" autoUpdateAnimBg="0"/>
      <p:bldP spid="41001" grpId="0" animBg="1"/>
      <p:bldP spid="41002"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179388" y="476250"/>
            <a:ext cx="6521450" cy="530225"/>
          </a:xfrm>
          <a:prstGeom prst="rect">
            <a:avLst/>
          </a:prstGeom>
          <a:noFill/>
          <a:ln w="9525">
            <a:noFill/>
            <a:miter lim="800000"/>
            <a:headEnd/>
            <a:tailEnd/>
          </a:ln>
        </p:spPr>
        <p:txBody>
          <a:bodyPr>
            <a:spAutoFit/>
          </a:bodyPr>
          <a:lstStyle/>
          <a:p>
            <a:pPr algn="l">
              <a:lnSpc>
                <a:spcPct val="120000"/>
              </a:lnSpc>
            </a:pPr>
            <a:r>
              <a:rPr kumimoji="1" lang="en-US" altLang="zh-CN" sz="2400" b="1">
                <a:latin typeface="Times New Roman" pitchFamily="18" charset="0"/>
                <a:ea typeface="楷体_GB2312" pitchFamily="49" charset="-122"/>
              </a:rPr>
              <a:t>(3)  </a:t>
            </a:r>
            <a:r>
              <a:rPr kumimoji="1" lang="zh-CN" altLang="en-US" sz="2400" b="1">
                <a:solidFill>
                  <a:srgbClr val="FF6600"/>
                </a:solidFill>
                <a:latin typeface="Times New Roman" pitchFamily="18" charset="0"/>
                <a:ea typeface="楷体_GB2312" pitchFamily="49" charset="-122"/>
              </a:rPr>
              <a:t>位移电流</a:t>
            </a:r>
            <a:r>
              <a:rPr kumimoji="1" lang="zh-CN" altLang="en-US" sz="2400" b="1">
                <a:latin typeface="Times New Roman" pitchFamily="18" charset="0"/>
                <a:ea typeface="楷体_GB2312" pitchFamily="49" charset="-122"/>
              </a:rPr>
              <a:t>、</a:t>
            </a:r>
            <a:r>
              <a:rPr kumimoji="1" lang="zh-CN" altLang="en-US" sz="2400" b="1">
                <a:solidFill>
                  <a:srgbClr val="FF6600"/>
                </a:solidFill>
                <a:latin typeface="Times New Roman" pitchFamily="18" charset="0"/>
                <a:ea typeface="楷体_GB2312" pitchFamily="49" charset="-122"/>
              </a:rPr>
              <a:t>传导电流</a:t>
            </a:r>
            <a:r>
              <a:rPr kumimoji="1" lang="zh-CN" altLang="en-US" sz="2400" b="1">
                <a:latin typeface="Times New Roman" pitchFamily="18" charset="0"/>
                <a:ea typeface="楷体_GB2312" pitchFamily="49" charset="-122"/>
              </a:rPr>
              <a:t>的比较</a:t>
            </a:r>
          </a:p>
        </p:txBody>
      </p:sp>
      <p:sp>
        <p:nvSpPr>
          <p:cNvPr id="43011" name="Text Box 3"/>
          <p:cNvSpPr txBox="1">
            <a:spLocks noChangeArrowheads="1"/>
          </p:cNvSpPr>
          <p:nvPr/>
        </p:nvSpPr>
        <p:spPr bwMode="auto">
          <a:xfrm>
            <a:off x="206375" y="1060450"/>
            <a:ext cx="1773238"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008000"/>
                </a:solidFill>
                <a:ea typeface="楷体_GB2312" pitchFamily="49" charset="-122"/>
              </a:rPr>
              <a:t>相同点：</a:t>
            </a:r>
            <a:endParaRPr kumimoji="1" lang="zh-CN" altLang="en-US" sz="2400" b="1">
              <a:solidFill>
                <a:srgbClr val="008000"/>
              </a:solidFill>
              <a:latin typeface="Times New Roman" pitchFamily="18" charset="0"/>
              <a:ea typeface="楷体_GB2312" pitchFamily="49" charset="-122"/>
              <a:cs typeface="Times New Roman" pitchFamily="18" charset="0"/>
            </a:endParaRPr>
          </a:p>
        </p:txBody>
      </p:sp>
      <p:sp>
        <p:nvSpPr>
          <p:cNvPr id="43012" name="Oval 4"/>
          <p:cNvSpPr>
            <a:spLocks noChangeArrowheads="1"/>
          </p:cNvSpPr>
          <p:nvPr/>
        </p:nvSpPr>
        <p:spPr bwMode="auto">
          <a:xfrm>
            <a:off x="5867400" y="1527175"/>
            <a:ext cx="2362200" cy="914400"/>
          </a:xfrm>
          <a:prstGeom prst="ellipse">
            <a:avLst/>
          </a:prstGeom>
          <a:noFill/>
          <a:ln w="22225">
            <a:solidFill>
              <a:schemeClr val="tx1"/>
            </a:solidFill>
            <a:round/>
            <a:headEnd/>
            <a:tailEnd/>
          </a:ln>
        </p:spPr>
        <p:txBody>
          <a:bodyPr wrap="none" anchor="ctr"/>
          <a:lstStyle/>
          <a:p>
            <a:endParaRPr lang="zh-CN" altLang="en-US"/>
          </a:p>
        </p:txBody>
      </p:sp>
      <p:sp>
        <p:nvSpPr>
          <p:cNvPr id="43013" name="AutoShape 5"/>
          <p:cNvSpPr>
            <a:spLocks noChangeArrowheads="1"/>
          </p:cNvSpPr>
          <p:nvPr/>
        </p:nvSpPr>
        <p:spPr bwMode="auto">
          <a:xfrm>
            <a:off x="6934200" y="688975"/>
            <a:ext cx="228600" cy="1295400"/>
          </a:xfrm>
          <a:prstGeom prst="upArrow">
            <a:avLst>
              <a:gd name="adj1" fmla="val 50000"/>
              <a:gd name="adj2" fmla="val 141667"/>
            </a:avLst>
          </a:prstGeom>
          <a:solidFill>
            <a:srgbClr val="FF00FF"/>
          </a:solidFill>
          <a:ln w="9525">
            <a:solidFill>
              <a:schemeClr val="tx1"/>
            </a:solidFill>
            <a:miter lim="800000"/>
            <a:headEnd/>
            <a:tailEnd/>
          </a:ln>
        </p:spPr>
        <p:txBody>
          <a:bodyPr vert="eaVert" wrap="none" anchor="ctr"/>
          <a:lstStyle/>
          <a:p>
            <a:endParaRPr lang="zh-CN" altLang="en-US"/>
          </a:p>
        </p:txBody>
      </p:sp>
      <p:graphicFrame>
        <p:nvGraphicFramePr>
          <p:cNvPr id="43014" name="Object 6"/>
          <p:cNvGraphicFramePr>
            <a:graphicFrameLocks noChangeAspect="1"/>
          </p:cNvGraphicFramePr>
          <p:nvPr/>
        </p:nvGraphicFramePr>
        <p:xfrm>
          <a:off x="7159625" y="617538"/>
          <a:ext cx="1214438" cy="731837"/>
        </p:xfrm>
        <a:graphic>
          <a:graphicData uri="http://schemas.openxmlformats.org/presentationml/2006/ole">
            <p:oleObj spid="_x0000_s33794" name="公式" r:id="rId3" imgW="638054" imgH="371520" progId="Equation.3">
              <p:embed/>
            </p:oleObj>
          </a:graphicData>
        </a:graphic>
      </p:graphicFrame>
      <p:graphicFrame>
        <p:nvGraphicFramePr>
          <p:cNvPr id="43015" name="Object 7"/>
          <p:cNvGraphicFramePr>
            <a:graphicFrameLocks noChangeAspect="1"/>
          </p:cNvGraphicFramePr>
          <p:nvPr/>
        </p:nvGraphicFramePr>
        <p:xfrm>
          <a:off x="6958013" y="2012950"/>
          <a:ext cx="274637" cy="363538"/>
        </p:xfrm>
        <a:graphic>
          <a:graphicData uri="http://schemas.openxmlformats.org/presentationml/2006/ole">
            <p:oleObj spid="_x0000_s33795" name="公式" r:id="rId4" imgW="114266" imgH="162000" progId="Equation.3">
              <p:embed/>
            </p:oleObj>
          </a:graphicData>
        </a:graphic>
      </p:graphicFrame>
      <p:sp>
        <p:nvSpPr>
          <p:cNvPr id="43017" name="Text Box 9"/>
          <p:cNvSpPr txBox="1">
            <a:spLocks noChangeArrowheads="1"/>
          </p:cNvSpPr>
          <p:nvPr/>
        </p:nvSpPr>
        <p:spPr bwMode="auto">
          <a:xfrm>
            <a:off x="179388" y="1628775"/>
            <a:ext cx="2592387" cy="530225"/>
          </a:xfrm>
          <a:prstGeom prst="rect">
            <a:avLst/>
          </a:prstGeom>
          <a:noFill/>
          <a:ln w="9525">
            <a:noFill/>
            <a:miter lim="800000"/>
            <a:headEnd/>
            <a:tailEnd/>
          </a:ln>
        </p:spPr>
        <p:txBody>
          <a:bodyPr>
            <a:spAutoFit/>
          </a:bodyPr>
          <a:lstStyle/>
          <a:p>
            <a:pPr algn="l">
              <a:lnSpc>
                <a:spcPct val="120000"/>
              </a:lnSpc>
            </a:pPr>
            <a:r>
              <a:rPr kumimoji="1" lang="zh-CN" altLang="en-US" sz="2400" b="1">
                <a:solidFill>
                  <a:srgbClr val="008000"/>
                </a:solidFill>
                <a:latin typeface="Times New Roman" pitchFamily="18" charset="0"/>
                <a:ea typeface="楷体_GB2312" pitchFamily="49" charset="-122"/>
                <a:cs typeface="Times New Roman" pitchFamily="18" charset="0"/>
              </a:rPr>
              <a:t>不同之处：</a:t>
            </a:r>
          </a:p>
        </p:txBody>
      </p:sp>
      <p:sp>
        <p:nvSpPr>
          <p:cNvPr id="43018" name="Text Box 10"/>
          <p:cNvSpPr txBox="1">
            <a:spLocks noChangeArrowheads="1"/>
          </p:cNvSpPr>
          <p:nvPr/>
        </p:nvSpPr>
        <p:spPr bwMode="auto">
          <a:xfrm>
            <a:off x="250825" y="2205038"/>
            <a:ext cx="2743200" cy="530225"/>
          </a:xfrm>
          <a:prstGeom prst="rect">
            <a:avLst/>
          </a:prstGeom>
          <a:noFill/>
          <a:ln w="9525">
            <a:noFill/>
            <a:miter lim="800000"/>
            <a:headEnd/>
            <a:tailEnd/>
          </a:ln>
        </p:spPr>
        <p:txBody>
          <a:bodyPr>
            <a:spAutoFit/>
          </a:bodyPr>
          <a:lstStyle/>
          <a:p>
            <a:pPr algn="l">
              <a:lnSpc>
                <a:spcPct val="120000"/>
              </a:lnSpc>
              <a:buClr>
                <a:srgbClr val="FF0000"/>
              </a:buClr>
              <a:buFont typeface="Wingdings" pitchFamily="2" charset="2"/>
              <a:buChar char="Ø"/>
            </a:pPr>
            <a:r>
              <a:rPr kumimoji="1" lang="en-US" altLang="zh-CN" sz="2400" b="1">
                <a:solidFill>
                  <a:srgbClr val="9900CC"/>
                </a:solidFill>
                <a:latin typeface="Times New Roman" pitchFamily="18" charset="0"/>
                <a:ea typeface="楷体_GB2312" pitchFamily="49" charset="-122"/>
                <a:cs typeface="Times New Roman" pitchFamily="18" charset="0"/>
              </a:rPr>
              <a:t>  </a:t>
            </a:r>
            <a:r>
              <a:rPr kumimoji="1" lang="zh-CN" altLang="en-US" sz="2400" b="1">
                <a:solidFill>
                  <a:srgbClr val="9900CC"/>
                </a:solidFill>
                <a:latin typeface="Times New Roman" pitchFamily="18" charset="0"/>
                <a:ea typeface="楷体_GB2312" pitchFamily="49" charset="-122"/>
                <a:cs typeface="Times New Roman" pitchFamily="18" charset="0"/>
              </a:rPr>
              <a:t>产生机理不同</a:t>
            </a:r>
          </a:p>
        </p:txBody>
      </p:sp>
      <p:sp>
        <p:nvSpPr>
          <p:cNvPr id="43019" name="Text Box 11"/>
          <p:cNvSpPr txBox="1">
            <a:spLocks noChangeArrowheads="1"/>
          </p:cNvSpPr>
          <p:nvPr/>
        </p:nvSpPr>
        <p:spPr bwMode="auto">
          <a:xfrm>
            <a:off x="250825" y="4005263"/>
            <a:ext cx="2944813" cy="530225"/>
          </a:xfrm>
          <a:prstGeom prst="rect">
            <a:avLst/>
          </a:prstGeom>
          <a:noFill/>
          <a:ln w="9525">
            <a:noFill/>
            <a:miter lim="800000"/>
            <a:headEnd/>
            <a:tailEnd/>
          </a:ln>
        </p:spPr>
        <p:txBody>
          <a:bodyPr>
            <a:spAutoFit/>
          </a:bodyPr>
          <a:lstStyle/>
          <a:p>
            <a:pPr algn="l">
              <a:lnSpc>
                <a:spcPct val="120000"/>
              </a:lnSpc>
              <a:buClr>
                <a:srgbClr val="FF0000"/>
              </a:buClr>
              <a:buFont typeface="Wingdings" pitchFamily="2" charset="2"/>
              <a:buChar char="Ø"/>
            </a:pPr>
            <a:r>
              <a:rPr kumimoji="1" lang="en-US" altLang="zh-CN" sz="2400" b="1">
                <a:solidFill>
                  <a:srgbClr val="9900CC"/>
                </a:solidFill>
                <a:latin typeface="Times New Roman" pitchFamily="18" charset="0"/>
                <a:ea typeface="楷体_GB2312" pitchFamily="49" charset="-122"/>
                <a:cs typeface="Times New Roman" pitchFamily="18" charset="0"/>
              </a:rPr>
              <a:t>  </a:t>
            </a:r>
            <a:r>
              <a:rPr kumimoji="1" lang="zh-CN" altLang="en-US" sz="2400" b="1">
                <a:solidFill>
                  <a:srgbClr val="9900CC"/>
                </a:solidFill>
                <a:latin typeface="Times New Roman" pitchFamily="18" charset="0"/>
                <a:ea typeface="楷体_GB2312" pitchFamily="49" charset="-122"/>
                <a:cs typeface="Times New Roman" pitchFamily="18" charset="0"/>
              </a:rPr>
              <a:t>存在条件不同</a:t>
            </a:r>
          </a:p>
        </p:txBody>
      </p:sp>
      <p:sp>
        <p:nvSpPr>
          <p:cNvPr id="43020" name="Text Box 12"/>
          <p:cNvSpPr txBox="1">
            <a:spLocks noChangeArrowheads="1"/>
          </p:cNvSpPr>
          <p:nvPr/>
        </p:nvSpPr>
        <p:spPr bwMode="auto">
          <a:xfrm>
            <a:off x="615950" y="4581525"/>
            <a:ext cx="6477000" cy="534988"/>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位移电流可以存在于真空中、导体中、介质中</a:t>
            </a:r>
          </a:p>
        </p:txBody>
      </p:sp>
      <p:sp>
        <p:nvSpPr>
          <p:cNvPr id="43021" name="Text Box 13"/>
          <p:cNvSpPr txBox="1">
            <a:spLocks noChangeArrowheads="1"/>
          </p:cNvSpPr>
          <p:nvPr/>
        </p:nvSpPr>
        <p:spPr bwMode="auto">
          <a:xfrm>
            <a:off x="323850" y="5229225"/>
            <a:ext cx="7204075" cy="530225"/>
          </a:xfrm>
          <a:prstGeom prst="rect">
            <a:avLst/>
          </a:prstGeom>
          <a:noFill/>
          <a:ln w="9525">
            <a:noFill/>
            <a:miter lim="800000"/>
            <a:headEnd/>
            <a:tailEnd/>
          </a:ln>
        </p:spPr>
        <p:txBody>
          <a:bodyPr>
            <a:spAutoFit/>
          </a:bodyPr>
          <a:lstStyle/>
          <a:p>
            <a:pPr algn="l">
              <a:lnSpc>
                <a:spcPct val="120000"/>
              </a:lnSpc>
              <a:buClr>
                <a:srgbClr val="FF0000"/>
              </a:buClr>
              <a:buFont typeface="Wingdings" pitchFamily="2" charset="2"/>
              <a:buChar char="Ø"/>
            </a:pPr>
            <a:r>
              <a:rPr kumimoji="1" lang="en-US" altLang="zh-CN" sz="2400" b="1">
                <a:solidFill>
                  <a:srgbClr val="9900CC"/>
                </a:solidFill>
                <a:latin typeface="Times New Roman" pitchFamily="18" charset="0"/>
                <a:ea typeface="楷体_GB2312" pitchFamily="49" charset="-122"/>
                <a:cs typeface="Times New Roman" pitchFamily="18" charset="0"/>
              </a:rPr>
              <a:t>   </a:t>
            </a:r>
            <a:r>
              <a:rPr kumimoji="1" lang="zh-CN" altLang="en-US" sz="2400" b="1">
                <a:solidFill>
                  <a:srgbClr val="9900CC"/>
                </a:solidFill>
                <a:latin typeface="Times New Roman" pitchFamily="18" charset="0"/>
                <a:ea typeface="楷体_GB2312" pitchFamily="49" charset="-122"/>
                <a:cs typeface="Times New Roman" pitchFamily="18" charset="0"/>
              </a:rPr>
              <a:t>位移电流不产生焦耳热，传导电流产生焦耳热</a:t>
            </a:r>
          </a:p>
        </p:txBody>
      </p:sp>
      <p:sp>
        <p:nvSpPr>
          <p:cNvPr id="43022" name="Arc 14"/>
          <p:cNvSpPr>
            <a:spLocks/>
          </p:cNvSpPr>
          <p:nvPr/>
        </p:nvSpPr>
        <p:spPr bwMode="auto">
          <a:xfrm>
            <a:off x="6538913" y="2139950"/>
            <a:ext cx="1035050" cy="447675"/>
          </a:xfrm>
          <a:custGeom>
            <a:avLst/>
            <a:gdLst>
              <a:gd name="T0" fmla="*/ 2147483647 w 18817"/>
              <a:gd name="T1" fmla="*/ 2147483647 h 21600"/>
              <a:gd name="T2" fmla="*/ 0 w 18817"/>
              <a:gd name="T3" fmla="*/ 2147483647 h 21600"/>
              <a:gd name="T4" fmla="*/ 2147483647 w 18817"/>
              <a:gd name="T5" fmla="*/ 0 h 21600"/>
              <a:gd name="T6" fmla="*/ 0 60000 65536"/>
              <a:gd name="T7" fmla="*/ 0 60000 65536"/>
              <a:gd name="T8" fmla="*/ 0 60000 65536"/>
              <a:gd name="T9" fmla="*/ 0 w 18817"/>
              <a:gd name="T10" fmla="*/ 0 h 21600"/>
              <a:gd name="T11" fmla="*/ 18817 w 18817"/>
              <a:gd name="T12" fmla="*/ 21600 h 21600"/>
            </a:gdLst>
            <a:ahLst/>
            <a:cxnLst>
              <a:cxn ang="T6">
                <a:pos x="T0" y="T1"/>
              </a:cxn>
              <a:cxn ang="T7">
                <a:pos x="T2" y="T3"/>
              </a:cxn>
              <a:cxn ang="T8">
                <a:pos x="T4" y="T5"/>
              </a:cxn>
            </a:cxnLst>
            <a:rect l="T9" t="T10" r="T11" b="T12"/>
            <a:pathLst>
              <a:path w="18817" h="21600" fill="none" extrusionOk="0">
                <a:moveTo>
                  <a:pt x="18817" y="19626"/>
                </a:moveTo>
                <a:cubicBezTo>
                  <a:pt x="15987" y="20926"/>
                  <a:pt x="12910" y="21599"/>
                  <a:pt x="9796" y="21600"/>
                </a:cubicBezTo>
                <a:cubicBezTo>
                  <a:pt x="6391" y="21600"/>
                  <a:pt x="3034" y="20795"/>
                  <a:pt x="0" y="19250"/>
                </a:cubicBezTo>
              </a:path>
              <a:path w="18817" h="21600" stroke="0" extrusionOk="0">
                <a:moveTo>
                  <a:pt x="18817" y="19626"/>
                </a:moveTo>
                <a:cubicBezTo>
                  <a:pt x="15987" y="20926"/>
                  <a:pt x="12910" y="21599"/>
                  <a:pt x="9796" y="21600"/>
                </a:cubicBezTo>
                <a:cubicBezTo>
                  <a:pt x="6391" y="21600"/>
                  <a:pt x="3034" y="20795"/>
                  <a:pt x="0" y="19250"/>
                </a:cubicBezTo>
                <a:lnTo>
                  <a:pt x="9796" y="0"/>
                </a:lnTo>
                <a:lnTo>
                  <a:pt x="18817" y="19626"/>
                </a:lnTo>
                <a:close/>
              </a:path>
            </a:pathLst>
          </a:custGeom>
          <a:noFill/>
          <a:ln w="28575">
            <a:solidFill>
              <a:srgbClr val="FF0000"/>
            </a:solidFill>
            <a:round/>
            <a:headEnd type="triangle" w="med" len="med"/>
            <a:tailEnd/>
          </a:ln>
        </p:spPr>
        <p:txBody>
          <a:bodyPr wrap="none" anchor="ctr"/>
          <a:lstStyle/>
          <a:p>
            <a:endParaRPr lang="zh-CN" altLang="en-US"/>
          </a:p>
        </p:txBody>
      </p:sp>
      <p:sp>
        <p:nvSpPr>
          <p:cNvPr id="43023" name="Text Box 15"/>
          <p:cNvSpPr txBox="1">
            <a:spLocks noChangeArrowheads="1"/>
          </p:cNvSpPr>
          <p:nvPr/>
        </p:nvSpPr>
        <p:spPr bwMode="auto">
          <a:xfrm>
            <a:off x="611188" y="2787650"/>
            <a:ext cx="7705725" cy="977900"/>
          </a:xfrm>
          <a:prstGeom prst="rect">
            <a:avLst/>
          </a:prstGeom>
          <a:noFill/>
          <a:ln w="9525">
            <a:noFill/>
            <a:miter lim="800000"/>
            <a:headEnd/>
            <a:tailEnd/>
          </a:ln>
        </p:spPr>
        <p:txBody>
          <a:bodyPr>
            <a:spAutoFit/>
          </a:bodyPr>
          <a:lstStyle/>
          <a:p>
            <a:pPr algn="l">
              <a:lnSpc>
                <a:spcPct val="120000"/>
              </a:lnSpc>
            </a:pPr>
            <a:r>
              <a:rPr kumimoji="1" lang="zh-CN" altLang="en-US" sz="2400" b="1">
                <a:latin typeface="Times New Roman" pitchFamily="18" charset="0"/>
                <a:ea typeface="楷体_GB2312" pitchFamily="49" charset="-122"/>
              </a:rPr>
              <a:t>        位移电流是电场变化</a:t>
            </a:r>
            <a:r>
              <a:rPr kumimoji="1" lang="zh-CN" altLang="en-US" sz="2400" b="1">
                <a:solidFill>
                  <a:srgbClr val="FF6600"/>
                </a:solidFill>
                <a:latin typeface="Times New Roman" pitchFamily="18" charset="0"/>
                <a:ea typeface="楷体_GB2312" pitchFamily="49" charset="-122"/>
              </a:rPr>
              <a:t>等效</a:t>
            </a:r>
            <a:r>
              <a:rPr kumimoji="1" lang="zh-CN" altLang="en-US" sz="2400" b="1">
                <a:latin typeface="Times New Roman" pitchFamily="18" charset="0"/>
                <a:ea typeface="楷体_GB2312" pitchFamily="49" charset="-122"/>
              </a:rPr>
              <a:t>出来的一种电场；只表示电位移通量的变化率，不具有真实的电荷空间运动。</a:t>
            </a:r>
          </a:p>
        </p:txBody>
      </p:sp>
      <p:sp>
        <p:nvSpPr>
          <p:cNvPr id="43024" name="Text Box 16"/>
          <p:cNvSpPr txBox="1">
            <a:spLocks noChangeArrowheads="1"/>
          </p:cNvSpPr>
          <p:nvPr/>
        </p:nvSpPr>
        <p:spPr bwMode="auto">
          <a:xfrm>
            <a:off x="1430338" y="1069975"/>
            <a:ext cx="3286125" cy="530225"/>
          </a:xfrm>
          <a:prstGeom prst="rect">
            <a:avLst/>
          </a:prstGeom>
          <a:noFill/>
          <a:ln w="9525">
            <a:noFill/>
            <a:miter lim="800000"/>
            <a:headEnd/>
            <a:tailEnd/>
          </a:ln>
        </p:spPr>
        <p:txBody>
          <a:bodyPr>
            <a:spAutoFit/>
          </a:bodyPr>
          <a:lstStyle/>
          <a:p>
            <a:pPr algn="l">
              <a:lnSpc>
                <a:spcPct val="120000"/>
              </a:lnSpc>
            </a:pPr>
            <a:r>
              <a:rPr kumimoji="1" lang="zh-CN" altLang="en-US" sz="2400" b="1">
                <a:ea typeface="楷体_GB2312" pitchFamily="49" charset="-122"/>
              </a:rPr>
              <a:t>都</a:t>
            </a:r>
            <a:r>
              <a:rPr kumimoji="1" lang="zh-CN" altLang="en-US" sz="2400" b="1">
                <a:latin typeface="Times New Roman" pitchFamily="18" charset="0"/>
                <a:ea typeface="楷体_GB2312" pitchFamily="49" charset="-122"/>
                <a:cs typeface="Times New Roman" pitchFamily="18" charset="0"/>
              </a:rPr>
              <a:t>具有</a:t>
            </a:r>
            <a:r>
              <a:rPr kumimoji="1" lang="zh-CN" altLang="en-US" sz="2400" b="1">
                <a:solidFill>
                  <a:srgbClr val="FF6600"/>
                </a:solidFill>
                <a:latin typeface="Times New Roman" pitchFamily="18" charset="0"/>
                <a:ea typeface="楷体_GB2312" pitchFamily="49" charset="-122"/>
                <a:cs typeface="Times New Roman" pitchFamily="18" charset="0"/>
              </a:rPr>
              <a:t>磁效应</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wipe(left)">
                                      <p:cBhvr>
                                        <p:cTn id="7" dur="500"/>
                                        <p:tgtEl>
                                          <p:spTgt spid="430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wipe(left)">
                                      <p:cBhvr>
                                        <p:cTn id="12" dur="500"/>
                                        <p:tgtEl>
                                          <p:spTgt spid="430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3024"/>
                                        </p:tgtEl>
                                        <p:attrNameLst>
                                          <p:attrName>style.visibility</p:attrName>
                                        </p:attrNameLst>
                                      </p:cBhvr>
                                      <p:to>
                                        <p:strVal val="visible"/>
                                      </p:to>
                                    </p:set>
                                    <p:animEffect transition="in" filter="wipe(left)">
                                      <p:cBhvr>
                                        <p:cTn id="17" dur="500"/>
                                        <p:tgtEl>
                                          <p:spTgt spid="430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43013"/>
                                        </p:tgtEl>
                                        <p:attrNameLst>
                                          <p:attrName>style.visibility</p:attrName>
                                        </p:attrNameLst>
                                      </p:cBhvr>
                                      <p:to>
                                        <p:strVal val="visible"/>
                                      </p:to>
                                    </p:set>
                                    <p:animEffect transition="in" filter="slide(fromBottom)">
                                      <p:cBhvr>
                                        <p:cTn id="22" dur="500"/>
                                        <p:tgtEl>
                                          <p:spTgt spid="43013"/>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499"/>
                                          </p:stCondLst>
                                        </p:cTn>
                                        <p:tgtEl>
                                          <p:spTgt spid="43014"/>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43012"/>
                                        </p:tgtEl>
                                        <p:attrNameLst>
                                          <p:attrName>style.visibility</p:attrName>
                                        </p:attrNameLst>
                                      </p:cBhvr>
                                      <p:to>
                                        <p:strVal val="visible"/>
                                      </p:to>
                                    </p:set>
                                    <p:anim calcmode="lin" valueType="num">
                                      <p:cBhvr>
                                        <p:cTn id="30" dur="500" fill="hold"/>
                                        <p:tgtEl>
                                          <p:spTgt spid="43012"/>
                                        </p:tgtEl>
                                        <p:attrNameLst>
                                          <p:attrName>ppt_w</p:attrName>
                                        </p:attrNameLst>
                                      </p:cBhvr>
                                      <p:tavLst>
                                        <p:tav tm="0">
                                          <p:val>
                                            <p:fltVal val="0"/>
                                          </p:val>
                                        </p:tav>
                                        <p:tav tm="100000">
                                          <p:val>
                                            <p:strVal val="#ppt_w"/>
                                          </p:val>
                                        </p:tav>
                                      </p:tavLst>
                                    </p:anim>
                                    <p:anim calcmode="lin" valueType="num">
                                      <p:cBhvr>
                                        <p:cTn id="31" dur="500" fill="hold"/>
                                        <p:tgtEl>
                                          <p:spTgt spid="43012"/>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3022"/>
                                        </p:tgtEl>
                                        <p:attrNameLst>
                                          <p:attrName>style.visibility</p:attrName>
                                        </p:attrNameLst>
                                      </p:cBhvr>
                                      <p:to>
                                        <p:strVal val="visible"/>
                                      </p:to>
                                    </p:set>
                                    <p:animEffect transition="in" filter="wipe(left)">
                                      <p:cBhvr>
                                        <p:cTn id="36" dur="500"/>
                                        <p:tgtEl>
                                          <p:spTgt spid="43022"/>
                                        </p:tgtEl>
                                      </p:cBhvr>
                                    </p:animEffect>
                                  </p:childTnLst>
                                </p:cTn>
                              </p:par>
                            </p:childTnLst>
                          </p:cTn>
                        </p:par>
                        <p:par>
                          <p:cTn id="37" fill="hold" nodeType="afterGroup">
                            <p:stCondLst>
                              <p:cond delay="500"/>
                            </p:stCondLst>
                            <p:childTnLst>
                              <p:par>
                                <p:cTn id="38" presetID="1" presetClass="entr" presetSubtype="0" fill="hold" nodeType="afterEffect">
                                  <p:stCondLst>
                                    <p:cond delay="0"/>
                                  </p:stCondLst>
                                  <p:childTnLst>
                                    <p:set>
                                      <p:cBhvr>
                                        <p:cTn id="39" dur="1" fill="hold">
                                          <p:stCondLst>
                                            <p:cond delay="499"/>
                                          </p:stCondLst>
                                        </p:cTn>
                                        <p:tgtEl>
                                          <p:spTgt spid="4301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43017"/>
                                        </p:tgtEl>
                                        <p:attrNameLst>
                                          <p:attrName>style.visibility</p:attrName>
                                        </p:attrNameLst>
                                      </p:cBhvr>
                                      <p:to>
                                        <p:strVal val="visible"/>
                                      </p:to>
                                    </p:set>
                                    <p:animEffect transition="in" filter="wipe(left)">
                                      <p:cBhvr>
                                        <p:cTn id="44" dur="500"/>
                                        <p:tgtEl>
                                          <p:spTgt spid="4301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3018"/>
                                        </p:tgtEl>
                                        <p:attrNameLst>
                                          <p:attrName>style.visibility</p:attrName>
                                        </p:attrNameLst>
                                      </p:cBhvr>
                                      <p:to>
                                        <p:strVal val="visible"/>
                                      </p:to>
                                    </p:set>
                                    <p:animEffect transition="in" filter="wipe(left)">
                                      <p:cBhvr>
                                        <p:cTn id="49" dur="500"/>
                                        <p:tgtEl>
                                          <p:spTgt spid="4301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43023"/>
                                        </p:tgtEl>
                                        <p:attrNameLst>
                                          <p:attrName>style.visibility</p:attrName>
                                        </p:attrNameLst>
                                      </p:cBhvr>
                                      <p:to>
                                        <p:strVal val="visible"/>
                                      </p:to>
                                    </p:set>
                                    <p:animEffect transition="in" filter="wipe(left)">
                                      <p:cBhvr>
                                        <p:cTn id="54" dur="500"/>
                                        <p:tgtEl>
                                          <p:spTgt spid="4302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43019"/>
                                        </p:tgtEl>
                                        <p:attrNameLst>
                                          <p:attrName>style.visibility</p:attrName>
                                        </p:attrNameLst>
                                      </p:cBhvr>
                                      <p:to>
                                        <p:strVal val="visible"/>
                                      </p:to>
                                    </p:set>
                                    <p:animEffect transition="in" filter="wipe(left)">
                                      <p:cBhvr>
                                        <p:cTn id="59" dur="500"/>
                                        <p:tgtEl>
                                          <p:spTgt spid="43019"/>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43020"/>
                                        </p:tgtEl>
                                        <p:attrNameLst>
                                          <p:attrName>style.visibility</p:attrName>
                                        </p:attrNameLst>
                                      </p:cBhvr>
                                      <p:to>
                                        <p:strVal val="visible"/>
                                      </p:to>
                                    </p:set>
                                    <p:animEffect transition="in" filter="wipe(left)">
                                      <p:cBhvr>
                                        <p:cTn id="64" dur="500"/>
                                        <p:tgtEl>
                                          <p:spTgt spid="4302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43021"/>
                                        </p:tgtEl>
                                        <p:attrNameLst>
                                          <p:attrName>style.visibility</p:attrName>
                                        </p:attrNameLst>
                                      </p:cBhvr>
                                      <p:to>
                                        <p:strVal val="visible"/>
                                      </p:to>
                                    </p:set>
                                    <p:animEffect transition="in" filter="wipe(left)">
                                      <p:cBhvr>
                                        <p:cTn id="69" dur="500"/>
                                        <p:tgtEl>
                                          <p:spTgt spid="43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0" grpId="0" autoUpdateAnimBg="0"/>
      <p:bldP spid="43011" grpId="0" autoUpdateAnimBg="0"/>
      <p:bldP spid="43012" grpId="0" animBg="1"/>
      <p:bldP spid="43013" grpId="0" animBg="1"/>
      <p:bldP spid="43017" grpId="0" autoUpdateAnimBg="0"/>
      <p:bldP spid="43018" grpId="0" autoUpdateAnimBg="0"/>
      <p:bldP spid="43019" grpId="0" autoUpdateAnimBg="0"/>
      <p:bldP spid="43020" grpId="0" autoUpdateAnimBg="0"/>
      <p:bldP spid="43021" grpId="0" autoUpdateAnimBg="0"/>
      <p:bldP spid="43022" grpId="0" animBg="1"/>
      <p:bldP spid="43023" grpId="0" autoUpdateAnimBg="0"/>
      <p:bldP spid="43024"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 Box 4"/>
          <p:cNvSpPr txBox="1">
            <a:spLocks noChangeArrowheads="1"/>
          </p:cNvSpPr>
          <p:nvPr/>
        </p:nvSpPr>
        <p:spPr bwMode="auto">
          <a:xfrm>
            <a:off x="166688" y="476250"/>
            <a:ext cx="4910137" cy="530225"/>
          </a:xfrm>
          <a:prstGeom prst="rect">
            <a:avLst/>
          </a:prstGeom>
          <a:noFill/>
          <a:ln w="9525">
            <a:noFill/>
            <a:miter lim="800000"/>
            <a:headEnd/>
            <a:tailEnd/>
          </a:ln>
        </p:spPr>
        <p:txBody>
          <a:bodyPr>
            <a:spAutoFit/>
          </a:bodyPr>
          <a:lstStyle/>
          <a:p>
            <a:pPr algn="l">
              <a:lnSpc>
                <a:spcPct val="120000"/>
              </a:lnSpc>
            </a:pPr>
            <a:r>
              <a:rPr kumimoji="1" lang="en-US" altLang="zh-CN" sz="2400" b="1">
                <a:solidFill>
                  <a:srgbClr val="0000FF"/>
                </a:solidFill>
                <a:latin typeface="Times New Roman" pitchFamily="18" charset="0"/>
              </a:rPr>
              <a:t>11.5.2   </a:t>
            </a:r>
            <a:r>
              <a:rPr kumimoji="1" lang="zh-CN" altLang="en-US" sz="2400" b="1">
                <a:solidFill>
                  <a:srgbClr val="0000FF"/>
                </a:solidFill>
                <a:latin typeface="Times New Roman" pitchFamily="18" charset="0"/>
              </a:rPr>
              <a:t>麦克斯韦方程组</a:t>
            </a:r>
          </a:p>
        </p:txBody>
      </p:sp>
      <p:sp>
        <p:nvSpPr>
          <p:cNvPr id="44051" name="AutoShape 19"/>
          <p:cNvSpPr>
            <a:spLocks noChangeArrowheads="1"/>
          </p:cNvSpPr>
          <p:nvPr/>
        </p:nvSpPr>
        <p:spPr bwMode="auto">
          <a:xfrm>
            <a:off x="1604963" y="5195888"/>
            <a:ext cx="1617662" cy="768350"/>
          </a:xfrm>
          <a:prstGeom prst="bevel">
            <a:avLst>
              <a:gd name="adj" fmla="val 4847"/>
            </a:avLst>
          </a:prstGeom>
          <a:solidFill>
            <a:srgbClr val="CCFFFF"/>
          </a:solidFill>
          <a:ln w="9525">
            <a:solidFill>
              <a:srgbClr val="00FFFF"/>
            </a:solidFill>
            <a:miter lim="800000"/>
            <a:headEnd/>
            <a:tailEnd/>
          </a:ln>
        </p:spPr>
        <p:txBody>
          <a:bodyPr wrap="none" anchor="ctr"/>
          <a:lstStyle/>
          <a:p>
            <a:endParaRPr lang="zh-CN" altLang="en-US"/>
          </a:p>
        </p:txBody>
      </p:sp>
      <p:sp>
        <p:nvSpPr>
          <p:cNvPr id="44052" name="AutoShape 20"/>
          <p:cNvSpPr>
            <a:spLocks noChangeArrowheads="1"/>
          </p:cNvSpPr>
          <p:nvPr/>
        </p:nvSpPr>
        <p:spPr bwMode="auto">
          <a:xfrm>
            <a:off x="1258888" y="2393950"/>
            <a:ext cx="3448050" cy="720725"/>
          </a:xfrm>
          <a:prstGeom prst="bevel">
            <a:avLst>
              <a:gd name="adj" fmla="val 4847"/>
            </a:avLst>
          </a:prstGeom>
          <a:solidFill>
            <a:srgbClr val="CCFFFF"/>
          </a:solidFill>
          <a:ln w="9525">
            <a:solidFill>
              <a:srgbClr val="00FFFF"/>
            </a:solidFill>
            <a:miter lim="800000"/>
            <a:headEnd/>
            <a:tailEnd/>
          </a:ln>
        </p:spPr>
        <p:txBody>
          <a:bodyPr wrap="none" anchor="ctr"/>
          <a:lstStyle/>
          <a:p>
            <a:endParaRPr lang="zh-CN" altLang="en-US"/>
          </a:p>
        </p:txBody>
      </p:sp>
      <p:sp>
        <p:nvSpPr>
          <p:cNvPr id="44053" name="Rectangle 21"/>
          <p:cNvSpPr>
            <a:spLocks noChangeArrowheads="1"/>
          </p:cNvSpPr>
          <p:nvPr/>
        </p:nvSpPr>
        <p:spPr bwMode="auto">
          <a:xfrm>
            <a:off x="341313" y="1081088"/>
            <a:ext cx="3222625" cy="457200"/>
          </a:xfrm>
          <a:prstGeom prst="rect">
            <a:avLst/>
          </a:prstGeom>
          <a:noFill/>
          <a:ln w="9525">
            <a:noFill/>
            <a:miter lim="800000"/>
            <a:headEnd/>
            <a:tailEnd/>
          </a:ln>
        </p:spPr>
        <p:txBody>
          <a:bodyPr>
            <a:spAutoFit/>
          </a:bodyPr>
          <a:lstStyle/>
          <a:p>
            <a:pPr algn="l"/>
            <a:r>
              <a:rPr kumimoji="1" lang="en-US" altLang="zh-CN" sz="2400" b="1">
                <a:solidFill>
                  <a:srgbClr val="FF0000"/>
                </a:solidFill>
                <a:latin typeface="Times New Roman" pitchFamily="18" charset="0"/>
                <a:ea typeface="楷体_GB2312" pitchFamily="49" charset="-122"/>
                <a:cs typeface="Times New Roman" pitchFamily="18" charset="0"/>
              </a:rPr>
              <a:t>1</a:t>
            </a:r>
            <a:r>
              <a:rPr kumimoji="1" lang="zh-CN" altLang="en-US" sz="2400" b="1">
                <a:solidFill>
                  <a:srgbClr val="FF0000"/>
                </a:solidFill>
                <a:latin typeface="Times New Roman" pitchFamily="18" charset="0"/>
                <a:ea typeface="楷体_GB2312" pitchFamily="49" charset="-122"/>
                <a:cs typeface="Times New Roman" pitchFamily="18" charset="0"/>
              </a:rPr>
              <a:t>、电场的高斯定理</a:t>
            </a:r>
          </a:p>
        </p:txBody>
      </p:sp>
      <p:graphicFrame>
        <p:nvGraphicFramePr>
          <p:cNvPr id="44054" name="Object 22"/>
          <p:cNvGraphicFramePr>
            <a:graphicFrameLocks noChangeAspect="1"/>
          </p:cNvGraphicFramePr>
          <p:nvPr/>
        </p:nvGraphicFramePr>
        <p:xfrm>
          <a:off x="946150" y="1673225"/>
          <a:ext cx="917575" cy="547688"/>
        </p:xfrm>
        <a:graphic>
          <a:graphicData uri="http://schemas.openxmlformats.org/presentationml/2006/ole">
            <p:oleObj spid="_x0000_s34818" name="公式" r:id="rId3" imgW="466790" imgH="266760" progId="Equation.3">
              <p:embed/>
            </p:oleObj>
          </a:graphicData>
        </a:graphic>
      </p:graphicFrame>
      <p:graphicFrame>
        <p:nvGraphicFramePr>
          <p:cNvPr id="44055" name="Object 23"/>
          <p:cNvGraphicFramePr>
            <a:graphicFrameLocks noChangeAspect="1"/>
          </p:cNvGraphicFramePr>
          <p:nvPr/>
        </p:nvGraphicFramePr>
        <p:xfrm>
          <a:off x="1916113" y="1673225"/>
          <a:ext cx="2065337" cy="547688"/>
        </p:xfrm>
        <a:graphic>
          <a:graphicData uri="http://schemas.openxmlformats.org/presentationml/2006/ole">
            <p:oleObj spid="_x0000_s34819" name="公式" r:id="rId4" imgW="1104844" imgH="266760" progId="Equation.3">
              <p:embed/>
            </p:oleObj>
          </a:graphicData>
        </a:graphic>
      </p:graphicFrame>
      <p:graphicFrame>
        <p:nvGraphicFramePr>
          <p:cNvPr id="44056" name="Object 24"/>
          <p:cNvGraphicFramePr>
            <a:graphicFrameLocks noChangeAspect="1"/>
          </p:cNvGraphicFramePr>
          <p:nvPr/>
        </p:nvGraphicFramePr>
        <p:xfrm>
          <a:off x="4119563" y="1620838"/>
          <a:ext cx="2162175" cy="593725"/>
        </p:xfrm>
        <a:graphic>
          <a:graphicData uri="http://schemas.openxmlformats.org/presentationml/2006/ole">
            <p:oleObj spid="_x0000_s34820" name="公式" r:id="rId5" imgW="1152657" imgH="295380" progId="Equation.3">
              <p:embed/>
            </p:oleObj>
          </a:graphicData>
        </a:graphic>
      </p:graphicFrame>
      <p:graphicFrame>
        <p:nvGraphicFramePr>
          <p:cNvPr id="44057" name="Object 25"/>
          <p:cNvGraphicFramePr>
            <a:graphicFrameLocks noChangeAspect="1"/>
          </p:cNvGraphicFramePr>
          <p:nvPr/>
        </p:nvGraphicFramePr>
        <p:xfrm>
          <a:off x="6462713" y="1711325"/>
          <a:ext cx="1255712" cy="457200"/>
        </p:xfrm>
        <a:graphic>
          <a:graphicData uri="http://schemas.openxmlformats.org/presentationml/2006/ole">
            <p:oleObj spid="_x0000_s34821" name="公式" r:id="rId6" imgW="657233" imgH="218970" progId="Equation.3">
              <p:embed/>
            </p:oleObj>
          </a:graphicData>
        </a:graphic>
      </p:graphicFrame>
      <p:graphicFrame>
        <p:nvGraphicFramePr>
          <p:cNvPr id="44058" name="Object 26"/>
          <p:cNvGraphicFramePr>
            <a:graphicFrameLocks noChangeAspect="1"/>
          </p:cNvGraphicFramePr>
          <p:nvPr/>
        </p:nvGraphicFramePr>
        <p:xfrm>
          <a:off x="1422400" y="2473325"/>
          <a:ext cx="1828800" cy="550863"/>
        </p:xfrm>
        <a:graphic>
          <a:graphicData uri="http://schemas.openxmlformats.org/presentationml/2006/ole">
            <p:oleObj spid="_x0000_s34822" name="公式" r:id="rId7" imgW="981123" imgH="266760" progId="Equation.3">
              <p:embed/>
            </p:oleObj>
          </a:graphicData>
        </a:graphic>
      </p:graphicFrame>
      <p:graphicFrame>
        <p:nvGraphicFramePr>
          <p:cNvPr id="44059" name="Object 27"/>
          <p:cNvGraphicFramePr>
            <a:graphicFrameLocks noChangeAspect="1"/>
          </p:cNvGraphicFramePr>
          <p:nvPr/>
        </p:nvGraphicFramePr>
        <p:xfrm>
          <a:off x="3311525" y="2484438"/>
          <a:ext cx="1284288" cy="547687"/>
        </p:xfrm>
        <a:graphic>
          <a:graphicData uri="http://schemas.openxmlformats.org/presentationml/2006/ole">
            <p:oleObj spid="_x0000_s34823" name="公式" r:id="rId8" imgW="676143" imgH="266760" progId="Equation.3">
              <p:embed/>
            </p:oleObj>
          </a:graphicData>
        </a:graphic>
      </p:graphicFrame>
      <p:sp>
        <p:nvSpPr>
          <p:cNvPr id="44060" name="Rectangle 28"/>
          <p:cNvSpPr>
            <a:spLocks noChangeArrowheads="1"/>
          </p:cNvSpPr>
          <p:nvPr/>
        </p:nvSpPr>
        <p:spPr bwMode="auto">
          <a:xfrm>
            <a:off x="463550" y="3895725"/>
            <a:ext cx="2787650" cy="457200"/>
          </a:xfrm>
          <a:prstGeom prst="rect">
            <a:avLst/>
          </a:prstGeom>
          <a:noFill/>
          <a:ln w="9525">
            <a:noFill/>
            <a:miter lim="800000"/>
            <a:headEnd/>
            <a:tailEnd/>
          </a:ln>
        </p:spPr>
        <p:txBody>
          <a:bodyPr wrap="none">
            <a:spAutoFit/>
          </a:bodyPr>
          <a:lstStyle/>
          <a:p>
            <a:pPr algn="l"/>
            <a:r>
              <a:rPr kumimoji="1" lang="en-US" altLang="zh-CN" sz="2400" b="1">
                <a:solidFill>
                  <a:srgbClr val="FF0000"/>
                </a:solidFill>
                <a:latin typeface="Times New Roman" pitchFamily="18" charset="0"/>
                <a:ea typeface="楷体_GB2312" pitchFamily="49" charset="-122"/>
                <a:cs typeface="Times New Roman" pitchFamily="18" charset="0"/>
              </a:rPr>
              <a:t>2</a:t>
            </a:r>
            <a:r>
              <a:rPr kumimoji="1" lang="zh-CN" altLang="en-US" sz="2400" b="1">
                <a:solidFill>
                  <a:srgbClr val="FF0000"/>
                </a:solidFill>
                <a:latin typeface="Times New Roman" pitchFamily="18" charset="0"/>
                <a:ea typeface="楷体_GB2312" pitchFamily="49" charset="-122"/>
                <a:cs typeface="Times New Roman" pitchFamily="18" charset="0"/>
              </a:rPr>
              <a:t>、磁场的高斯定理</a:t>
            </a:r>
          </a:p>
        </p:txBody>
      </p:sp>
      <p:graphicFrame>
        <p:nvGraphicFramePr>
          <p:cNvPr id="44061" name="Object 29"/>
          <p:cNvGraphicFramePr>
            <a:graphicFrameLocks noChangeAspect="1"/>
          </p:cNvGraphicFramePr>
          <p:nvPr/>
        </p:nvGraphicFramePr>
        <p:xfrm>
          <a:off x="1054100" y="4508500"/>
          <a:ext cx="895350" cy="550863"/>
        </p:xfrm>
        <a:graphic>
          <a:graphicData uri="http://schemas.openxmlformats.org/presentationml/2006/ole">
            <p:oleObj spid="_x0000_s34824" name="公式" r:id="rId9" imgW="457335" imgH="266760" progId="Equation.3">
              <p:embed/>
            </p:oleObj>
          </a:graphicData>
        </a:graphic>
      </p:graphicFrame>
      <p:graphicFrame>
        <p:nvGraphicFramePr>
          <p:cNvPr id="44062" name="Object 30"/>
          <p:cNvGraphicFramePr>
            <a:graphicFrameLocks noChangeAspect="1"/>
          </p:cNvGraphicFramePr>
          <p:nvPr/>
        </p:nvGraphicFramePr>
        <p:xfrm>
          <a:off x="4076700" y="4595813"/>
          <a:ext cx="1241425" cy="319087"/>
        </p:xfrm>
        <a:graphic>
          <a:graphicData uri="http://schemas.openxmlformats.org/presentationml/2006/ole">
            <p:oleObj spid="_x0000_s34825" name="公式" r:id="rId10" imgW="647779" imgH="142830" progId="Equation.3">
              <p:embed/>
            </p:oleObj>
          </a:graphicData>
        </a:graphic>
      </p:graphicFrame>
      <p:graphicFrame>
        <p:nvGraphicFramePr>
          <p:cNvPr id="44063" name="Object 31"/>
          <p:cNvGraphicFramePr>
            <a:graphicFrameLocks noChangeAspect="1"/>
          </p:cNvGraphicFramePr>
          <p:nvPr/>
        </p:nvGraphicFramePr>
        <p:xfrm>
          <a:off x="2006600" y="4500563"/>
          <a:ext cx="1997075" cy="549275"/>
        </p:xfrm>
        <a:graphic>
          <a:graphicData uri="http://schemas.openxmlformats.org/presentationml/2006/ole">
            <p:oleObj spid="_x0000_s34826" name="公式" r:id="rId11" imgW="1066755" imgH="266760" progId="Equation.3">
              <p:embed/>
            </p:oleObj>
          </a:graphicData>
        </a:graphic>
      </p:graphicFrame>
      <p:sp>
        <p:nvSpPr>
          <p:cNvPr id="44064" name="Text Box 32"/>
          <p:cNvSpPr txBox="1">
            <a:spLocks noChangeArrowheads="1"/>
          </p:cNvSpPr>
          <p:nvPr/>
        </p:nvSpPr>
        <p:spPr bwMode="auto">
          <a:xfrm>
            <a:off x="793750" y="3238500"/>
            <a:ext cx="5794375" cy="585788"/>
          </a:xfrm>
          <a:prstGeom prst="rect">
            <a:avLst/>
          </a:prstGeom>
          <a:noFill/>
          <a:ln w="9525" algn="ctr">
            <a:noFill/>
            <a:miter lim="800000"/>
            <a:headEnd/>
            <a:tailEnd/>
          </a:ln>
        </p:spPr>
        <p:txBody>
          <a:bodyPr tIns="82800" bIns="82800">
            <a:spAutoFit/>
          </a:bodyPr>
          <a:lstStyle/>
          <a:p>
            <a:pPr algn="l">
              <a:lnSpc>
                <a:spcPct val="115000"/>
              </a:lnSpc>
            </a:pPr>
            <a:r>
              <a:rPr kumimoji="1" lang="zh-CN" altLang="en-US" sz="2400" b="1">
                <a:latin typeface="Times New Roman" pitchFamily="18" charset="0"/>
                <a:ea typeface="楷体_GB2312" pitchFamily="49" charset="-122"/>
              </a:rPr>
              <a:t>静电场是有源场、感应电场是涡旋场</a:t>
            </a:r>
          </a:p>
        </p:txBody>
      </p:sp>
      <p:graphicFrame>
        <p:nvGraphicFramePr>
          <p:cNvPr id="44065" name="Object 33"/>
          <p:cNvGraphicFramePr>
            <a:graphicFrameLocks noChangeAspect="1"/>
          </p:cNvGraphicFramePr>
          <p:nvPr/>
        </p:nvGraphicFramePr>
        <p:xfrm>
          <a:off x="1827213" y="5319713"/>
          <a:ext cx="1263650" cy="550862"/>
        </p:xfrm>
        <a:graphic>
          <a:graphicData uri="http://schemas.openxmlformats.org/presentationml/2006/ole">
            <p:oleObj spid="_x0000_s34827" name="公式" r:id="rId12" imgW="657233" imgH="266760" progId="Equation.3">
              <p:embed/>
            </p:oleObj>
          </a:graphicData>
        </a:graphic>
      </p:graphicFrame>
      <p:sp>
        <p:nvSpPr>
          <p:cNvPr id="44066" name="Text Box 34"/>
          <p:cNvSpPr txBox="1">
            <a:spLocks noChangeArrowheads="1"/>
          </p:cNvSpPr>
          <p:nvPr/>
        </p:nvSpPr>
        <p:spPr bwMode="auto">
          <a:xfrm>
            <a:off x="727075" y="5949950"/>
            <a:ext cx="6977063" cy="622300"/>
          </a:xfrm>
          <a:prstGeom prst="rect">
            <a:avLst/>
          </a:prstGeom>
          <a:noFill/>
          <a:ln w="9525" algn="ctr">
            <a:noFill/>
            <a:miter lim="800000"/>
            <a:headEnd/>
            <a:tailEnd/>
          </a:ln>
        </p:spPr>
        <p:txBody>
          <a:bodyPr tIns="82800" bIns="82800">
            <a:spAutoFit/>
          </a:bodyPr>
          <a:lstStyle/>
          <a:p>
            <a:pPr algn="l">
              <a:lnSpc>
                <a:spcPct val="125000"/>
              </a:lnSpc>
            </a:pPr>
            <a:r>
              <a:rPr kumimoji="1" lang="zh-CN" altLang="en-US" sz="2400" b="1">
                <a:latin typeface="Times New Roman" pitchFamily="18" charset="0"/>
                <a:ea typeface="楷体_GB2312" pitchFamily="49" charset="-122"/>
              </a:rPr>
              <a:t>传导电流、位移电流产生的磁场都是无源场</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4036"/>
                                        </p:tgtEl>
                                        <p:attrNameLst>
                                          <p:attrName>style.visibility</p:attrName>
                                        </p:attrNameLst>
                                      </p:cBhvr>
                                      <p:to>
                                        <p:strVal val="visible"/>
                                      </p:to>
                                    </p:set>
                                    <p:animEffect transition="in" filter="wipe(left)">
                                      <p:cBhvr>
                                        <p:cTn id="7" dur="500"/>
                                        <p:tgtEl>
                                          <p:spTgt spid="440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4053"/>
                                        </p:tgtEl>
                                        <p:attrNameLst>
                                          <p:attrName>style.visibility</p:attrName>
                                        </p:attrNameLst>
                                      </p:cBhvr>
                                      <p:to>
                                        <p:strVal val="visible"/>
                                      </p:to>
                                    </p:set>
                                    <p:animEffect transition="in" filter="wipe(left)">
                                      <p:cBhvr>
                                        <p:cTn id="12" dur="500"/>
                                        <p:tgtEl>
                                          <p:spTgt spid="440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4054"/>
                                        </p:tgtEl>
                                        <p:attrNameLst>
                                          <p:attrName>style.visibility</p:attrName>
                                        </p:attrNameLst>
                                      </p:cBhvr>
                                      <p:to>
                                        <p:strVal val="visible"/>
                                      </p:to>
                                    </p:set>
                                    <p:animEffect transition="in" filter="wipe(left)">
                                      <p:cBhvr>
                                        <p:cTn id="17" dur="500"/>
                                        <p:tgtEl>
                                          <p:spTgt spid="440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4055"/>
                                        </p:tgtEl>
                                        <p:attrNameLst>
                                          <p:attrName>style.visibility</p:attrName>
                                        </p:attrNameLst>
                                      </p:cBhvr>
                                      <p:to>
                                        <p:strVal val="visible"/>
                                      </p:to>
                                    </p:set>
                                    <p:animEffect transition="in" filter="wipe(left)">
                                      <p:cBhvr>
                                        <p:cTn id="22" dur="500"/>
                                        <p:tgtEl>
                                          <p:spTgt spid="4405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4056"/>
                                        </p:tgtEl>
                                        <p:attrNameLst>
                                          <p:attrName>style.visibility</p:attrName>
                                        </p:attrNameLst>
                                      </p:cBhvr>
                                      <p:to>
                                        <p:strVal val="visible"/>
                                      </p:to>
                                    </p:set>
                                    <p:animEffect transition="in" filter="wipe(left)">
                                      <p:cBhvr>
                                        <p:cTn id="27" dur="500"/>
                                        <p:tgtEl>
                                          <p:spTgt spid="440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4057"/>
                                        </p:tgtEl>
                                        <p:attrNameLst>
                                          <p:attrName>style.visibility</p:attrName>
                                        </p:attrNameLst>
                                      </p:cBhvr>
                                      <p:to>
                                        <p:strVal val="visible"/>
                                      </p:to>
                                    </p:set>
                                    <p:animEffect transition="in" filter="wipe(left)">
                                      <p:cBhvr>
                                        <p:cTn id="32" dur="500"/>
                                        <p:tgtEl>
                                          <p:spTgt spid="4405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4058"/>
                                        </p:tgtEl>
                                        <p:attrNameLst>
                                          <p:attrName>style.visibility</p:attrName>
                                        </p:attrNameLst>
                                      </p:cBhvr>
                                      <p:to>
                                        <p:strVal val="visible"/>
                                      </p:to>
                                    </p:set>
                                    <p:animEffect transition="in" filter="wipe(left)">
                                      <p:cBhvr>
                                        <p:cTn id="37" dur="500"/>
                                        <p:tgtEl>
                                          <p:spTgt spid="4405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4059"/>
                                        </p:tgtEl>
                                        <p:attrNameLst>
                                          <p:attrName>style.visibility</p:attrName>
                                        </p:attrNameLst>
                                      </p:cBhvr>
                                      <p:to>
                                        <p:strVal val="visible"/>
                                      </p:to>
                                    </p:set>
                                    <p:animEffect transition="in" filter="wipe(left)">
                                      <p:cBhvr>
                                        <p:cTn id="42" dur="500"/>
                                        <p:tgtEl>
                                          <p:spTgt spid="44059"/>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44052"/>
                                        </p:tgtEl>
                                        <p:attrNameLst>
                                          <p:attrName>style.visibility</p:attrName>
                                        </p:attrNameLst>
                                      </p:cBhvr>
                                      <p:to>
                                        <p:strVal val="visible"/>
                                      </p:to>
                                    </p:set>
                                    <p:animEffect transition="in" filter="dissolve">
                                      <p:cBhvr>
                                        <p:cTn id="45" dur="2000"/>
                                        <p:tgtEl>
                                          <p:spTgt spid="44052"/>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44064"/>
                                        </p:tgtEl>
                                        <p:attrNameLst>
                                          <p:attrName>style.visibility</p:attrName>
                                        </p:attrNameLst>
                                      </p:cBhvr>
                                      <p:to>
                                        <p:strVal val="visible"/>
                                      </p:to>
                                    </p:set>
                                    <p:animEffect transition="in" filter="wipe(left)">
                                      <p:cBhvr>
                                        <p:cTn id="50" dur="500"/>
                                        <p:tgtEl>
                                          <p:spTgt spid="4406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4060"/>
                                        </p:tgtEl>
                                        <p:attrNameLst>
                                          <p:attrName>style.visibility</p:attrName>
                                        </p:attrNameLst>
                                      </p:cBhvr>
                                      <p:to>
                                        <p:strVal val="visible"/>
                                      </p:to>
                                    </p:set>
                                    <p:animEffect transition="in" filter="wipe(left)">
                                      <p:cBhvr>
                                        <p:cTn id="55" dur="500"/>
                                        <p:tgtEl>
                                          <p:spTgt spid="4406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4061"/>
                                        </p:tgtEl>
                                        <p:attrNameLst>
                                          <p:attrName>style.visibility</p:attrName>
                                        </p:attrNameLst>
                                      </p:cBhvr>
                                      <p:to>
                                        <p:strVal val="visible"/>
                                      </p:to>
                                    </p:set>
                                    <p:animEffect transition="in" filter="wipe(left)">
                                      <p:cBhvr>
                                        <p:cTn id="60" dur="500"/>
                                        <p:tgtEl>
                                          <p:spTgt spid="44061"/>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44063"/>
                                        </p:tgtEl>
                                        <p:attrNameLst>
                                          <p:attrName>style.visibility</p:attrName>
                                        </p:attrNameLst>
                                      </p:cBhvr>
                                      <p:to>
                                        <p:strVal val="visible"/>
                                      </p:to>
                                    </p:set>
                                    <p:animEffect transition="in" filter="wipe(left)">
                                      <p:cBhvr>
                                        <p:cTn id="65" dur="500"/>
                                        <p:tgtEl>
                                          <p:spTgt spid="4406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44062"/>
                                        </p:tgtEl>
                                        <p:attrNameLst>
                                          <p:attrName>style.visibility</p:attrName>
                                        </p:attrNameLst>
                                      </p:cBhvr>
                                      <p:to>
                                        <p:strVal val="visible"/>
                                      </p:to>
                                    </p:set>
                                    <p:animEffect transition="in" filter="wipe(left)">
                                      <p:cBhvr>
                                        <p:cTn id="70" dur="500"/>
                                        <p:tgtEl>
                                          <p:spTgt spid="44062"/>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44065"/>
                                        </p:tgtEl>
                                        <p:attrNameLst>
                                          <p:attrName>style.visibility</p:attrName>
                                        </p:attrNameLst>
                                      </p:cBhvr>
                                      <p:to>
                                        <p:strVal val="visible"/>
                                      </p:to>
                                    </p:set>
                                    <p:animEffect transition="in" filter="wipe(left)">
                                      <p:cBhvr>
                                        <p:cTn id="75" dur="500"/>
                                        <p:tgtEl>
                                          <p:spTgt spid="44065"/>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44051"/>
                                        </p:tgtEl>
                                        <p:attrNameLst>
                                          <p:attrName>style.visibility</p:attrName>
                                        </p:attrNameLst>
                                      </p:cBhvr>
                                      <p:to>
                                        <p:strVal val="visible"/>
                                      </p:to>
                                    </p:set>
                                    <p:animEffect transition="in" filter="dissolve">
                                      <p:cBhvr>
                                        <p:cTn id="78" dur="2000"/>
                                        <p:tgtEl>
                                          <p:spTgt spid="4405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44066"/>
                                        </p:tgtEl>
                                        <p:attrNameLst>
                                          <p:attrName>style.visibility</p:attrName>
                                        </p:attrNameLst>
                                      </p:cBhvr>
                                      <p:to>
                                        <p:strVal val="visible"/>
                                      </p:to>
                                    </p:set>
                                    <p:animEffect transition="in" filter="wipe(left)">
                                      <p:cBhvr>
                                        <p:cTn id="83" dur="500"/>
                                        <p:tgtEl>
                                          <p:spTgt spid="44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6" grpId="0" autoUpdateAnimBg="0"/>
      <p:bldP spid="44051" grpId="0" animBg="1"/>
      <p:bldP spid="44052" grpId="0" animBg="1"/>
      <p:bldP spid="44053" grpId="0" autoUpdateAnimBg="0"/>
      <p:bldP spid="44060" grpId="0" autoUpdateAnimBg="0"/>
      <p:bldP spid="44064" grpId="0"/>
      <p:bldP spid="4406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AutoShape 2"/>
          <p:cNvSpPr>
            <a:spLocks noChangeArrowheads="1"/>
          </p:cNvSpPr>
          <p:nvPr/>
        </p:nvSpPr>
        <p:spPr bwMode="auto">
          <a:xfrm>
            <a:off x="1717675" y="4914900"/>
            <a:ext cx="3079750" cy="854075"/>
          </a:xfrm>
          <a:prstGeom prst="bevel">
            <a:avLst>
              <a:gd name="adj" fmla="val 4847"/>
            </a:avLst>
          </a:prstGeom>
          <a:solidFill>
            <a:srgbClr val="CCFFFF"/>
          </a:solidFill>
          <a:ln w="9525">
            <a:solidFill>
              <a:srgbClr val="00FFFF"/>
            </a:solidFill>
            <a:miter lim="800000"/>
            <a:headEnd/>
            <a:tailEnd/>
          </a:ln>
        </p:spPr>
        <p:txBody>
          <a:bodyPr wrap="none" anchor="ctr"/>
          <a:lstStyle/>
          <a:p>
            <a:endParaRPr lang="zh-CN" altLang="en-US"/>
          </a:p>
        </p:txBody>
      </p:sp>
      <p:sp>
        <p:nvSpPr>
          <p:cNvPr id="95235" name="AutoShape 3"/>
          <p:cNvSpPr>
            <a:spLocks noChangeArrowheads="1"/>
          </p:cNvSpPr>
          <p:nvPr/>
        </p:nvSpPr>
        <p:spPr bwMode="auto">
          <a:xfrm>
            <a:off x="1501775" y="1943100"/>
            <a:ext cx="3700463" cy="936625"/>
          </a:xfrm>
          <a:prstGeom prst="bevel">
            <a:avLst>
              <a:gd name="adj" fmla="val 4847"/>
            </a:avLst>
          </a:prstGeom>
          <a:solidFill>
            <a:srgbClr val="CCFFFF"/>
          </a:solidFill>
          <a:ln w="9525">
            <a:solidFill>
              <a:srgbClr val="00FFFF"/>
            </a:solidFill>
            <a:miter lim="800000"/>
            <a:headEnd/>
            <a:tailEnd/>
          </a:ln>
        </p:spPr>
        <p:txBody>
          <a:bodyPr wrap="none" anchor="ctr"/>
          <a:lstStyle/>
          <a:p>
            <a:endParaRPr lang="zh-CN" altLang="en-US"/>
          </a:p>
        </p:txBody>
      </p:sp>
      <p:sp>
        <p:nvSpPr>
          <p:cNvPr id="95236" name="Rectangle 4"/>
          <p:cNvSpPr>
            <a:spLocks noChangeArrowheads="1"/>
          </p:cNvSpPr>
          <p:nvPr/>
        </p:nvSpPr>
        <p:spPr bwMode="auto">
          <a:xfrm>
            <a:off x="498475" y="496888"/>
            <a:ext cx="3425825" cy="457200"/>
          </a:xfrm>
          <a:prstGeom prst="rect">
            <a:avLst/>
          </a:prstGeom>
          <a:noFill/>
          <a:ln w="9525">
            <a:noFill/>
            <a:miter lim="800000"/>
            <a:headEnd/>
            <a:tailEnd/>
          </a:ln>
        </p:spPr>
        <p:txBody>
          <a:bodyPr>
            <a:spAutoFit/>
          </a:bodyPr>
          <a:lstStyle/>
          <a:p>
            <a:pPr algn="l"/>
            <a:r>
              <a:rPr kumimoji="1" lang="en-US" altLang="zh-CN" sz="2400" b="1">
                <a:solidFill>
                  <a:srgbClr val="FF0000"/>
                </a:solidFill>
                <a:latin typeface="Times New Roman" pitchFamily="18" charset="0"/>
                <a:ea typeface="楷体_GB2312" pitchFamily="49" charset="-122"/>
                <a:cs typeface="Times New Roman" pitchFamily="18" charset="0"/>
              </a:rPr>
              <a:t>3</a:t>
            </a:r>
            <a:r>
              <a:rPr kumimoji="1" lang="zh-CN" altLang="en-US" sz="2400" b="1">
                <a:solidFill>
                  <a:srgbClr val="FF0000"/>
                </a:solidFill>
                <a:latin typeface="Times New Roman" pitchFamily="18" charset="0"/>
                <a:ea typeface="楷体_GB2312" pitchFamily="49" charset="-122"/>
                <a:cs typeface="Times New Roman" pitchFamily="18" charset="0"/>
              </a:rPr>
              <a:t>、电场的环路定理</a:t>
            </a:r>
          </a:p>
        </p:txBody>
      </p:sp>
      <p:graphicFrame>
        <p:nvGraphicFramePr>
          <p:cNvPr id="95237" name="Object 5"/>
          <p:cNvGraphicFramePr>
            <a:graphicFrameLocks noChangeAspect="1"/>
          </p:cNvGraphicFramePr>
          <p:nvPr/>
        </p:nvGraphicFramePr>
        <p:xfrm>
          <a:off x="1168400" y="1179513"/>
          <a:ext cx="871538" cy="549275"/>
        </p:xfrm>
        <a:graphic>
          <a:graphicData uri="http://schemas.openxmlformats.org/presentationml/2006/ole">
            <p:oleObj spid="_x0000_s35842" name="公式" r:id="rId3" imgW="447610" imgH="266760" progId="Equation.3">
              <p:embed/>
            </p:oleObj>
          </a:graphicData>
        </a:graphic>
      </p:graphicFrame>
      <p:graphicFrame>
        <p:nvGraphicFramePr>
          <p:cNvPr id="95238" name="Object 6"/>
          <p:cNvGraphicFramePr>
            <a:graphicFrameLocks noChangeAspect="1"/>
          </p:cNvGraphicFramePr>
          <p:nvPr/>
        </p:nvGraphicFramePr>
        <p:xfrm>
          <a:off x="4076700" y="1268413"/>
          <a:ext cx="434975" cy="319087"/>
        </p:xfrm>
        <a:graphic>
          <a:graphicData uri="http://schemas.openxmlformats.org/presentationml/2006/ole">
            <p:oleObj spid="_x0000_s35843" name="公式" r:id="rId4" imgW="199898" imgH="142830" progId="Equation.3">
              <p:embed/>
            </p:oleObj>
          </a:graphicData>
        </a:graphic>
      </p:graphicFrame>
      <p:graphicFrame>
        <p:nvGraphicFramePr>
          <p:cNvPr id="95239" name="Object 7"/>
          <p:cNvGraphicFramePr>
            <a:graphicFrameLocks noChangeAspect="1"/>
          </p:cNvGraphicFramePr>
          <p:nvPr/>
        </p:nvGraphicFramePr>
        <p:xfrm>
          <a:off x="4527550" y="998538"/>
          <a:ext cx="1328738" cy="757237"/>
        </p:xfrm>
        <a:graphic>
          <a:graphicData uri="http://schemas.openxmlformats.org/presentationml/2006/ole">
            <p:oleObj spid="_x0000_s35844" name="公式" r:id="rId5" imgW="695322" imgH="380970" progId="Equation.3">
              <p:embed/>
            </p:oleObj>
          </a:graphicData>
        </a:graphic>
      </p:graphicFrame>
      <p:graphicFrame>
        <p:nvGraphicFramePr>
          <p:cNvPr id="95240" name="Object 8"/>
          <p:cNvGraphicFramePr>
            <a:graphicFrameLocks noChangeAspect="1"/>
          </p:cNvGraphicFramePr>
          <p:nvPr/>
        </p:nvGraphicFramePr>
        <p:xfrm>
          <a:off x="1736725" y="2033588"/>
          <a:ext cx="3243263" cy="755650"/>
        </p:xfrm>
        <a:graphic>
          <a:graphicData uri="http://schemas.openxmlformats.org/presentationml/2006/ole">
            <p:oleObj spid="_x0000_s35845" name="公式" r:id="rId6" imgW="1762077" imgH="380970" progId="Equation.3">
              <p:embed/>
            </p:oleObj>
          </a:graphicData>
        </a:graphic>
      </p:graphicFrame>
      <p:sp>
        <p:nvSpPr>
          <p:cNvPr id="95241" name="Rectangle 9"/>
          <p:cNvSpPr>
            <a:spLocks noChangeArrowheads="1"/>
          </p:cNvSpPr>
          <p:nvPr/>
        </p:nvSpPr>
        <p:spPr bwMode="auto">
          <a:xfrm>
            <a:off x="3005138" y="496888"/>
            <a:ext cx="4687887" cy="457200"/>
          </a:xfrm>
          <a:prstGeom prst="rect">
            <a:avLst/>
          </a:prstGeom>
          <a:noFill/>
          <a:ln w="9525">
            <a:noFill/>
            <a:miter lim="800000"/>
            <a:headEnd/>
            <a:tailEnd/>
          </a:ln>
        </p:spPr>
        <p:txBody>
          <a:bodyPr>
            <a:spAutoFit/>
          </a:bodyPr>
          <a:lstStyle/>
          <a:p>
            <a:pPr algn="l"/>
            <a:r>
              <a:rPr kumimoji="1" lang="en-US" altLang="zh-CN" sz="2400" b="1" i="1">
                <a:solidFill>
                  <a:schemeClr val="bg1"/>
                </a:solidFill>
                <a:latin typeface="Times New Roman" pitchFamily="18" charset="0"/>
                <a:ea typeface="楷体_GB2312" pitchFamily="49" charset="-122"/>
              </a:rPr>
              <a:t>—— </a:t>
            </a:r>
            <a:r>
              <a:rPr kumimoji="1" lang="zh-CN" altLang="en-US" sz="2400" b="1">
                <a:solidFill>
                  <a:schemeClr val="bg1"/>
                </a:solidFill>
                <a:latin typeface="Times New Roman" pitchFamily="18" charset="0"/>
                <a:ea typeface="楷体_GB2312" pitchFamily="49" charset="-122"/>
              </a:rPr>
              <a:t>法拉第电磁感应定律</a:t>
            </a:r>
          </a:p>
        </p:txBody>
      </p:sp>
      <p:sp>
        <p:nvSpPr>
          <p:cNvPr id="95242" name="Rectangle 10"/>
          <p:cNvSpPr>
            <a:spLocks noChangeArrowheads="1"/>
          </p:cNvSpPr>
          <p:nvPr/>
        </p:nvSpPr>
        <p:spPr bwMode="auto">
          <a:xfrm>
            <a:off x="487363" y="3519488"/>
            <a:ext cx="4156075" cy="457200"/>
          </a:xfrm>
          <a:prstGeom prst="rect">
            <a:avLst/>
          </a:prstGeom>
          <a:noFill/>
          <a:ln w="9525">
            <a:noFill/>
            <a:miter lim="800000"/>
            <a:headEnd/>
            <a:tailEnd/>
          </a:ln>
        </p:spPr>
        <p:txBody>
          <a:bodyPr>
            <a:spAutoFit/>
          </a:bodyPr>
          <a:lstStyle/>
          <a:p>
            <a:pPr algn="l"/>
            <a:r>
              <a:rPr kumimoji="1" lang="en-US" altLang="zh-CN" sz="2400" b="1">
                <a:solidFill>
                  <a:srgbClr val="FF0000"/>
                </a:solidFill>
                <a:latin typeface="Times New Roman" pitchFamily="18" charset="0"/>
                <a:ea typeface="楷体_GB2312" pitchFamily="49" charset="-122"/>
                <a:cs typeface="Times New Roman" pitchFamily="18" charset="0"/>
              </a:rPr>
              <a:t>4</a:t>
            </a:r>
            <a:r>
              <a:rPr kumimoji="1" lang="zh-CN" altLang="en-US" sz="2400" b="1">
                <a:solidFill>
                  <a:srgbClr val="FF0000"/>
                </a:solidFill>
                <a:latin typeface="Times New Roman" pitchFamily="18" charset="0"/>
                <a:ea typeface="楷体_GB2312" pitchFamily="49" charset="-122"/>
                <a:cs typeface="Times New Roman" pitchFamily="18" charset="0"/>
              </a:rPr>
              <a:t>、全电流安培环路定理</a:t>
            </a:r>
          </a:p>
        </p:txBody>
      </p:sp>
      <p:graphicFrame>
        <p:nvGraphicFramePr>
          <p:cNvPr id="95243" name="Object 11"/>
          <p:cNvGraphicFramePr>
            <a:graphicFrameLocks noChangeAspect="1"/>
          </p:cNvGraphicFramePr>
          <p:nvPr/>
        </p:nvGraphicFramePr>
        <p:xfrm>
          <a:off x="1265238" y="4103688"/>
          <a:ext cx="917575" cy="550862"/>
        </p:xfrm>
        <a:graphic>
          <a:graphicData uri="http://schemas.openxmlformats.org/presentationml/2006/ole">
            <p:oleObj spid="_x0000_s35846" name="公式" r:id="rId7" imgW="466790" imgH="266760" progId="Equation.3">
              <p:embed/>
            </p:oleObj>
          </a:graphicData>
        </a:graphic>
      </p:graphicFrame>
      <p:graphicFrame>
        <p:nvGraphicFramePr>
          <p:cNvPr id="95244" name="Object 12"/>
          <p:cNvGraphicFramePr>
            <a:graphicFrameLocks noChangeAspect="1"/>
          </p:cNvGraphicFramePr>
          <p:nvPr/>
        </p:nvGraphicFramePr>
        <p:xfrm>
          <a:off x="4381500" y="4141788"/>
          <a:ext cx="882650" cy="457200"/>
        </p:xfrm>
        <a:graphic>
          <a:graphicData uri="http://schemas.openxmlformats.org/presentationml/2006/ole">
            <p:oleObj spid="_x0000_s35847" name="公式" r:id="rId8" imgW="457335" imgH="218970" progId="Equation.3">
              <p:embed/>
            </p:oleObj>
          </a:graphicData>
        </a:graphic>
      </p:graphicFrame>
      <p:graphicFrame>
        <p:nvGraphicFramePr>
          <p:cNvPr id="95245" name="Object 13"/>
          <p:cNvGraphicFramePr>
            <a:graphicFrameLocks noChangeAspect="1"/>
          </p:cNvGraphicFramePr>
          <p:nvPr/>
        </p:nvGraphicFramePr>
        <p:xfrm>
          <a:off x="5292725" y="3968750"/>
          <a:ext cx="1389063" cy="758825"/>
        </p:xfrm>
        <a:graphic>
          <a:graphicData uri="http://schemas.openxmlformats.org/presentationml/2006/ole">
            <p:oleObj spid="_x0000_s35848" name="公式" r:id="rId9" imgW="723956" imgH="380970" progId="Equation.3">
              <p:embed/>
            </p:oleObj>
          </a:graphicData>
        </a:graphic>
      </p:graphicFrame>
      <p:graphicFrame>
        <p:nvGraphicFramePr>
          <p:cNvPr id="95246" name="Object 14"/>
          <p:cNvGraphicFramePr>
            <a:graphicFrameLocks noChangeAspect="1"/>
          </p:cNvGraphicFramePr>
          <p:nvPr/>
        </p:nvGraphicFramePr>
        <p:xfrm>
          <a:off x="1871663" y="4959350"/>
          <a:ext cx="2811462" cy="776288"/>
        </p:xfrm>
        <a:graphic>
          <a:graphicData uri="http://schemas.openxmlformats.org/presentationml/2006/ole">
            <p:oleObj spid="_x0000_s35849" name="公式" r:id="rId10" imgW="1524090" imgH="390420" progId="Equation.3">
              <p:embed/>
            </p:oleObj>
          </a:graphicData>
        </a:graphic>
      </p:graphicFrame>
      <p:graphicFrame>
        <p:nvGraphicFramePr>
          <p:cNvPr id="95247" name="Object 15"/>
          <p:cNvGraphicFramePr>
            <a:graphicFrameLocks noChangeAspect="1"/>
          </p:cNvGraphicFramePr>
          <p:nvPr/>
        </p:nvGraphicFramePr>
        <p:xfrm>
          <a:off x="2051050" y="1168400"/>
          <a:ext cx="1971675" cy="550863"/>
        </p:xfrm>
        <a:graphic>
          <a:graphicData uri="http://schemas.openxmlformats.org/presentationml/2006/ole">
            <p:oleObj spid="_x0000_s35850" name="公式" r:id="rId11" imgW="1057300" imgH="266760" progId="Equation.3">
              <p:embed/>
            </p:oleObj>
          </a:graphicData>
        </a:graphic>
      </p:graphicFrame>
      <p:graphicFrame>
        <p:nvGraphicFramePr>
          <p:cNvPr id="95248" name="Object 16"/>
          <p:cNvGraphicFramePr>
            <a:graphicFrameLocks noChangeAspect="1"/>
          </p:cNvGraphicFramePr>
          <p:nvPr/>
        </p:nvGraphicFramePr>
        <p:xfrm>
          <a:off x="2276475" y="4092575"/>
          <a:ext cx="2062163" cy="550863"/>
        </p:xfrm>
        <a:graphic>
          <a:graphicData uri="http://schemas.openxmlformats.org/presentationml/2006/ole">
            <p:oleObj spid="_x0000_s35851" name="公式" r:id="rId12" imgW="1104844" imgH="266760" progId="Equation.3">
              <p:embed/>
            </p:oleObj>
          </a:graphicData>
        </a:graphic>
      </p:graphicFrame>
      <p:sp>
        <p:nvSpPr>
          <p:cNvPr id="95249" name="Text Box 17"/>
          <p:cNvSpPr txBox="1">
            <a:spLocks noChangeArrowheads="1"/>
          </p:cNvSpPr>
          <p:nvPr/>
        </p:nvSpPr>
        <p:spPr bwMode="auto">
          <a:xfrm>
            <a:off x="728663" y="2979738"/>
            <a:ext cx="6529387" cy="530225"/>
          </a:xfrm>
          <a:prstGeom prst="rect">
            <a:avLst/>
          </a:prstGeom>
          <a:noFill/>
          <a:ln w="9525" algn="ctr">
            <a:noFill/>
            <a:miter lim="800000"/>
            <a:headEnd/>
            <a:tailEnd/>
          </a:ln>
        </p:spPr>
        <p:txBody>
          <a:bodyPr tIns="82800" bIns="82800">
            <a:spAutoFit/>
          </a:bodyPr>
          <a:lstStyle/>
          <a:p>
            <a:pPr algn="l"/>
            <a:r>
              <a:rPr kumimoji="1" lang="zh-CN" altLang="en-US" sz="2400" b="1">
                <a:latin typeface="Times New Roman" pitchFamily="18" charset="0"/>
                <a:ea typeface="楷体_GB2312" pitchFamily="49" charset="-122"/>
              </a:rPr>
              <a:t>静电场是保守场，变化磁场可以激发涡旋电场</a:t>
            </a:r>
          </a:p>
        </p:txBody>
      </p:sp>
      <p:sp>
        <p:nvSpPr>
          <p:cNvPr id="95250" name="Text Box 18"/>
          <p:cNvSpPr txBox="1">
            <a:spLocks noChangeArrowheads="1"/>
          </p:cNvSpPr>
          <p:nvPr/>
        </p:nvSpPr>
        <p:spPr bwMode="auto">
          <a:xfrm>
            <a:off x="719138" y="5815013"/>
            <a:ext cx="6381750" cy="585787"/>
          </a:xfrm>
          <a:prstGeom prst="rect">
            <a:avLst/>
          </a:prstGeom>
          <a:noFill/>
          <a:ln w="9525" algn="ctr">
            <a:noFill/>
            <a:miter lim="800000"/>
            <a:headEnd/>
            <a:tailEnd/>
          </a:ln>
        </p:spPr>
        <p:txBody>
          <a:bodyPr tIns="82800" bIns="82800">
            <a:spAutoFit/>
          </a:bodyPr>
          <a:lstStyle/>
          <a:p>
            <a:pPr algn="l">
              <a:lnSpc>
                <a:spcPct val="115000"/>
              </a:lnSpc>
            </a:pPr>
            <a:r>
              <a:rPr kumimoji="1" lang="zh-CN" altLang="en-US" sz="2400" b="1">
                <a:latin typeface="Times New Roman" pitchFamily="18" charset="0"/>
                <a:ea typeface="楷体_GB2312" pitchFamily="49" charset="-122"/>
              </a:rPr>
              <a:t>传导电流和变化电场可以激发涡旋磁场</a:t>
            </a:r>
          </a:p>
        </p:txBody>
      </p:sp>
      <p:sp>
        <p:nvSpPr>
          <p:cNvPr id="95252" name="AutoShape 20">
            <a:hlinkClick r:id="rId13" action="ppaction://hlinksldjump" highlightClick="1"/>
          </p:cNvPr>
          <p:cNvSpPr>
            <a:spLocks noChangeArrowheads="1"/>
          </p:cNvSpPr>
          <p:nvPr/>
        </p:nvSpPr>
        <p:spPr bwMode="auto">
          <a:xfrm>
            <a:off x="8677275" y="6202363"/>
            <a:ext cx="287338" cy="287337"/>
          </a:xfrm>
          <a:prstGeom prst="actionButtonBeginning">
            <a:avLst/>
          </a:prstGeom>
          <a:solidFill>
            <a:srgbClr val="99CCFF"/>
          </a:solidFill>
          <a:ln w="9525">
            <a:noFill/>
            <a:miter lim="800000"/>
            <a:headEnd/>
            <a:tailE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36"/>
                                        </p:tgtEl>
                                        <p:attrNameLst>
                                          <p:attrName>style.visibility</p:attrName>
                                        </p:attrNameLst>
                                      </p:cBhvr>
                                      <p:to>
                                        <p:strVal val="visible"/>
                                      </p:to>
                                    </p:set>
                                    <p:animEffect transition="in" filter="wipe(left)">
                                      <p:cBhvr>
                                        <p:cTn id="7" dur="500"/>
                                        <p:tgtEl>
                                          <p:spTgt spid="952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41"/>
                                        </p:tgtEl>
                                        <p:attrNameLst>
                                          <p:attrName>style.visibility</p:attrName>
                                        </p:attrNameLst>
                                      </p:cBhvr>
                                      <p:to>
                                        <p:strVal val="visible"/>
                                      </p:to>
                                    </p:set>
                                    <p:animEffect transition="in" filter="wipe(left)">
                                      <p:cBhvr>
                                        <p:cTn id="12" dur="500"/>
                                        <p:tgtEl>
                                          <p:spTgt spid="952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5237"/>
                                        </p:tgtEl>
                                        <p:attrNameLst>
                                          <p:attrName>style.visibility</p:attrName>
                                        </p:attrNameLst>
                                      </p:cBhvr>
                                      <p:to>
                                        <p:strVal val="visible"/>
                                      </p:to>
                                    </p:set>
                                    <p:animEffect transition="in" filter="wipe(left)">
                                      <p:cBhvr>
                                        <p:cTn id="17" dur="500"/>
                                        <p:tgtEl>
                                          <p:spTgt spid="952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5247"/>
                                        </p:tgtEl>
                                        <p:attrNameLst>
                                          <p:attrName>style.visibility</p:attrName>
                                        </p:attrNameLst>
                                      </p:cBhvr>
                                      <p:to>
                                        <p:strVal val="visible"/>
                                      </p:to>
                                    </p:set>
                                    <p:animEffect transition="in" filter="wipe(left)">
                                      <p:cBhvr>
                                        <p:cTn id="22" dur="500"/>
                                        <p:tgtEl>
                                          <p:spTgt spid="9524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5238"/>
                                        </p:tgtEl>
                                        <p:attrNameLst>
                                          <p:attrName>style.visibility</p:attrName>
                                        </p:attrNameLst>
                                      </p:cBhvr>
                                      <p:to>
                                        <p:strVal val="visible"/>
                                      </p:to>
                                    </p:set>
                                    <p:animEffect transition="in" filter="wipe(left)">
                                      <p:cBhvr>
                                        <p:cTn id="27" dur="500"/>
                                        <p:tgtEl>
                                          <p:spTgt spid="952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5239"/>
                                        </p:tgtEl>
                                        <p:attrNameLst>
                                          <p:attrName>style.visibility</p:attrName>
                                        </p:attrNameLst>
                                      </p:cBhvr>
                                      <p:to>
                                        <p:strVal val="visible"/>
                                      </p:to>
                                    </p:set>
                                    <p:animEffect transition="in" filter="wipe(left)">
                                      <p:cBhvr>
                                        <p:cTn id="32" dur="500"/>
                                        <p:tgtEl>
                                          <p:spTgt spid="9523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5240"/>
                                        </p:tgtEl>
                                        <p:attrNameLst>
                                          <p:attrName>style.visibility</p:attrName>
                                        </p:attrNameLst>
                                      </p:cBhvr>
                                      <p:to>
                                        <p:strVal val="visible"/>
                                      </p:to>
                                    </p:set>
                                    <p:animEffect transition="in" filter="wipe(left)">
                                      <p:cBhvr>
                                        <p:cTn id="37" dur="500"/>
                                        <p:tgtEl>
                                          <p:spTgt spid="95240"/>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95235"/>
                                        </p:tgtEl>
                                        <p:attrNameLst>
                                          <p:attrName>style.visibility</p:attrName>
                                        </p:attrNameLst>
                                      </p:cBhvr>
                                      <p:to>
                                        <p:strVal val="visible"/>
                                      </p:to>
                                    </p:set>
                                    <p:animEffect transition="in" filter="dissolve">
                                      <p:cBhvr>
                                        <p:cTn id="40" dur="2000"/>
                                        <p:tgtEl>
                                          <p:spTgt spid="9523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5249"/>
                                        </p:tgtEl>
                                        <p:attrNameLst>
                                          <p:attrName>style.visibility</p:attrName>
                                        </p:attrNameLst>
                                      </p:cBhvr>
                                      <p:to>
                                        <p:strVal val="visible"/>
                                      </p:to>
                                    </p:set>
                                    <p:animEffect transition="in" filter="wipe(left)">
                                      <p:cBhvr>
                                        <p:cTn id="45" dur="500"/>
                                        <p:tgtEl>
                                          <p:spTgt spid="9524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95242"/>
                                        </p:tgtEl>
                                        <p:attrNameLst>
                                          <p:attrName>style.visibility</p:attrName>
                                        </p:attrNameLst>
                                      </p:cBhvr>
                                      <p:to>
                                        <p:strVal val="visible"/>
                                      </p:to>
                                    </p:set>
                                    <p:animEffect transition="in" filter="wipe(left)">
                                      <p:cBhvr>
                                        <p:cTn id="50" dur="500"/>
                                        <p:tgtEl>
                                          <p:spTgt spid="95242"/>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95243"/>
                                        </p:tgtEl>
                                        <p:attrNameLst>
                                          <p:attrName>style.visibility</p:attrName>
                                        </p:attrNameLst>
                                      </p:cBhvr>
                                      <p:to>
                                        <p:strVal val="visible"/>
                                      </p:to>
                                    </p:set>
                                    <p:animEffect transition="in" filter="wipe(left)">
                                      <p:cBhvr>
                                        <p:cTn id="55" dur="500"/>
                                        <p:tgtEl>
                                          <p:spTgt spid="9524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95248"/>
                                        </p:tgtEl>
                                        <p:attrNameLst>
                                          <p:attrName>style.visibility</p:attrName>
                                        </p:attrNameLst>
                                      </p:cBhvr>
                                      <p:to>
                                        <p:strVal val="visible"/>
                                      </p:to>
                                    </p:set>
                                    <p:animEffect transition="in" filter="wipe(left)">
                                      <p:cBhvr>
                                        <p:cTn id="60" dur="500"/>
                                        <p:tgtEl>
                                          <p:spTgt spid="9524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95244"/>
                                        </p:tgtEl>
                                        <p:attrNameLst>
                                          <p:attrName>style.visibility</p:attrName>
                                        </p:attrNameLst>
                                      </p:cBhvr>
                                      <p:to>
                                        <p:strVal val="visible"/>
                                      </p:to>
                                    </p:set>
                                    <p:animEffect transition="in" filter="wipe(left)">
                                      <p:cBhvr>
                                        <p:cTn id="65" dur="500"/>
                                        <p:tgtEl>
                                          <p:spTgt spid="9524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95245"/>
                                        </p:tgtEl>
                                        <p:attrNameLst>
                                          <p:attrName>style.visibility</p:attrName>
                                        </p:attrNameLst>
                                      </p:cBhvr>
                                      <p:to>
                                        <p:strVal val="visible"/>
                                      </p:to>
                                    </p:set>
                                    <p:animEffect transition="in" filter="wipe(left)">
                                      <p:cBhvr>
                                        <p:cTn id="70" dur="500"/>
                                        <p:tgtEl>
                                          <p:spTgt spid="9524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95246"/>
                                        </p:tgtEl>
                                        <p:attrNameLst>
                                          <p:attrName>style.visibility</p:attrName>
                                        </p:attrNameLst>
                                      </p:cBhvr>
                                      <p:to>
                                        <p:strVal val="visible"/>
                                      </p:to>
                                    </p:set>
                                    <p:animEffect transition="in" filter="wipe(left)">
                                      <p:cBhvr>
                                        <p:cTn id="75" dur="500"/>
                                        <p:tgtEl>
                                          <p:spTgt spid="95246"/>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95234"/>
                                        </p:tgtEl>
                                        <p:attrNameLst>
                                          <p:attrName>style.visibility</p:attrName>
                                        </p:attrNameLst>
                                      </p:cBhvr>
                                      <p:to>
                                        <p:strVal val="visible"/>
                                      </p:to>
                                    </p:set>
                                    <p:animEffect transition="in" filter="dissolve">
                                      <p:cBhvr>
                                        <p:cTn id="78" dur="2000"/>
                                        <p:tgtEl>
                                          <p:spTgt spid="95234"/>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95250"/>
                                        </p:tgtEl>
                                        <p:attrNameLst>
                                          <p:attrName>style.visibility</p:attrName>
                                        </p:attrNameLst>
                                      </p:cBhvr>
                                      <p:to>
                                        <p:strVal val="visible"/>
                                      </p:to>
                                    </p:set>
                                    <p:animEffect transition="in" filter="wipe(left)">
                                      <p:cBhvr>
                                        <p:cTn id="83" dur="500"/>
                                        <p:tgtEl>
                                          <p:spTgt spid="95250"/>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95252"/>
                                        </p:tgtEl>
                                        <p:attrNameLst>
                                          <p:attrName>style.visibility</p:attrName>
                                        </p:attrNameLst>
                                      </p:cBhvr>
                                      <p:to>
                                        <p:strVal val="visible"/>
                                      </p:to>
                                    </p:set>
                                    <p:animEffect transition="in" filter="wipe(left)">
                                      <p:cBhvr>
                                        <p:cTn id="88" dur="500"/>
                                        <p:tgtEl>
                                          <p:spTgt spid="952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nimBg="1"/>
      <p:bldP spid="95235" grpId="0" animBg="1"/>
      <p:bldP spid="95236" grpId="0" autoUpdateAnimBg="0"/>
      <p:bldP spid="95241" grpId="0" autoUpdateAnimBg="0"/>
      <p:bldP spid="95242" grpId="0" autoUpdateAnimBg="0"/>
      <p:bldP spid="95249" grpId="0"/>
      <p:bldP spid="95250" grpId="0"/>
      <p:bldP spid="95252"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FFFF">
            <a:alpha val="48000"/>
          </a:srgbClr>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rgbClr val="00FFFF">
            <a:alpha val="48000"/>
          </a:srgbClr>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3222</TotalTime>
  <Words>2808</Words>
  <Application>Microsoft Office PowerPoint</Application>
  <PresentationFormat>全屏显示(4:3)</PresentationFormat>
  <Paragraphs>439</Paragraphs>
  <Slides>40</Slides>
  <Notes>4</Notes>
  <HiddenSlides>0</HiddenSlides>
  <MMClips>1</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4" baseType="lpstr">
      <vt:lpstr>Arial</vt:lpstr>
      <vt:lpstr>宋体</vt:lpstr>
      <vt:lpstr>隶书</vt:lpstr>
      <vt:lpstr>Times New Roman</vt:lpstr>
      <vt:lpstr>楷体_GB2312</vt:lpstr>
      <vt:lpstr>Wingdings</vt:lpstr>
      <vt:lpstr>黑体</vt:lpstr>
      <vt:lpstr>华文楷体</vt:lpstr>
      <vt:lpstr>Symbol</vt:lpstr>
      <vt:lpstr>Monotype Sorts</vt:lpstr>
      <vt:lpstr>Book Antiqua</vt:lpstr>
      <vt:lpstr>华文新魏</vt:lpstr>
      <vt:lpstr>默认设计模板</vt:lpstr>
      <vt:lpstr>Microsoft 公式 3.0</vt:lpstr>
      <vt:lpstr>第11章 电磁感应</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vector>
  </TitlesOfParts>
  <Company>NWSUAF</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第11章 电磁感应</dc:title>
  <dc:creator>yunpengliu</dc:creator>
  <cp:lastModifiedBy>解迎革</cp:lastModifiedBy>
  <cp:revision>102</cp:revision>
  <dcterms:created xsi:type="dcterms:W3CDTF">2009-09-29T07:43:01Z</dcterms:created>
  <dcterms:modified xsi:type="dcterms:W3CDTF">2015-12-04T03:22:36Z</dcterms:modified>
</cp:coreProperties>
</file>