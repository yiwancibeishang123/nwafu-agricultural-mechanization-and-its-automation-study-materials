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Default Extension="wav" ContentType="audio/wav"/>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418" r:id="rId2"/>
    <p:sldId id="325" r:id="rId3"/>
    <p:sldId id="385" r:id="rId4"/>
    <p:sldId id="386" r:id="rId5"/>
    <p:sldId id="333" r:id="rId6"/>
    <p:sldId id="334" r:id="rId7"/>
    <p:sldId id="335" r:id="rId8"/>
    <p:sldId id="387" r:id="rId9"/>
    <p:sldId id="388" r:id="rId10"/>
    <p:sldId id="389" r:id="rId11"/>
    <p:sldId id="390" r:id="rId12"/>
    <p:sldId id="391" r:id="rId13"/>
    <p:sldId id="392" r:id="rId14"/>
    <p:sldId id="393" r:id="rId15"/>
    <p:sldId id="394" r:id="rId16"/>
    <p:sldId id="395" r:id="rId17"/>
    <p:sldId id="396" r:id="rId18"/>
    <p:sldId id="397" r:id="rId19"/>
    <p:sldId id="398" r:id="rId20"/>
    <p:sldId id="399" r:id="rId21"/>
    <p:sldId id="400" r:id="rId22"/>
    <p:sldId id="401" r:id="rId23"/>
    <p:sldId id="402" r:id="rId24"/>
    <p:sldId id="403" r:id="rId25"/>
    <p:sldId id="404" r:id="rId26"/>
    <p:sldId id="405" r:id="rId27"/>
    <p:sldId id="406" r:id="rId28"/>
    <p:sldId id="407" r:id="rId29"/>
    <p:sldId id="408" r:id="rId30"/>
    <p:sldId id="409" r:id="rId31"/>
    <p:sldId id="410" r:id="rId32"/>
    <p:sldId id="411" r:id="rId33"/>
    <p:sldId id="412" r:id="rId34"/>
    <p:sldId id="413" r:id="rId35"/>
    <p:sldId id="414" r:id="rId36"/>
    <p:sldId id="415" r:id="rId37"/>
    <p:sldId id="416" r:id="rId38"/>
  </p:sldIdLst>
  <p:sldSz cx="9144000" cy="6858000" type="screen4x3"/>
  <p:notesSz cx="6858000" cy="9144000"/>
  <p:defaultTextStyle>
    <a:defPPr>
      <a:defRPr lang="zh-CN"/>
    </a:defPPr>
    <a:lvl1pPr algn="ctr"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ctr"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ctr"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ctr"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ctr"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CC"/>
    <a:srgbClr val="777777"/>
    <a:srgbClr val="CCFFFF"/>
    <a:srgbClr val="990000"/>
    <a:srgbClr val="000099"/>
    <a:srgbClr val="99FFCC"/>
    <a:srgbClr val="66FFFF"/>
    <a:srgbClr val="008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8" d="100"/>
          <a:sy n="108" d="100"/>
        </p:scale>
        <p:origin x="-1692"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46085125" cy="4608512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 Id="rId6" Type="http://schemas.openxmlformats.org/officeDocument/2006/relationships/image" Target="../media/image13.wmf"/><Relationship Id="rId5" Type="http://schemas.openxmlformats.org/officeDocument/2006/relationships/image" Target="../media/image12.wmf"/><Relationship Id="rId4"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 Id="rId6" Type="http://schemas.openxmlformats.org/officeDocument/2006/relationships/image" Target="../media/image20.wmf"/><Relationship Id="rId5" Type="http://schemas.openxmlformats.org/officeDocument/2006/relationships/image" Target="../media/image19.wmf"/><Relationship Id="rId4"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image" Target="../media/image23.wmf"/><Relationship Id="rId7" Type="http://schemas.openxmlformats.org/officeDocument/2006/relationships/image" Target="../media/image27.wmf"/><Relationship Id="rId2" Type="http://schemas.openxmlformats.org/officeDocument/2006/relationships/image" Target="../media/image15.wmf"/><Relationship Id="rId1" Type="http://schemas.openxmlformats.org/officeDocument/2006/relationships/image" Target="../media/image22.wmf"/><Relationship Id="rId6" Type="http://schemas.openxmlformats.org/officeDocument/2006/relationships/image" Target="../media/image26.wmf"/><Relationship Id="rId5" Type="http://schemas.openxmlformats.org/officeDocument/2006/relationships/image" Target="../media/image25.wmf"/><Relationship Id="rId4" Type="http://schemas.openxmlformats.org/officeDocument/2006/relationships/image" Target="../media/image24.wmf"/><Relationship Id="rId9" Type="http://schemas.openxmlformats.org/officeDocument/2006/relationships/image" Target="../media/image17.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3.wmf"/><Relationship Id="rId1" Type="http://schemas.openxmlformats.org/officeDocument/2006/relationships/image" Target="../media/image28.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image" Target="../media/image31.wmf"/><Relationship Id="rId7" Type="http://schemas.openxmlformats.org/officeDocument/2006/relationships/image" Target="../media/image35.wmf"/><Relationship Id="rId2" Type="http://schemas.openxmlformats.org/officeDocument/2006/relationships/image" Target="../media/image30.wmf"/><Relationship Id="rId1" Type="http://schemas.openxmlformats.org/officeDocument/2006/relationships/image" Target="../media/image29.wmf"/><Relationship Id="rId6" Type="http://schemas.openxmlformats.org/officeDocument/2006/relationships/image" Target="../media/image34.wmf"/><Relationship Id="rId5" Type="http://schemas.openxmlformats.org/officeDocument/2006/relationships/image" Target="../media/image33.wmf"/><Relationship Id="rId4" Type="http://schemas.openxmlformats.org/officeDocument/2006/relationships/image" Target="../media/image32.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30.wmf"/><Relationship Id="rId13" Type="http://schemas.openxmlformats.org/officeDocument/2006/relationships/image" Target="../media/image48.wmf"/><Relationship Id="rId3" Type="http://schemas.openxmlformats.org/officeDocument/2006/relationships/image" Target="../media/image39.wmf"/><Relationship Id="rId7" Type="http://schemas.openxmlformats.org/officeDocument/2006/relationships/image" Target="../media/image43.wmf"/><Relationship Id="rId12" Type="http://schemas.openxmlformats.org/officeDocument/2006/relationships/image" Target="../media/image47.wmf"/><Relationship Id="rId2" Type="http://schemas.openxmlformats.org/officeDocument/2006/relationships/image" Target="../media/image38.wmf"/><Relationship Id="rId1" Type="http://schemas.openxmlformats.org/officeDocument/2006/relationships/image" Target="../media/image37.wmf"/><Relationship Id="rId6" Type="http://schemas.openxmlformats.org/officeDocument/2006/relationships/image" Target="../media/image42.wmf"/><Relationship Id="rId11" Type="http://schemas.openxmlformats.org/officeDocument/2006/relationships/image" Target="../media/image46.wmf"/><Relationship Id="rId5" Type="http://schemas.openxmlformats.org/officeDocument/2006/relationships/image" Target="../media/image41.wmf"/><Relationship Id="rId10" Type="http://schemas.openxmlformats.org/officeDocument/2006/relationships/image" Target="../media/image45.wmf"/><Relationship Id="rId4" Type="http://schemas.openxmlformats.org/officeDocument/2006/relationships/image" Target="../media/image40.wmf"/><Relationship Id="rId9" Type="http://schemas.openxmlformats.org/officeDocument/2006/relationships/image" Target="../media/image44.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8.wmf"/><Relationship Id="rId1" Type="http://schemas.openxmlformats.org/officeDocument/2006/relationships/image" Target="../media/image49.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8.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 Id="rId5" Type="http://schemas.openxmlformats.org/officeDocument/2006/relationships/image" Target="../media/image59.wmf"/><Relationship Id="rId4" Type="http://schemas.openxmlformats.org/officeDocument/2006/relationships/image" Target="../media/image58.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71.wmf"/><Relationship Id="rId13" Type="http://schemas.openxmlformats.org/officeDocument/2006/relationships/image" Target="../media/image76.wmf"/><Relationship Id="rId3" Type="http://schemas.openxmlformats.org/officeDocument/2006/relationships/image" Target="../media/image66.wmf"/><Relationship Id="rId7" Type="http://schemas.openxmlformats.org/officeDocument/2006/relationships/image" Target="../media/image70.wmf"/><Relationship Id="rId12" Type="http://schemas.openxmlformats.org/officeDocument/2006/relationships/image" Target="../media/image75.wmf"/><Relationship Id="rId2" Type="http://schemas.openxmlformats.org/officeDocument/2006/relationships/image" Target="../media/image65.wmf"/><Relationship Id="rId1" Type="http://schemas.openxmlformats.org/officeDocument/2006/relationships/image" Target="../media/image64.wmf"/><Relationship Id="rId6" Type="http://schemas.openxmlformats.org/officeDocument/2006/relationships/image" Target="../media/image69.wmf"/><Relationship Id="rId11" Type="http://schemas.openxmlformats.org/officeDocument/2006/relationships/image" Target="../media/image74.wmf"/><Relationship Id="rId5" Type="http://schemas.openxmlformats.org/officeDocument/2006/relationships/image" Target="../media/image68.wmf"/><Relationship Id="rId15" Type="http://schemas.openxmlformats.org/officeDocument/2006/relationships/image" Target="../media/image78.wmf"/><Relationship Id="rId10" Type="http://schemas.openxmlformats.org/officeDocument/2006/relationships/image" Target="../media/image73.wmf"/><Relationship Id="rId4" Type="http://schemas.openxmlformats.org/officeDocument/2006/relationships/image" Target="../media/image67.wmf"/><Relationship Id="rId9" Type="http://schemas.openxmlformats.org/officeDocument/2006/relationships/image" Target="../media/image72.wmf"/><Relationship Id="rId14" Type="http://schemas.openxmlformats.org/officeDocument/2006/relationships/image" Target="../media/image77.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86.wmf"/><Relationship Id="rId13" Type="http://schemas.openxmlformats.org/officeDocument/2006/relationships/image" Target="../media/image91.wmf"/><Relationship Id="rId18" Type="http://schemas.openxmlformats.org/officeDocument/2006/relationships/image" Target="../media/image96.wmf"/><Relationship Id="rId3" Type="http://schemas.openxmlformats.org/officeDocument/2006/relationships/image" Target="../media/image81.wmf"/><Relationship Id="rId7" Type="http://schemas.openxmlformats.org/officeDocument/2006/relationships/image" Target="../media/image85.wmf"/><Relationship Id="rId12" Type="http://schemas.openxmlformats.org/officeDocument/2006/relationships/image" Target="../media/image90.wmf"/><Relationship Id="rId17" Type="http://schemas.openxmlformats.org/officeDocument/2006/relationships/image" Target="../media/image95.wmf"/><Relationship Id="rId2" Type="http://schemas.openxmlformats.org/officeDocument/2006/relationships/image" Target="../media/image80.wmf"/><Relationship Id="rId16" Type="http://schemas.openxmlformats.org/officeDocument/2006/relationships/image" Target="../media/image94.wmf"/><Relationship Id="rId1" Type="http://schemas.openxmlformats.org/officeDocument/2006/relationships/image" Target="../media/image79.wmf"/><Relationship Id="rId6" Type="http://schemas.openxmlformats.org/officeDocument/2006/relationships/image" Target="../media/image84.wmf"/><Relationship Id="rId11" Type="http://schemas.openxmlformats.org/officeDocument/2006/relationships/image" Target="../media/image89.wmf"/><Relationship Id="rId5" Type="http://schemas.openxmlformats.org/officeDocument/2006/relationships/image" Target="../media/image83.wmf"/><Relationship Id="rId15" Type="http://schemas.openxmlformats.org/officeDocument/2006/relationships/image" Target="../media/image93.wmf"/><Relationship Id="rId10" Type="http://schemas.openxmlformats.org/officeDocument/2006/relationships/image" Target="../media/image88.wmf"/><Relationship Id="rId4" Type="http://schemas.openxmlformats.org/officeDocument/2006/relationships/image" Target="../media/image82.wmf"/><Relationship Id="rId9" Type="http://schemas.openxmlformats.org/officeDocument/2006/relationships/image" Target="../media/image87.wmf"/><Relationship Id="rId14" Type="http://schemas.openxmlformats.org/officeDocument/2006/relationships/image" Target="../media/image92.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image" Target="../media/image97.wmf"/><Relationship Id="rId6" Type="http://schemas.openxmlformats.org/officeDocument/2006/relationships/image" Target="../media/image102.wmf"/><Relationship Id="rId5" Type="http://schemas.openxmlformats.org/officeDocument/2006/relationships/image" Target="../media/image101.wmf"/><Relationship Id="rId4" Type="http://schemas.openxmlformats.org/officeDocument/2006/relationships/image" Target="../media/image100.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05.wmf"/><Relationship Id="rId2" Type="http://schemas.openxmlformats.org/officeDocument/2006/relationships/image" Target="../media/image104.wmf"/><Relationship Id="rId1" Type="http://schemas.openxmlformats.org/officeDocument/2006/relationships/image" Target="../media/image103.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110.wmf"/><Relationship Id="rId1" Type="http://schemas.openxmlformats.org/officeDocument/2006/relationships/image" Target="../media/image109.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18.wmf"/><Relationship Id="rId3" Type="http://schemas.openxmlformats.org/officeDocument/2006/relationships/image" Target="../media/image113.wmf"/><Relationship Id="rId7" Type="http://schemas.openxmlformats.org/officeDocument/2006/relationships/image" Target="../media/image117.wmf"/><Relationship Id="rId12" Type="http://schemas.openxmlformats.org/officeDocument/2006/relationships/image" Target="../media/image76.wmf"/><Relationship Id="rId2" Type="http://schemas.openxmlformats.org/officeDocument/2006/relationships/image" Target="../media/image112.wmf"/><Relationship Id="rId1" Type="http://schemas.openxmlformats.org/officeDocument/2006/relationships/image" Target="../media/image111.wmf"/><Relationship Id="rId6" Type="http://schemas.openxmlformats.org/officeDocument/2006/relationships/image" Target="../media/image116.wmf"/><Relationship Id="rId11" Type="http://schemas.openxmlformats.org/officeDocument/2006/relationships/image" Target="../media/image77.wmf"/><Relationship Id="rId5" Type="http://schemas.openxmlformats.org/officeDocument/2006/relationships/image" Target="../media/image115.wmf"/><Relationship Id="rId10" Type="http://schemas.openxmlformats.org/officeDocument/2006/relationships/image" Target="../media/image66.wmf"/><Relationship Id="rId4" Type="http://schemas.openxmlformats.org/officeDocument/2006/relationships/image" Target="../media/image114.wmf"/><Relationship Id="rId9" Type="http://schemas.openxmlformats.org/officeDocument/2006/relationships/image" Target="../media/image119.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121.wmf"/><Relationship Id="rId1" Type="http://schemas.openxmlformats.org/officeDocument/2006/relationships/image" Target="../media/image120.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24.wmf"/><Relationship Id="rId2" Type="http://schemas.openxmlformats.org/officeDocument/2006/relationships/image" Target="../media/image123.wmf"/><Relationship Id="rId1" Type="http://schemas.openxmlformats.org/officeDocument/2006/relationships/image" Target="../media/image122.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33.wmf"/><Relationship Id="rId3" Type="http://schemas.openxmlformats.org/officeDocument/2006/relationships/image" Target="../media/image128.wmf"/><Relationship Id="rId7" Type="http://schemas.openxmlformats.org/officeDocument/2006/relationships/image" Target="../media/image132.wmf"/><Relationship Id="rId2" Type="http://schemas.openxmlformats.org/officeDocument/2006/relationships/image" Target="../media/image127.wmf"/><Relationship Id="rId1" Type="http://schemas.openxmlformats.org/officeDocument/2006/relationships/image" Target="../media/image126.wmf"/><Relationship Id="rId6" Type="http://schemas.openxmlformats.org/officeDocument/2006/relationships/image" Target="../media/image131.wmf"/><Relationship Id="rId5" Type="http://schemas.openxmlformats.org/officeDocument/2006/relationships/image" Target="../media/image130.wmf"/><Relationship Id="rId4" Type="http://schemas.openxmlformats.org/officeDocument/2006/relationships/image" Target="../media/image129.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36.wmf"/><Relationship Id="rId2" Type="http://schemas.openxmlformats.org/officeDocument/2006/relationships/image" Target="../media/image135.wmf"/><Relationship Id="rId1" Type="http://schemas.openxmlformats.org/officeDocument/2006/relationships/image" Target="../media/image134.wmf"/><Relationship Id="rId4" Type="http://schemas.openxmlformats.org/officeDocument/2006/relationships/image" Target="../media/image137.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45.wmf"/><Relationship Id="rId3" Type="http://schemas.openxmlformats.org/officeDocument/2006/relationships/image" Target="../media/image140.wmf"/><Relationship Id="rId7" Type="http://schemas.openxmlformats.org/officeDocument/2006/relationships/image" Target="../media/image144.wmf"/><Relationship Id="rId12" Type="http://schemas.openxmlformats.org/officeDocument/2006/relationships/image" Target="../media/image149.wmf"/><Relationship Id="rId2" Type="http://schemas.openxmlformats.org/officeDocument/2006/relationships/image" Target="../media/image139.wmf"/><Relationship Id="rId1" Type="http://schemas.openxmlformats.org/officeDocument/2006/relationships/image" Target="../media/image138.wmf"/><Relationship Id="rId6" Type="http://schemas.openxmlformats.org/officeDocument/2006/relationships/image" Target="../media/image143.wmf"/><Relationship Id="rId11" Type="http://schemas.openxmlformats.org/officeDocument/2006/relationships/image" Target="../media/image148.wmf"/><Relationship Id="rId5" Type="http://schemas.openxmlformats.org/officeDocument/2006/relationships/image" Target="../media/image142.wmf"/><Relationship Id="rId10" Type="http://schemas.openxmlformats.org/officeDocument/2006/relationships/image" Target="../media/image147.wmf"/><Relationship Id="rId4" Type="http://schemas.openxmlformats.org/officeDocument/2006/relationships/image" Target="../media/image141.wmf"/><Relationship Id="rId9" Type="http://schemas.openxmlformats.org/officeDocument/2006/relationships/image" Target="../media/image146.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52.wmf"/><Relationship Id="rId2" Type="http://schemas.openxmlformats.org/officeDocument/2006/relationships/image" Target="../media/image151.wmf"/><Relationship Id="rId1" Type="http://schemas.openxmlformats.org/officeDocument/2006/relationships/image" Target="../media/image150.wmf"/><Relationship Id="rId4" Type="http://schemas.openxmlformats.org/officeDocument/2006/relationships/image" Target="../media/image153.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56.wmf"/><Relationship Id="rId2" Type="http://schemas.openxmlformats.org/officeDocument/2006/relationships/image" Target="../media/image155.wmf"/><Relationship Id="rId1" Type="http://schemas.openxmlformats.org/officeDocument/2006/relationships/image" Target="../media/image154.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64.wmf"/><Relationship Id="rId3" Type="http://schemas.openxmlformats.org/officeDocument/2006/relationships/image" Target="../media/image159.wmf"/><Relationship Id="rId7" Type="http://schemas.openxmlformats.org/officeDocument/2006/relationships/image" Target="../media/image163.wmf"/><Relationship Id="rId2" Type="http://schemas.openxmlformats.org/officeDocument/2006/relationships/image" Target="../media/image158.wmf"/><Relationship Id="rId1" Type="http://schemas.openxmlformats.org/officeDocument/2006/relationships/image" Target="../media/image157.wmf"/><Relationship Id="rId6" Type="http://schemas.openxmlformats.org/officeDocument/2006/relationships/image" Target="../media/image162.wmf"/><Relationship Id="rId5" Type="http://schemas.openxmlformats.org/officeDocument/2006/relationships/image" Target="../media/image161.wmf"/><Relationship Id="rId4" Type="http://schemas.openxmlformats.org/officeDocument/2006/relationships/image" Target="../media/image160.wmf"/><Relationship Id="rId9" Type="http://schemas.openxmlformats.org/officeDocument/2006/relationships/image" Target="../media/image165.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68.wmf"/><Relationship Id="rId2" Type="http://schemas.openxmlformats.org/officeDocument/2006/relationships/image" Target="../media/image167.wmf"/><Relationship Id="rId1" Type="http://schemas.openxmlformats.org/officeDocument/2006/relationships/image" Target="../media/image166.wmf"/><Relationship Id="rId6" Type="http://schemas.openxmlformats.org/officeDocument/2006/relationships/image" Target="../media/image171.wmf"/><Relationship Id="rId5" Type="http://schemas.openxmlformats.org/officeDocument/2006/relationships/image" Target="../media/image170.wmf"/><Relationship Id="rId4" Type="http://schemas.openxmlformats.org/officeDocument/2006/relationships/image" Target="../media/image169.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74.wmf"/><Relationship Id="rId2" Type="http://schemas.openxmlformats.org/officeDocument/2006/relationships/image" Target="../media/image173.wmf"/><Relationship Id="rId1" Type="http://schemas.openxmlformats.org/officeDocument/2006/relationships/image" Target="../media/image172.wmf"/><Relationship Id="rId6" Type="http://schemas.openxmlformats.org/officeDocument/2006/relationships/image" Target="../media/image177.wmf"/><Relationship Id="rId5" Type="http://schemas.openxmlformats.org/officeDocument/2006/relationships/image" Target="../media/image176.wmf"/><Relationship Id="rId4" Type="http://schemas.openxmlformats.org/officeDocument/2006/relationships/image" Target="../media/image175.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179.wmf"/><Relationship Id="rId1" Type="http://schemas.openxmlformats.org/officeDocument/2006/relationships/image" Target="../media/image178.w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188.wmf"/><Relationship Id="rId3" Type="http://schemas.openxmlformats.org/officeDocument/2006/relationships/image" Target="../media/image183.wmf"/><Relationship Id="rId7" Type="http://schemas.openxmlformats.org/officeDocument/2006/relationships/image" Target="../media/image187.wmf"/><Relationship Id="rId2" Type="http://schemas.openxmlformats.org/officeDocument/2006/relationships/image" Target="../media/image182.wmf"/><Relationship Id="rId1" Type="http://schemas.openxmlformats.org/officeDocument/2006/relationships/image" Target="../media/image181.wmf"/><Relationship Id="rId6" Type="http://schemas.openxmlformats.org/officeDocument/2006/relationships/image" Target="../media/image186.wmf"/><Relationship Id="rId5" Type="http://schemas.openxmlformats.org/officeDocument/2006/relationships/image" Target="../media/image185.wmf"/><Relationship Id="rId4" Type="http://schemas.openxmlformats.org/officeDocument/2006/relationships/image" Target="../media/image184.wmf"/><Relationship Id="rId9" Type="http://schemas.openxmlformats.org/officeDocument/2006/relationships/image" Target="../media/image189.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92.wmf"/><Relationship Id="rId2" Type="http://schemas.openxmlformats.org/officeDocument/2006/relationships/image" Target="../media/image191.wmf"/><Relationship Id="rId1" Type="http://schemas.openxmlformats.org/officeDocument/2006/relationships/image" Target="../media/image190.wmf"/><Relationship Id="rId6" Type="http://schemas.openxmlformats.org/officeDocument/2006/relationships/image" Target="../media/image195.wmf"/><Relationship Id="rId5" Type="http://schemas.openxmlformats.org/officeDocument/2006/relationships/image" Target="../media/image194.wmf"/><Relationship Id="rId4" Type="http://schemas.openxmlformats.org/officeDocument/2006/relationships/image" Target="../media/image19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bodyPr>
          <a:lstStyle>
            <a:lvl1pPr algn="l">
              <a:defRPr sz="1200">
                <a:latin typeface="Times New Roman" charset="0"/>
                <a:ea typeface="宋体" charset="0"/>
                <a:cs typeface="宋体" charset="0"/>
              </a:defRPr>
            </a:lvl1pPr>
          </a:lstStyle>
          <a:p>
            <a:pPr>
              <a:defRPr/>
            </a:pPr>
            <a:endParaRPr lang="en-US" altLang="zh-CN"/>
          </a:p>
        </p:txBody>
      </p:sp>
      <p:sp>
        <p:nvSpPr>
          <p:cNvPr id="5427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bodyPr>
          <a:lstStyle>
            <a:lvl1pPr algn="r">
              <a:defRPr sz="1200">
                <a:latin typeface="Times New Roman" charset="0"/>
                <a:ea typeface="宋体" charset="0"/>
                <a:cs typeface="宋体" charset="0"/>
              </a:defRPr>
            </a:lvl1pPr>
          </a:lstStyle>
          <a:p>
            <a:pPr>
              <a:defRPr/>
            </a:pPr>
            <a:endParaRPr lang="en-US" altLang="zh-CN"/>
          </a:p>
        </p:txBody>
      </p:sp>
      <p:sp>
        <p:nvSpPr>
          <p:cNvPr id="399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427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endParaRPr lang="en-US" altLang="zh-CN" noProof="0" smtClean="0"/>
          </a:p>
          <a:p>
            <a:pPr lvl="1"/>
            <a:r>
              <a:rPr lang="zh-CN" altLang="en-US" noProof="0" smtClean="0"/>
              <a:t>第二级</a:t>
            </a:r>
            <a:endParaRPr lang="en-US" altLang="zh-CN" noProof="0" smtClean="0"/>
          </a:p>
          <a:p>
            <a:pPr lvl="2"/>
            <a:r>
              <a:rPr lang="zh-CN" altLang="en-US" noProof="0" smtClean="0"/>
              <a:t>第三级</a:t>
            </a:r>
            <a:endParaRPr lang="en-US" altLang="zh-CN" noProof="0" smtClean="0"/>
          </a:p>
          <a:p>
            <a:pPr lvl="3"/>
            <a:r>
              <a:rPr lang="zh-CN" altLang="en-US" noProof="0" smtClean="0"/>
              <a:t>第四级</a:t>
            </a:r>
            <a:endParaRPr lang="en-US" altLang="zh-CN" noProof="0" smtClean="0"/>
          </a:p>
          <a:p>
            <a:pPr lvl="4"/>
            <a:r>
              <a:rPr lang="zh-CN" altLang="en-US" noProof="0" smtClean="0"/>
              <a:t>第五级</a:t>
            </a:r>
          </a:p>
        </p:txBody>
      </p:sp>
      <p:sp>
        <p:nvSpPr>
          <p:cNvPr id="5427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b" anchorCtr="0" compatLnSpc="1">
            <a:prstTxWarp prst="textNoShape">
              <a:avLst/>
            </a:prstTxWarp>
          </a:bodyPr>
          <a:lstStyle>
            <a:lvl1pPr algn="l">
              <a:defRPr sz="1200">
                <a:latin typeface="Times New Roman" charset="0"/>
                <a:ea typeface="宋体" charset="0"/>
                <a:cs typeface="宋体" charset="0"/>
              </a:defRPr>
            </a:lvl1pPr>
          </a:lstStyle>
          <a:p>
            <a:pPr>
              <a:defRPr/>
            </a:pPr>
            <a:endParaRPr lang="en-US" altLang="zh-CN"/>
          </a:p>
        </p:txBody>
      </p:sp>
      <p:sp>
        <p:nvSpPr>
          <p:cNvPr id="5427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b" anchorCtr="0" compatLnSpc="1">
            <a:prstTxWarp prst="textNoShape">
              <a:avLst/>
            </a:prstTxWarp>
          </a:bodyPr>
          <a:lstStyle>
            <a:lvl1pPr algn="r">
              <a:defRPr sz="1200" smtClean="0"/>
            </a:lvl1pPr>
          </a:lstStyle>
          <a:p>
            <a:pPr>
              <a:defRPr/>
            </a:pPr>
            <a:fld id="{4E6CBF9C-0CB4-4BAB-A3DF-5999A7E6876D}"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charset="0"/>
        <a:ea typeface="宋体" charset="0"/>
        <a:cs typeface="宋体" charset="0"/>
      </a:defRPr>
    </a:lvl1pPr>
    <a:lvl2pPr marL="457200" algn="l" rtl="0" eaLnBrk="0" fontAlgn="base" hangingPunct="0">
      <a:spcBef>
        <a:spcPct val="30000"/>
      </a:spcBef>
      <a:spcAft>
        <a:spcPct val="0"/>
      </a:spcAft>
      <a:defRPr kumimoji="1" sz="1200" kern="1200">
        <a:solidFill>
          <a:schemeClr val="tx1"/>
        </a:solidFill>
        <a:latin typeface="Times New Roman" charset="0"/>
        <a:ea typeface="宋体" charset="0"/>
        <a:cs typeface="+mn-cs"/>
      </a:defRPr>
    </a:lvl2pPr>
    <a:lvl3pPr marL="914400" algn="l" rtl="0" eaLnBrk="0" fontAlgn="base" hangingPunct="0">
      <a:spcBef>
        <a:spcPct val="30000"/>
      </a:spcBef>
      <a:spcAft>
        <a:spcPct val="0"/>
      </a:spcAft>
      <a:defRPr kumimoji="1" sz="1200" kern="1200">
        <a:solidFill>
          <a:schemeClr val="tx1"/>
        </a:solidFill>
        <a:latin typeface="Times New Roman" charset="0"/>
        <a:ea typeface="宋体" charset="0"/>
        <a:cs typeface="+mn-cs"/>
      </a:defRPr>
    </a:lvl3pPr>
    <a:lvl4pPr marL="1371600" algn="l" rtl="0" eaLnBrk="0" fontAlgn="base" hangingPunct="0">
      <a:spcBef>
        <a:spcPct val="30000"/>
      </a:spcBef>
      <a:spcAft>
        <a:spcPct val="0"/>
      </a:spcAft>
      <a:defRPr kumimoji="1" sz="1200" kern="1200">
        <a:solidFill>
          <a:schemeClr val="tx1"/>
        </a:solidFill>
        <a:latin typeface="Times New Roman" charset="0"/>
        <a:ea typeface="宋体" charset="0"/>
        <a:cs typeface="+mn-cs"/>
      </a:defRPr>
    </a:lvl4pPr>
    <a:lvl5pPr marL="1828800" algn="l" rtl="0" eaLnBrk="0" fontAlgn="base" hangingPunct="0">
      <a:spcBef>
        <a:spcPct val="30000"/>
      </a:spcBef>
      <a:spcAft>
        <a:spcPct val="0"/>
      </a:spcAft>
      <a:defRPr kumimoji="1" sz="1200" kern="1200">
        <a:solidFill>
          <a:schemeClr val="tx1"/>
        </a:solidFill>
        <a:latin typeface="Times New Roman" charset="0"/>
        <a:ea typeface="宋体"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3701D39D-5A21-4E09-B0D0-DD15483A80F5}"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E662D93-9AD8-4433-AB7E-B721C624236B}"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33257A6D-B41F-4DB7-A1FE-10B31FFDCFB9}"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F717097B-83B9-485C-9E1C-EF15ECB5896D}"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F03436D3-1767-49D6-B3C1-004928E87CE0}"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3D7FBE54-08A7-4B4C-89F4-2C2636F536B3}"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407695AA-2C80-4895-BBA9-A30F4C7E9928}"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9FA69EE-A04C-43BF-BFF0-ED6D9B671025}"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C43C239-BAB3-4BF3-B4DF-6B2F09812517}"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本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79692C2-4A19-4CDF-A245-E4A3E1B3A8B0}"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本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0733C35-8E51-4685-8FE3-56F4AC27FA5A}"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32771"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bodyPr>
          <a:lstStyle>
            <a:lvl1pPr algn="l">
              <a:defRPr sz="1400">
                <a:latin typeface="Times New Roman" charset="0"/>
                <a:ea typeface="宋体" charset="0"/>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bodyPr>
          <a:lstStyle>
            <a:lvl1pPr>
              <a:defRPr sz="1400">
                <a:latin typeface="Times New Roman" charset="0"/>
                <a:ea typeface="宋体" charset="0"/>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bodyPr>
          <a:lstStyle>
            <a:lvl1pPr algn="r">
              <a:defRPr sz="1400" smtClean="0"/>
            </a:lvl1pPr>
          </a:lstStyle>
          <a:p>
            <a:pPr>
              <a:defRPr/>
            </a:pPr>
            <a:fld id="{555BD933-F0B6-4DC9-BF4B-A5127450484B}" type="slidenum">
              <a:rPr lang="en-US" altLang="zh-CN"/>
              <a:pPr>
                <a:defRPr/>
              </a:pPr>
              <a:t>‹#›</a:t>
            </a:fld>
            <a:endParaRPr lang="en-US" altLang="zh-CN"/>
          </a:p>
        </p:txBody>
      </p:sp>
      <p:sp>
        <p:nvSpPr>
          <p:cNvPr id="1031" name="Rectangle 7">
            <a:hlinkClick r:id="" action="ppaction://hlinkshowjump?jump=previousslide"/>
          </p:cNvPr>
          <p:cNvSpPr>
            <a:spLocks noChangeArrowheads="1"/>
          </p:cNvSpPr>
          <p:nvPr userDrawn="1"/>
        </p:nvSpPr>
        <p:spPr bwMode="auto">
          <a:xfrm>
            <a:off x="7308850" y="6669088"/>
            <a:ext cx="431800" cy="73025"/>
          </a:xfrm>
          <a:prstGeom prst="rect">
            <a:avLst/>
          </a:prstGeom>
          <a:noFill/>
          <a:ln>
            <a:noFill/>
          </a:ln>
          <a:effectLst/>
          <a:extLst>
            <a:ext uri="{909E8E84-426E-40dd-AFC4-6F175D3DCCD1}"/>
            <a:ext uri="{91240B29-F687-4f45-9708-019B960494DF}"/>
            <a:ext uri="{AF507438-7753-43e0-B8FC-AC1667EBCBE1}"/>
          </a:extLst>
        </p:spPr>
        <p:txBody>
          <a:bodyPr wrap="none" anchor="ctr"/>
          <a:lstStyle/>
          <a:p>
            <a:pPr>
              <a:defRPr/>
            </a:pPr>
            <a:endParaRPr lang="zh-CN" altLang="en-US">
              <a:latin typeface="Times New Roman" charset="0"/>
              <a:ea typeface="宋体" charset="0"/>
            </a:endParaRPr>
          </a:p>
        </p:txBody>
      </p:sp>
      <p:sp>
        <p:nvSpPr>
          <p:cNvPr id="1032" name="Rectangle 8"/>
          <p:cNvSpPr>
            <a:spLocks noChangeArrowheads="1"/>
          </p:cNvSpPr>
          <p:nvPr userDrawn="1"/>
        </p:nvSpPr>
        <p:spPr bwMode="auto">
          <a:xfrm>
            <a:off x="7773988" y="6669088"/>
            <a:ext cx="431800" cy="73025"/>
          </a:xfrm>
          <a:prstGeom prst="rect">
            <a:avLst/>
          </a:prstGeom>
          <a:noFill/>
          <a:ln>
            <a:noFill/>
          </a:ln>
          <a:effectLst/>
          <a:extLst>
            <a:ext uri="{909E8E84-426E-40dd-AFC4-6F175D3DCCD1}"/>
            <a:ext uri="{91240B29-F687-4f45-9708-019B960494DF}"/>
            <a:ext uri="{AF507438-7753-43e0-B8FC-AC1667EBCBE1}"/>
          </a:extLst>
        </p:spPr>
        <p:txBody>
          <a:bodyPr wrap="none" anchor="ctr"/>
          <a:lstStyle/>
          <a:p>
            <a:pPr>
              <a:defRPr/>
            </a:pPr>
            <a:endParaRPr lang="zh-CN" altLang="en-US">
              <a:latin typeface="Times New Roman" charset="0"/>
              <a:ea typeface="宋体" charset="0"/>
            </a:endParaRPr>
          </a:p>
        </p:txBody>
      </p:sp>
      <p:sp>
        <p:nvSpPr>
          <p:cNvPr id="1033" name="Rectangle 9">
            <a:hlinkClick r:id="" action="ppaction://hlinkshowjump?jump=nextslide"/>
          </p:cNvPr>
          <p:cNvSpPr>
            <a:spLocks noChangeArrowheads="1"/>
          </p:cNvSpPr>
          <p:nvPr userDrawn="1"/>
        </p:nvSpPr>
        <p:spPr bwMode="auto">
          <a:xfrm>
            <a:off x="8243888" y="6669088"/>
            <a:ext cx="431800" cy="73025"/>
          </a:xfrm>
          <a:prstGeom prst="rect">
            <a:avLst/>
          </a:prstGeom>
          <a:noFill/>
          <a:ln>
            <a:noFill/>
          </a:ln>
          <a:effectLst/>
          <a:extLst>
            <a:ext uri="{909E8E84-426E-40dd-AFC4-6F175D3DCCD1}"/>
            <a:ext uri="{91240B29-F687-4f45-9708-019B960494DF}"/>
            <a:ext uri="{AF507438-7753-43e0-B8FC-AC1667EBCBE1}"/>
          </a:extLst>
        </p:spPr>
        <p:txBody>
          <a:bodyPr wrap="none" anchor="ctr"/>
          <a:lstStyle/>
          <a:p>
            <a:pPr>
              <a:defRPr/>
            </a:pPr>
            <a:endParaRPr lang="zh-CN" altLang="en-US">
              <a:latin typeface="Times New Roman" charset="0"/>
              <a:ea typeface="宋体"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kumimoji="1" sz="5400">
          <a:solidFill>
            <a:schemeClr val="tx2"/>
          </a:solidFill>
          <a:latin typeface="Times New Roman" pitchFamily="18" charset="0"/>
          <a:ea typeface="隶书" pitchFamily="49" charset="-122"/>
          <a:cs typeface="+mj-cs"/>
        </a:defRPr>
      </a:lvl1pPr>
      <a:lvl2pPr algn="ctr" rtl="0" eaLnBrk="0" fontAlgn="base" hangingPunct="0">
        <a:spcBef>
          <a:spcPct val="0"/>
        </a:spcBef>
        <a:spcAft>
          <a:spcPct val="0"/>
        </a:spcAft>
        <a:defRPr kumimoji="1" sz="5400">
          <a:solidFill>
            <a:schemeClr val="tx2"/>
          </a:solidFill>
          <a:latin typeface="Times New Roman" charset="0"/>
          <a:ea typeface="隶书" pitchFamily="49" charset="-122"/>
          <a:cs typeface="宋体" charset="0"/>
        </a:defRPr>
      </a:lvl2pPr>
      <a:lvl3pPr algn="ctr" rtl="0" eaLnBrk="0" fontAlgn="base" hangingPunct="0">
        <a:spcBef>
          <a:spcPct val="0"/>
        </a:spcBef>
        <a:spcAft>
          <a:spcPct val="0"/>
        </a:spcAft>
        <a:defRPr kumimoji="1" sz="5400">
          <a:solidFill>
            <a:schemeClr val="tx2"/>
          </a:solidFill>
          <a:latin typeface="Times New Roman" charset="0"/>
          <a:ea typeface="隶书" pitchFamily="49" charset="-122"/>
          <a:cs typeface="宋体" charset="0"/>
        </a:defRPr>
      </a:lvl3pPr>
      <a:lvl4pPr algn="ctr" rtl="0" eaLnBrk="0" fontAlgn="base" hangingPunct="0">
        <a:spcBef>
          <a:spcPct val="0"/>
        </a:spcBef>
        <a:spcAft>
          <a:spcPct val="0"/>
        </a:spcAft>
        <a:defRPr kumimoji="1" sz="5400">
          <a:solidFill>
            <a:schemeClr val="tx2"/>
          </a:solidFill>
          <a:latin typeface="Times New Roman" charset="0"/>
          <a:ea typeface="隶书" pitchFamily="49" charset="-122"/>
          <a:cs typeface="宋体" charset="0"/>
        </a:defRPr>
      </a:lvl4pPr>
      <a:lvl5pPr algn="ctr" rtl="0" eaLnBrk="0" fontAlgn="base" hangingPunct="0">
        <a:spcBef>
          <a:spcPct val="0"/>
        </a:spcBef>
        <a:spcAft>
          <a:spcPct val="0"/>
        </a:spcAft>
        <a:defRPr kumimoji="1" sz="5400">
          <a:solidFill>
            <a:schemeClr val="tx2"/>
          </a:solidFill>
          <a:latin typeface="Times New Roman" charset="0"/>
          <a:ea typeface="隶书" pitchFamily="49" charset="-122"/>
          <a:cs typeface="宋体" charset="0"/>
        </a:defRPr>
      </a:lvl5pPr>
      <a:lvl6pPr marL="457200" algn="ctr" rtl="0" fontAlgn="base">
        <a:spcBef>
          <a:spcPct val="0"/>
        </a:spcBef>
        <a:spcAft>
          <a:spcPct val="0"/>
        </a:spcAft>
        <a:defRPr kumimoji="1" sz="4400">
          <a:solidFill>
            <a:schemeClr val="tx2"/>
          </a:solidFill>
          <a:latin typeface="Times New Roman" charset="0"/>
          <a:ea typeface="宋体" charset="0"/>
          <a:cs typeface="宋体" charset="0"/>
        </a:defRPr>
      </a:lvl6pPr>
      <a:lvl7pPr marL="914400" algn="ctr" rtl="0" fontAlgn="base">
        <a:spcBef>
          <a:spcPct val="0"/>
        </a:spcBef>
        <a:spcAft>
          <a:spcPct val="0"/>
        </a:spcAft>
        <a:defRPr kumimoji="1" sz="4400">
          <a:solidFill>
            <a:schemeClr val="tx2"/>
          </a:solidFill>
          <a:latin typeface="Times New Roman" charset="0"/>
          <a:ea typeface="宋体" charset="0"/>
          <a:cs typeface="宋体" charset="0"/>
        </a:defRPr>
      </a:lvl7pPr>
      <a:lvl8pPr marL="1371600" algn="ctr" rtl="0" fontAlgn="base">
        <a:spcBef>
          <a:spcPct val="0"/>
        </a:spcBef>
        <a:spcAft>
          <a:spcPct val="0"/>
        </a:spcAft>
        <a:defRPr kumimoji="1" sz="4400">
          <a:solidFill>
            <a:schemeClr val="tx2"/>
          </a:solidFill>
          <a:latin typeface="Times New Roman" charset="0"/>
          <a:ea typeface="宋体" charset="0"/>
          <a:cs typeface="宋体" charset="0"/>
        </a:defRPr>
      </a:lvl8pPr>
      <a:lvl9pPr marL="1828800" algn="ctr" rtl="0" fontAlgn="base">
        <a:spcBef>
          <a:spcPct val="0"/>
        </a:spcBef>
        <a:spcAft>
          <a:spcPct val="0"/>
        </a:spcAft>
        <a:defRPr kumimoji="1" sz="4400">
          <a:solidFill>
            <a:schemeClr val="tx2"/>
          </a:solidFill>
          <a:latin typeface="Times New Roman" charset="0"/>
          <a:ea typeface="宋体" charset="0"/>
          <a:cs typeface="宋体" charset="0"/>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slide" Target="slide5.xml"/><Relationship Id="rId1" Type="http://schemas.openxmlformats.org/officeDocument/2006/relationships/slideLayout" Target="../slideLayouts/slideLayout7.xml"/><Relationship Id="rId4" Type="http://schemas.openxmlformats.org/officeDocument/2006/relationships/slide" Target="slide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oleObject" Target="../embeddings/oleObject1.bin"/><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2.v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3.v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image" Target="../media/image14.png"/><Relationship Id="rId7"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7.bin"/><Relationship Id="rId5" Type="http://schemas.openxmlformats.org/officeDocument/2006/relationships/oleObject" Target="../embeddings/oleObject6.bin"/><Relationship Id="rId4" Type="http://schemas.openxmlformats.org/officeDocument/2006/relationships/oleObject" Target="../embeddings/oleObject5.bin"/><Relationship Id="rId9" Type="http://schemas.openxmlformats.org/officeDocument/2006/relationships/oleObject" Target="../embeddings/oleObject10.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oleObject" Target="../embeddings/oleObject20.bin"/><Relationship Id="rId18" Type="http://schemas.openxmlformats.org/officeDocument/2006/relationships/oleObject" Target="../embeddings/oleObject25.bin"/><Relationship Id="rId3" Type="http://schemas.openxmlformats.org/officeDocument/2006/relationships/oleObject" Target="../embeddings/oleObject11.bin"/><Relationship Id="rId7" Type="http://schemas.openxmlformats.org/officeDocument/2006/relationships/oleObject" Target="../embeddings/oleObject15.bin"/><Relationship Id="rId12" Type="http://schemas.openxmlformats.org/officeDocument/2006/relationships/oleObject" Target="../embeddings/oleObject19.bin"/><Relationship Id="rId17" Type="http://schemas.openxmlformats.org/officeDocument/2006/relationships/oleObject" Target="../embeddings/oleObject24.bin"/><Relationship Id="rId2" Type="http://schemas.openxmlformats.org/officeDocument/2006/relationships/slideLayout" Target="../slideLayouts/slideLayout7.xml"/><Relationship Id="rId16" Type="http://schemas.openxmlformats.org/officeDocument/2006/relationships/oleObject" Target="../embeddings/oleObject23.bin"/><Relationship Id="rId1" Type="http://schemas.openxmlformats.org/officeDocument/2006/relationships/vmlDrawing" Target="../drawings/vmlDrawing5.vml"/><Relationship Id="rId6" Type="http://schemas.openxmlformats.org/officeDocument/2006/relationships/oleObject" Target="../embeddings/oleObject14.bin"/><Relationship Id="rId11" Type="http://schemas.openxmlformats.org/officeDocument/2006/relationships/oleObject" Target="../embeddings/oleObject18.bin"/><Relationship Id="rId5" Type="http://schemas.openxmlformats.org/officeDocument/2006/relationships/oleObject" Target="../embeddings/oleObject13.bin"/><Relationship Id="rId15" Type="http://schemas.openxmlformats.org/officeDocument/2006/relationships/oleObject" Target="../embeddings/oleObject22.bin"/><Relationship Id="rId10" Type="http://schemas.openxmlformats.org/officeDocument/2006/relationships/oleObject" Target="../embeddings/oleObject17.bin"/><Relationship Id="rId4" Type="http://schemas.openxmlformats.org/officeDocument/2006/relationships/oleObject" Target="../embeddings/oleObject12.bin"/><Relationship Id="rId9" Type="http://schemas.openxmlformats.org/officeDocument/2006/relationships/image" Target="../media/image21.png"/><Relationship Id="rId14" Type="http://schemas.openxmlformats.org/officeDocument/2006/relationships/oleObject" Target="../embeddings/oleObject21.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oleObject" Target="../embeddings/oleObject36.bin"/><Relationship Id="rId3" Type="http://schemas.openxmlformats.org/officeDocument/2006/relationships/oleObject" Target="../embeddings/oleObject26.bin"/><Relationship Id="rId7" Type="http://schemas.openxmlformats.org/officeDocument/2006/relationships/oleObject" Target="../embeddings/oleObject30.bin"/><Relationship Id="rId12" Type="http://schemas.openxmlformats.org/officeDocument/2006/relationships/oleObject" Target="../embeddings/oleObject35.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29.bin"/><Relationship Id="rId11" Type="http://schemas.openxmlformats.org/officeDocument/2006/relationships/oleObject" Target="../embeddings/oleObject34.bin"/><Relationship Id="rId5" Type="http://schemas.openxmlformats.org/officeDocument/2006/relationships/oleObject" Target="../embeddings/oleObject28.bin"/><Relationship Id="rId10" Type="http://schemas.openxmlformats.org/officeDocument/2006/relationships/oleObject" Target="../embeddings/oleObject33.bin"/><Relationship Id="rId4" Type="http://schemas.openxmlformats.org/officeDocument/2006/relationships/oleObject" Target="../embeddings/oleObject27.bin"/><Relationship Id="rId9" Type="http://schemas.openxmlformats.org/officeDocument/2006/relationships/oleObject" Target="../embeddings/oleObject32.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7.xml"/><Relationship Id="rId1" Type="http://schemas.openxmlformats.org/officeDocument/2006/relationships/vmlDrawing" Target="../drawings/vmlDrawing7.vml"/><Relationship Id="rId5" Type="http://schemas.openxmlformats.org/officeDocument/2006/relationships/oleObject" Target="../embeddings/oleObject39.bin"/><Relationship Id="rId4" Type="http://schemas.openxmlformats.org/officeDocument/2006/relationships/oleObject" Target="../embeddings/oleObject38.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oleObject" Target="../embeddings/oleObject50.bin"/><Relationship Id="rId18" Type="http://schemas.openxmlformats.org/officeDocument/2006/relationships/oleObject" Target="../embeddings/oleObject55.bin"/><Relationship Id="rId3" Type="http://schemas.openxmlformats.org/officeDocument/2006/relationships/oleObject" Target="../embeddings/oleObject40.bin"/><Relationship Id="rId7" Type="http://schemas.openxmlformats.org/officeDocument/2006/relationships/oleObject" Target="../embeddings/oleObject44.bin"/><Relationship Id="rId12" Type="http://schemas.openxmlformats.org/officeDocument/2006/relationships/oleObject" Target="../embeddings/oleObject49.bin"/><Relationship Id="rId17" Type="http://schemas.openxmlformats.org/officeDocument/2006/relationships/oleObject" Target="../embeddings/oleObject54.bin"/><Relationship Id="rId2" Type="http://schemas.openxmlformats.org/officeDocument/2006/relationships/slideLayout" Target="../slideLayouts/slideLayout7.xml"/><Relationship Id="rId16" Type="http://schemas.openxmlformats.org/officeDocument/2006/relationships/oleObject" Target="../embeddings/oleObject53.bin"/><Relationship Id="rId20" Type="http://schemas.openxmlformats.org/officeDocument/2006/relationships/oleObject" Target="../embeddings/oleObject57.bin"/><Relationship Id="rId1" Type="http://schemas.openxmlformats.org/officeDocument/2006/relationships/vmlDrawing" Target="../drawings/vmlDrawing8.vml"/><Relationship Id="rId6" Type="http://schemas.openxmlformats.org/officeDocument/2006/relationships/oleObject" Target="../embeddings/oleObject43.bin"/><Relationship Id="rId11" Type="http://schemas.openxmlformats.org/officeDocument/2006/relationships/oleObject" Target="../embeddings/oleObject48.bin"/><Relationship Id="rId5" Type="http://schemas.openxmlformats.org/officeDocument/2006/relationships/oleObject" Target="../embeddings/oleObject42.bin"/><Relationship Id="rId15" Type="http://schemas.openxmlformats.org/officeDocument/2006/relationships/oleObject" Target="../embeddings/oleObject52.bin"/><Relationship Id="rId10" Type="http://schemas.openxmlformats.org/officeDocument/2006/relationships/oleObject" Target="../embeddings/oleObject47.bin"/><Relationship Id="rId19" Type="http://schemas.openxmlformats.org/officeDocument/2006/relationships/oleObject" Target="../embeddings/oleObject56.bin"/><Relationship Id="rId4" Type="http://schemas.openxmlformats.org/officeDocument/2006/relationships/oleObject" Target="../embeddings/oleObject41.bin"/><Relationship Id="rId9" Type="http://schemas.openxmlformats.org/officeDocument/2006/relationships/oleObject" Target="../embeddings/oleObject46.bin"/><Relationship Id="rId14" Type="http://schemas.openxmlformats.org/officeDocument/2006/relationships/oleObject" Target="../embeddings/oleObject51.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63.bin"/><Relationship Id="rId13" Type="http://schemas.openxmlformats.org/officeDocument/2006/relationships/oleObject" Target="../embeddings/oleObject68.bin"/><Relationship Id="rId3" Type="http://schemas.openxmlformats.org/officeDocument/2006/relationships/oleObject" Target="../embeddings/oleObject58.bin"/><Relationship Id="rId7" Type="http://schemas.openxmlformats.org/officeDocument/2006/relationships/oleObject" Target="../embeddings/oleObject62.bin"/><Relationship Id="rId12" Type="http://schemas.openxmlformats.org/officeDocument/2006/relationships/oleObject" Target="../embeddings/oleObject67.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61.bin"/><Relationship Id="rId11" Type="http://schemas.openxmlformats.org/officeDocument/2006/relationships/oleObject" Target="../embeddings/oleObject66.bin"/><Relationship Id="rId5" Type="http://schemas.openxmlformats.org/officeDocument/2006/relationships/oleObject" Target="../embeddings/oleObject60.bin"/><Relationship Id="rId15" Type="http://schemas.openxmlformats.org/officeDocument/2006/relationships/oleObject" Target="../embeddings/oleObject70.bin"/><Relationship Id="rId10" Type="http://schemas.openxmlformats.org/officeDocument/2006/relationships/oleObject" Target="../embeddings/oleObject65.bin"/><Relationship Id="rId4" Type="http://schemas.openxmlformats.org/officeDocument/2006/relationships/oleObject" Target="../embeddings/oleObject59.bin"/><Relationship Id="rId9" Type="http://schemas.openxmlformats.org/officeDocument/2006/relationships/oleObject" Target="../embeddings/oleObject64.bin"/><Relationship Id="rId14" Type="http://schemas.openxmlformats.org/officeDocument/2006/relationships/oleObject" Target="../embeddings/oleObject69.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Layout" Target="../slideLayouts/slideLayout7.xml"/><Relationship Id="rId1" Type="http://schemas.openxmlformats.org/officeDocument/2006/relationships/vmlDrawing" Target="../drawings/vmlDrawing10.vml"/><Relationship Id="rId5" Type="http://schemas.openxmlformats.org/officeDocument/2006/relationships/oleObject" Target="../embeddings/oleObject73.bin"/><Relationship Id="rId4" Type="http://schemas.openxmlformats.org/officeDocument/2006/relationships/oleObject" Target="../embeddings/oleObject72.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75.bin"/><Relationship Id="rId3" Type="http://schemas.openxmlformats.org/officeDocument/2006/relationships/image" Target="../media/image51.wmf"/><Relationship Id="rId7" Type="http://schemas.openxmlformats.org/officeDocument/2006/relationships/oleObject" Target="../embeddings/oleObject74.bin"/><Relationship Id="rId2" Type="http://schemas.openxmlformats.org/officeDocument/2006/relationships/slideLayout" Target="../slideLayouts/slideLayout1.xml"/><Relationship Id="rId1" Type="http://schemas.openxmlformats.org/officeDocument/2006/relationships/vmlDrawing" Target="../drawings/vmlDrawing11.vml"/><Relationship Id="rId6" Type="http://schemas.openxmlformats.org/officeDocument/2006/relationships/image" Target="../media/image54.emf"/><Relationship Id="rId5" Type="http://schemas.openxmlformats.org/officeDocument/2006/relationships/image" Target="../media/image53.emf"/><Relationship Id="rId4" Type="http://schemas.openxmlformats.org/officeDocument/2006/relationships/image" Target="../media/image52.e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77.bin"/><Relationship Id="rId3" Type="http://schemas.openxmlformats.org/officeDocument/2006/relationships/image" Target="../media/image60.emf"/><Relationship Id="rId7" Type="http://schemas.openxmlformats.org/officeDocument/2006/relationships/image" Target="../media/image63.emf"/><Relationship Id="rId2" Type="http://schemas.openxmlformats.org/officeDocument/2006/relationships/slideLayout" Target="../slideLayouts/slideLayout1.xml"/><Relationship Id="rId1" Type="http://schemas.openxmlformats.org/officeDocument/2006/relationships/vmlDrawing" Target="../drawings/vmlDrawing12.vml"/><Relationship Id="rId6" Type="http://schemas.openxmlformats.org/officeDocument/2006/relationships/image" Target="../media/image62.emf"/><Relationship Id="rId11" Type="http://schemas.openxmlformats.org/officeDocument/2006/relationships/oleObject" Target="../embeddings/oleObject80.bin"/><Relationship Id="rId5" Type="http://schemas.openxmlformats.org/officeDocument/2006/relationships/image" Target="../media/image61.emf"/><Relationship Id="rId10" Type="http://schemas.openxmlformats.org/officeDocument/2006/relationships/oleObject" Target="../embeddings/oleObject79.bin"/><Relationship Id="rId4" Type="http://schemas.openxmlformats.org/officeDocument/2006/relationships/oleObject" Target="../embeddings/oleObject76.bin"/><Relationship Id="rId9" Type="http://schemas.openxmlformats.org/officeDocument/2006/relationships/oleObject" Target="../embeddings/oleObject78.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86.bin"/><Relationship Id="rId13" Type="http://schemas.openxmlformats.org/officeDocument/2006/relationships/oleObject" Target="../embeddings/oleObject91.bin"/><Relationship Id="rId18" Type="http://schemas.openxmlformats.org/officeDocument/2006/relationships/oleObject" Target="../embeddings/oleObject96.bin"/><Relationship Id="rId3" Type="http://schemas.openxmlformats.org/officeDocument/2006/relationships/oleObject" Target="../embeddings/oleObject81.bin"/><Relationship Id="rId21" Type="http://schemas.openxmlformats.org/officeDocument/2006/relationships/oleObject" Target="../embeddings/oleObject99.bin"/><Relationship Id="rId7" Type="http://schemas.openxmlformats.org/officeDocument/2006/relationships/oleObject" Target="../embeddings/oleObject85.bin"/><Relationship Id="rId12" Type="http://schemas.openxmlformats.org/officeDocument/2006/relationships/oleObject" Target="../embeddings/oleObject90.bin"/><Relationship Id="rId17" Type="http://schemas.openxmlformats.org/officeDocument/2006/relationships/oleObject" Target="../embeddings/oleObject95.bin"/><Relationship Id="rId2" Type="http://schemas.openxmlformats.org/officeDocument/2006/relationships/slideLayout" Target="../slideLayouts/slideLayout7.xml"/><Relationship Id="rId16" Type="http://schemas.openxmlformats.org/officeDocument/2006/relationships/oleObject" Target="../embeddings/oleObject94.bin"/><Relationship Id="rId20" Type="http://schemas.openxmlformats.org/officeDocument/2006/relationships/oleObject" Target="../embeddings/oleObject98.bin"/><Relationship Id="rId1" Type="http://schemas.openxmlformats.org/officeDocument/2006/relationships/vmlDrawing" Target="../drawings/vmlDrawing13.vml"/><Relationship Id="rId6" Type="http://schemas.openxmlformats.org/officeDocument/2006/relationships/oleObject" Target="../embeddings/oleObject84.bin"/><Relationship Id="rId11" Type="http://schemas.openxmlformats.org/officeDocument/2006/relationships/oleObject" Target="../embeddings/oleObject89.bin"/><Relationship Id="rId5" Type="http://schemas.openxmlformats.org/officeDocument/2006/relationships/oleObject" Target="../embeddings/oleObject83.bin"/><Relationship Id="rId15" Type="http://schemas.openxmlformats.org/officeDocument/2006/relationships/oleObject" Target="../embeddings/oleObject93.bin"/><Relationship Id="rId23" Type="http://schemas.openxmlformats.org/officeDocument/2006/relationships/oleObject" Target="../embeddings/oleObject101.bin"/><Relationship Id="rId10" Type="http://schemas.openxmlformats.org/officeDocument/2006/relationships/oleObject" Target="../embeddings/oleObject88.bin"/><Relationship Id="rId19" Type="http://schemas.openxmlformats.org/officeDocument/2006/relationships/oleObject" Target="../embeddings/oleObject97.bin"/><Relationship Id="rId4" Type="http://schemas.openxmlformats.org/officeDocument/2006/relationships/oleObject" Target="../embeddings/oleObject82.bin"/><Relationship Id="rId9" Type="http://schemas.openxmlformats.org/officeDocument/2006/relationships/oleObject" Target="../embeddings/oleObject87.bin"/><Relationship Id="rId14" Type="http://schemas.openxmlformats.org/officeDocument/2006/relationships/oleObject" Target="../embeddings/oleObject92.bin"/><Relationship Id="rId22" Type="http://schemas.openxmlformats.org/officeDocument/2006/relationships/oleObject" Target="../embeddings/oleObject100.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07.bin"/><Relationship Id="rId13" Type="http://schemas.openxmlformats.org/officeDocument/2006/relationships/oleObject" Target="../embeddings/oleObject112.bin"/><Relationship Id="rId18" Type="http://schemas.openxmlformats.org/officeDocument/2006/relationships/oleObject" Target="../embeddings/oleObject117.bin"/><Relationship Id="rId3" Type="http://schemas.openxmlformats.org/officeDocument/2006/relationships/oleObject" Target="../embeddings/oleObject102.bin"/><Relationship Id="rId7" Type="http://schemas.openxmlformats.org/officeDocument/2006/relationships/oleObject" Target="../embeddings/oleObject106.bin"/><Relationship Id="rId12" Type="http://schemas.openxmlformats.org/officeDocument/2006/relationships/oleObject" Target="../embeddings/oleObject111.bin"/><Relationship Id="rId17" Type="http://schemas.openxmlformats.org/officeDocument/2006/relationships/oleObject" Target="../embeddings/oleObject116.bin"/><Relationship Id="rId2" Type="http://schemas.openxmlformats.org/officeDocument/2006/relationships/slideLayout" Target="../slideLayouts/slideLayout7.xml"/><Relationship Id="rId16" Type="http://schemas.openxmlformats.org/officeDocument/2006/relationships/oleObject" Target="../embeddings/oleObject115.bin"/><Relationship Id="rId20" Type="http://schemas.openxmlformats.org/officeDocument/2006/relationships/oleObject" Target="../embeddings/oleObject119.bin"/><Relationship Id="rId1" Type="http://schemas.openxmlformats.org/officeDocument/2006/relationships/vmlDrawing" Target="../drawings/vmlDrawing14.vml"/><Relationship Id="rId6" Type="http://schemas.openxmlformats.org/officeDocument/2006/relationships/oleObject" Target="../embeddings/oleObject105.bin"/><Relationship Id="rId11" Type="http://schemas.openxmlformats.org/officeDocument/2006/relationships/oleObject" Target="../embeddings/oleObject110.bin"/><Relationship Id="rId5" Type="http://schemas.openxmlformats.org/officeDocument/2006/relationships/oleObject" Target="../embeddings/oleObject104.bin"/><Relationship Id="rId15" Type="http://schemas.openxmlformats.org/officeDocument/2006/relationships/oleObject" Target="../embeddings/oleObject114.bin"/><Relationship Id="rId10" Type="http://schemas.openxmlformats.org/officeDocument/2006/relationships/oleObject" Target="../embeddings/oleObject109.bin"/><Relationship Id="rId19" Type="http://schemas.openxmlformats.org/officeDocument/2006/relationships/oleObject" Target="../embeddings/oleObject118.bin"/><Relationship Id="rId4" Type="http://schemas.openxmlformats.org/officeDocument/2006/relationships/oleObject" Target="../embeddings/oleObject103.bin"/><Relationship Id="rId9" Type="http://schemas.openxmlformats.org/officeDocument/2006/relationships/oleObject" Target="../embeddings/oleObject108.bin"/><Relationship Id="rId14" Type="http://schemas.openxmlformats.org/officeDocument/2006/relationships/oleObject" Target="../embeddings/oleObject113.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25.bin"/><Relationship Id="rId3" Type="http://schemas.openxmlformats.org/officeDocument/2006/relationships/oleObject" Target="../embeddings/oleObject120.bin"/><Relationship Id="rId7" Type="http://schemas.openxmlformats.org/officeDocument/2006/relationships/oleObject" Target="../embeddings/oleObject124.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oleObject" Target="../embeddings/oleObject123.bin"/><Relationship Id="rId5" Type="http://schemas.openxmlformats.org/officeDocument/2006/relationships/oleObject" Target="../embeddings/oleObject122.bin"/><Relationship Id="rId4" Type="http://schemas.openxmlformats.org/officeDocument/2006/relationships/oleObject" Target="../embeddings/oleObject121.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28.bin"/><Relationship Id="rId3" Type="http://schemas.openxmlformats.org/officeDocument/2006/relationships/image" Target="../media/image106.jpeg"/><Relationship Id="rId7" Type="http://schemas.openxmlformats.org/officeDocument/2006/relationships/oleObject" Target="../embeddings/oleObject127.bin"/><Relationship Id="rId2" Type="http://schemas.openxmlformats.org/officeDocument/2006/relationships/slideLayout" Target="../slideLayouts/slideLayout4.xml"/><Relationship Id="rId1" Type="http://schemas.openxmlformats.org/officeDocument/2006/relationships/vmlDrawing" Target="../drawings/vmlDrawing16.vml"/><Relationship Id="rId6" Type="http://schemas.openxmlformats.org/officeDocument/2006/relationships/oleObject" Target="../embeddings/oleObject126.bin"/><Relationship Id="rId5" Type="http://schemas.openxmlformats.org/officeDocument/2006/relationships/image" Target="../media/image108.jpeg"/><Relationship Id="rId4" Type="http://schemas.openxmlformats.org/officeDocument/2006/relationships/image" Target="../media/image107.jpeg"/></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29.bin"/><Relationship Id="rId2" Type="http://schemas.openxmlformats.org/officeDocument/2006/relationships/slideLayout" Target="../slideLayouts/slideLayout7.xml"/><Relationship Id="rId1" Type="http://schemas.openxmlformats.org/officeDocument/2006/relationships/vmlDrawing" Target="../drawings/vmlDrawing17.vml"/><Relationship Id="rId4" Type="http://schemas.openxmlformats.org/officeDocument/2006/relationships/oleObject" Target="../embeddings/oleObject130.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36.bin"/><Relationship Id="rId13" Type="http://schemas.openxmlformats.org/officeDocument/2006/relationships/oleObject" Target="../embeddings/oleObject141.bin"/><Relationship Id="rId3" Type="http://schemas.openxmlformats.org/officeDocument/2006/relationships/oleObject" Target="../embeddings/oleObject131.bin"/><Relationship Id="rId7" Type="http://schemas.openxmlformats.org/officeDocument/2006/relationships/oleObject" Target="../embeddings/oleObject135.bin"/><Relationship Id="rId12" Type="http://schemas.openxmlformats.org/officeDocument/2006/relationships/oleObject" Target="../embeddings/oleObject140.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oleObject" Target="../embeddings/oleObject134.bin"/><Relationship Id="rId11" Type="http://schemas.openxmlformats.org/officeDocument/2006/relationships/oleObject" Target="../embeddings/oleObject139.bin"/><Relationship Id="rId5" Type="http://schemas.openxmlformats.org/officeDocument/2006/relationships/oleObject" Target="../embeddings/oleObject133.bin"/><Relationship Id="rId10" Type="http://schemas.openxmlformats.org/officeDocument/2006/relationships/oleObject" Target="../embeddings/oleObject138.bin"/><Relationship Id="rId4" Type="http://schemas.openxmlformats.org/officeDocument/2006/relationships/oleObject" Target="../embeddings/oleObject132.bin"/><Relationship Id="rId9" Type="http://schemas.openxmlformats.org/officeDocument/2006/relationships/oleObject" Target="../embeddings/oleObject137.bin"/><Relationship Id="rId14" Type="http://schemas.openxmlformats.org/officeDocument/2006/relationships/oleObject" Target="../embeddings/oleObject142.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43.bin"/><Relationship Id="rId2" Type="http://schemas.openxmlformats.org/officeDocument/2006/relationships/slideLayout" Target="../slideLayouts/slideLayout7.xml"/><Relationship Id="rId1" Type="http://schemas.openxmlformats.org/officeDocument/2006/relationships/vmlDrawing" Target="../drawings/vmlDrawing19.vml"/><Relationship Id="rId4" Type="http://schemas.openxmlformats.org/officeDocument/2006/relationships/oleObject" Target="../embeddings/oleObject144.bin"/></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45.bin"/><Relationship Id="rId7" Type="http://schemas.openxmlformats.org/officeDocument/2006/relationships/oleObject" Target="../embeddings/oleObject147.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146.bin"/><Relationship Id="rId5" Type="http://schemas.openxmlformats.org/officeDocument/2006/relationships/image" Target="../media/image125.jpeg"/><Relationship Id="rId4" Type="http://schemas.openxmlformats.org/officeDocument/2006/relationships/image" Target="../media/image108.jpeg"/></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53.bin"/><Relationship Id="rId3" Type="http://schemas.openxmlformats.org/officeDocument/2006/relationships/oleObject" Target="../embeddings/oleObject148.bin"/><Relationship Id="rId7" Type="http://schemas.openxmlformats.org/officeDocument/2006/relationships/oleObject" Target="../embeddings/oleObject152.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oleObject" Target="../embeddings/oleObject151.bin"/><Relationship Id="rId5" Type="http://schemas.openxmlformats.org/officeDocument/2006/relationships/oleObject" Target="../embeddings/oleObject150.bin"/><Relationship Id="rId10" Type="http://schemas.openxmlformats.org/officeDocument/2006/relationships/oleObject" Target="../embeddings/oleObject155.bin"/><Relationship Id="rId4" Type="http://schemas.openxmlformats.org/officeDocument/2006/relationships/oleObject" Target="../embeddings/oleObject149.bin"/><Relationship Id="rId9" Type="http://schemas.openxmlformats.org/officeDocument/2006/relationships/oleObject" Target="../embeddings/oleObject154.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56.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oleObject" Target="../embeddings/oleObject159.bin"/><Relationship Id="rId5" Type="http://schemas.openxmlformats.org/officeDocument/2006/relationships/oleObject" Target="../embeddings/oleObject158.bin"/><Relationship Id="rId4" Type="http://schemas.openxmlformats.org/officeDocument/2006/relationships/oleObject" Target="../embeddings/oleObject157.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65.bin"/><Relationship Id="rId13" Type="http://schemas.openxmlformats.org/officeDocument/2006/relationships/oleObject" Target="../embeddings/oleObject170.bin"/><Relationship Id="rId3" Type="http://schemas.openxmlformats.org/officeDocument/2006/relationships/oleObject" Target="../embeddings/oleObject160.bin"/><Relationship Id="rId7" Type="http://schemas.openxmlformats.org/officeDocument/2006/relationships/oleObject" Target="../embeddings/oleObject164.bin"/><Relationship Id="rId12" Type="http://schemas.openxmlformats.org/officeDocument/2006/relationships/oleObject" Target="../embeddings/oleObject169.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oleObject" Target="../embeddings/oleObject163.bin"/><Relationship Id="rId11" Type="http://schemas.openxmlformats.org/officeDocument/2006/relationships/oleObject" Target="../embeddings/oleObject168.bin"/><Relationship Id="rId5" Type="http://schemas.openxmlformats.org/officeDocument/2006/relationships/oleObject" Target="../embeddings/oleObject162.bin"/><Relationship Id="rId10" Type="http://schemas.openxmlformats.org/officeDocument/2006/relationships/oleObject" Target="../embeddings/oleObject167.bin"/><Relationship Id="rId4" Type="http://schemas.openxmlformats.org/officeDocument/2006/relationships/oleObject" Target="../embeddings/oleObject161.bin"/><Relationship Id="rId9" Type="http://schemas.openxmlformats.org/officeDocument/2006/relationships/oleObject" Target="../embeddings/oleObject166.bin"/><Relationship Id="rId14" Type="http://schemas.openxmlformats.org/officeDocument/2006/relationships/oleObject" Target="../embeddings/oleObject171.bin"/></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72.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oleObject" Target="../embeddings/oleObject175.bin"/><Relationship Id="rId5" Type="http://schemas.openxmlformats.org/officeDocument/2006/relationships/oleObject" Target="../embeddings/oleObject174.bin"/><Relationship Id="rId4" Type="http://schemas.openxmlformats.org/officeDocument/2006/relationships/oleObject" Target="../embeddings/oleObject173.bin"/></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76.bin"/><Relationship Id="rId2" Type="http://schemas.openxmlformats.org/officeDocument/2006/relationships/slideLayout" Target="../slideLayouts/slideLayout7.xml"/><Relationship Id="rId1" Type="http://schemas.openxmlformats.org/officeDocument/2006/relationships/vmlDrawing" Target="../drawings/vmlDrawing25.vml"/><Relationship Id="rId5" Type="http://schemas.openxmlformats.org/officeDocument/2006/relationships/oleObject" Target="../embeddings/oleObject178.bin"/><Relationship Id="rId4" Type="http://schemas.openxmlformats.org/officeDocument/2006/relationships/oleObject" Target="../embeddings/oleObject177.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84.bin"/><Relationship Id="rId3" Type="http://schemas.openxmlformats.org/officeDocument/2006/relationships/oleObject" Target="../embeddings/oleObject179.bin"/><Relationship Id="rId7" Type="http://schemas.openxmlformats.org/officeDocument/2006/relationships/oleObject" Target="../embeddings/oleObject183.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oleObject" Target="../embeddings/oleObject182.bin"/><Relationship Id="rId11" Type="http://schemas.openxmlformats.org/officeDocument/2006/relationships/oleObject" Target="../embeddings/oleObject187.bin"/><Relationship Id="rId5" Type="http://schemas.openxmlformats.org/officeDocument/2006/relationships/oleObject" Target="../embeddings/oleObject181.bin"/><Relationship Id="rId10" Type="http://schemas.openxmlformats.org/officeDocument/2006/relationships/oleObject" Target="../embeddings/oleObject186.bin"/><Relationship Id="rId4" Type="http://schemas.openxmlformats.org/officeDocument/2006/relationships/oleObject" Target="../embeddings/oleObject180.bin"/><Relationship Id="rId9" Type="http://schemas.openxmlformats.org/officeDocument/2006/relationships/oleObject" Target="../embeddings/oleObject185.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93.bin"/><Relationship Id="rId3" Type="http://schemas.openxmlformats.org/officeDocument/2006/relationships/oleObject" Target="../embeddings/oleObject188.bin"/><Relationship Id="rId7" Type="http://schemas.openxmlformats.org/officeDocument/2006/relationships/oleObject" Target="../embeddings/oleObject192.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oleObject" Target="../embeddings/oleObject191.bin"/><Relationship Id="rId5" Type="http://schemas.openxmlformats.org/officeDocument/2006/relationships/oleObject" Target="../embeddings/oleObject190.bin"/><Relationship Id="rId4" Type="http://schemas.openxmlformats.org/officeDocument/2006/relationships/oleObject" Target="../embeddings/oleObject189.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99.bin"/><Relationship Id="rId3" Type="http://schemas.openxmlformats.org/officeDocument/2006/relationships/oleObject" Target="../embeddings/oleObject194.bin"/><Relationship Id="rId7" Type="http://schemas.openxmlformats.org/officeDocument/2006/relationships/oleObject" Target="../embeddings/oleObject198.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oleObject" Target="../embeddings/oleObject197.bin"/><Relationship Id="rId5" Type="http://schemas.openxmlformats.org/officeDocument/2006/relationships/oleObject" Target="../embeddings/oleObject196.bin"/><Relationship Id="rId4" Type="http://schemas.openxmlformats.org/officeDocument/2006/relationships/oleObject" Target="../embeddings/oleObject195.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00.bin"/><Relationship Id="rId2" Type="http://schemas.openxmlformats.org/officeDocument/2006/relationships/slideLayout" Target="../slideLayouts/slideLayout7.xml"/><Relationship Id="rId1" Type="http://schemas.openxmlformats.org/officeDocument/2006/relationships/vmlDrawing" Target="../drawings/vmlDrawing29.vml"/><Relationship Id="rId5" Type="http://schemas.openxmlformats.org/officeDocument/2006/relationships/image" Target="../media/image180.emf"/><Relationship Id="rId4" Type="http://schemas.openxmlformats.org/officeDocument/2006/relationships/oleObject" Target="../embeddings/oleObject201.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207.bin"/><Relationship Id="rId3" Type="http://schemas.openxmlformats.org/officeDocument/2006/relationships/oleObject" Target="../embeddings/oleObject202.bin"/><Relationship Id="rId7" Type="http://schemas.openxmlformats.org/officeDocument/2006/relationships/oleObject" Target="../embeddings/oleObject206.bin"/><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oleObject" Target="../embeddings/oleObject205.bin"/><Relationship Id="rId11" Type="http://schemas.openxmlformats.org/officeDocument/2006/relationships/oleObject" Target="../embeddings/oleObject210.bin"/><Relationship Id="rId5" Type="http://schemas.openxmlformats.org/officeDocument/2006/relationships/oleObject" Target="../embeddings/oleObject204.bin"/><Relationship Id="rId10" Type="http://schemas.openxmlformats.org/officeDocument/2006/relationships/oleObject" Target="../embeddings/oleObject209.bin"/><Relationship Id="rId4" Type="http://schemas.openxmlformats.org/officeDocument/2006/relationships/oleObject" Target="../embeddings/oleObject203.bin"/><Relationship Id="rId9" Type="http://schemas.openxmlformats.org/officeDocument/2006/relationships/oleObject" Target="../embeddings/oleObject208.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216.bin"/><Relationship Id="rId3" Type="http://schemas.openxmlformats.org/officeDocument/2006/relationships/oleObject" Target="../embeddings/oleObject211.bin"/><Relationship Id="rId7" Type="http://schemas.openxmlformats.org/officeDocument/2006/relationships/oleObject" Target="../embeddings/oleObject215.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oleObject" Target="../embeddings/oleObject214.bin"/><Relationship Id="rId5" Type="http://schemas.openxmlformats.org/officeDocument/2006/relationships/oleObject" Target="../embeddings/oleObject213.bin"/><Relationship Id="rId4" Type="http://schemas.openxmlformats.org/officeDocument/2006/relationships/oleObject" Target="../embeddings/oleObject21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1062038" y="762000"/>
            <a:ext cx="7077075" cy="914400"/>
          </a:xfrm>
          <a:prstGeom prst="rect">
            <a:avLst/>
          </a:prstGeom>
          <a:noFill/>
          <a:ln w="9525">
            <a:noFill/>
            <a:miter lim="800000"/>
            <a:headEnd/>
            <a:tailEnd/>
          </a:ln>
        </p:spPr>
        <p:txBody>
          <a:bodyPr wrap="none">
            <a:spAutoFit/>
          </a:bodyPr>
          <a:lstStyle/>
          <a:p>
            <a:pPr eaLnBrk="0" hangingPunct="0"/>
            <a:r>
              <a:rPr kumimoji="0" lang="zh-CN" altLang="en-US" sz="5400" b="1" dirty="0">
                <a:solidFill>
                  <a:srgbClr val="FF3300"/>
                </a:solidFill>
                <a:latin typeface="隶书" pitchFamily="49" charset="-122"/>
                <a:ea typeface="隶书" pitchFamily="49" charset="-122"/>
              </a:rPr>
              <a:t>第</a:t>
            </a:r>
            <a:r>
              <a:rPr kumimoji="0" lang="en-US" altLang="zh-CN" sz="5400" b="1" dirty="0">
                <a:solidFill>
                  <a:srgbClr val="FF3300"/>
                </a:solidFill>
                <a:latin typeface="+mn-lt"/>
                <a:ea typeface="隶书" pitchFamily="49" charset="-122"/>
              </a:rPr>
              <a:t>4</a:t>
            </a:r>
            <a:r>
              <a:rPr kumimoji="0" lang="zh-CN" altLang="en-US" sz="5400" b="1" dirty="0">
                <a:solidFill>
                  <a:srgbClr val="FF3300"/>
                </a:solidFill>
                <a:latin typeface="隶书" pitchFamily="49" charset="-122"/>
                <a:ea typeface="隶书" pitchFamily="49" charset="-122"/>
              </a:rPr>
              <a:t>章</a:t>
            </a:r>
            <a:r>
              <a:rPr kumimoji="0" lang="en-US" altLang="zh-CN" sz="5400" b="1" dirty="0">
                <a:solidFill>
                  <a:srgbClr val="FF3300"/>
                </a:solidFill>
                <a:latin typeface="隶书" pitchFamily="49" charset="-122"/>
                <a:ea typeface="隶书" pitchFamily="49" charset="-122"/>
              </a:rPr>
              <a:t> </a:t>
            </a:r>
            <a:r>
              <a:rPr kumimoji="0" lang="zh-CN" altLang="en-US" sz="5400" b="1" dirty="0">
                <a:solidFill>
                  <a:srgbClr val="FF3300"/>
                </a:solidFill>
                <a:latin typeface="隶书" pitchFamily="49" charset="-122"/>
                <a:ea typeface="隶书" pitchFamily="49" charset="-122"/>
              </a:rPr>
              <a:t>相对论力学初步</a:t>
            </a:r>
          </a:p>
        </p:txBody>
      </p:sp>
      <p:pic>
        <p:nvPicPr>
          <p:cNvPr id="3" name="图片 2" descr="图片1.jpg"/>
          <p:cNvPicPr>
            <a:picLocks noChangeAspect="1"/>
          </p:cNvPicPr>
          <p:nvPr/>
        </p:nvPicPr>
        <p:blipFill>
          <a:blip r:embed="rId2"/>
          <a:stretch>
            <a:fillRect/>
          </a:stretch>
        </p:blipFill>
        <p:spPr>
          <a:xfrm>
            <a:off x="1905000" y="1828800"/>
            <a:ext cx="5784850" cy="462486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Line 3"/>
          <p:cNvSpPr>
            <a:spLocks noChangeShapeType="1"/>
          </p:cNvSpPr>
          <p:nvPr/>
        </p:nvSpPr>
        <p:spPr bwMode="auto">
          <a:xfrm>
            <a:off x="100013" y="1358900"/>
            <a:ext cx="9043987" cy="0"/>
          </a:xfrm>
          <a:prstGeom prst="line">
            <a:avLst/>
          </a:prstGeom>
          <a:noFill/>
          <a:ln w="28575">
            <a:solidFill>
              <a:srgbClr val="0062E1">
                <a:alpha val="70195"/>
              </a:srgbClr>
            </a:solidFill>
            <a:round/>
            <a:headEnd/>
            <a:tailEnd/>
          </a:ln>
        </p:spPr>
        <p:txBody>
          <a:bodyPr/>
          <a:lstStyle/>
          <a:p>
            <a:endParaRPr lang="zh-CN" altLang="en-US"/>
          </a:p>
        </p:txBody>
      </p:sp>
      <p:sp>
        <p:nvSpPr>
          <p:cNvPr id="102404" name="Text Box 4"/>
          <p:cNvSpPr txBox="1">
            <a:spLocks noChangeArrowheads="1"/>
          </p:cNvSpPr>
          <p:nvPr/>
        </p:nvSpPr>
        <p:spPr bwMode="auto">
          <a:xfrm>
            <a:off x="385763" y="638175"/>
            <a:ext cx="2820987" cy="519113"/>
          </a:xfrm>
          <a:prstGeom prst="rect">
            <a:avLst/>
          </a:prstGeom>
          <a:noFill/>
          <a:ln w="9525">
            <a:noFill/>
            <a:miter lim="800000"/>
            <a:headEnd/>
            <a:tailEnd/>
          </a:ln>
        </p:spPr>
        <p:txBody>
          <a:bodyPr>
            <a:spAutoFit/>
          </a:bodyPr>
          <a:lstStyle/>
          <a:p>
            <a:pPr algn="l">
              <a:spcBef>
                <a:spcPct val="50000"/>
              </a:spcBef>
            </a:pPr>
            <a:r>
              <a:rPr lang="zh-CN" altLang="en-US" sz="2800" b="1" dirty="0">
                <a:solidFill>
                  <a:srgbClr val="000099"/>
                </a:solidFill>
              </a:rPr>
              <a:t>本章内容：</a:t>
            </a:r>
          </a:p>
        </p:txBody>
      </p:sp>
      <p:sp>
        <p:nvSpPr>
          <p:cNvPr id="102406" name="Text Box 6">
            <a:hlinkClick r:id="rId2" action="ppaction://hlinksldjump"/>
          </p:cNvPr>
          <p:cNvSpPr txBox="1">
            <a:spLocks noChangeArrowheads="1"/>
          </p:cNvSpPr>
          <p:nvPr/>
        </p:nvSpPr>
        <p:spPr bwMode="auto">
          <a:xfrm>
            <a:off x="1422400" y="1719263"/>
            <a:ext cx="6088063" cy="457200"/>
          </a:xfrm>
          <a:prstGeom prst="rect">
            <a:avLst/>
          </a:prstGeom>
          <a:noFill/>
          <a:ln w="9525">
            <a:noFill/>
            <a:miter lim="800000"/>
            <a:headEnd/>
            <a:tailEnd/>
          </a:ln>
        </p:spPr>
        <p:txBody>
          <a:bodyPr>
            <a:spAutoFit/>
          </a:bodyPr>
          <a:lstStyle/>
          <a:p>
            <a:pPr algn="l">
              <a:spcBef>
                <a:spcPct val="50000"/>
              </a:spcBef>
            </a:pPr>
            <a:r>
              <a:rPr lang="en-US" altLang="zh-CN" b="1" dirty="0">
                <a:solidFill>
                  <a:srgbClr val="3333CC"/>
                </a:solidFill>
              </a:rPr>
              <a:t>§ 4. 1  </a:t>
            </a:r>
            <a:r>
              <a:rPr lang="zh-CN" altLang="en-US" b="1" dirty="0">
                <a:solidFill>
                  <a:srgbClr val="3333CC"/>
                </a:solidFill>
              </a:rPr>
              <a:t>狭义相对论基本原理</a:t>
            </a:r>
          </a:p>
        </p:txBody>
      </p:sp>
      <p:sp>
        <p:nvSpPr>
          <p:cNvPr id="102407" name="Text Box 7">
            <a:hlinkClick r:id="rId3" action="ppaction://hlinksldjump"/>
          </p:cNvPr>
          <p:cNvSpPr txBox="1">
            <a:spLocks noChangeArrowheads="1"/>
          </p:cNvSpPr>
          <p:nvPr/>
        </p:nvSpPr>
        <p:spPr bwMode="auto">
          <a:xfrm>
            <a:off x="1422400" y="3294063"/>
            <a:ext cx="5121275" cy="457200"/>
          </a:xfrm>
          <a:prstGeom prst="rect">
            <a:avLst/>
          </a:prstGeom>
          <a:noFill/>
          <a:ln w="9525">
            <a:noFill/>
            <a:miter lim="800000"/>
            <a:headEnd/>
            <a:tailEnd/>
          </a:ln>
        </p:spPr>
        <p:txBody>
          <a:bodyPr>
            <a:spAutoFit/>
          </a:bodyPr>
          <a:lstStyle/>
          <a:p>
            <a:pPr algn="l">
              <a:spcBef>
                <a:spcPct val="50000"/>
              </a:spcBef>
            </a:pPr>
            <a:r>
              <a:rPr lang="en-US" altLang="zh-CN" b="1" dirty="0">
                <a:solidFill>
                  <a:srgbClr val="3333CC"/>
                </a:solidFill>
              </a:rPr>
              <a:t>§ 4. 3  </a:t>
            </a:r>
            <a:r>
              <a:rPr lang="zh-CN" altLang="en-US" b="1" dirty="0">
                <a:solidFill>
                  <a:srgbClr val="3333CC"/>
                </a:solidFill>
              </a:rPr>
              <a:t>洛伦兹变换</a:t>
            </a:r>
          </a:p>
        </p:txBody>
      </p:sp>
      <p:sp>
        <p:nvSpPr>
          <p:cNvPr id="102409" name="Text Box 9">
            <a:hlinkClick r:id="rId4" action="ppaction://hlinksldjump"/>
          </p:cNvPr>
          <p:cNvSpPr txBox="1">
            <a:spLocks noChangeArrowheads="1"/>
          </p:cNvSpPr>
          <p:nvPr/>
        </p:nvSpPr>
        <p:spPr bwMode="auto">
          <a:xfrm>
            <a:off x="1422400" y="2484438"/>
            <a:ext cx="4670425" cy="457200"/>
          </a:xfrm>
          <a:prstGeom prst="rect">
            <a:avLst/>
          </a:prstGeom>
          <a:noFill/>
          <a:ln w="9525">
            <a:noFill/>
            <a:miter lim="800000"/>
            <a:headEnd/>
            <a:tailEnd/>
          </a:ln>
        </p:spPr>
        <p:txBody>
          <a:bodyPr>
            <a:spAutoFit/>
          </a:bodyPr>
          <a:lstStyle/>
          <a:p>
            <a:pPr algn="l">
              <a:spcBef>
                <a:spcPct val="50000"/>
              </a:spcBef>
            </a:pPr>
            <a:r>
              <a:rPr lang="en-US" altLang="zh-CN" b="1" dirty="0">
                <a:solidFill>
                  <a:srgbClr val="3333CC"/>
                </a:solidFill>
              </a:rPr>
              <a:t>§ 4. 2  </a:t>
            </a:r>
            <a:r>
              <a:rPr lang="zh-CN" altLang="en-US" b="1" dirty="0">
                <a:solidFill>
                  <a:srgbClr val="3333CC"/>
                </a:solidFill>
              </a:rPr>
              <a:t>狭义相对论时空观</a:t>
            </a:r>
          </a:p>
        </p:txBody>
      </p:sp>
      <p:sp>
        <p:nvSpPr>
          <p:cNvPr id="102410" name="Text Box 10">
            <a:hlinkClick r:id="" action="ppaction://noaction"/>
          </p:cNvPr>
          <p:cNvSpPr txBox="1">
            <a:spLocks noChangeArrowheads="1"/>
          </p:cNvSpPr>
          <p:nvPr/>
        </p:nvSpPr>
        <p:spPr bwMode="auto">
          <a:xfrm>
            <a:off x="1422400" y="4059238"/>
            <a:ext cx="5630863" cy="457200"/>
          </a:xfrm>
          <a:prstGeom prst="rect">
            <a:avLst/>
          </a:prstGeom>
          <a:noFill/>
          <a:ln w="9525">
            <a:noFill/>
            <a:miter lim="800000"/>
            <a:headEnd/>
            <a:tailEnd/>
          </a:ln>
        </p:spPr>
        <p:txBody>
          <a:bodyPr>
            <a:spAutoFit/>
          </a:bodyPr>
          <a:lstStyle/>
          <a:p>
            <a:pPr algn="l">
              <a:spcBef>
                <a:spcPct val="50000"/>
              </a:spcBef>
            </a:pPr>
            <a:r>
              <a:rPr lang="en-US" altLang="zh-CN" b="1" dirty="0">
                <a:solidFill>
                  <a:srgbClr val="3333CC"/>
                </a:solidFill>
              </a:rPr>
              <a:t>§ 4. 4  </a:t>
            </a:r>
            <a:r>
              <a:rPr lang="zh-CN" altLang="en-US" b="1" dirty="0">
                <a:solidFill>
                  <a:srgbClr val="3333CC"/>
                </a:solidFill>
              </a:rPr>
              <a:t>狭义相对论动力学基础</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03"/>
                                        </p:tgtEl>
                                        <p:attrNameLst>
                                          <p:attrName>style.visibility</p:attrName>
                                        </p:attrNameLst>
                                      </p:cBhvr>
                                      <p:to>
                                        <p:strVal val="visible"/>
                                      </p:to>
                                    </p:set>
                                    <p:animEffect transition="in" filter="wipe(left)">
                                      <p:cBhvr>
                                        <p:cTn id="7" dur="500"/>
                                        <p:tgtEl>
                                          <p:spTgt spid="1024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04"/>
                                        </p:tgtEl>
                                        <p:attrNameLst>
                                          <p:attrName>style.visibility</p:attrName>
                                        </p:attrNameLst>
                                      </p:cBhvr>
                                      <p:to>
                                        <p:strVal val="visible"/>
                                      </p:to>
                                    </p:set>
                                    <p:animEffect transition="in" filter="wipe(left)">
                                      <p:cBhvr>
                                        <p:cTn id="12" dur="500"/>
                                        <p:tgtEl>
                                          <p:spTgt spid="102404"/>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02406"/>
                                        </p:tgtEl>
                                        <p:attrNameLst>
                                          <p:attrName>style.visibility</p:attrName>
                                        </p:attrNameLst>
                                      </p:cBhvr>
                                      <p:to>
                                        <p:strVal val="visible"/>
                                      </p:to>
                                    </p:set>
                                    <p:animEffect transition="in" filter="wipe(left)">
                                      <p:cBhvr>
                                        <p:cTn id="15" dur="500"/>
                                        <p:tgtEl>
                                          <p:spTgt spid="102406"/>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02409"/>
                                        </p:tgtEl>
                                        <p:attrNameLst>
                                          <p:attrName>style.visibility</p:attrName>
                                        </p:attrNameLst>
                                      </p:cBhvr>
                                      <p:to>
                                        <p:strVal val="visible"/>
                                      </p:to>
                                    </p:set>
                                    <p:animEffect transition="in" filter="wipe(left)">
                                      <p:cBhvr>
                                        <p:cTn id="18" dur="500"/>
                                        <p:tgtEl>
                                          <p:spTgt spid="102409"/>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02407"/>
                                        </p:tgtEl>
                                        <p:attrNameLst>
                                          <p:attrName>style.visibility</p:attrName>
                                        </p:attrNameLst>
                                      </p:cBhvr>
                                      <p:to>
                                        <p:strVal val="visible"/>
                                      </p:to>
                                    </p:set>
                                    <p:animEffect transition="in" filter="wipe(left)">
                                      <p:cBhvr>
                                        <p:cTn id="21" dur="500"/>
                                        <p:tgtEl>
                                          <p:spTgt spid="102407"/>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02410"/>
                                        </p:tgtEl>
                                        <p:attrNameLst>
                                          <p:attrName>style.visibility</p:attrName>
                                        </p:attrNameLst>
                                      </p:cBhvr>
                                      <p:to>
                                        <p:strVal val="visible"/>
                                      </p:to>
                                    </p:set>
                                    <p:animEffect transition="in" filter="wipe(left)">
                                      <p:cBhvr>
                                        <p:cTn id="24" dur="500"/>
                                        <p:tgtEl>
                                          <p:spTgt spid="102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animBg="1"/>
      <p:bldP spid="102404" grpId="0"/>
      <p:bldP spid="102406" grpId="0"/>
      <p:bldP spid="102407" grpId="0"/>
      <p:bldP spid="102409" grpId="0"/>
      <p:bldP spid="1024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2" name="Text Box 4"/>
          <p:cNvSpPr txBox="1">
            <a:spLocks noChangeArrowheads="1"/>
          </p:cNvSpPr>
          <p:nvPr/>
        </p:nvSpPr>
        <p:spPr bwMode="auto">
          <a:xfrm>
            <a:off x="563563" y="404813"/>
            <a:ext cx="7699375" cy="519112"/>
          </a:xfrm>
          <a:prstGeom prst="rect">
            <a:avLst/>
          </a:prstGeom>
          <a:noFill/>
          <a:ln w="9525">
            <a:noFill/>
            <a:miter lim="800000"/>
            <a:headEnd/>
            <a:tailEnd/>
          </a:ln>
        </p:spPr>
        <p:txBody>
          <a:bodyPr>
            <a:spAutoFit/>
          </a:bodyPr>
          <a:lstStyle/>
          <a:p>
            <a:r>
              <a:rPr lang="en-US" altLang="zh-CN" sz="2800" b="1">
                <a:solidFill>
                  <a:srgbClr val="000099"/>
                </a:solidFill>
                <a:ea typeface="黑体" pitchFamily="49" charset="-122"/>
              </a:rPr>
              <a:t>§4.1  </a:t>
            </a:r>
            <a:r>
              <a:rPr lang="zh-CN" altLang="en-US" sz="2800" b="1">
                <a:solidFill>
                  <a:srgbClr val="000099"/>
                </a:solidFill>
                <a:ea typeface="黑体" pitchFamily="49" charset="-122"/>
              </a:rPr>
              <a:t>狭义相对论的基本原理</a:t>
            </a:r>
          </a:p>
        </p:txBody>
      </p:sp>
      <p:sp>
        <p:nvSpPr>
          <p:cNvPr id="165893" name="Text Box 5"/>
          <p:cNvSpPr txBox="1">
            <a:spLocks noChangeArrowheads="1"/>
          </p:cNvSpPr>
          <p:nvPr/>
        </p:nvSpPr>
        <p:spPr bwMode="auto">
          <a:xfrm>
            <a:off x="161925" y="1133475"/>
            <a:ext cx="4049713" cy="457200"/>
          </a:xfrm>
          <a:prstGeom prst="rect">
            <a:avLst/>
          </a:prstGeom>
          <a:noFill/>
          <a:ln w="9525">
            <a:noFill/>
            <a:miter lim="800000"/>
            <a:headEnd/>
            <a:tailEnd/>
          </a:ln>
        </p:spPr>
        <p:txBody>
          <a:bodyPr>
            <a:spAutoFit/>
          </a:bodyPr>
          <a:lstStyle/>
          <a:p>
            <a:pPr algn="l">
              <a:spcBef>
                <a:spcPct val="50000"/>
              </a:spcBef>
            </a:pPr>
            <a:r>
              <a:rPr lang="en-US" altLang="zh-CN" b="1">
                <a:solidFill>
                  <a:srgbClr val="0000FF"/>
                </a:solidFill>
              </a:rPr>
              <a:t>4.1.1  </a:t>
            </a:r>
            <a:r>
              <a:rPr lang="zh-CN" altLang="en-US" b="1">
                <a:solidFill>
                  <a:srgbClr val="0000FF"/>
                </a:solidFill>
              </a:rPr>
              <a:t>牛顿力学的困难</a:t>
            </a:r>
          </a:p>
        </p:txBody>
      </p:sp>
      <p:grpSp>
        <p:nvGrpSpPr>
          <p:cNvPr id="2" name="Group 6"/>
          <p:cNvGrpSpPr>
            <a:grpSpLocks/>
          </p:cNvGrpSpPr>
          <p:nvPr/>
        </p:nvGrpSpPr>
        <p:grpSpPr bwMode="auto">
          <a:xfrm>
            <a:off x="161925" y="2214563"/>
            <a:ext cx="8678863" cy="2320925"/>
            <a:chOff x="53" y="2832"/>
            <a:chExt cx="5467" cy="1462"/>
          </a:xfrm>
        </p:grpSpPr>
        <p:sp>
          <p:nvSpPr>
            <p:cNvPr id="35851" name="Text Box 7"/>
            <p:cNvSpPr txBox="1">
              <a:spLocks noChangeArrowheads="1"/>
            </p:cNvSpPr>
            <p:nvPr/>
          </p:nvSpPr>
          <p:spPr bwMode="auto">
            <a:xfrm>
              <a:off x="53" y="2832"/>
              <a:ext cx="5467" cy="1162"/>
            </a:xfrm>
            <a:prstGeom prst="rect">
              <a:avLst/>
            </a:prstGeom>
            <a:gradFill rotWithShape="1">
              <a:gsLst>
                <a:gs pos="0">
                  <a:srgbClr val="FFFFFF"/>
                </a:gs>
                <a:gs pos="100000">
                  <a:srgbClr val="CCFFFF"/>
                </a:gs>
              </a:gsLst>
              <a:path path="shape">
                <a:fillToRect l="50000" t="50000" r="50000" b="50000"/>
              </a:path>
            </a:gradFill>
            <a:ln w="9525">
              <a:noFill/>
              <a:miter lim="800000"/>
              <a:headEnd/>
              <a:tailEnd/>
            </a:ln>
          </p:spPr>
          <p:txBody>
            <a:bodyPr>
              <a:spAutoFit/>
            </a:bodyPr>
            <a:lstStyle/>
            <a:p>
              <a:pPr algn="l">
                <a:lnSpc>
                  <a:spcPct val="120000"/>
                </a:lnSpc>
              </a:pPr>
              <a:r>
                <a:rPr lang="zh-CN" altLang="en-US" b="1"/>
                <a:t>　“宇宙系统的中心是不动的”；</a:t>
              </a:r>
              <a:r>
                <a:rPr lang="en-US" altLang="zh-CN" b="1"/>
                <a:t>…</a:t>
              </a:r>
              <a:r>
                <a:rPr lang="zh-CN" altLang="en-US" b="1"/>
                <a:t>“绝对空间是这样的，按照其本身的性质与无论什么样的其他任何事物无关，永远保持静止</a:t>
              </a:r>
              <a:r>
                <a:rPr lang="en-US" altLang="zh-CN" b="1"/>
                <a:t>…</a:t>
              </a:r>
              <a:r>
                <a:rPr lang="zh-CN" altLang="en-US" b="1"/>
                <a:t>”；“绝对时间是这样的，按其本身的性质与别的任何事物无关，平静地流逝着。”</a:t>
              </a:r>
            </a:p>
          </p:txBody>
        </p:sp>
        <p:sp>
          <p:nvSpPr>
            <p:cNvPr id="35852" name="Text Box 8"/>
            <p:cNvSpPr txBox="1">
              <a:spLocks noChangeArrowheads="1"/>
            </p:cNvSpPr>
            <p:nvPr/>
          </p:nvSpPr>
          <p:spPr bwMode="auto">
            <a:xfrm>
              <a:off x="1104" y="3704"/>
              <a:ext cx="4013" cy="590"/>
            </a:xfrm>
            <a:prstGeom prst="rect">
              <a:avLst/>
            </a:prstGeom>
            <a:noFill/>
            <a:ln w="9525">
              <a:noFill/>
              <a:miter lim="800000"/>
              <a:headEnd/>
              <a:tailEnd/>
            </a:ln>
          </p:spPr>
          <p:txBody>
            <a:bodyPr wrap="none">
              <a:spAutoFit/>
            </a:bodyPr>
            <a:lstStyle/>
            <a:p>
              <a:pPr algn="l">
                <a:lnSpc>
                  <a:spcPct val="120000"/>
                </a:lnSpc>
              </a:pPr>
              <a:endParaRPr lang="en-US" altLang="zh-CN" b="1"/>
            </a:p>
            <a:p>
              <a:pPr algn="l">
                <a:lnSpc>
                  <a:spcPct val="120000"/>
                </a:lnSpc>
              </a:pPr>
              <a:r>
                <a:rPr lang="en-US" altLang="zh-CN" b="1"/>
                <a:t>---</a:t>
              </a:r>
              <a:r>
                <a:rPr lang="zh-CN" altLang="en-US" b="1"/>
                <a:t>牛顿</a:t>
              </a:r>
              <a:r>
                <a:rPr lang="en-US" altLang="zh-CN" b="1"/>
                <a:t>《</a:t>
              </a:r>
              <a:r>
                <a:rPr lang="zh-CN" altLang="en-US" b="1"/>
                <a:t>自然哲学之数学原理及其宇宙体系</a:t>
              </a:r>
              <a:r>
                <a:rPr lang="en-US" altLang="zh-CN" b="1"/>
                <a:t>》</a:t>
              </a:r>
            </a:p>
          </p:txBody>
        </p:sp>
      </p:grpSp>
      <p:sp>
        <p:nvSpPr>
          <p:cNvPr id="165897" name="Text Box 9"/>
          <p:cNvSpPr txBox="1">
            <a:spLocks noChangeArrowheads="1"/>
          </p:cNvSpPr>
          <p:nvPr/>
        </p:nvSpPr>
        <p:spPr bwMode="auto">
          <a:xfrm>
            <a:off x="385763" y="1584325"/>
            <a:ext cx="2041525" cy="493713"/>
          </a:xfrm>
          <a:prstGeom prst="rect">
            <a:avLst/>
          </a:prstGeom>
          <a:noFill/>
          <a:ln w="9525">
            <a:noFill/>
            <a:miter lim="800000"/>
            <a:headEnd/>
            <a:tailEnd/>
          </a:ln>
        </p:spPr>
        <p:txBody>
          <a:bodyPr wrap="none">
            <a:spAutoFit/>
          </a:bodyPr>
          <a:lstStyle/>
          <a:p>
            <a:pPr algn="l">
              <a:lnSpc>
                <a:spcPct val="120000"/>
              </a:lnSpc>
            </a:pPr>
            <a:r>
              <a:rPr lang="zh-CN" altLang="en-US" b="1">
                <a:solidFill>
                  <a:srgbClr val="FF3300"/>
                </a:solidFill>
                <a:sym typeface="Wingdings 2" pitchFamily="18" charset="2"/>
              </a:rPr>
              <a:t>牛顿的时空观</a:t>
            </a:r>
            <a:endParaRPr lang="zh-CN" altLang="en-US" b="1">
              <a:solidFill>
                <a:srgbClr val="FF3300"/>
              </a:solidFill>
            </a:endParaRPr>
          </a:p>
        </p:txBody>
      </p:sp>
      <p:sp>
        <p:nvSpPr>
          <p:cNvPr id="165898" name="Text Box 10"/>
          <p:cNvSpPr txBox="1">
            <a:spLocks noChangeArrowheads="1"/>
          </p:cNvSpPr>
          <p:nvPr/>
        </p:nvSpPr>
        <p:spPr bwMode="auto">
          <a:xfrm>
            <a:off x="611188" y="4598988"/>
            <a:ext cx="7272337" cy="479425"/>
          </a:xfrm>
          <a:prstGeom prst="rect">
            <a:avLst/>
          </a:prstGeom>
          <a:noFill/>
          <a:ln w="9525">
            <a:noFill/>
            <a:miter lim="800000"/>
            <a:headEnd/>
            <a:tailEnd/>
          </a:ln>
        </p:spPr>
        <p:txBody>
          <a:bodyPr>
            <a:spAutoFit/>
          </a:bodyPr>
          <a:lstStyle/>
          <a:p>
            <a:pPr algn="l">
              <a:lnSpc>
                <a:spcPct val="115000"/>
              </a:lnSpc>
              <a:buClr>
                <a:srgbClr val="FF3300"/>
              </a:buClr>
              <a:buFont typeface="Wingdings" pitchFamily="2" charset="2"/>
              <a:buNone/>
            </a:pPr>
            <a:r>
              <a:rPr lang="en-US" altLang="zh-CN" b="1">
                <a:solidFill>
                  <a:schemeClr val="bg1"/>
                </a:solidFill>
              </a:rPr>
              <a:t> </a:t>
            </a:r>
            <a:r>
              <a:rPr lang="zh-CN" altLang="en-US" b="1">
                <a:solidFill>
                  <a:schemeClr val="bg1"/>
                </a:solidFill>
              </a:rPr>
              <a:t>经典力学相对性原理与绝对时空观密切相关</a:t>
            </a:r>
            <a:r>
              <a:rPr lang="en-US" altLang="zh-CN" b="1">
                <a:solidFill>
                  <a:schemeClr val="bg1"/>
                </a:solidFill>
              </a:rPr>
              <a:t> </a:t>
            </a:r>
          </a:p>
        </p:txBody>
      </p:sp>
      <p:sp>
        <p:nvSpPr>
          <p:cNvPr id="165899" name="Text Box 11"/>
          <p:cNvSpPr txBox="1">
            <a:spLocks noChangeArrowheads="1"/>
          </p:cNvSpPr>
          <p:nvPr/>
        </p:nvSpPr>
        <p:spPr bwMode="auto">
          <a:xfrm>
            <a:off x="611188" y="5138738"/>
            <a:ext cx="3352800" cy="479425"/>
          </a:xfrm>
          <a:prstGeom prst="rect">
            <a:avLst/>
          </a:prstGeom>
          <a:noFill/>
          <a:ln w="9525">
            <a:noFill/>
            <a:miter lim="800000"/>
            <a:headEnd/>
            <a:tailEnd/>
          </a:ln>
        </p:spPr>
        <p:txBody>
          <a:bodyPr>
            <a:spAutoFit/>
          </a:bodyPr>
          <a:lstStyle/>
          <a:p>
            <a:pPr algn="l" defTabSz="762000" eaLnBrk="0" hangingPunct="0">
              <a:lnSpc>
                <a:spcPct val="115000"/>
              </a:lnSpc>
            </a:pPr>
            <a:r>
              <a:rPr lang="zh-CN" altLang="en-US" b="1">
                <a:solidFill>
                  <a:schemeClr val="bg1"/>
                </a:solidFill>
                <a:sym typeface="Monotype Sorts" pitchFamily="2" charset="2"/>
              </a:rPr>
              <a:t>在牛顿力学中</a:t>
            </a:r>
            <a:endParaRPr lang="zh-CN" altLang="en-US" b="1">
              <a:solidFill>
                <a:schemeClr val="bg1"/>
              </a:solidFill>
            </a:endParaRPr>
          </a:p>
        </p:txBody>
      </p:sp>
      <p:sp>
        <p:nvSpPr>
          <p:cNvPr id="165900" name="Text Box 12"/>
          <p:cNvSpPr txBox="1">
            <a:spLocks noChangeArrowheads="1"/>
          </p:cNvSpPr>
          <p:nvPr/>
        </p:nvSpPr>
        <p:spPr bwMode="auto">
          <a:xfrm>
            <a:off x="2771775" y="5576888"/>
            <a:ext cx="6030913" cy="517525"/>
          </a:xfrm>
          <a:prstGeom prst="rect">
            <a:avLst/>
          </a:prstGeom>
          <a:noFill/>
          <a:ln w="9525">
            <a:noFill/>
            <a:miter lim="800000"/>
            <a:headEnd/>
            <a:tailEnd/>
          </a:ln>
        </p:spPr>
        <p:txBody>
          <a:bodyPr>
            <a:spAutoFit/>
          </a:bodyPr>
          <a:lstStyle/>
          <a:p>
            <a:pPr algn="l" defTabSz="762000" eaLnBrk="0" hangingPunct="0">
              <a:lnSpc>
                <a:spcPct val="115000"/>
              </a:lnSpc>
              <a:buClr>
                <a:srgbClr val="FF3300"/>
              </a:buClr>
            </a:pPr>
            <a:r>
              <a:rPr lang="en-US" altLang="zh-CN" b="1">
                <a:solidFill>
                  <a:schemeClr val="accent2"/>
                </a:solidFill>
              </a:rPr>
              <a:t> </a:t>
            </a:r>
            <a:r>
              <a:rPr lang="zh-CN" altLang="en-US" b="1">
                <a:solidFill>
                  <a:schemeClr val="accent2"/>
                </a:solidFill>
              </a:rPr>
              <a:t>质量不因运动状态变化而发生改变</a:t>
            </a:r>
          </a:p>
        </p:txBody>
      </p:sp>
      <p:sp>
        <p:nvSpPr>
          <p:cNvPr id="165901" name="Text Box 13"/>
          <p:cNvSpPr txBox="1">
            <a:spLocks noChangeArrowheads="1"/>
          </p:cNvSpPr>
          <p:nvPr/>
        </p:nvSpPr>
        <p:spPr bwMode="auto">
          <a:xfrm>
            <a:off x="2862263" y="5138738"/>
            <a:ext cx="3178175" cy="517525"/>
          </a:xfrm>
          <a:prstGeom prst="rect">
            <a:avLst/>
          </a:prstGeom>
          <a:noFill/>
          <a:ln w="9525">
            <a:noFill/>
            <a:miter lim="800000"/>
            <a:headEnd/>
            <a:tailEnd/>
          </a:ln>
        </p:spPr>
        <p:txBody>
          <a:bodyPr>
            <a:spAutoFit/>
          </a:bodyPr>
          <a:lstStyle/>
          <a:p>
            <a:pPr algn="l" eaLnBrk="0" hangingPunct="0">
              <a:lnSpc>
                <a:spcPct val="115000"/>
              </a:lnSpc>
              <a:buClr>
                <a:srgbClr val="FF3300"/>
              </a:buClr>
            </a:pPr>
            <a:r>
              <a:rPr lang="zh-CN" altLang="en-US" b="1">
                <a:solidFill>
                  <a:schemeClr val="accent2"/>
                </a:solidFill>
              </a:rPr>
              <a:t>力与参考系无关</a:t>
            </a:r>
            <a:endParaRPr lang="zh-CN" altLang="en-US">
              <a:solidFill>
                <a:schemeClr val="accent2"/>
              </a:solidFill>
            </a:endParaRPr>
          </a:p>
        </p:txBody>
      </p:sp>
      <p:sp>
        <p:nvSpPr>
          <p:cNvPr id="165902" name="Text Box 14"/>
          <p:cNvSpPr txBox="1">
            <a:spLocks noChangeArrowheads="1"/>
          </p:cNvSpPr>
          <p:nvPr/>
        </p:nvSpPr>
        <p:spPr bwMode="auto">
          <a:xfrm>
            <a:off x="701675" y="6084888"/>
            <a:ext cx="6794500" cy="457200"/>
          </a:xfrm>
          <a:prstGeom prst="rect">
            <a:avLst/>
          </a:prstGeom>
          <a:noFill/>
          <a:ln w="9525">
            <a:noFill/>
            <a:miter lim="800000"/>
            <a:headEnd/>
            <a:tailEnd/>
          </a:ln>
        </p:spPr>
        <p:txBody>
          <a:bodyPr>
            <a:spAutoFit/>
          </a:bodyPr>
          <a:lstStyle/>
          <a:p>
            <a:pPr algn="l">
              <a:spcBef>
                <a:spcPct val="50000"/>
              </a:spcBef>
            </a:pPr>
            <a:r>
              <a:rPr lang="zh-CN" altLang="en-US" b="1">
                <a:solidFill>
                  <a:srgbClr val="CC0000"/>
                </a:solidFill>
              </a:rPr>
              <a:t>经典力学中所有基本定律都具有伽利略不变性。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5892"/>
                                        </p:tgtEl>
                                        <p:attrNameLst>
                                          <p:attrName>style.visibility</p:attrName>
                                        </p:attrNameLst>
                                      </p:cBhvr>
                                      <p:to>
                                        <p:strVal val="visible"/>
                                      </p:to>
                                    </p:set>
                                    <p:animEffect transition="in" filter="wipe(left)">
                                      <p:cBhvr>
                                        <p:cTn id="7" dur="1000"/>
                                        <p:tgtEl>
                                          <p:spTgt spid="1658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5893"/>
                                        </p:tgtEl>
                                        <p:attrNameLst>
                                          <p:attrName>style.visibility</p:attrName>
                                        </p:attrNameLst>
                                      </p:cBhvr>
                                      <p:to>
                                        <p:strVal val="visible"/>
                                      </p:to>
                                    </p:set>
                                    <p:animEffect transition="in" filter="wipe(left)">
                                      <p:cBhvr>
                                        <p:cTn id="12" dur="1000"/>
                                        <p:tgtEl>
                                          <p:spTgt spid="16589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5897"/>
                                        </p:tgtEl>
                                        <p:attrNameLst>
                                          <p:attrName>style.visibility</p:attrName>
                                        </p:attrNameLst>
                                      </p:cBhvr>
                                      <p:to>
                                        <p:strVal val="visible"/>
                                      </p:to>
                                    </p:set>
                                    <p:animEffect transition="in" filter="wipe(left)">
                                      <p:cBhvr>
                                        <p:cTn id="17" dur="1000"/>
                                        <p:tgtEl>
                                          <p:spTgt spid="1658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10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5898"/>
                                        </p:tgtEl>
                                        <p:attrNameLst>
                                          <p:attrName>style.visibility</p:attrName>
                                        </p:attrNameLst>
                                      </p:cBhvr>
                                      <p:to>
                                        <p:strVal val="visible"/>
                                      </p:to>
                                    </p:set>
                                    <p:animEffect transition="in" filter="wipe(left)">
                                      <p:cBhvr>
                                        <p:cTn id="27" dur="1000"/>
                                        <p:tgtEl>
                                          <p:spTgt spid="16589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5899"/>
                                        </p:tgtEl>
                                        <p:attrNameLst>
                                          <p:attrName>style.visibility</p:attrName>
                                        </p:attrNameLst>
                                      </p:cBhvr>
                                      <p:to>
                                        <p:strVal val="visible"/>
                                      </p:to>
                                    </p:set>
                                    <p:animEffect transition="in" filter="wipe(left)">
                                      <p:cBhvr>
                                        <p:cTn id="32" dur="500"/>
                                        <p:tgtEl>
                                          <p:spTgt spid="16589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5901"/>
                                        </p:tgtEl>
                                        <p:attrNameLst>
                                          <p:attrName>style.visibility</p:attrName>
                                        </p:attrNameLst>
                                      </p:cBhvr>
                                      <p:to>
                                        <p:strVal val="visible"/>
                                      </p:to>
                                    </p:set>
                                    <p:animEffect transition="in" filter="wipe(left)">
                                      <p:cBhvr>
                                        <p:cTn id="37" dur="500"/>
                                        <p:tgtEl>
                                          <p:spTgt spid="16590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5900"/>
                                        </p:tgtEl>
                                        <p:attrNameLst>
                                          <p:attrName>style.visibility</p:attrName>
                                        </p:attrNameLst>
                                      </p:cBhvr>
                                      <p:to>
                                        <p:strVal val="visible"/>
                                      </p:to>
                                    </p:set>
                                    <p:animEffect transition="in" filter="wipe(left)">
                                      <p:cBhvr>
                                        <p:cTn id="42" dur="500"/>
                                        <p:tgtEl>
                                          <p:spTgt spid="16590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6590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2" grpId="0"/>
      <p:bldP spid="165893" grpId="0"/>
      <p:bldP spid="165897" grpId="0" autoUpdateAnimBg="0"/>
      <p:bldP spid="165898" grpId="0"/>
      <p:bldP spid="165899" grpId="0" autoUpdateAnimBg="0"/>
      <p:bldP spid="165900" grpId="0"/>
      <p:bldP spid="165901" grpId="0"/>
      <p:bldP spid="165902"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7" name="Text Box 5"/>
          <p:cNvSpPr txBox="1">
            <a:spLocks noChangeArrowheads="1"/>
          </p:cNvSpPr>
          <p:nvPr/>
        </p:nvSpPr>
        <p:spPr bwMode="auto">
          <a:xfrm>
            <a:off x="431800" y="954088"/>
            <a:ext cx="8423275" cy="895350"/>
          </a:xfrm>
          <a:prstGeom prst="rect">
            <a:avLst/>
          </a:prstGeom>
          <a:noFill/>
          <a:ln w="9525">
            <a:noFill/>
            <a:miter lim="800000"/>
            <a:headEnd/>
            <a:tailEnd/>
          </a:ln>
        </p:spPr>
        <p:txBody>
          <a:bodyPr>
            <a:spAutoFit/>
          </a:bodyPr>
          <a:lstStyle/>
          <a:p>
            <a:pPr algn="l">
              <a:lnSpc>
                <a:spcPct val="110000"/>
              </a:lnSpc>
              <a:spcBef>
                <a:spcPct val="50000"/>
              </a:spcBef>
            </a:pPr>
            <a:r>
              <a:rPr lang="en-US" altLang="zh-CN" b="1"/>
              <a:t>    </a:t>
            </a:r>
            <a:r>
              <a:rPr lang="zh-CN" altLang="en-US" b="1"/>
              <a:t>金牛座中的蟹状星云是</a:t>
            </a:r>
            <a:r>
              <a:rPr lang="en-US" altLang="zh-CN" b="1"/>
              <a:t>900</a:t>
            </a:r>
            <a:r>
              <a:rPr lang="zh-CN" altLang="en-US" b="1"/>
              <a:t>多年前一次超新星爆发中抛出来的气体壳层．</a:t>
            </a:r>
          </a:p>
        </p:txBody>
      </p:sp>
      <p:sp>
        <p:nvSpPr>
          <p:cNvPr id="166936" name="Text Box 24"/>
          <p:cNvSpPr txBox="1">
            <a:spLocks noChangeArrowheads="1"/>
          </p:cNvSpPr>
          <p:nvPr/>
        </p:nvSpPr>
        <p:spPr bwMode="auto">
          <a:xfrm>
            <a:off x="476250" y="3924300"/>
            <a:ext cx="8480425" cy="457200"/>
          </a:xfrm>
          <a:prstGeom prst="rect">
            <a:avLst/>
          </a:prstGeom>
          <a:noFill/>
          <a:ln w="9525">
            <a:noFill/>
            <a:miter lim="800000"/>
            <a:headEnd/>
            <a:tailEnd/>
          </a:ln>
        </p:spPr>
        <p:txBody>
          <a:bodyPr>
            <a:spAutoFit/>
          </a:bodyPr>
          <a:lstStyle/>
          <a:p>
            <a:pPr algn="l">
              <a:spcBef>
                <a:spcPct val="50000"/>
              </a:spcBef>
            </a:pPr>
            <a:r>
              <a:rPr lang="zh-CN" altLang="en-US" b="1"/>
              <a:t>结论：可在</a:t>
            </a:r>
            <a:r>
              <a:rPr lang="en-US" altLang="zh-CN" b="1"/>
              <a:t>25</a:t>
            </a:r>
            <a:r>
              <a:rPr lang="zh-CN" altLang="en-US" b="1"/>
              <a:t>年内持续看到超新星爆发时发出的强光。</a:t>
            </a:r>
          </a:p>
        </p:txBody>
      </p:sp>
      <p:sp>
        <p:nvSpPr>
          <p:cNvPr id="166937" name="Text Box 25"/>
          <p:cNvSpPr txBox="1">
            <a:spLocks noChangeArrowheads="1"/>
          </p:cNvSpPr>
          <p:nvPr/>
        </p:nvSpPr>
        <p:spPr bwMode="auto">
          <a:xfrm>
            <a:off x="250825" y="4464050"/>
            <a:ext cx="7651750" cy="1938338"/>
          </a:xfrm>
          <a:prstGeom prst="rect">
            <a:avLst/>
          </a:prstGeom>
          <a:noFill/>
          <a:ln w="9525">
            <a:noFill/>
            <a:miter lim="800000"/>
            <a:headEnd/>
            <a:tailEnd/>
          </a:ln>
        </p:spPr>
        <p:txBody>
          <a:bodyPr>
            <a:spAutoFit/>
          </a:bodyPr>
          <a:lstStyle/>
          <a:p>
            <a:pPr algn="l">
              <a:spcBef>
                <a:spcPct val="50000"/>
              </a:spcBef>
            </a:pPr>
            <a:r>
              <a:rPr lang="en-US" altLang="zh-CN" b="1">
                <a:solidFill>
                  <a:srgbClr val="990000"/>
                </a:solidFill>
              </a:rPr>
              <a:t>    </a:t>
            </a:r>
            <a:r>
              <a:rPr lang="zh-CN" altLang="en-US" b="1">
                <a:solidFill>
                  <a:srgbClr val="990000"/>
                </a:solidFill>
              </a:rPr>
              <a:t>据我国史籍</a:t>
            </a:r>
            <a:r>
              <a:rPr lang="en-US" altLang="zh-CN" b="1">
                <a:solidFill>
                  <a:srgbClr val="990000"/>
                </a:solidFill>
              </a:rPr>
              <a:t>《</a:t>
            </a:r>
            <a:r>
              <a:rPr lang="zh-CN" altLang="en-US" b="1">
                <a:solidFill>
                  <a:srgbClr val="990000"/>
                </a:solidFill>
              </a:rPr>
              <a:t>宋会要</a:t>
            </a:r>
            <a:r>
              <a:rPr lang="en-US" altLang="zh-CN" b="1">
                <a:solidFill>
                  <a:srgbClr val="990000"/>
                </a:solidFill>
              </a:rPr>
              <a:t>》</a:t>
            </a:r>
            <a:r>
              <a:rPr lang="zh-CN" altLang="en-US" b="1">
                <a:solidFill>
                  <a:srgbClr val="990000"/>
                </a:solidFill>
              </a:rPr>
              <a:t>中记载，这一超新星最初现于北宋至和元年（公元</a:t>
            </a:r>
            <a:r>
              <a:rPr lang="en-US" altLang="zh-CN" b="1">
                <a:solidFill>
                  <a:srgbClr val="990000"/>
                </a:solidFill>
              </a:rPr>
              <a:t>1054</a:t>
            </a:r>
            <a:r>
              <a:rPr lang="zh-CN" altLang="en-US" b="1">
                <a:solidFill>
                  <a:srgbClr val="990000"/>
                </a:solidFill>
              </a:rPr>
              <a:t>年）五月，白昼看起来赛过太白金星，历时</a:t>
            </a:r>
            <a:r>
              <a:rPr lang="en-US" altLang="zh-CN" b="1">
                <a:solidFill>
                  <a:srgbClr val="990000"/>
                </a:solidFill>
              </a:rPr>
              <a:t>23</a:t>
            </a:r>
            <a:r>
              <a:rPr lang="zh-CN" altLang="en-US" b="1">
                <a:solidFill>
                  <a:srgbClr val="990000"/>
                </a:solidFill>
              </a:rPr>
              <a:t>天．随后慢慢暗下去，直到嘉佑元年（公元</a:t>
            </a:r>
            <a:r>
              <a:rPr lang="en-US" altLang="zh-CN" b="1">
                <a:solidFill>
                  <a:srgbClr val="990000"/>
                </a:solidFill>
              </a:rPr>
              <a:t>1056</a:t>
            </a:r>
            <a:r>
              <a:rPr lang="zh-CN" altLang="en-US" b="1">
                <a:solidFill>
                  <a:srgbClr val="990000"/>
                </a:solidFill>
              </a:rPr>
              <a:t>年）三月才消失，不为肉眼所见，总历时</a:t>
            </a:r>
            <a:r>
              <a:rPr lang="en-US" altLang="zh-CN" b="1">
                <a:solidFill>
                  <a:srgbClr val="990000"/>
                </a:solidFill>
              </a:rPr>
              <a:t>22</a:t>
            </a:r>
            <a:r>
              <a:rPr lang="zh-CN" altLang="en-US" b="1">
                <a:solidFill>
                  <a:srgbClr val="990000"/>
                </a:solidFill>
              </a:rPr>
              <a:t>个月。强光从出现到隐没还不到两年。</a:t>
            </a:r>
          </a:p>
        </p:txBody>
      </p:sp>
      <p:pic>
        <p:nvPicPr>
          <p:cNvPr id="166940" name="Picture 28"/>
          <p:cNvPicPr>
            <a:picLocks noChangeAspect="1" noChangeArrowheads="1"/>
          </p:cNvPicPr>
          <p:nvPr/>
        </p:nvPicPr>
        <p:blipFill>
          <a:blip r:embed="rId4"/>
          <a:srcRect/>
          <a:stretch>
            <a:fillRect/>
          </a:stretch>
        </p:blipFill>
        <p:spPr bwMode="auto">
          <a:xfrm>
            <a:off x="3986213" y="1538288"/>
            <a:ext cx="4914900" cy="2324100"/>
          </a:xfrm>
          <a:prstGeom prst="rect">
            <a:avLst/>
          </a:prstGeom>
          <a:noFill/>
          <a:ln w="9525">
            <a:noFill/>
            <a:miter lim="800000"/>
            <a:headEnd/>
            <a:tailEnd/>
          </a:ln>
        </p:spPr>
      </p:pic>
      <p:graphicFrame>
        <p:nvGraphicFramePr>
          <p:cNvPr id="166941" name="Object 29"/>
          <p:cNvGraphicFramePr>
            <a:graphicFrameLocks noChangeAspect="1"/>
          </p:cNvGraphicFramePr>
          <p:nvPr/>
        </p:nvGraphicFramePr>
        <p:xfrm>
          <a:off x="701675" y="1898650"/>
          <a:ext cx="1350963" cy="790575"/>
        </p:xfrm>
        <a:graphic>
          <a:graphicData uri="http://schemas.openxmlformats.org/presentationml/2006/ole">
            <p:oleObj spid="_x0000_s1026" name="Equation" r:id="rId5" imgW="672808" imgH="393529" progId="">
              <p:embed/>
            </p:oleObj>
          </a:graphicData>
        </a:graphic>
      </p:graphicFrame>
      <p:graphicFrame>
        <p:nvGraphicFramePr>
          <p:cNvPr id="166942" name="Object 30"/>
          <p:cNvGraphicFramePr>
            <a:graphicFrameLocks noChangeAspect="1"/>
          </p:cNvGraphicFramePr>
          <p:nvPr/>
        </p:nvGraphicFramePr>
        <p:xfrm>
          <a:off x="2771775" y="1943100"/>
          <a:ext cx="892175" cy="790575"/>
        </p:xfrm>
        <a:graphic>
          <a:graphicData uri="http://schemas.openxmlformats.org/presentationml/2006/ole">
            <p:oleObj spid="_x0000_s1027" name="Equation" r:id="rId6" imgW="444307" imgH="393529" progId="">
              <p:embed/>
            </p:oleObj>
          </a:graphicData>
        </a:graphic>
      </p:graphicFrame>
      <p:sp>
        <p:nvSpPr>
          <p:cNvPr id="166943" name="Text Box 31"/>
          <p:cNvSpPr txBox="1">
            <a:spLocks noChangeArrowheads="1"/>
          </p:cNvSpPr>
          <p:nvPr/>
        </p:nvSpPr>
        <p:spPr bwMode="auto">
          <a:xfrm>
            <a:off x="611188" y="2798763"/>
            <a:ext cx="3646487" cy="1016000"/>
          </a:xfrm>
          <a:prstGeom prst="rect">
            <a:avLst/>
          </a:prstGeom>
          <a:noFill/>
          <a:ln w="9525">
            <a:noFill/>
            <a:miter lim="800000"/>
            <a:headEnd/>
            <a:tailEnd/>
          </a:ln>
        </p:spPr>
        <p:txBody>
          <a:bodyPr>
            <a:spAutoFit/>
          </a:bodyPr>
          <a:lstStyle/>
          <a:p>
            <a:pPr algn="l">
              <a:spcBef>
                <a:spcPct val="50000"/>
              </a:spcBef>
            </a:pPr>
            <a:r>
              <a:rPr lang="en-US" altLang="zh-CN" b="1" i="1">
                <a:solidFill>
                  <a:schemeClr val="accent2"/>
                </a:solidFill>
              </a:rPr>
              <a:t>l  </a:t>
            </a:r>
            <a:r>
              <a:rPr lang="en-US" altLang="zh-CN" b="1">
                <a:solidFill>
                  <a:schemeClr val="accent2"/>
                </a:solidFill>
              </a:rPr>
              <a:t>= 5</a:t>
            </a:r>
            <a:r>
              <a:rPr lang="zh-CN" altLang="en-US" b="1">
                <a:solidFill>
                  <a:schemeClr val="accent2"/>
                </a:solidFill>
              </a:rPr>
              <a:t>千光年</a:t>
            </a:r>
            <a:endParaRPr lang="en-US" altLang="zh-CN" b="1">
              <a:solidFill>
                <a:schemeClr val="accent2"/>
              </a:solidFill>
            </a:endParaRPr>
          </a:p>
          <a:p>
            <a:pPr algn="l">
              <a:spcBef>
                <a:spcPct val="50000"/>
              </a:spcBef>
            </a:pPr>
            <a:r>
              <a:rPr lang="zh-CN" altLang="en-US" b="1">
                <a:solidFill>
                  <a:schemeClr val="accent2"/>
                </a:solidFill>
              </a:rPr>
              <a:t>抛射速度为</a:t>
            </a:r>
            <a:r>
              <a:rPr lang="en-US" altLang="zh-CN" b="1" i="1">
                <a:solidFill>
                  <a:schemeClr val="accent2"/>
                </a:solidFill>
              </a:rPr>
              <a:t>v</a:t>
            </a:r>
            <a:r>
              <a:rPr lang="en-US" altLang="zh-CN" b="1">
                <a:solidFill>
                  <a:schemeClr val="accent2"/>
                </a:solidFill>
              </a:rPr>
              <a:t>  = 1500 km/s</a:t>
            </a:r>
            <a:endParaRPr lang="en-US" altLang="zh-CN" b="1" i="1">
              <a:solidFill>
                <a:schemeClr val="accent2"/>
              </a:solidFill>
            </a:endParaRPr>
          </a:p>
        </p:txBody>
      </p:sp>
      <p:sp>
        <p:nvSpPr>
          <p:cNvPr id="166944" name="Text Box 32"/>
          <p:cNvSpPr txBox="1">
            <a:spLocks noChangeArrowheads="1"/>
          </p:cNvSpPr>
          <p:nvPr/>
        </p:nvSpPr>
        <p:spPr bwMode="auto">
          <a:xfrm>
            <a:off x="7947025" y="4419600"/>
            <a:ext cx="720725" cy="1555750"/>
          </a:xfrm>
          <a:prstGeom prst="rect">
            <a:avLst/>
          </a:prstGeom>
          <a:noFill/>
          <a:ln w="9525">
            <a:noFill/>
            <a:miter lim="800000"/>
            <a:headEnd/>
            <a:tailEnd/>
          </a:ln>
        </p:spPr>
        <p:txBody>
          <a:bodyPr>
            <a:spAutoFit/>
          </a:bodyPr>
          <a:lstStyle/>
          <a:p>
            <a:pPr>
              <a:spcBef>
                <a:spcPct val="50000"/>
              </a:spcBef>
            </a:pPr>
            <a:r>
              <a:rPr lang="zh-CN" altLang="en-US" sz="9600">
                <a:solidFill>
                  <a:schemeClr val="hlink"/>
                </a:solidFill>
              </a:rPr>
              <a:t>？</a:t>
            </a:r>
          </a:p>
        </p:txBody>
      </p:sp>
      <p:sp>
        <p:nvSpPr>
          <p:cNvPr id="166945" name="Text Box 33"/>
          <p:cNvSpPr txBox="1">
            <a:spLocks noChangeArrowheads="1"/>
          </p:cNvSpPr>
          <p:nvPr/>
        </p:nvSpPr>
        <p:spPr bwMode="auto">
          <a:xfrm>
            <a:off x="250825" y="368300"/>
            <a:ext cx="2968625" cy="493713"/>
          </a:xfrm>
          <a:prstGeom prst="rect">
            <a:avLst/>
          </a:prstGeom>
          <a:noFill/>
          <a:ln w="9525">
            <a:noFill/>
            <a:miter lim="800000"/>
            <a:headEnd/>
            <a:tailEnd/>
          </a:ln>
        </p:spPr>
        <p:txBody>
          <a:bodyPr wrap="none">
            <a:spAutoFit/>
          </a:bodyPr>
          <a:lstStyle/>
          <a:p>
            <a:pPr algn="l">
              <a:lnSpc>
                <a:spcPct val="120000"/>
              </a:lnSpc>
            </a:pPr>
            <a:r>
              <a:rPr lang="zh-CN" altLang="en-US" b="1">
                <a:solidFill>
                  <a:srgbClr val="FF3300"/>
                </a:solidFill>
              </a:rPr>
              <a:t>解释天文现象的困难</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6945"/>
                                        </p:tgtEl>
                                        <p:attrNameLst>
                                          <p:attrName>style.visibility</p:attrName>
                                        </p:attrNameLst>
                                      </p:cBhvr>
                                      <p:to>
                                        <p:strVal val="visible"/>
                                      </p:to>
                                    </p:set>
                                    <p:animEffect transition="in" filter="wipe(left)">
                                      <p:cBhvr>
                                        <p:cTn id="7" dur="1000"/>
                                        <p:tgtEl>
                                          <p:spTgt spid="1669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6917"/>
                                        </p:tgtEl>
                                        <p:attrNameLst>
                                          <p:attrName>style.visibility</p:attrName>
                                        </p:attrNameLst>
                                      </p:cBhvr>
                                      <p:to>
                                        <p:strVal val="visible"/>
                                      </p:to>
                                    </p:set>
                                    <p:animEffect transition="in" filter="wipe(left)">
                                      <p:cBhvr>
                                        <p:cTn id="12" dur="1000"/>
                                        <p:tgtEl>
                                          <p:spTgt spid="1669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66940"/>
                                        </p:tgtEl>
                                        <p:attrNameLst>
                                          <p:attrName>style.visibility</p:attrName>
                                        </p:attrNameLst>
                                      </p:cBhvr>
                                      <p:to>
                                        <p:strVal val="visible"/>
                                      </p:to>
                                    </p:set>
                                    <p:animEffect transition="in" filter="box(out)">
                                      <p:cBhvr>
                                        <p:cTn id="17" dur="2000"/>
                                        <p:tgtEl>
                                          <p:spTgt spid="1669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66941"/>
                                        </p:tgtEl>
                                        <p:attrNameLst>
                                          <p:attrName>style.visibility</p:attrName>
                                        </p:attrNameLst>
                                      </p:cBhvr>
                                      <p:to>
                                        <p:strVal val="visible"/>
                                      </p:to>
                                    </p:set>
                                    <p:animEffect transition="in" filter="wipe(left)">
                                      <p:cBhvr>
                                        <p:cTn id="22" dur="1000"/>
                                        <p:tgtEl>
                                          <p:spTgt spid="16694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66942"/>
                                        </p:tgtEl>
                                        <p:attrNameLst>
                                          <p:attrName>style.visibility</p:attrName>
                                        </p:attrNameLst>
                                      </p:cBhvr>
                                      <p:to>
                                        <p:strVal val="visible"/>
                                      </p:to>
                                    </p:set>
                                    <p:animEffect transition="in" filter="wipe(left)">
                                      <p:cBhvr>
                                        <p:cTn id="27" dur="1000"/>
                                        <p:tgtEl>
                                          <p:spTgt spid="16694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6943"/>
                                        </p:tgtEl>
                                        <p:attrNameLst>
                                          <p:attrName>style.visibility</p:attrName>
                                        </p:attrNameLst>
                                      </p:cBhvr>
                                      <p:to>
                                        <p:strVal val="visible"/>
                                      </p:to>
                                    </p:set>
                                    <p:animEffect transition="in" filter="wipe(left)">
                                      <p:cBhvr>
                                        <p:cTn id="32" dur="1000"/>
                                        <p:tgtEl>
                                          <p:spTgt spid="16694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6936"/>
                                        </p:tgtEl>
                                        <p:attrNameLst>
                                          <p:attrName>style.visibility</p:attrName>
                                        </p:attrNameLst>
                                      </p:cBhvr>
                                      <p:to>
                                        <p:strVal val="visible"/>
                                      </p:to>
                                    </p:set>
                                    <p:animEffect transition="in" filter="wipe(left)">
                                      <p:cBhvr>
                                        <p:cTn id="37" dur="1000"/>
                                        <p:tgtEl>
                                          <p:spTgt spid="16693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6937"/>
                                        </p:tgtEl>
                                        <p:attrNameLst>
                                          <p:attrName>style.visibility</p:attrName>
                                        </p:attrNameLst>
                                      </p:cBhvr>
                                      <p:to>
                                        <p:strVal val="visible"/>
                                      </p:to>
                                    </p:set>
                                    <p:animEffect transition="in" filter="wipe(left)">
                                      <p:cBhvr>
                                        <p:cTn id="42" dur="1000"/>
                                        <p:tgtEl>
                                          <p:spTgt spid="16693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166944"/>
                                        </p:tgtEl>
                                        <p:attrNameLst>
                                          <p:attrName>style.visibility</p:attrName>
                                        </p:attrNameLst>
                                      </p:cBhvr>
                                      <p:to>
                                        <p:strVal val="visible"/>
                                      </p:to>
                                    </p:set>
                                  </p:childTnLst>
                                </p:cTn>
                              </p:par>
                            </p:childTnLst>
                          </p:cTn>
                        </p:par>
                        <p:par>
                          <p:cTn id="47" fill="hold" nodeType="afterGroup">
                            <p:stCondLst>
                              <p:cond delay="0"/>
                            </p:stCondLst>
                            <p:childTnLst>
                              <p:par>
                                <p:cTn id="48" presetID="6" presetClass="emph" presetSubtype="0" fill="hold" grpId="0" nodeType="afterEffect">
                                  <p:stCondLst>
                                    <p:cond delay="0"/>
                                  </p:stCondLst>
                                  <p:childTnLst>
                                    <p:animScale>
                                      <p:cBhvr>
                                        <p:cTn id="49" dur="2000" fill="hold"/>
                                        <p:tgtEl>
                                          <p:spTgt spid="166944"/>
                                        </p:tgtEl>
                                      </p:cBhvr>
                                      <p:by x="400000" y="400000"/>
                                    </p:animScale>
                                  </p:childTnLst>
                                  <p:subTnLst>
                                    <p:audio>
                                      <p:cMediaNode>
                                        <p:cTn display="0" masterRel="sameClick">
                                          <p:stCondLst>
                                            <p:cond evt="begin" delay="0">
                                              <p:tn val="48"/>
                                            </p:cond>
                                          </p:stCondLst>
                                          <p:endCondLst>
                                            <p:cond evt="onStopAudio" delay="0">
                                              <p:tgtEl>
                                                <p:sldTgt/>
                                              </p:tgtEl>
                                            </p:cond>
                                          </p:endCondLst>
                                        </p:cTn>
                                        <p:tgtEl>
                                          <p:sndTgt r:embed="rId3" name="explode.wav" builtIn="1"/>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7" grpId="0"/>
      <p:bldP spid="166936" grpId="0"/>
      <p:bldP spid="166937" grpId="0"/>
      <p:bldP spid="166943" grpId="0"/>
      <p:bldP spid="166944" grpId="0"/>
      <p:bldP spid="166944" grpId="1"/>
      <p:bldP spid="16694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0596" name="Object 4"/>
          <p:cNvGraphicFramePr>
            <a:graphicFrameLocks noChangeAspect="1"/>
          </p:cNvGraphicFramePr>
          <p:nvPr/>
        </p:nvGraphicFramePr>
        <p:xfrm>
          <a:off x="1916113" y="1042988"/>
          <a:ext cx="4635500" cy="658812"/>
        </p:xfrm>
        <a:graphic>
          <a:graphicData uri="http://schemas.openxmlformats.org/presentationml/2006/ole">
            <p:oleObj spid="_x0000_s2050" name="公式" r:id="rId3" imgW="1916868" imgH="266584" progId="Equation.3">
              <p:embed/>
            </p:oleObj>
          </a:graphicData>
        </a:graphic>
      </p:graphicFrame>
      <p:sp>
        <p:nvSpPr>
          <p:cNvPr id="110597" name="Text Box 5"/>
          <p:cNvSpPr txBox="1">
            <a:spLocks noChangeArrowheads="1"/>
          </p:cNvSpPr>
          <p:nvPr/>
        </p:nvSpPr>
        <p:spPr bwMode="auto">
          <a:xfrm>
            <a:off x="250825" y="458788"/>
            <a:ext cx="5699125" cy="530225"/>
          </a:xfrm>
          <a:prstGeom prst="rect">
            <a:avLst/>
          </a:prstGeom>
          <a:noFill/>
          <a:ln w="9525">
            <a:noFill/>
            <a:miter lim="800000"/>
            <a:headEnd/>
            <a:tailEnd/>
          </a:ln>
        </p:spPr>
        <p:txBody>
          <a:bodyPr wrap="none">
            <a:spAutoFit/>
          </a:bodyPr>
          <a:lstStyle/>
          <a:p>
            <a:pPr algn="l">
              <a:lnSpc>
                <a:spcPct val="120000"/>
              </a:lnSpc>
            </a:pPr>
            <a:r>
              <a:rPr lang="zh-CN" altLang="en-US" b="1">
                <a:solidFill>
                  <a:srgbClr val="FF3300"/>
                </a:solidFill>
                <a:latin typeface="宋体" pitchFamily="2" charset="-122"/>
              </a:rPr>
              <a:t>麦克斯韦电磁场方程组不服从伽利略变换</a:t>
            </a:r>
          </a:p>
        </p:txBody>
      </p:sp>
      <p:sp>
        <p:nvSpPr>
          <p:cNvPr id="110598" name="Text Box 6"/>
          <p:cNvSpPr txBox="1">
            <a:spLocks noChangeArrowheads="1"/>
          </p:cNvSpPr>
          <p:nvPr/>
        </p:nvSpPr>
        <p:spPr bwMode="auto">
          <a:xfrm>
            <a:off x="296863" y="1808163"/>
            <a:ext cx="8640762" cy="2195512"/>
          </a:xfrm>
          <a:prstGeom prst="rect">
            <a:avLst/>
          </a:prstGeom>
          <a:noFill/>
          <a:ln w="9525">
            <a:noFill/>
            <a:miter lim="800000"/>
            <a:headEnd/>
            <a:tailEnd/>
          </a:ln>
        </p:spPr>
        <p:txBody>
          <a:bodyPr>
            <a:spAutoFit/>
          </a:bodyPr>
          <a:lstStyle/>
          <a:p>
            <a:pPr algn="l">
              <a:lnSpc>
                <a:spcPct val="115000"/>
              </a:lnSpc>
              <a:buFont typeface="Wingdings" pitchFamily="2" charset="2"/>
              <a:buNone/>
            </a:pPr>
            <a:r>
              <a:rPr lang="en-US" altLang="zh-CN" b="1">
                <a:solidFill>
                  <a:schemeClr val="bg1"/>
                </a:solidFill>
              </a:rPr>
              <a:t>        </a:t>
            </a:r>
            <a:r>
              <a:rPr lang="zh-CN" altLang="en-US" b="1">
                <a:solidFill>
                  <a:schemeClr val="bg1"/>
                </a:solidFill>
              </a:rPr>
              <a:t>它是一个恒量，说明光在真空中沿着各个方向传播的速率与参考系的选择及光传播的方向无关。按照经典力学的观点，在伽利略变换下，对于不同惯性系中的观察者来说，电磁波的传播速度不可能相同．但实验事实表明，光在真空中的传播速度是相同的．</a:t>
            </a:r>
            <a:r>
              <a:rPr lang="en-US" altLang="zh-CN" b="1">
                <a:solidFill>
                  <a:schemeClr val="bg1"/>
                </a:solidFill>
              </a:rPr>
              <a:t> </a:t>
            </a:r>
          </a:p>
        </p:txBody>
      </p:sp>
      <p:sp>
        <p:nvSpPr>
          <p:cNvPr id="110599" name="Text Box 7"/>
          <p:cNvSpPr txBox="1">
            <a:spLocks noChangeArrowheads="1"/>
          </p:cNvSpPr>
          <p:nvPr/>
        </p:nvSpPr>
        <p:spPr bwMode="auto">
          <a:xfrm>
            <a:off x="285750" y="4149725"/>
            <a:ext cx="3843338" cy="493713"/>
          </a:xfrm>
          <a:prstGeom prst="rect">
            <a:avLst/>
          </a:prstGeom>
          <a:noFill/>
          <a:ln w="9525">
            <a:noFill/>
            <a:miter lim="800000"/>
            <a:headEnd/>
            <a:tailEnd/>
          </a:ln>
        </p:spPr>
        <p:txBody>
          <a:bodyPr wrap="none">
            <a:spAutoFit/>
          </a:bodyPr>
          <a:lstStyle/>
          <a:p>
            <a:pPr algn="l">
              <a:lnSpc>
                <a:spcPct val="120000"/>
              </a:lnSpc>
            </a:pPr>
            <a:r>
              <a:rPr lang="zh-CN" altLang="en-US" b="1">
                <a:solidFill>
                  <a:srgbClr val="FF3300"/>
                </a:solidFill>
              </a:rPr>
              <a:t>迈克耳逊</a:t>
            </a:r>
            <a:r>
              <a:rPr lang="en-US" altLang="zh-CN" b="1">
                <a:solidFill>
                  <a:srgbClr val="FF3300"/>
                </a:solidFill>
              </a:rPr>
              <a:t> -— </a:t>
            </a:r>
            <a:r>
              <a:rPr lang="zh-CN" altLang="en-US" b="1">
                <a:solidFill>
                  <a:srgbClr val="FF3300"/>
                </a:solidFill>
              </a:rPr>
              <a:t>莫雷实验结果</a:t>
            </a:r>
          </a:p>
        </p:txBody>
      </p:sp>
      <p:sp>
        <p:nvSpPr>
          <p:cNvPr id="110600" name="Text Box 8"/>
          <p:cNvSpPr txBox="1">
            <a:spLocks noChangeArrowheads="1"/>
          </p:cNvSpPr>
          <p:nvPr/>
        </p:nvSpPr>
        <p:spPr bwMode="auto">
          <a:xfrm>
            <a:off x="431800" y="4914900"/>
            <a:ext cx="8550275" cy="933450"/>
          </a:xfrm>
          <a:prstGeom prst="rect">
            <a:avLst/>
          </a:prstGeom>
          <a:noFill/>
          <a:ln w="9525">
            <a:noFill/>
            <a:miter lim="800000"/>
            <a:headEnd/>
            <a:tailEnd/>
          </a:ln>
        </p:spPr>
        <p:txBody>
          <a:bodyPr>
            <a:spAutoFit/>
          </a:bodyPr>
          <a:lstStyle/>
          <a:p>
            <a:pPr algn="l">
              <a:lnSpc>
                <a:spcPct val="115000"/>
              </a:lnSpc>
              <a:buFont typeface="Wingdings" pitchFamily="2" charset="2"/>
              <a:buNone/>
            </a:pPr>
            <a:r>
              <a:rPr lang="en-US" altLang="zh-CN" b="1">
                <a:solidFill>
                  <a:schemeClr val="bg1"/>
                </a:solidFill>
              </a:rPr>
              <a:t>        </a:t>
            </a:r>
            <a:r>
              <a:rPr lang="zh-CN" altLang="en-US" b="1">
                <a:solidFill>
                  <a:schemeClr val="bg1"/>
                </a:solidFill>
              </a:rPr>
              <a:t>否定了</a:t>
            </a:r>
            <a:r>
              <a:rPr lang="zh-CN" altLang="en-US" b="1">
                <a:solidFill>
                  <a:srgbClr val="FF6600"/>
                </a:solidFill>
              </a:rPr>
              <a:t>“以太”</a:t>
            </a:r>
            <a:r>
              <a:rPr lang="zh-CN" altLang="en-US" b="1">
                <a:solidFill>
                  <a:schemeClr val="bg1"/>
                </a:solidFill>
              </a:rPr>
              <a:t>的存在；在所有惯性系中，真空中光沿各个方向传播的速率都相等，即都等于</a:t>
            </a:r>
            <a:r>
              <a:rPr lang="en-US" altLang="zh-CN" b="1">
                <a:solidFill>
                  <a:schemeClr val="bg1"/>
                </a:solidFill>
              </a:rPr>
              <a:t> </a:t>
            </a:r>
            <a:r>
              <a:rPr lang="en-US" altLang="zh-CN" b="1" i="1">
                <a:solidFill>
                  <a:srgbClr val="FF6600"/>
                </a:solidFill>
              </a:rPr>
              <a:t>c </a:t>
            </a:r>
            <a:r>
              <a:rPr lang="zh-CN" altLang="en-US" b="1" i="1">
                <a:solidFill>
                  <a:schemeClr val="bg1"/>
                </a:solidFill>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0597"/>
                                        </p:tgtEl>
                                        <p:attrNameLst>
                                          <p:attrName>style.visibility</p:attrName>
                                        </p:attrNameLst>
                                      </p:cBhvr>
                                      <p:to>
                                        <p:strVal val="visible"/>
                                      </p:to>
                                    </p:set>
                                    <p:animEffect transition="in" filter="wipe(left)">
                                      <p:cBhvr>
                                        <p:cTn id="7" dur="500"/>
                                        <p:tgtEl>
                                          <p:spTgt spid="1105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0596"/>
                                        </p:tgtEl>
                                        <p:attrNameLst>
                                          <p:attrName>style.visibility</p:attrName>
                                        </p:attrNameLst>
                                      </p:cBhvr>
                                      <p:to>
                                        <p:strVal val="visible"/>
                                      </p:to>
                                    </p:set>
                                    <p:animEffect transition="in" filter="wipe(left)">
                                      <p:cBhvr>
                                        <p:cTn id="12" dur="500"/>
                                        <p:tgtEl>
                                          <p:spTgt spid="1105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0598"/>
                                        </p:tgtEl>
                                        <p:attrNameLst>
                                          <p:attrName>style.visibility</p:attrName>
                                        </p:attrNameLst>
                                      </p:cBhvr>
                                      <p:to>
                                        <p:strVal val="visible"/>
                                      </p:to>
                                    </p:set>
                                    <p:animEffect transition="in" filter="wipe(left)">
                                      <p:cBhvr>
                                        <p:cTn id="17" dur="500"/>
                                        <p:tgtEl>
                                          <p:spTgt spid="11059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0599"/>
                                        </p:tgtEl>
                                        <p:attrNameLst>
                                          <p:attrName>style.visibility</p:attrName>
                                        </p:attrNameLst>
                                      </p:cBhvr>
                                      <p:to>
                                        <p:strVal val="visible"/>
                                      </p:to>
                                    </p:set>
                                    <p:animEffect transition="in" filter="wipe(left)">
                                      <p:cBhvr>
                                        <p:cTn id="22" dur="500"/>
                                        <p:tgtEl>
                                          <p:spTgt spid="11059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0600"/>
                                        </p:tgtEl>
                                        <p:attrNameLst>
                                          <p:attrName>style.visibility</p:attrName>
                                        </p:attrNameLst>
                                      </p:cBhvr>
                                      <p:to>
                                        <p:strVal val="visible"/>
                                      </p:to>
                                    </p:set>
                                    <p:animEffect transition="in" filter="wipe(left)">
                                      <p:cBhvr>
                                        <p:cTn id="27" dur="500"/>
                                        <p:tgtEl>
                                          <p:spTgt spid="1106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7" grpId="0"/>
      <p:bldP spid="110598" grpId="0"/>
      <p:bldP spid="110599" grpId="0"/>
      <p:bldP spid="11060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ChangeArrowheads="1"/>
          </p:cNvSpPr>
          <p:nvPr/>
        </p:nvSpPr>
        <p:spPr bwMode="auto">
          <a:xfrm>
            <a:off x="341313" y="936625"/>
            <a:ext cx="7966075" cy="479425"/>
          </a:xfrm>
          <a:prstGeom prst="rect">
            <a:avLst/>
          </a:prstGeom>
          <a:noFill/>
          <a:ln w="9525">
            <a:noFill/>
            <a:miter lim="800000"/>
            <a:headEnd/>
            <a:tailEnd/>
          </a:ln>
        </p:spPr>
        <p:txBody>
          <a:bodyPr>
            <a:spAutoFit/>
          </a:bodyPr>
          <a:lstStyle/>
          <a:p>
            <a:pPr algn="l">
              <a:lnSpc>
                <a:spcPct val="115000"/>
              </a:lnSpc>
            </a:pPr>
            <a:r>
              <a:rPr lang="en-US" altLang="zh-CN" b="1">
                <a:solidFill>
                  <a:schemeClr val="bg1"/>
                </a:solidFill>
              </a:rPr>
              <a:t>1905</a:t>
            </a:r>
            <a:r>
              <a:rPr lang="zh-CN" altLang="en-US" b="1">
                <a:solidFill>
                  <a:schemeClr val="bg1"/>
                </a:solidFill>
              </a:rPr>
              <a:t>年，爱因斯坦首次提出了狭义相对论的两个假设</a:t>
            </a:r>
          </a:p>
        </p:txBody>
      </p:sp>
      <p:graphicFrame>
        <p:nvGraphicFramePr>
          <p:cNvPr id="111620" name="Object 4"/>
          <p:cNvGraphicFramePr>
            <a:graphicFrameLocks/>
          </p:cNvGraphicFramePr>
          <p:nvPr/>
        </p:nvGraphicFramePr>
        <p:xfrm>
          <a:off x="2692400" y="4914900"/>
          <a:ext cx="2406650" cy="320675"/>
        </p:xfrm>
        <a:graphic>
          <a:graphicData uri="http://schemas.openxmlformats.org/presentationml/2006/ole">
            <p:oleObj spid="_x0000_s3074" name="公式" r:id="rId3" imgW="1333440" imgH="177480" progId="Equation.3">
              <p:embed/>
            </p:oleObj>
          </a:graphicData>
        </a:graphic>
      </p:graphicFrame>
      <p:sp>
        <p:nvSpPr>
          <p:cNvPr id="111621" name="Rectangle 5"/>
          <p:cNvSpPr>
            <a:spLocks noChangeArrowheads="1"/>
          </p:cNvSpPr>
          <p:nvPr/>
        </p:nvSpPr>
        <p:spPr bwMode="auto">
          <a:xfrm>
            <a:off x="296863" y="3794125"/>
            <a:ext cx="2733675" cy="479425"/>
          </a:xfrm>
          <a:prstGeom prst="rect">
            <a:avLst/>
          </a:prstGeom>
          <a:noFill/>
          <a:ln w="9525">
            <a:noFill/>
            <a:miter lim="800000"/>
            <a:headEnd/>
            <a:tailEnd/>
          </a:ln>
        </p:spPr>
        <p:txBody>
          <a:bodyPr>
            <a:spAutoFit/>
          </a:bodyPr>
          <a:lstStyle/>
          <a:p>
            <a:pPr algn="l">
              <a:lnSpc>
                <a:spcPct val="115000"/>
              </a:lnSpc>
            </a:pPr>
            <a:r>
              <a:rPr lang="en-US" altLang="zh-CN" b="1">
                <a:solidFill>
                  <a:schemeClr val="hlink"/>
                </a:solidFill>
              </a:rPr>
              <a:t>2. </a:t>
            </a:r>
            <a:r>
              <a:rPr lang="zh-CN" altLang="en-US" b="1">
                <a:solidFill>
                  <a:schemeClr val="hlink"/>
                </a:solidFill>
              </a:rPr>
              <a:t>光速不变原理</a:t>
            </a:r>
          </a:p>
        </p:txBody>
      </p:sp>
      <p:sp>
        <p:nvSpPr>
          <p:cNvPr id="111622" name="Rectangle 6"/>
          <p:cNvSpPr>
            <a:spLocks noChangeArrowheads="1"/>
          </p:cNvSpPr>
          <p:nvPr/>
        </p:nvSpPr>
        <p:spPr bwMode="auto">
          <a:xfrm>
            <a:off x="927100" y="4284663"/>
            <a:ext cx="6886575" cy="479425"/>
          </a:xfrm>
          <a:prstGeom prst="rect">
            <a:avLst/>
          </a:prstGeom>
          <a:noFill/>
          <a:ln w="9525">
            <a:noFill/>
            <a:miter lim="800000"/>
            <a:headEnd/>
            <a:tailEnd/>
          </a:ln>
        </p:spPr>
        <p:txBody>
          <a:bodyPr>
            <a:spAutoFit/>
          </a:bodyPr>
          <a:lstStyle/>
          <a:p>
            <a:pPr algn="l" eaLnBrk="0" hangingPunct="0">
              <a:lnSpc>
                <a:spcPct val="115000"/>
              </a:lnSpc>
            </a:pPr>
            <a:r>
              <a:rPr lang="zh-CN" altLang="en-US" b="1"/>
              <a:t>光在真空中的速率对任何惯性系都相等．</a:t>
            </a:r>
            <a:r>
              <a:rPr lang="en-US" altLang="zh-CN"/>
              <a:t> </a:t>
            </a:r>
          </a:p>
        </p:txBody>
      </p:sp>
      <p:sp>
        <p:nvSpPr>
          <p:cNvPr id="111624" name="Rectangle 8"/>
          <p:cNvSpPr>
            <a:spLocks noChangeArrowheads="1"/>
          </p:cNvSpPr>
          <p:nvPr/>
        </p:nvSpPr>
        <p:spPr bwMode="auto">
          <a:xfrm>
            <a:off x="1016000" y="5348288"/>
            <a:ext cx="5257800" cy="477837"/>
          </a:xfrm>
          <a:prstGeom prst="rect">
            <a:avLst/>
          </a:prstGeom>
          <a:noFill/>
          <a:ln w="9525">
            <a:noFill/>
            <a:miter lim="800000"/>
            <a:headEnd/>
            <a:tailEnd/>
          </a:ln>
        </p:spPr>
        <p:txBody>
          <a:bodyPr>
            <a:spAutoFit/>
          </a:bodyPr>
          <a:lstStyle/>
          <a:p>
            <a:pPr algn="l">
              <a:lnSpc>
                <a:spcPct val="115000"/>
              </a:lnSpc>
              <a:buClr>
                <a:srgbClr val="9900CC"/>
              </a:buClr>
              <a:buSzPct val="130000"/>
              <a:buFontTx/>
              <a:buChar char="•"/>
            </a:pPr>
            <a:r>
              <a:rPr lang="en-US" altLang="zh-CN" b="1">
                <a:solidFill>
                  <a:schemeClr val="bg1"/>
                </a:solidFill>
              </a:rPr>
              <a:t> </a:t>
            </a:r>
            <a:r>
              <a:rPr lang="zh-CN" altLang="en-US" b="1">
                <a:solidFill>
                  <a:schemeClr val="bg1"/>
                </a:solidFill>
              </a:rPr>
              <a:t>光速不随观察者的运动而变化</a:t>
            </a:r>
            <a:r>
              <a:rPr lang="en-US" altLang="zh-CN" b="1">
                <a:solidFill>
                  <a:schemeClr val="bg1"/>
                </a:solidFill>
              </a:rPr>
              <a:t> </a:t>
            </a:r>
          </a:p>
        </p:txBody>
      </p:sp>
      <p:sp>
        <p:nvSpPr>
          <p:cNvPr id="111625" name="Rectangle 9"/>
          <p:cNvSpPr>
            <a:spLocks noChangeArrowheads="1"/>
          </p:cNvSpPr>
          <p:nvPr/>
        </p:nvSpPr>
        <p:spPr bwMode="auto">
          <a:xfrm>
            <a:off x="1016000" y="5873750"/>
            <a:ext cx="5257800" cy="477838"/>
          </a:xfrm>
          <a:prstGeom prst="rect">
            <a:avLst/>
          </a:prstGeom>
          <a:noFill/>
          <a:ln w="9525">
            <a:noFill/>
            <a:miter lim="800000"/>
            <a:headEnd/>
            <a:tailEnd/>
          </a:ln>
        </p:spPr>
        <p:txBody>
          <a:bodyPr>
            <a:spAutoFit/>
          </a:bodyPr>
          <a:lstStyle/>
          <a:p>
            <a:pPr algn="l">
              <a:lnSpc>
                <a:spcPct val="115000"/>
              </a:lnSpc>
              <a:buClr>
                <a:srgbClr val="9900CC"/>
              </a:buClr>
              <a:buSzPct val="130000"/>
              <a:buFontTx/>
              <a:buChar char="•"/>
            </a:pPr>
            <a:r>
              <a:rPr lang="en-US" altLang="zh-CN" b="1">
                <a:solidFill>
                  <a:schemeClr val="bg1"/>
                </a:solidFill>
              </a:rPr>
              <a:t> </a:t>
            </a:r>
            <a:r>
              <a:rPr lang="zh-CN" altLang="en-US" b="1">
                <a:solidFill>
                  <a:schemeClr val="bg1"/>
                </a:solidFill>
              </a:rPr>
              <a:t>光速不随光源的运动而变化</a:t>
            </a:r>
            <a:r>
              <a:rPr lang="en-US" altLang="zh-CN" b="1">
                <a:solidFill>
                  <a:schemeClr val="bg1"/>
                </a:solidFill>
              </a:rPr>
              <a:t> </a:t>
            </a:r>
          </a:p>
        </p:txBody>
      </p:sp>
      <p:sp>
        <p:nvSpPr>
          <p:cNvPr id="111626" name="Rectangle 10"/>
          <p:cNvSpPr>
            <a:spLocks noChangeArrowheads="1"/>
          </p:cNvSpPr>
          <p:nvPr/>
        </p:nvSpPr>
        <p:spPr bwMode="auto">
          <a:xfrm>
            <a:off x="296863" y="2843213"/>
            <a:ext cx="8586787" cy="942975"/>
          </a:xfrm>
          <a:prstGeom prst="rect">
            <a:avLst/>
          </a:prstGeom>
          <a:noFill/>
          <a:ln w="9525">
            <a:noFill/>
            <a:miter lim="800000"/>
            <a:headEnd/>
            <a:tailEnd/>
          </a:ln>
        </p:spPr>
        <p:txBody>
          <a:bodyPr lIns="92075" tIns="46038" rIns="92075" bIns="46038">
            <a:spAutoFit/>
          </a:bodyPr>
          <a:lstStyle/>
          <a:p>
            <a:pPr algn="l" defTabSz="762000" eaLnBrk="0" hangingPunct="0">
              <a:lnSpc>
                <a:spcPct val="115000"/>
              </a:lnSpc>
            </a:pPr>
            <a:r>
              <a:rPr lang="en-US" altLang="zh-CN" b="1">
                <a:solidFill>
                  <a:srgbClr val="009900"/>
                </a:solidFill>
              </a:rPr>
              <a:t>       </a:t>
            </a:r>
            <a:r>
              <a:rPr lang="zh-CN" altLang="en-US" b="1">
                <a:solidFill>
                  <a:srgbClr val="009900"/>
                </a:solidFill>
              </a:rPr>
              <a:t>所有惯性系都完全处于平等地位，没有任何理由选某一个参考系，把它置于特殊的地位。</a:t>
            </a:r>
          </a:p>
        </p:txBody>
      </p:sp>
      <p:sp>
        <p:nvSpPr>
          <p:cNvPr id="111627" name="Rectangle 11"/>
          <p:cNvSpPr>
            <a:spLocks noChangeArrowheads="1"/>
          </p:cNvSpPr>
          <p:nvPr/>
        </p:nvSpPr>
        <p:spPr bwMode="auto">
          <a:xfrm>
            <a:off x="161925" y="458788"/>
            <a:ext cx="5599113" cy="457200"/>
          </a:xfrm>
          <a:prstGeom prst="rect">
            <a:avLst/>
          </a:prstGeom>
          <a:noFill/>
          <a:ln w="9525">
            <a:noFill/>
            <a:miter lim="800000"/>
            <a:headEnd/>
            <a:tailEnd/>
          </a:ln>
        </p:spPr>
        <p:txBody>
          <a:bodyPr>
            <a:spAutoFit/>
          </a:bodyPr>
          <a:lstStyle/>
          <a:p>
            <a:pPr algn="l">
              <a:spcBef>
                <a:spcPct val="50000"/>
              </a:spcBef>
            </a:pPr>
            <a:r>
              <a:rPr lang="en-US" altLang="zh-CN" b="1">
                <a:solidFill>
                  <a:srgbClr val="0000FF"/>
                </a:solidFill>
              </a:rPr>
              <a:t>4.1.2  </a:t>
            </a:r>
            <a:r>
              <a:rPr lang="zh-CN" altLang="en-US" b="1">
                <a:solidFill>
                  <a:srgbClr val="0000FF"/>
                </a:solidFill>
              </a:rPr>
              <a:t>爱因斯坦的假设</a:t>
            </a:r>
          </a:p>
        </p:txBody>
      </p:sp>
      <p:sp>
        <p:nvSpPr>
          <p:cNvPr id="111628" name="Rectangle 12"/>
          <p:cNvSpPr>
            <a:spLocks noChangeArrowheads="1"/>
          </p:cNvSpPr>
          <p:nvPr/>
        </p:nvSpPr>
        <p:spPr bwMode="auto">
          <a:xfrm>
            <a:off x="250825" y="1493838"/>
            <a:ext cx="2590800" cy="479425"/>
          </a:xfrm>
          <a:prstGeom prst="rect">
            <a:avLst/>
          </a:prstGeom>
          <a:noFill/>
          <a:ln w="9525">
            <a:noFill/>
            <a:miter lim="800000"/>
            <a:headEnd/>
            <a:tailEnd/>
          </a:ln>
        </p:spPr>
        <p:txBody>
          <a:bodyPr lIns="92075" tIns="46038" rIns="92075" bIns="46038">
            <a:spAutoFit/>
          </a:bodyPr>
          <a:lstStyle/>
          <a:p>
            <a:pPr algn="l" defTabSz="762000" eaLnBrk="0" hangingPunct="0">
              <a:lnSpc>
                <a:spcPct val="115000"/>
              </a:lnSpc>
            </a:pPr>
            <a:r>
              <a:rPr lang="en-US" altLang="zh-CN" b="1">
                <a:solidFill>
                  <a:schemeClr val="hlink"/>
                </a:solidFill>
              </a:rPr>
              <a:t>1. </a:t>
            </a:r>
            <a:r>
              <a:rPr lang="zh-CN" altLang="en-US" b="1">
                <a:solidFill>
                  <a:schemeClr val="hlink"/>
                </a:solidFill>
              </a:rPr>
              <a:t>相对性原理</a:t>
            </a:r>
          </a:p>
        </p:txBody>
      </p:sp>
      <p:sp>
        <p:nvSpPr>
          <p:cNvPr id="111629" name="Rectangle 13"/>
          <p:cNvSpPr>
            <a:spLocks noChangeArrowheads="1"/>
          </p:cNvSpPr>
          <p:nvPr/>
        </p:nvSpPr>
        <p:spPr bwMode="auto">
          <a:xfrm>
            <a:off x="296863" y="1943100"/>
            <a:ext cx="8596312" cy="933450"/>
          </a:xfrm>
          <a:prstGeom prst="rect">
            <a:avLst/>
          </a:prstGeom>
          <a:noFill/>
          <a:ln w="9525">
            <a:noFill/>
            <a:miter lim="800000"/>
            <a:headEnd/>
            <a:tailEnd/>
          </a:ln>
        </p:spPr>
        <p:txBody>
          <a:bodyPr lIns="92075" tIns="46038" rIns="92075" bIns="46038">
            <a:spAutoFit/>
          </a:bodyPr>
          <a:lstStyle/>
          <a:p>
            <a:pPr algn="l" defTabSz="762000" eaLnBrk="0" hangingPunct="0">
              <a:lnSpc>
                <a:spcPct val="115000"/>
              </a:lnSpc>
            </a:pPr>
            <a:r>
              <a:rPr lang="en-US" altLang="zh-CN" b="1"/>
              <a:t>        </a:t>
            </a:r>
            <a:r>
              <a:rPr lang="zh-CN" altLang="en-US" b="1"/>
              <a:t>所有物理定律在一切惯性系中都具有相同的形式．或者说所有的惯性系都是平权的，不存在任何一个特殊的惯性系．</a:t>
            </a:r>
            <a:r>
              <a:rPr lang="en-US" altLang="zh-CN"/>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1627"/>
                                        </p:tgtEl>
                                        <p:attrNameLst>
                                          <p:attrName>style.visibility</p:attrName>
                                        </p:attrNameLst>
                                      </p:cBhvr>
                                      <p:to>
                                        <p:strVal val="visible"/>
                                      </p:to>
                                    </p:set>
                                    <p:animEffect transition="in" filter="wipe(left)">
                                      <p:cBhvr>
                                        <p:cTn id="7" dur="500"/>
                                        <p:tgtEl>
                                          <p:spTgt spid="1116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1618"/>
                                        </p:tgtEl>
                                        <p:attrNameLst>
                                          <p:attrName>style.visibility</p:attrName>
                                        </p:attrNameLst>
                                      </p:cBhvr>
                                      <p:to>
                                        <p:strVal val="visible"/>
                                      </p:to>
                                    </p:set>
                                    <p:animEffect transition="in" filter="wipe(left)">
                                      <p:cBhvr>
                                        <p:cTn id="12" dur="500"/>
                                        <p:tgtEl>
                                          <p:spTgt spid="1116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1628"/>
                                        </p:tgtEl>
                                        <p:attrNameLst>
                                          <p:attrName>style.visibility</p:attrName>
                                        </p:attrNameLst>
                                      </p:cBhvr>
                                      <p:to>
                                        <p:strVal val="visible"/>
                                      </p:to>
                                    </p:set>
                                    <p:animEffect transition="in" filter="wipe(left)">
                                      <p:cBhvr>
                                        <p:cTn id="17" dur="500"/>
                                        <p:tgtEl>
                                          <p:spTgt spid="1116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1629"/>
                                        </p:tgtEl>
                                        <p:attrNameLst>
                                          <p:attrName>style.visibility</p:attrName>
                                        </p:attrNameLst>
                                      </p:cBhvr>
                                      <p:to>
                                        <p:strVal val="visible"/>
                                      </p:to>
                                    </p:set>
                                    <p:animEffect transition="in" filter="wipe(left)">
                                      <p:cBhvr>
                                        <p:cTn id="22" dur="500"/>
                                        <p:tgtEl>
                                          <p:spTgt spid="11162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1626"/>
                                        </p:tgtEl>
                                        <p:attrNameLst>
                                          <p:attrName>style.visibility</p:attrName>
                                        </p:attrNameLst>
                                      </p:cBhvr>
                                      <p:to>
                                        <p:strVal val="visible"/>
                                      </p:to>
                                    </p:set>
                                    <p:animEffect transition="in" filter="wipe(left)">
                                      <p:cBhvr>
                                        <p:cTn id="27" dur="500"/>
                                        <p:tgtEl>
                                          <p:spTgt spid="11162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1621"/>
                                        </p:tgtEl>
                                        <p:attrNameLst>
                                          <p:attrName>style.visibility</p:attrName>
                                        </p:attrNameLst>
                                      </p:cBhvr>
                                      <p:to>
                                        <p:strVal val="visible"/>
                                      </p:to>
                                    </p:set>
                                    <p:animEffect transition="in" filter="wipe(left)">
                                      <p:cBhvr>
                                        <p:cTn id="32" dur="500"/>
                                        <p:tgtEl>
                                          <p:spTgt spid="11162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1622"/>
                                        </p:tgtEl>
                                        <p:attrNameLst>
                                          <p:attrName>style.visibility</p:attrName>
                                        </p:attrNameLst>
                                      </p:cBhvr>
                                      <p:to>
                                        <p:strVal val="visible"/>
                                      </p:to>
                                    </p:set>
                                    <p:animEffect transition="in" filter="wipe(left)">
                                      <p:cBhvr>
                                        <p:cTn id="37" dur="500"/>
                                        <p:tgtEl>
                                          <p:spTgt spid="11162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11620"/>
                                        </p:tgtEl>
                                        <p:attrNameLst>
                                          <p:attrName>style.visibility</p:attrName>
                                        </p:attrNameLst>
                                      </p:cBhvr>
                                      <p:to>
                                        <p:strVal val="visible"/>
                                      </p:to>
                                    </p:set>
                                    <p:animEffect transition="in" filter="wipe(left)">
                                      <p:cBhvr>
                                        <p:cTn id="42" dur="500"/>
                                        <p:tgtEl>
                                          <p:spTgt spid="11162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1624"/>
                                        </p:tgtEl>
                                        <p:attrNameLst>
                                          <p:attrName>style.visibility</p:attrName>
                                        </p:attrNameLst>
                                      </p:cBhvr>
                                      <p:to>
                                        <p:strVal val="visible"/>
                                      </p:to>
                                    </p:set>
                                    <p:animEffect transition="in" filter="wipe(left)">
                                      <p:cBhvr>
                                        <p:cTn id="47" dur="500"/>
                                        <p:tgtEl>
                                          <p:spTgt spid="11162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1625"/>
                                        </p:tgtEl>
                                        <p:attrNameLst>
                                          <p:attrName>style.visibility</p:attrName>
                                        </p:attrNameLst>
                                      </p:cBhvr>
                                      <p:to>
                                        <p:strVal val="visible"/>
                                      </p:to>
                                    </p:set>
                                    <p:animEffect transition="in" filter="wipe(left)">
                                      <p:cBhvr>
                                        <p:cTn id="52" dur="500"/>
                                        <p:tgtEl>
                                          <p:spTgt spid="1116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8" grpId="0" autoUpdateAnimBg="0"/>
      <p:bldP spid="111621" grpId="0" autoUpdateAnimBg="0"/>
      <p:bldP spid="111622" grpId="0" autoUpdateAnimBg="0"/>
      <p:bldP spid="111624" grpId="0" autoUpdateAnimBg="0"/>
      <p:bldP spid="111625" grpId="0" autoUpdateAnimBg="0"/>
      <p:bldP spid="111626" grpId="0" autoUpdateAnimBg="0"/>
      <p:bldP spid="111627" grpId="0" autoUpdateAnimBg="0"/>
      <p:bldP spid="111628" grpId="0" autoUpdateAnimBg="0"/>
      <p:bldP spid="111629"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ext Box 2"/>
          <p:cNvSpPr txBox="1">
            <a:spLocks noChangeArrowheads="1"/>
          </p:cNvSpPr>
          <p:nvPr/>
        </p:nvSpPr>
        <p:spPr bwMode="auto">
          <a:xfrm>
            <a:off x="971550" y="2273300"/>
            <a:ext cx="5435600" cy="479425"/>
          </a:xfrm>
          <a:prstGeom prst="rect">
            <a:avLst/>
          </a:prstGeom>
          <a:noFill/>
          <a:ln w="9525">
            <a:noFill/>
            <a:miter lim="800000"/>
            <a:headEnd/>
            <a:tailEnd/>
          </a:ln>
        </p:spPr>
        <p:txBody>
          <a:bodyPr>
            <a:spAutoFit/>
          </a:bodyPr>
          <a:lstStyle/>
          <a:p>
            <a:pPr algn="l">
              <a:lnSpc>
                <a:spcPct val="115000"/>
              </a:lnSpc>
            </a:pPr>
            <a:r>
              <a:rPr lang="en-US" altLang="zh-CN" b="1">
                <a:solidFill>
                  <a:schemeClr val="bg1"/>
                </a:solidFill>
              </a:rPr>
              <a:t> </a:t>
            </a:r>
            <a:r>
              <a:rPr lang="zh-CN" altLang="en-US" b="1">
                <a:solidFill>
                  <a:schemeClr val="bg1"/>
                </a:solidFill>
              </a:rPr>
              <a:t>在牛顿力学中，与参考系无关</a:t>
            </a:r>
          </a:p>
        </p:txBody>
      </p:sp>
      <p:sp>
        <p:nvSpPr>
          <p:cNvPr id="112643" name="Rectangle 3"/>
          <p:cNvSpPr>
            <a:spLocks noChangeArrowheads="1"/>
          </p:cNvSpPr>
          <p:nvPr/>
        </p:nvSpPr>
        <p:spPr bwMode="auto">
          <a:xfrm>
            <a:off x="971550" y="2768600"/>
            <a:ext cx="6408738" cy="479425"/>
          </a:xfrm>
          <a:prstGeom prst="rect">
            <a:avLst/>
          </a:prstGeom>
          <a:noFill/>
          <a:ln w="9525">
            <a:noFill/>
            <a:miter lim="800000"/>
            <a:headEnd/>
            <a:tailEnd/>
          </a:ln>
        </p:spPr>
        <p:txBody>
          <a:bodyPr>
            <a:spAutoFit/>
          </a:bodyPr>
          <a:lstStyle/>
          <a:p>
            <a:pPr algn="l">
              <a:lnSpc>
                <a:spcPct val="115000"/>
              </a:lnSpc>
            </a:pPr>
            <a:r>
              <a:rPr lang="en-US" altLang="zh-CN" b="1">
                <a:solidFill>
                  <a:schemeClr val="bg1"/>
                </a:solidFill>
              </a:rPr>
              <a:t> </a:t>
            </a:r>
            <a:r>
              <a:rPr lang="zh-CN" altLang="en-US" b="1">
                <a:solidFill>
                  <a:schemeClr val="bg1"/>
                </a:solidFill>
              </a:rPr>
              <a:t>在狭义相对论力学中，与参考系有关</a:t>
            </a:r>
          </a:p>
        </p:txBody>
      </p:sp>
      <p:sp>
        <p:nvSpPr>
          <p:cNvPr id="112644" name="Text Box 4"/>
          <p:cNvSpPr txBox="1">
            <a:spLocks noChangeArrowheads="1"/>
          </p:cNvSpPr>
          <p:nvPr/>
        </p:nvSpPr>
        <p:spPr bwMode="auto">
          <a:xfrm>
            <a:off x="657225" y="819150"/>
            <a:ext cx="8137525" cy="479425"/>
          </a:xfrm>
          <a:prstGeom prst="rect">
            <a:avLst/>
          </a:prstGeom>
          <a:noFill/>
          <a:ln w="9525">
            <a:noFill/>
            <a:miter lim="800000"/>
            <a:headEnd/>
            <a:tailEnd/>
          </a:ln>
        </p:spPr>
        <p:txBody>
          <a:bodyPr>
            <a:spAutoFit/>
          </a:bodyPr>
          <a:lstStyle/>
          <a:p>
            <a:pPr algn="l">
              <a:lnSpc>
                <a:spcPct val="115000"/>
              </a:lnSpc>
            </a:pPr>
            <a:r>
              <a:rPr lang="en-US" altLang="zh-CN" b="1">
                <a:solidFill>
                  <a:schemeClr val="bg1"/>
                </a:solidFill>
              </a:rPr>
              <a:t>(1) </a:t>
            </a:r>
            <a:r>
              <a:rPr lang="zh-CN" altLang="en-US" b="1">
                <a:solidFill>
                  <a:schemeClr val="bg1"/>
                </a:solidFill>
              </a:rPr>
              <a:t>爱因斯坦相对性原理</a:t>
            </a:r>
            <a:r>
              <a:rPr lang="en-US" altLang="zh-CN" b="1">
                <a:solidFill>
                  <a:schemeClr val="bg1"/>
                </a:solidFill>
              </a:rPr>
              <a:t> </a:t>
            </a:r>
            <a:r>
              <a:rPr lang="zh-CN" altLang="en-US" b="1">
                <a:solidFill>
                  <a:schemeClr val="bg1"/>
                </a:solidFill>
              </a:rPr>
              <a:t>是牛顿力学相对性原理的发展</a:t>
            </a:r>
          </a:p>
        </p:txBody>
      </p:sp>
      <p:sp>
        <p:nvSpPr>
          <p:cNvPr id="112645" name="Text Box 5"/>
          <p:cNvSpPr txBox="1">
            <a:spLocks noChangeArrowheads="1"/>
          </p:cNvSpPr>
          <p:nvPr/>
        </p:nvSpPr>
        <p:spPr bwMode="auto">
          <a:xfrm>
            <a:off x="206375" y="414338"/>
            <a:ext cx="1520825" cy="479425"/>
          </a:xfrm>
          <a:prstGeom prst="rect">
            <a:avLst/>
          </a:prstGeom>
          <a:noFill/>
          <a:ln w="9525">
            <a:noFill/>
            <a:miter lim="800000"/>
            <a:headEnd/>
            <a:tailEnd/>
          </a:ln>
        </p:spPr>
        <p:txBody>
          <a:bodyPr>
            <a:spAutoFit/>
          </a:bodyPr>
          <a:lstStyle/>
          <a:p>
            <a:pPr algn="l">
              <a:lnSpc>
                <a:spcPct val="115000"/>
              </a:lnSpc>
            </a:pPr>
            <a:r>
              <a:rPr lang="zh-CN" altLang="en-US" b="1">
                <a:solidFill>
                  <a:schemeClr val="accent2"/>
                </a:solidFill>
              </a:rPr>
              <a:t>讨论：</a:t>
            </a:r>
          </a:p>
        </p:txBody>
      </p:sp>
      <p:sp>
        <p:nvSpPr>
          <p:cNvPr id="112646" name="Text Box 6"/>
          <p:cNvSpPr txBox="1">
            <a:spLocks noChangeArrowheads="1"/>
          </p:cNvSpPr>
          <p:nvPr/>
        </p:nvSpPr>
        <p:spPr bwMode="auto">
          <a:xfrm>
            <a:off x="657225" y="1314450"/>
            <a:ext cx="7632700" cy="479425"/>
          </a:xfrm>
          <a:prstGeom prst="rect">
            <a:avLst/>
          </a:prstGeom>
          <a:noFill/>
          <a:ln w="9525">
            <a:noFill/>
            <a:miter lim="800000"/>
            <a:headEnd/>
            <a:tailEnd/>
          </a:ln>
        </p:spPr>
        <p:txBody>
          <a:bodyPr>
            <a:spAutoFit/>
          </a:bodyPr>
          <a:lstStyle/>
          <a:p>
            <a:pPr algn="l">
              <a:lnSpc>
                <a:spcPct val="115000"/>
              </a:lnSpc>
            </a:pPr>
            <a:r>
              <a:rPr lang="en-US" altLang="zh-CN" b="1">
                <a:solidFill>
                  <a:schemeClr val="bg1"/>
                </a:solidFill>
              </a:rPr>
              <a:t>(2) </a:t>
            </a:r>
            <a:r>
              <a:rPr lang="zh-CN" altLang="en-US" b="1">
                <a:solidFill>
                  <a:schemeClr val="bg1"/>
                </a:solidFill>
              </a:rPr>
              <a:t>光速不变原理与伽利略的速度合成定理针锋相对</a:t>
            </a:r>
          </a:p>
        </p:txBody>
      </p:sp>
      <p:sp>
        <p:nvSpPr>
          <p:cNvPr id="112647" name="Text Box 7"/>
          <p:cNvSpPr txBox="1">
            <a:spLocks noChangeArrowheads="1"/>
          </p:cNvSpPr>
          <p:nvPr/>
        </p:nvSpPr>
        <p:spPr bwMode="auto">
          <a:xfrm>
            <a:off x="657225" y="1808163"/>
            <a:ext cx="5318125" cy="479425"/>
          </a:xfrm>
          <a:prstGeom prst="rect">
            <a:avLst/>
          </a:prstGeom>
          <a:noFill/>
          <a:ln w="9525">
            <a:noFill/>
            <a:miter lim="800000"/>
            <a:headEnd/>
            <a:tailEnd/>
          </a:ln>
        </p:spPr>
        <p:txBody>
          <a:bodyPr>
            <a:spAutoFit/>
          </a:bodyPr>
          <a:lstStyle/>
          <a:p>
            <a:pPr algn="l">
              <a:lnSpc>
                <a:spcPct val="115000"/>
              </a:lnSpc>
            </a:pPr>
            <a:r>
              <a:rPr lang="en-US" altLang="zh-CN" b="1">
                <a:solidFill>
                  <a:schemeClr val="bg1"/>
                </a:solidFill>
              </a:rPr>
              <a:t>(3) </a:t>
            </a:r>
            <a:r>
              <a:rPr lang="zh-CN" altLang="en-US" b="1">
                <a:solidFill>
                  <a:schemeClr val="bg1"/>
                </a:solidFill>
              </a:rPr>
              <a:t>时间和长度等的测量</a:t>
            </a:r>
          </a:p>
        </p:txBody>
      </p:sp>
      <p:sp>
        <p:nvSpPr>
          <p:cNvPr id="112651" name="Text Box 11"/>
          <p:cNvSpPr txBox="1">
            <a:spLocks noChangeArrowheads="1"/>
          </p:cNvSpPr>
          <p:nvPr/>
        </p:nvSpPr>
        <p:spPr bwMode="auto">
          <a:xfrm>
            <a:off x="341313" y="5108575"/>
            <a:ext cx="1155700" cy="479425"/>
          </a:xfrm>
          <a:prstGeom prst="rect">
            <a:avLst/>
          </a:prstGeom>
          <a:noFill/>
          <a:ln w="9525">
            <a:noFill/>
            <a:miter lim="800000"/>
            <a:headEnd/>
            <a:tailEnd/>
          </a:ln>
        </p:spPr>
        <p:txBody>
          <a:bodyPr>
            <a:spAutoFit/>
          </a:bodyPr>
          <a:lstStyle/>
          <a:p>
            <a:pPr algn="l">
              <a:lnSpc>
                <a:spcPct val="115000"/>
              </a:lnSpc>
            </a:pPr>
            <a:r>
              <a:rPr lang="zh-CN" altLang="en-US" b="1">
                <a:solidFill>
                  <a:srgbClr val="FF0000"/>
                </a:solidFill>
              </a:rPr>
              <a:t>注意：</a:t>
            </a:r>
          </a:p>
        </p:txBody>
      </p:sp>
      <p:sp>
        <p:nvSpPr>
          <p:cNvPr id="112652" name="Rectangle 12"/>
          <p:cNvSpPr>
            <a:spLocks noChangeArrowheads="1"/>
          </p:cNvSpPr>
          <p:nvPr/>
        </p:nvSpPr>
        <p:spPr bwMode="auto">
          <a:xfrm>
            <a:off x="1295400" y="5694363"/>
            <a:ext cx="6400800" cy="479425"/>
          </a:xfrm>
          <a:prstGeom prst="rect">
            <a:avLst/>
          </a:prstGeom>
          <a:noFill/>
          <a:ln w="9525">
            <a:noFill/>
            <a:miter lim="800000"/>
            <a:headEnd/>
            <a:tailEnd/>
          </a:ln>
        </p:spPr>
        <p:txBody>
          <a:bodyPr>
            <a:spAutoFit/>
          </a:bodyPr>
          <a:lstStyle/>
          <a:p>
            <a:pPr algn="l">
              <a:lnSpc>
                <a:spcPct val="115000"/>
              </a:lnSpc>
              <a:buClr>
                <a:srgbClr val="FF6600"/>
              </a:buClr>
              <a:buFont typeface="Wingdings" pitchFamily="2" charset="2"/>
              <a:buNone/>
            </a:pPr>
            <a:r>
              <a:rPr lang="en-US" altLang="zh-CN" b="1"/>
              <a:t> </a:t>
            </a:r>
            <a:r>
              <a:rPr lang="zh-CN" altLang="en-US" b="1"/>
              <a:t>近代物理不是对经典理论的否定。</a:t>
            </a:r>
          </a:p>
        </p:txBody>
      </p:sp>
      <p:sp>
        <p:nvSpPr>
          <p:cNvPr id="112653" name="Rectangle 13"/>
          <p:cNvSpPr>
            <a:spLocks noChangeArrowheads="1"/>
          </p:cNvSpPr>
          <p:nvPr/>
        </p:nvSpPr>
        <p:spPr bwMode="auto">
          <a:xfrm>
            <a:off x="1295400" y="5108575"/>
            <a:ext cx="7416800" cy="479425"/>
          </a:xfrm>
          <a:prstGeom prst="rect">
            <a:avLst/>
          </a:prstGeom>
          <a:noFill/>
          <a:ln w="9525">
            <a:noFill/>
            <a:miter lim="800000"/>
            <a:headEnd/>
            <a:tailEnd/>
          </a:ln>
        </p:spPr>
        <p:txBody>
          <a:bodyPr>
            <a:spAutoFit/>
          </a:bodyPr>
          <a:lstStyle/>
          <a:p>
            <a:pPr algn="l">
              <a:lnSpc>
                <a:spcPct val="115000"/>
              </a:lnSpc>
              <a:buClr>
                <a:srgbClr val="FF6600"/>
              </a:buClr>
              <a:buFont typeface="Wingdings" pitchFamily="2" charset="2"/>
              <a:buNone/>
            </a:pPr>
            <a:r>
              <a:rPr lang="en-US" altLang="zh-CN" b="1"/>
              <a:t> </a:t>
            </a:r>
            <a:r>
              <a:rPr lang="zh-CN" altLang="en-US" b="1"/>
              <a:t>近代物理不是对经典理论的补充，而是全新的理论。</a:t>
            </a:r>
          </a:p>
        </p:txBody>
      </p:sp>
      <p:sp>
        <p:nvSpPr>
          <p:cNvPr id="112654" name="Text Box 14"/>
          <p:cNvSpPr txBox="1">
            <a:spLocks noChangeArrowheads="1"/>
          </p:cNvSpPr>
          <p:nvPr/>
        </p:nvSpPr>
        <p:spPr bwMode="auto">
          <a:xfrm>
            <a:off x="746125" y="3308350"/>
            <a:ext cx="7516813" cy="1790700"/>
          </a:xfrm>
          <a:prstGeom prst="rect">
            <a:avLst/>
          </a:prstGeom>
          <a:gradFill rotWithShape="1">
            <a:gsLst>
              <a:gs pos="0">
                <a:srgbClr val="FFFFFF"/>
              </a:gs>
              <a:gs pos="100000">
                <a:srgbClr val="CCFFFF"/>
              </a:gs>
            </a:gsLst>
            <a:path path="shape">
              <a:fillToRect l="50000" t="50000" r="50000" b="50000"/>
            </a:path>
          </a:gradFill>
          <a:ln w="76200">
            <a:noFill/>
            <a:miter lim="800000"/>
            <a:headEnd/>
            <a:tailEnd/>
          </a:ln>
        </p:spPr>
        <p:txBody>
          <a:bodyPr>
            <a:spAutoFit/>
          </a:bodyPr>
          <a:lstStyle/>
          <a:p>
            <a:pPr algn="l">
              <a:spcBef>
                <a:spcPct val="20000"/>
              </a:spcBef>
            </a:pPr>
            <a:r>
              <a:rPr lang="en-US" altLang="zh-CN" b="1"/>
              <a:t>  </a:t>
            </a:r>
            <a:r>
              <a:rPr lang="zh-CN" altLang="en-US" b="1">
                <a:solidFill>
                  <a:schemeClr val="tx2"/>
                </a:solidFill>
              </a:rPr>
              <a:t>爱因斯坦思路：</a:t>
            </a:r>
            <a:endParaRPr lang="en-US" altLang="zh-CN" b="1">
              <a:solidFill>
                <a:schemeClr val="tx2"/>
              </a:solidFill>
            </a:endParaRPr>
          </a:p>
          <a:p>
            <a:pPr algn="l">
              <a:spcBef>
                <a:spcPct val="20000"/>
              </a:spcBef>
            </a:pPr>
            <a:r>
              <a:rPr lang="en-US" altLang="zh-CN" b="1"/>
              <a:t> ①</a:t>
            </a:r>
            <a:r>
              <a:rPr lang="zh-CN" altLang="en-US" b="1"/>
              <a:t>继承并发展伽利略相对性原理</a:t>
            </a:r>
            <a:r>
              <a:rPr lang="en-US" altLang="zh-CN" b="1">
                <a:solidFill>
                  <a:schemeClr val="tx2"/>
                </a:solidFill>
              </a:rPr>
              <a:t>→</a:t>
            </a:r>
            <a:r>
              <a:rPr lang="zh-CN" altLang="en-US" b="1">
                <a:solidFill>
                  <a:srgbClr val="CC0000"/>
                </a:solidFill>
              </a:rPr>
              <a:t>狭义相对性原理；</a:t>
            </a:r>
            <a:endParaRPr lang="en-US" altLang="zh-CN" b="1">
              <a:solidFill>
                <a:srgbClr val="CC0000"/>
              </a:solidFill>
            </a:endParaRPr>
          </a:p>
          <a:p>
            <a:pPr algn="l">
              <a:spcBef>
                <a:spcPct val="20000"/>
              </a:spcBef>
            </a:pPr>
            <a:r>
              <a:rPr lang="en-US" altLang="zh-CN" b="1"/>
              <a:t> ②</a:t>
            </a:r>
            <a:r>
              <a:rPr lang="zh-CN" altLang="en-US" b="1"/>
              <a:t>修改绝对时空观</a:t>
            </a:r>
            <a:r>
              <a:rPr lang="en-US" altLang="zh-CN" b="1">
                <a:solidFill>
                  <a:schemeClr val="tx2"/>
                </a:solidFill>
              </a:rPr>
              <a:t>→</a:t>
            </a:r>
            <a:r>
              <a:rPr lang="zh-CN" altLang="en-US" b="1">
                <a:solidFill>
                  <a:srgbClr val="CC0000"/>
                </a:solidFill>
              </a:rPr>
              <a:t>相对论时空观、光速不变原理；</a:t>
            </a:r>
            <a:endParaRPr lang="en-US" altLang="zh-CN" b="1">
              <a:solidFill>
                <a:srgbClr val="CC0000"/>
              </a:solidFill>
            </a:endParaRPr>
          </a:p>
          <a:p>
            <a:pPr algn="l">
              <a:spcBef>
                <a:spcPct val="20000"/>
              </a:spcBef>
            </a:pPr>
            <a:r>
              <a:rPr lang="en-US" altLang="zh-CN" b="1"/>
              <a:t>     </a:t>
            </a:r>
            <a:r>
              <a:rPr lang="zh-CN" altLang="en-US" b="1"/>
              <a:t>修改伽利略变换</a:t>
            </a:r>
            <a:r>
              <a:rPr lang="en-US" altLang="zh-CN" b="1">
                <a:solidFill>
                  <a:schemeClr val="tx2"/>
                </a:solidFill>
              </a:rPr>
              <a:t>→</a:t>
            </a:r>
            <a:r>
              <a:rPr lang="zh-CN" altLang="en-US" b="1">
                <a:solidFill>
                  <a:srgbClr val="CC0000"/>
                </a:solidFill>
              </a:rPr>
              <a:t>洛仑兹变换。</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1264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12644"/>
                                        </p:tgtEl>
                                        <p:attrNameLst>
                                          <p:attrName>style.visibility</p:attrName>
                                        </p:attrNameLst>
                                      </p:cBhvr>
                                      <p:to>
                                        <p:strVal val="visible"/>
                                      </p:to>
                                    </p:set>
                                    <p:animEffect transition="in" filter="wipe(left)">
                                      <p:cBhvr>
                                        <p:cTn id="11" dur="2000"/>
                                        <p:tgtEl>
                                          <p:spTgt spid="11264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2646"/>
                                        </p:tgtEl>
                                        <p:attrNameLst>
                                          <p:attrName>style.visibility</p:attrName>
                                        </p:attrNameLst>
                                      </p:cBhvr>
                                      <p:to>
                                        <p:strVal val="visible"/>
                                      </p:to>
                                    </p:set>
                                    <p:animEffect transition="in" filter="wipe(left)">
                                      <p:cBhvr>
                                        <p:cTn id="16" dur="2000"/>
                                        <p:tgtEl>
                                          <p:spTgt spid="11264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12647"/>
                                        </p:tgtEl>
                                        <p:attrNameLst>
                                          <p:attrName>style.visibility</p:attrName>
                                        </p:attrNameLst>
                                      </p:cBhvr>
                                      <p:to>
                                        <p:strVal val="visible"/>
                                      </p:to>
                                    </p:set>
                                    <p:animEffect transition="in" filter="wipe(left)">
                                      <p:cBhvr>
                                        <p:cTn id="21" dur="2000"/>
                                        <p:tgtEl>
                                          <p:spTgt spid="11264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112642"/>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112643"/>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12654">
                                            <p:bg/>
                                          </p:spTgt>
                                        </p:tgtEl>
                                        <p:attrNameLst>
                                          <p:attrName>style.visibility</p:attrName>
                                        </p:attrNameLst>
                                      </p:cBhvr>
                                      <p:to>
                                        <p:strVal val="visible"/>
                                      </p:to>
                                    </p:set>
                                    <p:animEffect transition="in" filter="dissolve">
                                      <p:cBhvr>
                                        <p:cTn id="34" dur="500"/>
                                        <p:tgtEl>
                                          <p:spTgt spid="112654">
                                            <p:bg/>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12654">
                                            <p:txEl>
                                              <p:pRg st="0" end="0"/>
                                            </p:txEl>
                                          </p:spTgt>
                                        </p:tgtEl>
                                        <p:attrNameLst>
                                          <p:attrName>style.visibility</p:attrName>
                                        </p:attrNameLst>
                                      </p:cBhvr>
                                      <p:to>
                                        <p:strVal val="visible"/>
                                      </p:to>
                                    </p:set>
                                    <p:animEffect transition="in" filter="dissolve">
                                      <p:cBhvr>
                                        <p:cTn id="39" dur="500"/>
                                        <p:tgtEl>
                                          <p:spTgt spid="112654">
                                            <p:txEl>
                                              <p:pRg st="0" end="0"/>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112654">
                                            <p:txEl>
                                              <p:pRg st="1" end="1"/>
                                            </p:txEl>
                                          </p:spTgt>
                                        </p:tgtEl>
                                        <p:attrNameLst>
                                          <p:attrName>style.visibility</p:attrName>
                                        </p:attrNameLst>
                                      </p:cBhvr>
                                      <p:to>
                                        <p:strVal val="visible"/>
                                      </p:to>
                                    </p:set>
                                    <p:animEffect transition="in" filter="dissolve">
                                      <p:cBhvr>
                                        <p:cTn id="44" dur="500"/>
                                        <p:tgtEl>
                                          <p:spTgt spid="112654">
                                            <p:txEl>
                                              <p:pRg st="1" end="1"/>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112654">
                                            <p:txEl>
                                              <p:pRg st="2" end="2"/>
                                            </p:txEl>
                                          </p:spTgt>
                                        </p:tgtEl>
                                        <p:attrNameLst>
                                          <p:attrName>style.visibility</p:attrName>
                                        </p:attrNameLst>
                                      </p:cBhvr>
                                      <p:to>
                                        <p:strVal val="visible"/>
                                      </p:to>
                                    </p:set>
                                    <p:animEffect transition="in" filter="dissolve">
                                      <p:cBhvr>
                                        <p:cTn id="49" dur="500"/>
                                        <p:tgtEl>
                                          <p:spTgt spid="112654">
                                            <p:txEl>
                                              <p:pRg st="2" end="2"/>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112654">
                                            <p:txEl>
                                              <p:pRg st="3" end="3"/>
                                            </p:txEl>
                                          </p:spTgt>
                                        </p:tgtEl>
                                        <p:attrNameLst>
                                          <p:attrName>style.visibility</p:attrName>
                                        </p:attrNameLst>
                                      </p:cBhvr>
                                      <p:to>
                                        <p:strVal val="visible"/>
                                      </p:to>
                                    </p:set>
                                    <p:animEffect transition="in" filter="dissolve">
                                      <p:cBhvr>
                                        <p:cTn id="54" dur="500"/>
                                        <p:tgtEl>
                                          <p:spTgt spid="112654">
                                            <p:txEl>
                                              <p:pRg st="3" end="3"/>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9" presetClass="entr" presetSubtype="0" fill="hold" grpId="0" nodeType="clickEffect">
                                  <p:stCondLst>
                                    <p:cond delay="0"/>
                                  </p:stCondLst>
                                  <p:childTnLst>
                                    <p:set>
                                      <p:cBhvr>
                                        <p:cTn id="58" dur="1" fill="hold">
                                          <p:stCondLst>
                                            <p:cond delay="0"/>
                                          </p:stCondLst>
                                        </p:cTn>
                                        <p:tgtEl>
                                          <p:spTgt spid="112651"/>
                                        </p:tgtEl>
                                        <p:attrNameLst>
                                          <p:attrName>style.visibility</p:attrName>
                                        </p:attrNameLst>
                                      </p:cBhvr>
                                      <p:to>
                                        <p:strVal val="visible"/>
                                      </p:to>
                                    </p:set>
                                    <p:animEffect transition="in" filter="dissolve">
                                      <p:cBhvr>
                                        <p:cTn id="59" dur="500"/>
                                        <p:tgtEl>
                                          <p:spTgt spid="112651"/>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iterate type="wd">
                                    <p:tmPct val="100000"/>
                                  </p:iterate>
                                  <p:childTnLst>
                                    <p:set>
                                      <p:cBhvr>
                                        <p:cTn id="63" dur="1" fill="hold">
                                          <p:stCondLst>
                                            <p:cond delay="0"/>
                                          </p:stCondLst>
                                        </p:cTn>
                                        <p:tgtEl>
                                          <p:spTgt spid="112653"/>
                                        </p:tgtEl>
                                        <p:attrNameLst>
                                          <p:attrName>style.visibility</p:attrName>
                                        </p:attrNameLst>
                                      </p:cBhvr>
                                      <p:to>
                                        <p:strVal val="visible"/>
                                      </p:to>
                                    </p:set>
                                    <p:animEffect transition="in" filter="wipe(left)">
                                      <p:cBhvr>
                                        <p:cTn id="64" dur="300"/>
                                        <p:tgtEl>
                                          <p:spTgt spid="112653"/>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iterate type="wd">
                                    <p:tmPct val="100000"/>
                                  </p:iterate>
                                  <p:childTnLst>
                                    <p:set>
                                      <p:cBhvr>
                                        <p:cTn id="68" dur="1" fill="hold">
                                          <p:stCondLst>
                                            <p:cond delay="0"/>
                                          </p:stCondLst>
                                        </p:cTn>
                                        <p:tgtEl>
                                          <p:spTgt spid="112652"/>
                                        </p:tgtEl>
                                        <p:attrNameLst>
                                          <p:attrName>style.visibility</p:attrName>
                                        </p:attrNameLst>
                                      </p:cBhvr>
                                      <p:to>
                                        <p:strVal val="visible"/>
                                      </p:to>
                                    </p:set>
                                    <p:animEffect transition="in" filter="wipe(left)">
                                      <p:cBhvr>
                                        <p:cTn id="69" dur="300"/>
                                        <p:tgtEl>
                                          <p:spTgt spid="112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2" grpId="0" autoUpdateAnimBg="0"/>
      <p:bldP spid="112643" grpId="0" autoUpdateAnimBg="0"/>
      <p:bldP spid="112644" grpId="0"/>
      <p:bldP spid="112645" grpId="0"/>
      <p:bldP spid="112646" grpId="0"/>
      <p:bldP spid="112647" grpId="0"/>
      <p:bldP spid="112651" grpId="0" autoUpdateAnimBg="0"/>
      <p:bldP spid="112652" grpId="0" autoUpdateAnimBg="0"/>
      <p:bldP spid="112653" grpId="0" autoUpdateAnimBg="0"/>
      <p:bldP spid="112654"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0" y="2438400"/>
            <a:ext cx="2906713" cy="495300"/>
            <a:chOff x="0" y="1536"/>
            <a:chExt cx="1831" cy="312"/>
          </a:xfrm>
        </p:grpSpPr>
        <p:pic>
          <p:nvPicPr>
            <p:cNvPr id="4143" name="Picture 3"/>
            <p:cNvPicPr>
              <a:picLocks noChangeAspect="1" noChangeArrowheads="1"/>
            </p:cNvPicPr>
            <p:nvPr/>
          </p:nvPicPr>
          <p:blipFill>
            <a:blip r:embed="rId3"/>
            <a:srcRect l="74930" r="1151" b="41573"/>
            <a:stretch>
              <a:fillRect/>
            </a:stretch>
          </p:blipFill>
          <p:spPr bwMode="auto">
            <a:xfrm>
              <a:off x="895" y="1536"/>
              <a:ext cx="936" cy="312"/>
            </a:xfrm>
            <a:prstGeom prst="rect">
              <a:avLst/>
            </a:prstGeom>
            <a:noFill/>
            <a:ln w="9525">
              <a:noFill/>
              <a:miter lim="800000"/>
              <a:headEnd/>
              <a:tailEnd/>
            </a:ln>
          </p:spPr>
        </p:pic>
        <p:pic>
          <p:nvPicPr>
            <p:cNvPr id="4144" name="Picture 4"/>
            <p:cNvPicPr>
              <a:picLocks noChangeAspect="1" noChangeArrowheads="1"/>
            </p:cNvPicPr>
            <p:nvPr/>
          </p:nvPicPr>
          <p:blipFill>
            <a:blip r:embed="rId3"/>
            <a:srcRect l="76387" r="716" b="41760"/>
            <a:stretch>
              <a:fillRect/>
            </a:stretch>
          </p:blipFill>
          <p:spPr bwMode="auto">
            <a:xfrm>
              <a:off x="0" y="1536"/>
              <a:ext cx="896" cy="311"/>
            </a:xfrm>
            <a:prstGeom prst="rect">
              <a:avLst/>
            </a:prstGeom>
            <a:noFill/>
            <a:ln w="9525">
              <a:noFill/>
              <a:miter lim="800000"/>
              <a:headEnd/>
              <a:tailEnd/>
            </a:ln>
          </p:spPr>
        </p:pic>
      </p:grpSp>
      <p:sp>
        <p:nvSpPr>
          <p:cNvPr id="167941" name="Text Box 5"/>
          <p:cNvSpPr txBox="1">
            <a:spLocks noChangeArrowheads="1"/>
          </p:cNvSpPr>
          <p:nvPr/>
        </p:nvSpPr>
        <p:spPr bwMode="auto">
          <a:xfrm>
            <a:off x="385763" y="1493838"/>
            <a:ext cx="6840537" cy="512762"/>
          </a:xfrm>
          <a:prstGeom prst="rect">
            <a:avLst/>
          </a:prstGeom>
          <a:noFill/>
          <a:ln w="9525">
            <a:noFill/>
            <a:miter lim="800000"/>
            <a:headEnd/>
            <a:tailEnd/>
          </a:ln>
        </p:spPr>
        <p:txBody>
          <a:bodyPr>
            <a:spAutoFit/>
          </a:bodyPr>
          <a:lstStyle/>
          <a:p>
            <a:pPr algn="l" eaLnBrk="0" hangingPunct="0">
              <a:lnSpc>
                <a:spcPct val="115000"/>
              </a:lnSpc>
            </a:pPr>
            <a:r>
              <a:rPr lang="zh-CN" altLang="en-US" b="1">
                <a:solidFill>
                  <a:schemeClr val="bg1"/>
                </a:solidFill>
              </a:rPr>
              <a:t>一列火车以速率</a:t>
            </a:r>
            <a:r>
              <a:rPr lang="en-US" altLang="zh-CN" b="1" i="1">
                <a:solidFill>
                  <a:srgbClr val="FF6600"/>
                </a:solidFill>
              </a:rPr>
              <a:t>v </a:t>
            </a:r>
            <a:r>
              <a:rPr lang="zh-CN" altLang="en-US" b="1">
                <a:solidFill>
                  <a:schemeClr val="bg1"/>
                </a:solidFill>
              </a:rPr>
              <a:t>相对于地面作匀速直线运动</a:t>
            </a:r>
          </a:p>
        </p:txBody>
      </p:sp>
      <p:sp>
        <p:nvSpPr>
          <p:cNvPr id="167942" name="Text Box 6"/>
          <p:cNvSpPr txBox="1">
            <a:spLocks noChangeArrowheads="1"/>
          </p:cNvSpPr>
          <p:nvPr/>
        </p:nvSpPr>
        <p:spPr bwMode="auto">
          <a:xfrm>
            <a:off x="250825" y="1042988"/>
            <a:ext cx="4419600" cy="457200"/>
          </a:xfrm>
          <a:prstGeom prst="rect">
            <a:avLst/>
          </a:prstGeom>
          <a:noFill/>
          <a:ln w="9525">
            <a:noFill/>
            <a:miter lim="800000"/>
            <a:headEnd/>
            <a:tailEnd/>
          </a:ln>
        </p:spPr>
        <p:txBody>
          <a:bodyPr>
            <a:spAutoFit/>
          </a:bodyPr>
          <a:lstStyle/>
          <a:p>
            <a:pPr algn="l">
              <a:spcBef>
                <a:spcPct val="50000"/>
              </a:spcBef>
            </a:pPr>
            <a:r>
              <a:rPr lang="en-US" altLang="zh-CN" b="1">
                <a:solidFill>
                  <a:srgbClr val="0000FF"/>
                </a:solidFill>
              </a:rPr>
              <a:t>4.2.1  </a:t>
            </a:r>
            <a:r>
              <a:rPr lang="zh-CN" altLang="en-US" b="1">
                <a:solidFill>
                  <a:srgbClr val="0000FF"/>
                </a:solidFill>
              </a:rPr>
              <a:t>同时性的相对性</a:t>
            </a:r>
          </a:p>
        </p:txBody>
      </p:sp>
      <p:sp>
        <p:nvSpPr>
          <p:cNvPr id="167943" name="Rectangle 7"/>
          <p:cNvSpPr>
            <a:spLocks noChangeArrowheads="1"/>
          </p:cNvSpPr>
          <p:nvPr/>
        </p:nvSpPr>
        <p:spPr bwMode="auto">
          <a:xfrm>
            <a:off x="971550" y="2557463"/>
            <a:ext cx="900113" cy="512762"/>
          </a:xfrm>
          <a:prstGeom prst="rect">
            <a:avLst/>
          </a:prstGeom>
          <a:noFill/>
          <a:ln w="9525">
            <a:noFill/>
            <a:miter lim="800000"/>
            <a:headEnd/>
            <a:tailEnd/>
          </a:ln>
        </p:spPr>
        <p:txBody>
          <a:bodyPr lIns="92075" tIns="46038" rIns="92075" bIns="46038">
            <a:spAutoFit/>
          </a:bodyPr>
          <a:lstStyle/>
          <a:p>
            <a:pPr algn="l" defTabSz="762000" eaLnBrk="0" hangingPunct="0">
              <a:lnSpc>
                <a:spcPct val="115000"/>
              </a:lnSpc>
            </a:pPr>
            <a:r>
              <a:rPr lang="zh-CN" altLang="en-US" b="1">
                <a:solidFill>
                  <a:schemeClr val="bg1"/>
                </a:solidFill>
                <a:ea typeface="楷体_GB2312" pitchFamily="49" charset="-122"/>
              </a:rPr>
              <a:t>火车</a:t>
            </a:r>
          </a:p>
        </p:txBody>
      </p:sp>
      <p:sp>
        <p:nvSpPr>
          <p:cNvPr id="167944" name="Text Box 8"/>
          <p:cNvSpPr txBox="1">
            <a:spLocks noChangeArrowheads="1"/>
          </p:cNvSpPr>
          <p:nvPr/>
        </p:nvSpPr>
        <p:spPr bwMode="auto">
          <a:xfrm>
            <a:off x="927100" y="2079625"/>
            <a:ext cx="935038" cy="512763"/>
          </a:xfrm>
          <a:prstGeom prst="rect">
            <a:avLst/>
          </a:prstGeom>
          <a:noFill/>
          <a:ln w="9525">
            <a:noFill/>
            <a:miter lim="800000"/>
            <a:headEnd/>
            <a:tailEnd/>
          </a:ln>
        </p:spPr>
        <p:txBody>
          <a:bodyPr>
            <a:spAutoFit/>
          </a:bodyPr>
          <a:lstStyle/>
          <a:p>
            <a:pPr algn="l" defTabSz="762000" eaLnBrk="0" hangingPunct="0">
              <a:lnSpc>
                <a:spcPct val="115000"/>
              </a:lnSpc>
            </a:pPr>
            <a:r>
              <a:rPr lang="zh-CN" altLang="en-US" b="1">
                <a:solidFill>
                  <a:schemeClr val="bg1"/>
                </a:solidFill>
                <a:latin typeface="楷体_GB2312" pitchFamily="49" charset="-122"/>
                <a:ea typeface="楷体_GB2312" pitchFamily="49" charset="-122"/>
              </a:rPr>
              <a:t>地面</a:t>
            </a:r>
          </a:p>
        </p:txBody>
      </p:sp>
      <p:graphicFrame>
        <p:nvGraphicFramePr>
          <p:cNvPr id="167945" name="Object 9"/>
          <p:cNvGraphicFramePr>
            <a:graphicFrameLocks/>
          </p:cNvGraphicFramePr>
          <p:nvPr/>
        </p:nvGraphicFramePr>
        <p:xfrm>
          <a:off x="674688" y="2709863"/>
          <a:ext cx="341312" cy="320675"/>
        </p:xfrm>
        <a:graphic>
          <a:graphicData uri="http://schemas.openxmlformats.org/presentationml/2006/ole">
            <p:oleObj spid="_x0000_s4098" name="公式" r:id="rId4" imgW="190335" imgH="177646" progId="Equation.3">
              <p:embed/>
            </p:oleObj>
          </a:graphicData>
        </a:graphic>
      </p:graphicFrame>
      <p:graphicFrame>
        <p:nvGraphicFramePr>
          <p:cNvPr id="167946" name="Object 10"/>
          <p:cNvGraphicFramePr>
            <a:graphicFrameLocks/>
          </p:cNvGraphicFramePr>
          <p:nvPr/>
        </p:nvGraphicFramePr>
        <p:xfrm>
          <a:off x="655638" y="2214563"/>
          <a:ext cx="360362" cy="315912"/>
        </p:xfrm>
        <a:graphic>
          <a:graphicData uri="http://schemas.openxmlformats.org/presentationml/2006/ole">
            <p:oleObj spid="_x0000_s4099" name="公式" r:id="rId5" imgW="152202" imgH="177569" progId="Equation.3">
              <p:embed/>
            </p:oleObj>
          </a:graphicData>
        </a:graphic>
      </p:graphicFrame>
      <p:sp>
        <p:nvSpPr>
          <p:cNvPr id="167947" name="Text Box 11"/>
          <p:cNvSpPr txBox="1">
            <a:spLocks noChangeArrowheads="1"/>
          </p:cNvSpPr>
          <p:nvPr/>
        </p:nvSpPr>
        <p:spPr bwMode="auto">
          <a:xfrm>
            <a:off x="522288" y="3814763"/>
            <a:ext cx="1889125" cy="479425"/>
          </a:xfrm>
          <a:prstGeom prst="rect">
            <a:avLst/>
          </a:prstGeom>
          <a:noFill/>
          <a:ln w="9525">
            <a:noFill/>
            <a:miter lim="800000"/>
            <a:headEnd/>
            <a:tailEnd/>
          </a:ln>
        </p:spPr>
        <p:txBody>
          <a:bodyPr>
            <a:spAutoFit/>
          </a:bodyPr>
          <a:lstStyle/>
          <a:p>
            <a:pPr algn="l" eaLnBrk="0" hangingPunct="0">
              <a:lnSpc>
                <a:spcPct val="115000"/>
              </a:lnSpc>
            </a:pPr>
            <a:r>
              <a:rPr lang="zh-CN" altLang="en-US" b="1">
                <a:solidFill>
                  <a:schemeClr val="hlink"/>
                </a:solidFill>
                <a:ea typeface="楷体_GB2312" pitchFamily="49" charset="-122"/>
              </a:rPr>
              <a:t>在</a:t>
            </a:r>
            <a:r>
              <a:rPr lang="en-US" altLang="zh-CN" b="1">
                <a:solidFill>
                  <a:schemeClr val="hlink"/>
                </a:solidFill>
                <a:ea typeface="楷体_GB2312" pitchFamily="49" charset="-122"/>
              </a:rPr>
              <a:t> </a:t>
            </a:r>
            <a:r>
              <a:rPr lang="en-US" altLang="zh-CN" b="1" i="1">
                <a:solidFill>
                  <a:schemeClr val="hlink"/>
                </a:solidFill>
                <a:ea typeface="楷体_GB2312" pitchFamily="49" charset="-122"/>
              </a:rPr>
              <a:t>S </a:t>
            </a:r>
            <a:r>
              <a:rPr lang="zh-CN" altLang="en-US" b="1">
                <a:solidFill>
                  <a:schemeClr val="hlink"/>
                </a:solidFill>
                <a:ea typeface="楷体_GB2312" pitchFamily="49" charset="-122"/>
              </a:rPr>
              <a:t>系中</a:t>
            </a:r>
          </a:p>
        </p:txBody>
      </p:sp>
      <p:sp>
        <p:nvSpPr>
          <p:cNvPr id="167948" name="Text Box 12"/>
          <p:cNvSpPr txBox="1">
            <a:spLocks noChangeArrowheads="1"/>
          </p:cNvSpPr>
          <p:nvPr/>
        </p:nvSpPr>
        <p:spPr bwMode="auto">
          <a:xfrm>
            <a:off x="1827213" y="3814763"/>
            <a:ext cx="6481762" cy="479425"/>
          </a:xfrm>
          <a:prstGeom prst="rect">
            <a:avLst/>
          </a:prstGeom>
          <a:noFill/>
          <a:ln w="9525">
            <a:noFill/>
            <a:miter lim="800000"/>
            <a:headEnd/>
            <a:tailEnd/>
          </a:ln>
        </p:spPr>
        <p:txBody>
          <a:bodyPr>
            <a:spAutoFit/>
          </a:bodyPr>
          <a:lstStyle/>
          <a:p>
            <a:pPr algn="l" eaLnBrk="0" hangingPunct="0">
              <a:lnSpc>
                <a:spcPct val="115000"/>
              </a:lnSpc>
            </a:pPr>
            <a:r>
              <a:rPr lang="zh-CN" altLang="en-US" b="1">
                <a:solidFill>
                  <a:schemeClr val="bg1"/>
                </a:solidFill>
              </a:rPr>
              <a:t>铁轨上的</a:t>
            </a:r>
            <a:r>
              <a:rPr lang="en-US" altLang="zh-CN" b="1">
                <a:solidFill>
                  <a:schemeClr val="bg1"/>
                </a:solidFill>
              </a:rPr>
              <a:t> </a:t>
            </a:r>
            <a:r>
              <a:rPr lang="en-US" altLang="zh-CN" b="1" i="1">
                <a:solidFill>
                  <a:srgbClr val="FF6600"/>
                </a:solidFill>
              </a:rPr>
              <a:t>M </a:t>
            </a:r>
            <a:r>
              <a:rPr lang="zh-CN" altLang="en-US" b="1">
                <a:solidFill>
                  <a:schemeClr val="bg1"/>
                </a:solidFill>
              </a:rPr>
              <a:t>点同时接到两次雷击的光信号</a:t>
            </a:r>
          </a:p>
        </p:txBody>
      </p:sp>
      <p:sp>
        <p:nvSpPr>
          <p:cNvPr id="167949" name="Text Box 13"/>
          <p:cNvSpPr txBox="1">
            <a:spLocks noChangeArrowheads="1"/>
          </p:cNvSpPr>
          <p:nvPr/>
        </p:nvSpPr>
        <p:spPr bwMode="auto">
          <a:xfrm>
            <a:off x="431800" y="414338"/>
            <a:ext cx="7699375" cy="519112"/>
          </a:xfrm>
          <a:prstGeom prst="rect">
            <a:avLst/>
          </a:prstGeom>
          <a:noFill/>
          <a:ln w="9525">
            <a:noFill/>
            <a:miter lim="800000"/>
            <a:headEnd/>
            <a:tailEnd/>
          </a:ln>
        </p:spPr>
        <p:txBody>
          <a:bodyPr>
            <a:spAutoFit/>
          </a:bodyPr>
          <a:lstStyle/>
          <a:p>
            <a:r>
              <a:rPr lang="en-US" altLang="zh-CN" sz="2800" b="1">
                <a:solidFill>
                  <a:srgbClr val="000099"/>
                </a:solidFill>
                <a:ea typeface="黑体" pitchFamily="49" charset="-122"/>
              </a:rPr>
              <a:t>§4.2  </a:t>
            </a:r>
            <a:r>
              <a:rPr lang="zh-CN" altLang="en-US" sz="2800" b="1">
                <a:solidFill>
                  <a:srgbClr val="000099"/>
                </a:solidFill>
                <a:ea typeface="黑体" pitchFamily="49" charset="-122"/>
              </a:rPr>
              <a:t>狭义相对论的时空观</a:t>
            </a:r>
          </a:p>
        </p:txBody>
      </p:sp>
      <p:pic>
        <p:nvPicPr>
          <p:cNvPr id="167950" name="Picture 14"/>
          <p:cNvPicPr>
            <a:picLocks noChangeAspect="1" noChangeArrowheads="1"/>
          </p:cNvPicPr>
          <p:nvPr/>
        </p:nvPicPr>
        <p:blipFill>
          <a:blip r:embed="rId3"/>
          <a:srcRect/>
          <a:stretch>
            <a:fillRect/>
          </a:stretch>
        </p:blipFill>
        <p:spPr bwMode="auto">
          <a:xfrm>
            <a:off x="2860675" y="2438400"/>
            <a:ext cx="6211888" cy="847725"/>
          </a:xfrm>
          <a:prstGeom prst="rect">
            <a:avLst/>
          </a:prstGeom>
          <a:noFill/>
          <a:ln w="9525">
            <a:noFill/>
            <a:miter lim="800000"/>
            <a:headEnd/>
            <a:tailEnd/>
          </a:ln>
        </p:spPr>
      </p:pic>
      <p:grpSp>
        <p:nvGrpSpPr>
          <p:cNvPr id="3" name="Group 15"/>
          <p:cNvGrpSpPr>
            <a:grpSpLocks/>
          </p:cNvGrpSpPr>
          <p:nvPr/>
        </p:nvGrpSpPr>
        <p:grpSpPr bwMode="auto">
          <a:xfrm>
            <a:off x="3221038" y="1943100"/>
            <a:ext cx="4500562" cy="944563"/>
            <a:chOff x="1264" y="1848"/>
            <a:chExt cx="2835" cy="595"/>
          </a:xfrm>
        </p:grpSpPr>
        <p:grpSp>
          <p:nvGrpSpPr>
            <p:cNvPr id="4130" name="Group 16"/>
            <p:cNvGrpSpPr>
              <a:grpSpLocks/>
            </p:cNvGrpSpPr>
            <p:nvPr/>
          </p:nvGrpSpPr>
          <p:grpSpPr bwMode="auto">
            <a:xfrm>
              <a:off x="1292" y="2188"/>
              <a:ext cx="2807" cy="255"/>
              <a:chOff x="1746" y="2188"/>
              <a:chExt cx="2807" cy="255"/>
            </a:xfrm>
          </p:grpSpPr>
          <p:grpSp>
            <p:nvGrpSpPr>
              <p:cNvPr id="4133" name="Group 17"/>
              <p:cNvGrpSpPr>
                <a:grpSpLocks/>
              </p:cNvGrpSpPr>
              <p:nvPr/>
            </p:nvGrpSpPr>
            <p:grpSpPr bwMode="auto">
              <a:xfrm>
                <a:off x="1746" y="2188"/>
                <a:ext cx="2807" cy="231"/>
                <a:chOff x="1746" y="2188"/>
                <a:chExt cx="2807" cy="231"/>
              </a:xfrm>
            </p:grpSpPr>
            <p:sp>
              <p:nvSpPr>
                <p:cNvPr id="4137" name="Rectangle 18"/>
                <p:cNvSpPr>
                  <a:spLocks noChangeArrowheads="1"/>
                </p:cNvSpPr>
                <p:nvPr/>
              </p:nvSpPr>
              <p:spPr bwMode="auto">
                <a:xfrm>
                  <a:off x="1746" y="2188"/>
                  <a:ext cx="495" cy="226"/>
                </a:xfrm>
                <a:prstGeom prst="rect">
                  <a:avLst/>
                </a:prstGeom>
                <a:gradFill rotWithShape="0">
                  <a:gsLst>
                    <a:gs pos="0">
                      <a:srgbClr val="006699"/>
                    </a:gs>
                    <a:gs pos="50000">
                      <a:srgbClr val="CCFFFF"/>
                    </a:gs>
                    <a:gs pos="100000">
                      <a:srgbClr val="006699"/>
                    </a:gs>
                  </a:gsLst>
                  <a:lin ang="5400000" scaled="1"/>
                </a:gradFill>
                <a:ln w="9525">
                  <a:solidFill>
                    <a:srgbClr val="0000CC"/>
                  </a:solidFill>
                  <a:miter lim="800000"/>
                  <a:headEnd/>
                  <a:tailEnd/>
                </a:ln>
              </p:spPr>
              <p:txBody>
                <a:bodyPr/>
                <a:lstStyle/>
                <a:p>
                  <a:endParaRPr lang="zh-CN" altLang="en-US"/>
                </a:p>
              </p:txBody>
            </p:sp>
            <p:sp>
              <p:nvSpPr>
                <p:cNvPr id="4138" name="Rectangle 19"/>
                <p:cNvSpPr>
                  <a:spLocks noChangeArrowheads="1"/>
                </p:cNvSpPr>
                <p:nvPr/>
              </p:nvSpPr>
              <p:spPr bwMode="auto">
                <a:xfrm>
                  <a:off x="2248" y="2188"/>
                  <a:ext cx="495" cy="226"/>
                </a:xfrm>
                <a:prstGeom prst="rect">
                  <a:avLst/>
                </a:prstGeom>
                <a:gradFill rotWithShape="0">
                  <a:gsLst>
                    <a:gs pos="0">
                      <a:srgbClr val="006699"/>
                    </a:gs>
                    <a:gs pos="50000">
                      <a:srgbClr val="CCFFFF"/>
                    </a:gs>
                    <a:gs pos="100000">
                      <a:srgbClr val="006699"/>
                    </a:gs>
                  </a:gsLst>
                  <a:lin ang="5400000" scaled="1"/>
                </a:gradFill>
                <a:ln w="9525">
                  <a:solidFill>
                    <a:srgbClr val="0000CC"/>
                  </a:solidFill>
                  <a:miter lim="800000"/>
                  <a:headEnd/>
                  <a:tailEnd/>
                </a:ln>
              </p:spPr>
              <p:txBody>
                <a:bodyPr/>
                <a:lstStyle/>
                <a:p>
                  <a:endParaRPr lang="zh-CN" altLang="en-US"/>
                </a:p>
              </p:txBody>
            </p:sp>
            <p:sp>
              <p:nvSpPr>
                <p:cNvPr id="4139" name="Rectangle 20"/>
                <p:cNvSpPr>
                  <a:spLocks noChangeArrowheads="1"/>
                </p:cNvSpPr>
                <p:nvPr/>
              </p:nvSpPr>
              <p:spPr bwMode="auto">
                <a:xfrm>
                  <a:off x="2750" y="2188"/>
                  <a:ext cx="495" cy="226"/>
                </a:xfrm>
                <a:prstGeom prst="rect">
                  <a:avLst/>
                </a:prstGeom>
                <a:gradFill rotWithShape="0">
                  <a:gsLst>
                    <a:gs pos="0">
                      <a:srgbClr val="006699"/>
                    </a:gs>
                    <a:gs pos="50000">
                      <a:srgbClr val="CCFFFF"/>
                    </a:gs>
                    <a:gs pos="100000">
                      <a:srgbClr val="006699"/>
                    </a:gs>
                  </a:gsLst>
                  <a:lin ang="5400000" scaled="1"/>
                </a:gradFill>
                <a:ln w="9525">
                  <a:solidFill>
                    <a:srgbClr val="0000CC"/>
                  </a:solidFill>
                  <a:miter lim="800000"/>
                  <a:headEnd/>
                  <a:tailEnd/>
                </a:ln>
              </p:spPr>
              <p:txBody>
                <a:bodyPr/>
                <a:lstStyle/>
                <a:p>
                  <a:endParaRPr lang="zh-CN" altLang="en-US"/>
                </a:p>
              </p:txBody>
            </p:sp>
            <p:sp>
              <p:nvSpPr>
                <p:cNvPr id="4140" name="Rectangle 21"/>
                <p:cNvSpPr>
                  <a:spLocks noChangeArrowheads="1"/>
                </p:cNvSpPr>
                <p:nvPr/>
              </p:nvSpPr>
              <p:spPr bwMode="auto">
                <a:xfrm>
                  <a:off x="3220" y="2188"/>
                  <a:ext cx="539" cy="226"/>
                </a:xfrm>
                <a:prstGeom prst="rect">
                  <a:avLst/>
                </a:prstGeom>
                <a:gradFill rotWithShape="0">
                  <a:gsLst>
                    <a:gs pos="0">
                      <a:srgbClr val="006699"/>
                    </a:gs>
                    <a:gs pos="50000">
                      <a:srgbClr val="CCFFFF"/>
                    </a:gs>
                    <a:gs pos="100000">
                      <a:srgbClr val="006699"/>
                    </a:gs>
                  </a:gsLst>
                  <a:lin ang="5400000" scaled="1"/>
                </a:gradFill>
                <a:ln w="9525">
                  <a:solidFill>
                    <a:srgbClr val="0000CC"/>
                  </a:solidFill>
                  <a:miter lim="800000"/>
                  <a:headEnd/>
                  <a:tailEnd/>
                </a:ln>
              </p:spPr>
              <p:txBody>
                <a:bodyPr/>
                <a:lstStyle/>
                <a:p>
                  <a:endParaRPr lang="zh-CN" altLang="en-US"/>
                </a:p>
              </p:txBody>
            </p:sp>
            <p:sp>
              <p:nvSpPr>
                <p:cNvPr id="4141" name="Oval 22"/>
                <p:cNvSpPr>
                  <a:spLocks noChangeArrowheads="1"/>
                </p:cNvSpPr>
                <p:nvPr/>
              </p:nvSpPr>
              <p:spPr bwMode="auto">
                <a:xfrm>
                  <a:off x="4017" y="2188"/>
                  <a:ext cx="536" cy="231"/>
                </a:xfrm>
                <a:prstGeom prst="ellipse">
                  <a:avLst/>
                </a:prstGeom>
                <a:gradFill rotWithShape="0">
                  <a:gsLst>
                    <a:gs pos="0">
                      <a:srgbClr val="006699"/>
                    </a:gs>
                    <a:gs pos="50000">
                      <a:srgbClr val="CCFFFF"/>
                    </a:gs>
                    <a:gs pos="100000">
                      <a:srgbClr val="006699"/>
                    </a:gs>
                  </a:gsLst>
                  <a:lin ang="5400000" scaled="1"/>
                </a:gradFill>
                <a:ln w="9525">
                  <a:solidFill>
                    <a:srgbClr val="0000CC"/>
                  </a:solidFill>
                  <a:round/>
                  <a:headEnd/>
                  <a:tailEnd/>
                </a:ln>
              </p:spPr>
              <p:txBody>
                <a:bodyPr/>
                <a:lstStyle/>
                <a:p>
                  <a:endParaRPr lang="zh-CN" altLang="en-US"/>
                </a:p>
              </p:txBody>
            </p:sp>
            <p:sp>
              <p:nvSpPr>
                <p:cNvPr id="4142" name="Rectangle 23"/>
                <p:cNvSpPr>
                  <a:spLocks noChangeArrowheads="1"/>
                </p:cNvSpPr>
                <p:nvPr/>
              </p:nvSpPr>
              <p:spPr bwMode="auto">
                <a:xfrm>
                  <a:off x="3762" y="2188"/>
                  <a:ext cx="495" cy="226"/>
                </a:xfrm>
                <a:prstGeom prst="rect">
                  <a:avLst/>
                </a:prstGeom>
                <a:gradFill rotWithShape="0">
                  <a:gsLst>
                    <a:gs pos="0">
                      <a:srgbClr val="006699"/>
                    </a:gs>
                    <a:gs pos="50000">
                      <a:srgbClr val="CCFFFF"/>
                    </a:gs>
                    <a:gs pos="100000">
                      <a:srgbClr val="006699"/>
                    </a:gs>
                  </a:gsLst>
                  <a:lin ang="5400000" scaled="1"/>
                </a:gradFill>
                <a:ln w="9525">
                  <a:solidFill>
                    <a:srgbClr val="0000CC"/>
                  </a:solidFill>
                  <a:miter lim="800000"/>
                  <a:headEnd/>
                  <a:tailEnd/>
                </a:ln>
              </p:spPr>
              <p:txBody>
                <a:bodyPr/>
                <a:lstStyle/>
                <a:p>
                  <a:endParaRPr lang="zh-CN" altLang="en-US"/>
                </a:p>
              </p:txBody>
            </p:sp>
          </p:grpSp>
          <p:sp>
            <p:nvSpPr>
              <p:cNvPr id="4134" name="Text Box 24"/>
              <p:cNvSpPr txBox="1">
                <a:spLocks noChangeArrowheads="1"/>
              </p:cNvSpPr>
              <p:nvPr/>
            </p:nvSpPr>
            <p:spPr bwMode="auto">
              <a:xfrm>
                <a:off x="1774" y="2245"/>
                <a:ext cx="113" cy="190"/>
              </a:xfrm>
              <a:prstGeom prst="rect">
                <a:avLst/>
              </a:prstGeom>
              <a:noFill/>
              <a:ln w="9525">
                <a:noFill/>
                <a:miter lim="800000"/>
                <a:headEnd/>
                <a:tailEnd/>
              </a:ln>
            </p:spPr>
            <p:txBody>
              <a:bodyPr lIns="0" tIns="0" rIns="0" bIns="0" anchor="b">
                <a:spAutoFit/>
              </a:bodyPr>
              <a:lstStyle/>
              <a:p>
                <a:pPr algn="l">
                  <a:lnSpc>
                    <a:spcPct val="55000"/>
                  </a:lnSpc>
                </a:pPr>
                <a:r>
                  <a:rPr lang="en-US" altLang="zh-CN" sz="3600">
                    <a:solidFill>
                      <a:schemeClr val="hlink"/>
                    </a:solidFill>
                    <a:cs typeface="Times New Roman" pitchFamily="18" charset="0"/>
                  </a:rPr>
                  <a:t>•</a:t>
                </a:r>
                <a:endParaRPr lang="en-US" altLang="zh-CN" sz="3600">
                  <a:solidFill>
                    <a:schemeClr val="hlink"/>
                  </a:solidFill>
                </a:endParaRPr>
              </a:p>
            </p:txBody>
          </p:sp>
          <p:sp>
            <p:nvSpPr>
              <p:cNvPr id="4135" name="Text Box 25"/>
              <p:cNvSpPr txBox="1">
                <a:spLocks noChangeArrowheads="1"/>
              </p:cNvSpPr>
              <p:nvPr/>
            </p:nvSpPr>
            <p:spPr bwMode="auto">
              <a:xfrm>
                <a:off x="4355" y="2253"/>
                <a:ext cx="113" cy="190"/>
              </a:xfrm>
              <a:prstGeom prst="rect">
                <a:avLst/>
              </a:prstGeom>
              <a:noFill/>
              <a:ln w="9525">
                <a:noFill/>
                <a:miter lim="800000"/>
                <a:headEnd/>
                <a:tailEnd/>
              </a:ln>
            </p:spPr>
            <p:txBody>
              <a:bodyPr lIns="0" tIns="0" rIns="0" bIns="0" anchor="b">
                <a:spAutoFit/>
              </a:bodyPr>
              <a:lstStyle/>
              <a:p>
                <a:pPr algn="l">
                  <a:lnSpc>
                    <a:spcPct val="55000"/>
                  </a:lnSpc>
                </a:pPr>
                <a:r>
                  <a:rPr lang="en-US" altLang="zh-CN" sz="3600">
                    <a:solidFill>
                      <a:schemeClr val="hlink"/>
                    </a:solidFill>
                    <a:cs typeface="Times New Roman" pitchFamily="18" charset="0"/>
                  </a:rPr>
                  <a:t>•</a:t>
                </a:r>
                <a:endParaRPr lang="en-US" altLang="zh-CN" sz="3600">
                  <a:solidFill>
                    <a:schemeClr val="hlink"/>
                  </a:solidFill>
                </a:endParaRPr>
              </a:p>
            </p:txBody>
          </p:sp>
          <p:sp>
            <p:nvSpPr>
              <p:cNvPr id="4136" name="Text Box 26"/>
              <p:cNvSpPr txBox="1">
                <a:spLocks noChangeArrowheads="1"/>
              </p:cNvSpPr>
              <p:nvPr/>
            </p:nvSpPr>
            <p:spPr bwMode="auto">
              <a:xfrm>
                <a:off x="3050" y="2245"/>
                <a:ext cx="113" cy="190"/>
              </a:xfrm>
              <a:prstGeom prst="rect">
                <a:avLst/>
              </a:prstGeom>
              <a:noFill/>
              <a:ln w="9525">
                <a:noFill/>
                <a:miter lim="800000"/>
                <a:headEnd/>
                <a:tailEnd/>
              </a:ln>
            </p:spPr>
            <p:txBody>
              <a:bodyPr lIns="0" tIns="0" rIns="0" bIns="0" anchor="b">
                <a:spAutoFit/>
              </a:bodyPr>
              <a:lstStyle/>
              <a:p>
                <a:pPr algn="l">
                  <a:lnSpc>
                    <a:spcPct val="55000"/>
                  </a:lnSpc>
                </a:pPr>
                <a:r>
                  <a:rPr lang="en-US" altLang="zh-CN" sz="3600">
                    <a:solidFill>
                      <a:schemeClr val="hlink"/>
                    </a:solidFill>
                    <a:cs typeface="Times New Roman" pitchFamily="18" charset="0"/>
                  </a:rPr>
                  <a:t>•</a:t>
                </a:r>
                <a:endParaRPr lang="en-US" altLang="zh-CN" sz="3600">
                  <a:solidFill>
                    <a:schemeClr val="hlink"/>
                  </a:solidFill>
                </a:endParaRPr>
              </a:p>
            </p:txBody>
          </p:sp>
        </p:grpSp>
        <p:sp>
          <p:nvSpPr>
            <p:cNvPr id="4131" name="Line 27"/>
            <p:cNvSpPr>
              <a:spLocks noChangeShapeType="1"/>
            </p:cNvSpPr>
            <p:nvPr/>
          </p:nvSpPr>
          <p:spPr bwMode="auto">
            <a:xfrm>
              <a:off x="2965" y="2015"/>
              <a:ext cx="680" cy="0"/>
            </a:xfrm>
            <a:prstGeom prst="line">
              <a:avLst/>
            </a:prstGeom>
            <a:noFill/>
            <a:ln w="38100">
              <a:solidFill>
                <a:srgbClr val="0000CC"/>
              </a:solidFill>
              <a:round/>
              <a:headEnd/>
              <a:tailEnd type="stealth" w="med" len="lg"/>
            </a:ln>
          </p:spPr>
          <p:txBody>
            <a:bodyPr/>
            <a:lstStyle/>
            <a:p>
              <a:endParaRPr lang="zh-CN" altLang="en-US"/>
            </a:p>
          </p:txBody>
        </p:sp>
        <p:sp>
          <p:nvSpPr>
            <p:cNvPr id="4132" name="Text Box 28"/>
            <p:cNvSpPr txBox="1">
              <a:spLocks noChangeArrowheads="1"/>
            </p:cNvSpPr>
            <p:nvPr/>
          </p:nvSpPr>
          <p:spPr bwMode="auto">
            <a:xfrm>
              <a:off x="3135" y="1848"/>
              <a:ext cx="171" cy="138"/>
            </a:xfrm>
            <a:prstGeom prst="rect">
              <a:avLst/>
            </a:prstGeom>
            <a:noFill/>
            <a:ln w="9525">
              <a:noFill/>
              <a:miter lim="800000"/>
              <a:headEnd/>
              <a:tailEnd/>
            </a:ln>
          </p:spPr>
          <p:txBody>
            <a:bodyPr lIns="0" tIns="0" rIns="0" bIns="0">
              <a:spAutoFit/>
            </a:bodyPr>
            <a:lstStyle/>
            <a:p>
              <a:pPr>
                <a:lnSpc>
                  <a:spcPct val="60000"/>
                </a:lnSpc>
              </a:pPr>
              <a:r>
                <a:rPr lang="en-US" altLang="zh-CN" b="1" i="1">
                  <a:solidFill>
                    <a:srgbClr val="000099"/>
                  </a:solidFill>
                  <a:latin typeface="Bookman Old Style" pitchFamily="18" charset="0"/>
                </a:rPr>
                <a:t>v</a:t>
              </a:r>
            </a:p>
          </p:txBody>
        </p:sp>
        <p:graphicFrame>
          <p:nvGraphicFramePr>
            <p:cNvPr id="4101" name="Object 29"/>
            <p:cNvGraphicFramePr>
              <a:graphicFrameLocks noChangeAspect="1"/>
            </p:cNvGraphicFramePr>
            <p:nvPr/>
          </p:nvGraphicFramePr>
          <p:xfrm>
            <a:off x="2511" y="1962"/>
            <a:ext cx="255" cy="174"/>
          </p:xfrm>
          <a:graphic>
            <a:graphicData uri="http://schemas.openxmlformats.org/presentationml/2006/ole">
              <p:oleObj spid="_x0000_s4101" name="Equation" r:id="rId6" imgW="241091" imgH="164957" progId="">
                <p:embed/>
              </p:oleObj>
            </a:graphicData>
          </a:graphic>
        </p:graphicFrame>
        <p:graphicFrame>
          <p:nvGraphicFramePr>
            <p:cNvPr id="4102" name="Object 30"/>
            <p:cNvGraphicFramePr>
              <a:graphicFrameLocks noChangeAspect="1"/>
            </p:cNvGraphicFramePr>
            <p:nvPr/>
          </p:nvGraphicFramePr>
          <p:xfrm>
            <a:off x="3816" y="1933"/>
            <a:ext cx="255" cy="221"/>
          </p:xfrm>
          <a:graphic>
            <a:graphicData uri="http://schemas.openxmlformats.org/presentationml/2006/ole">
              <p:oleObj spid="_x0000_s4102" name="Equation" r:id="rId7" imgW="190335" imgH="164957" progId="">
                <p:embed/>
              </p:oleObj>
            </a:graphicData>
          </a:graphic>
        </p:graphicFrame>
        <p:graphicFrame>
          <p:nvGraphicFramePr>
            <p:cNvPr id="4103" name="Object 31"/>
            <p:cNvGraphicFramePr>
              <a:graphicFrameLocks noChangeAspect="1"/>
            </p:cNvGraphicFramePr>
            <p:nvPr/>
          </p:nvGraphicFramePr>
          <p:xfrm>
            <a:off x="1264" y="1933"/>
            <a:ext cx="255" cy="221"/>
          </p:xfrm>
          <a:graphic>
            <a:graphicData uri="http://schemas.openxmlformats.org/presentationml/2006/ole">
              <p:oleObj spid="_x0000_s4103" name="Equation" r:id="rId8" imgW="190335" imgH="164957" progId="">
                <p:embed/>
              </p:oleObj>
            </a:graphicData>
          </a:graphic>
        </p:graphicFrame>
      </p:grpSp>
      <p:sp>
        <p:nvSpPr>
          <p:cNvPr id="167968" name="Freeform 32"/>
          <p:cNvSpPr>
            <a:spLocks/>
          </p:cNvSpPr>
          <p:nvPr/>
        </p:nvSpPr>
        <p:spPr bwMode="auto">
          <a:xfrm rot="753075">
            <a:off x="3446463" y="2484438"/>
            <a:ext cx="134937" cy="539750"/>
          </a:xfrm>
          <a:custGeom>
            <a:avLst/>
            <a:gdLst>
              <a:gd name="T0" fmla="*/ 1444214 w 1077"/>
              <a:gd name="T1" fmla="*/ 92544292 h 1571"/>
              <a:gd name="T2" fmla="*/ 1287226 w 1077"/>
              <a:gd name="T3" fmla="*/ 114145623 h 1571"/>
              <a:gd name="T4" fmla="*/ 926141 w 1077"/>
              <a:gd name="T5" fmla="*/ 141058903 h 1571"/>
              <a:gd name="T6" fmla="*/ 722044 w 1077"/>
              <a:gd name="T7" fmla="*/ 176825318 h 1571"/>
              <a:gd name="T8" fmla="*/ 2668545 w 1077"/>
              <a:gd name="T9" fmla="*/ 158646983 h 1571"/>
              <a:gd name="T10" fmla="*/ 3531916 w 1077"/>
              <a:gd name="T11" fmla="*/ 154161665 h 1571"/>
              <a:gd name="T12" fmla="*/ 4897574 w 1077"/>
              <a:gd name="T13" fmla="*/ 134566788 h 1571"/>
              <a:gd name="T14" fmla="*/ 6200461 w 1077"/>
              <a:gd name="T15" fmla="*/ 123706857 h 1571"/>
              <a:gd name="T16" fmla="*/ 7566243 w 1077"/>
              <a:gd name="T17" fmla="*/ 101987337 h 1571"/>
              <a:gd name="T18" fmla="*/ 12636466 w 1077"/>
              <a:gd name="T19" fmla="*/ 113083302 h 1571"/>
              <a:gd name="T20" fmla="*/ 13342849 w 1077"/>
              <a:gd name="T21" fmla="*/ 100098728 h 1571"/>
              <a:gd name="T22" fmla="*/ 13751043 w 1077"/>
              <a:gd name="T23" fmla="*/ 91009561 h 1571"/>
              <a:gd name="T24" fmla="*/ 15069591 w 1077"/>
              <a:gd name="T25" fmla="*/ 64804358 h 1571"/>
              <a:gd name="T26" fmla="*/ 15650434 w 1077"/>
              <a:gd name="T27" fmla="*/ 50521430 h 1571"/>
              <a:gd name="T28" fmla="*/ 16859107 w 1077"/>
              <a:gd name="T29" fmla="*/ 1652577 h 1571"/>
              <a:gd name="T30" fmla="*/ 12840563 w 1077"/>
              <a:gd name="T31" fmla="*/ 40960186 h 1571"/>
              <a:gd name="T32" fmla="*/ 11098160 w 1077"/>
              <a:gd name="T33" fmla="*/ 51937973 h 1571"/>
              <a:gd name="T34" fmla="*/ 9481297 w 1077"/>
              <a:gd name="T35" fmla="*/ 60200852 h 1571"/>
              <a:gd name="T36" fmla="*/ 6640102 w 1077"/>
              <a:gd name="T37" fmla="*/ 75782478 h 1571"/>
              <a:gd name="T38" fmla="*/ 5745284 w 1077"/>
              <a:gd name="T39" fmla="*/ 72123105 h 1571"/>
              <a:gd name="T40" fmla="*/ 4458058 w 1077"/>
              <a:gd name="T41" fmla="*/ 68817953 h 1571"/>
              <a:gd name="T42" fmla="*/ 2872642 w 1077"/>
              <a:gd name="T43" fmla="*/ 63506004 h 1571"/>
              <a:gd name="T44" fmla="*/ 2448787 w 1077"/>
              <a:gd name="T45" fmla="*/ 66693311 h 1571"/>
              <a:gd name="T46" fmla="*/ 3531916 w 1077"/>
              <a:gd name="T47" fmla="*/ 67165377 h 1571"/>
              <a:gd name="T48" fmla="*/ 2229029 w 1077"/>
              <a:gd name="T49" fmla="*/ 69290020 h 1571"/>
              <a:gd name="T50" fmla="*/ 1867944 w 1077"/>
              <a:gd name="T51" fmla="*/ 81802527 h 1571"/>
              <a:gd name="T52" fmla="*/ 1444214 w 1077"/>
              <a:gd name="T53" fmla="*/ 92544292 h 15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77"/>
              <a:gd name="T82" fmla="*/ 0 h 1571"/>
              <a:gd name="T83" fmla="*/ 1077 w 1077"/>
              <a:gd name="T84" fmla="*/ 1571 h 157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77" h="1571">
                <a:moveTo>
                  <a:pt x="92" y="784"/>
                </a:moveTo>
                <a:cubicBezTo>
                  <a:pt x="98" y="827"/>
                  <a:pt x="87" y="899"/>
                  <a:pt x="82" y="967"/>
                </a:cubicBezTo>
                <a:cubicBezTo>
                  <a:pt x="77" y="1035"/>
                  <a:pt x="65" y="1107"/>
                  <a:pt x="59" y="1195"/>
                </a:cubicBezTo>
                <a:cubicBezTo>
                  <a:pt x="53" y="1283"/>
                  <a:pt x="0" y="1571"/>
                  <a:pt x="46" y="1498"/>
                </a:cubicBezTo>
                <a:cubicBezTo>
                  <a:pt x="49" y="1520"/>
                  <a:pt x="148" y="1362"/>
                  <a:pt x="170" y="1344"/>
                </a:cubicBezTo>
                <a:cubicBezTo>
                  <a:pt x="185" y="1330"/>
                  <a:pt x="207" y="1318"/>
                  <a:pt x="225" y="1306"/>
                </a:cubicBezTo>
                <a:cubicBezTo>
                  <a:pt x="238" y="1272"/>
                  <a:pt x="284" y="1183"/>
                  <a:pt x="312" y="1140"/>
                </a:cubicBezTo>
                <a:cubicBezTo>
                  <a:pt x="340" y="1098"/>
                  <a:pt x="367" y="1094"/>
                  <a:pt x="395" y="1048"/>
                </a:cubicBezTo>
                <a:cubicBezTo>
                  <a:pt x="435" y="969"/>
                  <a:pt x="451" y="951"/>
                  <a:pt x="482" y="864"/>
                </a:cubicBezTo>
                <a:cubicBezTo>
                  <a:pt x="528" y="870"/>
                  <a:pt x="759" y="950"/>
                  <a:pt x="805" y="958"/>
                </a:cubicBezTo>
                <a:cubicBezTo>
                  <a:pt x="860" y="968"/>
                  <a:pt x="878" y="663"/>
                  <a:pt x="850" y="848"/>
                </a:cubicBezTo>
                <a:cubicBezTo>
                  <a:pt x="875" y="820"/>
                  <a:pt x="858" y="821"/>
                  <a:pt x="876" y="771"/>
                </a:cubicBezTo>
                <a:cubicBezTo>
                  <a:pt x="894" y="721"/>
                  <a:pt x="940" y="606"/>
                  <a:pt x="960" y="549"/>
                </a:cubicBezTo>
                <a:cubicBezTo>
                  <a:pt x="1025" y="422"/>
                  <a:pt x="988" y="492"/>
                  <a:pt x="997" y="428"/>
                </a:cubicBezTo>
                <a:cubicBezTo>
                  <a:pt x="997" y="426"/>
                  <a:pt x="1077" y="16"/>
                  <a:pt x="1074" y="14"/>
                </a:cubicBezTo>
                <a:cubicBezTo>
                  <a:pt x="1052" y="0"/>
                  <a:pt x="839" y="339"/>
                  <a:pt x="818" y="347"/>
                </a:cubicBezTo>
                <a:cubicBezTo>
                  <a:pt x="784" y="379"/>
                  <a:pt x="735" y="406"/>
                  <a:pt x="707" y="440"/>
                </a:cubicBezTo>
                <a:cubicBezTo>
                  <a:pt x="682" y="474"/>
                  <a:pt x="644" y="484"/>
                  <a:pt x="604" y="510"/>
                </a:cubicBezTo>
                <a:cubicBezTo>
                  <a:pt x="521" y="565"/>
                  <a:pt x="494" y="573"/>
                  <a:pt x="423" y="642"/>
                </a:cubicBezTo>
                <a:cubicBezTo>
                  <a:pt x="367" y="698"/>
                  <a:pt x="457" y="638"/>
                  <a:pt x="366" y="611"/>
                </a:cubicBezTo>
                <a:cubicBezTo>
                  <a:pt x="349" y="596"/>
                  <a:pt x="319" y="591"/>
                  <a:pt x="284" y="583"/>
                </a:cubicBezTo>
                <a:cubicBezTo>
                  <a:pt x="254" y="571"/>
                  <a:pt x="204" y="541"/>
                  <a:pt x="183" y="538"/>
                </a:cubicBezTo>
                <a:cubicBezTo>
                  <a:pt x="162" y="535"/>
                  <a:pt x="149" y="560"/>
                  <a:pt x="156" y="565"/>
                </a:cubicBezTo>
                <a:cubicBezTo>
                  <a:pt x="128" y="571"/>
                  <a:pt x="340" y="587"/>
                  <a:pt x="225" y="569"/>
                </a:cubicBezTo>
                <a:cubicBezTo>
                  <a:pt x="192" y="601"/>
                  <a:pt x="158" y="549"/>
                  <a:pt x="142" y="587"/>
                </a:cubicBezTo>
                <a:cubicBezTo>
                  <a:pt x="133" y="612"/>
                  <a:pt x="116" y="666"/>
                  <a:pt x="119" y="693"/>
                </a:cubicBezTo>
                <a:cubicBezTo>
                  <a:pt x="125" y="731"/>
                  <a:pt x="73" y="748"/>
                  <a:pt x="92" y="784"/>
                </a:cubicBezTo>
                <a:close/>
              </a:path>
            </a:pathLst>
          </a:custGeom>
          <a:solidFill>
            <a:srgbClr val="FF3300"/>
          </a:solidFill>
          <a:ln w="9525">
            <a:solidFill>
              <a:srgbClr val="FF0000"/>
            </a:solidFill>
            <a:round/>
            <a:headEnd/>
            <a:tailEnd/>
          </a:ln>
        </p:spPr>
        <p:txBody>
          <a:bodyPr/>
          <a:lstStyle/>
          <a:p>
            <a:endParaRPr lang="zh-CN" altLang="en-US"/>
          </a:p>
        </p:txBody>
      </p:sp>
      <p:sp>
        <p:nvSpPr>
          <p:cNvPr id="167969" name="Freeform 33"/>
          <p:cNvSpPr>
            <a:spLocks/>
          </p:cNvSpPr>
          <p:nvPr/>
        </p:nvSpPr>
        <p:spPr bwMode="auto">
          <a:xfrm rot="20093849" flipH="1">
            <a:off x="7227888" y="2484438"/>
            <a:ext cx="134937" cy="539750"/>
          </a:xfrm>
          <a:custGeom>
            <a:avLst/>
            <a:gdLst>
              <a:gd name="T0" fmla="*/ 1444214 w 1077"/>
              <a:gd name="T1" fmla="*/ 92544292 h 1571"/>
              <a:gd name="T2" fmla="*/ 1287226 w 1077"/>
              <a:gd name="T3" fmla="*/ 114145623 h 1571"/>
              <a:gd name="T4" fmla="*/ 926141 w 1077"/>
              <a:gd name="T5" fmla="*/ 141058903 h 1571"/>
              <a:gd name="T6" fmla="*/ 722044 w 1077"/>
              <a:gd name="T7" fmla="*/ 176825318 h 1571"/>
              <a:gd name="T8" fmla="*/ 2668545 w 1077"/>
              <a:gd name="T9" fmla="*/ 158646983 h 1571"/>
              <a:gd name="T10" fmla="*/ 3531916 w 1077"/>
              <a:gd name="T11" fmla="*/ 154161665 h 1571"/>
              <a:gd name="T12" fmla="*/ 4897574 w 1077"/>
              <a:gd name="T13" fmla="*/ 134566788 h 1571"/>
              <a:gd name="T14" fmla="*/ 6200461 w 1077"/>
              <a:gd name="T15" fmla="*/ 123706857 h 1571"/>
              <a:gd name="T16" fmla="*/ 7566243 w 1077"/>
              <a:gd name="T17" fmla="*/ 101987337 h 1571"/>
              <a:gd name="T18" fmla="*/ 12636466 w 1077"/>
              <a:gd name="T19" fmla="*/ 113083302 h 1571"/>
              <a:gd name="T20" fmla="*/ 13342849 w 1077"/>
              <a:gd name="T21" fmla="*/ 100098728 h 1571"/>
              <a:gd name="T22" fmla="*/ 13751043 w 1077"/>
              <a:gd name="T23" fmla="*/ 91009561 h 1571"/>
              <a:gd name="T24" fmla="*/ 15069591 w 1077"/>
              <a:gd name="T25" fmla="*/ 64804358 h 1571"/>
              <a:gd name="T26" fmla="*/ 15650434 w 1077"/>
              <a:gd name="T27" fmla="*/ 50521430 h 1571"/>
              <a:gd name="T28" fmla="*/ 16859107 w 1077"/>
              <a:gd name="T29" fmla="*/ 1652577 h 1571"/>
              <a:gd name="T30" fmla="*/ 12840563 w 1077"/>
              <a:gd name="T31" fmla="*/ 40960186 h 1571"/>
              <a:gd name="T32" fmla="*/ 11098160 w 1077"/>
              <a:gd name="T33" fmla="*/ 51937973 h 1571"/>
              <a:gd name="T34" fmla="*/ 9481297 w 1077"/>
              <a:gd name="T35" fmla="*/ 60200852 h 1571"/>
              <a:gd name="T36" fmla="*/ 6640102 w 1077"/>
              <a:gd name="T37" fmla="*/ 75782478 h 1571"/>
              <a:gd name="T38" fmla="*/ 5745284 w 1077"/>
              <a:gd name="T39" fmla="*/ 72123105 h 1571"/>
              <a:gd name="T40" fmla="*/ 4458058 w 1077"/>
              <a:gd name="T41" fmla="*/ 68817953 h 1571"/>
              <a:gd name="T42" fmla="*/ 2872642 w 1077"/>
              <a:gd name="T43" fmla="*/ 63506004 h 1571"/>
              <a:gd name="T44" fmla="*/ 2448787 w 1077"/>
              <a:gd name="T45" fmla="*/ 66693311 h 1571"/>
              <a:gd name="T46" fmla="*/ 3531916 w 1077"/>
              <a:gd name="T47" fmla="*/ 67165377 h 1571"/>
              <a:gd name="T48" fmla="*/ 2229029 w 1077"/>
              <a:gd name="T49" fmla="*/ 69290020 h 1571"/>
              <a:gd name="T50" fmla="*/ 1867944 w 1077"/>
              <a:gd name="T51" fmla="*/ 81802527 h 1571"/>
              <a:gd name="T52" fmla="*/ 1444214 w 1077"/>
              <a:gd name="T53" fmla="*/ 92544292 h 15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77"/>
              <a:gd name="T82" fmla="*/ 0 h 1571"/>
              <a:gd name="T83" fmla="*/ 1077 w 1077"/>
              <a:gd name="T84" fmla="*/ 1571 h 157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77" h="1571">
                <a:moveTo>
                  <a:pt x="92" y="784"/>
                </a:moveTo>
                <a:cubicBezTo>
                  <a:pt x="98" y="827"/>
                  <a:pt x="87" y="899"/>
                  <a:pt x="82" y="967"/>
                </a:cubicBezTo>
                <a:cubicBezTo>
                  <a:pt x="77" y="1035"/>
                  <a:pt x="65" y="1107"/>
                  <a:pt x="59" y="1195"/>
                </a:cubicBezTo>
                <a:cubicBezTo>
                  <a:pt x="53" y="1283"/>
                  <a:pt x="0" y="1571"/>
                  <a:pt x="46" y="1498"/>
                </a:cubicBezTo>
                <a:cubicBezTo>
                  <a:pt x="49" y="1520"/>
                  <a:pt x="148" y="1362"/>
                  <a:pt x="170" y="1344"/>
                </a:cubicBezTo>
                <a:cubicBezTo>
                  <a:pt x="185" y="1330"/>
                  <a:pt x="207" y="1318"/>
                  <a:pt x="225" y="1306"/>
                </a:cubicBezTo>
                <a:cubicBezTo>
                  <a:pt x="238" y="1272"/>
                  <a:pt x="284" y="1183"/>
                  <a:pt x="312" y="1140"/>
                </a:cubicBezTo>
                <a:cubicBezTo>
                  <a:pt x="340" y="1098"/>
                  <a:pt x="367" y="1094"/>
                  <a:pt x="395" y="1048"/>
                </a:cubicBezTo>
                <a:cubicBezTo>
                  <a:pt x="435" y="969"/>
                  <a:pt x="451" y="951"/>
                  <a:pt x="482" y="864"/>
                </a:cubicBezTo>
                <a:cubicBezTo>
                  <a:pt x="528" y="870"/>
                  <a:pt x="759" y="950"/>
                  <a:pt x="805" y="958"/>
                </a:cubicBezTo>
                <a:cubicBezTo>
                  <a:pt x="860" y="968"/>
                  <a:pt x="878" y="663"/>
                  <a:pt x="850" y="848"/>
                </a:cubicBezTo>
                <a:cubicBezTo>
                  <a:pt x="875" y="820"/>
                  <a:pt x="858" y="821"/>
                  <a:pt x="876" y="771"/>
                </a:cubicBezTo>
                <a:cubicBezTo>
                  <a:pt x="894" y="721"/>
                  <a:pt x="940" y="606"/>
                  <a:pt x="960" y="549"/>
                </a:cubicBezTo>
                <a:cubicBezTo>
                  <a:pt x="1025" y="422"/>
                  <a:pt x="988" y="492"/>
                  <a:pt x="997" y="428"/>
                </a:cubicBezTo>
                <a:cubicBezTo>
                  <a:pt x="997" y="426"/>
                  <a:pt x="1077" y="16"/>
                  <a:pt x="1074" y="14"/>
                </a:cubicBezTo>
                <a:cubicBezTo>
                  <a:pt x="1052" y="0"/>
                  <a:pt x="839" y="339"/>
                  <a:pt x="818" y="347"/>
                </a:cubicBezTo>
                <a:cubicBezTo>
                  <a:pt x="784" y="379"/>
                  <a:pt x="735" y="406"/>
                  <a:pt x="707" y="440"/>
                </a:cubicBezTo>
                <a:cubicBezTo>
                  <a:pt x="682" y="474"/>
                  <a:pt x="644" y="484"/>
                  <a:pt x="604" y="510"/>
                </a:cubicBezTo>
                <a:cubicBezTo>
                  <a:pt x="521" y="565"/>
                  <a:pt x="494" y="573"/>
                  <a:pt x="423" y="642"/>
                </a:cubicBezTo>
                <a:cubicBezTo>
                  <a:pt x="367" y="698"/>
                  <a:pt x="457" y="638"/>
                  <a:pt x="366" y="611"/>
                </a:cubicBezTo>
                <a:cubicBezTo>
                  <a:pt x="349" y="596"/>
                  <a:pt x="319" y="591"/>
                  <a:pt x="284" y="583"/>
                </a:cubicBezTo>
                <a:cubicBezTo>
                  <a:pt x="254" y="571"/>
                  <a:pt x="204" y="541"/>
                  <a:pt x="183" y="538"/>
                </a:cubicBezTo>
                <a:cubicBezTo>
                  <a:pt x="162" y="535"/>
                  <a:pt x="149" y="560"/>
                  <a:pt x="156" y="565"/>
                </a:cubicBezTo>
                <a:cubicBezTo>
                  <a:pt x="128" y="571"/>
                  <a:pt x="340" y="587"/>
                  <a:pt x="225" y="569"/>
                </a:cubicBezTo>
                <a:cubicBezTo>
                  <a:pt x="192" y="601"/>
                  <a:pt x="158" y="549"/>
                  <a:pt x="142" y="587"/>
                </a:cubicBezTo>
                <a:cubicBezTo>
                  <a:pt x="133" y="612"/>
                  <a:pt x="116" y="666"/>
                  <a:pt x="119" y="693"/>
                </a:cubicBezTo>
                <a:cubicBezTo>
                  <a:pt x="125" y="731"/>
                  <a:pt x="73" y="748"/>
                  <a:pt x="92" y="784"/>
                </a:cubicBezTo>
                <a:close/>
              </a:path>
            </a:pathLst>
          </a:custGeom>
          <a:solidFill>
            <a:srgbClr val="FF3300"/>
          </a:solidFill>
          <a:ln w="9525">
            <a:solidFill>
              <a:srgbClr val="FF0000"/>
            </a:solidFill>
            <a:round/>
            <a:headEnd/>
            <a:tailEnd/>
          </a:ln>
        </p:spPr>
        <p:txBody>
          <a:bodyPr/>
          <a:lstStyle/>
          <a:p>
            <a:endParaRPr lang="zh-CN" altLang="en-US"/>
          </a:p>
        </p:txBody>
      </p:sp>
      <p:sp>
        <p:nvSpPr>
          <p:cNvPr id="167970" name="Text Box 34"/>
          <p:cNvSpPr txBox="1">
            <a:spLocks noChangeArrowheads="1"/>
          </p:cNvSpPr>
          <p:nvPr/>
        </p:nvSpPr>
        <p:spPr bwMode="auto">
          <a:xfrm>
            <a:off x="1135063" y="4371975"/>
            <a:ext cx="2141537" cy="479425"/>
          </a:xfrm>
          <a:prstGeom prst="rect">
            <a:avLst/>
          </a:prstGeom>
          <a:solidFill>
            <a:srgbClr val="009999">
              <a:alpha val="14902"/>
            </a:srgbClr>
          </a:solidFill>
          <a:ln w="9525">
            <a:solidFill>
              <a:srgbClr val="009999">
                <a:alpha val="50195"/>
              </a:srgbClr>
            </a:solidFill>
            <a:miter lim="800000"/>
            <a:headEnd/>
            <a:tailEnd/>
          </a:ln>
        </p:spPr>
        <p:txBody>
          <a:bodyPr>
            <a:spAutoFit/>
          </a:bodyPr>
          <a:lstStyle/>
          <a:p>
            <a:pPr algn="l" eaLnBrk="0" hangingPunct="0">
              <a:lnSpc>
                <a:spcPct val="115000"/>
              </a:lnSpc>
            </a:pPr>
            <a:r>
              <a:rPr lang="zh-CN" altLang="en-US" b="1">
                <a:solidFill>
                  <a:schemeClr val="bg1"/>
                </a:solidFill>
              </a:rPr>
              <a:t>光速不变原理</a:t>
            </a:r>
          </a:p>
        </p:txBody>
      </p:sp>
      <p:sp>
        <p:nvSpPr>
          <p:cNvPr id="167971" name="Text Box 35"/>
          <p:cNvSpPr txBox="1">
            <a:spLocks noChangeArrowheads="1"/>
          </p:cNvSpPr>
          <p:nvPr/>
        </p:nvSpPr>
        <p:spPr bwMode="auto">
          <a:xfrm>
            <a:off x="4616450" y="4398963"/>
            <a:ext cx="3600450" cy="404812"/>
          </a:xfrm>
          <a:prstGeom prst="rect">
            <a:avLst/>
          </a:prstGeom>
          <a:solidFill>
            <a:srgbClr val="009999">
              <a:alpha val="14902"/>
            </a:srgbClr>
          </a:solidFill>
          <a:ln w="19050">
            <a:solidFill>
              <a:srgbClr val="009999">
                <a:alpha val="50195"/>
              </a:srgbClr>
            </a:solidFill>
            <a:miter lim="800000"/>
            <a:headEnd/>
            <a:tailEnd/>
          </a:ln>
        </p:spPr>
        <p:txBody>
          <a:bodyPr lIns="36000" tIns="0" rIns="36000" bIns="18000">
            <a:spAutoFit/>
          </a:bodyPr>
          <a:lstStyle/>
          <a:p>
            <a:pPr>
              <a:lnSpc>
                <a:spcPct val="115000"/>
              </a:lnSpc>
            </a:pPr>
            <a:r>
              <a:rPr lang="en-US" altLang="zh-CN" b="1" i="1">
                <a:solidFill>
                  <a:schemeClr val="accent2"/>
                </a:solidFill>
              </a:rPr>
              <a:t>A</a:t>
            </a:r>
            <a:r>
              <a:rPr lang="zh-CN" altLang="en-US" b="1" i="1">
                <a:solidFill>
                  <a:schemeClr val="accent2"/>
                </a:solidFill>
              </a:rPr>
              <a:t>、</a:t>
            </a:r>
            <a:r>
              <a:rPr lang="en-US" altLang="zh-CN" b="1" i="1">
                <a:solidFill>
                  <a:schemeClr val="accent2"/>
                </a:solidFill>
              </a:rPr>
              <a:t>B</a:t>
            </a:r>
            <a:r>
              <a:rPr lang="zh-CN" altLang="en-US" b="1">
                <a:solidFill>
                  <a:schemeClr val="bg1"/>
                </a:solidFill>
              </a:rPr>
              <a:t>两处事件同时发生</a:t>
            </a:r>
          </a:p>
        </p:txBody>
      </p:sp>
      <p:sp>
        <p:nvSpPr>
          <p:cNvPr id="167972" name="AutoShape 36"/>
          <p:cNvSpPr>
            <a:spLocks noChangeArrowheads="1"/>
          </p:cNvSpPr>
          <p:nvPr/>
        </p:nvSpPr>
        <p:spPr bwMode="auto">
          <a:xfrm>
            <a:off x="3592513" y="4533900"/>
            <a:ext cx="809625" cy="180975"/>
          </a:xfrm>
          <a:prstGeom prst="rightArrow">
            <a:avLst>
              <a:gd name="adj1" fmla="val 50000"/>
              <a:gd name="adj2" fmla="val 111842"/>
            </a:avLst>
          </a:prstGeom>
          <a:solidFill>
            <a:srgbClr val="0000FF"/>
          </a:solidFill>
          <a:ln w="9525">
            <a:solidFill>
              <a:schemeClr val="tx1">
                <a:alpha val="66000"/>
              </a:schemeClr>
            </a:solidFill>
            <a:miter lim="800000"/>
            <a:headEnd/>
            <a:tailEnd/>
          </a:ln>
          <a:effectLst>
            <a:outerShdw blurRad="63500" dist="38099" dir="2700000" algn="ctr" rotWithShape="0">
              <a:schemeClr val="bg2">
                <a:alpha val="50000"/>
              </a:schemeClr>
            </a:outerShdw>
          </a:effectLst>
        </p:spPr>
        <p:txBody>
          <a:bodyPr wrap="none" tIns="0" anchor="ctr"/>
          <a:lstStyle/>
          <a:p>
            <a:pPr>
              <a:defRPr/>
            </a:pPr>
            <a:endParaRPr lang="zh-CN" altLang="en-US">
              <a:latin typeface="Times New Roman" charset="0"/>
              <a:ea typeface="宋体" charset="0"/>
            </a:endParaRPr>
          </a:p>
        </p:txBody>
      </p:sp>
      <p:sp>
        <p:nvSpPr>
          <p:cNvPr id="167973" name="Text Box 37"/>
          <p:cNvSpPr txBox="1">
            <a:spLocks noChangeArrowheads="1"/>
          </p:cNvSpPr>
          <p:nvPr/>
        </p:nvSpPr>
        <p:spPr bwMode="auto">
          <a:xfrm>
            <a:off x="0" y="3267075"/>
            <a:ext cx="9144000" cy="517525"/>
          </a:xfrm>
          <a:prstGeom prst="rect">
            <a:avLst/>
          </a:prstGeom>
          <a:noFill/>
          <a:ln w="9525">
            <a:noFill/>
            <a:miter lim="800000"/>
            <a:headEnd/>
            <a:tailEnd/>
          </a:ln>
        </p:spPr>
        <p:txBody>
          <a:bodyPr>
            <a:spAutoFit/>
          </a:bodyPr>
          <a:lstStyle/>
          <a:p>
            <a:pPr algn="l" eaLnBrk="0" hangingPunct="0">
              <a:lnSpc>
                <a:spcPct val="115000"/>
              </a:lnSpc>
            </a:pPr>
            <a:r>
              <a:rPr lang="en-US" altLang="zh-CN" b="1"/>
              <a:t>    </a:t>
            </a:r>
            <a:r>
              <a:rPr lang="zh-CN" altLang="en-US" b="1"/>
              <a:t>雷击产生的光信号在空间传播，假定过了一段时间后的某一时刻</a:t>
            </a:r>
          </a:p>
        </p:txBody>
      </p:sp>
      <p:sp>
        <p:nvSpPr>
          <p:cNvPr id="167974" name="Text Box 38"/>
          <p:cNvSpPr txBox="1">
            <a:spLocks noChangeArrowheads="1"/>
          </p:cNvSpPr>
          <p:nvPr/>
        </p:nvSpPr>
        <p:spPr bwMode="auto">
          <a:xfrm>
            <a:off x="609600" y="5881688"/>
            <a:ext cx="2141538" cy="479425"/>
          </a:xfrm>
          <a:prstGeom prst="rect">
            <a:avLst/>
          </a:prstGeom>
          <a:solidFill>
            <a:srgbClr val="009999">
              <a:alpha val="14902"/>
            </a:srgbClr>
          </a:solidFill>
          <a:ln w="9525">
            <a:solidFill>
              <a:srgbClr val="009999">
                <a:alpha val="50195"/>
              </a:srgbClr>
            </a:solidFill>
            <a:miter lim="800000"/>
            <a:headEnd/>
            <a:tailEnd/>
          </a:ln>
        </p:spPr>
        <p:txBody>
          <a:bodyPr>
            <a:spAutoFit/>
          </a:bodyPr>
          <a:lstStyle/>
          <a:p>
            <a:pPr algn="l" eaLnBrk="0" hangingPunct="0">
              <a:lnSpc>
                <a:spcPct val="115000"/>
              </a:lnSpc>
            </a:pPr>
            <a:r>
              <a:rPr lang="zh-CN" altLang="en-US" b="1">
                <a:solidFill>
                  <a:schemeClr val="bg1"/>
                </a:solidFill>
              </a:rPr>
              <a:t>光速不变原理</a:t>
            </a:r>
          </a:p>
        </p:txBody>
      </p:sp>
      <p:sp>
        <p:nvSpPr>
          <p:cNvPr id="167975" name="AutoShape 39"/>
          <p:cNvSpPr>
            <a:spLocks noChangeArrowheads="1"/>
          </p:cNvSpPr>
          <p:nvPr/>
        </p:nvSpPr>
        <p:spPr bwMode="auto">
          <a:xfrm>
            <a:off x="3040063" y="6043613"/>
            <a:ext cx="809625" cy="180975"/>
          </a:xfrm>
          <a:prstGeom prst="rightArrow">
            <a:avLst>
              <a:gd name="adj1" fmla="val 50000"/>
              <a:gd name="adj2" fmla="val 111842"/>
            </a:avLst>
          </a:prstGeom>
          <a:solidFill>
            <a:srgbClr val="0000FF"/>
          </a:solidFill>
          <a:ln w="9525">
            <a:solidFill>
              <a:schemeClr val="tx1">
                <a:alpha val="66000"/>
              </a:schemeClr>
            </a:solidFill>
            <a:miter lim="800000"/>
            <a:headEnd/>
            <a:tailEnd/>
          </a:ln>
          <a:effectLst>
            <a:outerShdw blurRad="63500" dist="38099" dir="2700000" algn="ctr" rotWithShape="0">
              <a:schemeClr val="bg2">
                <a:alpha val="50000"/>
              </a:schemeClr>
            </a:outerShdw>
          </a:effectLst>
        </p:spPr>
        <p:txBody>
          <a:bodyPr wrap="none" tIns="0" anchor="ctr"/>
          <a:lstStyle/>
          <a:p>
            <a:pPr>
              <a:defRPr/>
            </a:pPr>
            <a:endParaRPr lang="zh-CN" altLang="en-US">
              <a:latin typeface="Times New Roman" charset="0"/>
              <a:ea typeface="宋体" charset="0"/>
            </a:endParaRPr>
          </a:p>
        </p:txBody>
      </p:sp>
      <p:sp>
        <p:nvSpPr>
          <p:cNvPr id="167976" name="Text Box 40"/>
          <p:cNvSpPr txBox="1">
            <a:spLocks noChangeArrowheads="1"/>
          </p:cNvSpPr>
          <p:nvPr/>
        </p:nvSpPr>
        <p:spPr bwMode="auto">
          <a:xfrm>
            <a:off x="4121150" y="5881688"/>
            <a:ext cx="4546600" cy="404812"/>
          </a:xfrm>
          <a:prstGeom prst="rect">
            <a:avLst/>
          </a:prstGeom>
          <a:solidFill>
            <a:srgbClr val="009999">
              <a:alpha val="14902"/>
            </a:srgbClr>
          </a:solidFill>
          <a:ln w="19050">
            <a:solidFill>
              <a:srgbClr val="009999">
                <a:alpha val="50195"/>
              </a:srgbClr>
            </a:solidFill>
            <a:miter lim="800000"/>
            <a:headEnd/>
            <a:tailEnd/>
          </a:ln>
        </p:spPr>
        <p:txBody>
          <a:bodyPr lIns="36000" tIns="0" rIns="36000" bIns="18000">
            <a:spAutoFit/>
          </a:bodyPr>
          <a:lstStyle/>
          <a:p>
            <a:pPr algn="l">
              <a:lnSpc>
                <a:spcPct val="115000"/>
              </a:lnSpc>
            </a:pPr>
            <a:r>
              <a:rPr lang="en-US" altLang="zh-CN" b="1" i="1">
                <a:solidFill>
                  <a:schemeClr val="accent2"/>
                </a:solidFill>
              </a:rPr>
              <a:t>B</a:t>
            </a:r>
            <a:r>
              <a:rPr lang="zh-CN" altLang="en-US" b="1">
                <a:solidFill>
                  <a:schemeClr val="bg1"/>
                </a:solidFill>
              </a:rPr>
              <a:t>处事件先发生、</a:t>
            </a:r>
            <a:r>
              <a:rPr lang="en-US" altLang="zh-CN" b="1">
                <a:solidFill>
                  <a:schemeClr val="bg1"/>
                </a:solidFill>
              </a:rPr>
              <a:t> </a:t>
            </a:r>
            <a:r>
              <a:rPr lang="en-US" altLang="zh-CN" b="1" i="1">
                <a:solidFill>
                  <a:schemeClr val="accent2"/>
                </a:solidFill>
              </a:rPr>
              <a:t>A</a:t>
            </a:r>
            <a:r>
              <a:rPr lang="zh-CN" altLang="en-US" b="1">
                <a:solidFill>
                  <a:schemeClr val="bg1"/>
                </a:solidFill>
              </a:rPr>
              <a:t>处事件后发生</a:t>
            </a:r>
          </a:p>
        </p:txBody>
      </p:sp>
      <p:grpSp>
        <p:nvGrpSpPr>
          <p:cNvPr id="6" name="Group 41"/>
          <p:cNvGrpSpPr>
            <a:grpSpLocks/>
          </p:cNvGrpSpPr>
          <p:nvPr/>
        </p:nvGrpSpPr>
        <p:grpSpPr bwMode="auto">
          <a:xfrm>
            <a:off x="385763" y="5251450"/>
            <a:ext cx="8758237" cy="479425"/>
            <a:chOff x="158" y="629"/>
            <a:chExt cx="5517" cy="302"/>
          </a:xfrm>
        </p:grpSpPr>
        <p:sp>
          <p:nvSpPr>
            <p:cNvPr id="4129" name="Text Box 42"/>
            <p:cNvSpPr txBox="1">
              <a:spLocks noChangeArrowheads="1"/>
            </p:cNvSpPr>
            <p:nvPr/>
          </p:nvSpPr>
          <p:spPr bwMode="auto">
            <a:xfrm>
              <a:off x="158" y="629"/>
              <a:ext cx="5517" cy="302"/>
            </a:xfrm>
            <a:prstGeom prst="rect">
              <a:avLst/>
            </a:prstGeom>
            <a:noFill/>
            <a:ln w="9525">
              <a:noFill/>
              <a:miter lim="800000"/>
              <a:headEnd/>
              <a:tailEnd/>
            </a:ln>
          </p:spPr>
          <p:txBody>
            <a:bodyPr>
              <a:spAutoFit/>
            </a:bodyPr>
            <a:lstStyle/>
            <a:p>
              <a:pPr algn="l" eaLnBrk="0" hangingPunct="0">
                <a:lnSpc>
                  <a:spcPct val="115000"/>
                </a:lnSpc>
              </a:pPr>
              <a:r>
                <a:rPr lang="zh-CN" altLang="en-US" b="1">
                  <a:solidFill>
                    <a:schemeClr val="bg1"/>
                  </a:solidFill>
                </a:rPr>
                <a:t>列车上的</a:t>
              </a:r>
              <a:r>
                <a:rPr lang="en-US" altLang="zh-CN" b="1">
                  <a:solidFill>
                    <a:schemeClr val="bg1"/>
                  </a:solidFill>
                </a:rPr>
                <a:t>      </a:t>
              </a:r>
              <a:r>
                <a:rPr lang="zh-CN" altLang="en-US" b="1">
                  <a:solidFill>
                    <a:schemeClr val="bg1"/>
                  </a:solidFill>
                </a:rPr>
                <a:t>点先接到</a:t>
              </a:r>
              <a:r>
                <a:rPr lang="en-US" altLang="zh-CN" b="1" i="1">
                  <a:solidFill>
                    <a:schemeClr val="accent2"/>
                  </a:solidFill>
                </a:rPr>
                <a:t>B</a:t>
              </a:r>
              <a:r>
                <a:rPr lang="zh-CN" altLang="en-US" b="1">
                  <a:solidFill>
                    <a:schemeClr val="bg1"/>
                  </a:solidFill>
                </a:rPr>
                <a:t>处的光信号，后接到</a:t>
              </a:r>
              <a:r>
                <a:rPr lang="en-US" altLang="zh-CN" b="1" i="1">
                  <a:solidFill>
                    <a:schemeClr val="accent2"/>
                  </a:solidFill>
                </a:rPr>
                <a:t>A</a:t>
              </a:r>
              <a:r>
                <a:rPr lang="zh-CN" altLang="en-US" b="1">
                  <a:solidFill>
                    <a:schemeClr val="bg1"/>
                  </a:solidFill>
                </a:rPr>
                <a:t>处的光信号</a:t>
              </a:r>
            </a:p>
          </p:txBody>
        </p:sp>
        <p:graphicFrame>
          <p:nvGraphicFramePr>
            <p:cNvPr id="4100" name="Object 43"/>
            <p:cNvGraphicFramePr>
              <a:graphicFrameLocks noChangeAspect="1"/>
            </p:cNvGraphicFramePr>
            <p:nvPr/>
          </p:nvGraphicFramePr>
          <p:xfrm>
            <a:off x="1009" y="686"/>
            <a:ext cx="303" cy="207"/>
          </p:xfrm>
          <a:graphic>
            <a:graphicData uri="http://schemas.openxmlformats.org/presentationml/2006/ole">
              <p:oleObj spid="_x0000_s4100" name="Equation" r:id="rId9" imgW="241091" imgH="164957" progId="">
                <p:embed/>
              </p:oleObj>
            </a:graphicData>
          </a:graphic>
        </p:graphicFrame>
      </p:grpSp>
      <p:sp>
        <p:nvSpPr>
          <p:cNvPr id="4124" name="Text Box 45"/>
          <p:cNvSpPr txBox="1">
            <a:spLocks noChangeArrowheads="1"/>
          </p:cNvSpPr>
          <p:nvPr/>
        </p:nvSpPr>
        <p:spPr bwMode="auto">
          <a:xfrm>
            <a:off x="431800" y="4905375"/>
            <a:ext cx="4095750" cy="479425"/>
          </a:xfrm>
          <a:prstGeom prst="rect">
            <a:avLst/>
          </a:prstGeom>
          <a:noFill/>
          <a:ln w="9525">
            <a:noFill/>
            <a:miter lim="800000"/>
            <a:headEnd/>
            <a:tailEnd/>
          </a:ln>
        </p:spPr>
        <p:txBody>
          <a:bodyPr>
            <a:spAutoFit/>
          </a:bodyPr>
          <a:lstStyle/>
          <a:p>
            <a:pPr algn="l" eaLnBrk="0" hangingPunct="0">
              <a:lnSpc>
                <a:spcPct val="115000"/>
              </a:lnSpc>
            </a:pPr>
            <a:r>
              <a:rPr lang="zh-CN" altLang="en-US" b="1">
                <a:solidFill>
                  <a:schemeClr val="hlink"/>
                </a:solidFill>
              </a:rPr>
              <a:t>在</a:t>
            </a:r>
            <a:r>
              <a:rPr lang="en-US" altLang="zh-CN" b="1">
                <a:solidFill>
                  <a:schemeClr val="hlink"/>
                </a:solidFill>
              </a:rPr>
              <a:t> </a:t>
            </a:r>
            <a:r>
              <a:rPr lang="en-US" altLang="zh-CN" b="1" i="1">
                <a:solidFill>
                  <a:srgbClr val="FF6600"/>
                </a:solidFill>
              </a:rPr>
              <a:t>S'</a:t>
            </a:r>
            <a:r>
              <a:rPr lang="en-US" altLang="zh-CN" b="1">
                <a:solidFill>
                  <a:schemeClr val="hlink"/>
                </a:solidFill>
              </a:rPr>
              <a:t> </a:t>
            </a:r>
            <a:r>
              <a:rPr lang="zh-CN" altLang="en-US" b="1">
                <a:solidFill>
                  <a:schemeClr val="hlink"/>
                </a:solidFill>
              </a:rPr>
              <a:t>系中</a:t>
            </a:r>
          </a:p>
        </p:txBody>
      </p:sp>
      <p:sp>
        <p:nvSpPr>
          <p:cNvPr id="167983" name="Line 47"/>
          <p:cNvSpPr>
            <a:spLocks noChangeShapeType="1"/>
          </p:cNvSpPr>
          <p:nvPr/>
        </p:nvSpPr>
        <p:spPr bwMode="auto">
          <a:xfrm>
            <a:off x="3402013" y="2979738"/>
            <a:ext cx="1979612" cy="0"/>
          </a:xfrm>
          <a:prstGeom prst="line">
            <a:avLst/>
          </a:prstGeom>
          <a:noFill/>
          <a:ln w="28575">
            <a:solidFill>
              <a:srgbClr val="CC0000"/>
            </a:solidFill>
            <a:round/>
            <a:headEnd/>
            <a:tailEnd type="stealth" w="med" len="lg"/>
          </a:ln>
        </p:spPr>
        <p:txBody>
          <a:bodyPr/>
          <a:lstStyle/>
          <a:p>
            <a:endParaRPr lang="zh-CN" altLang="en-US"/>
          </a:p>
        </p:txBody>
      </p:sp>
      <p:sp>
        <p:nvSpPr>
          <p:cNvPr id="167984" name="Line 48"/>
          <p:cNvSpPr>
            <a:spLocks noChangeShapeType="1"/>
          </p:cNvSpPr>
          <p:nvPr/>
        </p:nvSpPr>
        <p:spPr bwMode="auto">
          <a:xfrm flipH="1">
            <a:off x="5381625" y="2979738"/>
            <a:ext cx="2070100" cy="0"/>
          </a:xfrm>
          <a:prstGeom prst="line">
            <a:avLst/>
          </a:prstGeom>
          <a:noFill/>
          <a:ln w="28575">
            <a:solidFill>
              <a:srgbClr val="CC0000"/>
            </a:solidFill>
            <a:round/>
            <a:headEnd/>
            <a:tailEnd type="stealth" w="med" len="lg"/>
          </a:ln>
        </p:spPr>
        <p:txBody>
          <a:bodyPr/>
          <a:lstStyle/>
          <a:p>
            <a:endParaRPr lang="zh-CN" altLang="en-US"/>
          </a:p>
        </p:txBody>
      </p:sp>
      <p:sp>
        <p:nvSpPr>
          <p:cNvPr id="167985" name="Line 49"/>
          <p:cNvSpPr>
            <a:spLocks noChangeShapeType="1"/>
          </p:cNvSpPr>
          <p:nvPr/>
        </p:nvSpPr>
        <p:spPr bwMode="auto">
          <a:xfrm>
            <a:off x="3402013" y="2663825"/>
            <a:ext cx="3240087" cy="0"/>
          </a:xfrm>
          <a:prstGeom prst="line">
            <a:avLst/>
          </a:prstGeom>
          <a:noFill/>
          <a:ln w="28575">
            <a:solidFill>
              <a:srgbClr val="CC0000"/>
            </a:solidFill>
            <a:round/>
            <a:headEnd/>
            <a:tailEnd type="stealth" w="med" len="lg"/>
          </a:ln>
        </p:spPr>
        <p:txBody>
          <a:bodyPr/>
          <a:lstStyle/>
          <a:p>
            <a:endParaRPr lang="zh-CN" altLang="en-US"/>
          </a:p>
        </p:txBody>
      </p:sp>
      <p:sp>
        <p:nvSpPr>
          <p:cNvPr id="167986" name="Line 50"/>
          <p:cNvSpPr>
            <a:spLocks noChangeShapeType="1"/>
          </p:cNvSpPr>
          <p:nvPr/>
        </p:nvSpPr>
        <p:spPr bwMode="auto">
          <a:xfrm flipH="1">
            <a:off x="6686550" y="2663825"/>
            <a:ext cx="811213" cy="0"/>
          </a:xfrm>
          <a:prstGeom prst="line">
            <a:avLst/>
          </a:prstGeom>
          <a:noFill/>
          <a:ln w="28575">
            <a:solidFill>
              <a:srgbClr val="CC0000"/>
            </a:solidFill>
            <a:round/>
            <a:headEnd/>
            <a:tailEnd type="stealth" w="med" len="lg"/>
          </a:ln>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xit" presetSubtype="0" fill="hold" grpId="0" nodeType="withEffect">
                                  <p:stCondLst>
                                    <p:cond delay="0"/>
                                  </p:stCondLst>
                                  <p:childTnLst>
                                    <p:set>
                                      <p:cBhvr>
                                        <p:cTn id="6" dur="1" fill="hold">
                                          <p:stCondLst>
                                            <p:cond delay="0"/>
                                          </p:stCondLst>
                                        </p:cTn>
                                        <p:tgtEl>
                                          <p:spTgt spid="167968"/>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67969"/>
                                        </p:tgtEl>
                                        <p:attrNameLst>
                                          <p:attrName>style.visibility</p:attrName>
                                        </p:attrNameLst>
                                      </p:cBhvr>
                                      <p:to>
                                        <p:strVal val="hidden"/>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67949"/>
                                        </p:tgtEl>
                                        <p:attrNameLst>
                                          <p:attrName>style.visibility</p:attrName>
                                        </p:attrNameLst>
                                      </p:cBhvr>
                                      <p:to>
                                        <p:strVal val="visible"/>
                                      </p:to>
                                    </p:set>
                                    <p:animEffect transition="in" filter="wipe(left)">
                                      <p:cBhvr>
                                        <p:cTn id="13" dur="1000"/>
                                        <p:tgtEl>
                                          <p:spTgt spid="16794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67942"/>
                                        </p:tgtEl>
                                        <p:attrNameLst>
                                          <p:attrName>style.visibility</p:attrName>
                                        </p:attrNameLst>
                                      </p:cBhvr>
                                      <p:to>
                                        <p:strVal val="visible"/>
                                      </p:to>
                                    </p:set>
                                    <p:animEffect transition="in" filter="wipe(left)">
                                      <p:cBhvr>
                                        <p:cTn id="18" dur="1000"/>
                                        <p:tgtEl>
                                          <p:spTgt spid="16794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67941"/>
                                        </p:tgtEl>
                                        <p:attrNameLst>
                                          <p:attrName>style.visibility</p:attrName>
                                        </p:attrNameLst>
                                      </p:cBhvr>
                                      <p:to>
                                        <p:strVal val="visible"/>
                                      </p:to>
                                    </p:set>
                                    <p:animEffect transition="in" filter="wipe(left)">
                                      <p:cBhvr>
                                        <p:cTn id="23" dur="1000"/>
                                        <p:tgtEl>
                                          <p:spTgt spid="16794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32" fill="hold" nodeType="clickEffect">
                                  <p:stCondLst>
                                    <p:cond delay="0"/>
                                  </p:stCondLst>
                                  <p:childTnLst>
                                    <p:set>
                                      <p:cBhvr>
                                        <p:cTn id="27" dur="1" fill="hold">
                                          <p:stCondLst>
                                            <p:cond delay="0"/>
                                          </p:stCondLst>
                                        </p:cTn>
                                        <p:tgtEl>
                                          <p:spTgt spid="167950"/>
                                        </p:tgtEl>
                                        <p:attrNameLst>
                                          <p:attrName>style.visibility</p:attrName>
                                        </p:attrNameLst>
                                      </p:cBhvr>
                                      <p:to>
                                        <p:strVal val="visible"/>
                                      </p:to>
                                    </p:set>
                                    <p:animEffect transition="in" filter="box(out)">
                                      <p:cBhvr>
                                        <p:cTn id="28" dur="1000"/>
                                        <p:tgtEl>
                                          <p:spTgt spid="167950"/>
                                        </p:tgtEl>
                                      </p:cBhvr>
                                    </p:animEffect>
                                  </p:childTnLst>
                                </p:cTn>
                              </p:par>
                            </p:childTnLst>
                          </p:cTn>
                        </p:par>
                        <p:par>
                          <p:cTn id="29" fill="hold" nodeType="afterGroup">
                            <p:stCondLst>
                              <p:cond delay="1000"/>
                            </p:stCondLst>
                            <p:childTnLst>
                              <p:par>
                                <p:cTn id="30" presetID="22" presetClass="entr" presetSubtype="2" fill="hold" nodeType="after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right)">
                                      <p:cBhvr>
                                        <p:cTn id="32" dur="500"/>
                                        <p:tgtEl>
                                          <p:spTgt spid="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additive="base">
                                        <p:cTn id="37" dur="2000" fill="hold"/>
                                        <p:tgtEl>
                                          <p:spTgt spid="3"/>
                                        </p:tgtEl>
                                        <p:attrNameLst>
                                          <p:attrName>ppt_x</p:attrName>
                                        </p:attrNameLst>
                                      </p:cBhvr>
                                      <p:tavLst>
                                        <p:tav tm="0">
                                          <p:val>
                                            <p:strVal val="0-#ppt_w/2"/>
                                          </p:val>
                                        </p:tav>
                                        <p:tav tm="100000">
                                          <p:val>
                                            <p:strVal val="#ppt_x"/>
                                          </p:val>
                                        </p:tav>
                                      </p:tavLst>
                                    </p:anim>
                                    <p:anim calcmode="lin" valueType="num">
                                      <p:cBhvr additive="base">
                                        <p:cTn id="38" dur="2000" fill="hold"/>
                                        <p:tgtEl>
                                          <p:spTgt spid="3"/>
                                        </p:tgtEl>
                                        <p:attrNameLst>
                                          <p:attrName>ppt_y</p:attrName>
                                        </p:attrNameLst>
                                      </p:cBhvr>
                                      <p:tavLst>
                                        <p:tav tm="0">
                                          <p:val>
                                            <p:strVal val="#ppt_y"/>
                                          </p:val>
                                        </p:tav>
                                        <p:tav tm="100000">
                                          <p:val>
                                            <p:strVal val="#ppt_y"/>
                                          </p:val>
                                        </p:tav>
                                      </p:tavLst>
                                    </p:anim>
                                  </p:childTnLst>
                                </p:cTn>
                              </p:par>
                            </p:childTnLst>
                          </p:cTn>
                        </p:par>
                        <p:par>
                          <p:cTn id="39" fill="hold" nodeType="afterGroup">
                            <p:stCondLst>
                              <p:cond delay="2000"/>
                            </p:stCondLst>
                            <p:childTnLst>
                              <p:par>
                                <p:cTn id="40" presetID="1" presetClass="exit" presetSubtype="0" fill="hold" nodeType="afterEffect">
                                  <p:stCondLst>
                                    <p:cond delay="0"/>
                                  </p:stCondLst>
                                  <p:childTnLst>
                                    <p:set>
                                      <p:cBhvr>
                                        <p:cTn id="41" dur="1" fill="hold">
                                          <p:stCondLst>
                                            <p:cond delay="0"/>
                                          </p:stCondLst>
                                        </p:cTn>
                                        <p:tgtEl>
                                          <p:spTgt spid="2"/>
                                        </p:tgtEl>
                                        <p:attrNameLst>
                                          <p:attrName>style.visibility</p:attrName>
                                        </p:attrNameLst>
                                      </p:cBhvr>
                                      <p:to>
                                        <p:strVal val="hidden"/>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1" nodeType="clickEffect">
                                  <p:stCondLst>
                                    <p:cond delay="0"/>
                                  </p:stCondLst>
                                  <p:childTnLst>
                                    <p:set>
                                      <p:cBhvr>
                                        <p:cTn id="45" dur="1" fill="hold">
                                          <p:stCondLst>
                                            <p:cond delay="0"/>
                                          </p:stCondLst>
                                        </p:cTn>
                                        <p:tgtEl>
                                          <p:spTgt spid="167968"/>
                                        </p:tgtEl>
                                        <p:attrNameLst>
                                          <p:attrName>style.visibility</p:attrName>
                                        </p:attrNameLst>
                                      </p:cBhvr>
                                      <p:to>
                                        <p:strVal val="visible"/>
                                      </p:to>
                                    </p:set>
                                  </p:childTnLst>
                                </p:cTn>
                              </p:par>
                              <p:par>
                                <p:cTn id="46" presetID="1" presetClass="entr" presetSubtype="0" fill="hold" grpId="1" nodeType="withEffect">
                                  <p:stCondLst>
                                    <p:cond delay="0"/>
                                  </p:stCondLst>
                                  <p:childTnLst>
                                    <p:set>
                                      <p:cBhvr>
                                        <p:cTn id="47" dur="1" fill="hold">
                                          <p:stCondLst>
                                            <p:cond delay="0"/>
                                          </p:stCondLst>
                                        </p:cTn>
                                        <p:tgtEl>
                                          <p:spTgt spid="167969"/>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0" presetClass="path" presetSubtype="0" accel="50000" decel="50000" fill="hold" nodeType="clickEffect">
                                  <p:stCondLst>
                                    <p:cond delay="0"/>
                                  </p:stCondLst>
                                  <p:childTnLst>
                                    <p:animMotion origin="layout" path="M 8.61111E-6 -5.78035E-7 L 0.13282 -5.78035E-7 " pathEditMode="relative" ptsTypes="AA">
                                      <p:cBhvr>
                                        <p:cTn id="51" dur="1000" fill="hold"/>
                                        <p:tgtEl>
                                          <p:spTgt spid="3"/>
                                        </p:tgtEl>
                                        <p:attrNameLst>
                                          <p:attrName>ppt_x</p:attrName>
                                          <p:attrName>ppt_y</p:attrName>
                                        </p:attrNameLst>
                                      </p:cBhvr>
                                    </p:animMotion>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167946"/>
                                        </p:tgtEl>
                                        <p:attrNameLst>
                                          <p:attrName>style.visibility</p:attrName>
                                        </p:attrNameLst>
                                      </p:cBhvr>
                                      <p:to>
                                        <p:strVal val="visible"/>
                                      </p:to>
                                    </p:set>
                                    <p:animEffect transition="in" filter="wipe(left)">
                                      <p:cBhvr>
                                        <p:cTn id="56" dur="1000"/>
                                        <p:tgtEl>
                                          <p:spTgt spid="16794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67944"/>
                                        </p:tgtEl>
                                        <p:attrNameLst>
                                          <p:attrName>style.visibility</p:attrName>
                                        </p:attrNameLst>
                                      </p:cBhvr>
                                      <p:to>
                                        <p:strVal val="visible"/>
                                      </p:to>
                                    </p:set>
                                    <p:animEffect transition="in" filter="wipe(left)">
                                      <p:cBhvr>
                                        <p:cTn id="61" dur="1000"/>
                                        <p:tgtEl>
                                          <p:spTgt spid="16794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167945"/>
                                        </p:tgtEl>
                                        <p:attrNameLst>
                                          <p:attrName>style.visibility</p:attrName>
                                        </p:attrNameLst>
                                      </p:cBhvr>
                                      <p:to>
                                        <p:strVal val="visible"/>
                                      </p:to>
                                    </p:set>
                                    <p:animEffect transition="in" filter="wipe(left)">
                                      <p:cBhvr>
                                        <p:cTn id="66" dur="1000"/>
                                        <p:tgtEl>
                                          <p:spTgt spid="167945"/>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67943"/>
                                        </p:tgtEl>
                                        <p:attrNameLst>
                                          <p:attrName>style.visibility</p:attrName>
                                        </p:attrNameLst>
                                      </p:cBhvr>
                                      <p:to>
                                        <p:strVal val="visible"/>
                                      </p:to>
                                    </p:set>
                                    <p:animEffect transition="in" filter="wipe(left)">
                                      <p:cBhvr>
                                        <p:cTn id="71" dur="1000"/>
                                        <p:tgtEl>
                                          <p:spTgt spid="167943"/>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67973"/>
                                        </p:tgtEl>
                                        <p:attrNameLst>
                                          <p:attrName>style.visibility</p:attrName>
                                        </p:attrNameLst>
                                      </p:cBhvr>
                                      <p:to>
                                        <p:strVal val="visible"/>
                                      </p:to>
                                    </p:set>
                                    <p:animEffect transition="in" filter="wipe(left)">
                                      <p:cBhvr>
                                        <p:cTn id="76" dur="1000"/>
                                        <p:tgtEl>
                                          <p:spTgt spid="167973"/>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67947"/>
                                        </p:tgtEl>
                                        <p:attrNameLst>
                                          <p:attrName>style.visibility</p:attrName>
                                        </p:attrNameLst>
                                      </p:cBhvr>
                                      <p:to>
                                        <p:strVal val="visible"/>
                                      </p:to>
                                    </p:set>
                                    <p:animEffect transition="in" filter="wipe(left)">
                                      <p:cBhvr>
                                        <p:cTn id="81" dur="1000"/>
                                        <p:tgtEl>
                                          <p:spTgt spid="167947"/>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167983"/>
                                        </p:tgtEl>
                                        <p:attrNameLst>
                                          <p:attrName>style.visibility</p:attrName>
                                        </p:attrNameLst>
                                      </p:cBhvr>
                                      <p:to>
                                        <p:strVal val="visible"/>
                                      </p:to>
                                    </p:set>
                                    <p:animEffect transition="in" filter="wipe(left)">
                                      <p:cBhvr>
                                        <p:cTn id="86" dur="1000"/>
                                        <p:tgtEl>
                                          <p:spTgt spid="167983"/>
                                        </p:tgtEl>
                                      </p:cBhvr>
                                    </p:animEffect>
                                  </p:childTnLst>
                                </p:cTn>
                              </p:par>
                              <p:par>
                                <p:cTn id="87" presetID="22" presetClass="entr" presetSubtype="2" fill="hold" grpId="0" nodeType="withEffect">
                                  <p:stCondLst>
                                    <p:cond delay="0"/>
                                  </p:stCondLst>
                                  <p:childTnLst>
                                    <p:set>
                                      <p:cBhvr>
                                        <p:cTn id="88" dur="1" fill="hold">
                                          <p:stCondLst>
                                            <p:cond delay="0"/>
                                          </p:stCondLst>
                                        </p:cTn>
                                        <p:tgtEl>
                                          <p:spTgt spid="167984"/>
                                        </p:tgtEl>
                                        <p:attrNameLst>
                                          <p:attrName>style.visibility</p:attrName>
                                        </p:attrNameLst>
                                      </p:cBhvr>
                                      <p:to>
                                        <p:strVal val="visible"/>
                                      </p:to>
                                    </p:set>
                                    <p:animEffect transition="in" filter="wipe(right)">
                                      <p:cBhvr>
                                        <p:cTn id="89" dur="1000"/>
                                        <p:tgtEl>
                                          <p:spTgt spid="167984"/>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167948"/>
                                        </p:tgtEl>
                                        <p:attrNameLst>
                                          <p:attrName>style.visibility</p:attrName>
                                        </p:attrNameLst>
                                      </p:cBhvr>
                                      <p:to>
                                        <p:strVal val="visible"/>
                                      </p:to>
                                    </p:set>
                                    <p:animEffect transition="in" filter="wipe(left)">
                                      <p:cBhvr>
                                        <p:cTn id="94" dur="1000"/>
                                        <p:tgtEl>
                                          <p:spTgt spid="167948"/>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167970"/>
                                        </p:tgtEl>
                                        <p:attrNameLst>
                                          <p:attrName>style.visibility</p:attrName>
                                        </p:attrNameLst>
                                      </p:cBhvr>
                                      <p:to>
                                        <p:strVal val="visible"/>
                                      </p:to>
                                    </p:set>
                                    <p:animEffect transition="in" filter="wipe(left)">
                                      <p:cBhvr>
                                        <p:cTn id="99" dur="1000"/>
                                        <p:tgtEl>
                                          <p:spTgt spid="167970"/>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167972"/>
                                        </p:tgtEl>
                                        <p:attrNameLst>
                                          <p:attrName>style.visibility</p:attrName>
                                        </p:attrNameLst>
                                      </p:cBhvr>
                                      <p:to>
                                        <p:strVal val="visible"/>
                                      </p:to>
                                    </p:set>
                                    <p:animEffect transition="in" filter="wipe(left)">
                                      <p:cBhvr>
                                        <p:cTn id="104" dur="1000"/>
                                        <p:tgtEl>
                                          <p:spTgt spid="167972"/>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167971"/>
                                        </p:tgtEl>
                                        <p:attrNameLst>
                                          <p:attrName>style.visibility</p:attrName>
                                        </p:attrNameLst>
                                      </p:cBhvr>
                                      <p:to>
                                        <p:strVal val="visible"/>
                                      </p:to>
                                    </p:set>
                                    <p:animEffect transition="in" filter="wipe(left)">
                                      <p:cBhvr>
                                        <p:cTn id="109" dur="1000"/>
                                        <p:tgtEl>
                                          <p:spTgt spid="167971"/>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167985"/>
                                        </p:tgtEl>
                                        <p:attrNameLst>
                                          <p:attrName>style.visibility</p:attrName>
                                        </p:attrNameLst>
                                      </p:cBhvr>
                                      <p:to>
                                        <p:strVal val="visible"/>
                                      </p:to>
                                    </p:set>
                                    <p:animEffect transition="in" filter="wipe(left)">
                                      <p:cBhvr>
                                        <p:cTn id="114" dur="2000"/>
                                        <p:tgtEl>
                                          <p:spTgt spid="167985"/>
                                        </p:tgtEl>
                                      </p:cBhvr>
                                    </p:animEffect>
                                  </p:childTnLst>
                                </p:cTn>
                              </p:par>
                              <p:par>
                                <p:cTn id="115" presetID="22" presetClass="entr" presetSubtype="2" fill="hold" grpId="0" nodeType="withEffect">
                                  <p:stCondLst>
                                    <p:cond delay="0"/>
                                  </p:stCondLst>
                                  <p:childTnLst>
                                    <p:set>
                                      <p:cBhvr>
                                        <p:cTn id="116" dur="1" fill="hold">
                                          <p:stCondLst>
                                            <p:cond delay="0"/>
                                          </p:stCondLst>
                                        </p:cTn>
                                        <p:tgtEl>
                                          <p:spTgt spid="167986"/>
                                        </p:tgtEl>
                                        <p:attrNameLst>
                                          <p:attrName>style.visibility</p:attrName>
                                        </p:attrNameLst>
                                      </p:cBhvr>
                                      <p:to>
                                        <p:strVal val="visible"/>
                                      </p:to>
                                    </p:set>
                                    <p:animEffect transition="in" filter="wipe(right)">
                                      <p:cBhvr>
                                        <p:cTn id="117" dur="1000"/>
                                        <p:tgtEl>
                                          <p:spTgt spid="167986"/>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nodeType="clickEffect">
                                  <p:stCondLst>
                                    <p:cond delay="0"/>
                                  </p:stCondLst>
                                  <p:childTnLst>
                                    <p:set>
                                      <p:cBhvr>
                                        <p:cTn id="121" dur="1" fill="hold">
                                          <p:stCondLst>
                                            <p:cond delay="0"/>
                                          </p:stCondLst>
                                        </p:cTn>
                                        <p:tgtEl>
                                          <p:spTgt spid="6"/>
                                        </p:tgtEl>
                                        <p:attrNameLst>
                                          <p:attrName>style.visibility</p:attrName>
                                        </p:attrNameLst>
                                      </p:cBhvr>
                                      <p:to>
                                        <p:strVal val="visible"/>
                                      </p:to>
                                    </p:set>
                                    <p:animEffect transition="in" filter="wipe(left)">
                                      <p:cBhvr>
                                        <p:cTn id="122" dur="1000"/>
                                        <p:tgtEl>
                                          <p:spTgt spid="6"/>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167974"/>
                                        </p:tgtEl>
                                        <p:attrNameLst>
                                          <p:attrName>style.visibility</p:attrName>
                                        </p:attrNameLst>
                                      </p:cBhvr>
                                      <p:to>
                                        <p:strVal val="visible"/>
                                      </p:to>
                                    </p:set>
                                    <p:animEffect transition="in" filter="wipe(left)">
                                      <p:cBhvr>
                                        <p:cTn id="127" dur="1000"/>
                                        <p:tgtEl>
                                          <p:spTgt spid="167974"/>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167975"/>
                                        </p:tgtEl>
                                        <p:attrNameLst>
                                          <p:attrName>style.visibility</p:attrName>
                                        </p:attrNameLst>
                                      </p:cBhvr>
                                      <p:to>
                                        <p:strVal val="visible"/>
                                      </p:to>
                                    </p:set>
                                    <p:animEffect transition="in" filter="wipe(left)">
                                      <p:cBhvr>
                                        <p:cTn id="132" dur="1000"/>
                                        <p:tgtEl>
                                          <p:spTgt spid="167975"/>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167976"/>
                                        </p:tgtEl>
                                        <p:attrNameLst>
                                          <p:attrName>style.visibility</p:attrName>
                                        </p:attrNameLst>
                                      </p:cBhvr>
                                      <p:to>
                                        <p:strVal val="visible"/>
                                      </p:to>
                                    </p:set>
                                    <p:animEffect transition="in" filter="wipe(left)">
                                      <p:cBhvr>
                                        <p:cTn id="137" dur="1000"/>
                                        <p:tgtEl>
                                          <p:spTgt spid="1679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1" grpId="0"/>
      <p:bldP spid="167942" grpId="0"/>
      <p:bldP spid="167943" grpId="0"/>
      <p:bldP spid="167944" grpId="0"/>
      <p:bldP spid="167947" grpId="0"/>
      <p:bldP spid="167948" grpId="0"/>
      <p:bldP spid="167949" grpId="0"/>
      <p:bldP spid="167968" grpId="0" animBg="1"/>
      <p:bldP spid="167968" grpId="1" animBg="1"/>
      <p:bldP spid="167969" grpId="0" animBg="1"/>
      <p:bldP spid="167969" grpId="1" animBg="1"/>
      <p:bldP spid="167970" grpId="0" animBg="1"/>
      <p:bldP spid="167971" grpId="0" animBg="1"/>
      <p:bldP spid="167972" grpId="0" animBg="1"/>
      <p:bldP spid="167973" grpId="0"/>
      <p:bldP spid="167974" grpId="0" animBg="1"/>
      <p:bldP spid="167975" grpId="0" animBg="1"/>
      <p:bldP spid="167976" grpId="0" animBg="1"/>
      <p:bldP spid="167983" grpId="0" animBg="1"/>
      <p:bldP spid="167984" grpId="0" animBg="1"/>
      <p:bldP spid="167985" grpId="0" animBg="1"/>
      <p:bldP spid="16798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Text Box 2"/>
          <p:cNvSpPr txBox="1">
            <a:spLocks noChangeArrowheads="1"/>
          </p:cNvSpPr>
          <p:nvPr/>
        </p:nvSpPr>
        <p:spPr bwMode="auto">
          <a:xfrm>
            <a:off x="206375" y="593725"/>
            <a:ext cx="8739188" cy="1354138"/>
          </a:xfrm>
          <a:prstGeom prst="rect">
            <a:avLst/>
          </a:prstGeom>
          <a:noFill/>
          <a:ln w="9525">
            <a:noFill/>
            <a:miter lim="800000"/>
            <a:headEnd/>
            <a:tailEnd/>
          </a:ln>
        </p:spPr>
        <p:txBody>
          <a:bodyPr>
            <a:spAutoFit/>
          </a:bodyPr>
          <a:lstStyle/>
          <a:p>
            <a:pPr algn="l" eaLnBrk="0" hangingPunct="0">
              <a:lnSpc>
                <a:spcPct val="115000"/>
              </a:lnSpc>
            </a:pPr>
            <a:r>
              <a:rPr lang="en-US" altLang="zh-CN" b="1">
                <a:solidFill>
                  <a:schemeClr val="bg1"/>
                </a:solidFill>
              </a:rPr>
              <a:t>        </a:t>
            </a:r>
            <a:r>
              <a:rPr lang="zh-CN" altLang="en-US" b="1">
                <a:solidFill>
                  <a:schemeClr val="bg1"/>
                </a:solidFill>
              </a:rPr>
              <a:t>而根据</a:t>
            </a:r>
            <a:r>
              <a:rPr lang="zh-CN" altLang="en-US" b="1">
                <a:solidFill>
                  <a:schemeClr val="hlink"/>
                </a:solidFill>
              </a:rPr>
              <a:t>相对性原理</a:t>
            </a:r>
            <a:r>
              <a:rPr lang="zh-CN" altLang="en-US" b="1">
                <a:solidFill>
                  <a:schemeClr val="bg1"/>
                </a:solidFill>
              </a:rPr>
              <a:t>，</a:t>
            </a:r>
            <a:r>
              <a:rPr lang="zh-CN" altLang="en-US" b="1">
                <a:solidFill>
                  <a:srgbClr val="009900"/>
                </a:solidFill>
              </a:rPr>
              <a:t>各惯性系都是等价的</a:t>
            </a:r>
            <a:r>
              <a:rPr lang="zh-CN" altLang="en-US" b="1">
                <a:solidFill>
                  <a:schemeClr val="bg1"/>
                </a:solidFill>
              </a:rPr>
              <a:t>，所以以上结论都是正确的。因此，两个事件是否“同时”只有相对的意义，</a:t>
            </a:r>
            <a:r>
              <a:rPr lang="zh-CN" altLang="en-US" b="1">
                <a:solidFill>
                  <a:srgbClr val="FF6600"/>
                </a:solidFill>
              </a:rPr>
              <a:t>与惯性参考系的选择有关</a:t>
            </a:r>
            <a:r>
              <a:rPr lang="zh-CN" altLang="en-US" b="1"/>
              <a:t>。</a:t>
            </a:r>
            <a:endParaRPr lang="zh-CN" altLang="en-US" b="1">
              <a:solidFill>
                <a:schemeClr val="bg1"/>
              </a:solidFill>
            </a:endParaRPr>
          </a:p>
        </p:txBody>
      </p:sp>
      <p:sp>
        <p:nvSpPr>
          <p:cNvPr id="168963" name="Text Box 3"/>
          <p:cNvSpPr txBox="1">
            <a:spLocks noChangeArrowheads="1"/>
          </p:cNvSpPr>
          <p:nvPr/>
        </p:nvSpPr>
        <p:spPr bwMode="auto">
          <a:xfrm>
            <a:off x="611188" y="2079625"/>
            <a:ext cx="8002587" cy="1363663"/>
          </a:xfrm>
          <a:prstGeom prst="rect">
            <a:avLst/>
          </a:prstGeom>
          <a:solidFill>
            <a:srgbClr val="009999">
              <a:alpha val="10196"/>
            </a:srgbClr>
          </a:solidFill>
          <a:ln w="9525">
            <a:solidFill>
              <a:srgbClr val="009999">
                <a:alpha val="14117"/>
              </a:srgbClr>
            </a:solidFill>
            <a:miter lim="800000"/>
            <a:headEnd/>
            <a:tailEnd/>
          </a:ln>
        </p:spPr>
        <p:txBody>
          <a:bodyPr>
            <a:spAutoFit/>
          </a:bodyPr>
          <a:lstStyle/>
          <a:p>
            <a:pPr algn="l">
              <a:lnSpc>
                <a:spcPct val="115000"/>
              </a:lnSpc>
            </a:pPr>
            <a:r>
              <a:rPr lang="zh-CN" altLang="en-US" b="1">
                <a:solidFill>
                  <a:schemeClr val="bg1"/>
                </a:solidFill>
              </a:rPr>
              <a:t>沿两个惯性系相对运动方向上发生的两个事件，在其中一个惯性系中表现为同时的，在另一个惯性系中观察，则总是在前一个惯性系运动的后方的那一事件先发生。</a:t>
            </a:r>
          </a:p>
        </p:txBody>
      </p:sp>
      <p:sp>
        <p:nvSpPr>
          <p:cNvPr id="168964" name="Text Box 4"/>
          <p:cNvSpPr txBox="1">
            <a:spLocks noChangeArrowheads="1"/>
          </p:cNvSpPr>
          <p:nvPr/>
        </p:nvSpPr>
        <p:spPr bwMode="auto">
          <a:xfrm>
            <a:off x="1211263" y="4554538"/>
            <a:ext cx="7426325" cy="479425"/>
          </a:xfrm>
          <a:prstGeom prst="rect">
            <a:avLst/>
          </a:prstGeom>
          <a:noFill/>
          <a:ln w="9525">
            <a:noFill/>
            <a:miter lim="800000"/>
            <a:headEnd/>
            <a:tailEnd/>
          </a:ln>
        </p:spPr>
        <p:txBody>
          <a:bodyPr>
            <a:spAutoFit/>
          </a:bodyPr>
          <a:lstStyle/>
          <a:p>
            <a:pPr algn="l">
              <a:lnSpc>
                <a:spcPct val="115000"/>
              </a:lnSpc>
            </a:pPr>
            <a:r>
              <a:rPr lang="en-US" altLang="zh-CN" b="1">
                <a:solidFill>
                  <a:schemeClr val="bg1"/>
                </a:solidFill>
                <a:sym typeface="Monotype Sorts" pitchFamily="2" charset="2"/>
              </a:rPr>
              <a:t>(2) </a:t>
            </a:r>
            <a:r>
              <a:rPr lang="zh-CN" altLang="en-US" b="1">
                <a:solidFill>
                  <a:schemeClr val="bg1"/>
                </a:solidFill>
              </a:rPr>
              <a:t>同时性的相对性是</a:t>
            </a:r>
            <a:r>
              <a:rPr lang="zh-CN" altLang="en-US" b="1">
                <a:solidFill>
                  <a:srgbClr val="FF6600"/>
                </a:solidFill>
              </a:rPr>
              <a:t>光速不变原理</a:t>
            </a:r>
            <a:r>
              <a:rPr lang="zh-CN" altLang="en-US" b="1">
                <a:solidFill>
                  <a:schemeClr val="bg1"/>
                </a:solidFill>
              </a:rPr>
              <a:t>的直接结果。</a:t>
            </a:r>
          </a:p>
        </p:txBody>
      </p:sp>
      <p:sp>
        <p:nvSpPr>
          <p:cNvPr id="168965" name="Rectangle 5"/>
          <p:cNvSpPr>
            <a:spLocks noChangeArrowheads="1"/>
          </p:cNvSpPr>
          <p:nvPr/>
        </p:nvSpPr>
        <p:spPr bwMode="auto">
          <a:xfrm>
            <a:off x="1196975" y="3968750"/>
            <a:ext cx="3840163" cy="479425"/>
          </a:xfrm>
          <a:prstGeom prst="rect">
            <a:avLst/>
          </a:prstGeom>
          <a:noFill/>
          <a:ln w="9525">
            <a:noFill/>
            <a:miter lim="800000"/>
            <a:headEnd/>
            <a:tailEnd/>
          </a:ln>
        </p:spPr>
        <p:txBody>
          <a:bodyPr lIns="92075" tIns="46038" rIns="92075" bIns="46038">
            <a:spAutoFit/>
          </a:bodyPr>
          <a:lstStyle/>
          <a:p>
            <a:pPr algn="l" defTabSz="762000" eaLnBrk="0" hangingPunct="0">
              <a:lnSpc>
                <a:spcPct val="115000"/>
              </a:lnSpc>
            </a:pPr>
            <a:r>
              <a:rPr lang="en-US" altLang="zh-CN" b="1">
                <a:solidFill>
                  <a:schemeClr val="bg1"/>
                </a:solidFill>
                <a:sym typeface="Monotype Sorts" pitchFamily="2" charset="2"/>
              </a:rPr>
              <a:t>(1) </a:t>
            </a:r>
            <a:r>
              <a:rPr lang="zh-CN" altLang="en-US" b="1">
                <a:solidFill>
                  <a:schemeClr val="bg1"/>
                </a:solidFill>
              </a:rPr>
              <a:t>同时性是相对的。</a:t>
            </a:r>
            <a:endParaRPr lang="zh-CN" altLang="en-US" b="1">
              <a:solidFill>
                <a:srgbClr val="0000CC"/>
              </a:solidFill>
            </a:endParaRPr>
          </a:p>
        </p:txBody>
      </p:sp>
      <p:sp>
        <p:nvSpPr>
          <p:cNvPr id="168966" name="Text Box 6"/>
          <p:cNvSpPr txBox="1">
            <a:spLocks noChangeArrowheads="1"/>
          </p:cNvSpPr>
          <p:nvPr/>
        </p:nvSpPr>
        <p:spPr bwMode="auto">
          <a:xfrm>
            <a:off x="385763" y="3563938"/>
            <a:ext cx="1287462" cy="479425"/>
          </a:xfrm>
          <a:prstGeom prst="rect">
            <a:avLst/>
          </a:prstGeom>
          <a:noFill/>
          <a:ln w="9525">
            <a:noFill/>
            <a:miter lim="800000"/>
            <a:headEnd/>
            <a:tailEnd/>
          </a:ln>
        </p:spPr>
        <p:txBody>
          <a:bodyPr>
            <a:spAutoFit/>
          </a:bodyPr>
          <a:lstStyle/>
          <a:p>
            <a:pPr algn="l">
              <a:lnSpc>
                <a:spcPct val="115000"/>
              </a:lnSpc>
            </a:pPr>
            <a:r>
              <a:rPr lang="zh-CN" altLang="en-US" b="1">
                <a:solidFill>
                  <a:schemeClr val="hlink"/>
                </a:solidFill>
              </a:rPr>
              <a:t>讨论：</a:t>
            </a:r>
          </a:p>
        </p:txBody>
      </p:sp>
      <p:sp>
        <p:nvSpPr>
          <p:cNvPr id="168967" name="Rectangle 7"/>
          <p:cNvSpPr>
            <a:spLocks noChangeArrowheads="1"/>
          </p:cNvSpPr>
          <p:nvPr/>
        </p:nvSpPr>
        <p:spPr bwMode="auto">
          <a:xfrm>
            <a:off x="1211263" y="5105400"/>
            <a:ext cx="7605712" cy="933450"/>
          </a:xfrm>
          <a:prstGeom prst="rect">
            <a:avLst/>
          </a:prstGeom>
          <a:noFill/>
          <a:ln w="9525">
            <a:noFill/>
            <a:miter lim="800000"/>
            <a:headEnd/>
            <a:tailEnd/>
          </a:ln>
        </p:spPr>
        <p:txBody>
          <a:bodyPr>
            <a:spAutoFit/>
          </a:bodyPr>
          <a:lstStyle/>
          <a:p>
            <a:pPr marL="442913" indent="-442913" algn="l">
              <a:lnSpc>
                <a:spcPct val="115000"/>
              </a:lnSpc>
            </a:pPr>
            <a:r>
              <a:rPr lang="en-US" altLang="zh-CN" b="1">
                <a:solidFill>
                  <a:schemeClr val="bg1"/>
                </a:solidFill>
              </a:rPr>
              <a:t>(3) </a:t>
            </a:r>
            <a:r>
              <a:rPr lang="zh-CN" altLang="en-US" b="1">
                <a:solidFill>
                  <a:schemeClr val="bg1"/>
                </a:solidFill>
              </a:rPr>
              <a:t>同时性的相对性否定了各个惯性系具有统一时间的可能性，否定了牛顿的绝对时空观。</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8962"/>
                                        </p:tgtEl>
                                        <p:attrNameLst>
                                          <p:attrName>style.visibility</p:attrName>
                                        </p:attrNameLst>
                                      </p:cBhvr>
                                      <p:to>
                                        <p:strVal val="visible"/>
                                      </p:to>
                                    </p:set>
                                    <p:animEffect transition="in" filter="wipe(left)">
                                      <p:cBhvr>
                                        <p:cTn id="7" dur="500"/>
                                        <p:tgtEl>
                                          <p:spTgt spid="1689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168963"/>
                                        </p:tgtEl>
                                        <p:attrNameLst>
                                          <p:attrName>style.visibility</p:attrName>
                                        </p:attrNameLst>
                                      </p:cBhvr>
                                      <p:to>
                                        <p:strVal val="visible"/>
                                      </p:to>
                                    </p:set>
                                    <p:anim calcmode="lin" valueType="num">
                                      <p:cBhvr>
                                        <p:cTn id="12" dur="1000" fill="hold"/>
                                        <p:tgtEl>
                                          <p:spTgt spid="168963"/>
                                        </p:tgtEl>
                                        <p:attrNameLst>
                                          <p:attrName>ppt_w</p:attrName>
                                        </p:attrNameLst>
                                      </p:cBhvr>
                                      <p:tavLst>
                                        <p:tav tm="0">
                                          <p:val>
                                            <p:fltVal val="0"/>
                                          </p:val>
                                        </p:tav>
                                        <p:tav tm="100000">
                                          <p:val>
                                            <p:strVal val="#ppt_w"/>
                                          </p:val>
                                        </p:tav>
                                      </p:tavLst>
                                    </p:anim>
                                    <p:anim calcmode="lin" valueType="num">
                                      <p:cBhvr>
                                        <p:cTn id="13" dur="1000" fill="hold"/>
                                        <p:tgtEl>
                                          <p:spTgt spid="168963"/>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68966"/>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8965"/>
                                        </p:tgtEl>
                                        <p:attrNameLst>
                                          <p:attrName>style.visibility</p:attrName>
                                        </p:attrNameLst>
                                      </p:cBhvr>
                                      <p:to>
                                        <p:strVal val="visible"/>
                                      </p:to>
                                    </p:set>
                                    <p:animEffect transition="in" filter="wipe(left)">
                                      <p:cBhvr>
                                        <p:cTn id="22" dur="500"/>
                                        <p:tgtEl>
                                          <p:spTgt spid="16896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8964"/>
                                        </p:tgtEl>
                                        <p:attrNameLst>
                                          <p:attrName>style.visibility</p:attrName>
                                        </p:attrNameLst>
                                      </p:cBhvr>
                                      <p:to>
                                        <p:strVal val="visible"/>
                                      </p:to>
                                    </p:set>
                                    <p:animEffect transition="in" filter="wipe(left)">
                                      <p:cBhvr>
                                        <p:cTn id="27" dur="500"/>
                                        <p:tgtEl>
                                          <p:spTgt spid="16896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8967"/>
                                        </p:tgtEl>
                                        <p:attrNameLst>
                                          <p:attrName>style.visibility</p:attrName>
                                        </p:attrNameLst>
                                      </p:cBhvr>
                                      <p:to>
                                        <p:strVal val="visible"/>
                                      </p:to>
                                    </p:set>
                                    <p:animEffect transition="in" filter="wipe(left)">
                                      <p:cBhvr>
                                        <p:cTn id="32" dur="100"/>
                                        <p:tgtEl>
                                          <p:spTgt spid="168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2" grpId="0" autoUpdateAnimBg="0"/>
      <p:bldP spid="168963" grpId="0" animBg="1"/>
      <p:bldP spid="168964" grpId="0" autoUpdateAnimBg="0"/>
      <p:bldP spid="168965" grpId="0" autoUpdateAnimBg="0"/>
      <p:bldP spid="168966" grpId="0"/>
      <p:bldP spid="168967"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ext Box 2"/>
          <p:cNvSpPr txBox="1">
            <a:spLocks noChangeArrowheads="1"/>
          </p:cNvSpPr>
          <p:nvPr/>
        </p:nvSpPr>
        <p:spPr bwMode="auto">
          <a:xfrm>
            <a:off x="0" y="2484438"/>
            <a:ext cx="2590800" cy="479425"/>
          </a:xfrm>
          <a:prstGeom prst="rect">
            <a:avLst/>
          </a:prstGeom>
          <a:noFill/>
          <a:ln w="9525">
            <a:noFill/>
            <a:miter lim="800000"/>
            <a:headEnd/>
            <a:tailEnd/>
          </a:ln>
        </p:spPr>
        <p:txBody>
          <a:bodyPr>
            <a:spAutoFit/>
          </a:bodyPr>
          <a:lstStyle/>
          <a:p>
            <a:pPr algn="l" defTabSz="762000" eaLnBrk="0" hangingPunct="0">
              <a:lnSpc>
                <a:spcPct val="115000"/>
              </a:lnSpc>
            </a:pPr>
            <a:r>
              <a:rPr lang="zh-CN" altLang="en-US" b="1">
                <a:solidFill>
                  <a:schemeClr val="hlink"/>
                </a:solidFill>
              </a:rPr>
              <a:t>研究的问题是</a:t>
            </a:r>
          </a:p>
        </p:txBody>
      </p:sp>
      <p:sp>
        <p:nvSpPr>
          <p:cNvPr id="169987" name="Text Box 3"/>
          <p:cNvSpPr txBox="1">
            <a:spLocks noChangeArrowheads="1"/>
          </p:cNvSpPr>
          <p:nvPr/>
        </p:nvSpPr>
        <p:spPr bwMode="auto">
          <a:xfrm>
            <a:off x="431800" y="1628775"/>
            <a:ext cx="5089525" cy="479425"/>
          </a:xfrm>
          <a:prstGeom prst="rect">
            <a:avLst/>
          </a:prstGeom>
          <a:noFill/>
          <a:ln w="9525">
            <a:noFill/>
            <a:miter lim="800000"/>
            <a:headEnd/>
            <a:tailEnd/>
          </a:ln>
        </p:spPr>
        <p:txBody>
          <a:bodyPr>
            <a:spAutoFit/>
          </a:bodyPr>
          <a:lstStyle/>
          <a:p>
            <a:pPr marL="354013" indent="-354013" algn="l" defTabSz="762000" eaLnBrk="0" hangingPunct="0">
              <a:lnSpc>
                <a:spcPct val="115000"/>
              </a:lnSpc>
            </a:pPr>
            <a:r>
              <a:rPr lang="en-US" altLang="zh-CN" b="1" i="1">
                <a:solidFill>
                  <a:srgbClr val="FF6600"/>
                </a:solidFill>
              </a:rPr>
              <a:t>A'</a:t>
            </a:r>
            <a:r>
              <a:rPr lang="en-US" altLang="zh-CN" b="1" i="1">
                <a:solidFill>
                  <a:schemeClr val="bg1"/>
                </a:solidFill>
              </a:rPr>
              <a:t> </a:t>
            </a:r>
            <a:r>
              <a:rPr lang="zh-CN" altLang="en-US" b="1">
                <a:solidFill>
                  <a:schemeClr val="bg1"/>
                </a:solidFill>
              </a:rPr>
              <a:t>处的闪光光源发出一光信号</a:t>
            </a:r>
          </a:p>
        </p:txBody>
      </p:sp>
      <p:sp>
        <p:nvSpPr>
          <p:cNvPr id="169988" name="Text Box 4"/>
          <p:cNvSpPr txBox="1">
            <a:spLocks noChangeArrowheads="1"/>
          </p:cNvSpPr>
          <p:nvPr/>
        </p:nvSpPr>
        <p:spPr bwMode="auto">
          <a:xfrm>
            <a:off x="476250" y="2124075"/>
            <a:ext cx="4635500" cy="479425"/>
          </a:xfrm>
          <a:prstGeom prst="rect">
            <a:avLst/>
          </a:prstGeom>
          <a:noFill/>
          <a:ln w="9525">
            <a:noFill/>
            <a:miter lim="800000"/>
            <a:headEnd/>
            <a:tailEnd/>
          </a:ln>
        </p:spPr>
        <p:txBody>
          <a:bodyPr>
            <a:spAutoFit/>
          </a:bodyPr>
          <a:lstStyle/>
          <a:p>
            <a:pPr marL="354013" indent="-354013" algn="l" defTabSz="762000" eaLnBrk="0" hangingPunct="0">
              <a:lnSpc>
                <a:spcPct val="115000"/>
              </a:lnSpc>
            </a:pPr>
            <a:r>
              <a:rPr lang="en-US" altLang="zh-CN" b="1" i="1">
                <a:solidFill>
                  <a:srgbClr val="FF6600"/>
                </a:solidFill>
              </a:rPr>
              <a:t>A'</a:t>
            </a:r>
            <a:r>
              <a:rPr lang="en-US" altLang="zh-CN" b="1" i="1">
                <a:solidFill>
                  <a:schemeClr val="bg1"/>
                </a:solidFill>
              </a:rPr>
              <a:t> </a:t>
            </a:r>
            <a:r>
              <a:rPr lang="zh-CN" altLang="en-US" b="1">
                <a:solidFill>
                  <a:schemeClr val="bg1"/>
                </a:solidFill>
              </a:rPr>
              <a:t>处的接收器接收到该光信号</a:t>
            </a:r>
          </a:p>
        </p:txBody>
      </p:sp>
      <p:sp>
        <p:nvSpPr>
          <p:cNvPr id="169989" name="Text Box 5"/>
          <p:cNvSpPr txBox="1">
            <a:spLocks noChangeArrowheads="1"/>
          </p:cNvSpPr>
          <p:nvPr/>
        </p:nvSpPr>
        <p:spPr bwMode="auto">
          <a:xfrm>
            <a:off x="341313" y="2889250"/>
            <a:ext cx="4005262" cy="895350"/>
          </a:xfrm>
          <a:prstGeom prst="rect">
            <a:avLst/>
          </a:prstGeom>
          <a:noFill/>
          <a:ln w="9525">
            <a:noFill/>
            <a:miter lim="800000"/>
            <a:headEnd/>
            <a:tailEnd/>
          </a:ln>
        </p:spPr>
        <p:txBody>
          <a:bodyPr>
            <a:spAutoFit/>
          </a:bodyPr>
          <a:lstStyle/>
          <a:p>
            <a:pPr algn="l" eaLnBrk="0" hangingPunct="0">
              <a:lnSpc>
                <a:spcPct val="110000"/>
              </a:lnSpc>
            </a:pPr>
            <a:r>
              <a:rPr lang="en-US" altLang="zh-CN" b="1">
                <a:solidFill>
                  <a:schemeClr val="bg1"/>
                </a:solidFill>
              </a:rPr>
              <a:t>        </a:t>
            </a:r>
            <a:r>
              <a:rPr lang="zh-CN" altLang="en-US" b="1">
                <a:solidFill>
                  <a:schemeClr val="bg1"/>
                </a:solidFill>
              </a:rPr>
              <a:t>在</a:t>
            </a:r>
            <a:r>
              <a:rPr lang="en-US" altLang="zh-CN" b="1">
                <a:solidFill>
                  <a:schemeClr val="bg1"/>
                </a:solidFill>
              </a:rPr>
              <a:t> </a:t>
            </a:r>
            <a:r>
              <a:rPr lang="en-US" altLang="zh-CN" b="1" i="1">
                <a:solidFill>
                  <a:srgbClr val="FF6600"/>
                </a:solidFill>
              </a:rPr>
              <a:t>S</a:t>
            </a:r>
            <a:r>
              <a:rPr lang="en-US" altLang="zh-CN" b="1" i="1">
                <a:solidFill>
                  <a:srgbClr val="66FFFF"/>
                </a:solidFill>
              </a:rPr>
              <a:t> </a:t>
            </a:r>
            <a:r>
              <a:rPr lang="zh-CN" altLang="en-US" b="1" i="1">
                <a:solidFill>
                  <a:schemeClr val="bg1"/>
                </a:solidFill>
              </a:rPr>
              <a:t>、</a:t>
            </a:r>
            <a:r>
              <a:rPr lang="en-US" altLang="zh-CN" b="1" i="1">
                <a:solidFill>
                  <a:srgbClr val="FF6600"/>
                </a:solidFill>
              </a:rPr>
              <a:t>S'</a:t>
            </a:r>
            <a:r>
              <a:rPr lang="en-US" altLang="zh-CN" b="1"/>
              <a:t> </a:t>
            </a:r>
            <a:r>
              <a:rPr lang="zh-CN" altLang="en-US" b="1">
                <a:solidFill>
                  <a:schemeClr val="bg1"/>
                </a:solidFill>
              </a:rPr>
              <a:t>系中，两事件发生的时间间隔之间的关系</a:t>
            </a:r>
            <a:r>
              <a:rPr lang="en-US" altLang="zh-CN" b="1">
                <a:solidFill>
                  <a:srgbClr val="FF0000"/>
                </a:solidFill>
              </a:rPr>
              <a:t> </a:t>
            </a:r>
          </a:p>
        </p:txBody>
      </p:sp>
      <p:sp>
        <p:nvSpPr>
          <p:cNvPr id="169990" name="Text Box 6"/>
          <p:cNvSpPr txBox="1">
            <a:spLocks noChangeArrowheads="1"/>
          </p:cNvSpPr>
          <p:nvPr/>
        </p:nvSpPr>
        <p:spPr bwMode="auto">
          <a:xfrm>
            <a:off x="431800" y="773113"/>
            <a:ext cx="7848600" cy="933450"/>
          </a:xfrm>
          <a:prstGeom prst="rect">
            <a:avLst/>
          </a:prstGeom>
          <a:noFill/>
          <a:ln w="9525">
            <a:noFill/>
            <a:miter lim="800000"/>
            <a:headEnd/>
            <a:tailEnd/>
          </a:ln>
        </p:spPr>
        <p:txBody>
          <a:bodyPr>
            <a:spAutoFit/>
          </a:bodyPr>
          <a:lstStyle/>
          <a:p>
            <a:pPr algn="l" defTabSz="762000" eaLnBrk="0" hangingPunct="0">
              <a:lnSpc>
                <a:spcPct val="115000"/>
              </a:lnSpc>
            </a:pPr>
            <a:r>
              <a:rPr lang="zh-CN" altLang="en-US" b="1">
                <a:solidFill>
                  <a:schemeClr val="bg1"/>
                </a:solidFill>
              </a:rPr>
              <a:t>在</a:t>
            </a:r>
            <a:r>
              <a:rPr lang="en-US" altLang="zh-CN" b="1">
                <a:solidFill>
                  <a:schemeClr val="bg1"/>
                </a:solidFill>
              </a:rPr>
              <a:t> </a:t>
            </a:r>
            <a:r>
              <a:rPr lang="en-US" altLang="zh-CN" b="1" i="1">
                <a:solidFill>
                  <a:srgbClr val="FF6600"/>
                </a:solidFill>
              </a:rPr>
              <a:t>S'</a:t>
            </a:r>
            <a:r>
              <a:rPr lang="en-US" altLang="zh-CN" b="1"/>
              <a:t> </a:t>
            </a:r>
            <a:r>
              <a:rPr lang="zh-CN" altLang="en-US" b="1">
                <a:solidFill>
                  <a:schemeClr val="bg1"/>
                </a:solidFill>
              </a:rPr>
              <a:t>系的</a:t>
            </a:r>
            <a:r>
              <a:rPr lang="en-US" altLang="zh-CN" b="1">
                <a:solidFill>
                  <a:schemeClr val="bg1"/>
                </a:solidFill>
              </a:rPr>
              <a:t> </a:t>
            </a:r>
            <a:r>
              <a:rPr lang="en-US" altLang="zh-CN" b="1" i="1">
                <a:solidFill>
                  <a:srgbClr val="FF6600"/>
                </a:solidFill>
              </a:rPr>
              <a:t>A'</a:t>
            </a:r>
            <a:r>
              <a:rPr lang="en-US" altLang="zh-CN" b="1" i="1">
                <a:solidFill>
                  <a:schemeClr val="bg1"/>
                </a:solidFill>
              </a:rPr>
              <a:t> </a:t>
            </a:r>
            <a:r>
              <a:rPr lang="zh-CN" altLang="en-US" b="1">
                <a:solidFill>
                  <a:schemeClr val="bg1"/>
                </a:solidFill>
              </a:rPr>
              <a:t>处放置一闪光光源和一信号接收器，在竖直方向距离</a:t>
            </a:r>
            <a:r>
              <a:rPr lang="en-US" altLang="zh-CN" b="1">
                <a:solidFill>
                  <a:schemeClr val="bg1"/>
                </a:solidFill>
              </a:rPr>
              <a:t> </a:t>
            </a:r>
            <a:r>
              <a:rPr lang="en-US" altLang="zh-CN" b="1" i="1">
                <a:solidFill>
                  <a:srgbClr val="FF6600"/>
                </a:solidFill>
              </a:rPr>
              <a:t>A'</a:t>
            </a:r>
            <a:r>
              <a:rPr lang="en-US" altLang="zh-CN" b="1" i="1">
                <a:solidFill>
                  <a:srgbClr val="66FFFF"/>
                </a:solidFill>
              </a:rPr>
              <a:t> </a:t>
            </a:r>
            <a:r>
              <a:rPr lang="zh-CN" altLang="en-US" b="1">
                <a:solidFill>
                  <a:schemeClr val="bg1"/>
                </a:solidFill>
              </a:rPr>
              <a:t>点</a:t>
            </a:r>
            <a:r>
              <a:rPr lang="en-US" altLang="zh-CN" b="1">
                <a:solidFill>
                  <a:schemeClr val="bg1"/>
                </a:solidFill>
              </a:rPr>
              <a:t>  </a:t>
            </a:r>
            <a:r>
              <a:rPr lang="en-US" altLang="zh-CN" b="1" i="1">
                <a:solidFill>
                  <a:srgbClr val="FF6600"/>
                </a:solidFill>
              </a:rPr>
              <a:t>d</a:t>
            </a:r>
            <a:r>
              <a:rPr lang="en-US" altLang="zh-CN" b="1" i="1">
                <a:solidFill>
                  <a:srgbClr val="66FFFF"/>
                </a:solidFill>
              </a:rPr>
              <a:t> </a:t>
            </a:r>
            <a:r>
              <a:rPr lang="zh-CN" altLang="en-US" b="1">
                <a:solidFill>
                  <a:schemeClr val="bg1"/>
                </a:solidFill>
              </a:rPr>
              <a:t>的位置处放置一平面反射镜</a:t>
            </a:r>
            <a:r>
              <a:rPr lang="en-US" altLang="zh-CN" b="1">
                <a:solidFill>
                  <a:schemeClr val="bg1"/>
                </a:solidFill>
              </a:rPr>
              <a:t>  </a:t>
            </a:r>
            <a:r>
              <a:rPr lang="en-US" altLang="zh-CN" b="1" i="1">
                <a:solidFill>
                  <a:srgbClr val="FF6600"/>
                </a:solidFill>
              </a:rPr>
              <a:t>M'</a:t>
            </a:r>
          </a:p>
        </p:txBody>
      </p:sp>
      <p:sp>
        <p:nvSpPr>
          <p:cNvPr id="169991" name="Text Box 7"/>
          <p:cNvSpPr txBox="1">
            <a:spLocks noChangeArrowheads="1"/>
          </p:cNvSpPr>
          <p:nvPr/>
        </p:nvSpPr>
        <p:spPr bwMode="auto">
          <a:xfrm>
            <a:off x="296863" y="368300"/>
            <a:ext cx="4419600" cy="457200"/>
          </a:xfrm>
          <a:prstGeom prst="rect">
            <a:avLst/>
          </a:prstGeom>
          <a:noFill/>
          <a:ln w="9525">
            <a:noFill/>
            <a:miter lim="800000"/>
            <a:headEnd/>
            <a:tailEnd/>
          </a:ln>
        </p:spPr>
        <p:txBody>
          <a:bodyPr>
            <a:spAutoFit/>
          </a:bodyPr>
          <a:lstStyle/>
          <a:p>
            <a:pPr algn="l">
              <a:spcBef>
                <a:spcPct val="50000"/>
              </a:spcBef>
            </a:pPr>
            <a:r>
              <a:rPr lang="en-US" altLang="zh-CN" b="1">
                <a:solidFill>
                  <a:srgbClr val="0000FF"/>
                </a:solidFill>
              </a:rPr>
              <a:t>4.2.2  </a:t>
            </a:r>
            <a:r>
              <a:rPr lang="zh-CN" altLang="en-US" b="1">
                <a:solidFill>
                  <a:srgbClr val="0000FF"/>
                </a:solidFill>
              </a:rPr>
              <a:t>时间膨胀</a:t>
            </a:r>
          </a:p>
        </p:txBody>
      </p:sp>
      <p:grpSp>
        <p:nvGrpSpPr>
          <p:cNvPr id="2" name="Group 8"/>
          <p:cNvGrpSpPr>
            <a:grpSpLocks/>
          </p:cNvGrpSpPr>
          <p:nvPr/>
        </p:nvGrpSpPr>
        <p:grpSpPr bwMode="auto">
          <a:xfrm>
            <a:off x="5157788" y="1493838"/>
            <a:ext cx="1346200" cy="2287587"/>
            <a:chOff x="3390" y="1310"/>
            <a:chExt cx="848" cy="1441"/>
          </a:xfrm>
        </p:grpSpPr>
        <p:grpSp>
          <p:nvGrpSpPr>
            <p:cNvPr id="5308" name="Group 9"/>
            <p:cNvGrpSpPr>
              <a:grpSpLocks/>
            </p:cNvGrpSpPr>
            <p:nvPr/>
          </p:nvGrpSpPr>
          <p:grpSpPr bwMode="auto">
            <a:xfrm>
              <a:off x="3390" y="1310"/>
              <a:ext cx="848" cy="1441"/>
              <a:chOff x="3390" y="1310"/>
              <a:chExt cx="848" cy="1441"/>
            </a:xfrm>
          </p:grpSpPr>
          <p:grpSp>
            <p:nvGrpSpPr>
              <p:cNvPr id="5310" name="Group 10"/>
              <p:cNvGrpSpPr>
                <a:grpSpLocks/>
              </p:cNvGrpSpPr>
              <p:nvPr/>
            </p:nvGrpSpPr>
            <p:grpSpPr bwMode="auto">
              <a:xfrm>
                <a:off x="3390" y="1310"/>
                <a:ext cx="848" cy="1441"/>
                <a:chOff x="3390" y="1310"/>
                <a:chExt cx="848" cy="1441"/>
              </a:xfrm>
            </p:grpSpPr>
            <p:sp>
              <p:nvSpPr>
                <p:cNvPr id="5312" name="Text Box 11"/>
                <p:cNvSpPr txBox="1">
                  <a:spLocks noChangeArrowheads="1"/>
                </p:cNvSpPr>
                <p:nvPr/>
              </p:nvSpPr>
              <p:spPr bwMode="auto">
                <a:xfrm>
                  <a:off x="3419" y="1565"/>
                  <a:ext cx="205"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FF"/>
                      </a:solidFill>
                    </a:rPr>
                    <a:t>S</a:t>
                  </a:r>
                  <a:endParaRPr lang="en-US" altLang="zh-CN" sz="2000" b="1">
                    <a:solidFill>
                      <a:srgbClr val="0000FF"/>
                    </a:solidFill>
                  </a:endParaRPr>
                </a:p>
              </p:txBody>
            </p:sp>
            <p:sp>
              <p:nvSpPr>
                <p:cNvPr id="5313" name="Text Box 12"/>
                <p:cNvSpPr txBox="1">
                  <a:spLocks noChangeArrowheads="1"/>
                </p:cNvSpPr>
                <p:nvPr/>
              </p:nvSpPr>
              <p:spPr bwMode="auto">
                <a:xfrm>
                  <a:off x="3390" y="2443"/>
                  <a:ext cx="232"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FF"/>
                      </a:solidFill>
                    </a:rPr>
                    <a:t>O</a:t>
                  </a:r>
                </a:p>
              </p:txBody>
            </p:sp>
            <p:sp>
              <p:nvSpPr>
                <p:cNvPr id="5314" name="Line 13"/>
                <p:cNvSpPr>
                  <a:spLocks noChangeShapeType="1"/>
                </p:cNvSpPr>
                <p:nvPr/>
              </p:nvSpPr>
              <p:spPr bwMode="auto">
                <a:xfrm flipV="1">
                  <a:off x="3615" y="1526"/>
                  <a:ext cx="0" cy="1017"/>
                </a:xfrm>
                <a:prstGeom prst="line">
                  <a:avLst/>
                </a:prstGeom>
                <a:noFill/>
                <a:ln w="28575">
                  <a:solidFill>
                    <a:srgbClr val="0000FF"/>
                  </a:solidFill>
                  <a:round/>
                  <a:headEnd/>
                  <a:tailEnd type="stealth" w="med" len="lg"/>
                </a:ln>
              </p:spPr>
              <p:txBody>
                <a:bodyPr wrap="none" anchor="ctr"/>
                <a:lstStyle/>
                <a:p>
                  <a:endParaRPr lang="zh-CN" altLang="en-US"/>
                </a:p>
              </p:txBody>
            </p:sp>
            <p:sp>
              <p:nvSpPr>
                <p:cNvPr id="5315" name="Line 14"/>
                <p:cNvSpPr>
                  <a:spLocks noChangeShapeType="1"/>
                </p:cNvSpPr>
                <p:nvPr/>
              </p:nvSpPr>
              <p:spPr bwMode="auto">
                <a:xfrm>
                  <a:off x="3611" y="2543"/>
                  <a:ext cx="589" cy="0"/>
                </a:xfrm>
                <a:prstGeom prst="line">
                  <a:avLst/>
                </a:prstGeom>
                <a:noFill/>
                <a:ln w="28575">
                  <a:solidFill>
                    <a:srgbClr val="0000FF"/>
                  </a:solidFill>
                  <a:round/>
                  <a:headEnd/>
                  <a:tailEnd type="stealth" w="med" len="lg"/>
                </a:ln>
              </p:spPr>
              <p:txBody>
                <a:bodyPr wrap="none" anchor="ctr"/>
                <a:lstStyle/>
                <a:p>
                  <a:endParaRPr lang="zh-CN" altLang="en-US"/>
                </a:p>
              </p:txBody>
            </p:sp>
            <p:sp>
              <p:nvSpPr>
                <p:cNvPr id="5316" name="Text Box 15"/>
                <p:cNvSpPr txBox="1">
                  <a:spLocks noChangeArrowheads="1"/>
                </p:cNvSpPr>
                <p:nvPr/>
              </p:nvSpPr>
              <p:spPr bwMode="auto">
                <a:xfrm>
                  <a:off x="4042" y="2472"/>
                  <a:ext cx="196"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FF"/>
                      </a:solidFill>
                    </a:rPr>
                    <a:t>x</a:t>
                  </a:r>
                </a:p>
              </p:txBody>
            </p:sp>
            <p:sp>
              <p:nvSpPr>
                <p:cNvPr id="5317" name="Text Box 16"/>
                <p:cNvSpPr txBox="1">
                  <a:spLocks noChangeArrowheads="1"/>
                </p:cNvSpPr>
                <p:nvPr/>
              </p:nvSpPr>
              <p:spPr bwMode="auto">
                <a:xfrm>
                  <a:off x="3504" y="1310"/>
                  <a:ext cx="187"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FF"/>
                      </a:solidFill>
                    </a:rPr>
                    <a:t>y</a:t>
                  </a:r>
                </a:p>
              </p:txBody>
            </p:sp>
          </p:grpSp>
          <p:sp>
            <p:nvSpPr>
              <p:cNvPr id="5311" name="Rectangle 17"/>
              <p:cNvSpPr>
                <a:spLocks noChangeArrowheads="1"/>
              </p:cNvSpPr>
              <p:nvPr/>
            </p:nvSpPr>
            <p:spPr bwMode="auto">
              <a:xfrm>
                <a:off x="3560" y="2500"/>
                <a:ext cx="113" cy="57"/>
              </a:xfrm>
              <a:prstGeom prst="rect">
                <a:avLst/>
              </a:prstGeom>
              <a:solidFill>
                <a:srgbClr val="800080"/>
              </a:solidFill>
              <a:ln w="9525">
                <a:solidFill>
                  <a:srgbClr val="800080"/>
                </a:solidFill>
                <a:miter lim="800000"/>
                <a:headEnd/>
                <a:tailEnd/>
              </a:ln>
            </p:spPr>
            <p:txBody>
              <a:bodyPr wrap="none" anchor="ctr"/>
              <a:lstStyle/>
              <a:p>
                <a:endParaRPr lang="zh-CN" altLang="en-US"/>
              </a:p>
            </p:txBody>
          </p:sp>
        </p:grpSp>
        <p:sp>
          <p:nvSpPr>
            <p:cNvPr id="5309" name="Text Box 18"/>
            <p:cNvSpPr txBox="1">
              <a:spLocks noChangeArrowheads="1"/>
            </p:cNvSpPr>
            <p:nvPr/>
          </p:nvSpPr>
          <p:spPr bwMode="auto">
            <a:xfrm>
              <a:off x="3403" y="2234"/>
              <a:ext cx="271"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CC"/>
                  </a:solidFill>
                </a:rPr>
                <a:t>A</a:t>
              </a:r>
              <a:r>
                <a:rPr lang="en-US" altLang="zh-CN" b="1"/>
                <a:t> </a:t>
              </a:r>
              <a:endParaRPr lang="en-US" altLang="zh-CN" sz="2800" b="1" i="1">
                <a:solidFill>
                  <a:schemeClr val="bg1"/>
                </a:solidFill>
              </a:endParaRPr>
            </a:p>
          </p:txBody>
        </p:sp>
      </p:grpSp>
      <p:grpSp>
        <p:nvGrpSpPr>
          <p:cNvPr id="5" name="Group 19"/>
          <p:cNvGrpSpPr>
            <a:grpSpLocks/>
          </p:cNvGrpSpPr>
          <p:nvPr/>
        </p:nvGrpSpPr>
        <p:grpSpPr bwMode="auto">
          <a:xfrm>
            <a:off x="6777038" y="1449388"/>
            <a:ext cx="2070100" cy="2312987"/>
            <a:chOff x="4456" y="1270"/>
            <a:chExt cx="1304" cy="1457"/>
          </a:xfrm>
        </p:grpSpPr>
        <p:sp>
          <p:nvSpPr>
            <p:cNvPr id="5286" name="Text Box 20"/>
            <p:cNvSpPr txBox="1">
              <a:spLocks noChangeArrowheads="1"/>
            </p:cNvSpPr>
            <p:nvPr/>
          </p:nvSpPr>
          <p:spPr bwMode="auto">
            <a:xfrm>
              <a:off x="4811" y="1508"/>
              <a:ext cx="297" cy="323"/>
            </a:xfrm>
            <a:prstGeom prst="rect">
              <a:avLst/>
            </a:prstGeom>
            <a:solidFill>
              <a:schemeClr val="accent1"/>
            </a:solidFill>
            <a:ln w="9525">
              <a:noFill/>
              <a:miter lim="800000"/>
              <a:headEnd/>
              <a:tailEnd/>
            </a:ln>
          </p:spPr>
          <p:txBody>
            <a:bodyPr wrap="none">
              <a:spAutoFit/>
            </a:bodyPr>
            <a:lstStyle/>
            <a:p>
              <a:pPr algn="l">
                <a:lnSpc>
                  <a:spcPct val="115000"/>
                </a:lnSpc>
              </a:pPr>
              <a:r>
                <a:rPr lang="en-US" altLang="zh-CN" sz="2000" b="1" i="1">
                  <a:solidFill>
                    <a:schemeClr val="bg1"/>
                  </a:solidFill>
                </a:rPr>
                <a:t>S'</a:t>
              </a:r>
              <a:r>
                <a:rPr lang="en-US" altLang="zh-CN" b="1"/>
                <a:t> </a:t>
              </a:r>
            </a:p>
          </p:txBody>
        </p:sp>
        <p:sp>
          <p:nvSpPr>
            <p:cNvPr id="5287" name="Text Box 21"/>
            <p:cNvSpPr txBox="1">
              <a:spLocks noChangeArrowheads="1"/>
            </p:cNvSpPr>
            <p:nvPr/>
          </p:nvSpPr>
          <p:spPr bwMode="auto">
            <a:xfrm>
              <a:off x="4779" y="2404"/>
              <a:ext cx="324"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O'</a:t>
              </a:r>
              <a:r>
                <a:rPr lang="en-US" altLang="zh-CN" b="1"/>
                <a:t> </a:t>
              </a:r>
              <a:endParaRPr lang="en-US" altLang="zh-CN" sz="2800" b="1" i="1">
                <a:solidFill>
                  <a:schemeClr val="bg1"/>
                </a:solidFill>
              </a:endParaRPr>
            </a:p>
          </p:txBody>
        </p:sp>
        <p:sp>
          <p:nvSpPr>
            <p:cNvPr id="5288" name="Line 22"/>
            <p:cNvSpPr>
              <a:spLocks noChangeShapeType="1"/>
            </p:cNvSpPr>
            <p:nvPr/>
          </p:nvSpPr>
          <p:spPr bwMode="auto">
            <a:xfrm flipV="1">
              <a:off x="5060" y="1480"/>
              <a:ext cx="1" cy="1008"/>
            </a:xfrm>
            <a:prstGeom prst="line">
              <a:avLst/>
            </a:prstGeom>
            <a:noFill/>
            <a:ln w="28575">
              <a:solidFill>
                <a:schemeClr val="bg1"/>
              </a:solidFill>
              <a:round/>
              <a:headEnd/>
              <a:tailEnd type="stealth" w="med" len="lg"/>
            </a:ln>
          </p:spPr>
          <p:txBody>
            <a:bodyPr wrap="none" anchor="ctr"/>
            <a:lstStyle/>
            <a:p>
              <a:endParaRPr lang="zh-CN" altLang="en-US"/>
            </a:p>
          </p:txBody>
        </p:sp>
        <p:sp>
          <p:nvSpPr>
            <p:cNvPr id="5289" name="Line 23"/>
            <p:cNvSpPr>
              <a:spLocks noChangeShapeType="1"/>
            </p:cNvSpPr>
            <p:nvPr/>
          </p:nvSpPr>
          <p:spPr bwMode="auto">
            <a:xfrm>
              <a:off x="5058" y="2496"/>
              <a:ext cx="589" cy="0"/>
            </a:xfrm>
            <a:prstGeom prst="line">
              <a:avLst/>
            </a:prstGeom>
            <a:noFill/>
            <a:ln w="28575">
              <a:solidFill>
                <a:schemeClr val="bg1"/>
              </a:solidFill>
              <a:round/>
              <a:headEnd/>
              <a:tailEnd type="stealth" w="med" len="lg"/>
            </a:ln>
          </p:spPr>
          <p:txBody>
            <a:bodyPr wrap="none" anchor="ctr"/>
            <a:lstStyle/>
            <a:p>
              <a:endParaRPr lang="zh-CN" altLang="en-US"/>
            </a:p>
          </p:txBody>
        </p:sp>
        <p:grpSp>
          <p:nvGrpSpPr>
            <p:cNvPr id="5290" name="Group 24"/>
            <p:cNvGrpSpPr>
              <a:grpSpLocks/>
            </p:cNvGrpSpPr>
            <p:nvPr/>
          </p:nvGrpSpPr>
          <p:grpSpPr bwMode="auto">
            <a:xfrm>
              <a:off x="4768" y="1683"/>
              <a:ext cx="933" cy="279"/>
              <a:chOff x="3488" y="1593"/>
              <a:chExt cx="933" cy="279"/>
            </a:xfrm>
          </p:grpSpPr>
          <p:grpSp>
            <p:nvGrpSpPr>
              <p:cNvPr id="5299" name="Group 25"/>
              <p:cNvGrpSpPr>
                <a:grpSpLocks/>
              </p:cNvGrpSpPr>
              <p:nvPr/>
            </p:nvGrpSpPr>
            <p:grpSpPr bwMode="auto">
              <a:xfrm>
                <a:off x="3488" y="1674"/>
                <a:ext cx="624" cy="96"/>
                <a:chOff x="4545" y="1955"/>
                <a:chExt cx="624" cy="96"/>
              </a:xfrm>
            </p:grpSpPr>
            <p:sp>
              <p:nvSpPr>
                <p:cNvPr id="5301" name="Line 26"/>
                <p:cNvSpPr>
                  <a:spLocks noChangeShapeType="1"/>
                </p:cNvSpPr>
                <p:nvPr/>
              </p:nvSpPr>
              <p:spPr bwMode="auto">
                <a:xfrm>
                  <a:off x="4545" y="2051"/>
                  <a:ext cx="576" cy="0"/>
                </a:xfrm>
                <a:prstGeom prst="line">
                  <a:avLst/>
                </a:prstGeom>
                <a:noFill/>
                <a:ln w="57150">
                  <a:solidFill>
                    <a:srgbClr val="009900"/>
                  </a:solidFill>
                  <a:round/>
                  <a:headEnd/>
                  <a:tailEnd/>
                </a:ln>
              </p:spPr>
              <p:txBody>
                <a:bodyPr wrap="none" anchor="ctr"/>
                <a:lstStyle/>
                <a:p>
                  <a:endParaRPr lang="zh-CN" altLang="en-US"/>
                </a:p>
              </p:txBody>
            </p:sp>
            <p:sp>
              <p:nvSpPr>
                <p:cNvPr id="5302" name="Line 27"/>
                <p:cNvSpPr>
                  <a:spLocks noChangeShapeType="1"/>
                </p:cNvSpPr>
                <p:nvPr/>
              </p:nvSpPr>
              <p:spPr bwMode="auto">
                <a:xfrm flipV="1">
                  <a:off x="4929" y="1955"/>
                  <a:ext cx="144" cy="96"/>
                </a:xfrm>
                <a:prstGeom prst="line">
                  <a:avLst/>
                </a:prstGeom>
                <a:noFill/>
                <a:ln w="9525">
                  <a:solidFill>
                    <a:srgbClr val="009900"/>
                  </a:solidFill>
                  <a:round/>
                  <a:headEnd/>
                  <a:tailEnd/>
                </a:ln>
              </p:spPr>
              <p:txBody>
                <a:bodyPr wrap="none" anchor="ctr"/>
                <a:lstStyle/>
                <a:p>
                  <a:endParaRPr lang="zh-CN" altLang="en-US"/>
                </a:p>
              </p:txBody>
            </p:sp>
            <p:sp>
              <p:nvSpPr>
                <p:cNvPr id="5303" name="Line 28"/>
                <p:cNvSpPr>
                  <a:spLocks noChangeShapeType="1"/>
                </p:cNvSpPr>
                <p:nvPr/>
              </p:nvSpPr>
              <p:spPr bwMode="auto">
                <a:xfrm flipV="1">
                  <a:off x="4545" y="1955"/>
                  <a:ext cx="144" cy="96"/>
                </a:xfrm>
                <a:prstGeom prst="line">
                  <a:avLst/>
                </a:prstGeom>
                <a:noFill/>
                <a:ln w="9525">
                  <a:solidFill>
                    <a:srgbClr val="009900"/>
                  </a:solidFill>
                  <a:round/>
                  <a:headEnd/>
                  <a:tailEnd/>
                </a:ln>
              </p:spPr>
              <p:txBody>
                <a:bodyPr wrap="none" anchor="ctr"/>
                <a:lstStyle/>
                <a:p>
                  <a:endParaRPr lang="zh-CN" altLang="en-US"/>
                </a:p>
              </p:txBody>
            </p:sp>
            <p:sp>
              <p:nvSpPr>
                <p:cNvPr id="5304" name="Line 29"/>
                <p:cNvSpPr>
                  <a:spLocks noChangeShapeType="1"/>
                </p:cNvSpPr>
                <p:nvPr/>
              </p:nvSpPr>
              <p:spPr bwMode="auto">
                <a:xfrm flipV="1">
                  <a:off x="4641" y="1955"/>
                  <a:ext cx="144" cy="96"/>
                </a:xfrm>
                <a:prstGeom prst="line">
                  <a:avLst/>
                </a:prstGeom>
                <a:noFill/>
                <a:ln w="9525">
                  <a:solidFill>
                    <a:srgbClr val="009900"/>
                  </a:solidFill>
                  <a:round/>
                  <a:headEnd/>
                  <a:tailEnd/>
                </a:ln>
              </p:spPr>
              <p:txBody>
                <a:bodyPr wrap="none" anchor="ctr"/>
                <a:lstStyle/>
                <a:p>
                  <a:endParaRPr lang="zh-CN" altLang="en-US"/>
                </a:p>
              </p:txBody>
            </p:sp>
            <p:sp>
              <p:nvSpPr>
                <p:cNvPr id="5305" name="Line 30"/>
                <p:cNvSpPr>
                  <a:spLocks noChangeShapeType="1"/>
                </p:cNvSpPr>
                <p:nvPr/>
              </p:nvSpPr>
              <p:spPr bwMode="auto">
                <a:xfrm flipV="1">
                  <a:off x="4737" y="1955"/>
                  <a:ext cx="144" cy="96"/>
                </a:xfrm>
                <a:prstGeom prst="line">
                  <a:avLst/>
                </a:prstGeom>
                <a:noFill/>
                <a:ln w="9525">
                  <a:solidFill>
                    <a:srgbClr val="009900"/>
                  </a:solidFill>
                  <a:round/>
                  <a:headEnd/>
                  <a:tailEnd/>
                </a:ln>
              </p:spPr>
              <p:txBody>
                <a:bodyPr wrap="none" anchor="ctr"/>
                <a:lstStyle/>
                <a:p>
                  <a:endParaRPr lang="zh-CN" altLang="en-US"/>
                </a:p>
              </p:txBody>
            </p:sp>
            <p:sp>
              <p:nvSpPr>
                <p:cNvPr id="5306" name="Line 31"/>
                <p:cNvSpPr>
                  <a:spLocks noChangeShapeType="1"/>
                </p:cNvSpPr>
                <p:nvPr/>
              </p:nvSpPr>
              <p:spPr bwMode="auto">
                <a:xfrm flipV="1">
                  <a:off x="5025" y="1955"/>
                  <a:ext cx="144" cy="96"/>
                </a:xfrm>
                <a:prstGeom prst="line">
                  <a:avLst/>
                </a:prstGeom>
                <a:noFill/>
                <a:ln w="9525">
                  <a:solidFill>
                    <a:srgbClr val="009900"/>
                  </a:solidFill>
                  <a:round/>
                  <a:headEnd/>
                  <a:tailEnd/>
                </a:ln>
              </p:spPr>
              <p:txBody>
                <a:bodyPr wrap="none" anchor="ctr"/>
                <a:lstStyle/>
                <a:p>
                  <a:endParaRPr lang="zh-CN" altLang="en-US"/>
                </a:p>
              </p:txBody>
            </p:sp>
            <p:sp>
              <p:nvSpPr>
                <p:cNvPr id="5307" name="Line 32"/>
                <p:cNvSpPr>
                  <a:spLocks noChangeShapeType="1"/>
                </p:cNvSpPr>
                <p:nvPr/>
              </p:nvSpPr>
              <p:spPr bwMode="auto">
                <a:xfrm flipV="1">
                  <a:off x="4833" y="1955"/>
                  <a:ext cx="144" cy="96"/>
                </a:xfrm>
                <a:prstGeom prst="line">
                  <a:avLst/>
                </a:prstGeom>
                <a:noFill/>
                <a:ln w="9525">
                  <a:solidFill>
                    <a:srgbClr val="009900"/>
                  </a:solidFill>
                  <a:round/>
                  <a:headEnd/>
                  <a:tailEnd/>
                </a:ln>
              </p:spPr>
              <p:txBody>
                <a:bodyPr wrap="none" anchor="ctr"/>
                <a:lstStyle/>
                <a:p>
                  <a:endParaRPr lang="zh-CN" altLang="en-US"/>
                </a:p>
              </p:txBody>
            </p:sp>
          </p:grpSp>
          <p:sp>
            <p:nvSpPr>
              <p:cNvPr id="5300" name="Text Box 33"/>
              <p:cNvSpPr txBox="1">
                <a:spLocks noChangeArrowheads="1"/>
              </p:cNvSpPr>
              <p:nvPr/>
            </p:nvSpPr>
            <p:spPr bwMode="auto">
              <a:xfrm>
                <a:off x="4119" y="1593"/>
                <a:ext cx="302" cy="279"/>
              </a:xfrm>
              <a:prstGeom prst="rect">
                <a:avLst/>
              </a:prstGeom>
              <a:solidFill>
                <a:schemeClr val="accent1"/>
              </a:solidFill>
              <a:ln w="9525">
                <a:noFill/>
                <a:miter lim="800000"/>
                <a:headEnd/>
                <a:tailEnd/>
              </a:ln>
            </p:spPr>
            <p:txBody>
              <a:bodyPr wrap="none">
                <a:spAutoFit/>
              </a:bodyPr>
              <a:lstStyle/>
              <a:p>
                <a:pPr algn="l">
                  <a:lnSpc>
                    <a:spcPct val="115000"/>
                  </a:lnSpc>
                </a:pPr>
                <a:r>
                  <a:rPr lang="en-US" altLang="zh-CN" sz="2000" b="1" i="1">
                    <a:solidFill>
                      <a:srgbClr val="009900"/>
                    </a:solidFill>
                  </a:rPr>
                  <a:t>M'</a:t>
                </a:r>
                <a:endParaRPr lang="en-US" altLang="zh-CN" sz="2000">
                  <a:solidFill>
                    <a:srgbClr val="009900"/>
                  </a:solidFill>
                </a:endParaRPr>
              </a:p>
            </p:txBody>
          </p:sp>
        </p:grpSp>
        <p:sp>
          <p:nvSpPr>
            <p:cNvPr id="5291" name="Line 34"/>
            <p:cNvSpPr>
              <a:spLocks noChangeShapeType="1"/>
            </p:cNvSpPr>
            <p:nvPr/>
          </p:nvSpPr>
          <p:spPr bwMode="auto">
            <a:xfrm>
              <a:off x="4475" y="2520"/>
              <a:ext cx="280" cy="0"/>
            </a:xfrm>
            <a:prstGeom prst="line">
              <a:avLst/>
            </a:prstGeom>
            <a:noFill/>
            <a:ln w="12700">
              <a:solidFill>
                <a:schemeClr val="bg1"/>
              </a:solidFill>
              <a:round/>
              <a:headEnd/>
              <a:tailEnd/>
            </a:ln>
          </p:spPr>
          <p:txBody>
            <a:bodyPr wrap="none" anchor="ctr"/>
            <a:lstStyle/>
            <a:p>
              <a:endParaRPr lang="zh-CN" altLang="en-US"/>
            </a:p>
          </p:txBody>
        </p:sp>
        <p:sp>
          <p:nvSpPr>
            <p:cNvPr id="5292" name="Line 35"/>
            <p:cNvSpPr>
              <a:spLocks noChangeShapeType="1"/>
            </p:cNvSpPr>
            <p:nvPr/>
          </p:nvSpPr>
          <p:spPr bwMode="auto">
            <a:xfrm flipV="1">
              <a:off x="4475" y="1848"/>
              <a:ext cx="280" cy="0"/>
            </a:xfrm>
            <a:prstGeom prst="line">
              <a:avLst/>
            </a:prstGeom>
            <a:noFill/>
            <a:ln w="12700">
              <a:solidFill>
                <a:schemeClr val="bg1"/>
              </a:solidFill>
              <a:round/>
              <a:headEnd/>
              <a:tailEnd/>
            </a:ln>
          </p:spPr>
          <p:txBody>
            <a:bodyPr wrap="none" anchor="ctr"/>
            <a:lstStyle/>
            <a:p>
              <a:endParaRPr lang="zh-CN" altLang="en-US"/>
            </a:p>
          </p:txBody>
        </p:sp>
        <p:sp>
          <p:nvSpPr>
            <p:cNvPr id="5293" name="Line 36"/>
            <p:cNvSpPr>
              <a:spLocks noChangeShapeType="1"/>
            </p:cNvSpPr>
            <p:nvPr/>
          </p:nvSpPr>
          <p:spPr bwMode="auto">
            <a:xfrm>
              <a:off x="4615" y="1848"/>
              <a:ext cx="0" cy="672"/>
            </a:xfrm>
            <a:prstGeom prst="line">
              <a:avLst/>
            </a:prstGeom>
            <a:noFill/>
            <a:ln w="19050">
              <a:solidFill>
                <a:schemeClr val="bg1"/>
              </a:solidFill>
              <a:round/>
              <a:headEnd type="triangle" w="med" len="lg"/>
              <a:tailEnd type="triangle" w="med" len="lg"/>
            </a:ln>
          </p:spPr>
          <p:txBody>
            <a:bodyPr wrap="none" anchor="ctr"/>
            <a:lstStyle/>
            <a:p>
              <a:endParaRPr lang="zh-CN" altLang="en-US"/>
            </a:p>
          </p:txBody>
        </p:sp>
        <p:graphicFrame>
          <p:nvGraphicFramePr>
            <p:cNvPr id="5135" name="Object 37"/>
            <p:cNvGraphicFramePr>
              <a:graphicFrameLocks noChangeAspect="1"/>
            </p:cNvGraphicFramePr>
            <p:nvPr/>
          </p:nvGraphicFramePr>
          <p:xfrm>
            <a:off x="4456" y="2114"/>
            <a:ext cx="143" cy="188"/>
          </p:xfrm>
          <a:graphic>
            <a:graphicData uri="http://schemas.openxmlformats.org/presentationml/2006/ole">
              <p:oleObj spid="_x0000_s5135" name="Equation" r:id="rId3" imgW="139579" imgH="177646" progId="">
                <p:embed/>
              </p:oleObj>
            </a:graphicData>
          </a:graphic>
        </p:graphicFrame>
        <p:sp>
          <p:nvSpPr>
            <p:cNvPr id="5294" name="Line 38"/>
            <p:cNvSpPr>
              <a:spLocks noChangeShapeType="1"/>
            </p:cNvSpPr>
            <p:nvPr/>
          </p:nvSpPr>
          <p:spPr bwMode="auto">
            <a:xfrm>
              <a:off x="5080" y="1698"/>
              <a:ext cx="538" cy="5"/>
            </a:xfrm>
            <a:prstGeom prst="line">
              <a:avLst/>
            </a:prstGeom>
            <a:noFill/>
            <a:ln w="28575">
              <a:solidFill>
                <a:schemeClr val="hlink"/>
              </a:solidFill>
              <a:round/>
              <a:headEnd type="none" w="sm" len="sm"/>
              <a:tailEnd type="triangle" w="med" len="lg"/>
            </a:ln>
          </p:spPr>
          <p:txBody>
            <a:bodyPr wrap="none" anchor="ctr"/>
            <a:lstStyle/>
            <a:p>
              <a:endParaRPr lang="zh-CN" altLang="en-US"/>
            </a:p>
          </p:txBody>
        </p:sp>
        <p:graphicFrame>
          <p:nvGraphicFramePr>
            <p:cNvPr id="5136" name="Object 39"/>
            <p:cNvGraphicFramePr>
              <a:graphicFrameLocks noChangeAspect="1"/>
            </p:cNvGraphicFramePr>
            <p:nvPr/>
          </p:nvGraphicFramePr>
          <p:xfrm>
            <a:off x="5250" y="1451"/>
            <a:ext cx="173" cy="255"/>
          </p:xfrm>
          <a:graphic>
            <a:graphicData uri="http://schemas.openxmlformats.org/presentationml/2006/ole">
              <p:oleObj spid="_x0000_s5136" name="Equation" r:id="rId4" imgW="139579" imgH="177646" progId="">
                <p:embed/>
              </p:oleObj>
            </a:graphicData>
          </a:graphic>
        </p:graphicFrame>
        <p:sp>
          <p:nvSpPr>
            <p:cNvPr id="5295" name="Text Box 40"/>
            <p:cNvSpPr txBox="1">
              <a:spLocks noChangeArrowheads="1"/>
            </p:cNvSpPr>
            <p:nvPr/>
          </p:nvSpPr>
          <p:spPr bwMode="auto">
            <a:xfrm>
              <a:off x="5472" y="2387"/>
              <a:ext cx="288"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x'</a:t>
              </a:r>
              <a:r>
                <a:rPr lang="en-US" altLang="zh-CN" b="1"/>
                <a:t> </a:t>
              </a:r>
              <a:endParaRPr lang="en-US" altLang="zh-CN" sz="2800" b="1" i="1">
                <a:solidFill>
                  <a:schemeClr val="bg1"/>
                </a:solidFill>
              </a:endParaRPr>
            </a:p>
          </p:txBody>
        </p:sp>
        <p:sp>
          <p:nvSpPr>
            <p:cNvPr id="5296" name="Text Box 41"/>
            <p:cNvSpPr txBox="1">
              <a:spLocks noChangeArrowheads="1"/>
            </p:cNvSpPr>
            <p:nvPr/>
          </p:nvSpPr>
          <p:spPr bwMode="auto">
            <a:xfrm>
              <a:off x="4869" y="1270"/>
              <a:ext cx="279"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y'</a:t>
              </a:r>
              <a:r>
                <a:rPr lang="en-US" altLang="zh-CN" b="1"/>
                <a:t> </a:t>
              </a:r>
            </a:p>
          </p:txBody>
        </p:sp>
        <p:sp>
          <p:nvSpPr>
            <p:cNvPr id="5297" name="Rectangle 42"/>
            <p:cNvSpPr>
              <a:spLocks noChangeArrowheads="1"/>
            </p:cNvSpPr>
            <p:nvPr/>
          </p:nvSpPr>
          <p:spPr bwMode="auto">
            <a:xfrm>
              <a:off x="5007" y="2443"/>
              <a:ext cx="113" cy="57"/>
            </a:xfrm>
            <a:prstGeom prst="rect">
              <a:avLst/>
            </a:prstGeom>
            <a:solidFill>
              <a:srgbClr val="800080"/>
            </a:solidFill>
            <a:ln w="9525">
              <a:solidFill>
                <a:srgbClr val="800080"/>
              </a:solidFill>
              <a:miter lim="800000"/>
              <a:headEnd/>
              <a:tailEnd/>
            </a:ln>
          </p:spPr>
          <p:txBody>
            <a:bodyPr wrap="none" anchor="ctr"/>
            <a:lstStyle/>
            <a:p>
              <a:endParaRPr lang="zh-CN" altLang="en-US"/>
            </a:p>
          </p:txBody>
        </p:sp>
        <p:sp>
          <p:nvSpPr>
            <p:cNvPr id="5298" name="Text Box 43"/>
            <p:cNvSpPr txBox="1">
              <a:spLocks noChangeArrowheads="1"/>
            </p:cNvSpPr>
            <p:nvPr/>
          </p:nvSpPr>
          <p:spPr bwMode="auto">
            <a:xfrm>
              <a:off x="4779" y="2206"/>
              <a:ext cx="315"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A'</a:t>
              </a:r>
              <a:r>
                <a:rPr lang="en-US" altLang="zh-CN" b="1"/>
                <a:t> </a:t>
              </a:r>
              <a:endParaRPr lang="en-US" altLang="zh-CN" sz="2800" b="1" i="1">
                <a:solidFill>
                  <a:schemeClr val="bg1"/>
                </a:solidFill>
              </a:endParaRPr>
            </a:p>
          </p:txBody>
        </p:sp>
      </p:grpSp>
      <p:grpSp>
        <p:nvGrpSpPr>
          <p:cNvPr id="8" name="Group 44"/>
          <p:cNvGrpSpPr>
            <a:grpSpLocks/>
          </p:cNvGrpSpPr>
          <p:nvPr/>
        </p:nvGrpSpPr>
        <p:grpSpPr bwMode="auto">
          <a:xfrm>
            <a:off x="4572000" y="1493838"/>
            <a:ext cx="2070100" cy="2312987"/>
            <a:chOff x="4456" y="1270"/>
            <a:chExt cx="1304" cy="1457"/>
          </a:xfrm>
        </p:grpSpPr>
        <p:sp>
          <p:nvSpPr>
            <p:cNvPr id="5264" name="Text Box 45"/>
            <p:cNvSpPr txBox="1">
              <a:spLocks noChangeArrowheads="1"/>
            </p:cNvSpPr>
            <p:nvPr/>
          </p:nvSpPr>
          <p:spPr bwMode="auto">
            <a:xfrm>
              <a:off x="4811" y="1508"/>
              <a:ext cx="297"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S'</a:t>
              </a:r>
              <a:r>
                <a:rPr lang="en-US" altLang="zh-CN" b="1"/>
                <a:t> </a:t>
              </a:r>
            </a:p>
          </p:txBody>
        </p:sp>
        <p:sp>
          <p:nvSpPr>
            <p:cNvPr id="5265" name="Text Box 46"/>
            <p:cNvSpPr txBox="1">
              <a:spLocks noChangeArrowheads="1"/>
            </p:cNvSpPr>
            <p:nvPr/>
          </p:nvSpPr>
          <p:spPr bwMode="auto">
            <a:xfrm>
              <a:off x="4779" y="2404"/>
              <a:ext cx="324"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O'</a:t>
              </a:r>
              <a:r>
                <a:rPr lang="en-US" altLang="zh-CN" b="1"/>
                <a:t> </a:t>
              </a:r>
              <a:endParaRPr lang="en-US" altLang="zh-CN" sz="2800" b="1" i="1">
                <a:solidFill>
                  <a:schemeClr val="bg1"/>
                </a:solidFill>
              </a:endParaRPr>
            </a:p>
          </p:txBody>
        </p:sp>
        <p:sp>
          <p:nvSpPr>
            <p:cNvPr id="5266" name="Line 47"/>
            <p:cNvSpPr>
              <a:spLocks noChangeShapeType="1"/>
            </p:cNvSpPr>
            <p:nvPr/>
          </p:nvSpPr>
          <p:spPr bwMode="auto">
            <a:xfrm flipV="1">
              <a:off x="5060" y="1480"/>
              <a:ext cx="1" cy="1008"/>
            </a:xfrm>
            <a:prstGeom prst="line">
              <a:avLst/>
            </a:prstGeom>
            <a:noFill/>
            <a:ln w="28575">
              <a:solidFill>
                <a:schemeClr val="bg1"/>
              </a:solidFill>
              <a:round/>
              <a:headEnd/>
              <a:tailEnd type="stealth" w="med" len="lg"/>
            </a:ln>
          </p:spPr>
          <p:txBody>
            <a:bodyPr wrap="none" anchor="ctr"/>
            <a:lstStyle/>
            <a:p>
              <a:endParaRPr lang="zh-CN" altLang="en-US"/>
            </a:p>
          </p:txBody>
        </p:sp>
        <p:sp>
          <p:nvSpPr>
            <p:cNvPr id="5267" name="Line 48"/>
            <p:cNvSpPr>
              <a:spLocks noChangeShapeType="1"/>
            </p:cNvSpPr>
            <p:nvPr/>
          </p:nvSpPr>
          <p:spPr bwMode="auto">
            <a:xfrm>
              <a:off x="5058" y="2496"/>
              <a:ext cx="589" cy="0"/>
            </a:xfrm>
            <a:prstGeom prst="line">
              <a:avLst/>
            </a:prstGeom>
            <a:noFill/>
            <a:ln w="28575">
              <a:solidFill>
                <a:schemeClr val="bg1"/>
              </a:solidFill>
              <a:round/>
              <a:headEnd/>
              <a:tailEnd type="stealth" w="med" len="lg"/>
            </a:ln>
          </p:spPr>
          <p:txBody>
            <a:bodyPr wrap="none" anchor="ctr"/>
            <a:lstStyle/>
            <a:p>
              <a:endParaRPr lang="zh-CN" altLang="en-US"/>
            </a:p>
          </p:txBody>
        </p:sp>
        <p:grpSp>
          <p:nvGrpSpPr>
            <p:cNvPr id="5268" name="Group 49"/>
            <p:cNvGrpSpPr>
              <a:grpSpLocks/>
            </p:cNvGrpSpPr>
            <p:nvPr/>
          </p:nvGrpSpPr>
          <p:grpSpPr bwMode="auto">
            <a:xfrm>
              <a:off x="4768" y="1683"/>
              <a:ext cx="933" cy="279"/>
              <a:chOff x="3488" y="1593"/>
              <a:chExt cx="933" cy="279"/>
            </a:xfrm>
          </p:grpSpPr>
          <p:grpSp>
            <p:nvGrpSpPr>
              <p:cNvPr id="5277" name="Group 50"/>
              <p:cNvGrpSpPr>
                <a:grpSpLocks/>
              </p:cNvGrpSpPr>
              <p:nvPr/>
            </p:nvGrpSpPr>
            <p:grpSpPr bwMode="auto">
              <a:xfrm>
                <a:off x="3488" y="1674"/>
                <a:ext cx="624" cy="96"/>
                <a:chOff x="4545" y="1955"/>
                <a:chExt cx="624" cy="96"/>
              </a:xfrm>
            </p:grpSpPr>
            <p:sp>
              <p:nvSpPr>
                <p:cNvPr id="5279" name="Line 51"/>
                <p:cNvSpPr>
                  <a:spLocks noChangeShapeType="1"/>
                </p:cNvSpPr>
                <p:nvPr/>
              </p:nvSpPr>
              <p:spPr bwMode="auto">
                <a:xfrm>
                  <a:off x="4545" y="2051"/>
                  <a:ext cx="576" cy="0"/>
                </a:xfrm>
                <a:prstGeom prst="line">
                  <a:avLst/>
                </a:prstGeom>
                <a:noFill/>
                <a:ln w="57150">
                  <a:solidFill>
                    <a:srgbClr val="009900"/>
                  </a:solidFill>
                  <a:round/>
                  <a:headEnd/>
                  <a:tailEnd/>
                </a:ln>
              </p:spPr>
              <p:txBody>
                <a:bodyPr wrap="none" anchor="ctr"/>
                <a:lstStyle/>
                <a:p>
                  <a:endParaRPr lang="zh-CN" altLang="en-US"/>
                </a:p>
              </p:txBody>
            </p:sp>
            <p:sp>
              <p:nvSpPr>
                <p:cNvPr id="5280" name="Line 52"/>
                <p:cNvSpPr>
                  <a:spLocks noChangeShapeType="1"/>
                </p:cNvSpPr>
                <p:nvPr/>
              </p:nvSpPr>
              <p:spPr bwMode="auto">
                <a:xfrm flipV="1">
                  <a:off x="4929" y="1955"/>
                  <a:ext cx="144" cy="96"/>
                </a:xfrm>
                <a:prstGeom prst="line">
                  <a:avLst/>
                </a:prstGeom>
                <a:noFill/>
                <a:ln w="9525">
                  <a:solidFill>
                    <a:srgbClr val="009900"/>
                  </a:solidFill>
                  <a:round/>
                  <a:headEnd/>
                  <a:tailEnd/>
                </a:ln>
              </p:spPr>
              <p:txBody>
                <a:bodyPr wrap="none" anchor="ctr"/>
                <a:lstStyle/>
                <a:p>
                  <a:endParaRPr lang="zh-CN" altLang="en-US"/>
                </a:p>
              </p:txBody>
            </p:sp>
            <p:sp>
              <p:nvSpPr>
                <p:cNvPr id="5281" name="Line 53"/>
                <p:cNvSpPr>
                  <a:spLocks noChangeShapeType="1"/>
                </p:cNvSpPr>
                <p:nvPr/>
              </p:nvSpPr>
              <p:spPr bwMode="auto">
                <a:xfrm flipV="1">
                  <a:off x="4545" y="1955"/>
                  <a:ext cx="144" cy="96"/>
                </a:xfrm>
                <a:prstGeom prst="line">
                  <a:avLst/>
                </a:prstGeom>
                <a:noFill/>
                <a:ln w="9525">
                  <a:solidFill>
                    <a:srgbClr val="009900"/>
                  </a:solidFill>
                  <a:round/>
                  <a:headEnd/>
                  <a:tailEnd/>
                </a:ln>
              </p:spPr>
              <p:txBody>
                <a:bodyPr wrap="none" anchor="ctr"/>
                <a:lstStyle/>
                <a:p>
                  <a:endParaRPr lang="zh-CN" altLang="en-US"/>
                </a:p>
              </p:txBody>
            </p:sp>
            <p:sp>
              <p:nvSpPr>
                <p:cNvPr id="5282" name="Line 54"/>
                <p:cNvSpPr>
                  <a:spLocks noChangeShapeType="1"/>
                </p:cNvSpPr>
                <p:nvPr/>
              </p:nvSpPr>
              <p:spPr bwMode="auto">
                <a:xfrm flipV="1">
                  <a:off x="4641" y="1955"/>
                  <a:ext cx="144" cy="96"/>
                </a:xfrm>
                <a:prstGeom prst="line">
                  <a:avLst/>
                </a:prstGeom>
                <a:noFill/>
                <a:ln w="9525">
                  <a:solidFill>
                    <a:srgbClr val="009900"/>
                  </a:solidFill>
                  <a:round/>
                  <a:headEnd/>
                  <a:tailEnd/>
                </a:ln>
              </p:spPr>
              <p:txBody>
                <a:bodyPr wrap="none" anchor="ctr"/>
                <a:lstStyle/>
                <a:p>
                  <a:endParaRPr lang="zh-CN" altLang="en-US"/>
                </a:p>
              </p:txBody>
            </p:sp>
            <p:sp>
              <p:nvSpPr>
                <p:cNvPr id="5283" name="Line 55"/>
                <p:cNvSpPr>
                  <a:spLocks noChangeShapeType="1"/>
                </p:cNvSpPr>
                <p:nvPr/>
              </p:nvSpPr>
              <p:spPr bwMode="auto">
                <a:xfrm flipV="1">
                  <a:off x="4737" y="1955"/>
                  <a:ext cx="144" cy="96"/>
                </a:xfrm>
                <a:prstGeom prst="line">
                  <a:avLst/>
                </a:prstGeom>
                <a:noFill/>
                <a:ln w="9525">
                  <a:solidFill>
                    <a:srgbClr val="009900"/>
                  </a:solidFill>
                  <a:round/>
                  <a:headEnd/>
                  <a:tailEnd/>
                </a:ln>
              </p:spPr>
              <p:txBody>
                <a:bodyPr wrap="none" anchor="ctr"/>
                <a:lstStyle/>
                <a:p>
                  <a:endParaRPr lang="zh-CN" altLang="en-US"/>
                </a:p>
              </p:txBody>
            </p:sp>
            <p:sp>
              <p:nvSpPr>
                <p:cNvPr id="5284" name="Line 56"/>
                <p:cNvSpPr>
                  <a:spLocks noChangeShapeType="1"/>
                </p:cNvSpPr>
                <p:nvPr/>
              </p:nvSpPr>
              <p:spPr bwMode="auto">
                <a:xfrm flipV="1">
                  <a:off x="5025" y="1955"/>
                  <a:ext cx="144" cy="96"/>
                </a:xfrm>
                <a:prstGeom prst="line">
                  <a:avLst/>
                </a:prstGeom>
                <a:noFill/>
                <a:ln w="9525">
                  <a:solidFill>
                    <a:srgbClr val="009900"/>
                  </a:solidFill>
                  <a:round/>
                  <a:headEnd/>
                  <a:tailEnd/>
                </a:ln>
              </p:spPr>
              <p:txBody>
                <a:bodyPr wrap="none" anchor="ctr"/>
                <a:lstStyle/>
                <a:p>
                  <a:endParaRPr lang="zh-CN" altLang="en-US"/>
                </a:p>
              </p:txBody>
            </p:sp>
            <p:sp>
              <p:nvSpPr>
                <p:cNvPr id="5285" name="Line 57"/>
                <p:cNvSpPr>
                  <a:spLocks noChangeShapeType="1"/>
                </p:cNvSpPr>
                <p:nvPr/>
              </p:nvSpPr>
              <p:spPr bwMode="auto">
                <a:xfrm flipV="1">
                  <a:off x="4833" y="1955"/>
                  <a:ext cx="144" cy="96"/>
                </a:xfrm>
                <a:prstGeom prst="line">
                  <a:avLst/>
                </a:prstGeom>
                <a:noFill/>
                <a:ln w="9525">
                  <a:solidFill>
                    <a:srgbClr val="009900"/>
                  </a:solidFill>
                  <a:round/>
                  <a:headEnd/>
                  <a:tailEnd/>
                </a:ln>
              </p:spPr>
              <p:txBody>
                <a:bodyPr wrap="none" anchor="ctr"/>
                <a:lstStyle/>
                <a:p>
                  <a:endParaRPr lang="zh-CN" altLang="en-US"/>
                </a:p>
              </p:txBody>
            </p:sp>
          </p:grpSp>
          <p:sp>
            <p:nvSpPr>
              <p:cNvPr id="5278" name="Text Box 58"/>
              <p:cNvSpPr txBox="1">
                <a:spLocks noChangeArrowheads="1"/>
              </p:cNvSpPr>
              <p:nvPr/>
            </p:nvSpPr>
            <p:spPr bwMode="auto">
              <a:xfrm>
                <a:off x="4119" y="1593"/>
                <a:ext cx="302" cy="279"/>
              </a:xfrm>
              <a:prstGeom prst="rect">
                <a:avLst/>
              </a:prstGeom>
              <a:solidFill>
                <a:schemeClr val="accent1"/>
              </a:solidFill>
              <a:ln w="9525">
                <a:noFill/>
                <a:miter lim="800000"/>
                <a:headEnd/>
                <a:tailEnd/>
              </a:ln>
            </p:spPr>
            <p:txBody>
              <a:bodyPr wrap="none">
                <a:spAutoFit/>
              </a:bodyPr>
              <a:lstStyle/>
              <a:p>
                <a:pPr algn="l">
                  <a:lnSpc>
                    <a:spcPct val="115000"/>
                  </a:lnSpc>
                </a:pPr>
                <a:r>
                  <a:rPr lang="en-US" altLang="zh-CN" sz="2000" b="1" i="1">
                    <a:solidFill>
                      <a:srgbClr val="009900"/>
                    </a:solidFill>
                  </a:rPr>
                  <a:t>M'</a:t>
                </a:r>
                <a:endParaRPr lang="en-US" altLang="zh-CN" sz="2000">
                  <a:solidFill>
                    <a:srgbClr val="009900"/>
                  </a:solidFill>
                </a:endParaRPr>
              </a:p>
            </p:txBody>
          </p:sp>
        </p:grpSp>
        <p:sp>
          <p:nvSpPr>
            <p:cNvPr id="5269" name="Line 59"/>
            <p:cNvSpPr>
              <a:spLocks noChangeShapeType="1"/>
            </p:cNvSpPr>
            <p:nvPr/>
          </p:nvSpPr>
          <p:spPr bwMode="auto">
            <a:xfrm>
              <a:off x="4475" y="2520"/>
              <a:ext cx="280" cy="0"/>
            </a:xfrm>
            <a:prstGeom prst="line">
              <a:avLst/>
            </a:prstGeom>
            <a:noFill/>
            <a:ln w="12700">
              <a:solidFill>
                <a:schemeClr val="bg1"/>
              </a:solidFill>
              <a:round/>
              <a:headEnd/>
              <a:tailEnd/>
            </a:ln>
          </p:spPr>
          <p:txBody>
            <a:bodyPr wrap="none" anchor="ctr"/>
            <a:lstStyle/>
            <a:p>
              <a:endParaRPr lang="zh-CN" altLang="en-US"/>
            </a:p>
          </p:txBody>
        </p:sp>
        <p:sp>
          <p:nvSpPr>
            <p:cNvPr id="5270" name="Line 60"/>
            <p:cNvSpPr>
              <a:spLocks noChangeShapeType="1"/>
            </p:cNvSpPr>
            <p:nvPr/>
          </p:nvSpPr>
          <p:spPr bwMode="auto">
            <a:xfrm flipV="1">
              <a:off x="4475" y="1848"/>
              <a:ext cx="280" cy="0"/>
            </a:xfrm>
            <a:prstGeom prst="line">
              <a:avLst/>
            </a:prstGeom>
            <a:noFill/>
            <a:ln w="12700">
              <a:solidFill>
                <a:schemeClr val="bg1"/>
              </a:solidFill>
              <a:round/>
              <a:headEnd/>
              <a:tailEnd/>
            </a:ln>
          </p:spPr>
          <p:txBody>
            <a:bodyPr wrap="none" anchor="ctr"/>
            <a:lstStyle/>
            <a:p>
              <a:endParaRPr lang="zh-CN" altLang="en-US"/>
            </a:p>
          </p:txBody>
        </p:sp>
        <p:sp>
          <p:nvSpPr>
            <p:cNvPr id="5271" name="Line 61"/>
            <p:cNvSpPr>
              <a:spLocks noChangeShapeType="1"/>
            </p:cNvSpPr>
            <p:nvPr/>
          </p:nvSpPr>
          <p:spPr bwMode="auto">
            <a:xfrm>
              <a:off x="4615" y="1848"/>
              <a:ext cx="0" cy="672"/>
            </a:xfrm>
            <a:prstGeom prst="line">
              <a:avLst/>
            </a:prstGeom>
            <a:noFill/>
            <a:ln w="19050">
              <a:solidFill>
                <a:schemeClr val="bg1"/>
              </a:solidFill>
              <a:round/>
              <a:headEnd type="triangle" w="med" len="lg"/>
              <a:tailEnd type="triangle" w="med" len="lg"/>
            </a:ln>
          </p:spPr>
          <p:txBody>
            <a:bodyPr wrap="none" anchor="ctr"/>
            <a:lstStyle/>
            <a:p>
              <a:endParaRPr lang="zh-CN" altLang="en-US"/>
            </a:p>
          </p:txBody>
        </p:sp>
        <p:graphicFrame>
          <p:nvGraphicFramePr>
            <p:cNvPr id="5133" name="Object 62"/>
            <p:cNvGraphicFramePr>
              <a:graphicFrameLocks noChangeAspect="1"/>
            </p:cNvGraphicFramePr>
            <p:nvPr/>
          </p:nvGraphicFramePr>
          <p:xfrm>
            <a:off x="4456" y="2114"/>
            <a:ext cx="143" cy="188"/>
          </p:xfrm>
          <a:graphic>
            <a:graphicData uri="http://schemas.openxmlformats.org/presentationml/2006/ole">
              <p:oleObj spid="_x0000_s5133" name="Equation" r:id="rId5" imgW="139579" imgH="177646" progId="">
                <p:embed/>
              </p:oleObj>
            </a:graphicData>
          </a:graphic>
        </p:graphicFrame>
        <p:sp>
          <p:nvSpPr>
            <p:cNvPr id="5272" name="Line 63"/>
            <p:cNvSpPr>
              <a:spLocks noChangeShapeType="1"/>
            </p:cNvSpPr>
            <p:nvPr/>
          </p:nvSpPr>
          <p:spPr bwMode="auto">
            <a:xfrm>
              <a:off x="5080" y="1698"/>
              <a:ext cx="538" cy="5"/>
            </a:xfrm>
            <a:prstGeom prst="line">
              <a:avLst/>
            </a:prstGeom>
            <a:noFill/>
            <a:ln w="28575">
              <a:solidFill>
                <a:schemeClr val="hlink"/>
              </a:solidFill>
              <a:round/>
              <a:headEnd type="none" w="sm" len="sm"/>
              <a:tailEnd type="triangle" w="med" len="lg"/>
            </a:ln>
          </p:spPr>
          <p:txBody>
            <a:bodyPr wrap="none" anchor="ctr"/>
            <a:lstStyle/>
            <a:p>
              <a:endParaRPr lang="zh-CN" altLang="en-US"/>
            </a:p>
          </p:txBody>
        </p:sp>
        <p:graphicFrame>
          <p:nvGraphicFramePr>
            <p:cNvPr id="5134" name="Object 64"/>
            <p:cNvGraphicFramePr>
              <a:graphicFrameLocks noChangeAspect="1"/>
            </p:cNvGraphicFramePr>
            <p:nvPr/>
          </p:nvGraphicFramePr>
          <p:xfrm>
            <a:off x="5250" y="1451"/>
            <a:ext cx="173" cy="255"/>
          </p:xfrm>
          <a:graphic>
            <a:graphicData uri="http://schemas.openxmlformats.org/presentationml/2006/ole">
              <p:oleObj spid="_x0000_s5134" name="Equation" r:id="rId6" imgW="139579" imgH="177646" progId="">
                <p:embed/>
              </p:oleObj>
            </a:graphicData>
          </a:graphic>
        </p:graphicFrame>
        <p:sp>
          <p:nvSpPr>
            <p:cNvPr id="5273" name="Text Box 65"/>
            <p:cNvSpPr txBox="1">
              <a:spLocks noChangeArrowheads="1"/>
            </p:cNvSpPr>
            <p:nvPr/>
          </p:nvSpPr>
          <p:spPr bwMode="auto">
            <a:xfrm>
              <a:off x="5472" y="2387"/>
              <a:ext cx="288"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x'</a:t>
              </a:r>
              <a:r>
                <a:rPr lang="en-US" altLang="zh-CN" b="1"/>
                <a:t> </a:t>
              </a:r>
              <a:endParaRPr lang="en-US" altLang="zh-CN" sz="2800" b="1" i="1">
                <a:solidFill>
                  <a:schemeClr val="bg1"/>
                </a:solidFill>
              </a:endParaRPr>
            </a:p>
          </p:txBody>
        </p:sp>
        <p:sp>
          <p:nvSpPr>
            <p:cNvPr id="5274" name="Text Box 66"/>
            <p:cNvSpPr txBox="1">
              <a:spLocks noChangeArrowheads="1"/>
            </p:cNvSpPr>
            <p:nvPr/>
          </p:nvSpPr>
          <p:spPr bwMode="auto">
            <a:xfrm>
              <a:off x="4869" y="1270"/>
              <a:ext cx="279"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y'</a:t>
              </a:r>
              <a:r>
                <a:rPr lang="en-US" altLang="zh-CN" b="1"/>
                <a:t> </a:t>
              </a:r>
            </a:p>
          </p:txBody>
        </p:sp>
        <p:sp>
          <p:nvSpPr>
            <p:cNvPr id="5275" name="Rectangle 67"/>
            <p:cNvSpPr>
              <a:spLocks noChangeArrowheads="1"/>
            </p:cNvSpPr>
            <p:nvPr/>
          </p:nvSpPr>
          <p:spPr bwMode="auto">
            <a:xfrm>
              <a:off x="5007" y="2443"/>
              <a:ext cx="113" cy="57"/>
            </a:xfrm>
            <a:prstGeom prst="rect">
              <a:avLst/>
            </a:prstGeom>
            <a:solidFill>
              <a:srgbClr val="800080"/>
            </a:solidFill>
            <a:ln w="9525">
              <a:solidFill>
                <a:srgbClr val="800080"/>
              </a:solidFill>
              <a:miter lim="800000"/>
              <a:headEnd/>
              <a:tailEnd/>
            </a:ln>
          </p:spPr>
          <p:txBody>
            <a:bodyPr wrap="none" anchor="ctr"/>
            <a:lstStyle/>
            <a:p>
              <a:endParaRPr lang="zh-CN" altLang="en-US"/>
            </a:p>
          </p:txBody>
        </p:sp>
        <p:sp>
          <p:nvSpPr>
            <p:cNvPr id="5276" name="Text Box 68"/>
            <p:cNvSpPr txBox="1">
              <a:spLocks noChangeArrowheads="1"/>
            </p:cNvSpPr>
            <p:nvPr/>
          </p:nvSpPr>
          <p:spPr bwMode="auto">
            <a:xfrm>
              <a:off x="4779" y="2206"/>
              <a:ext cx="315"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A'</a:t>
              </a:r>
              <a:r>
                <a:rPr lang="en-US" altLang="zh-CN" b="1"/>
                <a:t> </a:t>
              </a:r>
              <a:endParaRPr lang="en-US" altLang="zh-CN" sz="2800" b="1" i="1">
                <a:solidFill>
                  <a:schemeClr val="bg1"/>
                </a:solidFill>
              </a:endParaRPr>
            </a:p>
          </p:txBody>
        </p:sp>
      </p:grpSp>
      <p:sp>
        <p:nvSpPr>
          <p:cNvPr id="170053" name="AutoShape 69"/>
          <p:cNvSpPr>
            <a:spLocks noChangeArrowheads="1"/>
          </p:cNvSpPr>
          <p:nvPr/>
        </p:nvSpPr>
        <p:spPr bwMode="auto">
          <a:xfrm>
            <a:off x="5337175" y="3249613"/>
            <a:ext cx="360363" cy="360362"/>
          </a:xfrm>
          <a:prstGeom prst="star8">
            <a:avLst>
              <a:gd name="adj" fmla="val 17185"/>
            </a:avLst>
          </a:prstGeom>
          <a:solidFill>
            <a:schemeClr val="hlink">
              <a:alpha val="41960"/>
            </a:schemeClr>
          </a:solidFill>
          <a:ln w="3175">
            <a:solidFill>
              <a:srgbClr val="FF0000">
                <a:alpha val="70195"/>
              </a:srgbClr>
            </a:solidFill>
            <a:miter lim="800000"/>
            <a:headEnd/>
            <a:tailEnd/>
          </a:ln>
        </p:spPr>
        <p:txBody>
          <a:bodyPr wrap="none" anchor="ctr"/>
          <a:lstStyle/>
          <a:p>
            <a:endParaRPr lang="zh-CN" altLang="en-US"/>
          </a:p>
        </p:txBody>
      </p:sp>
      <p:grpSp>
        <p:nvGrpSpPr>
          <p:cNvPr id="11" name="Group 70"/>
          <p:cNvGrpSpPr>
            <a:grpSpLocks/>
          </p:cNvGrpSpPr>
          <p:nvPr/>
        </p:nvGrpSpPr>
        <p:grpSpPr bwMode="auto">
          <a:xfrm>
            <a:off x="881063" y="4238625"/>
            <a:ext cx="2070100" cy="2312988"/>
            <a:chOff x="4456" y="1270"/>
            <a:chExt cx="1304" cy="1457"/>
          </a:xfrm>
        </p:grpSpPr>
        <p:sp>
          <p:nvSpPr>
            <p:cNvPr id="5242" name="Text Box 71"/>
            <p:cNvSpPr txBox="1">
              <a:spLocks noChangeArrowheads="1"/>
            </p:cNvSpPr>
            <p:nvPr/>
          </p:nvSpPr>
          <p:spPr bwMode="auto">
            <a:xfrm>
              <a:off x="4811" y="1508"/>
              <a:ext cx="297" cy="323"/>
            </a:xfrm>
            <a:prstGeom prst="rect">
              <a:avLst/>
            </a:prstGeom>
            <a:solidFill>
              <a:schemeClr val="accent1"/>
            </a:solidFill>
            <a:ln w="9525">
              <a:noFill/>
              <a:miter lim="800000"/>
              <a:headEnd/>
              <a:tailEnd/>
            </a:ln>
          </p:spPr>
          <p:txBody>
            <a:bodyPr wrap="none">
              <a:spAutoFit/>
            </a:bodyPr>
            <a:lstStyle/>
            <a:p>
              <a:pPr algn="l">
                <a:lnSpc>
                  <a:spcPct val="115000"/>
                </a:lnSpc>
              </a:pPr>
              <a:r>
                <a:rPr lang="en-US" altLang="zh-CN" sz="2000" b="1" i="1">
                  <a:solidFill>
                    <a:schemeClr val="bg1"/>
                  </a:solidFill>
                </a:rPr>
                <a:t>S'</a:t>
              </a:r>
              <a:r>
                <a:rPr lang="en-US" altLang="zh-CN" b="1"/>
                <a:t> </a:t>
              </a:r>
            </a:p>
          </p:txBody>
        </p:sp>
        <p:sp>
          <p:nvSpPr>
            <p:cNvPr id="5243" name="Text Box 72"/>
            <p:cNvSpPr txBox="1">
              <a:spLocks noChangeArrowheads="1"/>
            </p:cNvSpPr>
            <p:nvPr/>
          </p:nvSpPr>
          <p:spPr bwMode="auto">
            <a:xfrm>
              <a:off x="4779" y="2404"/>
              <a:ext cx="324"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O'</a:t>
              </a:r>
              <a:r>
                <a:rPr lang="en-US" altLang="zh-CN" b="1"/>
                <a:t> </a:t>
              </a:r>
              <a:endParaRPr lang="en-US" altLang="zh-CN" sz="2800" b="1" i="1">
                <a:solidFill>
                  <a:schemeClr val="bg1"/>
                </a:solidFill>
              </a:endParaRPr>
            </a:p>
          </p:txBody>
        </p:sp>
        <p:sp>
          <p:nvSpPr>
            <p:cNvPr id="5244" name="Line 73"/>
            <p:cNvSpPr>
              <a:spLocks noChangeShapeType="1"/>
            </p:cNvSpPr>
            <p:nvPr/>
          </p:nvSpPr>
          <p:spPr bwMode="auto">
            <a:xfrm flipV="1">
              <a:off x="5060" y="1480"/>
              <a:ext cx="1" cy="1008"/>
            </a:xfrm>
            <a:prstGeom prst="line">
              <a:avLst/>
            </a:prstGeom>
            <a:noFill/>
            <a:ln w="28575">
              <a:solidFill>
                <a:schemeClr val="bg1"/>
              </a:solidFill>
              <a:round/>
              <a:headEnd/>
              <a:tailEnd type="stealth" w="med" len="lg"/>
            </a:ln>
          </p:spPr>
          <p:txBody>
            <a:bodyPr wrap="none" anchor="ctr"/>
            <a:lstStyle/>
            <a:p>
              <a:endParaRPr lang="zh-CN" altLang="en-US"/>
            </a:p>
          </p:txBody>
        </p:sp>
        <p:sp>
          <p:nvSpPr>
            <p:cNvPr id="5245" name="Line 74"/>
            <p:cNvSpPr>
              <a:spLocks noChangeShapeType="1"/>
            </p:cNvSpPr>
            <p:nvPr/>
          </p:nvSpPr>
          <p:spPr bwMode="auto">
            <a:xfrm>
              <a:off x="5058" y="2496"/>
              <a:ext cx="589" cy="0"/>
            </a:xfrm>
            <a:prstGeom prst="line">
              <a:avLst/>
            </a:prstGeom>
            <a:noFill/>
            <a:ln w="28575">
              <a:solidFill>
                <a:schemeClr val="bg1"/>
              </a:solidFill>
              <a:round/>
              <a:headEnd/>
              <a:tailEnd type="stealth" w="med" len="lg"/>
            </a:ln>
          </p:spPr>
          <p:txBody>
            <a:bodyPr wrap="none" anchor="ctr"/>
            <a:lstStyle/>
            <a:p>
              <a:endParaRPr lang="zh-CN" altLang="en-US"/>
            </a:p>
          </p:txBody>
        </p:sp>
        <p:grpSp>
          <p:nvGrpSpPr>
            <p:cNvPr id="5246" name="Group 75"/>
            <p:cNvGrpSpPr>
              <a:grpSpLocks/>
            </p:cNvGrpSpPr>
            <p:nvPr/>
          </p:nvGrpSpPr>
          <p:grpSpPr bwMode="auto">
            <a:xfrm>
              <a:off x="4768" y="1683"/>
              <a:ext cx="933" cy="279"/>
              <a:chOff x="3488" y="1593"/>
              <a:chExt cx="933" cy="279"/>
            </a:xfrm>
          </p:grpSpPr>
          <p:grpSp>
            <p:nvGrpSpPr>
              <p:cNvPr id="5255" name="Group 76"/>
              <p:cNvGrpSpPr>
                <a:grpSpLocks/>
              </p:cNvGrpSpPr>
              <p:nvPr/>
            </p:nvGrpSpPr>
            <p:grpSpPr bwMode="auto">
              <a:xfrm>
                <a:off x="3488" y="1674"/>
                <a:ext cx="624" cy="96"/>
                <a:chOff x="4545" y="1955"/>
                <a:chExt cx="624" cy="96"/>
              </a:xfrm>
            </p:grpSpPr>
            <p:sp>
              <p:nvSpPr>
                <p:cNvPr id="5257" name="Line 77"/>
                <p:cNvSpPr>
                  <a:spLocks noChangeShapeType="1"/>
                </p:cNvSpPr>
                <p:nvPr/>
              </p:nvSpPr>
              <p:spPr bwMode="auto">
                <a:xfrm>
                  <a:off x="4545" y="2051"/>
                  <a:ext cx="576" cy="0"/>
                </a:xfrm>
                <a:prstGeom prst="line">
                  <a:avLst/>
                </a:prstGeom>
                <a:noFill/>
                <a:ln w="57150">
                  <a:solidFill>
                    <a:srgbClr val="009900"/>
                  </a:solidFill>
                  <a:round/>
                  <a:headEnd/>
                  <a:tailEnd/>
                </a:ln>
              </p:spPr>
              <p:txBody>
                <a:bodyPr wrap="none" anchor="ctr"/>
                <a:lstStyle/>
                <a:p>
                  <a:endParaRPr lang="zh-CN" altLang="en-US"/>
                </a:p>
              </p:txBody>
            </p:sp>
            <p:sp>
              <p:nvSpPr>
                <p:cNvPr id="5258" name="Line 78"/>
                <p:cNvSpPr>
                  <a:spLocks noChangeShapeType="1"/>
                </p:cNvSpPr>
                <p:nvPr/>
              </p:nvSpPr>
              <p:spPr bwMode="auto">
                <a:xfrm flipV="1">
                  <a:off x="4929" y="1955"/>
                  <a:ext cx="144" cy="96"/>
                </a:xfrm>
                <a:prstGeom prst="line">
                  <a:avLst/>
                </a:prstGeom>
                <a:noFill/>
                <a:ln w="9525">
                  <a:solidFill>
                    <a:srgbClr val="009900"/>
                  </a:solidFill>
                  <a:round/>
                  <a:headEnd/>
                  <a:tailEnd/>
                </a:ln>
              </p:spPr>
              <p:txBody>
                <a:bodyPr wrap="none" anchor="ctr"/>
                <a:lstStyle/>
                <a:p>
                  <a:endParaRPr lang="zh-CN" altLang="en-US"/>
                </a:p>
              </p:txBody>
            </p:sp>
            <p:sp>
              <p:nvSpPr>
                <p:cNvPr id="5259" name="Line 79"/>
                <p:cNvSpPr>
                  <a:spLocks noChangeShapeType="1"/>
                </p:cNvSpPr>
                <p:nvPr/>
              </p:nvSpPr>
              <p:spPr bwMode="auto">
                <a:xfrm flipV="1">
                  <a:off x="4545" y="1955"/>
                  <a:ext cx="144" cy="96"/>
                </a:xfrm>
                <a:prstGeom prst="line">
                  <a:avLst/>
                </a:prstGeom>
                <a:noFill/>
                <a:ln w="9525">
                  <a:solidFill>
                    <a:srgbClr val="009900"/>
                  </a:solidFill>
                  <a:round/>
                  <a:headEnd/>
                  <a:tailEnd/>
                </a:ln>
              </p:spPr>
              <p:txBody>
                <a:bodyPr wrap="none" anchor="ctr"/>
                <a:lstStyle/>
                <a:p>
                  <a:endParaRPr lang="zh-CN" altLang="en-US"/>
                </a:p>
              </p:txBody>
            </p:sp>
            <p:sp>
              <p:nvSpPr>
                <p:cNvPr id="5260" name="Line 80"/>
                <p:cNvSpPr>
                  <a:spLocks noChangeShapeType="1"/>
                </p:cNvSpPr>
                <p:nvPr/>
              </p:nvSpPr>
              <p:spPr bwMode="auto">
                <a:xfrm flipV="1">
                  <a:off x="4641" y="1955"/>
                  <a:ext cx="144" cy="96"/>
                </a:xfrm>
                <a:prstGeom prst="line">
                  <a:avLst/>
                </a:prstGeom>
                <a:noFill/>
                <a:ln w="9525">
                  <a:solidFill>
                    <a:srgbClr val="009900"/>
                  </a:solidFill>
                  <a:round/>
                  <a:headEnd/>
                  <a:tailEnd/>
                </a:ln>
              </p:spPr>
              <p:txBody>
                <a:bodyPr wrap="none" anchor="ctr"/>
                <a:lstStyle/>
                <a:p>
                  <a:endParaRPr lang="zh-CN" altLang="en-US"/>
                </a:p>
              </p:txBody>
            </p:sp>
            <p:sp>
              <p:nvSpPr>
                <p:cNvPr id="5261" name="Line 81"/>
                <p:cNvSpPr>
                  <a:spLocks noChangeShapeType="1"/>
                </p:cNvSpPr>
                <p:nvPr/>
              </p:nvSpPr>
              <p:spPr bwMode="auto">
                <a:xfrm flipV="1">
                  <a:off x="4737" y="1955"/>
                  <a:ext cx="144" cy="96"/>
                </a:xfrm>
                <a:prstGeom prst="line">
                  <a:avLst/>
                </a:prstGeom>
                <a:noFill/>
                <a:ln w="9525">
                  <a:solidFill>
                    <a:srgbClr val="009900"/>
                  </a:solidFill>
                  <a:round/>
                  <a:headEnd/>
                  <a:tailEnd/>
                </a:ln>
              </p:spPr>
              <p:txBody>
                <a:bodyPr wrap="none" anchor="ctr"/>
                <a:lstStyle/>
                <a:p>
                  <a:endParaRPr lang="zh-CN" altLang="en-US"/>
                </a:p>
              </p:txBody>
            </p:sp>
            <p:sp>
              <p:nvSpPr>
                <p:cNvPr id="5262" name="Line 82"/>
                <p:cNvSpPr>
                  <a:spLocks noChangeShapeType="1"/>
                </p:cNvSpPr>
                <p:nvPr/>
              </p:nvSpPr>
              <p:spPr bwMode="auto">
                <a:xfrm flipV="1">
                  <a:off x="5025" y="1955"/>
                  <a:ext cx="144" cy="96"/>
                </a:xfrm>
                <a:prstGeom prst="line">
                  <a:avLst/>
                </a:prstGeom>
                <a:noFill/>
                <a:ln w="9525">
                  <a:solidFill>
                    <a:srgbClr val="009900"/>
                  </a:solidFill>
                  <a:round/>
                  <a:headEnd/>
                  <a:tailEnd/>
                </a:ln>
              </p:spPr>
              <p:txBody>
                <a:bodyPr wrap="none" anchor="ctr"/>
                <a:lstStyle/>
                <a:p>
                  <a:endParaRPr lang="zh-CN" altLang="en-US"/>
                </a:p>
              </p:txBody>
            </p:sp>
            <p:sp>
              <p:nvSpPr>
                <p:cNvPr id="5263" name="Line 83"/>
                <p:cNvSpPr>
                  <a:spLocks noChangeShapeType="1"/>
                </p:cNvSpPr>
                <p:nvPr/>
              </p:nvSpPr>
              <p:spPr bwMode="auto">
                <a:xfrm flipV="1">
                  <a:off x="4833" y="1955"/>
                  <a:ext cx="144" cy="96"/>
                </a:xfrm>
                <a:prstGeom prst="line">
                  <a:avLst/>
                </a:prstGeom>
                <a:noFill/>
                <a:ln w="9525">
                  <a:solidFill>
                    <a:srgbClr val="009900"/>
                  </a:solidFill>
                  <a:round/>
                  <a:headEnd/>
                  <a:tailEnd/>
                </a:ln>
              </p:spPr>
              <p:txBody>
                <a:bodyPr wrap="none" anchor="ctr"/>
                <a:lstStyle/>
                <a:p>
                  <a:endParaRPr lang="zh-CN" altLang="en-US"/>
                </a:p>
              </p:txBody>
            </p:sp>
          </p:grpSp>
          <p:sp>
            <p:nvSpPr>
              <p:cNvPr id="5256" name="Text Box 84"/>
              <p:cNvSpPr txBox="1">
                <a:spLocks noChangeArrowheads="1"/>
              </p:cNvSpPr>
              <p:nvPr/>
            </p:nvSpPr>
            <p:spPr bwMode="auto">
              <a:xfrm>
                <a:off x="4119" y="1593"/>
                <a:ext cx="302" cy="279"/>
              </a:xfrm>
              <a:prstGeom prst="rect">
                <a:avLst/>
              </a:prstGeom>
              <a:solidFill>
                <a:schemeClr val="accent1"/>
              </a:solidFill>
              <a:ln w="9525">
                <a:noFill/>
                <a:miter lim="800000"/>
                <a:headEnd/>
                <a:tailEnd/>
              </a:ln>
            </p:spPr>
            <p:txBody>
              <a:bodyPr wrap="none">
                <a:spAutoFit/>
              </a:bodyPr>
              <a:lstStyle/>
              <a:p>
                <a:pPr algn="l">
                  <a:lnSpc>
                    <a:spcPct val="115000"/>
                  </a:lnSpc>
                </a:pPr>
                <a:r>
                  <a:rPr lang="en-US" altLang="zh-CN" sz="2000" b="1" i="1">
                    <a:solidFill>
                      <a:srgbClr val="009900"/>
                    </a:solidFill>
                  </a:rPr>
                  <a:t>M'</a:t>
                </a:r>
                <a:endParaRPr lang="en-US" altLang="zh-CN" sz="2000">
                  <a:solidFill>
                    <a:srgbClr val="009900"/>
                  </a:solidFill>
                </a:endParaRPr>
              </a:p>
            </p:txBody>
          </p:sp>
        </p:grpSp>
        <p:sp>
          <p:nvSpPr>
            <p:cNvPr id="5247" name="Line 85"/>
            <p:cNvSpPr>
              <a:spLocks noChangeShapeType="1"/>
            </p:cNvSpPr>
            <p:nvPr/>
          </p:nvSpPr>
          <p:spPr bwMode="auto">
            <a:xfrm>
              <a:off x="4475" y="2520"/>
              <a:ext cx="280" cy="0"/>
            </a:xfrm>
            <a:prstGeom prst="line">
              <a:avLst/>
            </a:prstGeom>
            <a:noFill/>
            <a:ln w="12700">
              <a:solidFill>
                <a:schemeClr val="bg1"/>
              </a:solidFill>
              <a:round/>
              <a:headEnd/>
              <a:tailEnd/>
            </a:ln>
          </p:spPr>
          <p:txBody>
            <a:bodyPr wrap="none" anchor="ctr"/>
            <a:lstStyle/>
            <a:p>
              <a:endParaRPr lang="zh-CN" altLang="en-US"/>
            </a:p>
          </p:txBody>
        </p:sp>
        <p:sp>
          <p:nvSpPr>
            <p:cNvPr id="5248" name="Line 86"/>
            <p:cNvSpPr>
              <a:spLocks noChangeShapeType="1"/>
            </p:cNvSpPr>
            <p:nvPr/>
          </p:nvSpPr>
          <p:spPr bwMode="auto">
            <a:xfrm flipV="1">
              <a:off x="4475" y="1848"/>
              <a:ext cx="280" cy="0"/>
            </a:xfrm>
            <a:prstGeom prst="line">
              <a:avLst/>
            </a:prstGeom>
            <a:noFill/>
            <a:ln w="12700">
              <a:solidFill>
                <a:schemeClr val="bg1"/>
              </a:solidFill>
              <a:round/>
              <a:headEnd/>
              <a:tailEnd/>
            </a:ln>
          </p:spPr>
          <p:txBody>
            <a:bodyPr wrap="none" anchor="ctr"/>
            <a:lstStyle/>
            <a:p>
              <a:endParaRPr lang="zh-CN" altLang="en-US"/>
            </a:p>
          </p:txBody>
        </p:sp>
        <p:sp>
          <p:nvSpPr>
            <p:cNvPr id="5249" name="Line 87"/>
            <p:cNvSpPr>
              <a:spLocks noChangeShapeType="1"/>
            </p:cNvSpPr>
            <p:nvPr/>
          </p:nvSpPr>
          <p:spPr bwMode="auto">
            <a:xfrm>
              <a:off x="4615" y="1848"/>
              <a:ext cx="0" cy="672"/>
            </a:xfrm>
            <a:prstGeom prst="line">
              <a:avLst/>
            </a:prstGeom>
            <a:noFill/>
            <a:ln w="19050">
              <a:solidFill>
                <a:schemeClr val="bg1"/>
              </a:solidFill>
              <a:round/>
              <a:headEnd type="triangle" w="med" len="lg"/>
              <a:tailEnd type="triangle" w="med" len="lg"/>
            </a:ln>
          </p:spPr>
          <p:txBody>
            <a:bodyPr wrap="none" anchor="ctr"/>
            <a:lstStyle/>
            <a:p>
              <a:endParaRPr lang="zh-CN" altLang="en-US"/>
            </a:p>
          </p:txBody>
        </p:sp>
        <p:graphicFrame>
          <p:nvGraphicFramePr>
            <p:cNvPr id="5131" name="Object 88"/>
            <p:cNvGraphicFramePr>
              <a:graphicFrameLocks noChangeAspect="1"/>
            </p:cNvGraphicFramePr>
            <p:nvPr/>
          </p:nvGraphicFramePr>
          <p:xfrm>
            <a:off x="4456" y="2114"/>
            <a:ext cx="143" cy="188"/>
          </p:xfrm>
          <a:graphic>
            <a:graphicData uri="http://schemas.openxmlformats.org/presentationml/2006/ole">
              <p:oleObj spid="_x0000_s5131" name="Equation" r:id="rId7" imgW="139579" imgH="177646" progId="">
                <p:embed/>
              </p:oleObj>
            </a:graphicData>
          </a:graphic>
        </p:graphicFrame>
        <p:sp>
          <p:nvSpPr>
            <p:cNvPr id="5250" name="Line 89"/>
            <p:cNvSpPr>
              <a:spLocks noChangeShapeType="1"/>
            </p:cNvSpPr>
            <p:nvPr/>
          </p:nvSpPr>
          <p:spPr bwMode="auto">
            <a:xfrm>
              <a:off x="5080" y="1698"/>
              <a:ext cx="538" cy="5"/>
            </a:xfrm>
            <a:prstGeom prst="line">
              <a:avLst/>
            </a:prstGeom>
            <a:noFill/>
            <a:ln w="28575">
              <a:solidFill>
                <a:schemeClr val="hlink"/>
              </a:solidFill>
              <a:round/>
              <a:headEnd type="none" w="sm" len="sm"/>
              <a:tailEnd type="triangle" w="med" len="lg"/>
            </a:ln>
          </p:spPr>
          <p:txBody>
            <a:bodyPr wrap="none" anchor="ctr"/>
            <a:lstStyle/>
            <a:p>
              <a:endParaRPr lang="zh-CN" altLang="en-US"/>
            </a:p>
          </p:txBody>
        </p:sp>
        <p:graphicFrame>
          <p:nvGraphicFramePr>
            <p:cNvPr id="5132" name="Object 90"/>
            <p:cNvGraphicFramePr>
              <a:graphicFrameLocks noChangeAspect="1"/>
            </p:cNvGraphicFramePr>
            <p:nvPr/>
          </p:nvGraphicFramePr>
          <p:xfrm>
            <a:off x="5250" y="1451"/>
            <a:ext cx="173" cy="255"/>
          </p:xfrm>
          <a:graphic>
            <a:graphicData uri="http://schemas.openxmlformats.org/presentationml/2006/ole">
              <p:oleObj spid="_x0000_s5132" name="Equation" r:id="rId8" imgW="139579" imgH="177646" progId="">
                <p:embed/>
              </p:oleObj>
            </a:graphicData>
          </a:graphic>
        </p:graphicFrame>
        <p:sp>
          <p:nvSpPr>
            <p:cNvPr id="5251" name="Text Box 91"/>
            <p:cNvSpPr txBox="1">
              <a:spLocks noChangeArrowheads="1"/>
            </p:cNvSpPr>
            <p:nvPr/>
          </p:nvSpPr>
          <p:spPr bwMode="auto">
            <a:xfrm>
              <a:off x="5472" y="2387"/>
              <a:ext cx="288"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x'</a:t>
              </a:r>
              <a:r>
                <a:rPr lang="en-US" altLang="zh-CN" b="1"/>
                <a:t> </a:t>
              </a:r>
              <a:endParaRPr lang="en-US" altLang="zh-CN" sz="2800" b="1" i="1">
                <a:solidFill>
                  <a:schemeClr val="bg1"/>
                </a:solidFill>
              </a:endParaRPr>
            </a:p>
          </p:txBody>
        </p:sp>
        <p:sp>
          <p:nvSpPr>
            <p:cNvPr id="5252" name="Text Box 92"/>
            <p:cNvSpPr txBox="1">
              <a:spLocks noChangeArrowheads="1"/>
            </p:cNvSpPr>
            <p:nvPr/>
          </p:nvSpPr>
          <p:spPr bwMode="auto">
            <a:xfrm>
              <a:off x="4869" y="1270"/>
              <a:ext cx="279"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y'</a:t>
              </a:r>
              <a:r>
                <a:rPr lang="en-US" altLang="zh-CN" b="1"/>
                <a:t> </a:t>
              </a:r>
            </a:p>
          </p:txBody>
        </p:sp>
        <p:sp>
          <p:nvSpPr>
            <p:cNvPr id="5253" name="Rectangle 93"/>
            <p:cNvSpPr>
              <a:spLocks noChangeArrowheads="1"/>
            </p:cNvSpPr>
            <p:nvPr/>
          </p:nvSpPr>
          <p:spPr bwMode="auto">
            <a:xfrm>
              <a:off x="5007" y="2443"/>
              <a:ext cx="113" cy="57"/>
            </a:xfrm>
            <a:prstGeom prst="rect">
              <a:avLst/>
            </a:prstGeom>
            <a:solidFill>
              <a:srgbClr val="800080"/>
            </a:solidFill>
            <a:ln w="9525">
              <a:solidFill>
                <a:srgbClr val="800080"/>
              </a:solidFill>
              <a:miter lim="800000"/>
              <a:headEnd/>
              <a:tailEnd/>
            </a:ln>
          </p:spPr>
          <p:txBody>
            <a:bodyPr wrap="none" anchor="ctr"/>
            <a:lstStyle/>
            <a:p>
              <a:endParaRPr lang="zh-CN" altLang="en-US"/>
            </a:p>
          </p:txBody>
        </p:sp>
        <p:sp>
          <p:nvSpPr>
            <p:cNvPr id="5254" name="Text Box 94"/>
            <p:cNvSpPr txBox="1">
              <a:spLocks noChangeArrowheads="1"/>
            </p:cNvSpPr>
            <p:nvPr/>
          </p:nvSpPr>
          <p:spPr bwMode="auto">
            <a:xfrm>
              <a:off x="4779" y="2206"/>
              <a:ext cx="315"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A'</a:t>
              </a:r>
              <a:r>
                <a:rPr lang="en-US" altLang="zh-CN" b="1"/>
                <a:t> </a:t>
              </a:r>
              <a:endParaRPr lang="en-US" altLang="zh-CN" sz="2800" b="1" i="1">
                <a:solidFill>
                  <a:schemeClr val="bg1"/>
                </a:solidFill>
              </a:endParaRPr>
            </a:p>
          </p:txBody>
        </p:sp>
      </p:grpSp>
      <p:sp>
        <p:nvSpPr>
          <p:cNvPr id="170079" name="Line 95"/>
          <p:cNvSpPr>
            <a:spLocks noChangeShapeType="1"/>
          </p:cNvSpPr>
          <p:nvPr/>
        </p:nvSpPr>
        <p:spPr bwMode="auto">
          <a:xfrm flipV="1">
            <a:off x="1781175" y="5183188"/>
            <a:ext cx="0" cy="944562"/>
          </a:xfrm>
          <a:prstGeom prst="line">
            <a:avLst/>
          </a:prstGeom>
          <a:noFill/>
          <a:ln w="38100">
            <a:solidFill>
              <a:schemeClr val="hlink"/>
            </a:solidFill>
            <a:round/>
            <a:headEnd/>
            <a:tailEnd type="stealth" w="med" len="lg"/>
          </a:ln>
        </p:spPr>
        <p:txBody>
          <a:bodyPr/>
          <a:lstStyle/>
          <a:p>
            <a:endParaRPr lang="zh-CN" altLang="en-US"/>
          </a:p>
        </p:txBody>
      </p:sp>
      <p:sp>
        <p:nvSpPr>
          <p:cNvPr id="170080" name="Line 96"/>
          <p:cNvSpPr>
            <a:spLocks noChangeShapeType="1"/>
          </p:cNvSpPr>
          <p:nvPr/>
        </p:nvSpPr>
        <p:spPr bwMode="auto">
          <a:xfrm>
            <a:off x="1916113" y="5183188"/>
            <a:ext cx="0" cy="990600"/>
          </a:xfrm>
          <a:prstGeom prst="line">
            <a:avLst/>
          </a:prstGeom>
          <a:noFill/>
          <a:ln w="38100">
            <a:solidFill>
              <a:schemeClr val="hlink"/>
            </a:solidFill>
            <a:round/>
            <a:headEnd/>
            <a:tailEnd type="stealth" w="med" len="lg"/>
          </a:ln>
        </p:spPr>
        <p:txBody>
          <a:bodyPr/>
          <a:lstStyle/>
          <a:p>
            <a:endParaRPr lang="zh-CN" altLang="en-US"/>
          </a:p>
        </p:txBody>
      </p:sp>
      <p:grpSp>
        <p:nvGrpSpPr>
          <p:cNvPr id="14" name="Group 97"/>
          <p:cNvGrpSpPr>
            <a:grpSpLocks/>
          </p:cNvGrpSpPr>
          <p:nvPr/>
        </p:nvGrpSpPr>
        <p:grpSpPr bwMode="auto">
          <a:xfrm>
            <a:off x="2006600" y="5589588"/>
            <a:ext cx="450850" cy="436562"/>
            <a:chOff x="2880" y="3407"/>
            <a:chExt cx="284" cy="275"/>
          </a:xfrm>
        </p:grpSpPr>
        <p:pic>
          <p:nvPicPr>
            <p:cNvPr id="5239" name="Picture 98"/>
            <p:cNvPicPr>
              <a:picLocks noChangeAspect="1" noChangeArrowheads="1"/>
            </p:cNvPicPr>
            <p:nvPr/>
          </p:nvPicPr>
          <p:blipFill>
            <a:blip r:embed="rId9"/>
            <a:srcRect/>
            <a:stretch>
              <a:fillRect/>
            </a:stretch>
          </p:blipFill>
          <p:spPr bwMode="auto">
            <a:xfrm>
              <a:off x="2880" y="3407"/>
              <a:ext cx="284" cy="275"/>
            </a:xfrm>
            <a:prstGeom prst="rect">
              <a:avLst/>
            </a:prstGeom>
            <a:noFill/>
            <a:ln w="9525">
              <a:noFill/>
              <a:miter lim="800000"/>
              <a:headEnd/>
              <a:tailEnd/>
            </a:ln>
          </p:spPr>
        </p:pic>
        <p:sp>
          <p:nvSpPr>
            <p:cNvPr id="5240" name="Line 99"/>
            <p:cNvSpPr>
              <a:spLocks noChangeShapeType="1"/>
            </p:cNvSpPr>
            <p:nvPr/>
          </p:nvSpPr>
          <p:spPr bwMode="auto">
            <a:xfrm>
              <a:off x="3022" y="3549"/>
              <a:ext cx="141" cy="0"/>
            </a:xfrm>
            <a:prstGeom prst="line">
              <a:avLst/>
            </a:prstGeom>
            <a:noFill/>
            <a:ln w="9525">
              <a:solidFill>
                <a:schemeClr val="tx1"/>
              </a:solidFill>
              <a:round/>
              <a:headEnd/>
              <a:tailEnd type="triangle" w="sm" len="med"/>
            </a:ln>
          </p:spPr>
          <p:txBody>
            <a:bodyPr/>
            <a:lstStyle/>
            <a:p>
              <a:endParaRPr lang="zh-CN" altLang="en-US"/>
            </a:p>
          </p:txBody>
        </p:sp>
        <p:sp>
          <p:nvSpPr>
            <p:cNvPr id="5241" name="Line 100"/>
            <p:cNvSpPr>
              <a:spLocks noChangeShapeType="1"/>
            </p:cNvSpPr>
            <p:nvPr/>
          </p:nvSpPr>
          <p:spPr bwMode="auto">
            <a:xfrm flipV="1">
              <a:off x="3022" y="3464"/>
              <a:ext cx="28" cy="85"/>
            </a:xfrm>
            <a:prstGeom prst="line">
              <a:avLst/>
            </a:prstGeom>
            <a:noFill/>
            <a:ln w="9525">
              <a:solidFill>
                <a:schemeClr val="tx1"/>
              </a:solidFill>
              <a:round/>
              <a:headEnd/>
              <a:tailEnd type="triangle" w="sm" len="med"/>
            </a:ln>
          </p:spPr>
          <p:txBody>
            <a:bodyPr/>
            <a:lstStyle/>
            <a:p>
              <a:endParaRPr lang="zh-CN" altLang="en-US"/>
            </a:p>
          </p:txBody>
        </p:sp>
      </p:grpSp>
      <p:grpSp>
        <p:nvGrpSpPr>
          <p:cNvPr id="15" name="Group 101"/>
          <p:cNvGrpSpPr>
            <a:grpSpLocks/>
          </p:cNvGrpSpPr>
          <p:nvPr/>
        </p:nvGrpSpPr>
        <p:grpSpPr bwMode="auto">
          <a:xfrm>
            <a:off x="2006600" y="5589588"/>
            <a:ext cx="450850" cy="436562"/>
            <a:chOff x="4893" y="3549"/>
            <a:chExt cx="284" cy="275"/>
          </a:xfrm>
        </p:grpSpPr>
        <p:pic>
          <p:nvPicPr>
            <p:cNvPr id="5236" name="Picture 102"/>
            <p:cNvPicPr>
              <a:picLocks noChangeAspect="1" noChangeArrowheads="1"/>
            </p:cNvPicPr>
            <p:nvPr/>
          </p:nvPicPr>
          <p:blipFill>
            <a:blip r:embed="rId9"/>
            <a:srcRect/>
            <a:stretch>
              <a:fillRect/>
            </a:stretch>
          </p:blipFill>
          <p:spPr bwMode="auto">
            <a:xfrm>
              <a:off x="4893" y="3549"/>
              <a:ext cx="284" cy="275"/>
            </a:xfrm>
            <a:prstGeom prst="rect">
              <a:avLst/>
            </a:prstGeom>
            <a:noFill/>
            <a:ln w="9525">
              <a:noFill/>
              <a:miter lim="800000"/>
              <a:headEnd/>
              <a:tailEnd/>
            </a:ln>
          </p:spPr>
        </p:pic>
        <p:sp>
          <p:nvSpPr>
            <p:cNvPr id="5237" name="Line 103"/>
            <p:cNvSpPr>
              <a:spLocks noChangeShapeType="1"/>
            </p:cNvSpPr>
            <p:nvPr/>
          </p:nvSpPr>
          <p:spPr bwMode="auto">
            <a:xfrm>
              <a:off x="5035" y="3691"/>
              <a:ext cx="113" cy="85"/>
            </a:xfrm>
            <a:prstGeom prst="line">
              <a:avLst/>
            </a:prstGeom>
            <a:noFill/>
            <a:ln w="9525">
              <a:solidFill>
                <a:schemeClr val="tx1"/>
              </a:solidFill>
              <a:round/>
              <a:headEnd/>
              <a:tailEnd type="triangle" w="sm" len="med"/>
            </a:ln>
          </p:spPr>
          <p:txBody>
            <a:bodyPr/>
            <a:lstStyle/>
            <a:p>
              <a:endParaRPr lang="zh-CN" altLang="en-US"/>
            </a:p>
          </p:txBody>
        </p:sp>
        <p:sp>
          <p:nvSpPr>
            <p:cNvPr id="5238" name="Line 104"/>
            <p:cNvSpPr>
              <a:spLocks noChangeShapeType="1"/>
            </p:cNvSpPr>
            <p:nvPr/>
          </p:nvSpPr>
          <p:spPr bwMode="auto">
            <a:xfrm flipV="1">
              <a:off x="5035" y="3606"/>
              <a:ext cx="28" cy="85"/>
            </a:xfrm>
            <a:prstGeom prst="line">
              <a:avLst/>
            </a:prstGeom>
            <a:noFill/>
            <a:ln w="9525">
              <a:solidFill>
                <a:schemeClr val="tx1"/>
              </a:solidFill>
              <a:round/>
              <a:headEnd/>
              <a:tailEnd type="triangle" w="sm" len="med"/>
            </a:ln>
          </p:spPr>
          <p:txBody>
            <a:bodyPr/>
            <a:lstStyle/>
            <a:p>
              <a:endParaRPr lang="zh-CN" altLang="en-US"/>
            </a:p>
          </p:txBody>
        </p:sp>
      </p:grpSp>
      <p:sp>
        <p:nvSpPr>
          <p:cNvPr id="170090" name="AutoShape 106"/>
          <p:cNvSpPr>
            <a:spLocks noChangeArrowheads="1"/>
          </p:cNvSpPr>
          <p:nvPr/>
        </p:nvSpPr>
        <p:spPr bwMode="auto">
          <a:xfrm>
            <a:off x="1646238" y="5948363"/>
            <a:ext cx="360362" cy="360362"/>
          </a:xfrm>
          <a:prstGeom prst="star8">
            <a:avLst>
              <a:gd name="adj" fmla="val 17185"/>
            </a:avLst>
          </a:prstGeom>
          <a:solidFill>
            <a:schemeClr val="hlink">
              <a:alpha val="41960"/>
            </a:schemeClr>
          </a:solidFill>
          <a:ln w="3175">
            <a:solidFill>
              <a:srgbClr val="FF0000">
                <a:alpha val="70195"/>
              </a:srgbClr>
            </a:solidFill>
            <a:miter lim="800000"/>
            <a:headEnd/>
            <a:tailEnd/>
          </a:ln>
        </p:spPr>
        <p:txBody>
          <a:bodyPr wrap="none" anchor="ctr"/>
          <a:lstStyle/>
          <a:p>
            <a:endParaRPr lang="zh-CN" altLang="en-US"/>
          </a:p>
        </p:txBody>
      </p:sp>
      <p:sp>
        <p:nvSpPr>
          <p:cNvPr id="170091" name="Text Box 107"/>
          <p:cNvSpPr txBox="1">
            <a:spLocks noChangeArrowheads="1"/>
          </p:cNvSpPr>
          <p:nvPr/>
        </p:nvSpPr>
        <p:spPr bwMode="auto">
          <a:xfrm>
            <a:off x="250825" y="3833813"/>
            <a:ext cx="2027238" cy="461962"/>
          </a:xfrm>
          <a:prstGeom prst="rect">
            <a:avLst/>
          </a:prstGeom>
          <a:noFill/>
          <a:ln w="9525">
            <a:noFill/>
            <a:miter lim="800000"/>
            <a:headEnd/>
            <a:tailEnd/>
          </a:ln>
        </p:spPr>
        <p:txBody>
          <a:bodyPr>
            <a:spAutoFit/>
          </a:bodyPr>
          <a:lstStyle/>
          <a:p>
            <a:pPr algn="l">
              <a:spcBef>
                <a:spcPct val="50000"/>
              </a:spcBef>
            </a:pPr>
            <a:r>
              <a:rPr lang="en-US" altLang="zh-CN" b="1" i="1">
                <a:solidFill>
                  <a:srgbClr val="FF6600"/>
                </a:solidFill>
              </a:rPr>
              <a:t>S' </a:t>
            </a:r>
            <a:r>
              <a:rPr lang="zh-CN" altLang="en-US" b="1"/>
              <a:t>系中测量</a:t>
            </a:r>
          </a:p>
        </p:txBody>
      </p:sp>
      <p:graphicFrame>
        <p:nvGraphicFramePr>
          <p:cNvPr id="170092" name="Object 108"/>
          <p:cNvGraphicFramePr>
            <a:graphicFrameLocks noChangeAspect="1"/>
          </p:cNvGraphicFramePr>
          <p:nvPr/>
        </p:nvGraphicFramePr>
        <p:xfrm>
          <a:off x="2097088" y="3743325"/>
          <a:ext cx="1123950" cy="720725"/>
        </p:xfrm>
        <a:graphic>
          <a:graphicData uri="http://schemas.openxmlformats.org/presentationml/2006/ole">
            <p:oleObj spid="_x0000_s5122" name="Equation" r:id="rId10" imgW="571252" imgH="393529" progId="">
              <p:embed/>
            </p:oleObj>
          </a:graphicData>
        </a:graphic>
      </p:graphicFrame>
      <p:sp>
        <p:nvSpPr>
          <p:cNvPr id="170094" name="Text Box 110"/>
          <p:cNvSpPr txBox="1">
            <a:spLocks noChangeArrowheads="1"/>
          </p:cNvSpPr>
          <p:nvPr/>
        </p:nvSpPr>
        <p:spPr bwMode="auto">
          <a:xfrm>
            <a:off x="4302125" y="3743325"/>
            <a:ext cx="1890713" cy="461963"/>
          </a:xfrm>
          <a:prstGeom prst="rect">
            <a:avLst/>
          </a:prstGeom>
          <a:noFill/>
          <a:ln w="9525">
            <a:noFill/>
            <a:miter lim="800000"/>
            <a:headEnd/>
            <a:tailEnd/>
          </a:ln>
        </p:spPr>
        <p:txBody>
          <a:bodyPr>
            <a:spAutoFit/>
          </a:bodyPr>
          <a:lstStyle/>
          <a:p>
            <a:pPr algn="l">
              <a:spcBef>
                <a:spcPct val="50000"/>
              </a:spcBef>
            </a:pPr>
            <a:r>
              <a:rPr lang="en-US" altLang="zh-CN" b="1" i="1">
                <a:solidFill>
                  <a:srgbClr val="FF6600"/>
                </a:solidFill>
              </a:rPr>
              <a:t>S </a:t>
            </a:r>
            <a:r>
              <a:rPr lang="zh-CN" altLang="en-US" b="1"/>
              <a:t>系中测量</a:t>
            </a:r>
          </a:p>
        </p:txBody>
      </p:sp>
      <p:grpSp>
        <p:nvGrpSpPr>
          <p:cNvPr id="16" name="Group 111"/>
          <p:cNvGrpSpPr>
            <a:grpSpLocks/>
          </p:cNvGrpSpPr>
          <p:nvPr/>
        </p:nvGrpSpPr>
        <p:grpSpPr bwMode="auto">
          <a:xfrm>
            <a:off x="4932363" y="4194175"/>
            <a:ext cx="1346200" cy="2287588"/>
            <a:chOff x="3390" y="1310"/>
            <a:chExt cx="848" cy="1441"/>
          </a:xfrm>
        </p:grpSpPr>
        <p:grpSp>
          <p:nvGrpSpPr>
            <p:cNvPr id="5226" name="Group 112"/>
            <p:cNvGrpSpPr>
              <a:grpSpLocks/>
            </p:cNvGrpSpPr>
            <p:nvPr/>
          </p:nvGrpSpPr>
          <p:grpSpPr bwMode="auto">
            <a:xfrm>
              <a:off x="3390" y="1310"/>
              <a:ext cx="848" cy="1441"/>
              <a:chOff x="3390" y="1310"/>
              <a:chExt cx="848" cy="1441"/>
            </a:xfrm>
          </p:grpSpPr>
          <p:grpSp>
            <p:nvGrpSpPr>
              <p:cNvPr id="5228" name="Group 113"/>
              <p:cNvGrpSpPr>
                <a:grpSpLocks/>
              </p:cNvGrpSpPr>
              <p:nvPr/>
            </p:nvGrpSpPr>
            <p:grpSpPr bwMode="auto">
              <a:xfrm>
                <a:off x="3390" y="1310"/>
                <a:ext cx="848" cy="1441"/>
                <a:chOff x="3390" y="1310"/>
                <a:chExt cx="848" cy="1441"/>
              </a:xfrm>
            </p:grpSpPr>
            <p:sp>
              <p:nvSpPr>
                <p:cNvPr id="5230" name="Text Box 114"/>
                <p:cNvSpPr txBox="1">
                  <a:spLocks noChangeArrowheads="1"/>
                </p:cNvSpPr>
                <p:nvPr/>
              </p:nvSpPr>
              <p:spPr bwMode="auto">
                <a:xfrm>
                  <a:off x="3419" y="1565"/>
                  <a:ext cx="205"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FF"/>
                      </a:solidFill>
                    </a:rPr>
                    <a:t>S</a:t>
                  </a:r>
                  <a:endParaRPr lang="en-US" altLang="zh-CN" sz="2000" b="1">
                    <a:solidFill>
                      <a:srgbClr val="0000FF"/>
                    </a:solidFill>
                  </a:endParaRPr>
                </a:p>
              </p:txBody>
            </p:sp>
            <p:sp>
              <p:nvSpPr>
                <p:cNvPr id="5231" name="Text Box 115"/>
                <p:cNvSpPr txBox="1">
                  <a:spLocks noChangeArrowheads="1"/>
                </p:cNvSpPr>
                <p:nvPr/>
              </p:nvSpPr>
              <p:spPr bwMode="auto">
                <a:xfrm>
                  <a:off x="3390" y="2443"/>
                  <a:ext cx="232"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FF"/>
                      </a:solidFill>
                    </a:rPr>
                    <a:t>O</a:t>
                  </a:r>
                </a:p>
              </p:txBody>
            </p:sp>
            <p:sp>
              <p:nvSpPr>
                <p:cNvPr id="5232" name="Line 116"/>
                <p:cNvSpPr>
                  <a:spLocks noChangeShapeType="1"/>
                </p:cNvSpPr>
                <p:nvPr/>
              </p:nvSpPr>
              <p:spPr bwMode="auto">
                <a:xfrm flipV="1">
                  <a:off x="3615" y="1526"/>
                  <a:ext cx="0" cy="1017"/>
                </a:xfrm>
                <a:prstGeom prst="line">
                  <a:avLst/>
                </a:prstGeom>
                <a:noFill/>
                <a:ln w="28575">
                  <a:solidFill>
                    <a:srgbClr val="0000FF"/>
                  </a:solidFill>
                  <a:round/>
                  <a:headEnd/>
                  <a:tailEnd type="stealth" w="med" len="lg"/>
                </a:ln>
              </p:spPr>
              <p:txBody>
                <a:bodyPr wrap="none" anchor="ctr"/>
                <a:lstStyle/>
                <a:p>
                  <a:endParaRPr lang="zh-CN" altLang="en-US"/>
                </a:p>
              </p:txBody>
            </p:sp>
            <p:sp>
              <p:nvSpPr>
                <p:cNvPr id="5233" name="Line 117"/>
                <p:cNvSpPr>
                  <a:spLocks noChangeShapeType="1"/>
                </p:cNvSpPr>
                <p:nvPr/>
              </p:nvSpPr>
              <p:spPr bwMode="auto">
                <a:xfrm>
                  <a:off x="3611" y="2543"/>
                  <a:ext cx="589" cy="0"/>
                </a:xfrm>
                <a:prstGeom prst="line">
                  <a:avLst/>
                </a:prstGeom>
                <a:noFill/>
                <a:ln w="28575">
                  <a:solidFill>
                    <a:srgbClr val="0000FF"/>
                  </a:solidFill>
                  <a:round/>
                  <a:headEnd/>
                  <a:tailEnd type="stealth" w="med" len="lg"/>
                </a:ln>
              </p:spPr>
              <p:txBody>
                <a:bodyPr wrap="none" anchor="ctr"/>
                <a:lstStyle/>
                <a:p>
                  <a:endParaRPr lang="zh-CN" altLang="en-US"/>
                </a:p>
              </p:txBody>
            </p:sp>
            <p:sp>
              <p:nvSpPr>
                <p:cNvPr id="5234" name="Text Box 118"/>
                <p:cNvSpPr txBox="1">
                  <a:spLocks noChangeArrowheads="1"/>
                </p:cNvSpPr>
                <p:nvPr/>
              </p:nvSpPr>
              <p:spPr bwMode="auto">
                <a:xfrm>
                  <a:off x="4042" y="2472"/>
                  <a:ext cx="196"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FF"/>
                      </a:solidFill>
                    </a:rPr>
                    <a:t>x</a:t>
                  </a:r>
                </a:p>
              </p:txBody>
            </p:sp>
            <p:sp>
              <p:nvSpPr>
                <p:cNvPr id="5235" name="Text Box 119"/>
                <p:cNvSpPr txBox="1">
                  <a:spLocks noChangeArrowheads="1"/>
                </p:cNvSpPr>
                <p:nvPr/>
              </p:nvSpPr>
              <p:spPr bwMode="auto">
                <a:xfrm>
                  <a:off x="3504" y="1310"/>
                  <a:ext cx="187"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FF"/>
                      </a:solidFill>
                    </a:rPr>
                    <a:t>y</a:t>
                  </a:r>
                </a:p>
              </p:txBody>
            </p:sp>
          </p:grpSp>
          <p:sp>
            <p:nvSpPr>
              <p:cNvPr id="5229" name="Rectangle 120"/>
              <p:cNvSpPr>
                <a:spLocks noChangeArrowheads="1"/>
              </p:cNvSpPr>
              <p:nvPr/>
            </p:nvSpPr>
            <p:spPr bwMode="auto">
              <a:xfrm>
                <a:off x="3560" y="2500"/>
                <a:ext cx="113" cy="57"/>
              </a:xfrm>
              <a:prstGeom prst="rect">
                <a:avLst/>
              </a:prstGeom>
              <a:solidFill>
                <a:srgbClr val="800080"/>
              </a:solidFill>
              <a:ln w="9525">
                <a:solidFill>
                  <a:srgbClr val="800080"/>
                </a:solidFill>
                <a:miter lim="800000"/>
                <a:headEnd/>
                <a:tailEnd/>
              </a:ln>
            </p:spPr>
            <p:txBody>
              <a:bodyPr wrap="none" anchor="ctr"/>
              <a:lstStyle/>
              <a:p>
                <a:endParaRPr lang="zh-CN" altLang="en-US"/>
              </a:p>
            </p:txBody>
          </p:sp>
        </p:grpSp>
        <p:sp>
          <p:nvSpPr>
            <p:cNvPr id="5227" name="Text Box 121"/>
            <p:cNvSpPr txBox="1">
              <a:spLocks noChangeArrowheads="1"/>
            </p:cNvSpPr>
            <p:nvPr/>
          </p:nvSpPr>
          <p:spPr bwMode="auto">
            <a:xfrm>
              <a:off x="3403" y="2234"/>
              <a:ext cx="271"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CC"/>
                  </a:solidFill>
                </a:rPr>
                <a:t>A</a:t>
              </a:r>
              <a:r>
                <a:rPr lang="en-US" altLang="zh-CN" b="1"/>
                <a:t> </a:t>
              </a:r>
              <a:endParaRPr lang="en-US" altLang="zh-CN" sz="2800" b="1" i="1">
                <a:solidFill>
                  <a:schemeClr val="bg1"/>
                </a:solidFill>
              </a:endParaRPr>
            </a:p>
          </p:txBody>
        </p:sp>
      </p:grpSp>
      <p:grpSp>
        <p:nvGrpSpPr>
          <p:cNvPr id="19" name="Group 122"/>
          <p:cNvGrpSpPr>
            <a:grpSpLocks/>
          </p:cNvGrpSpPr>
          <p:nvPr/>
        </p:nvGrpSpPr>
        <p:grpSpPr bwMode="auto">
          <a:xfrm>
            <a:off x="6357938" y="4572000"/>
            <a:ext cx="584200" cy="1562100"/>
            <a:chOff x="4005" y="2880"/>
            <a:chExt cx="368" cy="984"/>
          </a:xfrm>
        </p:grpSpPr>
        <p:sp>
          <p:nvSpPr>
            <p:cNvPr id="5221" name="Line 123"/>
            <p:cNvSpPr>
              <a:spLocks noChangeShapeType="1"/>
            </p:cNvSpPr>
            <p:nvPr/>
          </p:nvSpPr>
          <p:spPr bwMode="auto">
            <a:xfrm>
              <a:off x="4005" y="3221"/>
              <a:ext cx="349" cy="0"/>
            </a:xfrm>
            <a:prstGeom prst="line">
              <a:avLst/>
            </a:prstGeom>
            <a:noFill/>
            <a:ln w="57150">
              <a:solidFill>
                <a:srgbClr val="009900"/>
              </a:solidFill>
              <a:round/>
              <a:headEnd/>
              <a:tailEnd/>
            </a:ln>
          </p:spPr>
          <p:txBody>
            <a:bodyPr wrap="none" anchor="ctr"/>
            <a:lstStyle/>
            <a:p>
              <a:endParaRPr lang="zh-CN" altLang="en-US"/>
            </a:p>
          </p:txBody>
        </p:sp>
        <p:grpSp>
          <p:nvGrpSpPr>
            <p:cNvPr id="5222" name="Group 124"/>
            <p:cNvGrpSpPr>
              <a:grpSpLocks/>
            </p:cNvGrpSpPr>
            <p:nvPr/>
          </p:nvGrpSpPr>
          <p:grpSpPr bwMode="auto">
            <a:xfrm>
              <a:off x="4014" y="2880"/>
              <a:ext cx="359" cy="984"/>
              <a:chOff x="3985" y="2925"/>
              <a:chExt cx="359" cy="984"/>
            </a:xfrm>
          </p:grpSpPr>
          <p:sp>
            <p:nvSpPr>
              <p:cNvPr id="5223" name="Text Box 125"/>
              <p:cNvSpPr txBox="1">
                <a:spLocks noChangeArrowheads="1"/>
              </p:cNvSpPr>
              <p:nvPr/>
            </p:nvSpPr>
            <p:spPr bwMode="auto">
              <a:xfrm>
                <a:off x="4042" y="2925"/>
                <a:ext cx="302" cy="279"/>
              </a:xfrm>
              <a:prstGeom prst="rect">
                <a:avLst/>
              </a:prstGeom>
              <a:solidFill>
                <a:schemeClr val="accent1"/>
              </a:solidFill>
              <a:ln w="9525">
                <a:noFill/>
                <a:miter lim="800000"/>
                <a:headEnd/>
                <a:tailEnd/>
              </a:ln>
            </p:spPr>
            <p:txBody>
              <a:bodyPr wrap="none">
                <a:spAutoFit/>
              </a:bodyPr>
              <a:lstStyle/>
              <a:p>
                <a:pPr algn="l">
                  <a:lnSpc>
                    <a:spcPct val="115000"/>
                  </a:lnSpc>
                </a:pPr>
                <a:r>
                  <a:rPr lang="en-US" altLang="zh-CN" sz="2000" b="1" i="1">
                    <a:solidFill>
                      <a:srgbClr val="009900"/>
                    </a:solidFill>
                  </a:rPr>
                  <a:t>M'</a:t>
                </a:r>
                <a:endParaRPr lang="en-US" altLang="zh-CN" sz="2000">
                  <a:solidFill>
                    <a:srgbClr val="009900"/>
                  </a:solidFill>
                </a:endParaRPr>
              </a:p>
            </p:txBody>
          </p:sp>
          <p:sp>
            <p:nvSpPr>
              <p:cNvPr id="5224" name="Line 126"/>
              <p:cNvSpPr>
                <a:spLocks noChangeShapeType="1"/>
              </p:cNvSpPr>
              <p:nvPr/>
            </p:nvSpPr>
            <p:spPr bwMode="auto">
              <a:xfrm>
                <a:off x="4004" y="3909"/>
                <a:ext cx="280" cy="0"/>
              </a:xfrm>
              <a:prstGeom prst="line">
                <a:avLst/>
              </a:prstGeom>
              <a:noFill/>
              <a:ln w="12700">
                <a:solidFill>
                  <a:schemeClr val="bg1"/>
                </a:solidFill>
                <a:round/>
                <a:headEnd/>
                <a:tailEnd/>
              </a:ln>
            </p:spPr>
            <p:txBody>
              <a:bodyPr wrap="none" anchor="ctr"/>
              <a:lstStyle/>
              <a:p>
                <a:endParaRPr lang="zh-CN" altLang="en-US"/>
              </a:p>
            </p:txBody>
          </p:sp>
          <p:sp>
            <p:nvSpPr>
              <p:cNvPr id="5225" name="Line 127"/>
              <p:cNvSpPr>
                <a:spLocks noChangeShapeType="1"/>
              </p:cNvSpPr>
              <p:nvPr/>
            </p:nvSpPr>
            <p:spPr bwMode="auto">
              <a:xfrm>
                <a:off x="4144" y="3237"/>
                <a:ext cx="0" cy="672"/>
              </a:xfrm>
              <a:prstGeom prst="line">
                <a:avLst/>
              </a:prstGeom>
              <a:noFill/>
              <a:ln w="19050">
                <a:solidFill>
                  <a:schemeClr val="bg1"/>
                </a:solidFill>
                <a:prstDash val="dash"/>
                <a:round/>
                <a:headEnd type="triangle" w="med" len="lg"/>
                <a:tailEnd type="triangle" w="med" len="lg"/>
              </a:ln>
            </p:spPr>
            <p:txBody>
              <a:bodyPr wrap="none" anchor="ctr"/>
              <a:lstStyle/>
              <a:p>
                <a:endParaRPr lang="zh-CN" altLang="en-US"/>
              </a:p>
            </p:txBody>
          </p:sp>
          <p:graphicFrame>
            <p:nvGraphicFramePr>
              <p:cNvPr id="5130" name="Object 128"/>
              <p:cNvGraphicFramePr>
                <a:graphicFrameLocks noChangeAspect="1"/>
              </p:cNvGraphicFramePr>
              <p:nvPr/>
            </p:nvGraphicFramePr>
            <p:xfrm>
              <a:off x="3985" y="3503"/>
              <a:ext cx="143" cy="188"/>
            </p:xfrm>
            <a:graphic>
              <a:graphicData uri="http://schemas.openxmlformats.org/presentationml/2006/ole">
                <p:oleObj spid="_x0000_s5130" name="Equation" r:id="rId11" imgW="139579" imgH="177646" progId="">
                  <p:embed/>
                </p:oleObj>
              </a:graphicData>
            </a:graphic>
          </p:graphicFrame>
        </p:grpSp>
      </p:grpSp>
      <p:grpSp>
        <p:nvGrpSpPr>
          <p:cNvPr id="21" name="Group 129"/>
          <p:cNvGrpSpPr>
            <a:grpSpLocks/>
          </p:cNvGrpSpPr>
          <p:nvPr/>
        </p:nvGrpSpPr>
        <p:grpSpPr bwMode="auto">
          <a:xfrm>
            <a:off x="4346575" y="4194175"/>
            <a:ext cx="2070100" cy="2312988"/>
            <a:chOff x="4456" y="1270"/>
            <a:chExt cx="1304" cy="1457"/>
          </a:xfrm>
        </p:grpSpPr>
        <p:sp>
          <p:nvSpPr>
            <p:cNvPr id="5199" name="Text Box 130"/>
            <p:cNvSpPr txBox="1">
              <a:spLocks noChangeArrowheads="1"/>
            </p:cNvSpPr>
            <p:nvPr/>
          </p:nvSpPr>
          <p:spPr bwMode="auto">
            <a:xfrm>
              <a:off x="4811" y="1508"/>
              <a:ext cx="297"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S'</a:t>
              </a:r>
              <a:r>
                <a:rPr lang="en-US" altLang="zh-CN" b="1"/>
                <a:t> </a:t>
              </a:r>
            </a:p>
          </p:txBody>
        </p:sp>
        <p:sp>
          <p:nvSpPr>
            <p:cNvPr id="5200" name="Text Box 131"/>
            <p:cNvSpPr txBox="1">
              <a:spLocks noChangeArrowheads="1"/>
            </p:cNvSpPr>
            <p:nvPr/>
          </p:nvSpPr>
          <p:spPr bwMode="auto">
            <a:xfrm>
              <a:off x="4779" y="2404"/>
              <a:ext cx="324"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O'</a:t>
              </a:r>
              <a:r>
                <a:rPr lang="en-US" altLang="zh-CN" b="1"/>
                <a:t> </a:t>
              </a:r>
              <a:endParaRPr lang="en-US" altLang="zh-CN" sz="2800" b="1" i="1">
                <a:solidFill>
                  <a:schemeClr val="bg1"/>
                </a:solidFill>
              </a:endParaRPr>
            </a:p>
          </p:txBody>
        </p:sp>
        <p:sp>
          <p:nvSpPr>
            <p:cNvPr id="5201" name="Line 132"/>
            <p:cNvSpPr>
              <a:spLocks noChangeShapeType="1"/>
            </p:cNvSpPr>
            <p:nvPr/>
          </p:nvSpPr>
          <p:spPr bwMode="auto">
            <a:xfrm flipV="1">
              <a:off x="5060" y="1480"/>
              <a:ext cx="1" cy="1008"/>
            </a:xfrm>
            <a:prstGeom prst="line">
              <a:avLst/>
            </a:prstGeom>
            <a:noFill/>
            <a:ln w="28575">
              <a:solidFill>
                <a:schemeClr val="bg1"/>
              </a:solidFill>
              <a:round/>
              <a:headEnd/>
              <a:tailEnd type="stealth" w="med" len="lg"/>
            </a:ln>
          </p:spPr>
          <p:txBody>
            <a:bodyPr wrap="none" anchor="ctr"/>
            <a:lstStyle/>
            <a:p>
              <a:endParaRPr lang="zh-CN" altLang="en-US"/>
            </a:p>
          </p:txBody>
        </p:sp>
        <p:sp>
          <p:nvSpPr>
            <p:cNvPr id="5202" name="Line 133"/>
            <p:cNvSpPr>
              <a:spLocks noChangeShapeType="1"/>
            </p:cNvSpPr>
            <p:nvPr/>
          </p:nvSpPr>
          <p:spPr bwMode="auto">
            <a:xfrm>
              <a:off x="5058" y="2496"/>
              <a:ext cx="589" cy="0"/>
            </a:xfrm>
            <a:prstGeom prst="line">
              <a:avLst/>
            </a:prstGeom>
            <a:noFill/>
            <a:ln w="28575">
              <a:solidFill>
                <a:schemeClr val="bg1"/>
              </a:solidFill>
              <a:round/>
              <a:headEnd/>
              <a:tailEnd type="stealth" w="med" len="lg"/>
            </a:ln>
          </p:spPr>
          <p:txBody>
            <a:bodyPr wrap="none" anchor="ctr"/>
            <a:lstStyle/>
            <a:p>
              <a:endParaRPr lang="zh-CN" altLang="en-US"/>
            </a:p>
          </p:txBody>
        </p:sp>
        <p:grpSp>
          <p:nvGrpSpPr>
            <p:cNvPr id="5203" name="Group 134"/>
            <p:cNvGrpSpPr>
              <a:grpSpLocks/>
            </p:cNvGrpSpPr>
            <p:nvPr/>
          </p:nvGrpSpPr>
          <p:grpSpPr bwMode="auto">
            <a:xfrm>
              <a:off x="4768" y="1683"/>
              <a:ext cx="933" cy="279"/>
              <a:chOff x="3488" y="1593"/>
              <a:chExt cx="933" cy="279"/>
            </a:xfrm>
          </p:grpSpPr>
          <p:grpSp>
            <p:nvGrpSpPr>
              <p:cNvPr id="5212" name="Group 135"/>
              <p:cNvGrpSpPr>
                <a:grpSpLocks/>
              </p:cNvGrpSpPr>
              <p:nvPr/>
            </p:nvGrpSpPr>
            <p:grpSpPr bwMode="auto">
              <a:xfrm>
                <a:off x="3488" y="1674"/>
                <a:ext cx="624" cy="96"/>
                <a:chOff x="4545" y="1955"/>
                <a:chExt cx="624" cy="96"/>
              </a:xfrm>
            </p:grpSpPr>
            <p:sp>
              <p:nvSpPr>
                <p:cNvPr id="5214" name="Line 136"/>
                <p:cNvSpPr>
                  <a:spLocks noChangeShapeType="1"/>
                </p:cNvSpPr>
                <p:nvPr/>
              </p:nvSpPr>
              <p:spPr bwMode="auto">
                <a:xfrm>
                  <a:off x="4545" y="2051"/>
                  <a:ext cx="576" cy="0"/>
                </a:xfrm>
                <a:prstGeom prst="line">
                  <a:avLst/>
                </a:prstGeom>
                <a:noFill/>
                <a:ln w="57150">
                  <a:solidFill>
                    <a:srgbClr val="009900"/>
                  </a:solidFill>
                  <a:round/>
                  <a:headEnd/>
                  <a:tailEnd/>
                </a:ln>
              </p:spPr>
              <p:txBody>
                <a:bodyPr wrap="none" anchor="ctr"/>
                <a:lstStyle/>
                <a:p>
                  <a:endParaRPr lang="zh-CN" altLang="en-US"/>
                </a:p>
              </p:txBody>
            </p:sp>
            <p:sp>
              <p:nvSpPr>
                <p:cNvPr id="5215" name="Line 137"/>
                <p:cNvSpPr>
                  <a:spLocks noChangeShapeType="1"/>
                </p:cNvSpPr>
                <p:nvPr/>
              </p:nvSpPr>
              <p:spPr bwMode="auto">
                <a:xfrm flipV="1">
                  <a:off x="4929" y="1955"/>
                  <a:ext cx="144" cy="96"/>
                </a:xfrm>
                <a:prstGeom prst="line">
                  <a:avLst/>
                </a:prstGeom>
                <a:noFill/>
                <a:ln w="9525">
                  <a:solidFill>
                    <a:srgbClr val="009900"/>
                  </a:solidFill>
                  <a:round/>
                  <a:headEnd/>
                  <a:tailEnd/>
                </a:ln>
              </p:spPr>
              <p:txBody>
                <a:bodyPr wrap="none" anchor="ctr"/>
                <a:lstStyle/>
                <a:p>
                  <a:endParaRPr lang="zh-CN" altLang="en-US"/>
                </a:p>
              </p:txBody>
            </p:sp>
            <p:sp>
              <p:nvSpPr>
                <p:cNvPr id="5216" name="Line 138"/>
                <p:cNvSpPr>
                  <a:spLocks noChangeShapeType="1"/>
                </p:cNvSpPr>
                <p:nvPr/>
              </p:nvSpPr>
              <p:spPr bwMode="auto">
                <a:xfrm flipV="1">
                  <a:off x="4545" y="1955"/>
                  <a:ext cx="144" cy="96"/>
                </a:xfrm>
                <a:prstGeom prst="line">
                  <a:avLst/>
                </a:prstGeom>
                <a:noFill/>
                <a:ln w="9525">
                  <a:solidFill>
                    <a:srgbClr val="009900"/>
                  </a:solidFill>
                  <a:round/>
                  <a:headEnd/>
                  <a:tailEnd/>
                </a:ln>
              </p:spPr>
              <p:txBody>
                <a:bodyPr wrap="none" anchor="ctr"/>
                <a:lstStyle/>
                <a:p>
                  <a:endParaRPr lang="zh-CN" altLang="en-US"/>
                </a:p>
              </p:txBody>
            </p:sp>
            <p:sp>
              <p:nvSpPr>
                <p:cNvPr id="5217" name="Line 139"/>
                <p:cNvSpPr>
                  <a:spLocks noChangeShapeType="1"/>
                </p:cNvSpPr>
                <p:nvPr/>
              </p:nvSpPr>
              <p:spPr bwMode="auto">
                <a:xfrm flipV="1">
                  <a:off x="4641" y="1955"/>
                  <a:ext cx="144" cy="96"/>
                </a:xfrm>
                <a:prstGeom prst="line">
                  <a:avLst/>
                </a:prstGeom>
                <a:noFill/>
                <a:ln w="9525">
                  <a:solidFill>
                    <a:srgbClr val="009900"/>
                  </a:solidFill>
                  <a:round/>
                  <a:headEnd/>
                  <a:tailEnd/>
                </a:ln>
              </p:spPr>
              <p:txBody>
                <a:bodyPr wrap="none" anchor="ctr"/>
                <a:lstStyle/>
                <a:p>
                  <a:endParaRPr lang="zh-CN" altLang="en-US"/>
                </a:p>
              </p:txBody>
            </p:sp>
            <p:sp>
              <p:nvSpPr>
                <p:cNvPr id="5218" name="Line 140"/>
                <p:cNvSpPr>
                  <a:spLocks noChangeShapeType="1"/>
                </p:cNvSpPr>
                <p:nvPr/>
              </p:nvSpPr>
              <p:spPr bwMode="auto">
                <a:xfrm flipV="1">
                  <a:off x="4737" y="1955"/>
                  <a:ext cx="144" cy="96"/>
                </a:xfrm>
                <a:prstGeom prst="line">
                  <a:avLst/>
                </a:prstGeom>
                <a:noFill/>
                <a:ln w="9525">
                  <a:solidFill>
                    <a:srgbClr val="009900"/>
                  </a:solidFill>
                  <a:round/>
                  <a:headEnd/>
                  <a:tailEnd/>
                </a:ln>
              </p:spPr>
              <p:txBody>
                <a:bodyPr wrap="none" anchor="ctr"/>
                <a:lstStyle/>
                <a:p>
                  <a:endParaRPr lang="zh-CN" altLang="en-US"/>
                </a:p>
              </p:txBody>
            </p:sp>
            <p:sp>
              <p:nvSpPr>
                <p:cNvPr id="5219" name="Line 141"/>
                <p:cNvSpPr>
                  <a:spLocks noChangeShapeType="1"/>
                </p:cNvSpPr>
                <p:nvPr/>
              </p:nvSpPr>
              <p:spPr bwMode="auto">
                <a:xfrm flipV="1">
                  <a:off x="5025" y="1955"/>
                  <a:ext cx="144" cy="96"/>
                </a:xfrm>
                <a:prstGeom prst="line">
                  <a:avLst/>
                </a:prstGeom>
                <a:noFill/>
                <a:ln w="9525">
                  <a:solidFill>
                    <a:srgbClr val="009900"/>
                  </a:solidFill>
                  <a:round/>
                  <a:headEnd/>
                  <a:tailEnd/>
                </a:ln>
              </p:spPr>
              <p:txBody>
                <a:bodyPr wrap="none" anchor="ctr"/>
                <a:lstStyle/>
                <a:p>
                  <a:endParaRPr lang="zh-CN" altLang="en-US"/>
                </a:p>
              </p:txBody>
            </p:sp>
            <p:sp>
              <p:nvSpPr>
                <p:cNvPr id="5220" name="Line 142"/>
                <p:cNvSpPr>
                  <a:spLocks noChangeShapeType="1"/>
                </p:cNvSpPr>
                <p:nvPr/>
              </p:nvSpPr>
              <p:spPr bwMode="auto">
                <a:xfrm flipV="1">
                  <a:off x="4833" y="1955"/>
                  <a:ext cx="144" cy="96"/>
                </a:xfrm>
                <a:prstGeom prst="line">
                  <a:avLst/>
                </a:prstGeom>
                <a:noFill/>
                <a:ln w="9525">
                  <a:solidFill>
                    <a:srgbClr val="009900"/>
                  </a:solidFill>
                  <a:round/>
                  <a:headEnd/>
                  <a:tailEnd/>
                </a:ln>
              </p:spPr>
              <p:txBody>
                <a:bodyPr wrap="none" anchor="ctr"/>
                <a:lstStyle/>
                <a:p>
                  <a:endParaRPr lang="zh-CN" altLang="en-US"/>
                </a:p>
              </p:txBody>
            </p:sp>
          </p:grpSp>
          <p:sp>
            <p:nvSpPr>
              <p:cNvPr id="5213" name="Text Box 143"/>
              <p:cNvSpPr txBox="1">
                <a:spLocks noChangeArrowheads="1"/>
              </p:cNvSpPr>
              <p:nvPr/>
            </p:nvSpPr>
            <p:spPr bwMode="auto">
              <a:xfrm>
                <a:off x="4119" y="1593"/>
                <a:ext cx="302" cy="279"/>
              </a:xfrm>
              <a:prstGeom prst="rect">
                <a:avLst/>
              </a:prstGeom>
              <a:solidFill>
                <a:schemeClr val="accent1"/>
              </a:solidFill>
              <a:ln w="9525">
                <a:noFill/>
                <a:miter lim="800000"/>
                <a:headEnd/>
                <a:tailEnd/>
              </a:ln>
            </p:spPr>
            <p:txBody>
              <a:bodyPr wrap="none">
                <a:spAutoFit/>
              </a:bodyPr>
              <a:lstStyle/>
              <a:p>
                <a:pPr algn="l">
                  <a:lnSpc>
                    <a:spcPct val="115000"/>
                  </a:lnSpc>
                </a:pPr>
                <a:r>
                  <a:rPr lang="en-US" altLang="zh-CN" sz="2000" b="1" i="1">
                    <a:solidFill>
                      <a:srgbClr val="009900"/>
                    </a:solidFill>
                  </a:rPr>
                  <a:t>M'</a:t>
                </a:r>
                <a:endParaRPr lang="en-US" altLang="zh-CN" sz="2000">
                  <a:solidFill>
                    <a:srgbClr val="009900"/>
                  </a:solidFill>
                </a:endParaRPr>
              </a:p>
            </p:txBody>
          </p:sp>
        </p:grpSp>
        <p:sp>
          <p:nvSpPr>
            <p:cNvPr id="5204" name="Line 144"/>
            <p:cNvSpPr>
              <a:spLocks noChangeShapeType="1"/>
            </p:cNvSpPr>
            <p:nvPr/>
          </p:nvSpPr>
          <p:spPr bwMode="auto">
            <a:xfrm>
              <a:off x="4475" y="2520"/>
              <a:ext cx="280" cy="0"/>
            </a:xfrm>
            <a:prstGeom prst="line">
              <a:avLst/>
            </a:prstGeom>
            <a:noFill/>
            <a:ln w="9525">
              <a:noFill/>
              <a:round/>
              <a:headEnd/>
              <a:tailEnd/>
            </a:ln>
          </p:spPr>
          <p:txBody>
            <a:bodyPr wrap="none" anchor="ctr"/>
            <a:lstStyle/>
            <a:p>
              <a:endParaRPr lang="zh-CN" altLang="en-US"/>
            </a:p>
          </p:txBody>
        </p:sp>
        <p:sp>
          <p:nvSpPr>
            <p:cNvPr id="5205" name="Line 145"/>
            <p:cNvSpPr>
              <a:spLocks noChangeShapeType="1"/>
            </p:cNvSpPr>
            <p:nvPr/>
          </p:nvSpPr>
          <p:spPr bwMode="auto">
            <a:xfrm flipV="1">
              <a:off x="4475" y="1848"/>
              <a:ext cx="280" cy="0"/>
            </a:xfrm>
            <a:prstGeom prst="line">
              <a:avLst/>
            </a:prstGeom>
            <a:noFill/>
            <a:ln w="9525">
              <a:noFill/>
              <a:round/>
              <a:headEnd/>
              <a:tailEnd/>
            </a:ln>
          </p:spPr>
          <p:txBody>
            <a:bodyPr wrap="none" anchor="ctr"/>
            <a:lstStyle/>
            <a:p>
              <a:endParaRPr lang="zh-CN" altLang="en-US"/>
            </a:p>
          </p:txBody>
        </p:sp>
        <p:sp>
          <p:nvSpPr>
            <p:cNvPr id="5206" name="Line 146"/>
            <p:cNvSpPr>
              <a:spLocks noChangeShapeType="1"/>
            </p:cNvSpPr>
            <p:nvPr/>
          </p:nvSpPr>
          <p:spPr bwMode="auto">
            <a:xfrm>
              <a:off x="4615" y="1848"/>
              <a:ext cx="0" cy="672"/>
            </a:xfrm>
            <a:prstGeom prst="line">
              <a:avLst/>
            </a:prstGeom>
            <a:noFill/>
            <a:ln w="9525">
              <a:noFill/>
              <a:round/>
              <a:headEnd/>
              <a:tailEnd/>
            </a:ln>
          </p:spPr>
          <p:txBody>
            <a:bodyPr wrap="none" anchor="ctr"/>
            <a:lstStyle/>
            <a:p>
              <a:endParaRPr lang="zh-CN" altLang="en-US"/>
            </a:p>
          </p:txBody>
        </p:sp>
        <p:graphicFrame>
          <p:nvGraphicFramePr>
            <p:cNvPr id="5128" name="Object 147"/>
            <p:cNvGraphicFramePr>
              <a:graphicFrameLocks noChangeAspect="1"/>
            </p:cNvGraphicFramePr>
            <p:nvPr/>
          </p:nvGraphicFramePr>
          <p:xfrm>
            <a:off x="4456" y="2114"/>
            <a:ext cx="143" cy="188"/>
          </p:xfrm>
          <a:graphic>
            <a:graphicData uri="http://schemas.openxmlformats.org/presentationml/2006/ole">
              <p:oleObj spid="_x0000_s5128" name="Equation" r:id="rId12" imgW="139579" imgH="177646" progId="">
                <p:embed/>
              </p:oleObj>
            </a:graphicData>
          </a:graphic>
        </p:graphicFrame>
        <p:sp>
          <p:nvSpPr>
            <p:cNvPr id="5207" name="Line 148"/>
            <p:cNvSpPr>
              <a:spLocks noChangeShapeType="1"/>
            </p:cNvSpPr>
            <p:nvPr/>
          </p:nvSpPr>
          <p:spPr bwMode="auto">
            <a:xfrm>
              <a:off x="5080" y="1698"/>
              <a:ext cx="538" cy="5"/>
            </a:xfrm>
            <a:prstGeom prst="line">
              <a:avLst/>
            </a:prstGeom>
            <a:noFill/>
            <a:ln w="28575">
              <a:solidFill>
                <a:schemeClr val="hlink"/>
              </a:solidFill>
              <a:round/>
              <a:headEnd type="none" w="sm" len="sm"/>
              <a:tailEnd type="triangle" w="med" len="lg"/>
            </a:ln>
          </p:spPr>
          <p:txBody>
            <a:bodyPr wrap="none" anchor="ctr"/>
            <a:lstStyle/>
            <a:p>
              <a:endParaRPr lang="zh-CN" altLang="en-US"/>
            </a:p>
          </p:txBody>
        </p:sp>
        <p:graphicFrame>
          <p:nvGraphicFramePr>
            <p:cNvPr id="5129" name="Object 149"/>
            <p:cNvGraphicFramePr>
              <a:graphicFrameLocks noChangeAspect="1"/>
            </p:cNvGraphicFramePr>
            <p:nvPr/>
          </p:nvGraphicFramePr>
          <p:xfrm>
            <a:off x="5250" y="1451"/>
            <a:ext cx="173" cy="255"/>
          </p:xfrm>
          <a:graphic>
            <a:graphicData uri="http://schemas.openxmlformats.org/presentationml/2006/ole">
              <p:oleObj spid="_x0000_s5129" name="Equation" r:id="rId13" imgW="139579" imgH="177646" progId="">
                <p:embed/>
              </p:oleObj>
            </a:graphicData>
          </a:graphic>
        </p:graphicFrame>
        <p:sp>
          <p:nvSpPr>
            <p:cNvPr id="5208" name="Text Box 150"/>
            <p:cNvSpPr txBox="1">
              <a:spLocks noChangeArrowheads="1"/>
            </p:cNvSpPr>
            <p:nvPr/>
          </p:nvSpPr>
          <p:spPr bwMode="auto">
            <a:xfrm>
              <a:off x="5472" y="2387"/>
              <a:ext cx="288"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x'</a:t>
              </a:r>
              <a:r>
                <a:rPr lang="en-US" altLang="zh-CN" b="1"/>
                <a:t> </a:t>
              </a:r>
              <a:endParaRPr lang="en-US" altLang="zh-CN" sz="2800" b="1" i="1">
                <a:solidFill>
                  <a:schemeClr val="bg1"/>
                </a:solidFill>
              </a:endParaRPr>
            </a:p>
          </p:txBody>
        </p:sp>
        <p:sp>
          <p:nvSpPr>
            <p:cNvPr id="5209" name="Text Box 151"/>
            <p:cNvSpPr txBox="1">
              <a:spLocks noChangeArrowheads="1"/>
            </p:cNvSpPr>
            <p:nvPr/>
          </p:nvSpPr>
          <p:spPr bwMode="auto">
            <a:xfrm>
              <a:off x="4869" y="1270"/>
              <a:ext cx="279"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y'</a:t>
              </a:r>
              <a:r>
                <a:rPr lang="en-US" altLang="zh-CN" b="1"/>
                <a:t> </a:t>
              </a:r>
            </a:p>
          </p:txBody>
        </p:sp>
        <p:sp>
          <p:nvSpPr>
            <p:cNvPr id="5210" name="Rectangle 152"/>
            <p:cNvSpPr>
              <a:spLocks noChangeArrowheads="1"/>
            </p:cNvSpPr>
            <p:nvPr/>
          </p:nvSpPr>
          <p:spPr bwMode="auto">
            <a:xfrm>
              <a:off x="5007" y="2443"/>
              <a:ext cx="113" cy="57"/>
            </a:xfrm>
            <a:prstGeom prst="rect">
              <a:avLst/>
            </a:prstGeom>
            <a:solidFill>
              <a:srgbClr val="800080"/>
            </a:solidFill>
            <a:ln w="9525">
              <a:solidFill>
                <a:srgbClr val="800080"/>
              </a:solidFill>
              <a:miter lim="800000"/>
              <a:headEnd/>
              <a:tailEnd/>
            </a:ln>
          </p:spPr>
          <p:txBody>
            <a:bodyPr wrap="none" anchor="ctr"/>
            <a:lstStyle/>
            <a:p>
              <a:endParaRPr lang="zh-CN" altLang="en-US"/>
            </a:p>
          </p:txBody>
        </p:sp>
        <p:sp>
          <p:nvSpPr>
            <p:cNvPr id="5211" name="Text Box 153"/>
            <p:cNvSpPr txBox="1">
              <a:spLocks noChangeArrowheads="1"/>
            </p:cNvSpPr>
            <p:nvPr/>
          </p:nvSpPr>
          <p:spPr bwMode="auto">
            <a:xfrm>
              <a:off x="4779" y="2206"/>
              <a:ext cx="315"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A'</a:t>
              </a:r>
              <a:r>
                <a:rPr lang="en-US" altLang="zh-CN" b="1"/>
                <a:t> </a:t>
              </a:r>
              <a:endParaRPr lang="en-US" altLang="zh-CN" sz="2800" b="1" i="1">
                <a:solidFill>
                  <a:schemeClr val="bg1"/>
                </a:solidFill>
              </a:endParaRPr>
            </a:p>
          </p:txBody>
        </p:sp>
      </p:grpSp>
      <p:sp>
        <p:nvSpPr>
          <p:cNvPr id="170138" name="AutoShape 154"/>
          <p:cNvSpPr>
            <a:spLocks noChangeArrowheads="1"/>
          </p:cNvSpPr>
          <p:nvPr/>
        </p:nvSpPr>
        <p:spPr bwMode="auto">
          <a:xfrm>
            <a:off x="5111750" y="5949950"/>
            <a:ext cx="360363" cy="360363"/>
          </a:xfrm>
          <a:prstGeom prst="star8">
            <a:avLst>
              <a:gd name="adj" fmla="val 17185"/>
            </a:avLst>
          </a:prstGeom>
          <a:solidFill>
            <a:schemeClr val="hlink">
              <a:alpha val="41960"/>
            </a:schemeClr>
          </a:solidFill>
          <a:ln w="3175">
            <a:solidFill>
              <a:srgbClr val="FF0000">
                <a:alpha val="70195"/>
              </a:srgbClr>
            </a:solidFill>
            <a:miter lim="800000"/>
            <a:headEnd/>
            <a:tailEnd/>
          </a:ln>
        </p:spPr>
        <p:txBody>
          <a:bodyPr wrap="none" anchor="ctr"/>
          <a:lstStyle/>
          <a:p>
            <a:endParaRPr lang="zh-CN" altLang="en-US"/>
          </a:p>
        </p:txBody>
      </p:sp>
      <p:grpSp>
        <p:nvGrpSpPr>
          <p:cNvPr id="24" name="Group 155"/>
          <p:cNvGrpSpPr>
            <a:grpSpLocks/>
          </p:cNvGrpSpPr>
          <p:nvPr/>
        </p:nvGrpSpPr>
        <p:grpSpPr bwMode="auto">
          <a:xfrm>
            <a:off x="6911975" y="4194175"/>
            <a:ext cx="2070100" cy="2312988"/>
            <a:chOff x="4456" y="1270"/>
            <a:chExt cx="1304" cy="1457"/>
          </a:xfrm>
        </p:grpSpPr>
        <p:sp>
          <p:nvSpPr>
            <p:cNvPr id="5177" name="Text Box 156"/>
            <p:cNvSpPr txBox="1">
              <a:spLocks noChangeArrowheads="1"/>
            </p:cNvSpPr>
            <p:nvPr/>
          </p:nvSpPr>
          <p:spPr bwMode="auto">
            <a:xfrm>
              <a:off x="4811" y="1508"/>
              <a:ext cx="297"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S'</a:t>
              </a:r>
              <a:r>
                <a:rPr lang="en-US" altLang="zh-CN" b="1"/>
                <a:t> </a:t>
              </a:r>
            </a:p>
          </p:txBody>
        </p:sp>
        <p:sp>
          <p:nvSpPr>
            <p:cNvPr id="5178" name="Text Box 157"/>
            <p:cNvSpPr txBox="1">
              <a:spLocks noChangeArrowheads="1"/>
            </p:cNvSpPr>
            <p:nvPr/>
          </p:nvSpPr>
          <p:spPr bwMode="auto">
            <a:xfrm>
              <a:off x="4779" y="2404"/>
              <a:ext cx="324"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O'</a:t>
              </a:r>
              <a:r>
                <a:rPr lang="en-US" altLang="zh-CN" b="1"/>
                <a:t> </a:t>
              </a:r>
              <a:endParaRPr lang="en-US" altLang="zh-CN" sz="2800" b="1" i="1">
                <a:solidFill>
                  <a:schemeClr val="bg1"/>
                </a:solidFill>
              </a:endParaRPr>
            </a:p>
          </p:txBody>
        </p:sp>
        <p:sp>
          <p:nvSpPr>
            <p:cNvPr id="5179" name="Line 158"/>
            <p:cNvSpPr>
              <a:spLocks noChangeShapeType="1"/>
            </p:cNvSpPr>
            <p:nvPr/>
          </p:nvSpPr>
          <p:spPr bwMode="auto">
            <a:xfrm flipV="1">
              <a:off x="5060" y="1480"/>
              <a:ext cx="1" cy="1008"/>
            </a:xfrm>
            <a:prstGeom prst="line">
              <a:avLst/>
            </a:prstGeom>
            <a:noFill/>
            <a:ln w="28575">
              <a:solidFill>
                <a:schemeClr val="bg1"/>
              </a:solidFill>
              <a:round/>
              <a:headEnd/>
              <a:tailEnd type="stealth" w="med" len="lg"/>
            </a:ln>
          </p:spPr>
          <p:txBody>
            <a:bodyPr wrap="none" anchor="ctr"/>
            <a:lstStyle/>
            <a:p>
              <a:endParaRPr lang="zh-CN" altLang="en-US"/>
            </a:p>
          </p:txBody>
        </p:sp>
        <p:sp>
          <p:nvSpPr>
            <p:cNvPr id="5180" name="Line 159"/>
            <p:cNvSpPr>
              <a:spLocks noChangeShapeType="1"/>
            </p:cNvSpPr>
            <p:nvPr/>
          </p:nvSpPr>
          <p:spPr bwMode="auto">
            <a:xfrm>
              <a:off x="5058" y="2496"/>
              <a:ext cx="589" cy="0"/>
            </a:xfrm>
            <a:prstGeom prst="line">
              <a:avLst/>
            </a:prstGeom>
            <a:noFill/>
            <a:ln w="28575">
              <a:solidFill>
                <a:schemeClr val="bg1"/>
              </a:solidFill>
              <a:round/>
              <a:headEnd/>
              <a:tailEnd type="stealth" w="med" len="lg"/>
            </a:ln>
          </p:spPr>
          <p:txBody>
            <a:bodyPr wrap="none" anchor="ctr"/>
            <a:lstStyle/>
            <a:p>
              <a:endParaRPr lang="zh-CN" altLang="en-US"/>
            </a:p>
          </p:txBody>
        </p:sp>
        <p:grpSp>
          <p:nvGrpSpPr>
            <p:cNvPr id="5181" name="Group 160"/>
            <p:cNvGrpSpPr>
              <a:grpSpLocks/>
            </p:cNvGrpSpPr>
            <p:nvPr/>
          </p:nvGrpSpPr>
          <p:grpSpPr bwMode="auto">
            <a:xfrm>
              <a:off x="4768" y="1683"/>
              <a:ext cx="933" cy="279"/>
              <a:chOff x="3488" y="1593"/>
              <a:chExt cx="933" cy="279"/>
            </a:xfrm>
          </p:grpSpPr>
          <p:grpSp>
            <p:nvGrpSpPr>
              <p:cNvPr id="5190" name="Group 161"/>
              <p:cNvGrpSpPr>
                <a:grpSpLocks/>
              </p:cNvGrpSpPr>
              <p:nvPr/>
            </p:nvGrpSpPr>
            <p:grpSpPr bwMode="auto">
              <a:xfrm>
                <a:off x="3488" y="1674"/>
                <a:ext cx="624" cy="96"/>
                <a:chOff x="4545" y="1955"/>
                <a:chExt cx="624" cy="96"/>
              </a:xfrm>
            </p:grpSpPr>
            <p:sp>
              <p:nvSpPr>
                <p:cNvPr id="5192" name="Line 162"/>
                <p:cNvSpPr>
                  <a:spLocks noChangeShapeType="1"/>
                </p:cNvSpPr>
                <p:nvPr/>
              </p:nvSpPr>
              <p:spPr bwMode="auto">
                <a:xfrm>
                  <a:off x="4545" y="2051"/>
                  <a:ext cx="576" cy="0"/>
                </a:xfrm>
                <a:prstGeom prst="line">
                  <a:avLst/>
                </a:prstGeom>
                <a:noFill/>
                <a:ln w="57150">
                  <a:solidFill>
                    <a:srgbClr val="009900"/>
                  </a:solidFill>
                  <a:round/>
                  <a:headEnd/>
                  <a:tailEnd/>
                </a:ln>
              </p:spPr>
              <p:txBody>
                <a:bodyPr wrap="none" anchor="ctr"/>
                <a:lstStyle/>
                <a:p>
                  <a:endParaRPr lang="zh-CN" altLang="en-US"/>
                </a:p>
              </p:txBody>
            </p:sp>
            <p:sp>
              <p:nvSpPr>
                <p:cNvPr id="5193" name="Line 163"/>
                <p:cNvSpPr>
                  <a:spLocks noChangeShapeType="1"/>
                </p:cNvSpPr>
                <p:nvPr/>
              </p:nvSpPr>
              <p:spPr bwMode="auto">
                <a:xfrm flipV="1">
                  <a:off x="4929" y="1955"/>
                  <a:ext cx="144" cy="96"/>
                </a:xfrm>
                <a:prstGeom prst="line">
                  <a:avLst/>
                </a:prstGeom>
                <a:noFill/>
                <a:ln w="9525">
                  <a:solidFill>
                    <a:srgbClr val="009900"/>
                  </a:solidFill>
                  <a:round/>
                  <a:headEnd/>
                  <a:tailEnd/>
                </a:ln>
              </p:spPr>
              <p:txBody>
                <a:bodyPr wrap="none" anchor="ctr"/>
                <a:lstStyle/>
                <a:p>
                  <a:endParaRPr lang="zh-CN" altLang="en-US"/>
                </a:p>
              </p:txBody>
            </p:sp>
            <p:sp>
              <p:nvSpPr>
                <p:cNvPr id="5194" name="Line 164"/>
                <p:cNvSpPr>
                  <a:spLocks noChangeShapeType="1"/>
                </p:cNvSpPr>
                <p:nvPr/>
              </p:nvSpPr>
              <p:spPr bwMode="auto">
                <a:xfrm flipV="1">
                  <a:off x="4545" y="1955"/>
                  <a:ext cx="144" cy="96"/>
                </a:xfrm>
                <a:prstGeom prst="line">
                  <a:avLst/>
                </a:prstGeom>
                <a:noFill/>
                <a:ln w="9525">
                  <a:solidFill>
                    <a:srgbClr val="009900"/>
                  </a:solidFill>
                  <a:round/>
                  <a:headEnd/>
                  <a:tailEnd/>
                </a:ln>
              </p:spPr>
              <p:txBody>
                <a:bodyPr wrap="none" anchor="ctr"/>
                <a:lstStyle/>
                <a:p>
                  <a:endParaRPr lang="zh-CN" altLang="en-US"/>
                </a:p>
              </p:txBody>
            </p:sp>
            <p:sp>
              <p:nvSpPr>
                <p:cNvPr id="5195" name="Line 165"/>
                <p:cNvSpPr>
                  <a:spLocks noChangeShapeType="1"/>
                </p:cNvSpPr>
                <p:nvPr/>
              </p:nvSpPr>
              <p:spPr bwMode="auto">
                <a:xfrm flipV="1">
                  <a:off x="4641" y="1955"/>
                  <a:ext cx="144" cy="96"/>
                </a:xfrm>
                <a:prstGeom prst="line">
                  <a:avLst/>
                </a:prstGeom>
                <a:noFill/>
                <a:ln w="9525">
                  <a:solidFill>
                    <a:srgbClr val="009900"/>
                  </a:solidFill>
                  <a:round/>
                  <a:headEnd/>
                  <a:tailEnd/>
                </a:ln>
              </p:spPr>
              <p:txBody>
                <a:bodyPr wrap="none" anchor="ctr"/>
                <a:lstStyle/>
                <a:p>
                  <a:endParaRPr lang="zh-CN" altLang="en-US"/>
                </a:p>
              </p:txBody>
            </p:sp>
            <p:sp>
              <p:nvSpPr>
                <p:cNvPr id="5196" name="Line 166"/>
                <p:cNvSpPr>
                  <a:spLocks noChangeShapeType="1"/>
                </p:cNvSpPr>
                <p:nvPr/>
              </p:nvSpPr>
              <p:spPr bwMode="auto">
                <a:xfrm flipV="1">
                  <a:off x="4737" y="1955"/>
                  <a:ext cx="144" cy="96"/>
                </a:xfrm>
                <a:prstGeom prst="line">
                  <a:avLst/>
                </a:prstGeom>
                <a:noFill/>
                <a:ln w="9525">
                  <a:solidFill>
                    <a:srgbClr val="009900"/>
                  </a:solidFill>
                  <a:round/>
                  <a:headEnd/>
                  <a:tailEnd/>
                </a:ln>
              </p:spPr>
              <p:txBody>
                <a:bodyPr wrap="none" anchor="ctr"/>
                <a:lstStyle/>
                <a:p>
                  <a:endParaRPr lang="zh-CN" altLang="en-US"/>
                </a:p>
              </p:txBody>
            </p:sp>
            <p:sp>
              <p:nvSpPr>
                <p:cNvPr id="5197" name="Line 167"/>
                <p:cNvSpPr>
                  <a:spLocks noChangeShapeType="1"/>
                </p:cNvSpPr>
                <p:nvPr/>
              </p:nvSpPr>
              <p:spPr bwMode="auto">
                <a:xfrm flipV="1">
                  <a:off x="5025" y="1955"/>
                  <a:ext cx="144" cy="96"/>
                </a:xfrm>
                <a:prstGeom prst="line">
                  <a:avLst/>
                </a:prstGeom>
                <a:noFill/>
                <a:ln w="9525">
                  <a:solidFill>
                    <a:srgbClr val="009900"/>
                  </a:solidFill>
                  <a:round/>
                  <a:headEnd/>
                  <a:tailEnd/>
                </a:ln>
              </p:spPr>
              <p:txBody>
                <a:bodyPr wrap="none" anchor="ctr"/>
                <a:lstStyle/>
                <a:p>
                  <a:endParaRPr lang="zh-CN" altLang="en-US"/>
                </a:p>
              </p:txBody>
            </p:sp>
            <p:sp>
              <p:nvSpPr>
                <p:cNvPr id="5198" name="Line 168"/>
                <p:cNvSpPr>
                  <a:spLocks noChangeShapeType="1"/>
                </p:cNvSpPr>
                <p:nvPr/>
              </p:nvSpPr>
              <p:spPr bwMode="auto">
                <a:xfrm flipV="1">
                  <a:off x="4833" y="1955"/>
                  <a:ext cx="144" cy="96"/>
                </a:xfrm>
                <a:prstGeom prst="line">
                  <a:avLst/>
                </a:prstGeom>
                <a:noFill/>
                <a:ln w="9525">
                  <a:solidFill>
                    <a:srgbClr val="009900"/>
                  </a:solidFill>
                  <a:round/>
                  <a:headEnd/>
                  <a:tailEnd/>
                </a:ln>
              </p:spPr>
              <p:txBody>
                <a:bodyPr wrap="none" anchor="ctr"/>
                <a:lstStyle/>
                <a:p>
                  <a:endParaRPr lang="zh-CN" altLang="en-US"/>
                </a:p>
              </p:txBody>
            </p:sp>
          </p:grpSp>
          <p:sp>
            <p:nvSpPr>
              <p:cNvPr id="5191" name="Text Box 169"/>
              <p:cNvSpPr txBox="1">
                <a:spLocks noChangeArrowheads="1"/>
              </p:cNvSpPr>
              <p:nvPr/>
            </p:nvSpPr>
            <p:spPr bwMode="auto">
              <a:xfrm>
                <a:off x="4119" y="1593"/>
                <a:ext cx="302" cy="279"/>
              </a:xfrm>
              <a:prstGeom prst="rect">
                <a:avLst/>
              </a:prstGeom>
              <a:solidFill>
                <a:schemeClr val="accent1"/>
              </a:solidFill>
              <a:ln w="9525">
                <a:noFill/>
                <a:miter lim="800000"/>
                <a:headEnd/>
                <a:tailEnd/>
              </a:ln>
            </p:spPr>
            <p:txBody>
              <a:bodyPr wrap="none">
                <a:spAutoFit/>
              </a:bodyPr>
              <a:lstStyle/>
              <a:p>
                <a:pPr algn="l">
                  <a:lnSpc>
                    <a:spcPct val="115000"/>
                  </a:lnSpc>
                </a:pPr>
                <a:r>
                  <a:rPr lang="en-US" altLang="zh-CN" sz="2000" b="1" i="1">
                    <a:solidFill>
                      <a:srgbClr val="009900"/>
                    </a:solidFill>
                  </a:rPr>
                  <a:t>M'</a:t>
                </a:r>
                <a:endParaRPr lang="en-US" altLang="zh-CN" sz="2000">
                  <a:solidFill>
                    <a:srgbClr val="009900"/>
                  </a:solidFill>
                </a:endParaRPr>
              </a:p>
            </p:txBody>
          </p:sp>
        </p:grpSp>
        <p:sp>
          <p:nvSpPr>
            <p:cNvPr id="5182" name="Line 170"/>
            <p:cNvSpPr>
              <a:spLocks noChangeShapeType="1"/>
            </p:cNvSpPr>
            <p:nvPr/>
          </p:nvSpPr>
          <p:spPr bwMode="auto">
            <a:xfrm>
              <a:off x="4475" y="2520"/>
              <a:ext cx="280" cy="0"/>
            </a:xfrm>
            <a:prstGeom prst="line">
              <a:avLst/>
            </a:prstGeom>
            <a:noFill/>
            <a:ln w="9525">
              <a:noFill/>
              <a:round/>
              <a:headEnd/>
              <a:tailEnd/>
            </a:ln>
          </p:spPr>
          <p:txBody>
            <a:bodyPr wrap="none" anchor="ctr"/>
            <a:lstStyle/>
            <a:p>
              <a:endParaRPr lang="zh-CN" altLang="en-US"/>
            </a:p>
          </p:txBody>
        </p:sp>
        <p:sp>
          <p:nvSpPr>
            <p:cNvPr id="5183" name="Line 171"/>
            <p:cNvSpPr>
              <a:spLocks noChangeShapeType="1"/>
            </p:cNvSpPr>
            <p:nvPr/>
          </p:nvSpPr>
          <p:spPr bwMode="auto">
            <a:xfrm flipV="1">
              <a:off x="4475" y="1848"/>
              <a:ext cx="280" cy="0"/>
            </a:xfrm>
            <a:prstGeom prst="line">
              <a:avLst/>
            </a:prstGeom>
            <a:noFill/>
            <a:ln w="9525">
              <a:noFill/>
              <a:round/>
              <a:headEnd/>
              <a:tailEnd/>
            </a:ln>
          </p:spPr>
          <p:txBody>
            <a:bodyPr wrap="none" anchor="ctr"/>
            <a:lstStyle/>
            <a:p>
              <a:endParaRPr lang="zh-CN" altLang="en-US"/>
            </a:p>
          </p:txBody>
        </p:sp>
        <p:sp>
          <p:nvSpPr>
            <p:cNvPr id="5184" name="Line 172"/>
            <p:cNvSpPr>
              <a:spLocks noChangeShapeType="1"/>
            </p:cNvSpPr>
            <p:nvPr/>
          </p:nvSpPr>
          <p:spPr bwMode="auto">
            <a:xfrm>
              <a:off x="4615" y="1848"/>
              <a:ext cx="0" cy="672"/>
            </a:xfrm>
            <a:prstGeom prst="line">
              <a:avLst/>
            </a:prstGeom>
            <a:noFill/>
            <a:ln w="9525">
              <a:noFill/>
              <a:round/>
              <a:headEnd/>
              <a:tailEnd/>
            </a:ln>
          </p:spPr>
          <p:txBody>
            <a:bodyPr wrap="none" anchor="ctr"/>
            <a:lstStyle/>
            <a:p>
              <a:endParaRPr lang="zh-CN" altLang="en-US"/>
            </a:p>
          </p:txBody>
        </p:sp>
        <p:graphicFrame>
          <p:nvGraphicFramePr>
            <p:cNvPr id="5126" name="Object 173"/>
            <p:cNvGraphicFramePr>
              <a:graphicFrameLocks noChangeAspect="1"/>
            </p:cNvGraphicFramePr>
            <p:nvPr/>
          </p:nvGraphicFramePr>
          <p:xfrm>
            <a:off x="4456" y="2114"/>
            <a:ext cx="143" cy="188"/>
          </p:xfrm>
          <a:graphic>
            <a:graphicData uri="http://schemas.openxmlformats.org/presentationml/2006/ole">
              <p:oleObj spid="_x0000_s5126" name="Equation" r:id="rId14" imgW="139579" imgH="177646" progId="">
                <p:embed/>
              </p:oleObj>
            </a:graphicData>
          </a:graphic>
        </p:graphicFrame>
        <p:sp>
          <p:nvSpPr>
            <p:cNvPr id="5185" name="Line 174"/>
            <p:cNvSpPr>
              <a:spLocks noChangeShapeType="1"/>
            </p:cNvSpPr>
            <p:nvPr/>
          </p:nvSpPr>
          <p:spPr bwMode="auto">
            <a:xfrm>
              <a:off x="5080" y="1698"/>
              <a:ext cx="538" cy="5"/>
            </a:xfrm>
            <a:prstGeom prst="line">
              <a:avLst/>
            </a:prstGeom>
            <a:noFill/>
            <a:ln w="28575">
              <a:solidFill>
                <a:schemeClr val="hlink"/>
              </a:solidFill>
              <a:round/>
              <a:headEnd type="none" w="sm" len="sm"/>
              <a:tailEnd type="triangle" w="med" len="lg"/>
            </a:ln>
          </p:spPr>
          <p:txBody>
            <a:bodyPr wrap="none" anchor="ctr"/>
            <a:lstStyle/>
            <a:p>
              <a:endParaRPr lang="zh-CN" altLang="en-US"/>
            </a:p>
          </p:txBody>
        </p:sp>
        <p:graphicFrame>
          <p:nvGraphicFramePr>
            <p:cNvPr id="5127" name="Object 175"/>
            <p:cNvGraphicFramePr>
              <a:graphicFrameLocks noChangeAspect="1"/>
            </p:cNvGraphicFramePr>
            <p:nvPr/>
          </p:nvGraphicFramePr>
          <p:xfrm>
            <a:off x="5250" y="1451"/>
            <a:ext cx="173" cy="255"/>
          </p:xfrm>
          <a:graphic>
            <a:graphicData uri="http://schemas.openxmlformats.org/presentationml/2006/ole">
              <p:oleObj spid="_x0000_s5127" name="Equation" r:id="rId15" imgW="139579" imgH="177646" progId="">
                <p:embed/>
              </p:oleObj>
            </a:graphicData>
          </a:graphic>
        </p:graphicFrame>
        <p:sp>
          <p:nvSpPr>
            <p:cNvPr id="5186" name="Text Box 176"/>
            <p:cNvSpPr txBox="1">
              <a:spLocks noChangeArrowheads="1"/>
            </p:cNvSpPr>
            <p:nvPr/>
          </p:nvSpPr>
          <p:spPr bwMode="auto">
            <a:xfrm>
              <a:off x="5472" y="2387"/>
              <a:ext cx="288"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x'</a:t>
              </a:r>
              <a:r>
                <a:rPr lang="en-US" altLang="zh-CN" b="1"/>
                <a:t> </a:t>
              </a:r>
              <a:endParaRPr lang="en-US" altLang="zh-CN" sz="2800" b="1" i="1">
                <a:solidFill>
                  <a:schemeClr val="bg1"/>
                </a:solidFill>
              </a:endParaRPr>
            </a:p>
          </p:txBody>
        </p:sp>
        <p:sp>
          <p:nvSpPr>
            <p:cNvPr id="5187" name="Text Box 177"/>
            <p:cNvSpPr txBox="1">
              <a:spLocks noChangeArrowheads="1"/>
            </p:cNvSpPr>
            <p:nvPr/>
          </p:nvSpPr>
          <p:spPr bwMode="auto">
            <a:xfrm>
              <a:off x="4869" y="1270"/>
              <a:ext cx="279"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y'</a:t>
              </a:r>
              <a:r>
                <a:rPr lang="en-US" altLang="zh-CN" b="1"/>
                <a:t> </a:t>
              </a:r>
            </a:p>
          </p:txBody>
        </p:sp>
        <p:sp>
          <p:nvSpPr>
            <p:cNvPr id="5188" name="Rectangle 178"/>
            <p:cNvSpPr>
              <a:spLocks noChangeArrowheads="1"/>
            </p:cNvSpPr>
            <p:nvPr/>
          </p:nvSpPr>
          <p:spPr bwMode="auto">
            <a:xfrm>
              <a:off x="5007" y="2443"/>
              <a:ext cx="113" cy="57"/>
            </a:xfrm>
            <a:prstGeom prst="rect">
              <a:avLst/>
            </a:prstGeom>
            <a:solidFill>
              <a:srgbClr val="800080"/>
            </a:solidFill>
            <a:ln w="9525">
              <a:solidFill>
                <a:srgbClr val="800080"/>
              </a:solidFill>
              <a:miter lim="800000"/>
              <a:headEnd/>
              <a:tailEnd/>
            </a:ln>
          </p:spPr>
          <p:txBody>
            <a:bodyPr wrap="none" anchor="ctr"/>
            <a:lstStyle/>
            <a:p>
              <a:endParaRPr lang="zh-CN" altLang="en-US"/>
            </a:p>
          </p:txBody>
        </p:sp>
        <p:sp>
          <p:nvSpPr>
            <p:cNvPr id="5189" name="Text Box 179"/>
            <p:cNvSpPr txBox="1">
              <a:spLocks noChangeArrowheads="1"/>
            </p:cNvSpPr>
            <p:nvPr/>
          </p:nvSpPr>
          <p:spPr bwMode="auto">
            <a:xfrm>
              <a:off x="4779" y="2206"/>
              <a:ext cx="315" cy="323"/>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A'</a:t>
              </a:r>
              <a:r>
                <a:rPr lang="en-US" altLang="zh-CN" b="1"/>
                <a:t> </a:t>
              </a:r>
              <a:endParaRPr lang="en-US" altLang="zh-CN" sz="2800" b="1" i="1">
                <a:solidFill>
                  <a:schemeClr val="bg1"/>
                </a:solidFill>
              </a:endParaRPr>
            </a:p>
          </p:txBody>
        </p:sp>
      </p:grpSp>
      <p:grpSp>
        <p:nvGrpSpPr>
          <p:cNvPr id="27" name="Group 180"/>
          <p:cNvGrpSpPr>
            <a:grpSpLocks/>
          </p:cNvGrpSpPr>
          <p:nvPr/>
        </p:nvGrpSpPr>
        <p:grpSpPr bwMode="auto">
          <a:xfrm>
            <a:off x="4751388" y="5408613"/>
            <a:ext cx="450850" cy="436562"/>
            <a:chOff x="2880" y="3407"/>
            <a:chExt cx="284" cy="275"/>
          </a:xfrm>
        </p:grpSpPr>
        <p:pic>
          <p:nvPicPr>
            <p:cNvPr id="5174" name="Picture 181"/>
            <p:cNvPicPr>
              <a:picLocks noChangeAspect="1" noChangeArrowheads="1"/>
            </p:cNvPicPr>
            <p:nvPr/>
          </p:nvPicPr>
          <p:blipFill>
            <a:blip r:embed="rId9"/>
            <a:srcRect/>
            <a:stretch>
              <a:fillRect/>
            </a:stretch>
          </p:blipFill>
          <p:spPr bwMode="auto">
            <a:xfrm>
              <a:off x="2880" y="3407"/>
              <a:ext cx="284" cy="275"/>
            </a:xfrm>
            <a:prstGeom prst="rect">
              <a:avLst/>
            </a:prstGeom>
            <a:noFill/>
            <a:ln w="9525">
              <a:noFill/>
              <a:miter lim="800000"/>
              <a:headEnd/>
              <a:tailEnd/>
            </a:ln>
          </p:spPr>
        </p:pic>
        <p:sp>
          <p:nvSpPr>
            <p:cNvPr id="5175" name="Line 182"/>
            <p:cNvSpPr>
              <a:spLocks noChangeShapeType="1"/>
            </p:cNvSpPr>
            <p:nvPr/>
          </p:nvSpPr>
          <p:spPr bwMode="auto">
            <a:xfrm>
              <a:off x="3022" y="3549"/>
              <a:ext cx="141" cy="0"/>
            </a:xfrm>
            <a:prstGeom prst="line">
              <a:avLst/>
            </a:prstGeom>
            <a:noFill/>
            <a:ln w="9525">
              <a:solidFill>
                <a:schemeClr val="tx1"/>
              </a:solidFill>
              <a:round/>
              <a:headEnd/>
              <a:tailEnd type="triangle" w="sm" len="med"/>
            </a:ln>
          </p:spPr>
          <p:txBody>
            <a:bodyPr/>
            <a:lstStyle/>
            <a:p>
              <a:endParaRPr lang="zh-CN" altLang="en-US"/>
            </a:p>
          </p:txBody>
        </p:sp>
        <p:sp>
          <p:nvSpPr>
            <p:cNvPr id="5176" name="Line 183"/>
            <p:cNvSpPr>
              <a:spLocks noChangeShapeType="1"/>
            </p:cNvSpPr>
            <p:nvPr/>
          </p:nvSpPr>
          <p:spPr bwMode="auto">
            <a:xfrm flipV="1">
              <a:off x="3022" y="3464"/>
              <a:ext cx="28" cy="85"/>
            </a:xfrm>
            <a:prstGeom prst="line">
              <a:avLst/>
            </a:prstGeom>
            <a:noFill/>
            <a:ln w="9525">
              <a:solidFill>
                <a:schemeClr val="tx1"/>
              </a:solidFill>
              <a:round/>
              <a:headEnd/>
              <a:tailEnd type="triangle" w="sm" len="med"/>
            </a:ln>
          </p:spPr>
          <p:txBody>
            <a:bodyPr/>
            <a:lstStyle/>
            <a:p>
              <a:endParaRPr lang="zh-CN" altLang="en-US"/>
            </a:p>
          </p:txBody>
        </p:sp>
      </p:grpSp>
      <p:grpSp>
        <p:nvGrpSpPr>
          <p:cNvPr id="28" name="Group 184"/>
          <p:cNvGrpSpPr>
            <a:grpSpLocks/>
          </p:cNvGrpSpPr>
          <p:nvPr/>
        </p:nvGrpSpPr>
        <p:grpSpPr bwMode="auto">
          <a:xfrm>
            <a:off x="7947025" y="5454650"/>
            <a:ext cx="450850" cy="436563"/>
            <a:chOff x="3419" y="3492"/>
            <a:chExt cx="284" cy="275"/>
          </a:xfrm>
        </p:grpSpPr>
        <p:pic>
          <p:nvPicPr>
            <p:cNvPr id="5171" name="Picture 185"/>
            <p:cNvPicPr>
              <a:picLocks noChangeAspect="1" noChangeArrowheads="1"/>
            </p:cNvPicPr>
            <p:nvPr/>
          </p:nvPicPr>
          <p:blipFill>
            <a:blip r:embed="rId9"/>
            <a:srcRect/>
            <a:stretch>
              <a:fillRect/>
            </a:stretch>
          </p:blipFill>
          <p:spPr bwMode="auto">
            <a:xfrm>
              <a:off x="3419" y="3492"/>
              <a:ext cx="284" cy="275"/>
            </a:xfrm>
            <a:prstGeom prst="rect">
              <a:avLst/>
            </a:prstGeom>
            <a:noFill/>
            <a:ln w="9525">
              <a:noFill/>
              <a:miter lim="800000"/>
              <a:headEnd/>
              <a:tailEnd/>
            </a:ln>
          </p:spPr>
        </p:pic>
        <p:sp>
          <p:nvSpPr>
            <p:cNvPr id="5172" name="Line 186"/>
            <p:cNvSpPr>
              <a:spLocks noChangeShapeType="1"/>
            </p:cNvSpPr>
            <p:nvPr/>
          </p:nvSpPr>
          <p:spPr bwMode="auto">
            <a:xfrm>
              <a:off x="3561" y="3634"/>
              <a:ext cx="56" cy="114"/>
            </a:xfrm>
            <a:prstGeom prst="line">
              <a:avLst/>
            </a:prstGeom>
            <a:noFill/>
            <a:ln w="9525">
              <a:solidFill>
                <a:schemeClr val="tx1"/>
              </a:solidFill>
              <a:round/>
              <a:headEnd/>
              <a:tailEnd type="triangle" w="sm" len="med"/>
            </a:ln>
          </p:spPr>
          <p:txBody>
            <a:bodyPr/>
            <a:lstStyle/>
            <a:p>
              <a:endParaRPr lang="zh-CN" altLang="en-US"/>
            </a:p>
          </p:txBody>
        </p:sp>
        <p:sp>
          <p:nvSpPr>
            <p:cNvPr id="5173" name="Line 187"/>
            <p:cNvSpPr>
              <a:spLocks noChangeShapeType="1"/>
            </p:cNvSpPr>
            <p:nvPr/>
          </p:nvSpPr>
          <p:spPr bwMode="auto">
            <a:xfrm flipV="1">
              <a:off x="3561" y="3549"/>
              <a:ext cx="56" cy="85"/>
            </a:xfrm>
            <a:prstGeom prst="line">
              <a:avLst/>
            </a:prstGeom>
            <a:noFill/>
            <a:ln w="9525">
              <a:solidFill>
                <a:schemeClr val="tx1"/>
              </a:solidFill>
              <a:round/>
              <a:headEnd/>
              <a:tailEnd type="triangle" w="sm" len="med"/>
            </a:ln>
          </p:spPr>
          <p:txBody>
            <a:bodyPr/>
            <a:lstStyle/>
            <a:p>
              <a:endParaRPr lang="zh-CN" altLang="en-US"/>
            </a:p>
          </p:txBody>
        </p:sp>
      </p:grpSp>
      <p:sp>
        <p:nvSpPr>
          <p:cNvPr id="170172" name="Line 188"/>
          <p:cNvSpPr>
            <a:spLocks noChangeShapeType="1"/>
          </p:cNvSpPr>
          <p:nvPr/>
        </p:nvSpPr>
        <p:spPr bwMode="auto">
          <a:xfrm flipV="1">
            <a:off x="5292725" y="5138738"/>
            <a:ext cx="1349375" cy="990600"/>
          </a:xfrm>
          <a:prstGeom prst="line">
            <a:avLst/>
          </a:prstGeom>
          <a:noFill/>
          <a:ln w="38100">
            <a:solidFill>
              <a:schemeClr val="hlink"/>
            </a:solidFill>
            <a:round/>
            <a:headEnd/>
            <a:tailEnd type="stealth" w="med" len="lg"/>
          </a:ln>
        </p:spPr>
        <p:txBody>
          <a:bodyPr/>
          <a:lstStyle/>
          <a:p>
            <a:endParaRPr lang="zh-CN" altLang="en-US"/>
          </a:p>
        </p:txBody>
      </p:sp>
      <p:sp>
        <p:nvSpPr>
          <p:cNvPr id="170173" name="Line 189"/>
          <p:cNvSpPr>
            <a:spLocks noChangeShapeType="1"/>
          </p:cNvSpPr>
          <p:nvPr/>
        </p:nvSpPr>
        <p:spPr bwMode="auto">
          <a:xfrm>
            <a:off x="6642100" y="5138738"/>
            <a:ext cx="1260475" cy="946150"/>
          </a:xfrm>
          <a:prstGeom prst="line">
            <a:avLst/>
          </a:prstGeom>
          <a:noFill/>
          <a:ln w="38100">
            <a:solidFill>
              <a:schemeClr val="hlink"/>
            </a:solidFill>
            <a:round/>
            <a:headEnd/>
            <a:tailEnd type="stealth" w="med" len="lg"/>
          </a:ln>
        </p:spPr>
        <p:txBody>
          <a:bodyPr/>
          <a:lstStyle/>
          <a:p>
            <a:endParaRPr lang="zh-CN" altLang="en-US"/>
          </a:p>
        </p:txBody>
      </p:sp>
      <p:grpSp>
        <p:nvGrpSpPr>
          <p:cNvPr id="29" name="Group 190"/>
          <p:cNvGrpSpPr>
            <a:grpSpLocks/>
          </p:cNvGrpSpPr>
          <p:nvPr/>
        </p:nvGrpSpPr>
        <p:grpSpPr bwMode="auto">
          <a:xfrm>
            <a:off x="5292725" y="6084888"/>
            <a:ext cx="2565400" cy="493712"/>
            <a:chOff x="3334" y="3833"/>
            <a:chExt cx="1616" cy="311"/>
          </a:xfrm>
        </p:grpSpPr>
        <p:sp>
          <p:nvSpPr>
            <p:cNvPr id="5168" name="Line 191"/>
            <p:cNvSpPr>
              <a:spLocks noChangeShapeType="1"/>
            </p:cNvSpPr>
            <p:nvPr/>
          </p:nvSpPr>
          <p:spPr bwMode="auto">
            <a:xfrm>
              <a:off x="3334" y="3861"/>
              <a:ext cx="0" cy="283"/>
            </a:xfrm>
            <a:prstGeom prst="line">
              <a:avLst/>
            </a:prstGeom>
            <a:noFill/>
            <a:ln w="9525">
              <a:solidFill>
                <a:schemeClr val="tx1"/>
              </a:solidFill>
              <a:round/>
              <a:headEnd/>
              <a:tailEnd/>
            </a:ln>
          </p:spPr>
          <p:txBody>
            <a:bodyPr/>
            <a:lstStyle/>
            <a:p>
              <a:endParaRPr lang="zh-CN" altLang="en-US"/>
            </a:p>
          </p:txBody>
        </p:sp>
        <p:sp>
          <p:nvSpPr>
            <p:cNvPr id="5169" name="Line 192"/>
            <p:cNvSpPr>
              <a:spLocks noChangeShapeType="1"/>
            </p:cNvSpPr>
            <p:nvPr/>
          </p:nvSpPr>
          <p:spPr bwMode="auto">
            <a:xfrm>
              <a:off x="4950" y="3833"/>
              <a:ext cx="0" cy="311"/>
            </a:xfrm>
            <a:prstGeom prst="line">
              <a:avLst/>
            </a:prstGeom>
            <a:noFill/>
            <a:ln w="9525">
              <a:solidFill>
                <a:schemeClr val="tx1"/>
              </a:solidFill>
              <a:round/>
              <a:headEnd/>
              <a:tailEnd/>
            </a:ln>
          </p:spPr>
          <p:txBody>
            <a:bodyPr/>
            <a:lstStyle/>
            <a:p>
              <a:endParaRPr lang="zh-CN" altLang="en-US"/>
            </a:p>
          </p:txBody>
        </p:sp>
        <p:sp>
          <p:nvSpPr>
            <p:cNvPr id="5170" name="Line 193"/>
            <p:cNvSpPr>
              <a:spLocks noChangeShapeType="1"/>
            </p:cNvSpPr>
            <p:nvPr/>
          </p:nvSpPr>
          <p:spPr bwMode="auto">
            <a:xfrm>
              <a:off x="3334" y="4059"/>
              <a:ext cx="1616" cy="0"/>
            </a:xfrm>
            <a:prstGeom prst="line">
              <a:avLst/>
            </a:prstGeom>
            <a:noFill/>
            <a:ln w="9525">
              <a:solidFill>
                <a:schemeClr val="tx1"/>
              </a:solidFill>
              <a:round/>
              <a:headEnd type="triangle" w="med" len="med"/>
              <a:tailEnd type="stealth" w="med" len="lg"/>
            </a:ln>
          </p:spPr>
          <p:txBody>
            <a:bodyPr/>
            <a:lstStyle/>
            <a:p>
              <a:endParaRPr lang="zh-CN" altLang="en-US"/>
            </a:p>
          </p:txBody>
        </p:sp>
        <p:graphicFrame>
          <p:nvGraphicFramePr>
            <p:cNvPr id="5125" name="Object 194"/>
            <p:cNvGraphicFramePr>
              <a:graphicFrameLocks noChangeAspect="1"/>
            </p:cNvGraphicFramePr>
            <p:nvPr/>
          </p:nvGraphicFramePr>
          <p:xfrm>
            <a:off x="4014" y="3946"/>
            <a:ext cx="327" cy="198"/>
          </p:xfrm>
          <a:graphic>
            <a:graphicData uri="http://schemas.openxmlformats.org/presentationml/2006/ole">
              <p:oleObj spid="_x0000_s5125" name="Equation" r:id="rId16" imgW="317087" imgH="164885" progId="">
                <p:embed/>
              </p:oleObj>
            </a:graphicData>
          </a:graphic>
        </p:graphicFrame>
      </p:grpSp>
      <p:grpSp>
        <p:nvGrpSpPr>
          <p:cNvPr id="30" name="Group 195"/>
          <p:cNvGrpSpPr>
            <a:grpSpLocks/>
          </p:cNvGrpSpPr>
          <p:nvPr/>
        </p:nvGrpSpPr>
        <p:grpSpPr bwMode="auto">
          <a:xfrm>
            <a:off x="6011863" y="3698875"/>
            <a:ext cx="2835275" cy="674688"/>
            <a:chOff x="3787" y="2330"/>
            <a:chExt cx="1786" cy="425"/>
          </a:xfrm>
        </p:grpSpPr>
        <p:graphicFrame>
          <p:nvGraphicFramePr>
            <p:cNvPr id="5123" name="Object 196"/>
            <p:cNvGraphicFramePr>
              <a:graphicFrameLocks noChangeAspect="1"/>
            </p:cNvGraphicFramePr>
            <p:nvPr/>
          </p:nvGraphicFramePr>
          <p:xfrm>
            <a:off x="3787" y="2330"/>
            <a:ext cx="794" cy="425"/>
          </p:xfrm>
          <a:graphic>
            <a:graphicData uri="http://schemas.openxmlformats.org/presentationml/2006/ole">
              <p:oleObj spid="_x0000_s5123" name="Equation" r:id="rId17" imgW="761669" imgH="393529" progId="">
                <p:embed/>
              </p:oleObj>
            </a:graphicData>
          </a:graphic>
        </p:graphicFrame>
        <p:graphicFrame>
          <p:nvGraphicFramePr>
            <p:cNvPr id="5124" name="Object 197"/>
            <p:cNvGraphicFramePr>
              <a:graphicFrameLocks noChangeAspect="1"/>
            </p:cNvGraphicFramePr>
            <p:nvPr/>
          </p:nvGraphicFramePr>
          <p:xfrm>
            <a:off x="4581" y="2330"/>
            <a:ext cx="992" cy="425"/>
          </p:xfrm>
          <a:graphic>
            <a:graphicData uri="http://schemas.openxmlformats.org/presentationml/2006/ole">
              <p:oleObj spid="_x0000_s5124" name="Equation" r:id="rId18" imgW="875920" imgH="444307" progId="">
                <p:embed/>
              </p:oleObj>
            </a:graphicData>
          </a:graphic>
        </p:graphicFrame>
      </p:grpSp>
      <p:sp>
        <p:nvSpPr>
          <p:cNvPr id="170182" name="Text Box 198"/>
          <p:cNvSpPr txBox="1">
            <a:spLocks noChangeArrowheads="1"/>
          </p:cNvSpPr>
          <p:nvPr/>
        </p:nvSpPr>
        <p:spPr bwMode="auto">
          <a:xfrm>
            <a:off x="7181850" y="5221288"/>
            <a:ext cx="269875" cy="457200"/>
          </a:xfrm>
          <a:prstGeom prst="rect">
            <a:avLst/>
          </a:prstGeom>
          <a:noFill/>
          <a:ln w="9525">
            <a:noFill/>
            <a:miter lim="800000"/>
            <a:headEnd/>
            <a:tailEnd/>
          </a:ln>
        </p:spPr>
        <p:txBody>
          <a:bodyPr>
            <a:spAutoFit/>
          </a:bodyPr>
          <a:lstStyle/>
          <a:p>
            <a:pPr>
              <a:spcBef>
                <a:spcPct val="50000"/>
              </a:spcBef>
            </a:pPr>
            <a:r>
              <a:rPr lang="en-US" altLang="zh-CN" b="1" i="1">
                <a:solidFill>
                  <a:schemeClr val="hlink"/>
                </a:solidFill>
              </a:rPr>
              <a:t>l</a:t>
            </a:r>
          </a:p>
        </p:txBody>
      </p:sp>
      <p:sp>
        <p:nvSpPr>
          <p:cNvPr id="170183" name="Text Box 199"/>
          <p:cNvSpPr txBox="1">
            <a:spLocks noChangeArrowheads="1"/>
          </p:cNvSpPr>
          <p:nvPr/>
        </p:nvSpPr>
        <p:spPr bwMode="auto">
          <a:xfrm>
            <a:off x="5786438" y="5273675"/>
            <a:ext cx="269875" cy="457200"/>
          </a:xfrm>
          <a:prstGeom prst="rect">
            <a:avLst/>
          </a:prstGeom>
          <a:noFill/>
          <a:ln w="9525">
            <a:noFill/>
            <a:miter lim="800000"/>
            <a:headEnd/>
            <a:tailEnd/>
          </a:ln>
        </p:spPr>
        <p:txBody>
          <a:bodyPr>
            <a:spAutoFit/>
          </a:bodyPr>
          <a:lstStyle/>
          <a:p>
            <a:pPr>
              <a:spcBef>
                <a:spcPct val="50000"/>
              </a:spcBef>
            </a:pPr>
            <a:r>
              <a:rPr lang="en-US" altLang="zh-CN" b="1" i="1">
                <a:solidFill>
                  <a:schemeClr val="hlink"/>
                </a:solidFill>
              </a:rPr>
              <a:t>l</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xit" presetSubtype="0" fill="hold" nodeType="withEffect">
                                  <p:stCondLst>
                                    <p:cond delay="0"/>
                                  </p:stCondLst>
                                  <p:childTnLst>
                                    <p:set>
                                      <p:cBhvr>
                                        <p:cTn id="6" dur="1" fill="hold">
                                          <p:stCondLst>
                                            <p:cond delay="0"/>
                                          </p:stCondLst>
                                        </p:cTn>
                                        <p:tgtEl>
                                          <p:spTgt spid="21"/>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8"/>
                                        </p:tgtEl>
                                        <p:attrNameLst>
                                          <p:attrName>style.visibility</p:attrName>
                                        </p:attrNameLst>
                                      </p:cBhvr>
                                      <p:to>
                                        <p:strVal val="hidden"/>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69991"/>
                                        </p:tgtEl>
                                        <p:attrNameLst>
                                          <p:attrName>style.visibility</p:attrName>
                                        </p:attrNameLst>
                                      </p:cBhvr>
                                      <p:to>
                                        <p:strVal val="visible"/>
                                      </p:to>
                                    </p:set>
                                    <p:animEffect transition="in" filter="wipe(left)">
                                      <p:cBhvr>
                                        <p:cTn id="13" dur="1000"/>
                                        <p:tgtEl>
                                          <p:spTgt spid="16999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32"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ox(out)">
                                      <p:cBhvr>
                                        <p:cTn id="18" dur="10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32"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ox(out)">
                                      <p:cBhvr>
                                        <p:cTn id="23" dur="1000"/>
                                        <p:tgtEl>
                                          <p:spTgt spid="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69990"/>
                                        </p:tgtEl>
                                        <p:attrNameLst>
                                          <p:attrName>style.visibility</p:attrName>
                                        </p:attrNameLst>
                                      </p:cBhvr>
                                      <p:to>
                                        <p:strVal val="visible"/>
                                      </p:to>
                                    </p:set>
                                    <p:animEffect transition="in" filter="wipe(left)">
                                      <p:cBhvr>
                                        <p:cTn id="28" dur="1000"/>
                                        <p:tgtEl>
                                          <p:spTgt spid="16999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xit" presetSubtype="0" fill="hold" nodeType="clickEffect">
                                  <p:stCondLst>
                                    <p:cond delay="0"/>
                                  </p:stCondLst>
                                  <p:childTnLst>
                                    <p:set>
                                      <p:cBhvr>
                                        <p:cTn id="32" dur="1" fill="hold">
                                          <p:stCondLst>
                                            <p:cond delay="0"/>
                                          </p:stCondLst>
                                        </p:cTn>
                                        <p:tgtEl>
                                          <p:spTgt spid="5"/>
                                        </p:tgtEl>
                                        <p:attrNameLst>
                                          <p:attrName>style.visibility</p:attrName>
                                        </p:attrNameLst>
                                      </p:cBhvr>
                                      <p:to>
                                        <p:strVal val="hidden"/>
                                      </p:to>
                                    </p:set>
                                  </p:childTnLst>
                                </p:cTn>
                              </p:par>
                            </p:childTnLst>
                          </p:cTn>
                        </p:par>
                        <p:par>
                          <p:cTn id="33" fill="hold" nodeType="afterGroup">
                            <p:stCondLst>
                              <p:cond delay="0"/>
                            </p:stCondLst>
                            <p:childTnLst>
                              <p:par>
                                <p:cTn id="34" presetID="1" presetClass="exit" presetSubtype="0" fill="hold" nodeType="afterEffect">
                                  <p:stCondLst>
                                    <p:cond delay="0"/>
                                  </p:stCondLst>
                                  <p:childTnLst>
                                    <p:set>
                                      <p:cBhvr>
                                        <p:cTn id="35" dur="1" fill="hold">
                                          <p:stCondLst>
                                            <p:cond delay="0"/>
                                          </p:stCondLst>
                                        </p:cTn>
                                        <p:tgtEl>
                                          <p:spTgt spid="8"/>
                                        </p:tgtEl>
                                        <p:attrNameLst>
                                          <p:attrName>style.visibility</p:attrName>
                                        </p:attrNameLst>
                                      </p:cBhvr>
                                      <p:to>
                                        <p:strVal val="hidden"/>
                                      </p:to>
                                    </p:set>
                                  </p:childTnLst>
                                </p:cTn>
                              </p:par>
                              <p:par>
                                <p:cTn id="36" presetID="1" presetClass="entr" presetSubtype="0" fill="hold" nodeType="withEffect">
                                  <p:stCondLst>
                                    <p:cond delay="0"/>
                                  </p:stCondLst>
                                  <p:childTnLst>
                                    <p:set>
                                      <p:cBhvr>
                                        <p:cTn id="37" dur="1" fill="hold">
                                          <p:stCondLst>
                                            <p:cond delay="0"/>
                                          </p:stCondLst>
                                        </p:cTn>
                                        <p:tgtEl>
                                          <p:spTgt spid="8"/>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70053"/>
                                        </p:tgtEl>
                                        <p:attrNameLst>
                                          <p:attrName>style.visibility</p:attrName>
                                        </p:attrNameLst>
                                      </p:cBhvr>
                                      <p:to>
                                        <p:strVal val="visible"/>
                                      </p:to>
                                    </p:set>
                                  </p:childTnLst>
                                </p:cTn>
                              </p:par>
                              <p:par>
                                <p:cTn id="40" presetID="14" presetClass="emph" presetSubtype="0" fill="hold" grpId="1" nodeType="withEffect">
                                  <p:stCondLst>
                                    <p:cond delay="0"/>
                                  </p:stCondLst>
                                  <p:childTnLst>
                                    <p:animClr clrSpc="rgb" dir="cw">
                                      <p:cBhvr override="childStyle">
                                        <p:cTn id="41" dur="475" fill="hold">
                                          <p:stCondLst>
                                            <p:cond delay="25"/>
                                          </p:stCondLst>
                                        </p:cTn>
                                        <p:tgtEl>
                                          <p:spTgt spid="170053"/>
                                        </p:tgtEl>
                                        <p:attrNameLst>
                                          <p:attrName>style.color</p:attrName>
                                        </p:attrNameLst>
                                      </p:cBhvr>
                                      <p:to>
                                        <a:schemeClr val="accent2"/>
                                      </p:to>
                                    </p:animClr>
                                    <p:animClr clrSpc="rgb" dir="cw">
                                      <p:cBhvr>
                                        <p:cTn id="42" dur="475" fill="hold">
                                          <p:stCondLst>
                                            <p:cond delay="25"/>
                                          </p:stCondLst>
                                        </p:cTn>
                                        <p:tgtEl>
                                          <p:spTgt spid="170053"/>
                                        </p:tgtEl>
                                        <p:attrNameLst>
                                          <p:attrName>fillColor</p:attrName>
                                        </p:attrNameLst>
                                      </p:cBhvr>
                                      <p:to>
                                        <a:schemeClr val="accent2"/>
                                      </p:to>
                                    </p:animClr>
                                    <p:set>
                                      <p:cBhvr>
                                        <p:cTn id="43" dur="475" fill="hold">
                                          <p:stCondLst>
                                            <p:cond delay="25"/>
                                          </p:stCondLst>
                                        </p:cTn>
                                        <p:tgtEl>
                                          <p:spTgt spid="170053"/>
                                        </p:tgtEl>
                                        <p:attrNameLst>
                                          <p:attrName>fill.type</p:attrName>
                                        </p:attrNameLst>
                                      </p:cBhvr>
                                      <p:to>
                                        <p:strVal val="solid"/>
                                      </p:to>
                                    </p:set>
                                    <p:set>
                                      <p:cBhvr>
                                        <p:cTn id="44" dur="475" fill="hold">
                                          <p:stCondLst>
                                            <p:cond delay="25"/>
                                          </p:stCondLst>
                                        </p:cTn>
                                        <p:tgtEl>
                                          <p:spTgt spid="170053"/>
                                        </p:tgtEl>
                                        <p:attrNameLst>
                                          <p:attrName>fill.on</p:attrName>
                                        </p:attrNameLst>
                                      </p:cBhvr>
                                      <p:to>
                                        <p:strVal val="true"/>
                                      </p:to>
                                    </p:set>
                                    <p:animScale>
                                      <p:cBhvr>
                                        <p:cTn id="45" dur="50" fill="hold">
                                          <p:stCondLst>
                                            <p:cond delay="0"/>
                                          </p:stCondLst>
                                        </p:cTn>
                                        <p:tgtEl>
                                          <p:spTgt spid="170053"/>
                                        </p:tgtEl>
                                      </p:cBhvr>
                                      <p:from x="100000" y="100000"/>
                                      <p:to x="100000" y="5000"/>
                                    </p:animScale>
                                    <p:animScale>
                                      <p:cBhvr>
                                        <p:cTn id="46" dur="50" fill="hold">
                                          <p:stCondLst>
                                            <p:cond delay="50"/>
                                          </p:stCondLst>
                                        </p:cTn>
                                        <p:tgtEl>
                                          <p:spTgt spid="170053"/>
                                        </p:tgtEl>
                                      </p:cBhvr>
                                      <p:from x="100000" y="5000"/>
                                      <p:to x="120000" y="150000"/>
                                    </p:animScale>
                                    <p:animScale>
                                      <p:cBhvr>
                                        <p:cTn id="47" dur="150" fill="hold">
                                          <p:stCondLst>
                                            <p:cond delay="350"/>
                                          </p:stCondLst>
                                        </p:cTn>
                                        <p:tgtEl>
                                          <p:spTgt spid="170053"/>
                                        </p:tgtEl>
                                      </p:cBhvr>
                                      <p:to x="120000" y="150000"/>
                                    </p:animScale>
                                  </p:childTnLst>
                                </p:cTn>
                              </p:par>
                            </p:childTnLst>
                          </p:cTn>
                        </p:par>
                        <p:par>
                          <p:cTn id="48" fill="hold" nodeType="afterGroup">
                            <p:stCondLst>
                              <p:cond delay="500"/>
                            </p:stCondLst>
                            <p:childTnLst>
                              <p:par>
                                <p:cTn id="49" presetID="1" presetClass="exit" presetSubtype="0" fill="hold" grpId="2" nodeType="afterEffect">
                                  <p:stCondLst>
                                    <p:cond delay="0"/>
                                  </p:stCondLst>
                                  <p:childTnLst>
                                    <p:set>
                                      <p:cBhvr>
                                        <p:cTn id="50" dur="1" fill="hold">
                                          <p:stCondLst>
                                            <p:cond delay="0"/>
                                          </p:stCondLst>
                                        </p:cTn>
                                        <p:tgtEl>
                                          <p:spTgt spid="170053"/>
                                        </p:tgtEl>
                                        <p:attrNameLst>
                                          <p:attrName>style.visibility</p:attrName>
                                        </p:attrNameLst>
                                      </p:cBhvr>
                                      <p:to>
                                        <p:strVal val="hidden"/>
                                      </p:to>
                                    </p:set>
                                  </p:childTnLst>
                                </p:cTn>
                              </p:par>
                              <p:par>
                                <p:cTn id="51" presetID="0" presetClass="path" presetSubtype="0" accel="50000" decel="50000" fill="hold" nodeType="withEffect">
                                  <p:stCondLst>
                                    <p:cond delay="0"/>
                                  </p:stCondLst>
                                  <p:childTnLst>
                                    <p:animMotion origin="layout" path="M 5.83333E-6 -3.2948E-6 L 0.24601 -3.2948E-6 " pathEditMode="relative" ptsTypes="AA">
                                      <p:cBhvr>
                                        <p:cTn id="52" dur="500" fill="hold"/>
                                        <p:tgtEl>
                                          <p:spTgt spid="8"/>
                                        </p:tgtEl>
                                        <p:attrNameLst>
                                          <p:attrName>ppt_x</p:attrName>
                                          <p:attrName>ppt_y</p:attrName>
                                        </p:attrNameLst>
                                      </p:cBhvr>
                                    </p:animMotion>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69987"/>
                                        </p:tgtEl>
                                        <p:attrNameLst>
                                          <p:attrName>style.visibility</p:attrName>
                                        </p:attrNameLst>
                                      </p:cBhvr>
                                      <p:to>
                                        <p:strVal val="visible"/>
                                      </p:to>
                                    </p:set>
                                    <p:animEffect transition="in" filter="wipe(left)">
                                      <p:cBhvr>
                                        <p:cTn id="57" dur="1000"/>
                                        <p:tgtEl>
                                          <p:spTgt spid="16998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69988"/>
                                        </p:tgtEl>
                                        <p:attrNameLst>
                                          <p:attrName>style.visibility</p:attrName>
                                        </p:attrNameLst>
                                      </p:cBhvr>
                                      <p:to>
                                        <p:strVal val="visible"/>
                                      </p:to>
                                    </p:set>
                                    <p:animEffect transition="in" filter="wipe(left)">
                                      <p:cBhvr>
                                        <p:cTn id="62" dur="1000"/>
                                        <p:tgtEl>
                                          <p:spTgt spid="16998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69986"/>
                                        </p:tgtEl>
                                        <p:attrNameLst>
                                          <p:attrName>style.visibility</p:attrName>
                                        </p:attrNameLst>
                                      </p:cBhvr>
                                      <p:to>
                                        <p:strVal val="visible"/>
                                      </p:to>
                                    </p:set>
                                    <p:animEffect transition="in" filter="wipe(left)">
                                      <p:cBhvr>
                                        <p:cTn id="67" dur="1000"/>
                                        <p:tgtEl>
                                          <p:spTgt spid="16998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69989"/>
                                        </p:tgtEl>
                                        <p:attrNameLst>
                                          <p:attrName>style.visibility</p:attrName>
                                        </p:attrNameLst>
                                      </p:cBhvr>
                                      <p:to>
                                        <p:strVal val="visible"/>
                                      </p:to>
                                    </p:set>
                                    <p:animEffect transition="in" filter="wipe(left)">
                                      <p:cBhvr>
                                        <p:cTn id="72" dur="1000"/>
                                        <p:tgtEl>
                                          <p:spTgt spid="169989"/>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70091"/>
                                        </p:tgtEl>
                                        <p:attrNameLst>
                                          <p:attrName>style.visibility</p:attrName>
                                        </p:attrNameLst>
                                      </p:cBhvr>
                                      <p:to>
                                        <p:strVal val="visible"/>
                                      </p:to>
                                    </p:set>
                                    <p:animEffect transition="in" filter="wipe(left)">
                                      <p:cBhvr>
                                        <p:cTn id="77" dur="1000"/>
                                        <p:tgtEl>
                                          <p:spTgt spid="170091"/>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4" presetClass="entr" presetSubtype="32" fill="hold" nodeType="clickEffect">
                                  <p:stCondLst>
                                    <p:cond delay="0"/>
                                  </p:stCondLst>
                                  <p:childTnLst>
                                    <p:set>
                                      <p:cBhvr>
                                        <p:cTn id="81" dur="1" fill="hold">
                                          <p:stCondLst>
                                            <p:cond delay="0"/>
                                          </p:stCondLst>
                                        </p:cTn>
                                        <p:tgtEl>
                                          <p:spTgt spid="11"/>
                                        </p:tgtEl>
                                        <p:attrNameLst>
                                          <p:attrName>style.visibility</p:attrName>
                                        </p:attrNameLst>
                                      </p:cBhvr>
                                      <p:to>
                                        <p:strVal val="visible"/>
                                      </p:to>
                                    </p:set>
                                    <p:animEffect transition="in" filter="box(out)">
                                      <p:cBhvr>
                                        <p:cTn id="82" dur="1000"/>
                                        <p:tgtEl>
                                          <p:spTgt spid="11"/>
                                        </p:tgtEl>
                                      </p:cBhvr>
                                    </p:animEffect>
                                  </p:childTnLst>
                                </p:cTn>
                              </p:par>
                            </p:childTnLst>
                          </p:cTn>
                        </p:par>
                        <p:par>
                          <p:cTn id="83" fill="hold" nodeType="afterGroup">
                            <p:stCondLst>
                              <p:cond delay="1000"/>
                            </p:stCondLst>
                            <p:childTnLst>
                              <p:par>
                                <p:cTn id="84" presetID="1" presetClass="entr" presetSubtype="0" fill="hold" grpId="0" nodeType="afterEffect">
                                  <p:stCondLst>
                                    <p:cond delay="0"/>
                                  </p:stCondLst>
                                  <p:childTnLst>
                                    <p:set>
                                      <p:cBhvr>
                                        <p:cTn id="85" dur="1" fill="hold">
                                          <p:stCondLst>
                                            <p:cond delay="0"/>
                                          </p:stCondLst>
                                        </p:cTn>
                                        <p:tgtEl>
                                          <p:spTgt spid="170090"/>
                                        </p:tgtEl>
                                        <p:attrNameLst>
                                          <p:attrName>style.visibility</p:attrName>
                                        </p:attrNameLst>
                                      </p:cBhvr>
                                      <p:to>
                                        <p:strVal val="visible"/>
                                      </p:to>
                                    </p:set>
                                  </p:childTnLst>
                                </p:cTn>
                              </p:par>
                              <p:par>
                                <p:cTn id="86" presetID="14" presetClass="emph" presetSubtype="0" fill="hold" grpId="1" nodeType="withEffect">
                                  <p:stCondLst>
                                    <p:cond delay="0"/>
                                  </p:stCondLst>
                                  <p:childTnLst>
                                    <p:animClr clrSpc="rgb" dir="cw">
                                      <p:cBhvr override="childStyle">
                                        <p:cTn id="87" dur="475" fill="hold">
                                          <p:stCondLst>
                                            <p:cond delay="25"/>
                                          </p:stCondLst>
                                        </p:cTn>
                                        <p:tgtEl>
                                          <p:spTgt spid="170090"/>
                                        </p:tgtEl>
                                        <p:attrNameLst>
                                          <p:attrName>style.color</p:attrName>
                                        </p:attrNameLst>
                                      </p:cBhvr>
                                      <p:to>
                                        <a:schemeClr val="accent2"/>
                                      </p:to>
                                    </p:animClr>
                                    <p:animClr clrSpc="rgb" dir="cw">
                                      <p:cBhvr>
                                        <p:cTn id="88" dur="475" fill="hold">
                                          <p:stCondLst>
                                            <p:cond delay="25"/>
                                          </p:stCondLst>
                                        </p:cTn>
                                        <p:tgtEl>
                                          <p:spTgt spid="170090"/>
                                        </p:tgtEl>
                                        <p:attrNameLst>
                                          <p:attrName>fillColor</p:attrName>
                                        </p:attrNameLst>
                                      </p:cBhvr>
                                      <p:to>
                                        <a:schemeClr val="accent2"/>
                                      </p:to>
                                    </p:animClr>
                                    <p:set>
                                      <p:cBhvr>
                                        <p:cTn id="89" dur="475" fill="hold">
                                          <p:stCondLst>
                                            <p:cond delay="25"/>
                                          </p:stCondLst>
                                        </p:cTn>
                                        <p:tgtEl>
                                          <p:spTgt spid="170090"/>
                                        </p:tgtEl>
                                        <p:attrNameLst>
                                          <p:attrName>fill.type</p:attrName>
                                        </p:attrNameLst>
                                      </p:cBhvr>
                                      <p:to>
                                        <p:strVal val="solid"/>
                                      </p:to>
                                    </p:set>
                                    <p:set>
                                      <p:cBhvr>
                                        <p:cTn id="90" dur="475" fill="hold">
                                          <p:stCondLst>
                                            <p:cond delay="25"/>
                                          </p:stCondLst>
                                        </p:cTn>
                                        <p:tgtEl>
                                          <p:spTgt spid="170090"/>
                                        </p:tgtEl>
                                        <p:attrNameLst>
                                          <p:attrName>fill.on</p:attrName>
                                        </p:attrNameLst>
                                      </p:cBhvr>
                                      <p:to>
                                        <p:strVal val="true"/>
                                      </p:to>
                                    </p:set>
                                    <p:animScale>
                                      <p:cBhvr>
                                        <p:cTn id="91" dur="50" fill="hold">
                                          <p:stCondLst>
                                            <p:cond delay="0"/>
                                          </p:stCondLst>
                                        </p:cTn>
                                        <p:tgtEl>
                                          <p:spTgt spid="170090"/>
                                        </p:tgtEl>
                                      </p:cBhvr>
                                      <p:from x="100000" y="100000"/>
                                      <p:to x="100000" y="5000"/>
                                    </p:animScale>
                                    <p:animScale>
                                      <p:cBhvr>
                                        <p:cTn id="92" dur="50" fill="hold">
                                          <p:stCondLst>
                                            <p:cond delay="50"/>
                                          </p:stCondLst>
                                        </p:cTn>
                                        <p:tgtEl>
                                          <p:spTgt spid="170090"/>
                                        </p:tgtEl>
                                      </p:cBhvr>
                                      <p:from x="100000" y="5000"/>
                                      <p:to x="120000" y="150000"/>
                                    </p:animScale>
                                    <p:animScale>
                                      <p:cBhvr>
                                        <p:cTn id="93" dur="150" fill="hold">
                                          <p:stCondLst>
                                            <p:cond delay="350"/>
                                          </p:stCondLst>
                                        </p:cTn>
                                        <p:tgtEl>
                                          <p:spTgt spid="170090"/>
                                        </p:tgtEl>
                                      </p:cBhvr>
                                      <p:to x="120000" y="150000"/>
                                    </p:animScale>
                                  </p:childTnLst>
                                </p:cTn>
                              </p:par>
                            </p:childTnLst>
                          </p:cTn>
                        </p:par>
                        <p:par>
                          <p:cTn id="94" fill="hold" nodeType="afterGroup">
                            <p:stCondLst>
                              <p:cond delay="1500"/>
                            </p:stCondLst>
                            <p:childTnLst>
                              <p:par>
                                <p:cTn id="95" presetID="1" presetClass="exit" presetSubtype="0" fill="hold" grpId="2" nodeType="afterEffect">
                                  <p:stCondLst>
                                    <p:cond delay="0"/>
                                  </p:stCondLst>
                                  <p:childTnLst>
                                    <p:set>
                                      <p:cBhvr>
                                        <p:cTn id="96" dur="1" fill="hold">
                                          <p:stCondLst>
                                            <p:cond delay="0"/>
                                          </p:stCondLst>
                                        </p:cTn>
                                        <p:tgtEl>
                                          <p:spTgt spid="170090"/>
                                        </p:tgtEl>
                                        <p:attrNameLst>
                                          <p:attrName>style.visibility</p:attrName>
                                        </p:attrNameLst>
                                      </p:cBhvr>
                                      <p:to>
                                        <p:strVal val="hidden"/>
                                      </p:to>
                                    </p:set>
                                  </p:childTnLst>
                                </p:cTn>
                              </p:par>
                            </p:childTnLst>
                          </p:cTn>
                        </p:par>
                        <p:par>
                          <p:cTn id="97" fill="hold" nodeType="afterGroup">
                            <p:stCondLst>
                              <p:cond delay="1500"/>
                            </p:stCondLst>
                            <p:childTnLst>
                              <p:par>
                                <p:cTn id="98" presetID="1" presetClass="entr" presetSubtype="0" fill="hold" nodeType="afterEffect">
                                  <p:stCondLst>
                                    <p:cond delay="0"/>
                                  </p:stCondLst>
                                  <p:childTnLst>
                                    <p:set>
                                      <p:cBhvr>
                                        <p:cTn id="99" dur="1" fill="hold">
                                          <p:stCondLst>
                                            <p:cond delay="0"/>
                                          </p:stCondLst>
                                        </p:cTn>
                                        <p:tgtEl>
                                          <p:spTgt spid="14"/>
                                        </p:tgtEl>
                                        <p:attrNameLst>
                                          <p:attrName>style.visibility</p:attrName>
                                        </p:attrNameLst>
                                      </p:cBhvr>
                                      <p:to>
                                        <p:strVal val="visible"/>
                                      </p:to>
                                    </p:set>
                                  </p:childTnLst>
                                </p:cTn>
                              </p:par>
                            </p:childTnLst>
                          </p:cTn>
                        </p:par>
                        <p:par>
                          <p:cTn id="100" fill="hold" nodeType="afterGroup">
                            <p:stCondLst>
                              <p:cond delay="1500"/>
                            </p:stCondLst>
                            <p:childTnLst>
                              <p:par>
                                <p:cTn id="101" presetID="22" presetClass="entr" presetSubtype="4" fill="hold" grpId="0" nodeType="afterEffect">
                                  <p:stCondLst>
                                    <p:cond delay="0"/>
                                  </p:stCondLst>
                                  <p:childTnLst>
                                    <p:set>
                                      <p:cBhvr>
                                        <p:cTn id="102" dur="1" fill="hold">
                                          <p:stCondLst>
                                            <p:cond delay="0"/>
                                          </p:stCondLst>
                                        </p:cTn>
                                        <p:tgtEl>
                                          <p:spTgt spid="170079"/>
                                        </p:tgtEl>
                                        <p:attrNameLst>
                                          <p:attrName>style.visibility</p:attrName>
                                        </p:attrNameLst>
                                      </p:cBhvr>
                                      <p:to>
                                        <p:strVal val="visible"/>
                                      </p:to>
                                    </p:set>
                                    <p:animEffect transition="in" filter="wipe(down)">
                                      <p:cBhvr>
                                        <p:cTn id="103" dur="500"/>
                                        <p:tgtEl>
                                          <p:spTgt spid="170079"/>
                                        </p:tgtEl>
                                      </p:cBhvr>
                                    </p:animEffect>
                                  </p:childTnLst>
                                </p:cTn>
                              </p:par>
                            </p:childTnLst>
                          </p:cTn>
                        </p:par>
                        <p:par>
                          <p:cTn id="104" fill="hold" nodeType="afterGroup">
                            <p:stCondLst>
                              <p:cond delay="2000"/>
                            </p:stCondLst>
                            <p:childTnLst>
                              <p:par>
                                <p:cTn id="105" presetID="22" presetClass="entr" presetSubtype="1" fill="hold" grpId="0" nodeType="afterEffect">
                                  <p:stCondLst>
                                    <p:cond delay="0"/>
                                  </p:stCondLst>
                                  <p:childTnLst>
                                    <p:set>
                                      <p:cBhvr>
                                        <p:cTn id="106" dur="1" fill="hold">
                                          <p:stCondLst>
                                            <p:cond delay="0"/>
                                          </p:stCondLst>
                                        </p:cTn>
                                        <p:tgtEl>
                                          <p:spTgt spid="170080"/>
                                        </p:tgtEl>
                                        <p:attrNameLst>
                                          <p:attrName>style.visibility</p:attrName>
                                        </p:attrNameLst>
                                      </p:cBhvr>
                                      <p:to>
                                        <p:strVal val="visible"/>
                                      </p:to>
                                    </p:set>
                                    <p:animEffect transition="in" filter="wipe(up)">
                                      <p:cBhvr>
                                        <p:cTn id="107" dur="500"/>
                                        <p:tgtEl>
                                          <p:spTgt spid="170080"/>
                                        </p:tgtEl>
                                      </p:cBhvr>
                                    </p:animEffect>
                                  </p:childTnLst>
                                </p:cTn>
                              </p:par>
                            </p:childTnLst>
                          </p:cTn>
                        </p:par>
                        <p:par>
                          <p:cTn id="108" fill="hold" nodeType="afterGroup">
                            <p:stCondLst>
                              <p:cond delay="2500"/>
                            </p:stCondLst>
                            <p:childTnLst>
                              <p:par>
                                <p:cTn id="109" presetID="1" presetClass="entr" presetSubtype="0" fill="hold" nodeType="afterEffect">
                                  <p:stCondLst>
                                    <p:cond delay="0"/>
                                  </p:stCondLst>
                                  <p:childTnLst>
                                    <p:set>
                                      <p:cBhvr>
                                        <p:cTn id="110" dur="1" fill="hold">
                                          <p:stCondLst>
                                            <p:cond delay="0"/>
                                          </p:stCondLst>
                                        </p:cTn>
                                        <p:tgtEl>
                                          <p:spTgt spid="15"/>
                                        </p:tgtEl>
                                        <p:attrNameLst>
                                          <p:attrName>style.visibility</p:attrName>
                                        </p:attrNameLst>
                                      </p:cBhvr>
                                      <p:to>
                                        <p:strVal val="visible"/>
                                      </p:to>
                                    </p:se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nodeType="clickEffect">
                                  <p:stCondLst>
                                    <p:cond delay="0"/>
                                  </p:stCondLst>
                                  <p:childTnLst>
                                    <p:set>
                                      <p:cBhvr>
                                        <p:cTn id="114" dur="1" fill="hold">
                                          <p:stCondLst>
                                            <p:cond delay="0"/>
                                          </p:stCondLst>
                                        </p:cTn>
                                        <p:tgtEl>
                                          <p:spTgt spid="170092"/>
                                        </p:tgtEl>
                                        <p:attrNameLst>
                                          <p:attrName>style.visibility</p:attrName>
                                        </p:attrNameLst>
                                      </p:cBhvr>
                                      <p:to>
                                        <p:strVal val="visible"/>
                                      </p:to>
                                    </p:set>
                                    <p:animEffect transition="in" filter="wipe(left)">
                                      <p:cBhvr>
                                        <p:cTn id="115" dur="1000"/>
                                        <p:tgtEl>
                                          <p:spTgt spid="170092"/>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170094"/>
                                        </p:tgtEl>
                                        <p:attrNameLst>
                                          <p:attrName>style.visibility</p:attrName>
                                        </p:attrNameLst>
                                      </p:cBhvr>
                                      <p:to>
                                        <p:strVal val="visible"/>
                                      </p:to>
                                    </p:set>
                                    <p:animEffect transition="in" filter="wipe(left)">
                                      <p:cBhvr>
                                        <p:cTn id="120" dur="1000"/>
                                        <p:tgtEl>
                                          <p:spTgt spid="170094"/>
                                        </p:tgtEl>
                                      </p:cBhvr>
                                    </p:animEffect>
                                  </p:childTnLst>
                                </p:cTn>
                              </p:par>
                              <p:par>
                                <p:cTn id="121" presetID="1" presetClass="exit" presetSubtype="0" fill="hold" nodeType="withEffect">
                                  <p:stCondLst>
                                    <p:cond delay="0"/>
                                  </p:stCondLst>
                                  <p:childTnLst>
                                    <p:set>
                                      <p:cBhvr>
                                        <p:cTn id="122" dur="1" fill="hold">
                                          <p:stCondLst>
                                            <p:cond delay="0"/>
                                          </p:stCondLst>
                                        </p:cTn>
                                        <p:tgtEl>
                                          <p:spTgt spid="21"/>
                                        </p:tgtEl>
                                        <p:attrNameLst>
                                          <p:attrName>style.visibility</p:attrName>
                                        </p:attrNameLst>
                                      </p:cBhvr>
                                      <p:to>
                                        <p:strVal val="hidden"/>
                                      </p:to>
                                    </p:se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4" presetClass="entr" presetSubtype="32" fill="hold" nodeType="clickEffect">
                                  <p:stCondLst>
                                    <p:cond delay="0"/>
                                  </p:stCondLst>
                                  <p:childTnLst>
                                    <p:set>
                                      <p:cBhvr>
                                        <p:cTn id="126" dur="1" fill="hold">
                                          <p:stCondLst>
                                            <p:cond delay="0"/>
                                          </p:stCondLst>
                                        </p:cTn>
                                        <p:tgtEl>
                                          <p:spTgt spid="16"/>
                                        </p:tgtEl>
                                        <p:attrNameLst>
                                          <p:attrName>style.visibility</p:attrName>
                                        </p:attrNameLst>
                                      </p:cBhvr>
                                      <p:to>
                                        <p:strVal val="visible"/>
                                      </p:to>
                                    </p:set>
                                    <p:animEffect transition="in" filter="box(out)">
                                      <p:cBhvr>
                                        <p:cTn id="127" dur="1000"/>
                                        <p:tgtEl>
                                          <p:spTgt spid="16"/>
                                        </p:tgtEl>
                                      </p:cBhvr>
                                    </p:animEffect>
                                  </p:childTnLst>
                                </p:cTn>
                              </p:par>
                            </p:childTnLst>
                          </p:cTn>
                        </p:par>
                        <p:par>
                          <p:cTn id="128" fill="hold" nodeType="afterGroup">
                            <p:stCondLst>
                              <p:cond delay="1000"/>
                            </p:stCondLst>
                            <p:childTnLst>
                              <p:par>
                                <p:cTn id="129" presetID="1" presetClass="exit" presetSubtype="0" fill="hold" nodeType="afterEffect">
                                  <p:stCondLst>
                                    <p:cond delay="0"/>
                                  </p:stCondLst>
                                  <p:childTnLst>
                                    <p:set>
                                      <p:cBhvr>
                                        <p:cTn id="130" dur="1" fill="hold">
                                          <p:stCondLst>
                                            <p:cond delay="0"/>
                                          </p:stCondLst>
                                        </p:cTn>
                                        <p:tgtEl>
                                          <p:spTgt spid="21"/>
                                        </p:tgtEl>
                                        <p:attrNameLst>
                                          <p:attrName>style.visibility</p:attrName>
                                        </p:attrNameLst>
                                      </p:cBhvr>
                                      <p:to>
                                        <p:strVal val="hidden"/>
                                      </p:to>
                                    </p:set>
                                  </p:childTnLst>
                                </p:cTn>
                              </p:par>
                              <p:par>
                                <p:cTn id="131" presetID="1" presetClass="entr" presetSubtype="0" fill="hold" nodeType="withEffect">
                                  <p:stCondLst>
                                    <p:cond delay="0"/>
                                  </p:stCondLst>
                                  <p:childTnLst>
                                    <p:set>
                                      <p:cBhvr>
                                        <p:cTn id="132" dur="1" fill="hold">
                                          <p:stCondLst>
                                            <p:cond delay="0"/>
                                          </p:stCondLst>
                                        </p:cTn>
                                        <p:tgtEl>
                                          <p:spTgt spid="21"/>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70138"/>
                                        </p:tgtEl>
                                        <p:attrNameLst>
                                          <p:attrName>style.visibility</p:attrName>
                                        </p:attrNameLst>
                                      </p:cBhvr>
                                      <p:to>
                                        <p:strVal val="visible"/>
                                      </p:to>
                                    </p:set>
                                  </p:childTnLst>
                                </p:cTn>
                              </p:par>
                              <p:par>
                                <p:cTn id="135" presetID="14" presetClass="emph" presetSubtype="0" fill="hold" grpId="1" nodeType="withEffect">
                                  <p:stCondLst>
                                    <p:cond delay="0"/>
                                  </p:stCondLst>
                                  <p:childTnLst>
                                    <p:animClr clrSpc="rgb" dir="cw">
                                      <p:cBhvr override="childStyle">
                                        <p:cTn id="136" dur="475" fill="hold">
                                          <p:stCondLst>
                                            <p:cond delay="25"/>
                                          </p:stCondLst>
                                        </p:cTn>
                                        <p:tgtEl>
                                          <p:spTgt spid="170138"/>
                                        </p:tgtEl>
                                        <p:attrNameLst>
                                          <p:attrName>style.color</p:attrName>
                                        </p:attrNameLst>
                                      </p:cBhvr>
                                      <p:to>
                                        <a:schemeClr val="accent2"/>
                                      </p:to>
                                    </p:animClr>
                                    <p:animClr clrSpc="rgb" dir="cw">
                                      <p:cBhvr>
                                        <p:cTn id="137" dur="475" fill="hold">
                                          <p:stCondLst>
                                            <p:cond delay="25"/>
                                          </p:stCondLst>
                                        </p:cTn>
                                        <p:tgtEl>
                                          <p:spTgt spid="170138"/>
                                        </p:tgtEl>
                                        <p:attrNameLst>
                                          <p:attrName>fillColor</p:attrName>
                                        </p:attrNameLst>
                                      </p:cBhvr>
                                      <p:to>
                                        <a:schemeClr val="accent2"/>
                                      </p:to>
                                    </p:animClr>
                                    <p:set>
                                      <p:cBhvr>
                                        <p:cTn id="138" dur="475" fill="hold">
                                          <p:stCondLst>
                                            <p:cond delay="25"/>
                                          </p:stCondLst>
                                        </p:cTn>
                                        <p:tgtEl>
                                          <p:spTgt spid="170138"/>
                                        </p:tgtEl>
                                        <p:attrNameLst>
                                          <p:attrName>fill.type</p:attrName>
                                        </p:attrNameLst>
                                      </p:cBhvr>
                                      <p:to>
                                        <p:strVal val="solid"/>
                                      </p:to>
                                    </p:set>
                                    <p:set>
                                      <p:cBhvr>
                                        <p:cTn id="139" dur="475" fill="hold">
                                          <p:stCondLst>
                                            <p:cond delay="25"/>
                                          </p:stCondLst>
                                        </p:cTn>
                                        <p:tgtEl>
                                          <p:spTgt spid="170138"/>
                                        </p:tgtEl>
                                        <p:attrNameLst>
                                          <p:attrName>fill.on</p:attrName>
                                        </p:attrNameLst>
                                      </p:cBhvr>
                                      <p:to>
                                        <p:strVal val="true"/>
                                      </p:to>
                                    </p:set>
                                    <p:animScale>
                                      <p:cBhvr>
                                        <p:cTn id="140" dur="50" fill="hold">
                                          <p:stCondLst>
                                            <p:cond delay="0"/>
                                          </p:stCondLst>
                                        </p:cTn>
                                        <p:tgtEl>
                                          <p:spTgt spid="170138"/>
                                        </p:tgtEl>
                                      </p:cBhvr>
                                      <p:from x="100000" y="100000"/>
                                      <p:to x="100000" y="5000"/>
                                    </p:animScale>
                                    <p:animScale>
                                      <p:cBhvr>
                                        <p:cTn id="141" dur="50" fill="hold">
                                          <p:stCondLst>
                                            <p:cond delay="50"/>
                                          </p:stCondLst>
                                        </p:cTn>
                                        <p:tgtEl>
                                          <p:spTgt spid="170138"/>
                                        </p:tgtEl>
                                      </p:cBhvr>
                                      <p:from x="100000" y="5000"/>
                                      <p:to x="120000" y="150000"/>
                                    </p:animScale>
                                    <p:animScale>
                                      <p:cBhvr>
                                        <p:cTn id="142" dur="150" fill="hold">
                                          <p:stCondLst>
                                            <p:cond delay="350"/>
                                          </p:stCondLst>
                                        </p:cTn>
                                        <p:tgtEl>
                                          <p:spTgt spid="170138"/>
                                        </p:tgtEl>
                                      </p:cBhvr>
                                      <p:to x="120000" y="150000"/>
                                    </p:animScale>
                                  </p:childTnLst>
                                </p:cTn>
                              </p:par>
                            </p:childTnLst>
                          </p:cTn>
                        </p:par>
                        <p:par>
                          <p:cTn id="143" fill="hold" nodeType="afterGroup">
                            <p:stCondLst>
                              <p:cond delay="1500"/>
                            </p:stCondLst>
                            <p:childTnLst>
                              <p:par>
                                <p:cTn id="144" presetID="1" presetClass="exit" presetSubtype="0" fill="hold" grpId="2" nodeType="afterEffect">
                                  <p:stCondLst>
                                    <p:cond delay="0"/>
                                  </p:stCondLst>
                                  <p:childTnLst>
                                    <p:set>
                                      <p:cBhvr>
                                        <p:cTn id="145" dur="1" fill="hold">
                                          <p:stCondLst>
                                            <p:cond delay="0"/>
                                          </p:stCondLst>
                                        </p:cTn>
                                        <p:tgtEl>
                                          <p:spTgt spid="170138"/>
                                        </p:tgtEl>
                                        <p:attrNameLst>
                                          <p:attrName>style.visibility</p:attrName>
                                        </p:attrNameLst>
                                      </p:cBhvr>
                                      <p:to>
                                        <p:strVal val="hidden"/>
                                      </p:to>
                                    </p:set>
                                  </p:childTnLst>
                                </p:cTn>
                              </p:par>
                              <p:par>
                                <p:cTn id="146" presetID="0" presetClass="path" presetSubtype="0" accel="50000" decel="50000" fill="hold" nodeType="withEffect">
                                  <p:stCondLst>
                                    <p:cond delay="0"/>
                                  </p:stCondLst>
                                  <p:childTnLst>
                                    <p:animMotion origin="layout" path="M -5.55556E-7 4.33526E-6 L 0.28038 4.33526E-6 " pathEditMode="relative" rAng="0" ptsTypes="AA">
                                      <p:cBhvr>
                                        <p:cTn id="147" dur="500" fill="hold"/>
                                        <p:tgtEl>
                                          <p:spTgt spid="21"/>
                                        </p:tgtEl>
                                        <p:attrNameLst>
                                          <p:attrName>ppt_x</p:attrName>
                                          <p:attrName>ppt_y</p:attrName>
                                        </p:attrNameLst>
                                      </p:cBhvr>
                                      <p:rCtr x="140" y="0"/>
                                    </p:animMotion>
                                  </p:childTnLst>
                                </p:cTn>
                              </p:par>
                              <p:par>
                                <p:cTn id="148" presetID="1" presetClass="entr" presetSubtype="0" fill="hold" nodeType="withEffect">
                                  <p:stCondLst>
                                    <p:cond delay="0"/>
                                  </p:stCondLst>
                                  <p:childTnLst>
                                    <p:set>
                                      <p:cBhvr>
                                        <p:cTn id="149" dur="1" fill="hold">
                                          <p:stCondLst>
                                            <p:cond delay="0"/>
                                          </p:stCondLst>
                                        </p:cTn>
                                        <p:tgtEl>
                                          <p:spTgt spid="24"/>
                                        </p:tgtEl>
                                        <p:attrNameLst>
                                          <p:attrName>style.visibility</p:attrName>
                                        </p:attrNameLst>
                                      </p:cBhvr>
                                      <p:to>
                                        <p:strVal val="visible"/>
                                      </p:to>
                                    </p:set>
                                  </p:childTnLst>
                                </p:cTn>
                              </p:par>
                              <p:par>
                                <p:cTn id="150" presetID="22" presetClass="entr" presetSubtype="8" fill="hold" nodeType="withEffect">
                                  <p:stCondLst>
                                    <p:cond delay="0"/>
                                  </p:stCondLst>
                                  <p:childTnLst>
                                    <p:set>
                                      <p:cBhvr>
                                        <p:cTn id="151" dur="1" fill="hold">
                                          <p:stCondLst>
                                            <p:cond delay="0"/>
                                          </p:stCondLst>
                                        </p:cTn>
                                        <p:tgtEl>
                                          <p:spTgt spid="27"/>
                                        </p:tgtEl>
                                        <p:attrNameLst>
                                          <p:attrName>style.visibility</p:attrName>
                                        </p:attrNameLst>
                                      </p:cBhvr>
                                      <p:to>
                                        <p:strVal val="visible"/>
                                      </p:to>
                                    </p:set>
                                    <p:animEffect transition="in" filter="wipe(left)">
                                      <p:cBhvr>
                                        <p:cTn id="152" dur="1000"/>
                                        <p:tgtEl>
                                          <p:spTgt spid="27"/>
                                        </p:tgtEl>
                                      </p:cBhvr>
                                    </p:animEffect>
                                  </p:childTnLst>
                                </p:cTn>
                              </p:par>
                              <p:par>
                                <p:cTn id="153" presetID="22" presetClass="entr" presetSubtype="8" fill="hold" nodeType="withEffect">
                                  <p:stCondLst>
                                    <p:cond delay="0"/>
                                  </p:stCondLst>
                                  <p:childTnLst>
                                    <p:set>
                                      <p:cBhvr>
                                        <p:cTn id="154" dur="1" fill="hold">
                                          <p:stCondLst>
                                            <p:cond delay="0"/>
                                          </p:stCondLst>
                                        </p:cTn>
                                        <p:tgtEl>
                                          <p:spTgt spid="19"/>
                                        </p:tgtEl>
                                        <p:attrNameLst>
                                          <p:attrName>style.visibility</p:attrName>
                                        </p:attrNameLst>
                                      </p:cBhvr>
                                      <p:to>
                                        <p:strVal val="visible"/>
                                      </p:to>
                                    </p:set>
                                    <p:animEffect transition="in" filter="wipe(left)">
                                      <p:cBhvr>
                                        <p:cTn id="155" dur="1000"/>
                                        <p:tgtEl>
                                          <p:spTgt spid="19"/>
                                        </p:tgtEl>
                                      </p:cBhvr>
                                    </p:animEffect>
                                  </p:childTnLst>
                                </p:cTn>
                              </p:par>
                            </p:childTnLst>
                          </p:cTn>
                        </p:par>
                        <p:par>
                          <p:cTn id="156" fill="hold" nodeType="afterGroup">
                            <p:stCondLst>
                              <p:cond delay="2500"/>
                            </p:stCondLst>
                            <p:childTnLst>
                              <p:par>
                                <p:cTn id="157" presetID="22" presetClass="entr" presetSubtype="8" fill="hold" grpId="0" nodeType="afterEffect">
                                  <p:stCondLst>
                                    <p:cond delay="0"/>
                                  </p:stCondLst>
                                  <p:childTnLst>
                                    <p:set>
                                      <p:cBhvr>
                                        <p:cTn id="158" dur="1" fill="hold">
                                          <p:stCondLst>
                                            <p:cond delay="0"/>
                                          </p:stCondLst>
                                        </p:cTn>
                                        <p:tgtEl>
                                          <p:spTgt spid="170172"/>
                                        </p:tgtEl>
                                        <p:attrNameLst>
                                          <p:attrName>style.visibility</p:attrName>
                                        </p:attrNameLst>
                                      </p:cBhvr>
                                      <p:to>
                                        <p:strVal val="visible"/>
                                      </p:to>
                                    </p:set>
                                    <p:animEffect transition="in" filter="wipe(left)">
                                      <p:cBhvr>
                                        <p:cTn id="159" dur="1000"/>
                                        <p:tgtEl>
                                          <p:spTgt spid="170172"/>
                                        </p:tgtEl>
                                      </p:cBhvr>
                                    </p:animEffect>
                                  </p:childTnLst>
                                </p:cTn>
                              </p:par>
                              <p:par>
                                <p:cTn id="160" presetID="1" presetClass="entr" presetSubtype="0" fill="hold" grpId="0" nodeType="withEffect">
                                  <p:stCondLst>
                                    <p:cond delay="0"/>
                                  </p:stCondLst>
                                  <p:childTnLst>
                                    <p:set>
                                      <p:cBhvr>
                                        <p:cTn id="161" dur="1" fill="hold">
                                          <p:stCondLst>
                                            <p:cond delay="0"/>
                                          </p:stCondLst>
                                        </p:cTn>
                                        <p:tgtEl>
                                          <p:spTgt spid="170183"/>
                                        </p:tgtEl>
                                        <p:attrNameLst>
                                          <p:attrName>style.visibility</p:attrName>
                                        </p:attrNameLst>
                                      </p:cBhvr>
                                      <p:to>
                                        <p:strVal val="visible"/>
                                      </p:to>
                                    </p:set>
                                  </p:childTnLst>
                                </p:cTn>
                              </p:par>
                            </p:childTnLst>
                          </p:cTn>
                        </p:par>
                        <p:par>
                          <p:cTn id="162" fill="hold" nodeType="afterGroup">
                            <p:stCondLst>
                              <p:cond delay="3500"/>
                            </p:stCondLst>
                            <p:childTnLst>
                              <p:par>
                                <p:cTn id="163" presetID="22" presetClass="entr" presetSubtype="8" fill="hold" grpId="0" nodeType="afterEffect">
                                  <p:stCondLst>
                                    <p:cond delay="0"/>
                                  </p:stCondLst>
                                  <p:childTnLst>
                                    <p:set>
                                      <p:cBhvr>
                                        <p:cTn id="164" dur="1" fill="hold">
                                          <p:stCondLst>
                                            <p:cond delay="0"/>
                                          </p:stCondLst>
                                        </p:cTn>
                                        <p:tgtEl>
                                          <p:spTgt spid="170173"/>
                                        </p:tgtEl>
                                        <p:attrNameLst>
                                          <p:attrName>style.visibility</p:attrName>
                                        </p:attrNameLst>
                                      </p:cBhvr>
                                      <p:to>
                                        <p:strVal val="visible"/>
                                      </p:to>
                                    </p:set>
                                    <p:animEffect transition="in" filter="wipe(left)">
                                      <p:cBhvr>
                                        <p:cTn id="165" dur="1000"/>
                                        <p:tgtEl>
                                          <p:spTgt spid="170173"/>
                                        </p:tgtEl>
                                      </p:cBhvr>
                                    </p:animEffect>
                                  </p:childTnLst>
                                </p:cTn>
                              </p:par>
                              <p:par>
                                <p:cTn id="166" presetID="1" presetClass="entr" presetSubtype="0" fill="hold" grpId="0" nodeType="withEffect">
                                  <p:stCondLst>
                                    <p:cond delay="0"/>
                                  </p:stCondLst>
                                  <p:childTnLst>
                                    <p:set>
                                      <p:cBhvr>
                                        <p:cTn id="167" dur="1" fill="hold">
                                          <p:stCondLst>
                                            <p:cond delay="0"/>
                                          </p:stCondLst>
                                        </p:cTn>
                                        <p:tgtEl>
                                          <p:spTgt spid="170182"/>
                                        </p:tgtEl>
                                        <p:attrNameLst>
                                          <p:attrName>style.visibility</p:attrName>
                                        </p:attrNameLst>
                                      </p:cBhvr>
                                      <p:to>
                                        <p:strVal val="visible"/>
                                      </p:to>
                                    </p:set>
                                  </p:childTnLst>
                                </p:cTn>
                              </p:par>
                            </p:childTnLst>
                          </p:cTn>
                        </p:par>
                        <p:par>
                          <p:cTn id="168" fill="hold" nodeType="afterGroup">
                            <p:stCondLst>
                              <p:cond delay="4500"/>
                            </p:stCondLst>
                            <p:childTnLst>
                              <p:par>
                                <p:cTn id="169" presetID="22" presetClass="entr" presetSubtype="8" fill="hold" nodeType="afterEffect">
                                  <p:stCondLst>
                                    <p:cond delay="0"/>
                                  </p:stCondLst>
                                  <p:childTnLst>
                                    <p:set>
                                      <p:cBhvr>
                                        <p:cTn id="170" dur="1" fill="hold">
                                          <p:stCondLst>
                                            <p:cond delay="0"/>
                                          </p:stCondLst>
                                        </p:cTn>
                                        <p:tgtEl>
                                          <p:spTgt spid="28"/>
                                        </p:tgtEl>
                                        <p:attrNameLst>
                                          <p:attrName>style.visibility</p:attrName>
                                        </p:attrNameLst>
                                      </p:cBhvr>
                                      <p:to>
                                        <p:strVal val="visible"/>
                                      </p:to>
                                    </p:set>
                                    <p:animEffect transition="in" filter="wipe(left)">
                                      <p:cBhvr>
                                        <p:cTn id="171" dur="1000"/>
                                        <p:tgtEl>
                                          <p:spTgt spid="28"/>
                                        </p:tgtEl>
                                      </p:cBhvr>
                                    </p:animEffect>
                                  </p:childTnLst>
                                </p:cTn>
                              </p:par>
                            </p:childTnLst>
                          </p:cTn>
                        </p:par>
                      </p:childTnLst>
                    </p:cTn>
                  </p:par>
                  <p:par>
                    <p:cTn id="172" fill="hold" nodeType="clickPar">
                      <p:stCondLst>
                        <p:cond delay="indefinite"/>
                      </p:stCondLst>
                      <p:childTnLst>
                        <p:par>
                          <p:cTn id="173" fill="hold" nodeType="withGroup">
                            <p:stCondLst>
                              <p:cond delay="0"/>
                            </p:stCondLst>
                            <p:childTnLst>
                              <p:par>
                                <p:cTn id="174" presetID="4" presetClass="entr" presetSubtype="32" fill="hold" nodeType="clickEffect">
                                  <p:stCondLst>
                                    <p:cond delay="0"/>
                                  </p:stCondLst>
                                  <p:childTnLst>
                                    <p:set>
                                      <p:cBhvr>
                                        <p:cTn id="175" dur="1" fill="hold">
                                          <p:stCondLst>
                                            <p:cond delay="0"/>
                                          </p:stCondLst>
                                        </p:cTn>
                                        <p:tgtEl>
                                          <p:spTgt spid="29"/>
                                        </p:tgtEl>
                                        <p:attrNameLst>
                                          <p:attrName>style.visibility</p:attrName>
                                        </p:attrNameLst>
                                      </p:cBhvr>
                                      <p:to>
                                        <p:strVal val="visible"/>
                                      </p:to>
                                    </p:set>
                                    <p:animEffect transition="in" filter="box(out)">
                                      <p:cBhvr>
                                        <p:cTn id="176" dur="500"/>
                                        <p:tgtEl>
                                          <p:spTgt spid="29"/>
                                        </p:tgtEl>
                                      </p:cBhvr>
                                    </p:animEffect>
                                  </p:childTnLst>
                                </p:cTn>
                              </p:par>
                            </p:childTnLst>
                          </p:cTn>
                        </p:par>
                      </p:childTnLst>
                    </p:cTn>
                  </p:par>
                  <p:par>
                    <p:cTn id="177" fill="hold" nodeType="clickPar">
                      <p:stCondLst>
                        <p:cond delay="indefinite"/>
                      </p:stCondLst>
                      <p:childTnLst>
                        <p:par>
                          <p:cTn id="178" fill="hold" nodeType="withGroup">
                            <p:stCondLst>
                              <p:cond delay="0"/>
                            </p:stCondLst>
                            <p:childTnLst>
                              <p:par>
                                <p:cTn id="179" presetID="22" presetClass="entr" presetSubtype="8" fill="hold" nodeType="clickEffect">
                                  <p:stCondLst>
                                    <p:cond delay="0"/>
                                  </p:stCondLst>
                                  <p:childTnLst>
                                    <p:set>
                                      <p:cBhvr>
                                        <p:cTn id="180" dur="1" fill="hold">
                                          <p:stCondLst>
                                            <p:cond delay="0"/>
                                          </p:stCondLst>
                                        </p:cTn>
                                        <p:tgtEl>
                                          <p:spTgt spid="30"/>
                                        </p:tgtEl>
                                        <p:attrNameLst>
                                          <p:attrName>style.visibility</p:attrName>
                                        </p:attrNameLst>
                                      </p:cBhvr>
                                      <p:to>
                                        <p:strVal val="visible"/>
                                      </p:to>
                                    </p:set>
                                    <p:animEffect transition="in" filter="wipe(left)">
                                      <p:cBhvr>
                                        <p:cTn id="181"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6" grpId="0"/>
      <p:bldP spid="169987" grpId="0"/>
      <p:bldP spid="169988" grpId="0"/>
      <p:bldP spid="169989" grpId="0"/>
      <p:bldP spid="169990" grpId="0"/>
      <p:bldP spid="169991" grpId="0"/>
      <p:bldP spid="170053" grpId="0" animBg="1"/>
      <p:bldP spid="170053" grpId="1" animBg="1"/>
      <p:bldP spid="170053" grpId="2" animBg="1"/>
      <p:bldP spid="170079" grpId="0" animBg="1"/>
      <p:bldP spid="170080" grpId="0" animBg="1"/>
      <p:bldP spid="170090" grpId="0" animBg="1"/>
      <p:bldP spid="170090" grpId="1" animBg="1"/>
      <p:bldP spid="170090" grpId="2" animBg="1"/>
      <p:bldP spid="170091" grpId="0"/>
      <p:bldP spid="170094" grpId="0"/>
      <p:bldP spid="170138" grpId="0" animBg="1"/>
      <p:bldP spid="170138" grpId="1" animBg="1"/>
      <p:bldP spid="170138" grpId="2" animBg="1"/>
      <p:bldP spid="170172" grpId="0" animBg="1"/>
      <p:bldP spid="170173" grpId="0" animBg="1"/>
      <p:bldP spid="170182" grpId="0"/>
      <p:bldP spid="17018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1010" name="Object 2"/>
          <p:cNvGraphicFramePr>
            <a:graphicFrameLocks noChangeAspect="1"/>
          </p:cNvGraphicFramePr>
          <p:nvPr/>
        </p:nvGraphicFramePr>
        <p:xfrm>
          <a:off x="1185863" y="3649663"/>
          <a:ext cx="1244600" cy="320675"/>
        </p:xfrm>
        <a:graphic>
          <a:graphicData uri="http://schemas.openxmlformats.org/presentationml/2006/ole">
            <p:oleObj spid="_x0000_s6146" name="公式" r:id="rId3" imgW="685502" imgH="177723" progId="Equation.3">
              <p:embed/>
            </p:oleObj>
          </a:graphicData>
        </a:graphic>
      </p:graphicFrame>
      <p:sp>
        <p:nvSpPr>
          <p:cNvPr id="171011" name="Text Box 3"/>
          <p:cNvSpPr txBox="1">
            <a:spLocks noChangeArrowheads="1"/>
          </p:cNvSpPr>
          <p:nvPr/>
        </p:nvSpPr>
        <p:spPr bwMode="auto">
          <a:xfrm>
            <a:off x="609600" y="3470275"/>
            <a:ext cx="792163" cy="479425"/>
          </a:xfrm>
          <a:prstGeom prst="rect">
            <a:avLst/>
          </a:prstGeom>
          <a:noFill/>
          <a:ln w="9525">
            <a:noFill/>
            <a:miter lim="800000"/>
            <a:headEnd/>
            <a:tailEnd/>
          </a:ln>
        </p:spPr>
        <p:txBody>
          <a:bodyPr>
            <a:spAutoFit/>
          </a:bodyPr>
          <a:lstStyle/>
          <a:p>
            <a:pPr algn="l" eaLnBrk="0" hangingPunct="0">
              <a:lnSpc>
                <a:spcPct val="115000"/>
              </a:lnSpc>
            </a:pPr>
            <a:r>
              <a:rPr lang="zh-CN" altLang="en-US" b="1">
                <a:solidFill>
                  <a:schemeClr val="bg1"/>
                </a:solidFill>
              </a:rPr>
              <a:t>即</a:t>
            </a:r>
            <a:r>
              <a:rPr lang="en-US" altLang="zh-CN" b="1">
                <a:solidFill>
                  <a:srgbClr val="FF0000"/>
                </a:solidFill>
              </a:rPr>
              <a:t> </a:t>
            </a:r>
          </a:p>
        </p:txBody>
      </p:sp>
      <p:sp>
        <p:nvSpPr>
          <p:cNvPr id="171012" name="Text Box 4"/>
          <p:cNvSpPr txBox="1">
            <a:spLocks noChangeArrowheads="1"/>
          </p:cNvSpPr>
          <p:nvPr/>
        </p:nvSpPr>
        <p:spPr bwMode="auto">
          <a:xfrm>
            <a:off x="3492500" y="3294063"/>
            <a:ext cx="5110163" cy="868362"/>
          </a:xfrm>
          <a:prstGeom prst="rect">
            <a:avLst/>
          </a:prstGeom>
          <a:gradFill rotWithShape="1">
            <a:gsLst>
              <a:gs pos="0">
                <a:srgbClr val="FFFFFF"/>
              </a:gs>
              <a:gs pos="100000">
                <a:srgbClr val="CCFFFF">
                  <a:alpha val="20000"/>
                </a:srgbClr>
              </a:gs>
            </a:gsLst>
            <a:path path="shape">
              <a:fillToRect l="50000" t="50000" r="50000" b="50000"/>
            </a:path>
          </a:gradFill>
          <a:ln w="12700">
            <a:solidFill>
              <a:srgbClr val="009999">
                <a:alpha val="50195"/>
              </a:srgbClr>
            </a:solidFill>
            <a:miter lim="800000"/>
            <a:headEnd type="none" w="sm" len="sm"/>
            <a:tailEnd type="none" w="sm" len="sm"/>
          </a:ln>
        </p:spPr>
        <p:txBody>
          <a:bodyPr tIns="10800">
            <a:spAutoFit/>
          </a:bodyPr>
          <a:lstStyle/>
          <a:p>
            <a:pPr algn="l" defTabSz="762000" eaLnBrk="0" hangingPunct="0">
              <a:lnSpc>
                <a:spcPct val="115000"/>
              </a:lnSpc>
            </a:pPr>
            <a:r>
              <a:rPr lang="zh-CN" altLang="en-US" b="1">
                <a:solidFill>
                  <a:schemeClr val="tx2"/>
                </a:solidFill>
              </a:rPr>
              <a:t>原时</a:t>
            </a:r>
            <a:r>
              <a:rPr lang="en-US" altLang="zh-CN" b="1">
                <a:solidFill>
                  <a:schemeClr val="bg1"/>
                </a:solidFill>
              </a:rPr>
              <a:t>:   </a:t>
            </a:r>
            <a:r>
              <a:rPr lang="zh-CN" altLang="en-US" b="1">
                <a:solidFill>
                  <a:schemeClr val="bg1"/>
                </a:solidFill>
              </a:rPr>
              <a:t>在某惯性系中，</a:t>
            </a:r>
            <a:r>
              <a:rPr lang="zh-CN" altLang="en-US" b="1">
                <a:solidFill>
                  <a:srgbClr val="FF6600"/>
                </a:solidFill>
              </a:rPr>
              <a:t>同一地点</a:t>
            </a:r>
            <a:r>
              <a:rPr lang="zh-CN" altLang="en-US" b="1">
                <a:solidFill>
                  <a:schemeClr val="bg1"/>
                </a:solidFill>
              </a:rPr>
              <a:t>先后发生的两个事件之间的时间间隔</a:t>
            </a:r>
            <a:endParaRPr lang="zh-CN" altLang="en-US" b="1">
              <a:solidFill>
                <a:srgbClr val="FFFF00"/>
              </a:solidFill>
            </a:endParaRPr>
          </a:p>
        </p:txBody>
      </p:sp>
      <p:sp>
        <p:nvSpPr>
          <p:cNvPr id="171013" name="Text Box 5"/>
          <p:cNvSpPr txBox="1">
            <a:spLocks noChangeArrowheads="1"/>
          </p:cNvSpPr>
          <p:nvPr/>
        </p:nvSpPr>
        <p:spPr bwMode="auto">
          <a:xfrm>
            <a:off x="2424113" y="3579813"/>
            <a:ext cx="1081087" cy="477837"/>
          </a:xfrm>
          <a:prstGeom prst="rect">
            <a:avLst/>
          </a:prstGeom>
          <a:noFill/>
          <a:ln w="9525">
            <a:noFill/>
            <a:miter lim="800000"/>
            <a:headEnd/>
            <a:tailEnd/>
          </a:ln>
        </p:spPr>
        <p:txBody>
          <a:bodyPr tIns="10800">
            <a:spAutoFit/>
          </a:bodyPr>
          <a:lstStyle/>
          <a:p>
            <a:pPr algn="l" defTabSz="762000" eaLnBrk="0" hangingPunct="0">
              <a:lnSpc>
                <a:spcPct val="115000"/>
              </a:lnSpc>
            </a:pPr>
            <a:r>
              <a:rPr lang="en-US" altLang="zh-CN" b="1">
                <a:solidFill>
                  <a:srgbClr val="CC0000"/>
                </a:solidFill>
                <a:ea typeface="楷体_GB2312" pitchFamily="49" charset="-122"/>
              </a:rPr>
              <a:t>(</a:t>
            </a:r>
            <a:r>
              <a:rPr lang="zh-CN" altLang="en-US" b="1">
                <a:solidFill>
                  <a:srgbClr val="CC0000"/>
                </a:solidFill>
                <a:ea typeface="楷体_GB2312" pitchFamily="49" charset="-122"/>
              </a:rPr>
              <a:t>原时</a:t>
            </a:r>
            <a:r>
              <a:rPr lang="en-US" altLang="zh-CN" b="1">
                <a:solidFill>
                  <a:srgbClr val="CC0000"/>
                </a:solidFill>
                <a:ea typeface="楷体_GB2312" pitchFamily="49" charset="-122"/>
              </a:rPr>
              <a:t>)</a:t>
            </a:r>
          </a:p>
        </p:txBody>
      </p:sp>
      <p:sp>
        <p:nvSpPr>
          <p:cNvPr id="6160" name="Text Box 7"/>
          <p:cNvSpPr txBox="1">
            <a:spLocks noChangeArrowheads="1"/>
          </p:cNvSpPr>
          <p:nvPr/>
        </p:nvSpPr>
        <p:spPr bwMode="auto">
          <a:xfrm>
            <a:off x="341313" y="638175"/>
            <a:ext cx="1936750" cy="461963"/>
          </a:xfrm>
          <a:prstGeom prst="rect">
            <a:avLst/>
          </a:prstGeom>
          <a:noFill/>
          <a:ln w="9525">
            <a:noFill/>
            <a:miter lim="800000"/>
            <a:headEnd/>
            <a:tailEnd/>
          </a:ln>
        </p:spPr>
        <p:txBody>
          <a:bodyPr>
            <a:spAutoFit/>
          </a:bodyPr>
          <a:lstStyle/>
          <a:p>
            <a:pPr algn="l">
              <a:spcBef>
                <a:spcPct val="50000"/>
              </a:spcBef>
            </a:pPr>
            <a:r>
              <a:rPr lang="en-US" altLang="zh-CN" b="1" i="1">
                <a:solidFill>
                  <a:srgbClr val="FF6600"/>
                </a:solidFill>
              </a:rPr>
              <a:t>S'</a:t>
            </a:r>
            <a:r>
              <a:rPr lang="zh-CN" altLang="en-US" b="1"/>
              <a:t>系中测量</a:t>
            </a:r>
          </a:p>
        </p:txBody>
      </p:sp>
      <p:graphicFrame>
        <p:nvGraphicFramePr>
          <p:cNvPr id="6147" name="Object 8"/>
          <p:cNvGraphicFramePr>
            <a:graphicFrameLocks noChangeAspect="1"/>
          </p:cNvGraphicFramePr>
          <p:nvPr/>
        </p:nvGraphicFramePr>
        <p:xfrm>
          <a:off x="2097088" y="547688"/>
          <a:ext cx="1123950" cy="720725"/>
        </p:xfrm>
        <a:graphic>
          <a:graphicData uri="http://schemas.openxmlformats.org/presentationml/2006/ole">
            <p:oleObj spid="_x0000_s6147" name="Equation" r:id="rId4" imgW="571252" imgH="393529" progId="">
              <p:embed/>
            </p:oleObj>
          </a:graphicData>
        </a:graphic>
      </p:graphicFrame>
      <p:sp>
        <p:nvSpPr>
          <p:cNvPr id="6161" name="Text Box 10"/>
          <p:cNvSpPr txBox="1">
            <a:spLocks noChangeArrowheads="1"/>
          </p:cNvSpPr>
          <p:nvPr/>
        </p:nvSpPr>
        <p:spPr bwMode="auto">
          <a:xfrm>
            <a:off x="4481513" y="547688"/>
            <a:ext cx="1620837" cy="461962"/>
          </a:xfrm>
          <a:prstGeom prst="rect">
            <a:avLst/>
          </a:prstGeom>
          <a:noFill/>
          <a:ln w="9525">
            <a:noFill/>
            <a:miter lim="800000"/>
            <a:headEnd/>
            <a:tailEnd/>
          </a:ln>
        </p:spPr>
        <p:txBody>
          <a:bodyPr>
            <a:spAutoFit/>
          </a:bodyPr>
          <a:lstStyle/>
          <a:p>
            <a:pPr algn="l">
              <a:spcBef>
                <a:spcPct val="50000"/>
              </a:spcBef>
            </a:pPr>
            <a:r>
              <a:rPr lang="en-US" altLang="zh-CN" b="1" i="1">
                <a:solidFill>
                  <a:srgbClr val="FF6600"/>
                </a:solidFill>
              </a:rPr>
              <a:t>S</a:t>
            </a:r>
            <a:r>
              <a:rPr lang="zh-CN" altLang="en-US" b="1"/>
              <a:t>系中测量</a:t>
            </a:r>
          </a:p>
        </p:txBody>
      </p:sp>
      <p:grpSp>
        <p:nvGrpSpPr>
          <p:cNvPr id="6162" name="Group 11"/>
          <p:cNvGrpSpPr>
            <a:grpSpLocks/>
          </p:cNvGrpSpPr>
          <p:nvPr/>
        </p:nvGrpSpPr>
        <p:grpSpPr bwMode="auto">
          <a:xfrm>
            <a:off x="6011863" y="503238"/>
            <a:ext cx="2835275" cy="674687"/>
            <a:chOff x="3787" y="2330"/>
            <a:chExt cx="1786" cy="425"/>
          </a:xfrm>
        </p:grpSpPr>
        <p:graphicFrame>
          <p:nvGraphicFramePr>
            <p:cNvPr id="6155" name="Object 12"/>
            <p:cNvGraphicFramePr>
              <a:graphicFrameLocks noChangeAspect="1"/>
            </p:cNvGraphicFramePr>
            <p:nvPr/>
          </p:nvGraphicFramePr>
          <p:xfrm>
            <a:off x="3787" y="2330"/>
            <a:ext cx="794" cy="425"/>
          </p:xfrm>
          <a:graphic>
            <a:graphicData uri="http://schemas.openxmlformats.org/presentationml/2006/ole">
              <p:oleObj spid="_x0000_s6155" name="Equation" r:id="rId5" imgW="761669" imgH="393529" progId="">
                <p:embed/>
              </p:oleObj>
            </a:graphicData>
          </a:graphic>
        </p:graphicFrame>
        <p:graphicFrame>
          <p:nvGraphicFramePr>
            <p:cNvPr id="6156" name="Object 13"/>
            <p:cNvGraphicFramePr>
              <a:graphicFrameLocks noChangeAspect="1"/>
            </p:cNvGraphicFramePr>
            <p:nvPr/>
          </p:nvGraphicFramePr>
          <p:xfrm>
            <a:off x="4581" y="2330"/>
            <a:ext cx="992" cy="425"/>
          </p:xfrm>
          <a:graphic>
            <a:graphicData uri="http://schemas.openxmlformats.org/presentationml/2006/ole">
              <p:oleObj spid="_x0000_s6156" name="Equation" r:id="rId6" imgW="875920" imgH="444307" progId="">
                <p:embed/>
              </p:oleObj>
            </a:graphicData>
          </a:graphic>
        </p:graphicFrame>
      </p:grpSp>
      <p:graphicFrame>
        <p:nvGraphicFramePr>
          <p:cNvPr id="171022" name="Object 14"/>
          <p:cNvGraphicFramePr>
            <a:graphicFrameLocks noChangeAspect="1"/>
          </p:cNvGraphicFramePr>
          <p:nvPr/>
        </p:nvGraphicFramePr>
        <p:xfrm>
          <a:off x="5427663" y="1709738"/>
          <a:ext cx="2251075" cy="1089025"/>
        </p:xfrm>
        <a:graphic>
          <a:graphicData uri="http://schemas.openxmlformats.org/presentationml/2006/ole">
            <p:oleObj spid="_x0000_s6148" name="Equation" r:id="rId7" imgW="1180588" imgH="571252" progId="">
              <p:embed/>
            </p:oleObj>
          </a:graphicData>
        </a:graphic>
      </p:graphicFrame>
      <p:sp>
        <p:nvSpPr>
          <p:cNvPr id="171023" name="AutoShape 15"/>
          <p:cNvSpPr>
            <a:spLocks noChangeArrowheads="1"/>
          </p:cNvSpPr>
          <p:nvPr/>
        </p:nvSpPr>
        <p:spPr bwMode="auto">
          <a:xfrm rot="1613806">
            <a:off x="3222625" y="1403350"/>
            <a:ext cx="2160588" cy="238125"/>
          </a:xfrm>
          <a:prstGeom prst="leftRightArrow">
            <a:avLst>
              <a:gd name="adj1" fmla="val 50000"/>
              <a:gd name="adj2" fmla="val 181467"/>
            </a:avLst>
          </a:prstGeom>
          <a:solidFill>
            <a:srgbClr val="CCFFFF"/>
          </a:solidFill>
          <a:ln w="9525">
            <a:solidFill>
              <a:srgbClr val="66FFFF"/>
            </a:solidFill>
            <a:miter lim="800000"/>
            <a:headEnd/>
            <a:tailEnd/>
          </a:ln>
        </p:spPr>
        <p:txBody>
          <a:bodyPr wrap="none" anchor="ctr"/>
          <a:lstStyle/>
          <a:p>
            <a:endParaRPr lang="zh-CN" altLang="en-US"/>
          </a:p>
        </p:txBody>
      </p:sp>
      <p:graphicFrame>
        <p:nvGraphicFramePr>
          <p:cNvPr id="171024" name="Object 16"/>
          <p:cNvGraphicFramePr>
            <a:graphicFrameLocks noChangeAspect="1"/>
          </p:cNvGraphicFramePr>
          <p:nvPr/>
        </p:nvGraphicFramePr>
        <p:xfrm>
          <a:off x="2097088" y="547688"/>
          <a:ext cx="1123950" cy="720725"/>
        </p:xfrm>
        <a:graphic>
          <a:graphicData uri="http://schemas.openxmlformats.org/presentationml/2006/ole">
            <p:oleObj spid="_x0000_s6149" name="Equation" r:id="rId8" imgW="571252" imgH="393529" progId="">
              <p:embed/>
            </p:oleObj>
          </a:graphicData>
        </a:graphic>
      </p:graphicFrame>
      <p:graphicFrame>
        <p:nvGraphicFramePr>
          <p:cNvPr id="171025" name="Object 17"/>
          <p:cNvGraphicFramePr>
            <a:graphicFrameLocks noChangeAspect="1"/>
          </p:cNvGraphicFramePr>
          <p:nvPr/>
        </p:nvGraphicFramePr>
        <p:xfrm>
          <a:off x="5427663" y="1709738"/>
          <a:ext cx="2249487" cy="1089025"/>
        </p:xfrm>
        <a:graphic>
          <a:graphicData uri="http://schemas.openxmlformats.org/presentationml/2006/ole">
            <p:oleObj spid="_x0000_s6150" name="Equation" r:id="rId9" imgW="1180588" imgH="571252" progId="">
              <p:embed/>
            </p:oleObj>
          </a:graphicData>
        </a:graphic>
      </p:graphicFrame>
      <p:sp>
        <p:nvSpPr>
          <p:cNvPr id="171026" name="Text Box 18"/>
          <p:cNvSpPr txBox="1">
            <a:spLocks noChangeArrowheads="1"/>
          </p:cNvSpPr>
          <p:nvPr/>
        </p:nvSpPr>
        <p:spPr bwMode="auto">
          <a:xfrm>
            <a:off x="3762375" y="1314450"/>
            <a:ext cx="854075" cy="396875"/>
          </a:xfrm>
          <a:prstGeom prst="rect">
            <a:avLst/>
          </a:prstGeom>
          <a:noFill/>
          <a:ln w="9525">
            <a:noFill/>
            <a:miter lim="800000"/>
            <a:headEnd/>
            <a:tailEnd/>
          </a:ln>
        </p:spPr>
        <p:txBody>
          <a:bodyPr>
            <a:spAutoFit/>
          </a:bodyPr>
          <a:lstStyle/>
          <a:p>
            <a:pPr>
              <a:spcBef>
                <a:spcPct val="50000"/>
              </a:spcBef>
            </a:pPr>
            <a:r>
              <a:rPr lang="zh-CN" altLang="en-US" sz="2000" b="1">
                <a:solidFill>
                  <a:srgbClr val="660033"/>
                </a:solidFill>
                <a:ea typeface="楷体_GB2312" pitchFamily="49" charset="-122"/>
              </a:rPr>
              <a:t>比较</a:t>
            </a:r>
          </a:p>
        </p:txBody>
      </p:sp>
      <p:graphicFrame>
        <p:nvGraphicFramePr>
          <p:cNvPr id="171027" name="Object 19"/>
          <p:cNvGraphicFramePr>
            <a:graphicFrameLocks noChangeAspect="1"/>
          </p:cNvGraphicFramePr>
          <p:nvPr/>
        </p:nvGraphicFramePr>
        <p:xfrm>
          <a:off x="1511300" y="1697038"/>
          <a:ext cx="1755775" cy="1060450"/>
        </p:xfrm>
        <a:graphic>
          <a:graphicData uri="http://schemas.openxmlformats.org/presentationml/2006/ole">
            <p:oleObj spid="_x0000_s6151" name="Equation" r:id="rId10" imgW="965200" imgH="571500" progId="">
              <p:embed/>
            </p:oleObj>
          </a:graphicData>
        </a:graphic>
      </p:graphicFrame>
      <p:sp>
        <p:nvSpPr>
          <p:cNvPr id="171028" name="Text Box 20"/>
          <p:cNvSpPr txBox="1">
            <a:spLocks noChangeArrowheads="1"/>
          </p:cNvSpPr>
          <p:nvPr/>
        </p:nvSpPr>
        <p:spPr bwMode="auto">
          <a:xfrm>
            <a:off x="657225" y="1719263"/>
            <a:ext cx="450850" cy="457200"/>
          </a:xfrm>
          <a:prstGeom prst="rect">
            <a:avLst/>
          </a:prstGeom>
          <a:noFill/>
          <a:ln w="9525">
            <a:noFill/>
            <a:miter lim="800000"/>
            <a:headEnd/>
            <a:tailEnd/>
          </a:ln>
        </p:spPr>
        <p:txBody>
          <a:bodyPr>
            <a:spAutoFit/>
          </a:bodyPr>
          <a:lstStyle/>
          <a:p>
            <a:pPr>
              <a:spcBef>
                <a:spcPct val="50000"/>
              </a:spcBef>
            </a:pPr>
            <a:r>
              <a:rPr lang="zh-CN" altLang="en-US" b="1"/>
              <a:t>得</a:t>
            </a:r>
          </a:p>
        </p:txBody>
      </p:sp>
      <p:graphicFrame>
        <p:nvGraphicFramePr>
          <p:cNvPr id="171029" name="Object 21"/>
          <p:cNvGraphicFramePr>
            <a:graphicFrameLocks noChangeAspect="1"/>
          </p:cNvGraphicFramePr>
          <p:nvPr/>
        </p:nvGraphicFramePr>
        <p:xfrm>
          <a:off x="2232025" y="4406900"/>
          <a:ext cx="777875" cy="320675"/>
        </p:xfrm>
        <a:graphic>
          <a:graphicData uri="http://schemas.openxmlformats.org/presentationml/2006/ole">
            <p:oleObj spid="_x0000_s6152" name="公式" r:id="rId11" imgW="431425" imgH="177646" progId="Equation.3">
              <p:embed/>
            </p:oleObj>
          </a:graphicData>
        </a:graphic>
      </p:graphicFrame>
      <p:graphicFrame>
        <p:nvGraphicFramePr>
          <p:cNvPr id="171030" name="Object 22"/>
          <p:cNvGraphicFramePr>
            <a:graphicFrameLocks noChangeAspect="1"/>
          </p:cNvGraphicFramePr>
          <p:nvPr/>
        </p:nvGraphicFramePr>
        <p:xfrm>
          <a:off x="1016000" y="4406900"/>
          <a:ext cx="935038" cy="409575"/>
        </p:xfrm>
        <a:graphic>
          <a:graphicData uri="http://schemas.openxmlformats.org/presentationml/2006/ole">
            <p:oleObj spid="_x0000_s6153" name="公式" r:id="rId12" imgW="520700" imgH="228600" progId="Equation.3">
              <p:embed/>
            </p:oleObj>
          </a:graphicData>
        </a:graphic>
      </p:graphicFrame>
      <p:sp>
        <p:nvSpPr>
          <p:cNvPr id="171031" name="Text Box 23"/>
          <p:cNvSpPr txBox="1">
            <a:spLocks noChangeArrowheads="1"/>
          </p:cNvSpPr>
          <p:nvPr/>
        </p:nvSpPr>
        <p:spPr bwMode="auto">
          <a:xfrm>
            <a:off x="438150" y="4362450"/>
            <a:ext cx="522288" cy="479425"/>
          </a:xfrm>
          <a:prstGeom prst="rect">
            <a:avLst/>
          </a:prstGeom>
          <a:noFill/>
          <a:ln w="9525">
            <a:noFill/>
            <a:miter lim="800000"/>
            <a:headEnd/>
            <a:tailEnd/>
          </a:ln>
        </p:spPr>
        <p:txBody>
          <a:bodyPr>
            <a:spAutoFit/>
          </a:bodyPr>
          <a:lstStyle/>
          <a:p>
            <a:pPr algn="l">
              <a:lnSpc>
                <a:spcPct val="115000"/>
              </a:lnSpc>
            </a:pPr>
            <a:r>
              <a:rPr lang="zh-CN" altLang="en-US" b="1">
                <a:solidFill>
                  <a:schemeClr val="bg1"/>
                </a:solidFill>
              </a:rPr>
              <a:t>设</a:t>
            </a:r>
          </a:p>
        </p:txBody>
      </p:sp>
      <p:graphicFrame>
        <p:nvGraphicFramePr>
          <p:cNvPr id="171032" name="Object 24"/>
          <p:cNvGraphicFramePr>
            <a:graphicFrameLocks noChangeAspect="1"/>
          </p:cNvGraphicFramePr>
          <p:nvPr/>
        </p:nvGraphicFramePr>
        <p:xfrm>
          <a:off x="1287463" y="4948238"/>
          <a:ext cx="1800225" cy="944562"/>
        </p:xfrm>
        <a:graphic>
          <a:graphicData uri="http://schemas.openxmlformats.org/presentationml/2006/ole">
            <p:oleObj spid="_x0000_s6154" name="Equation" r:id="rId13" imgW="1040948" imgH="469696" progId="">
              <p:embed/>
            </p:oleObj>
          </a:graphicData>
        </a:graphic>
      </p:graphicFrame>
      <p:sp>
        <p:nvSpPr>
          <p:cNvPr id="171033" name="Text Box 25"/>
          <p:cNvSpPr txBox="1">
            <a:spLocks noChangeArrowheads="1"/>
          </p:cNvSpPr>
          <p:nvPr/>
        </p:nvSpPr>
        <p:spPr bwMode="auto">
          <a:xfrm>
            <a:off x="3505200" y="4300538"/>
            <a:ext cx="2070100" cy="461962"/>
          </a:xfrm>
          <a:prstGeom prst="rect">
            <a:avLst/>
          </a:prstGeom>
          <a:noFill/>
          <a:ln w="9525">
            <a:noFill/>
            <a:miter lim="800000"/>
            <a:headEnd/>
            <a:tailEnd/>
          </a:ln>
        </p:spPr>
        <p:txBody>
          <a:bodyPr>
            <a:spAutoFit/>
          </a:bodyPr>
          <a:lstStyle/>
          <a:p>
            <a:pPr algn="l" eaLnBrk="0" hangingPunct="0"/>
            <a:r>
              <a:rPr kumimoji="0" lang="zh-CN" altLang="en-US" b="1">
                <a:solidFill>
                  <a:srgbClr val="CC0000"/>
                </a:solidFill>
              </a:rPr>
              <a:t>实验证实：</a:t>
            </a:r>
          </a:p>
        </p:txBody>
      </p:sp>
      <p:sp>
        <p:nvSpPr>
          <p:cNvPr id="171034" name="Text Box 26"/>
          <p:cNvSpPr txBox="1">
            <a:spLocks noChangeArrowheads="1"/>
          </p:cNvSpPr>
          <p:nvPr/>
        </p:nvSpPr>
        <p:spPr bwMode="auto">
          <a:xfrm>
            <a:off x="3505200" y="4733925"/>
            <a:ext cx="5432425" cy="1717675"/>
          </a:xfrm>
          <a:prstGeom prst="rect">
            <a:avLst/>
          </a:prstGeom>
          <a:noFill/>
          <a:ln w="9525">
            <a:noFill/>
            <a:miter lim="800000"/>
            <a:headEnd/>
            <a:tailEnd/>
          </a:ln>
        </p:spPr>
        <p:txBody>
          <a:bodyPr>
            <a:spAutoFit/>
          </a:bodyPr>
          <a:lstStyle/>
          <a:p>
            <a:pPr algn="l" eaLnBrk="0" hangingPunct="0">
              <a:lnSpc>
                <a:spcPct val="110000"/>
              </a:lnSpc>
            </a:pPr>
            <a:r>
              <a:rPr kumimoji="0" lang="en-US" altLang="zh-CN" b="1">
                <a:solidFill>
                  <a:srgbClr val="CC0000"/>
                </a:solidFill>
              </a:rPr>
              <a:t>    1971</a:t>
            </a:r>
            <a:r>
              <a:rPr kumimoji="0" lang="zh-CN" altLang="en-US" b="1">
                <a:solidFill>
                  <a:srgbClr val="CC0000"/>
                </a:solidFill>
              </a:rPr>
              <a:t>年，将三相同的铯原子钟放入三架飞机，一在地面静止、一向西飞、一向东飞，作环球飞行</a:t>
            </a:r>
            <a:r>
              <a:rPr kumimoji="0" lang="zh-CN" altLang="zh-CN" b="1">
                <a:solidFill>
                  <a:srgbClr val="CC0000"/>
                </a:solidFill>
              </a:rPr>
              <a:t>，</a:t>
            </a:r>
            <a:r>
              <a:rPr kumimoji="0" lang="zh-CN" altLang="en-US" b="1">
                <a:solidFill>
                  <a:srgbClr val="CC0000"/>
                </a:solidFill>
              </a:rPr>
              <a:t>结果发现，向东飞的慢</a:t>
            </a:r>
            <a:r>
              <a:rPr kumimoji="0" lang="en-US" altLang="zh-CN" b="1">
                <a:solidFill>
                  <a:srgbClr val="CC0000"/>
                </a:solidFill>
              </a:rPr>
              <a:t> 59ns</a:t>
            </a:r>
            <a:r>
              <a:rPr kumimoji="0" lang="zh-CN" altLang="en-US" b="1">
                <a:solidFill>
                  <a:srgbClr val="CC0000"/>
                </a:solidFill>
              </a:rPr>
              <a:t>，向西飞的快</a:t>
            </a:r>
            <a:r>
              <a:rPr kumimoji="0" lang="en-US" altLang="zh-CN" b="1">
                <a:solidFill>
                  <a:srgbClr val="CC0000"/>
                </a:solidFill>
              </a:rPr>
              <a:t>237ns</a:t>
            </a:r>
            <a:r>
              <a:rPr kumimoji="0" lang="zh-CN" altLang="en-US" b="1">
                <a:solidFill>
                  <a:srgbClr val="CC0000"/>
                </a:solidFill>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71022"/>
                                        </p:tgtEl>
                                        <p:attrNameLst>
                                          <p:attrName>style.visibility</p:attrName>
                                        </p:attrNameLst>
                                      </p:cBhvr>
                                      <p:to>
                                        <p:strVal val="visible"/>
                                      </p:to>
                                    </p:set>
                                    <p:animEffect transition="in" filter="wipe(left)">
                                      <p:cBhvr>
                                        <p:cTn id="7" dur="1000"/>
                                        <p:tgtEl>
                                          <p:spTgt spid="1710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71023"/>
                                        </p:tgtEl>
                                        <p:attrNameLst>
                                          <p:attrName>style.visibility</p:attrName>
                                        </p:attrNameLst>
                                      </p:cBhvr>
                                      <p:to>
                                        <p:strVal val="visible"/>
                                      </p:to>
                                    </p:set>
                                    <p:animEffect transition="in" filter="box(out)">
                                      <p:cBhvr>
                                        <p:cTn id="12" dur="1000"/>
                                        <p:tgtEl>
                                          <p:spTgt spid="171023"/>
                                        </p:tgtEl>
                                      </p:cBhvr>
                                    </p:animEffect>
                                  </p:childTnLst>
                                </p:cTn>
                              </p:par>
                            </p:childTnLst>
                          </p:cTn>
                        </p:par>
                        <p:par>
                          <p:cTn id="13" fill="hold" nodeType="afterGroup">
                            <p:stCondLst>
                              <p:cond delay="1000"/>
                            </p:stCondLst>
                            <p:childTnLst>
                              <p:par>
                                <p:cTn id="14" presetID="1" presetClass="entr" presetSubtype="0" fill="hold" grpId="0" nodeType="afterEffect">
                                  <p:stCondLst>
                                    <p:cond delay="0"/>
                                  </p:stCondLst>
                                  <p:childTnLst>
                                    <p:set>
                                      <p:cBhvr>
                                        <p:cTn id="15" dur="1" fill="hold">
                                          <p:stCondLst>
                                            <p:cond delay="0"/>
                                          </p:stCondLst>
                                        </p:cTn>
                                        <p:tgtEl>
                                          <p:spTgt spid="171026"/>
                                        </p:tgtEl>
                                        <p:attrNameLst>
                                          <p:attrName>style.visibility</p:attrName>
                                        </p:attrNameLst>
                                      </p:cBhvr>
                                      <p:to>
                                        <p:strVal val="visible"/>
                                      </p:to>
                                    </p:set>
                                  </p:childTnLst>
                                </p:cTn>
                              </p:par>
                            </p:childTnLst>
                          </p:cTn>
                        </p:par>
                        <p:par>
                          <p:cTn id="16" fill="hold" nodeType="afterGroup">
                            <p:stCondLst>
                              <p:cond delay="1000"/>
                            </p:stCondLst>
                            <p:childTnLst>
                              <p:par>
                                <p:cTn id="17" presetID="1" presetClass="entr" presetSubtype="0" fill="hold" nodeType="afterEffect">
                                  <p:stCondLst>
                                    <p:cond delay="0"/>
                                  </p:stCondLst>
                                  <p:childTnLst>
                                    <p:set>
                                      <p:cBhvr>
                                        <p:cTn id="18" dur="1" fill="hold">
                                          <p:stCondLst>
                                            <p:cond delay="0"/>
                                          </p:stCondLst>
                                        </p:cTn>
                                        <p:tgtEl>
                                          <p:spTgt spid="171024"/>
                                        </p:tgtEl>
                                        <p:attrNameLst>
                                          <p:attrName>style.visibility</p:attrName>
                                        </p:attrNameLst>
                                      </p:cBhvr>
                                      <p:to>
                                        <p:strVal val="visible"/>
                                      </p:to>
                                    </p:set>
                                  </p:childTnLst>
                                </p:cTn>
                              </p:par>
                            </p:childTnLst>
                          </p:cTn>
                        </p:par>
                        <p:par>
                          <p:cTn id="19" fill="hold" nodeType="afterGroup">
                            <p:stCondLst>
                              <p:cond delay="1000"/>
                            </p:stCondLst>
                            <p:childTnLst>
                              <p:par>
                                <p:cTn id="20" presetID="1" presetClass="entr" presetSubtype="0" fill="hold" nodeType="afterEffect">
                                  <p:stCondLst>
                                    <p:cond delay="0"/>
                                  </p:stCondLst>
                                  <p:childTnLst>
                                    <p:set>
                                      <p:cBhvr>
                                        <p:cTn id="21" dur="1" fill="hold">
                                          <p:stCondLst>
                                            <p:cond delay="0"/>
                                          </p:stCondLst>
                                        </p:cTn>
                                        <p:tgtEl>
                                          <p:spTgt spid="171025"/>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71028"/>
                                        </p:tgtEl>
                                        <p:attrNameLst>
                                          <p:attrName>style.visibility</p:attrName>
                                        </p:attrNameLst>
                                      </p:cBhvr>
                                      <p:to>
                                        <p:strVal val="visible"/>
                                      </p:to>
                                    </p:set>
                                    <p:animEffect transition="in" filter="wipe(left)">
                                      <p:cBhvr>
                                        <p:cTn id="26" dur="1000"/>
                                        <p:tgtEl>
                                          <p:spTgt spid="17102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71027"/>
                                        </p:tgtEl>
                                        <p:attrNameLst>
                                          <p:attrName>style.visibility</p:attrName>
                                        </p:attrNameLst>
                                      </p:cBhvr>
                                      <p:to>
                                        <p:strVal val="visible"/>
                                      </p:to>
                                    </p:set>
                                    <p:animEffect transition="in" filter="wipe(left)">
                                      <p:cBhvr>
                                        <p:cTn id="31" dur="1000"/>
                                        <p:tgtEl>
                                          <p:spTgt spid="17102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71011"/>
                                        </p:tgtEl>
                                        <p:attrNameLst>
                                          <p:attrName>style.visibility</p:attrName>
                                        </p:attrNameLst>
                                      </p:cBhvr>
                                      <p:to>
                                        <p:strVal val="visible"/>
                                      </p:to>
                                    </p:set>
                                    <p:animEffect transition="in" filter="wipe(left)">
                                      <p:cBhvr>
                                        <p:cTn id="36" dur="1000"/>
                                        <p:tgtEl>
                                          <p:spTgt spid="17101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71010"/>
                                        </p:tgtEl>
                                        <p:attrNameLst>
                                          <p:attrName>style.visibility</p:attrName>
                                        </p:attrNameLst>
                                      </p:cBhvr>
                                      <p:to>
                                        <p:strVal val="visible"/>
                                      </p:to>
                                    </p:set>
                                    <p:animEffect transition="in" filter="wipe(left)">
                                      <p:cBhvr>
                                        <p:cTn id="41" dur="1000"/>
                                        <p:tgtEl>
                                          <p:spTgt spid="17101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71013"/>
                                        </p:tgtEl>
                                        <p:attrNameLst>
                                          <p:attrName>style.visibility</p:attrName>
                                        </p:attrNameLst>
                                      </p:cBhvr>
                                      <p:to>
                                        <p:strVal val="visible"/>
                                      </p:to>
                                    </p:set>
                                    <p:animEffect transition="in" filter="wipe(left)">
                                      <p:cBhvr>
                                        <p:cTn id="46" dur="1000"/>
                                        <p:tgtEl>
                                          <p:spTgt spid="17101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71012"/>
                                        </p:tgtEl>
                                        <p:attrNameLst>
                                          <p:attrName>style.visibility</p:attrName>
                                        </p:attrNameLst>
                                      </p:cBhvr>
                                      <p:to>
                                        <p:strVal val="visible"/>
                                      </p:to>
                                    </p:set>
                                    <p:animEffect transition="in" filter="wipe(left)">
                                      <p:cBhvr>
                                        <p:cTn id="51" dur="1000"/>
                                        <p:tgtEl>
                                          <p:spTgt spid="17101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71031"/>
                                        </p:tgtEl>
                                        <p:attrNameLst>
                                          <p:attrName>style.visibility</p:attrName>
                                        </p:attrNameLst>
                                      </p:cBhvr>
                                      <p:to>
                                        <p:strVal val="visible"/>
                                      </p:to>
                                    </p:set>
                                    <p:animEffect transition="in" filter="wipe(left)">
                                      <p:cBhvr>
                                        <p:cTn id="56" dur="1000"/>
                                        <p:tgtEl>
                                          <p:spTgt spid="171031"/>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171030"/>
                                        </p:tgtEl>
                                        <p:attrNameLst>
                                          <p:attrName>style.visibility</p:attrName>
                                        </p:attrNameLst>
                                      </p:cBhvr>
                                      <p:to>
                                        <p:strVal val="visible"/>
                                      </p:to>
                                    </p:set>
                                    <p:animEffect transition="in" filter="wipe(left)">
                                      <p:cBhvr>
                                        <p:cTn id="61" dur="1000"/>
                                        <p:tgtEl>
                                          <p:spTgt spid="171030"/>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171029"/>
                                        </p:tgtEl>
                                        <p:attrNameLst>
                                          <p:attrName>style.visibility</p:attrName>
                                        </p:attrNameLst>
                                      </p:cBhvr>
                                      <p:to>
                                        <p:strVal val="visible"/>
                                      </p:to>
                                    </p:set>
                                    <p:animEffect transition="in" filter="wipe(left)">
                                      <p:cBhvr>
                                        <p:cTn id="66" dur="1000"/>
                                        <p:tgtEl>
                                          <p:spTgt spid="171029"/>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171032"/>
                                        </p:tgtEl>
                                        <p:attrNameLst>
                                          <p:attrName>style.visibility</p:attrName>
                                        </p:attrNameLst>
                                      </p:cBhvr>
                                      <p:to>
                                        <p:strVal val="visible"/>
                                      </p:to>
                                    </p:set>
                                    <p:animEffect transition="in" filter="wipe(left)">
                                      <p:cBhvr>
                                        <p:cTn id="71" dur="1000"/>
                                        <p:tgtEl>
                                          <p:spTgt spid="171032"/>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71033"/>
                                        </p:tgtEl>
                                        <p:attrNameLst>
                                          <p:attrName>style.visibility</p:attrName>
                                        </p:attrNameLst>
                                      </p:cBhvr>
                                      <p:to>
                                        <p:strVal val="visible"/>
                                      </p:to>
                                    </p:set>
                                    <p:animEffect transition="in" filter="wipe(left)">
                                      <p:cBhvr>
                                        <p:cTn id="76" dur="1000"/>
                                        <p:tgtEl>
                                          <p:spTgt spid="171033"/>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71034"/>
                                        </p:tgtEl>
                                        <p:attrNameLst>
                                          <p:attrName>style.visibility</p:attrName>
                                        </p:attrNameLst>
                                      </p:cBhvr>
                                      <p:to>
                                        <p:strVal val="visible"/>
                                      </p:to>
                                    </p:set>
                                    <p:animEffect transition="in" filter="wipe(left)">
                                      <p:cBhvr>
                                        <p:cTn id="81" dur="1000"/>
                                        <p:tgtEl>
                                          <p:spTgt spid="1710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p:bldP spid="171012" grpId="0" animBg="1"/>
      <p:bldP spid="171013" grpId="0"/>
      <p:bldP spid="171023" grpId="0" animBg="1"/>
      <p:bldP spid="171026" grpId="0"/>
      <p:bldP spid="171028" grpId="0"/>
      <p:bldP spid="171031" grpId="0"/>
      <p:bldP spid="171033" grpId="0"/>
      <p:bldP spid="17103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Text Box 2"/>
          <p:cNvSpPr txBox="1">
            <a:spLocks noChangeArrowheads="1"/>
          </p:cNvSpPr>
          <p:nvPr/>
        </p:nvSpPr>
        <p:spPr bwMode="auto">
          <a:xfrm>
            <a:off x="206375" y="368300"/>
            <a:ext cx="1377950" cy="479425"/>
          </a:xfrm>
          <a:prstGeom prst="rect">
            <a:avLst/>
          </a:prstGeom>
          <a:noFill/>
          <a:ln w="9525">
            <a:noFill/>
            <a:miter lim="800000"/>
            <a:headEnd/>
            <a:tailEnd/>
          </a:ln>
        </p:spPr>
        <p:txBody>
          <a:bodyPr>
            <a:spAutoFit/>
          </a:bodyPr>
          <a:lstStyle/>
          <a:p>
            <a:pPr algn="l">
              <a:lnSpc>
                <a:spcPct val="115000"/>
              </a:lnSpc>
            </a:pPr>
            <a:r>
              <a:rPr lang="zh-CN" altLang="en-US" b="1">
                <a:solidFill>
                  <a:schemeClr val="hlink"/>
                </a:solidFill>
              </a:rPr>
              <a:t>讨论：</a:t>
            </a:r>
          </a:p>
        </p:txBody>
      </p:sp>
      <p:sp>
        <p:nvSpPr>
          <p:cNvPr id="172035" name="Text Box 3"/>
          <p:cNvSpPr txBox="1">
            <a:spLocks noChangeArrowheads="1"/>
          </p:cNvSpPr>
          <p:nvPr/>
        </p:nvSpPr>
        <p:spPr bwMode="auto">
          <a:xfrm>
            <a:off x="238125" y="1493838"/>
            <a:ext cx="3087688" cy="479425"/>
          </a:xfrm>
          <a:prstGeom prst="rect">
            <a:avLst/>
          </a:prstGeom>
          <a:noFill/>
          <a:ln w="9525">
            <a:noFill/>
            <a:miter lim="800000"/>
            <a:headEnd/>
            <a:tailEnd/>
          </a:ln>
        </p:spPr>
        <p:txBody>
          <a:bodyPr>
            <a:spAutoFit/>
          </a:bodyPr>
          <a:lstStyle/>
          <a:p>
            <a:pPr algn="l" defTabSz="762000" eaLnBrk="0" hangingPunct="0">
              <a:lnSpc>
                <a:spcPct val="115000"/>
              </a:lnSpc>
            </a:pPr>
            <a:r>
              <a:rPr lang="en-US" altLang="zh-CN" b="1">
                <a:sym typeface="Monotype Sorts" pitchFamily="2" charset="2"/>
              </a:rPr>
              <a:t>(2)</a:t>
            </a:r>
            <a:r>
              <a:rPr lang="en-US" altLang="zh-CN" b="1">
                <a:solidFill>
                  <a:schemeClr val="bg1"/>
                </a:solidFill>
                <a:sym typeface="Monotype Sorts" pitchFamily="2" charset="2"/>
              </a:rPr>
              <a:t> </a:t>
            </a:r>
            <a:r>
              <a:rPr lang="zh-CN" altLang="en-US" b="1">
                <a:solidFill>
                  <a:srgbClr val="FF6600"/>
                </a:solidFill>
              </a:rPr>
              <a:t>时间膨胀效应</a:t>
            </a:r>
          </a:p>
        </p:txBody>
      </p:sp>
      <p:sp>
        <p:nvSpPr>
          <p:cNvPr id="172036" name="Text Box 4"/>
          <p:cNvSpPr txBox="1">
            <a:spLocks noChangeArrowheads="1"/>
          </p:cNvSpPr>
          <p:nvPr/>
        </p:nvSpPr>
        <p:spPr bwMode="auto">
          <a:xfrm>
            <a:off x="522288" y="1898650"/>
            <a:ext cx="8429625" cy="1354138"/>
          </a:xfrm>
          <a:prstGeom prst="rect">
            <a:avLst/>
          </a:prstGeom>
          <a:noFill/>
          <a:ln w="9525">
            <a:noFill/>
            <a:miter lim="800000"/>
            <a:headEnd/>
            <a:tailEnd/>
          </a:ln>
        </p:spPr>
        <p:txBody>
          <a:bodyPr>
            <a:spAutoFit/>
          </a:bodyPr>
          <a:lstStyle/>
          <a:p>
            <a:pPr algn="l">
              <a:lnSpc>
                <a:spcPct val="115000"/>
              </a:lnSpc>
            </a:pPr>
            <a:r>
              <a:rPr lang="zh-CN" altLang="en-US" b="1">
                <a:solidFill>
                  <a:schemeClr val="bg1"/>
                </a:solidFill>
              </a:rPr>
              <a:t>在</a:t>
            </a:r>
            <a:r>
              <a:rPr lang="en-US" altLang="zh-CN" b="1">
                <a:solidFill>
                  <a:schemeClr val="bg1"/>
                </a:solidFill>
              </a:rPr>
              <a:t> </a:t>
            </a:r>
            <a:r>
              <a:rPr lang="en-US" altLang="zh-CN" b="1" i="1">
                <a:solidFill>
                  <a:srgbClr val="FF6600"/>
                </a:solidFill>
              </a:rPr>
              <a:t>S'</a:t>
            </a:r>
            <a:r>
              <a:rPr lang="en-US" altLang="zh-CN" b="1">
                <a:solidFill>
                  <a:schemeClr val="bg1"/>
                </a:solidFill>
              </a:rPr>
              <a:t> </a:t>
            </a:r>
            <a:r>
              <a:rPr lang="zh-CN" altLang="en-US" b="1">
                <a:solidFill>
                  <a:schemeClr val="bg1"/>
                </a:solidFill>
              </a:rPr>
              <a:t>系中测得发生在同一地点的两个事件之间的时间间隔</a:t>
            </a:r>
            <a:r>
              <a:rPr lang="en-US" altLang="zh-CN" b="1">
                <a:solidFill>
                  <a:schemeClr val="bg1"/>
                </a:solidFill>
              </a:rPr>
              <a:t> </a:t>
            </a:r>
            <a:r>
              <a:rPr lang="en-US" altLang="zh-CN" b="1">
                <a:solidFill>
                  <a:srgbClr val="FF6600"/>
                </a:solidFill>
                <a:sym typeface="Symbol" pitchFamily="18" charset="2"/>
              </a:rPr>
              <a:t></a:t>
            </a:r>
            <a:r>
              <a:rPr lang="en-US" altLang="zh-CN" b="1" i="1">
                <a:solidFill>
                  <a:srgbClr val="FF6600"/>
                </a:solidFill>
              </a:rPr>
              <a:t>t'</a:t>
            </a:r>
            <a:r>
              <a:rPr lang="zh-CN" altLang="en-US" b="1">
                <a:solidFill>
                  <a:schemeClr val="bg1"/>
                </a:solidFill>
              </a:rPr>
              <a:t>，在</a:t>
            </a:r>
            <a:r>
              <a:rPr lang="en-US" altLang="zh-CN" b="1">
                <a:solidFill>
                  <a:schemeClr val="bg1"/>
                </a:solidFill>
              </a:rPr>
              <a:t> </a:t>
            </a:r>
            <a:r>
              <a:rPr lang="en-US" altLang="zh-CN" b="1" i="1">
                <a:solidFill>
                  <a:srgbClr val="FF6600"/>
                </a:solidFill>
              </a:rPr>
              <a:t>S</a:t>
            </a:r>
            <a:r>
              <a:rPr lang="en-US" altLang="zh-CN" b="1" i="1">
                <a:solidFill>
                  <a:srgbClr val="66FFFF"/>
                </a:solidFill>
              </a:rPr>
              <a:t> </a:t>
            </a:r>
            <a:r>
              <a:rPr lang="zh-CN" altLang="en-US" b="1">
                <a:solidFill>
                  <a:schemeClr val="bg1"/>
                </a:solidFill>
              </a:rPr>
              <a:t>系中观测者看来，这两个事件为异地事件，其之间的时间间隔</a:t>
            </a:r>
            <a:r>
              <a:rPr lang="en-US" altLang="zh-CN" b="1">
                <a:solidFill>
                  <a:schemeClr val="bg1"/>
                </a:solidFill>
              </a:rPr>
              <a:t> </a:t>
            </a:r>
            <a:r>
              <a:rPr lang="en-US" altLang="zh-CN" b="1">
                <a:solidFill>
                  <a:srgbClr val="FF6600"/>
                </a:solidFill>
                <a:sym typeface="Symbol" pitchFamily="18" charset="2"/>
              </a:rPr>
              <a:t></a:t>
            </a:r>
            <a:r>
              <a:rPr lang="en-US" altLang="zh-CN" b="1" i="1">
                <a:solidFill>
                  <a:srgbClr val="FF6600"/>
                </a:solidFill>
              </a:rPr>
              <a:t>t</a:t>
            </a:r>
            <a:r>
              <a:rPr lang="en-US" altLang="zh-CN" b="1" i="1">
                <a:solidFill>
                  <a:srgbClr val="66FFFF"/>
                </a:solidFill>
              </a:rPr>
              <a:t> </a:t>
            </a:r>
            <a:r>
              <a:rPr lang="zh-CN" altLang="en-US" b="1">
                <a:solidFill>
                  <a:schemeClr val="bg1"/>
                </a:solidFill>
              </a:rPr>
              <a:t>总是比</a:t>
            </a:r>
            <a:r>
              <a:rPr lang="en-US" altLang="zh-CN" b="1">
                <a:solidFill>
                  <a:schemeClr val="bg1"/>
                </a:solidFill>
              </a:rPr>
              <a:t> </a:t>
            </a:r>
            <a:r>
              <a:rPr lang="en-US" altLang="zh-CN" b="1">
                <a:solidFill>
                  <a:srgbClr val="FF6600"/>
                </a:solidFill>
                <a:sym typeface="Symbol" pitchFamily="18" charset="2"/>
              </a:rPr>
              <a:t></a:t>
            </a:r>
            <a:r>
              <a:rPr lang="en-US" altLang="zh-CN" b="1" i="1">
                <a:solidFill>
                  <a:srgbClr val="FF6600"/>
                </a:solidFill>
              </a:rPr>
              <a:t>t'</a:t>
            </a:r>
            <a:r>
              <a:rPr lang="en-US" altLang="zh-CN" b="1" i="1">
                <a:solidFill>
                  <a:srgbClr val="66FFFF"/>
                </a:solidFill>
              </a:rPr>
              <a:t> </a:t>
            </a:r>
            <a:r>
              <a:rPr lang="zh-CN" altLang="en-US" b="1">
                <a:solidFill>
                  <a:schemeClr val="bg1"/>
                </a:solidFill>
              </a:rPr>
              <a:t>要大。</a:t>
            </a:r>
          </a:p>
        </p:txBody>
      </p:sp>
      <p:graphicFrame>
        <p:nvGraphicFramePr>
          <p:cNvPr id="172037" name="Object 5"/>
          <p:cNvGraphicFramePr>
            <a:graphicFrameLocks/>
          </p:cNvGraphicFramePr>
          <p:nvPr/>
        </p:nvGraphicFramePr>
        <p:xfrm>
          <a:off x="3100388" y="903288"/>
          <a:ext cx="798512" cy="409575"/>
        </p:xfrm>
        <a:graphic>
          <a:graphicData uri="http://schemas.openxmlformats.org/presentationml/2006/ole">
            <p:oleObj spid="_x0000_s7170" name="Equation" r:id="rId3" imgW="444307" imgH="228501" progId="">
              <p:embed/>
            </p:oleObj>
          </a:graphicData>
        </a:graphic>
      </p:graphicFrame>
      <p:sp>
        <p:nvSpPr>
          <p:cNvPr id="172038" name="Text Box 6"/>
          <p:cNvSpPr txBox="1">
            <a:spLocks noChangeArrowheads="1"/>
          </p:cNvSpPr>
          <p:nvPr/>
        </p:nvSpPr>
        <p:spPr bwMode="auto">
          <a:xfrm>
            <a:off x="214313" y="863600"/>
            <a:ext cx="2797175" cy="479425"/>
          </a:xfrm>
          <a:prstGeom prst="rect">
            <a:avLst/>
          </a:prstGeom>
          <a:noFill/>
          <a:ln w="9525">
            <a:noFill/>
            <a:miter lim="800000"/>
            <a:headEnd/>
            <a:tailEnd/>
          </a:ln>
        </p:spPr>
        <p:txBody>
          <a:bodyPr>
            <a:spAutoFit/>
          </a:bodyPr>
          <a:lstStyle/>
          <a:p>
            <a:pPr algn="l">
              <a:lnSpc>
                <a:spcPct val="115000"/>
              </a:lnSpc>
            </a:pPr>
            <a:r>
              <a:rPr lang="en-US" altLang="zh-CN" b="1">
                <a:solidFill>
                  <a:schemeClr val="bg1"/>
                </a:solidFill>
              </a:rPr>
              <a:t>(1) </a:t>
            </a:r>
            <a:r>
              <a:rPr lang="zh-CN" altLang="en-US" b="1">
                <a:solidFill>
                  <a:schemeClr val="bg1"/>
                </a:solidFill>
              </a:rPr>
              <a:t>当</a:t>
            </a:r>
            <a:r>
              <a:rPr lang="en-US" altLang="zh-CN" b="1">
                <a:solidFill>
                  <a:schemeClr val="bg1"/>
                </a:solidFill>
              </a:rPr>
              <a:t> </a:t>
            </a:r>
            <a:r>
              <a:rPr lang="en-US" altLang="zh-CN" b="1" i="1">
                <a:solidFill>
                  <a:srgbClr val="FF6600"/>
                </a:solidFill>
              </a:rPr>
              <a:t>u </a:t>
            </a:r>
            <a:r>
              <a:rPr lang="en-US" altLang="zh-CN" b="1">
                <a:solidFill>
                  <a:srgbClr val="FF6600"/>
                </a:solidFill>
              </a:rPr>
              <a:t>&lt;&lt; </a:t>
            </a:r>
            <a:r>
              <a:rPr lang="en-US" altLang="zh-CN" b="1" i="1">
                <a:solidFill>
                  <a:srgbClr val="FF6600"/>
                </a:solidFill>
              </a:rPr>
              <a:t>c</a:t>
            </a:r>
            <a:r>
              <a:rPr lang="en-US" altLang="zh-CN" b="1" i="1">
                <a:solidFill>
                  <a:srgbClr val="66FFFF"/>
                </a:solidFill>
              </a:rPr>
              <a:t> </a:t>
            </a:r>
            <a:r>
              <a:rPr lang="zh-CN" altLang="en-US" b="1">
                <a:solidFill>
                  <a:schemeClr val="bg1"/>
                </a:solidFill>
              </a:rPr>
              <a:t>时，</a:t>
            </a:r>
          </a:p>
        </p:txBody>
      </p:sp>
      <p:sp>
        <p:nvSpPr>
          <p:cNvPr id="172039" name="Text Box 7"/>
          <p:cNvSpPr txBox="1">
            <a:spLocks noChangeArrowheads="1"/>
          </p:cNvSpPr>
          <p:nvPr/>
        </p:nvSpPr>
        <p:spPr bwMode="auto">
          <a:xfrm>
            <a:off x="611188" y="3203575"/>
            <a:ext cx="7858125" cy="933450"/>
          </a:xfrm>
          <a:prstGeom prst="rect">
            <a:avLst/>
          </a:prstGeom>
          <a:noFill/>
          <a:ln w="9525">
            <a:noFill/>
            <a:miter lim="800000"/>
            <a:headEnd/>
            <a:tailEnd/>
          </a:ln>
        </p:spPr>
        <p:txBody>
          <a:bodyPr>
            <a:spAutoFit/>
          </a:bodyPr>
          <a:lstStyle/>
          <a:p>
            <a:pPr marL="273050" indent="-273050" algn="l">
              <a:lnSpc>
                <a:spcPct val="115000"/>
              </a:lnSpc>
              <a:buClr>
                <a:srgbClr val="009900"/>
              </a:buClr>
              <a:buSzPct val="130000"/>
              <a:buFontTx/>
              <a:buChar char="•"/>
            </a:pPr>
            <a:r>
              <a:rPr lang="zh-CN" altLang="en-US" b="1">
                <a:solidFill>
                  <a:schemeClr val="bg1"/>
                </a:solidFill>
              </a:rPr>
              <a:t>在不同惯性系中测量给定两事件之间的时间间隔，测得的结果以</a:t>
            </a:r>
            <a:r>
              <a:rPr lang="zh-CN" altLang="en-US" b="1">
                <a:solidFill>
                  <a:srgbClr val="FF6600"/>
                </a:solidFill>
              </a:rPr>
              <a:t>原时最短</a:t>
            </a:r>
            <a:r>
              <a:rPr lang="zh-CN" altLang="en-US" b="1"/>
              <a:t>。</a:t>
            </a:r>
          </a:p>
        </p:txBody>
      </p:sp>
      <p:sp>
        <p:nvSpPr>
          <p:cNvPr id="172040" name="Text Box 8"/>
          <p:cNvSpPr txBox="1">
            <a:spLocks noChangeArrowheads="1"/>
          </p:cNvSpPr>
          <p:nvPr/>
        </p:nvSpPr>
        <p:spPr bwMode="auto">
          <a:xfrm>
            <a:off x="611188" y="4103688"/>
            <a:ext cx="6973887" cy="479425"/>
          </a:xfrm>
          <a:prstGeom prst="rect">
            <a:avLst/>
          </a:prstGeom>
          <a:noFill/>
          <a:ln w="9525">
            <a:noFill/>
            <a:miter lim="800000"/>
            <a:headEnd/>
            <a:tailEnd/>
          </a:ln>
        </p:spPr>
        <p:txBody>
          <a:bodyPr>
            <a:spAutoFit/>
          </a:bodyPr>
          <a:lstStyle/>
          <a:p>
            <a:pPr algn="l">
              <a:lnSpc>
                <a:spcPct val="115000"/>
              </a:lnSpc>
              <a:buClr>
                <a:srgbClr val="009900"/>
              </a:buClr>
              <a:buSzPct val="130000"/>
              <a:buFontTx/>
              <a:buChar char="•"/>
            </a:pPr>
            <a:r>
              <a:rPr lang="en-US" altLang="zh-CN" b="1">
                <a:solidFill>
                  <a:srgbClr val="66FFFF"/>
                </a:solidFill>
              </a:rPr>
              <a:t>  </a:t>
            </a:r>
            <a:r>
              <a:rPr lang="zh-CN" altLang="en-US" b="1">
                <a:solidFill>
                  <a:srgbClr val="FF6600"/>
                </a:solidFill>
              </a:rPr>
              <a:t>运动</a:t>
            </a:r>
            <a:r>
              <a:rPr lang="zh-CN" altLang="en-US" b="1">
                <a:solidFill>
                  <a:schemeClr val="bg1"/>
                </a:solidFill>
              </a:rPr>
              <a:t>时钟走的速率比</a:t>
            </a:r>
            <a:r>
              <a:rPr lang="zh-CN" altLang="en-US" b="1">
                <a:solidFill>
                  <a:srgbClr val="FF6600"/>
                </a:solidFill>
              </a:rPr>
              <a:t>静止</a:t>
            </a:r>
            <a:r>
              <a:rPr lang="zh-CN" altLang="en-US" b="1">
                <a:solidFill>
                  <a:schemeClr val="bg1"/>
                </a:solidFill>
              </a:rPr>
              <a:t>时钟走的速率要</a:t>
            </a:r>
            <a:r>
              <a:rPr lang="zh-CN" altLang="en-US" b="1">
                <a:solidFill>
                  <a:srgbClr val="FF6600"/>
                </a:solidFill>
              </a:rPr>
              <a:t>慢</a:t>
            </a:r>
            <a:r>
              <a:rPr lang="zh-CN" altLang="en-US" b="1"/>
              <a:t>。</a:t>
            </a:r>
          </a:p>
        </p:txBody>
      </p:sp>
      <p:sp>
        <p:nvSpPr>
          <p:cNvPr id="172041" name="Text Box 9"/>
          <p:cNvSpPr txBox="1">
            <a:spLocks noChangeArrowheads="1"/>
          </p:cNvSpPr>
          <p:nvPr/>
        </p:nvSpPr>
        <p:spPr bwMode="auto">
          <a:xfrm>
            <a:off x="250825" y="4733925"/>
            <a:ext cx="6408738" cy="479425"/>
          </a:xfrm>
          <a:prstGeom prst="rect">
            <a:avLst/>
          </a:prstGeom>
          <a:noFill/>
          <a:ln w="9525">
            <a:noFill/>
            <a:miter lim="800000"/>
            <a:headEnd/>
            <a:tailEnd/>
          </a:ln>
        </p:spPr>
        <p:txBody>
          <a:bodyPr>
            <a:spAutoFit/>
          </a:bodyPr>
          <a:lstStyle/>
          <a:p>
            <a:pPr algn="l">
              <a:lnSpc>
                <a:spcPct val="115000"/>
              </a:lnSpc>
            </a:pPr>
            <a:r>
              <a:rPr lang="en-US" altLang="zh-CN" b="1">
                <a:solidFill>
                  <a:schemeClr val="bg1"/>
                </a:solidFill>
                <a:sym typeface="Monotype Sorts" pitchFamily="2" charset="2"/>
              </a:rPr>
              <a:t>(3) </a:t>
            </a:r>
            <a:r>
              <a:rPr lang="zh-CN" altLang="en-US" b="1">
                <a:solidFill>
                  <a:schemeClr val="bg1"/>
                </a:solidFill>
              </a:rPr>
              <a:t>时间延缓效应是</a:t>
            </a:r>
            <a:r>
              <a:rPr lang="zh-CN" altLang="en-US" b="1">
                <a:solidFill>
                  <a:srgbClr val="FF6600"/>
                </a:solidFill>
              </a:rPr>
              <a:t>相对的</a:t>
            </a:r>
            <a:r>
              <a:rPr lang="zh-CN" altLang="en-US" b="1">
                <a:solidFill>
                  <a:schemeClr val="bg1"/>
                </a:solidFill>
              </a:rPr>
              <a:t>。</a:t>
            </a:r>
          </a:p>
        </p:txBody>
      </p:sp>
      <p:sp>
        <p:nvSpPr>
          <p:cNvPr id="172042" name="Text Box 10"/>
          <p:cNvSpPr txBox="1">
            <a:spLocks noChangeArrowheads="1"/>
          </p:cNvSpPr>
          <p:nvPr/>
        </p:nvSpPr>
        <p:spPr bwMode="auto">
          <a:xfrm>
            <a:off x="250825" y="5183188"/>
            <a:ext cx="7867650" cy="479425"/>
          </a:xfrm>
          <a:prstGeom prst="rect">
            <a:avLst/>
          </a:prstGeom>
          <a:noFill/>
          <a:ln w="9525">
            <a:noFill/>
            <a:miter lim="800000"/>
            <a:headEnd/>
            <a:tailEnd/>
          </a:ln>
        </p:spPr>
        <p:txBody>
          <a:bodyPr>
            <a:spAutoFit/>
          </a:bodyPr>
          <a:lstStyle/>
          <a:p>
            <a:pPr marL="442913" indent="-442913" algn="l">
              <a:lnSpc>
                <a:spcPct val="115000"/>
              </a:lnSpc>
            </a:pPr>
            <a:r>
              <a:rPr lang="en-US" altLang="zh-CN" b="1">
                <a:solidFill>
                  <a:schemeClr val="bg1"/>
                </a:solidFill>
                <a:sym typeface="Monotype Sorts" pitchFamily="2" charset="2"/>
              </a:rPr>
              <a:t>(4) </a:t>
            </a:r>
            <a:r>
              <a:rPr lang="zh-CN" altLang="en-US" b="1">
                <a:solidFill>
                  <a:schemeClr val="bg1"/>
                </a:solidFill>
              </a:rPr>
              <a:t>运动时钟变慢效应是时间本身的客观特征。</a:t>
            </a:r>
          </a:p>
        </p:txBody>
      </p:sp>
      <p:sp>
        <p:nvSpPr>
          <p:cNvPr id="172043" name="Text Box 11"/>
          <p:cNvSpPr txBox="1">
            <a:spLocks noChangeArrowheads="1"/>
          </p:cNvSpPr>
          <p:nvPr/>
        </p:nvSpPr>
        <p:spPr bwMode="auto">
          <a:xfrm>
            <a:off x="250825" y="5751513"/>
            <a:ext cx="8389938" cy="479425"/>
          </a:xfrm>
          <a:prstGeom prst="rect">
            <a:avLst/>
          </a:prstGeom>
          <a:noFill/>
          <a:ln w="9525">
            <a:noFill/>
            <a:miter lim="800000"/>
            <a:headEnd/>
            <a:tailEnd/>
          </a:ln>
        </p:spPr>
        <p:txBody>
          <a:bodyPr>
            <a:spAutoFit/>
          </a:bodyPr>
          <a:lstStyle/>
          <a:p>
            <a:pPr marL="442913" indent="-442913" algn="l">
              <a:lnSpc>
                <a:spcPct val="115000"/>
              </a:lnSpc>
            </a:pPr>
            <a:r>
              <a:rPr lang="en-US" altLang="zh-CN" b="1">
                <a:solidFill>
                  <a:schemeClr val="bg1"/>
                </a:solidFill>
                <a:sym typeface="Monotype Sorts" pitchFamily="2" charset="2"/>
              </a:rPr>
              <a:t>(5) </a:t>
            </a:r>
            <a:r>
              <a:rPr lang="zh-CN" altLang="en-US" b="1">
                <a:solidFill>
                  <a:schemeClr val="bg1"/>
                </a:solidFill>
              </a:rPr>
              <a:t>时间延缓效应显著与否决定于</a:t>
            </a:r>
            <a:r>
              <a:rPr lang="en-US" altLang="zh-CN" b="1">
                <a:solidFill>
                  <a:schemeClr val="bg1"/>
                </a:solidFill>
              </a:rPr>
              <a:t>                </a:t>
            </a:r>
            <a:r>
              <a:rPr lang="en-US" altLang="zh-CN" b="1">
                <a:solidFill>
                  <a:srgbClr val="FFFF00"/>
                </a:solidFill>
              </a:rPr>
              <a:t> </a:t>
            </a:r>
            <a:r>
              <a:rPr lang="zh-CN" altLang="en-US" b="1">
                <a:solidFill>
                  <a:schemeClr val="bg1"/>
                </a:solidFill>
              </a:rPr>
              <a:t>。</a:t>
            </a:r>
          </a:p>
        </p:txBody>
      </p:sp>
      <p:graphicFrame>
        <p:nvGraphicFramePr>
          <p:cNvPr id="172044" name="Object 12"/>
          <p:cNvGraphicFramePr>
            <a:graphicFrameLocks noChangeAspect="1"/>
          </p:cNvGraphicFramePr>
          <p:nvPr/>
        </p:nvGraphicFramePr>
        <p:xfrm>
          <a:off x="4797425" y="5678488"/>
          <a:ext cx="1125538" cy="838200"/>
        </p:xfrm>
        <a:graphic>
          <a:graphicData uri="http://schemas.openxmlformats.org/presentationml/2006/ole">
            <p:oleObj spid="_x0000_s7171" name="Equation" r:id="rId4" imgW="1180588" imgH="571252" progId="">
              <p:embed/>
            </p:oleObj>
          </a:graphicData>
        </a:graphic>
      </p:graphicFrame>
      <p:graphicFrame>
        <p:nvGraphicFramePr>
          <p:cNvPr id="7172" name="Object 13"/>
          <p:cNvGraphicFramePr>
            <a:graphicFrameLocks noChangeAspect="1"/>
          </p:cNvGraphicFramePr>
          <p:nvPr/>
        </p:nvGraphicFramePr>
        <p:xfrm>
          <a:off x="5741988" y="503238"/>
          <a:ext cx="1800225" cy="944562"/>
        </p:xfrm>
        <a:graphic>
          <a:graphicData uri="http://schemas.openxmlformats.org/presentationml/2006/ole">
            <p:oleObj spid="_x0000_s7172" name="Equation" r:id="rId5" imgW="1040948" imgH="469696" progId="">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7203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7203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7203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72035"/>
                                        </p:tgtEl>
                                        <p:attrNameLst>
                                          <p:attrName>style.visibility</p:attrName>
                                        </p:attrNameLst>
                                      </p:cBhvr>
                                      <p:to>
                                        <p:strVal val="visible"/>
                                      </p:to>
                                    </p:set>
                                    <p:animEffect transition="in" filter="wipe(left)">
                                      <p:cBhvr>
                                        <p:cTn id="19" dur="500"/>
                                        <p:tgtEl>
                                          <p:spTgt spid="17203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72036"/>
                                        </p:tgtEl>
                                        <p:attrNameLst>
                                          <p:attrName>style.visibility</p:attrName>
                                        </p:attrNameLst>
                                      </p:cBhvr>
                                      <p:to>
                                        <p:strVal val="visible"/>
                                      </p:to>
                                    </p:set>
                                    <p:animEffect transition="in" filter="wipe(left)">
                                      <p:cBhvr>
                                        <p:cTn id="24" dur="500"/>
                                        <p:tgtEl>
                                          <p:spTgt spid="17203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72039"/>
                                        </p:tgtEl>
                                        <p:attrNameLst>
                                          <p:attrName>style.visibility</p:attrName>
                                        </p:attrNameLst>
                                      </p:cBhvr>
                                      <p:to>
                                        <p:strVal val="visible"/>
                                      </p:to>
                                    </p:set>
                                    <p:animEffect transition="in" filter="wipe(left)">
                                      <p:cBhvr>
                                        <p:cTn id="29" dur="300"/>
                                        <p:tgtEl>
                                          <p:spTgt spid="17203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72040"/>
                                        </p:tgtEl>
                                        <p:attrNameLst>
                                          <p:attrName>style.visibility</p:attrName>
                                        </p:attrNameLst>
                                      </p:cBhvr>
                                      <p:to>
                                        <p:strVal val="visible"/>
                                      </p:to>
                                    </p:set>
                                    <p:animEffect transition="in" filter="wipe(left)">
                                      <p:cBhvr>
                                        <p:cTn id="34" dur="100"/>
                                        <p:tgtEl>
                                          <p:spTgt spid="17204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72041"/>
                                        </p:tgtEl>
                                        <p:attrNameLst>
                                          <p:attrName>style.visibility</p:attrName>
                                        </p:attrNameLst>
                                      </p:cBhvr>
                                      <p:to>
                                        <p:strVal val="visible"/>
                                      </p:to>
                                    </p:set>
                                    <p:animEffect transition="in" filter="wipe(left)">
                                      <p:cBhvr>
                                        <p:cTn id="39" dur="100"/>
                                        <p:tgtEl>
                                          <p:spTgt spid="17204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72042"/>
                                        </p:tgtEl>
                                        <p:attrNameLst>
                                          <p:attrName>style.visibility</p:attrName>
                                        </p:attrNameLst>
                                      </p:cBhvr>
                                      <p:to>
                                        <p:strVal val="visible"/>
                                      </p:to>
                                    </p:set>
                                    <p:animEffect transition="in" filter="wipe(left)">
                                      <p:cBhvr>
                                        <p:cTn id="44" dur="300"/>
                                        <p:tgtEl>
                                          <p:spTgt spid="17204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72043"/>
                                        </p:tgtEl>
                                        <p:attrNameLst>
                                          <p:attrName>style.visibility</p:attrName>
                                        </p:attrNameLst>
                                      </p:cBhvr>
                                      <p:to>
                                        <p:strVal val="visible"/>
                                      </p:to>
                                    </p:set>
                                    <p:animEffect transition="in" filter="wipe(left)">
                                      <p:cBhvr>
                                        <p:cTn id="49" dur="300"/>
                                        <p:tgtEl>
                                          <p:spTgt spid="172043"/>
                                        </p:tgtEl>
                                      </p:cBhvr>
                                    </p:animEffect>
                                  </p:childTnLst>
                                </p:cTn>
                              </p:par>
                            </p:childTnLst>
                          </p:cTn>
                        </p:par>
                        <p:par>
                          <p:cTn id="50" fill="hold" nodeType="afterGroup">
                            <p:stCondLst>
                              <p:cond delay="300"/>
                            </p:stCondLst>
                            <p:childTnLst>
                              <p:par>
                                <p:cTn id="51" presetID="1" presetClass="entr" presetSubtype="0" fill="hold" nodeType="afterEffect">
                                  <p:stCondLst>
                                    <p:cond delay="0"/>
                                  </p:stCondLst>
                                  <p:childTnLst>
                                    <p:set>
                                      <p:cBhvr>
                                        <p:cTn id="52" dur="1" fill="hold">
                                          <p:stCondLst>
                                            <p:cond delay="0"/>
                                          </p:stCondLst>
                                        </p:cTn>
                                        <p:tgtEl>
                                          <p:spTgt spid="1720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4" grpId="0"/>
      <p:bldP spid="172035" grpId="0"/>
      <p:bldP spid="172036" grpId="0"/>
      <p:bldP spid="172038" grpId="0" autoUpdateAnimBg="0"/>
      <p:bldP spid="172039" grpId="0"/>
      <p:bldP spid="172040" grpId="0"/>
      <p:bldP spid="172041" grpId="0" autoUpdateAnimBg="0"/>
      <p:bldP spid="172042" grpId="0" autoUpdateAnimBg="0"/>
      <p:bldP spid="17204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257675" y="684213"/>
            <a:ext cx="4614863" cy="1657350"/>
            <a:chOff x="2653" y="431"/>
            <a:chExt cx="2907" cy="1044"/>
          </a:xfrm>
        </p:grpSpPr>
        <p:grpSp>
          <p:nvGrpSpPr>
            <p:cNvPr id="8294" name="Group 3"/>
            <p:cNvGrpSpPr>
              <a:grpSpLocks/>
            </p:cNvGrpSpPr>
            <p:nvPr/>
          </p:nvGrpSpPr>
          <p:grpSpPr bwMode="auto">
            <a:xfrm>
              <a:off x="2653" y="431"/>
              <a:ext cx="2907" cy="1044"/>
              <a:chOff x="2653" y="431"/>
              <a:chExt cx="2907" cy="1044"/>
            </a:xfrm>
          </p:grpSpPr>
          <p:graphicFrame>
            <p:nvGraphicFramePr>
              <p:cNvPr id="8211" name="Object 4"/>
              <p:cNvGraphicFramePr>
                <a:graphicFrameLocks noChangeAspect="1"/>
              </p:cNvGraphicFramePr>
              <p:nvPr/>
            </p:nvGraphicFramePr>
            <p:xfrm>
              <a:off x="5375" y="1281"/>
              <a:ext cx="185" cy="186"/>
            </p:xfrm>
            <a:graphic>
              <a:graphicData uri="http://schemas.openxmlformats.org/presentationml/2006/ole">
                <p:oleObj spid="_x0000_s8211" name="Equation" r:id="rId3" imgW="139700" imgH="139700" progId="">
                  <p:embed/>
                </p:oleObj>
              </a:graphicData>
            </a:graphic>
          </p:graphicFrame>
          <p:sp>
            <p:nvSpPr>
              <p:cNvPr id="8296" name="Text Box 5"/>
              <p:cNvSpPr txBox="1">
                <a:spLocks noChangeArrowheads="1"/>
              </p:cNvSpPr>
              <p:nvPr/>
            </p:nvSpPr>
            <p:spPr bwMode="auto">
              <a:xfrm>
                <a:off x="2778" y="1196"/>
                <a:ext cx="232"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FF"/>
                    </a:solidFill>
                  </a:rPr>
                  <a:t>O</a:t>
                </a:r>
              </a:p>
            </p:txBody>
          </p:sp>
          <p:sp>
            <p:nvSpPr>
              <p:cNvPr id="8297" name="Text Box 6"/>
              <p:cNvSpPr txBox="1">
                <a:spLocks noChangeArrowheads="1"/>
              </p:cNvSpPr>
              <p:nvPr/>
            </p:nvSpPr>
            <p:spPr bwMode="auto">
              <a:xfrm>
                <a:off x="2653" y="712"/>
                <a:ext cx="205"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FF"/>
                    </a:solidFill>
                  </a:rPr>
                  <a:t>S</a:t>
                </a:r>
              </a:p>
            </p:txBody>
          </p:sp>
          <p:sp>
            <p:nvSpPr>
              <p:cNvPr id="8298" name="Line 7"/>
              <p:cNvSpPr>
                <a:spLocks noChangeShapeType="1"/>
              </p:cNvSpPr>
              <p:nvPr/>
            </p:nvSpPr>
            <p:spPr bwMode="auto">
              <a:xfrm flipV="1">
                <a:off x="2871" y="618"/>
                <a:ext cx="0" cy="624"/>
              </a:xfrm>
              <a:prstGeom prst="line">
                <a:avLst/>
              </a:prstGeom>
              <a:noFill/>
              <a:ln w="28575">
                <a:solidFill>
                  <a:srgbClr val="0000FF"/>
                </a:solidFill>
                <a:round/>
                <a:headEnd/>
                <a:tailEnd type="triangle" w="sm" len="lg"/>
              </a:ln>
            </p:spPr>
            <p:txBody>
              <a:bodyPr wrap="none" anchor="ctr"/>
              <a:lstStyle/>
              <a:p>
                <a:endParaRPr lang="zh-CN" altLang="en-US"/>
              </a:p>
            </p:txBody>
          </p:sp>
          <p:sp>
            <p:nvSpPr>
              <p:cNvPr id="8299" name="Line 8"/>
              <p:cNvSpPr>
                <a:spLocks noChangeShapeType="1"/>
              </p:cNvSpPr>
              <p:nvPr/>
            </p:nvSpPr>
            <p:spPr bwMode="auto">
              <a:xfrm>
                <a:off x="2871" y="1242"/>
                <a:ext cx="2617" cy="11"/>
              </a:xfrm>
              <a:prstGeom prst="line">
                <a:avLst/>
              </a:prstGeom>
              <a:noFill/>
              <a:ln w="28575">
                <a:solidFill>
                  <a:srgbClr val="0000FF"/>
                </a:solidFill>
                <a:round/>
                <a:headEnd/>
                <a:tailEnd type="triangle" w="sm" len="lg"/>
              </a:ln>
            </p:spPr>
            <p:txBody>
              <a:bodyPr wrap="none" anchor="ctr"/>
              <a:lstStyle/>
              <a:p>
                <a:endParaRPr lang="zh-CN" altLang="en-US"/>
              </a:p>
            </p:txBody>
          </p:sp>
          <p:sp>
            <p:nvSpPr>
              <p:cNvPr id="8300" name="Text Box 9"/>
              <p:cNvSpPr txBox="1">
                <a:spLocks noChangeArrowheads="1"/>
              </p:cNvSpPr>
              <p:nvPr/>
            </p:nvSpPr>
            <p:spPr bwMode="auto">
              <a:xfrm>
                <a:off x="2710" y="431"/>
                <a:ext cx="198" cy="288"/>
              </a:xfrm>
              <a:prstGeom prst="rect">
                <a:avLst/>
              </a:prstGeom>
              <a:noFill/>
              <a:ln w="9525">
                <a:noFill/>
                <a:miter lim="800000"/>
                <a:headEnd/>
                <a:tailEnd/>
              </a:ln>
            </p:spPr>
            <p:txBody>
              <a:bodyPr>
                <a:spAutoFit/>
              </a:bodyPr>
              <a:lstStyle/>
              <a:p>
                <a:pPr>
                  <a:spcBef>
                    <a:spcPct val="50000"/>
                  </a:spcBef>
                </a:pPr>
                <a:r>
                  <a:rPr lang="en-US" altLang="zh-CN" b="1" i="1">
                    <a:solidFill>
                      <a:srgbClr val="0066FF"/>
                    </a:solidFill>
                  </a:rPr>
                  <a:t>y</a:t>
                </a:r>
              </a:p>
            </p:txBody>
          </p:sp>
        </p:grpSp>
        <p:sp>
          <p:nvSpPr>
            <p:cNvPr id="8295" name="Oval 10"/>
            <p:cNvSpPr>
              <a:spLocks noChangeArrowheads="1"/>
            </p:cNvSpPr>
            <p:nvPr/>
          </p:nvSpPr>
          <p:spPr bwMode="auto">
            <a:xfrm>
              <a:off x="3362" y="1224"/>
              <a:ext cx="45" cy="45"/>
            </a:xfrm>
            <a:prstGeom prst="ellipse">
              <a:avLst/>
            </a:prstGeom>
            <a:solidFill>
              <a:srgbClr val="FF3300"/>
            </a:solidFill>
            <a:ln w="9525">
              <a:solidFill>
                <a:srgbClr val="FF3300"/>
              </a:solidFill>
              <a:round/>
              <a:headEnd/>
              <a:tailEnd/>
            </a:ln>
          </p:spPr>
          <p:txBody>
            <a:bodyPr wrap="none" anchor="ctr"/>
            <a:lstStyle/>
            <a:p>
              <a:endParaRPr lang="zh-CN" altLang="en-US"/>
            </a:p>
          </p:txBody>
        </p:sp>
      </p:grpSp>
      <p:sp>
        <p:nvSpPr>
          <p:cNvPr id="173067" name="Rectangle 11"/>
          <p:cNvSpPr>
            <a:spLocks noChangeArrowheads="1"/>
          </p:cNvSpPr>
          <p:nvPr/>
        </p:nvSpPr>
        <p:spPr bwMode="auto">
          <a:xfrm>
            <a:off x="296863" y="414338"/>
            <a:ext cx="3509962" cy="457200"/>
          </a:xfrm>
          <a:prstGeom prst="rect">
            <a:avLst/>
          </a:prstGeom>
          <a:noFill/>
          <a:ln w="9525">
            <a:noFill/>
            <a:miter lim="800000"/>
            <a:headEnd/>
            <a:tailEnd/>
          </a:ln>
        </p:spPr>
        <p:txBody>
          <a:bodyPr>
            <a:spAutoFit/>
          </a:bodyPr>
          <a:lstStyle/>
          <a:p>
            <a:pPr algn="l">
              <a:spcBef>
                <a:spcPct val="50000"/>
              </a:spcBef>
            </a:pPr>
            <a:r>
              <a:rPr lang="en-US" altLang="zh-CN" b="1">
                <a:solidFill>
                  <a:srgbClr val="0000FF"/>
                </a:solidFill>
              </a:rPr>
              <a:t>4.2.3  </a:t>
            </a:r>
            <a:r>
              <a:rPr lang="zh-CN" altLang="en-US" b="1">
                <a:solidFill>
                  <a:srgbClr val="0000FF"/>
                </a:solidFill>
              </a:rPr>
              <a:t>长度收缩</a:t>
            </a:r>
          </a:p>
        </p:txBody>
      </p:sp>
      <p:sp>
        <p:nvSpPr>
          <p:cNvPr id="173069" name="Text Box 13"/>
          <p:cNvSpPr txBox="1">
            <a:spLocks noChangeArrowheads="1"/>
          </p:cNvSpPr>
          <p:nvPr/>
        </p:nvSpPr>
        <p:spPr bwMode="auto">
          <a:xfrm>
            <a:off x="250825" y="819150"/>
            <a:ext cx="4143375" cy="1354138"/>
          </a:xfrm>
          <a:prstGeom prst="rect">
            <a:avLst/>
          </a:prstGeom>
          <a:noFill/>
          <a:ln w="9525">
            <a:noFill/>
            <a:miter lim="800000"/>
            <a:headEnd/>
            <a:tailEnd/>
          </a:ln>
        </p:spPr>
        <p:txBody>
          <a:bodyPr>
            <a:spAutoFit/>
          </a:bodyPr>
          <a:lstStyle/>
          <a:p>
            <a:pPr algn="l" defTabSz="762000" eaLnBrk="0" hangingPunct="0">
              <a:lnSpc>
                <a:spcPct val="115000"/>
              </a:lnSpc>
            </a:pPr>
            <a:r>
              <a:rPr lang="zh-CN" altLang="en-US" b="1">
                <a:solidFill>
                  <a:schemeClr val="bg1"/>
                </a:solidFill>
              </a:rPr>
              <a:t>在</a:t>
            </a:r>
            <a:r>
              <a:rPr lang="en-US" altLang="zh-CN" b="1">
                <a:solidFill>
                  <a:schemeClr val="bg1"/>
                </a:solidFill>
              </a:rPr>
              <a:t> </a:t>
            </a:r>
            <a:r>
              <a:rPr lang="en-US" altLang="zh-CN" b="1" i="1">
                <a:solidFill>
                  <a:srgbClr val="FF6600"/>
                </a:solidFill>
              </a:rPr>
              <a:t>S'</a:t>
            </a:r>
            <a:r>
              <a:rPr lang="en-US" altLang="zh-CN" b="1"/>
              <a:t> </a:t>
            </a:r>
            <a:r>
              <a:rPr lang="zh-CN" altLang="en-US" b="1">
                <a:solidFill>
                  <a:schemeClr val="bg1"/>
                </a:solidFill>
              </a:rPr>
              <a:t>系的</a:t>
            </a:r>
            <a:r>
              <a:rPr lang="en-US" altLang="zh-CN" b="1">
                <a:solidFill>
                  <a:schemeClr val="bg1"/>
                </a:solidFill>
              </a:rPr>
              <a:t> </a:t>
            </a:r>
            <a:r>
              <a:rPr lang="en-US" altLang="zh-CN" b="1" i="1">
                <a:solidFill>
                  <a:srgbClr val="FF6600"/>
                </a:solidFill>
              </a:rPr>
              <a:t>A'</a:t>
            </a:r>
            <a:r>
              <a:rPr lang="en-US" altLang="zh-CN" b="1" i="1">
                <a:solidFill>
                  <a:schemeClr val="bg1"/>
                </a:solidFill>
              </a:rPr>
              <a:t> </a:t>
            </a:r>
            <a:r>
              <a:rPr lang="zh-CN" altLang="en-US" b="1">
                <a:solidFill>
                  <a:schemeClr val="bg1"/>
                </a:solidFill>
              </a:rPr>
              <a:t>处放置一闪光光源和一信号接收器，在</a:t>
            </a:r>
            <a:r>
              <a:rPr lang="en-US" altLang="zh-CN" b="1" i="1">
                <a:solidFill>
                  <a:srgbClr val="FF6600"/>
                </a:solidFill>
              </a:rPr>
              <a:t>B'</a:t>
            </a:r>
            <a:r>
              <a:rPr lang="en-US" altLang="zh-CN" b="1" i="1">
                <a:solidFill>
                  <a:srgbClr val="66FFFF"/>
                </a:solidFill>
              </a:rPr>
              <a:t> </a:t>
            </a:r>
            <a:r>
              <a:rPr lang="zh-CN" altLang="en-US" b="1">
                <a:solidFill>
                  <a:schemeClr val="bg1"/>
                </a:solidFill>
              </a:rPr>
              <a:t>处的位置处放置一平面反射镜</a:t>
            </a:r>
          </a:p>
        </p:txBody>
      </p:sp>
      <p:grpSp>
        <p:nvGrpSpPr>
          <p:cNvPr id="4" name="Group 14"/>
          <p:cNvGrpSpPr>
            <a:grpSpLocks/>
          </p:cNvGrpSpPr>
          <p:nvPr/>
        </p:nvGrpSpPr>
        <p:grpSpPr bwMode="auto">
          <a:xfrm>
            <a:off x="4545013" y="730250"/>
            <a:ext cx="2938462" cy="1663700"/>
            <a:chOff x="2834" y="460"/>
            <a:chExt cx="1851" cy="1048"/>
          </a:xfrm>
        </p:grpSpPr>
        <p:grpSp>
          <p:nvGrpSpPr>
            <p:cNvPr id="8277" name="Group 15"/>
            <p:cNvGrpSpPr>
              <a:grpSpLocks/>
            </p:cNvGrpSpPr>
            <p:nvPr/>
          </p:nvGrpSpPr>
          <p:grpSpPr bwMode="auto">
            <a:xfrm>
              <a:off x="2834" y="460"/>
              <a:ext cx="1851" cy="1048"/>
              <a:chOff x="2834" y="469"/>
              <a:chExt cx="1851" cy="1048"/>
            </a:xfrm>
          </p:grpSpPr>
          <p:grpSp>
            <p:nvGrpSpPr>
              <p:cNvPr id="8280" name="Group 16"/>
              <p:cNvGrpSpPr>
                <a:grpSpLocks/>
              </p:cNvGrpSpPr>
              <p:nvPr/>
            </p:nvGrpSpPr>
            <p:grpSpPr bwMode="auto">
              <a:xfrm>
                <a:off x="3118" y="562"/>
                <a:ext cx="284" cy="294"/>
                <a:chOff x="3843" y="228"/>
                <a:chExt cx="284" cy="294"/>
              </a:xfrm>
            </p:grpSpPr>
            <p:sp>
              <p:nvSpPr>
                <p:cNvPr id="173073" name="Line 17"/>
                <p:cNvSpPr>
                  <a:spLocks noChangeShapeType="1"/>
                </p:cNvSpPr>
                <p:nvPr/>
              </p:nvSpPr>
              <p:spPr bwMode="auto">
                <a:xfrm>
                  <a:off x="3844" y="459"/>
                  <a:ext cx="283" cy="0"/>
                </a:xfrm>
                <a:prstGeom prst="line">
                  <a:avLst/>
                </a:prstGeom>
                <a:noFill/>
                <a:ln w="22225">
                  <a:solidFill>
                    <a:schemeClr val="hlink"/>
                  </a:solidFill>
                  <a:round/>
                  <a:headEnd/>
                  <a:tailEnd type="triangle" w="med" len="med"/>
                </a:ln>
                <a:effectLst>
                  <a:outerShdw blurRad="63500" dist="38099" dir="2700000" algn="ctr" rotWithShape="0">
                    <a:schemeClr val="bg2">
                      <a:alpha val="50000"/>
                    </a:schemeClr>
                  </a:outerShdw>
                </a:effectLst>
                <a:extLst>
                  <a:ext uri="{909E8E84-426E-40dd-AFC4-6F175D3DCCD1}"/>
                </a:extLst>
              </p:spPr>
              <p:txBody>
                <a:bodyPr wrap="none" tIns="0"/>
                <a:lstStyle/>
                <a:p>
                  <a:pPr>
                    <a:defRPr/>
                  </a:pPr>
                  <a:endParaRPr lang="zh-CN" altLang="en-US">
                    <a:latin typeface="Times New Roman" charset="0"/>
                    <a:ea typeface="宋体" charset="0"/>
                  </a:endParaRPr>
                </a:p>
              </p:txBody>
            </p:sp>
            <p:sp>
              <p:nvSpPr>
                <p:cNvPr id="8293" name="Text Box 18"/>
                <p:cNvSpPr txBox="1">
                  <a:spLocks noChangeArrowheads="1"/>
                </p:cNvSpPr>
                <p:nvPr/>
              </p:nvSpPr>
              <p:spPr bwMode="auto">
                <a:xfrm>
                  <a:off x="3843" y="228"/>
                  <a:ext cx="256" cy="294"/>
                </a:xfrm>
                <a:prstGeom prst="rect">
                  <a:avLst/>
                </a:prstGeom>
                <a:noFill/>
                <a:ln w="9525">
                  <a:noFill/>
                  <a:miter lim="800000"/>
                  <a:headEnd/>
                  <a:tailEnd/>
                </a:ln>
              </p:spPr>
              <p:txBody>
                <a:bodyPr tIns="0">
                  <a:spAutoFit/>
                </a:bodyPr>
                <a:lstStyle/>
                <a:p>
                  <a:pPr algn="l">
                    <a:lnSpc>
                      <a:spcPct val="115000"/>
                    </a:lnSpc>
                  </a:pPr>
                  <a:r>
                    <a:rPr kumimoji="0" lang="en-US" altLang="zh-CN" b="1" i="1">
                      <a:solidFill>
                        <a:schemeClr val="hlink"/>
                      </a:solidFill>
                      <a:latin typeface="Bookman Old Style" pitchFamily="18" charset="0"/>
                      <a:ea typeface="楷体_GB2312" pitchFamily="49" charset="-122"/>
                      <a:cs typeface="Arial" pitchFamily="34" charset="0"/>
                    </a:rPr>
                    <a:t>v</a:t>
                  </a:r>
                </a:p>
              </p:txBody>
            </p:sp>
          </p:grpSp>
          <p:grpSp>
            <p:nvGrpSpPr>
              <p:cNvPr id="8281" name="Group 19"/>
              <p:cNvGrpSpPr>
                <a:grpSpLocks/>
              </p:cNvGrpSpPr>
              <p:nvPr/>
            </p:nvGrpSpPr>
            <p:grpSpPr bwMode="auto">
              <a:xfrm>
                <a:off x="2834" y="469"/>
                <a:ext cx="1851" cy="1048"/>
                <a:chOff x="2834" y="469"/>
                <a:chExt cx="1851" cy="1048"/>
              </a:xfrm>
            </p:grpSpPr>
            <p:sp>
              <p:nvSpPr>
                <p:cNvPr id="8288" name="Text Box 20"/>
                <p:cNvSpPr txBox="1">
                  <a:spLocks noChangeArrowheads="1"/>
                </p:cNvSpPr>
                <p:nvPr/>
              </p:nvSpPr>
              <p:spPr bwMode="auto">
                <a:xfrm>
                  <a:off x="3022" y="1205"/>
                  <a:ext cx="276"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O'</a:t>
                  </a:r>
                </a:p>
              </p:txBody>
            </p:sp>
            <p:sp>
              <p:nvSpPr>
                <p:cNvPr id="8289" name="Text Box 21"/>
                <p:cNvSpPr txBox="1">
                  <a:spLocks noChangeArrowheads="1"/>
                </p:cNvSpPr>
                <p:nvPr/>
              </p:nvSpPr>
              <p:spPr bwMode="auto">
                <a:xfrm>
                  <a:off x="2834" y="714"/>
                  <a:ext cx="249"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S'</a:t>
                  </a:r>
                </a:p>
              </p:txBody>
            </p:sp>
            <p:sp>
              <p:nvSpPr>
                <p:cNvPr id="8290" name="Line 22"/>
                <p:cNvSpPr>
                  <a:spLocks noChangeShapeType="1"/>
                </p:cNvSpPr>
                <p:nvPr/>
              </p:nvSpPr>
              <p:spPr bwMode="auto">
                <a:xfrm flipV="1">
                  <a:off x="3099" y="627"/>
                  <a:ext cx="0" cy="624"/>
                </a:xfrm>
                <a:prstGeom prst="line">
                  <a:avLst/>
                </a:prstGeom>
                <a:noFill/>
                <a:ln w="28575">
                  <a:solidFill>
                    <a:schemeClr val="bg1"/>
                  </a:solidFill>
                  <a:round/>
                  <a:headEnd/>
                  <a:tailEnd type="triangle" w="sm" len="lg"/>
                </a:ln>
              </p:spPr>
              <p:txBody>
                <a:bodyPr wrap="none" anchor="ctr"/>
                <a:lstStyle/>
                <a:p>
                  <a:endParaRPr lang="zh-CN" altLang="en-US"/>
                </a:p>
              </p:txBody>
            </p:sp>
            <p:sp>
              <p:nvSpPr>
                <p:cNvPr id="8291" name="Line 23"/>
                <p:cNvSpPr>
                  <a:spLocks noChangeShapeType="1"/>
                </p:cNvSpPr>
                <p:nvPr/>
              </p:nvSpPr>
              <p:spPr bwMode="auto">
                <a:xfrm>
                  <a:off x="3099" y="1251"/>
                  <a:ext cx="1521" cy="0"/>
                </a:xfrm>
                <a:prstGeom prst="line">
                  <a:avLst/>
                </a:prstGeom>
                <a:noFill/>
                <a:ln w="28575">
                  <a:solidFill>
                    <a:schemeClr val="bg1"/>
                  </a:solidFill>
                  <a:round/>
                  <a:headEnd/>
                  <a:tailEnd type="stealth" w="med" len="lg"/>
                </a:ln>
              </p:spPr>
              <p:txBody>
                <a:bodyPr wrap="none" anchor="ctr"/>
                <a:lstStyle/>
                <a:p>
                  <a:endParaRPr lang="zh-CN" altLang="en-US"/>
                </a:p>
              </p:txBody>
            </p:sp>
            <p:graphicFrame>
              <p:nvGraphicFramePr>
                <p:cNvPr id="8209" name="Object 24"/>
                <p:cNvGraphicFramePr>
                  <a:graphicFrameLocks noChangeAspect="1"/>
                </p:cNvGraphicFramePr>
                <p:nvPr/>
              </p:nvGraphicFramePr>
              <p:xfrm>
                <a:off x="4422" y="1254"/>
                <a:ext cx="263" cy="263"/>
              </p:xfrm>
              <a:graphic>
                <a:graphicData uri="http://schemas.openxmlformats.org/presentationml/2006/ole">
                  <p:oleObj spid="_x0000_s8209" name="Equation" r:id="rId4" imgW="177492" imgH="177492" progId="">
                    <p:embed/>
                  </p:oleObj>
                </a:graphicData>
              </a:graphic>
            </p:graphicFrame>
            <p:graphicFrame>
              <p:nvGraphicFramePr>
                <p:cNvPr id="8210" name="Object 25"/>
                <p:cNvGraphicFramePr>
                  <a:graphicFrameLocks noChangeAspect="1"/>
                </p:cNvGraphicFramePr>
                <p:nvPr/>
              </p:nvGraphicFramePr>
              <p:xfrm>
                <a:off x="2965" y="469"/>
                <a:ext cx="214" cy="245"/>
              </p:xfrm>
              <a:graphic>
                <a:graphicData uri="http://schemas.openxmlformats.org/presentationml/2006/ole">
                  <p:oleObj spid="_x0000_s8210" name="Equation" r:id="rId5" imgW="177569" imgH="202936" progId="">
                    <p:embed/>
                  </p:oleObj>
                </a:graphicData>
              </a:graphic>
            </p:graphicFrame>
          </p:grpSp>
          <p:grpSp>
            <p:nvGrpSpPr>
              <p:cNvPr id="8282" name="Group 26"/>
              <p:cNvGrpSpPr>
                <a:grpSpLocks/>
              </p:cNvGrpSpPr>
              <p:nvPr/>
            </p:nvGrpSpPr>
            <p:grpSpPr bwMode="auto">
              <a:xfrm>
                <a:off x="3163" y="998"/>
                <a:ext cx="1318" cy="255"/>
                <a:chOff x="3231" y="998"/>
                <a:chExt cx="1318" cy="255"/>
              </a:xfrm>
            </p:grpSpPr>
            <p:sp>
              <p:nvSpPr>
                <p:cNvPr id="8283" name="Rectangle 27"/>
                <p:cNvSpPr>
                  <a:spLocks noChangeArrowheads="1"/>
                </p:cNvSpPr>
                <p:nvPr/>
              </p:nvSpPr>
              <p:spPr bwMode="auto">
                <a:xfrm>
                  <a:off x="3457" y="1148"/>
                  <a:ext cx="864" cy="96"/>
                </a:xfrm>
                <a:prstGeom prst="rect">
                  <a:avLst/>
                </a:prstGeom>
                <a:gradFill rotWithShape="1">
                  <a:gsLst>
                    <a:gs pos="0">
                      <a:srgbClr val="0066FF"/>
                    </a:gs>
                    <a:gs pos="50000">
                      <a:srgbClr val="CCFFFF"/>
                    </a:gs>
                    <a:gs pos="100000">
                      <a:srgbClr val="0066FF"/>
                    </a:gs>
                  </a:gsLst>
                  <a:lin ang="5400000" scaled="1"/>
                </a:gradFill>
                <a:ln w="9525">
                  <a:noFill/>
                  <a:miter lim="800000"/>
                  <a:headEnd/>
                  <a:tailEnd/>
                </a:ln>
              </p:spPr>
              <p:txBody>
                <a:bodyPr wrap="none" anchor="ctr"/>
                <a:lstStyle/>
                <a:p>
                  <a:pPr>
                    <a:lnSpc>
                      <a:spcPct val="115000"/>
                    </a:lnSpc>
                  </a:pPr>
                  <a:endParaRPr lang="zh-CN" altLang="en-US" b="1"/>
                </a:p>
              </p:txBody>
            </p:sp>
            <p:graphicFrame>
              <p:nvGraphicFramePr>
                <p:cNvPr id="8207" name="Object 28"/>
                <p:cNvGraphicFramePr>
                  <a:graphicFrameLocks noChangeAspect="1"/>
                </p:cNvGraphicFramePr>
                <p:nvPr/>
              </p:nvGraphicFramePr>
              <p:xfrm>
                <a:off x="3231" y="1026"/>
                <a:ext cx="184" cy="170"/>
              </p:xfrm>
              <a:graphic>
                <a:graphicData uri="http://schemas.openxmlformats.org/presentationml/2006/ole">
                  <p:oleObj spid="_x0000_s8207" name="公式" r:id="rId6" imgW="342603" imgH="317225" progId="Equation.3">
                    <p:embed/>
                  </p:oleObj>
                </a:graphicData>
              </a:graphic>
            </p:graphicFrame>
            <p:graphicFrame>
              <p:nvGraphicFramePr>
                <p:cNvPr id="8208" name="Object 29"/>
                <p:cNvGraphicFramePr>
                  <a:graphicFrameLocks noChangeAspect="1"/>
                </p:cNvGraphicFramePr>
                <p:nvPr/>
              </p:nvGraphicFramePr>
              <p:xfrm>
                <a:off x="4365" y="998"/>
                <a:ext cx="184" cy="170"/>
              </p:xfrm>
              <a:graphic>
                <a:graphicData uri="http://schemas.openxmlformats.org/presentationml/2006/ole">
                  <p:oleObj spid="_x0000_s8208" name="公式" r:id="rId7" imgW="342603" imgH="317225" progId="Equation.3">
                    <p:embed/>
                  </p:oleObj>
                </a:graphicData>
              </a:graphic>
            </p:graphicFrame>
            <p:sp>
              <p:nvSpPr>
                <p:cNvPr id="8284" name="Rectangle 30"/>
                <p:cNvSpPr>
                  <a:spLocks noChangeArrowheads="1"/>
                </p:cNvSpPr>
                <p:nvPr/>
              </p:nvSpPr>
              <p:spPr bwMode="auto">
                <a:xfrm>
                  <a:off x="3419" y="1026"/>
                  <a:ext cx="28" cy="227"/>
                </a:xfrm>
                <a:prstGeom prst="rect">
                  <a:avLst/>
                </a:prstGeom>
                <a:solidFill>
                  <a:srgbClr val="800080"/>
                </a:solidFill>
                <a:ln w="9525">
                  <a:solidFill>
                    <a:srgbClr val="800080"/>
                  </a:solidFill>
                  <a:miter lim="800000"/>
                  <a:headEnd/>
                  <a:tailEnd/>
                </a:ln>
              </p:spPr>
              <p:txBody>
                <a:bodyPr wrap="none" anchor="ctr"/>
                <a:lstStyle/>
                <a:p>
                  <a:endParaRPr lang="zh-CN" altLang="en-US"/>
                </a:p>
              </p:txBody>
            </p:sp>
            <p:grpSp>
              <p:nvGrpSpPr>
                <p:cNvPr id="8285" name="Group 31"/>
                <p:cNvGrpSpPr>
                  <a:grpSpLocks/>
                </p:cNvGrpSpPr>
                <p:nvPr/>
              </p:nvGrpSpPr>
              <p:grpSpPr bwMode="auto">
                <a:xfrm>
                  <a:off x="4326" y="1026"/>
                  <a:ext cx="28" cy="199"/>
                  <a:chOff x="2370" y="1933"/>
                  <a:chExt cx="28" cy="199"/>
                </a:xfrm>
              </p:grpSpPr>
              <p:sp>
                <p:nvSpPr>
                  <p:cNvPr id="8286" name="Line 32"/>
                  <p:cNvSpPr>
                    <a:spLocks noChangeShapeType="1"/>
                  </p:cNvSpPr>
                  <p:nvPr/>
                </p:nvSpPr>
                <p:spPr bwMode="auto">
                  <a:xfrm>
                    <a:off x="2398" y="1933"/>
                    <a:ext cx="0" cy="199"/>
                  </a:xfrm>
                  <a:prstGeom prst="line">
                    <a:avLst/>
                  </a:prstGeom>
                  <a:noFill/>
                  <a:ln w="76200">
                    <a:pattFill prst="dkDnDiag">
                      <a:fgClr>
                        <a:srgbClr val="00CC00"/>
                      </a:fgClr>
                      <a:bgClr>
                        <a:srgbClr val="FFFFFF"/>
                      </a:bgClr>
                    </a:pattFill>
                    <a:round/>
                    <a:headEnd/>
                    <a:tailEnd/>
                  </a:ln>
                </p:spPr>
                <p:txBody>
                  <a:bodyPr/>
                  <a:lstStyle/>
                  <a:p>
                    <a:endParaRPr lang="zh-CN" altLang="en-US"/>
                  </a:p>
                </p:txBody>
              </p:sp>
              <p:sp>
                <p:nvSpPr>
                  <p:cNvPr id="8287" name="Line 33"/>
                  <p:cNvSpPr>
                    <a:spLocks noChangeShapeType="1"/>
                  </p:cNvSpPr>
                  <p:nvPr/>
                </p:nvSpPr>
                <p:spPr bwMode="auto">
                  <a:xfrm>
                    <a:off x="2370" y="1933"/>
                    <a:ext cx="0" cy="199"/>
                  </a:xfrm>
                  <a:prstGeom prst="line">
                    <a:avLst/>
                  </a:prstGeom>
                  <a:noFill/>
                  <a:ln w="28575">
                    <a:solidFill>
                      <a:srgbClr val="00CC00"/>
                    </a:solidFill>
                    <a:round/>
                    <a:headEnd/>
                    <a:tailEnd/>
                  </a:ln>
                </p:spPr>
                <p:txBody>
                  <a:bodyPr/>
                  <a:lstStyle/>
                  <a:p>
                    <a:endParaRPr lang="zh-CN" altLang="en-US"/>
                  </a:p>
                </p:txBody>
              </p:sp>
            </p:grpSp>
          </p:grpSp>
        </p:grpSp>
        <p:sp>
          <p:nvSpPr>
            <p:cNvPr id="8278" name="Oval 34"/>
            <p:cNvSpPr>
              <a:spLocks noChangeArrowheads="1"/>
            </p:cNvSpPr>
            <p:nvPr/>
          </p:nvSpPr>
          <p:spPr bwMode="auto">
            <a:xfrm>
              <a:off x="3362" y="1226"/>
              <a:ext cx="45" cy="45"/>
            </a:xfrm>
            <a:prstGeom prst="ellipse">
              <a:avLst/>
            </a:prstGeom>
            <a:solidFill>
              <a:srgbClr val="FF3300"/>
            </a:solidFill>
            <a:ln w="9525">
              <a:solidFill>
                <a:srgbClr val="FF3300"/>
              </a:solidFill>
              <a:round/>
              <a:headEnd/>
              <a:tailEnd/>
            </a:ln>
          </p:spPr>
          <p:txBody>
            <a:bodyPr wrap="none" anchor="ctr"/>
            <a:lstStyle/>
            <a:p>
              <a:endParaRPr lang="zh-CN" altLang="en-US"/>
            </a:p>
          </p:txBody>
        </p:sp>
        <p:sp>
          <p:nvSpPr>
            <p:cNvPr id="8279" name="Oval 35"/>
            <p:cNvSpPr>
              <a:spLocks noChangeArrowheads="1"/>
            </p:cNvSpPr>
            <p:nvPr/>
          </p:nvSpPr>
          <p:spPr bwMode="auto">
            <a:xfrm>
              <a:off x="4226" y="1226"/>
              <a:ext cx="45" cy="45"/>
            </a:xfrm>
            <a:prstGeom prst="ellipse">
              <a:avLst/>
            </a:prstGeom>
            <a:solidFill>
              <a:srgbClr val="FF3300"/>
            </a:solidFill>
            <a:ln w="9525">
              <a:solidFill>
                <a:srgbClr val="FF3300"/>
              </a:solidFill>
              <a:round/>
              <a:headEnd/>
              <a:tailEnd/>
            </a:ln>
          </p:spPr>
          <p:txBody>
            <a:bodyPr wrap="none" anchor="ctr"/>
            <a:lstStyle/>
            <a:p>
              <a:endParaRPr lang="zh-CN" altLang="en-US"/>
            </a:p>
          </p:txBody>
        </p:sp>
      </p:grpSp>
      <p:grpSp>
        <p:nvGrpSpPr>
          <p:cNvPr id="10" name="Group 36"/>
          <p:cNvGrpSpPr>
            <a:grpSpLocks/>
          </p:cNvGrpSpPr>
          <p:nvPr/>
        </p:nvGrpSpPr>
        <p:grpSpPr bwMode="auto">
          <a:xfrm>
            <a:off x="4257675" y="2168525"/>
            <a:ext cx="4614863" cy="1724025"/>
            <a:chOff x="2682" y="1423"/>
            <a:chExt cx="2907" cy="1086"/>
          </a:xfrm>
        </p:grpSpPr>
        <p:grpSp>
          <p:nvGrpSpPr>
            <p:cNvPr id="8252" name="Group 37"/>
            <p:cNvGrpSpPr>
              <a:grpSpLocks/>
            </p:cNvGrpSpPr>
            <p:nvPr/>
          </p:nvGrpSpPr>
          <p:grpSpPr bwMode="auto">
            <a:xfrm>
              <a:off x="2682" y="1423"/>
              <a:ext cx="2907" cy="1044"/>
              <a:chOff x="2653" y="431"/>
              <a:chExt cx="2907" cy="1044"/>
            </a:xfrm>
          </p:grpSpPr>
          <p:grpSp>
            <p:nvGrpSpPr>
              <p:cNvPr id="8270" name="Group 38"/>
              <p:cNvGrpSpPr>
                <a:grpSpLocks/>
              </p:cNvGrpSpPr>
              <p:nvPr/>
            </p:nvGrpSpPr>
            <p:grpSpPr bwMode="auto">
              <a:xfrm>
                <a:off x="2653" y="431"/>
                <a:ext cx="2907" cy="1044"/>
                <a:chOff x="2653" y="431"/>
                <a:chExt cx="2907" cy="1044"/>
              </a:xfrm>
            </p:grpSpPr>
            <p:graphicFrame>
              <p:nvGraphicFramePr>
                <p:cNvPr id="8206" name="Object 39"/>
                <p:cNvGraphicFramePr>
                  <a:graphicFrameLocks noChangeAspect="1"/>
                </p:cNvGraphicFramePr>
                <p:nvPr/>
              </p:nvGraphicFramePr>
              <p:xfrm>
                <a:off x="5375" y="1281"/>
                <a:ext cx="185" cy="186"/>
              </p:xfrm>
              <a:graphic>
                <a:graphicData uri="http://schemas.openxmlformats.org/presentationml/2006/ole">
                  <p:oleObj spid="_x0000_s8206" name="Equation" r:id="rId8" imgW="139700" imgH="139700" progId="">
                    <p:embed/>
                  </p:oleObj>
                </a:graphicData>
              </a:graphic>
            </p:graphicFrame>
            <p:sp>
              <p:nvSpPr>
                <p:cNvPr id="8272" name="Text Box 40"/>
                <p:cNvSpPr txBox="1">
                  <a:spLocks noChangeArrowheads="1"/>
                </p:cNvSpPr>
                <p:nvPr/>
              </p:nvSpPr>
              <p:spPr bwMode="auto">
                <a:xfrm>
                  <a:off x="2778" y="1196"/>
                  <a:ext cx="232"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FF"/>
                      </a:solidFill>
                    </a:rPr>
                    <a:t>O</a:t>
                  </a:r>
                </a:p>
              </p:txBody>
            </p:sp>
            <p:sp>
              <p:nvSpPr>
                <p:cNvPr id="8273" name="Text Box 41"/>
                <p:cNvSpPr txBox="1">
                  <a:spLocks noChangeArrowheads="1"/>
                </p:cNvSpPr>
                <p:nvPr/>
              </p:nvSpPr>
              <p:spPr bwMode="auto">
                <a:xfrm>
                  <a:off x="2653" y="712"/>
                  <a:ext cx="205"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FF"/>
                      </a:solidFill>
                    </a:rPr>
                    <a:t>S</a:t>
                  </a:r>
                </a:p>
              </p:txBody>
            </p:sp>
            <p:sp>
              <p:nvSpPr>
                <p:cNvPr id="8274" name="Line 42"/>
                <p:cNvSpPr>
                  <a:spLocks noChangeShapeType="1"/>
                </p:cNvSpPr>
                <p:nvPr/>
              </p:nvSpPr>
              <p:spPr bwMode="auto">
                <a:xfrm flipV="1">
                  <a:off x="2871" y="618"/>
                  <a:ext cx="0" cy="624"/>
                </a:xfrm>
                <a:prstGeom prst="line">
                  <a:avLst/>
                </a:prstGeom>
                <a:noFill/>
                <a:ln w="28575">
                  <a:solidFill>
                    <a:srgbClr val="0000FF"/>
                  </a:solidFill>
                  <a:round/>
                  <a:headEnd/>
                  <a:tailEnd type="triangle" w="sm" len="lg"/>
                </a:ln>
              </p:spPr>
              <p:txBody>
                <a:bodyPr wrap="none" anchor="ctr"/>
                <a:lstStyle/>
                <a:p>
                  <a:endParaRPr lang="zh-CN" altLang="en-US"/>
                </a:p>
              </p:txBody>
            </p:sp>
            <p:sp>
              <p:nvSpPr>
                <p:cNvPr id="8275" name="Line 43"/>
                <p:cNvSpPr>
                  <a:spLocks noChangeShapeType="1"/>
                </p:cNvSpPr>
                <p:nvPr/>
              </p:nvSpPr>
              <p:spPr bwMode="auto">
                <a:xfrm>
                  <a:off x="2871" y="1242"/>
                  <a:ext cx="2617" cy="11"/>
                </a:xfrm>
                <a:prstGeom prst="line">
                  <a:avLst/>
                </a:prstGeom>
                <a:noFill/>
                <a:ln w="28575">
                  <a:solidFill>
                    <a:srgbClr val="0000FF"/>
                  </a:solidFill>
                  <a:round/>
                  <a:headEnd/>
                  <a:tailEnd type="triangle" w="sm" len="lg"/>
                </a:ln>
              </p:spPr>
              <p:txBody>
                <a:bodyPr wrap="none" anchor="ctr"/>
                <a:lstStyle/>
                <a:p>
                  <a:endParaRPr lang="zh-CN" altLang="en-US"/>
                </a:p>
              </p:txBody>
            </p:sp>
            <p:sp>
              <p:nvSpPr>
                <p:cNvPr id="8276" name="Text Box 44"/>
                <p:cNvSpPr txBox="1">
                  <a:spLocks noChangeArrowheads="1"/>
                </p:cNvSpPr>
                <p:nvPr/>
              </p:nvSpPr>
              <p:spPr bwMode="auto">
                <a:xfrm>
                  <a:off x="2710" y="431"/>
                  <a:ext cx="198" cy="288"/>
                </a:xfrm>
                <a:prstGeom prst="rect">
                  <a:avLst/>
                </a:prstGeom>
                <a:noFill/>
                <a:ln w="9525">
                  <a:noFill/>
                  <a:miter lim="800000"/>
                  <a:headEnd/>
                  <a:tailEnd/>
                </a:ln>
              </p:spPr>
              <p:txBody>
                <a:bodyPr>
                  <a:spAutoFit/>
                </a:bodyPr>
                <a:lstStyle/>
                <a:p>
                  <a:pPr>
                    <a:spcBef>
                      <a:spcPct val="50000"/>
                    </a:spcBef>
                  </a:pPr>
                  <a:r>
                    <a:rPr lang="en-US" altLang="zh-CN" b="1" i="1">
                      <a:solidFill>
                        <a:srgbClr val="0066FF"/>
                      </a:solidFill>
                    </a:rPr>
                    <a:t>y</a:t>
                  </a:r>
                </a:p>
              </p:txBody>
            </p:sp>
          </p:grpSp>
          <p:sp>
            <p:nvSpPr>
              <p:cNvPr id="8271" name="Oval 45"/>
              <p:cNvSpPr>
                <a:spLocks noChangeArrowheads="1"/>
              </p:cNvSpPr>
              <p:nvPr/>
            </p:nvSpPr>
            <p:spPr bwMode="auto">
              <a:xfrm>
                <a:off x="3362" y="1224"/>
                <a:ext cx="45" cy="45"/>
              </a:xfrm>
              <a:prstGeom prst="ellipse">
                <a:avLst/>
              </a:prstGeom>
              <a:solidFill>
                <a:srgbClr val="FF3300"/>
              </a:solidFill>
              <a:ln w="9525">
                <a:solidFill>
                  <a:srgbClr val="FF3300"/>
                </a:solidFill>
                <a:round/>
                <a:headEnd/>
                <a:tailEnd/>
              </a:ln>
            </p:spPr>
            <p:txBody>
              <a:bodyPr wrap="none" anchor="ctr"/>
              <a:lstStyle/>
              <a:p>
                <a:endParaRPr lang="zh-CN" altLang="en-US"/>
              </a:p>
            </p:txBody>
          </p:sp>
        </p:grpSp>
        <p:grpSp>
          <p:nvGrpSpPr>
            <p:cNvPr id="8253" name="Group 46"/>
            <p:cNvGrpSpPr>
              <a:grpSpLocks/>
            </p:cNvGrpSpPr>
            <p:nvPr/>
          </p:nvGrpSpPr>
          <p:grpSpPr bwMode="auto">
            <a:xfrm>
              <a:off x="2862" y="1461"/>
              <a:ext cx="1851" cy="1048"/>
              <a:chOff x="2891" y="1461"/>
              <a:chExt cx="1851" cy="1048"/>
            </a:xfrm>
          </p:grpSpPr>
          <p:grpSp>
            <p:nvGrpSpPr>
              <p:cNvPr id="8256" name="Group 47"/>
              <p:cNvGrpSpPr>
                <a:grpSpLocks/>
              </p:cNvGrpSpPr>
              <p:nvPr/>
            </p:nvGrpSpPr>
            <p:grpSpPr bwMode="auto">
              <a:xfrm>
                <a:off x="3175" y="1554"/>
                <a:ext cx="284" cy="294"/>
                <a:chOff x="3843" y="228"/>
                <a:chExt cx="284" cy="294"/>
              </a:xfrm>
            </p:grpSpPr>
            <p:sp>
              <p:nvSpPr>
                <p:cNvPr id="173104" name="Line 48"/>
                <p:cNvSpPr>
                  <a:spLocks noChangeShapeType="1"/>
                </p:cNvSpPr>
                <p:nvPr/>
              </p:nvSpPr>
              <p:spPr bwMode="auto">
                <a:xfrm>
                  <a:off x="3844" y="459"/>
                  <a:ext cx="283" cy="0"/>
                </a:xfrm>
                <a:prstGeom prst="line">
                  <a:avLst/>
                </a:prstGeom>
                <a:noFill/>
                <a:ln w="22225">
                  <a:solidFill>
                    <a:schemeClr val="hlink"/>
                  </a:solidFill>
                  <a:round/>
                  <a:headEnd/>
                  <a:tailEnd type="triangle" w="med" len="med"/>
                </a:ln>
                <a:effectLst>
                  <a:outerShdw blurRad="63500" dist="38099" dir="2700000" algn="ctr" rotWithShape="0">
                    <a:schemeClr val="bg2">
                      <a:alpha val="50000"/>
                    </a:schemeClr>
                  </a:outerShdw>
                </a:effectLst>
                <a:extLst>
                  <a:ext uri="{909E8E84-426E-40dd-AFC4-6F175D3DCCD1}"/>
                </a:extLst>
              </p:spPr>
              <p:txBody>
                <a:bodyPr wrap="none" tIns="0"/>
                <a:lstStyle/>
                <a:p>
                  <a:pPr>
                    <a:defRPr/>
                  </a:pPr>
                  <a:endParaRPr lang="zh-CN" altLang="en-US">
                    <a:latin typeface="Times New Roman" charset="0"/>
                    <a:ea typeface="宋体" charset="0"/>
                  </a:endParaRPr>
                </a:p>
              </p:txBody>
            </p:sp>
            <p:sp>
              <p:nvSpPr>
                <p:cNvPr id="8269" name="Text Box 49"/>
                <p:cNvSpPr txBox="1">
                  <a:spLocks noChangeArrowheads="1"/>
                </p:cNvSpPr>
                <p:nvPr/>
              </p:nvSpPr>
              <p:spPr bwMode="auto">
                <a:xfrm>
                  <a:off x="3843" y="228"/>
                  <a:ext cx="256" cy="294"/>
                </a:xfrm>
                <a:prstGeom prst="rect">
                  <a:avLst/>
                </a:prstGeom>
                <a:noFill/>
                <a:ln w="9525">
                  <a:noFill/>
                  <a:miter lim="800000"/>
                  <a:headEnd/>
                  <a:tailEnd/>
                </a:ln>
              </p:spPr>
              <p:txBody>
                <a:bodyPr tIns="0">
                  <a:spAutoFit/>
                </a:bodyPr>
                <a:lstStyle/>
                <a:p>
                  <a:pPr algn="l">
                    <a:lnSpc>
                      <a:spcPct val="115000"/>
                    </a:lnSpc>
                  </a:pPr>
                  <a:r>
                    <a:rPr kumimoji="0" lang="en-US" altLang="zh-CN" b="1" i="1">
                      <a:solidFill>
                        <a:schemeClr val="hlink"/>
                      </a:solidFill>
                      <a:latin typeface="Bookman Old Style" pitchFamily="18" charset="0"/>
                      <a:ea typeface="楷体_GB2312" pitchFamily="49" charset="-122"/>
                      <a:cs typeface="Arial" pitchFamily="34" charset="0"/>
                    </a:rPr>
                    <a:t>v</a:t>
                  </a:r>
                </a:p>
              </p:txBody>
            </p:sp>
          </p:grpSp>
          <p:grpSp>
            <p:nvGrpSpPr>
              <p:cNvPr id="8257" name="Group 50"/>
              <p:cNvGrpSpPr>
                <a:grpSpLocks/>
              </p:cNvGrpSpPr>
              <p:nvPr/>
            </p:nvGrpSpPr>
            <p:grpSpPr bwMode="auto">
              <a:xfrm>
                <a:off x="2891" y="1461"/>
                <a:ext cx="1851" cy="1048"/>
                <a:chOff x="2834" y="469"/>
                <a:chExt cx="1851" cy="1048"/>
              </a:xfrm>
            </p:grpSpPr>
            <p:sp>
              <p:nvSpPr>
                <p:cNvPr id="8264" name="Text Box 51"/>
                <p:cNvSpPr txBox="1">
                  <a:spLocks noChangeArrowheads="1"/>
                </p:cNvSpPr>
                <p:nvPr/>
              </p:nvSpPr>
              <p:spPr bwMode="auto">
                <a:xfrm>
                  <a:off x="3022" y="1205"/>
                  <a:ext cx="276"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O'</a:t>
                  </a:r>
                </a:p>
              </p:txBody>
            </p:sp>
            <p:sp>
              <p:nvSpPr>
                <p:cNvPr id="8265" name="Text Box 52"/>
                <p:cNvSpPr txBox="1">
                  <a:spLocks noChangeArrowheads="1"/>
                </p:cNvSpPr>
                <p:nvPr/>
              </p:nvSpPr>
              <p:spPr bwMode="auto">
                <a:xfrm>
                  <a:off x="2834" y="714"/>
                  <a:ext cx="249"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S'</a:t>
                  </a:r>
                </a:p>
              </p:txBody>
            </p:sp>
            <p:sp>
              <p:nvSpPr>
                <p:cNvPr id="8266" name="Line 53"/>
                <p:cNvSpPr>
                  <a:spLocks noChangeShapeType="1"/>
                </p:cNvSpPr>
                <p:nvPr/>
              </p:nvSpPr>
              <p:spPr bwMode="auto">
                <a:xfrm flipV="1">
                  <a:off x="3099" y="627"/>
                  <a:ext cx="0" cy="624"/>
                </a:xfrm>
                <a:prstGeom prst="line">
                  <a:avLst/>
                </a:prstGeom>
                <a:noFill/>
                <a:ln w="28575">
                  <a:solidFill>
                    <a:schemeClr val="bg1"/>
                  </a:solidFill>
                  <a:round/>
                  <a:headEnd/>
                  <a:tailEnd type="triangle" w="sm" len="lg"/>
                </a:ln>
              </p:spPr>
              <p:txBody>
                <a:bodyPr wrap="none" anchor="ctr"/>
                <a:lstStyle/>
                <a:p>
                  <a:endParaRPr lang="zh-CN" altLang="en-US"/>
                </a:p>
              </p:txBody>
            </p:sp>
            <p:sp>
              <p:nvSpPr>
                <p:cNvPr id="8267" name="Line 54"/>
                <p:cNvSpPr>
                  <a:spLocks noChangeShapeType="1"/>
                </p:cNvSpPr>
                <p:nvPr/>
              </p:nvSpPr>
              <p:spPr bwMode="auto">
                <a:xfrm>
                  <a:off x="3099" y="1251"/>
                  <a:ext cx="1521" cy="0"/>
                </a:xfrm>
                <a:prstGeom prst="line">
                  <a:avLst/>
                </a:prstGeom>
                <a:noFill/>
                <a:ln w="28575">
                  <a:solidFill>
                    <a:schemeClr val="bg1"/>
                  </a:solidFill>
                  <a:round/>
                  <a:headEnd/>
                  <a:tailEnd type="stealth" w="med" len="lg"/>
                </a:ln>
              </p:spPr>
              <p:txBody>
                <a:bodyPr wrap="none" anchor="ctr"/>
                <a:lstStyle/>
                <a:p>
                  <a:endParaRPr lang="zh-CN" altLang="en-US"/>
                </a:p>
              </p:txBody>
            </p:sp>
            <p:graphicFrame>
              <p:nvGraphicFramePr>
                <p:cNvPr id="8204" name="Object 55"/>
                <p:cNvGraphicFramePr>
                  <a:graphicFrameLocks noChangeAspect="1"/>
                </p:cNvGraphicFramePr>
                <p:nvPr/>
              </p:nvGraphicFramePr>
              <p:xfrm>
                <a:off x="4422" y="1254"/>
                <a:ext cx="263" cy="263"/>
              </p:xfrm>
              <a:graphic>
                <a:graphicData uri="http://schemas.openxmlformats.org/presentationml/2006/ole">
                  <p:oleObj spid="_x0000_s8204" name="Equation" r:id="rId9" imgW="177492" imgH="177492" progId="">
                    <p:embed/>
                  </p:oleObj>
                </a:graphicData>
              </a:graphic>
            </p:graphicFrame>
            <p:graphicFrame>
              <p:nvGraphicFramePr>
                <p:cNvPr id="8205" name="Object 56"/>
                <p:cNvGraphicFramePr>
                  <a:graphicFrameLocks noChangeAspect="1"/>
                </p:cNvGraphicFramePr>
                <p:nvPr/>
              </p:nvGraphicFramePr>
              <p:xfrm>
                <a:off x="2965" y="469"/>
                <a:ext cx="214" cy="245"/>
              </p:xfrm>
              <a:graphic>
                <a:graphicData uri="http://schemas.openxmlformats.org/presentationml/2006/ole">
                  <p:oleObj spid="_x0000_s8205" name="Equation" r:id="rId10" imgW="177569" imgH="202936" progId="">
                    <p:embed/>
                  </p:oleObj>
                </a:graphicData>
              </a:graphic>
            </p:graphicFrame>
          </p:grpSp>
          <p:grpSp>
            <p:nvGrpSpPr>
              <p:cNvPr id="8258" name="Group 57"/>
              <p:cNvGrpSpPr>
                <a:grpSpLocks/>
              </p:cNvGrpSpPr>
              <p:nvPr/>
            </p:nvGrpSpPr>
            <p:grpSpPr bwMode="auto">
              <a:xfrm>
                <a:off x="3220" y="1990"/>
                <a:ext cx="1318" cy="255"/>
                <a:chOff x="3231" y="998"/>
                <a:chExt cx="1318" cy="255"/>
              </a:xfrm>
            </p:grpSpPr>
            <p:sp>
              <p:nvSpPr>
                <p:cNvPr id="8259" name="Rectangle 58"/>
                <p:cNvSpPr>
                  <a:spLocks noChangeArrowheads="1"/>
                </p:cNvSpPr>
                <p:nvPr/>
              </p:nvSpPr>
              <p:spPr bwMode="auto">
                <a:xfrm>
                  <a:off x="3457" y="1148"/>
                  <a:ext cx="864" cy="96"/>
                </a:xfrm>
                <a:prstGeom prst="rect">
                  <a:avLst/>
                </a:prstGeom>
                <a:gradFill rotWithShape="1">
                  <a:gsLst>
                    <a:gs pos="0">
                      <a:srgbClr val="0066FF"/>
                    </a:gs>
                    <a:gs pos="50000">
                      <a:srgbClr val="CCFFFF"/>
                    </a:gs>
                    <a:gs pos="100000">
                      <a:srgbClr val="0066FF"/>
                    </a:gs>
                  </a:gsLst>
                  <a:lin ang="5400000" scaled="1"/>
                </a:gradFill>
                <a:ln w="9525">
                  <a:noFill/>
                  <a:miter lim="800000"/>
                  <a:headEnd/>
                  <a:tailEnd/>
                </a:ln>
              </p:spPr>
              <p:txBody>
                <a:bodyPr wrap="none" anchor="ctr"/>
                <a:lstStyle/>
                <a:p>
                  <a:pPr>
                    <a:lnSpc>
                      <a:spcPct val="115000"/>
                    </a:lnSpc>
                  </a:pPr>
                  <a:endParaRPr lang="zh-CN" altLang="en-US" b="1"/>
                </a:p>
              </p:txBody>
            </p:sp>
            <p:graphicFrame>
              <p:nvGraphicFramePr>
                <p:cNvPr id="8202" name="Object 59"/>
                <p:cNvGraphicFramePr>
                  <a:graphicFrameLocks noChangeAspect="1"/>
                </p:cNvGraphicFramePr>
                <p:nvPr/>
              </p:nvGraphicFramePr>
              <p:xfrm>
                <a:off x="3231" y="1026"/>
                <a:ext cx="184" cy="170"/>
              </p:xfrm>
              <a:graphic>
                <a:graphicData uri="http://schemas.openxmlformats.org/presentationml/2006/ole">
                  <p:oleObj spid="_x0000_s8202" name="公式" r:id="rId11" imgW="342603" imgH="317225" progId="Equation.3">
                    <p:embed/>
                  </p:oleObj>
                </a:graphicData>
              </a:graphic>
            </p:graphicFrame>
            <p:graphicFrame>
              <p:nvGraphicFramePr>
                <p:cNvPr id="8203" name="Object 60"/>
                <p:cNvGraphicFramePr>
                  <a:graphicFrameLocks noChangeAspect="1"/>
                </p:cNvGraphicFramePr>
                <p:nvPr/>
              </p:nvGraphicFramePr>
              <p:xfrm>
                <a:off x="4365" y="998"/>
                <a:ext cx="184" cy="170"/>
              </p:xfrm>
              <a:graphic>
                <a:graphicData uri="http://schemas.openxmlformats.org/presentationml/2006/ole">
                  <p:oleObj spid="_x0000_s8203" name="公式" r:id="rId12" imgW="342603" imgH="317225" progId="Equation.3">
                    <p:embed/>
                  </p:oleObj>
                </a:graphicData>
              </a:graphic>
            </p:graphicFrame>
            <p:sp>
              <p:nvSpPr>
                <p:cNvPr id="8260" name="Rectangle 61"/>
                <p:cNvSpPr>
                  <a:spLocks noChangeArrowheads="1"/>
                </p:cNvSpPr>
                <p:nvPr/>
              </p:nvSpPr>
              <p:spPr bwMode="auto">
                <a:xfrm>
                  <a:off x="3419" y="1026"/>
                  <a:ext cx="28" cy="227"/>
                </a:xfrm>
                <a:prstGeom prst="rect">
                  <a:avLst/>
                </a:prstGeom>
                <a:solidFill>
                  <a:srgbClr val="800080"/>
                </a:solidFill>
                <a:ln w="9525">
                  <a:solidFill>
                    <a:srgbClr val="800080"/>
                  </a:solidFill>
                  <a:miter lim="800000"/>
                  <a:headEnd/>
                  <a:tailEnd/>
                </a:ln>
              </p:spPr>
              <p:txBody>
                <a:bodyPr wrap="none" anchor="ctr"/>
                <a:lstStyle/>
                <a:p>
                  <a:endParaRPr lang="zh-CN" altLang="en-US"/>
                </a:p>
              </p:txBody>
            </p:sp>
            <p:grpSp>
              <p:nvGrpSpPr>
                <p:cNvPr id="8261" name="Group 62"/>
                <p:cNvGrpSpPr>
                  <a:grpSpLocks/>
                </p:cNvGrpSpPr>
                <p:nvPr/>
              </p:nvGrpSpPr>
              <p:grpSpPr bwMode="auto">
                <a:xfrm>
                  <a:off x="4326" y="1026"/>
                  <a:ext cx="28" cy="199"/>
                  <a:chOff x="2370" y="1933"/>
                  <a:chExt cx="28" cy="199"/>
                </a:xfrm>
              </p:grpSpPr>
              <p:sp>
                <p:nvSpPr>
                  <p:cNvPr id="8262" name="Line 63"/>
                  <p:cNvSpPr>
                    <a:spLocks noChangeShapeType="1"/>
                  </p:cNvSpPr>
                  <p:nvPr/>
                </p:nvSpPr>
                <p:spPr bwMode="auto">
                  <a:xfrm>
                    <a:off x="2398" y="1933"/>
                    <a:ext cx="0" cy="199"/>
                  </a:xfrm>
                  <a:prstGeom prst="line">
                    <a:avLst/>
                  </a:prstGeom>
                  <a:noFill/>
                  <a:ln w="76200">
                    <a:pattFill prst="dkDnDiag">
                      <a:fgClr>
                        <a:srgbClr val="00CC00"/>
                      </a:fgClr>
                      <a:bgClr>
                        <a:srgbClr val="FFFFFF"/>
                      </a:bgClr>
                    </a:pattFill>
                    <a:round/>
                    <a:headEnd/>
                    <a:tailEnd/>
                  </a:ln>
                </p:spPr>
                <p:txBody>
                  <a:bodyPr/>
                  <a:lstStyle/>
                  <a:p>
                    <a:endParaRPr lang="zh-CN" altLang="en-US"/>
                  </a:p>
                </p:txBody>
              </p:sp>
              <p:sp>
                <p:nvSpPr>
                  <p:cNvPr id="8263" name="Line 64"/>
                  <p:cNvSpPr>
                    <a:spLocks noChangeShapeType="1"/>
                  </p:cNvSpPr>
                  <p:nvPr/>
                </p:nvSpPr>
                <p:spPr bwMode="auto">
                  <a:xfrm>
                    <a:off x="2370" y="1933"/>
                    <a:ext cx="0" cy="199"/>
                  </a:xfrm>
                  <a:prstGeom prst="line">
                    <a:avLst/>
                  </a:prstGeom>
                  <a:noFill/>
                  <a:ln w="28575">
                    <a:solidFill>
                      <a:srgbClr val="00CC00"/>
                    </a:solidFill>
                    <a:round/>
                    <a:headEnd/>
                    <a:tailEnd/>
                  </a:ln>
                </p:spPr>
                <p:txBody>
                  <a:bodyPr/>
                  <a:lstStyle/>
                  <a:p>
                    <a:endParaRPr lang="zh-CN" altLang="en-US"/>
                  </a:p>
                </p:txBody>
              </p:sp>
            </p:grpSp>
          </p:grpSp>
        </p:grpSp>
        <p:sp>
          <p:nvSpPr>
            <p:cNvPr id="8254" name="Oval 65"/>
            <p:cNvSpPr>
              <a:spLocks noChangeArrowheads="1"/>
            </p:cNvSpPr>
            <p:nvPr/>
          </p:nvSpPr>
          <p:spPr bwMode="auto">
            <a:xfrm>
              <a:off x="3390" y="2218"/>
              <a:ext cx="45" cy="45"/>
            </a:xfrm>
            <a:prstGeom prst="ellipse">
              <a:avLst/>
            </a:prstGeom>
            <a:solidFill>
              <a:srgbClr val="FF3300"/>
            </a:solidFill>
            <a:ln w="9525">
              <a:solidFill>
                <a:srgbClr val="FF3300"/>
              </a:solidFill>
              <a:round/>
              <a:headEnd/>
              <a:tailEnd/>
            </a:ln>
          </p:spPr>
          <p:txBody>
            <a:bodyPr wrap="none" anchor="ctr"/>
            <a:lstStyle/>
            <a:p>
              <a:endParaRPr lang="zh-CN" altLang="en-US"/>
            </a:p>
          </p:txBody>
        </p:sp>
        <p:sp>
          <p:nvSpPr>
            <p:cNvPr id="8255" name="Oval 66"/>
            <p:cNvSpPr>
              <a:spLocks noChangeArrowheads="1"/>
            </p:cNvSpPr>
            <p:nvPr/>
          </p:nvSpPr>
          <p:spPr bwMode="auto">
            <a:xfrm>
              <a:off x="4254" y="2218"/>
              <a:ext cx="45" cy="45"/>
            </a:xfrm>
            <a:prstGeom prst="ellipse">
              <a:avLst/>
            </a:prstGeom>
            <a:solidFill>
              <a:srgbClr val="FF3300"/>
            </a:solidFill>
            <a:ln w="9525">
              <a:solidFill>
                <a:srgbClr val="FF3300"/>
              </a:solidFill>
              <a:round/>
              <a:headEnd/>
              <a:tailEnd/>
            </a:ln>
          </p:spPr>
          <p:txBody>
            <a:bodyPr wrap="none" anchor="ctr"/>
            <a:lstStyle/>
            <a:p>
              <a:endParaRPr lang="zh-CN" altLang="en-US"/>
            </a:p>
          </p:txBody>
        </p:sp>
      </p:grpSp>
      <p:sp>
        <p:nvSpPr>
          <p:cNvPr id="173123" name="AutoShape 67"/>
          <p:cNvSpPr>
            <a:spLocks noChangeArrowheads="1"/>
          </p:cNvSpPr>
          <p:nvPr/>
        </p:nvSpPr>
        <p:spPr bwMode="auto">
          <a:xfrm>
            <a:off x="5157788" y="1538288"/>
            <a:ext cx="360362" cy="360362"/>
          </a:xfrm>
          <a:prstGeom prst="star8">
            <a:avLst>
              <a:gd name="adj" fmla="val 17185"/>
            </a:avLst>
          </a:prstGeom>
          <a:solidFill>
            <a:schemeClr val="hlink">
              <a:alpha val="41960"/>
            </a:schemeClr>
          </a:solidFill>
          <a:ln w="3175">
            <a:solidFill>
              <a:srgbClr val="FF0000">
                <a:alpha val="70195"/>
              </a:srgbClr>
            </a:solidFill>
            <a:miter lim="800000"/>
            <a:headEnd/>
            <a:tailEnd/>
          </a:ln>
        </p:spPr>
        <p:txBody>
          <a:bodyPr wrap="none" anchor="ctr"/>
          <a:lstStyle/>
          <a:p>
            <a:endParaRPr lang="zh-CN" altLang="en-US"/>
          </a:p>
        </p:txBody>
      </p:sp>
      <p:sp>
        <p:nvSpPr>
          <p:cNvPr id="173124" name="Line 68"/>
          <p:cNvSpPr>
            <a:spLocks noChangeShapeType="1"/>
          </p:cNvSpPr>
          <p:nvPr/>
        </p:nvSpPr>
        <p:spPr bwMode="auto">
          <a:xfrm>
            <a:off x="6237288" y="1763713"/>
            <a:ext cx="1395412" cy="0"/>
          </a:xfrm>
          <a:prstGeom prst="line">
            <a:avLst/>
          </a:prstGeom>
          <a:noFill/>
          <a:ln w="28575">
            <a:solidFill>
              <a:schemeClr val="hlink"/>
            </a:solidFill>
            <a:round/>
            <a:headEnd/>
            <a:tailEnd type="stealth" w="med" len="lg"/>
          </a:ln>
        </p:spPr>
        <p:txBody>
          <a:bodyPr/>
          <a:lstStyle/>
          <a:p>
            <a:endParaRPr lang="zh-CN" altLang="en-US"/>
          </a:p>
        </p:txBody>
      </p:sp>
      <p:sp>
        <p:nvSpPr>
          <p:cNvPr id="173125" name="Line 69"/>
          <p:cNvSpPr>
            <a:spLocks noChangeShapeType="1"/>
          </p:cNvSpPr>
          <p:nvPr/>
        </p:nvSpPr>
        <p:spPr bwMode="auto">
          <a:xfrm flipH="1">
            <a:off x="6237288" y="1673225"/>
            <a:ext cx="1395412" cy="0"/>
          </a:xfrm>
          <a:prstGeom prst="line">
            <a:avLst/>
          </a:prstGeom>
          <a:noFill/>
          <a:ln w="28575">
            <a:solidFill>
              <a:schemeClr val="hlink"/>
            </a:solidFill>
            <a:round/>
            <a:headEnd/>
            <a:tailEnd type="stealth" w="med" len="lg"/>
          </a:ln>
        </p:spPr>
        <p:txBody>
          <a:bodyPr/>
          <a:lstStyle/>
          <a:p>
            <a:endParaRPr lang="zh-CN" altLang="en-US"/>
          </a:p>
        </p:txBody>
      </p:sp>
      <p:graphicFrame>
        <p:nvGraphicFramePr>
          <p:cNvPr id="173126" name="Object 70"/>
          <p:cNvGraphicFramePr>
            <a:graphicFrameLocks noChangeAspect="1"/>
          </p:cNvGraphicFramePr>
          <p:nvPr/>
        </p:nvGraphicFramePr>
        <p:xfrm>
          <a:off x="6732588" y="1223963"/>
          <a:ext cx="317500" cy="404812"/>
        </p:xfrm>
        <a:graphic>
          <a:graphicData uri="http://schemas.openxmlformats.org/presentationml/2006/ole">
            <p:oleObj spid="_x0000_s8194" name="Equation" r:id="rId13" imgW="139579" imgH="177646" progId="">
              <p:embed/>
            </p:oleObj>
          </a:graphicData>
        </a:graphic>
      </p:graphicFrame>
      <p:grpSp>
        <p:nvGrpSpPr>
          <p:cNvPr id="18" name="Group 71"/>
          <p:cNvGrpSpPr>
            <a:grpSpLocks/>
          </p:cNvGrpSpPr>
          <p:nvPr/>
        </p:nvGrpSpPr>
        <p:grpSpPr bwMode="auto">
          <a:xfrm>
            <a:off x="4257675" y="3698875"/>
            <a:ext cx="4614863" cy="1724025"/>
            <a:chOff x="2682" y="2386"/>
            <a:chExt cx="2907" cy="1086"/>
          </a:xfrm>
        </p:grpSpPr>
        <p:grpSp>
          <p:nvGrpSpPr>
            <p:cNvPr id="8224" name="Group 72"/>
            <p:cNvGrpSpPr>
              <a:grpSpLocks/>
            </p:cNvGrpSpPr>
            <p:nvPr/>
          </p:nvGrpSpPr>
          <p:grpSpPr bwMode="auto">
            <a:xfrm>
              <a:off x="2682" y="2386"/>
              <a:ext cx="2907" cy="1044"/>
              <a:chOff x="2653" y="431"/>
              <a:chExt cx="2907" cy="1044"/>
            </a:xfrm>
          </p:grpSpPr>
          <p:grpSp>
            <p:nvGrpSpPr>
              <p:cNvPr id="8245" name="Group 73"/>
              <p:cNvGrpSpPr>
                <a:grpSpLocks/>
              </p:cNvGrpSpPr>
              <p:nvPr/>
            </p:nvGrpSpPr>
            <p:grpSpPr bwMode="auto">
              <a:xfrm>
                <a:off x="2653" y="431"/>
                <a:ext cx="2907" cy="1044"/>
                <a:chOff x="2653" y="431"/>
                <a:chExt cx="2907" cy="1044"/>
              </a:xfrm>
            </p:grpSpPr>
            <p:graphicFrame>
              <p:nvGraphicFramePr>
                <p:cNvPr id="8201" name="Object 74"/>
                <p:cNvGraphicFramePr>
                  <a:graphicFrameLocks noChangeAspect="1"/>
                </p:cNvGraphicFramePr>
                <p:nvPr/>
              </p:nvGraphicFramePr>
              <p:xfrm>
                <a:off x="5375" y="1281"/>
                <a:ext cx="185" cy="186"/>
              </p:xfrm>
              <a:graphic>
                <a:graphicData uri="http://schemas.openxmlformats.org/presentationml/2006/ole">
                  <p:oleObj spid="_x0000_s8201" name="Equation" r:id="rId14" imgW="139700" imgH="139700" progId="">
                    <p:embed/>
                  </p:oleObj>
                </a:graphicData>
              </a:graphic>
            </p:graphicFrame>
            <p:sp>
              <p:nvSpPr>
                <p:cNvPr id="8247" name="Text Box 75"/>
                <p:cNvSpPr txBox="1">
                  <a:spLocks noChangeArrowheads="1"/>
                </p:cNvSpPr>
                <p:nvPr/>
              </p:nvSpPr>
              <p:spPr bwMode="auto">
                <a:xfrm>
                  <a:off x="2778" y="1196"/>
                  <a:ext cx="232"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FF"/>
                      </a:solidFill>
                    </a:rPr>
                    <a:t>O</a:t>
                  </a:r>
                </a:p>
              </p:txBody>
            </p:sp>
            <p:sp>
              <p:nvSpPr>
                <p:cNvPr id="8248" name="Text Box 76"/>
                <p:cNvSpPr txBox="1">
                  <a:spLocks noChangeArrowheads="1"/>
                </p:cNvSpPr>
                <p:nvPr/>
              </p:nvSpPr>
              <p:spPr bwMode="auto">
                <a:xfrm>
                  <a:off x="2653" y="712"/>
                  <a:ext cx="205"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FF"/>
                      </a:solidFill>
                    </a:rPr>
                    <a:t>S</a:t>
                  </a:r>
                </a:p>
              </p:txBody>
            </p:sp>
            <p:sp>
              <p:nvSpPr>
                <p:cNvPr id="8249" name="Line 77"/>
                <p:cNvSpPr>
                  <a:spLocks noChangeShapeType="1"/>
                </p:cNvSpPr>
                <p:nvPr/>
              </p:nvSpPr>
              <p:spPr bwMode="auto">
                <a:xfrm flipV="1">
                  <a:off x="2871" y="618"/>
                  <a:ext cx="0" cy="624"/>
                </a:xfrm>
                <a:prstGeom prst="line">
                  <a:avLst/>
                </a:prstGeom>
                <a:noFill/>
                <a:ln w="28575">
                  <a:solidFill>
                    <a:srgbClr val="0000FF"/>
                  </a:solidFill>
                  <a:round/>
                  <a:headEnd/>
                  <a:tailEnd type="triangle" w="sm" len="lg"/>
                </a:ln>
              </p:spPr>
              <p:txBody>
                <a:bodyPr wrap="none" anchor="ctr"/>
                <a:lstStyle/>
                <a:p>
                  <a:endParaRPr lang="zh-CN" altLang="en-US"/>
                </a:p>
              </p:txBody>
            </p:sp>
            <p:sp>
              <p:nvSpPr>
                <p:cNvPr id="8250" name="Line 78"/>
                <p:cNvSpPr>
                  <a:spLocks noChangeShapeType="1"/>
                </p:cNvSpPr>
                <p:nvPr/>
              </p:nvSpPr>
              <p:spPr bwMode="auto">
                <a:xfrm>
                  <a:off x="2871" y="1242"/>
                  <a:ext cx="2617" cy="11"/>
                </a:xfrm>
                <a:prstGeom prst="line">
                  <a:avLst/>
                </a:prstGeom>
                <a:noFill/>
                <a:ln w="28575">
                  <a:solidFill>
                    <a:srgbClr val="0000FF"/>
                  </a:solidFill>
                  <a:round/>
                  <a:headEnd/>
                  <a:tailEnd type="triangle" w="sm" len="lg"/>
                </a:ln>
              </p:spPr>
              <p:txBody>
                <a:bodyPr wrap="none" anchor="ctr"/>
                <a:lstStyle/>
                <a:p>
                  <a:endParaRPr lang="zh-CN" altLang="en-US"/>
                </a:p>
              </p:txBody>
            </p:sp>
            <p:sp>
              <p:nvSpPr>
                <p:cNvPr id="8251" name="Text Box 79"/>
                <p:cNvSpPr txBox="1">
                  <a:spLocks noChangeArrowheads="1"/>
                </p:cNvSpPr>
                <p:nvPr/>
              </p:nvSpPr>
              <p:spPr bwMode="auto">
                <a:xfrm>
                  <a:off x="2710" y="431"/>
                  <a:ext cx="198" cy="288"/>
                </a:xfrm>
                <a:prstGeom prst="rect">
                  <a:avLst/>
                </a:prstGeom>
                <a:noFill/>
                <a:ln w="9525">
                  <a:noFill/>
                  <a:miter lim="800000"/>
                  <a:headEnd/>
                  <a:tailEnd/>
                </a:ln>
              </p:spPr>
              <p:txBody>
                <a:bodyPr>
                  <a:spAutoFit/>
                </a:bodyPr>
                <a:lstStyle/>
                <a:p>
                  <a:pPr>
                    <a:spcBef>
                      <a:spcPct val="50000"/>
                    </a:spcBef>
                  </a:pPr>
                  <a:r>
                    <a:rPr lang="en-US" altLang="zh-CN" b="1" i="1">
                      <a:solidFill>
                        <a:srgbClr val="0066FF"/>
                      </a:solidFill>
                    </a:rPr>
                    <a:t>y</a:t>
                  </a:r>
                </a:p>
              </p:txBody>
            </p:sp>
          </p:grpSp>
          <p:sp>
            <p:nvSpPr>
              <p:cNvPr id="8246" name="Oval 80"/>
              <p:cNvSpPr>
                <a:spLocks noChangeArrowheads="1"/>
              </p:cNvSpPr>
              <p:nvPr/>
            </p:nvSpPr>
            <p:spPr bwMode="auto">
              <a:xfrm>
                <a:off x="3362" y="1224"/>
                <a:ext cx="45" cy="45"/>
              </a:xfrm>
              <a:prstGeom prst="ellipse">
                <a:avLst/>
              </a:prstGeom>
              <a:solidFill>
                <a:srgbClr val="FF3300"/>
              </a:solidFill>
              <a:ln w="9525">
                <a:solidFill>
                  <a:srgbClr val="FF3300"/>
                </a:solidFill>
                <a:round/>
                <a:headEnd/>
                <a:tailEnd/>
              </a:ln>
            </p:spPr>
            <p:txBody>
              <a:bodyPr wrap="none" anchor="ctr"/>
              <a:lstStyle/>
              <a:p>
                <a:endParaRPr lang="zh-CN" altLang="en-US"/>
              </a:p>
            </p:txBody>
          </p:sp>
        </p:grpSp>
        <p:grpSp>
          <p:nvGrpSpPr>
            <p:cNvPr id="8225" name="Group 81"/>
            <p:cNvGrpSpPr>
              <a:grpSpLocks/>
            </p:cNvGrpSpPr>
            <p:nvPr/>
          </p:nvGrpSpPr>
          <p:grpSpPr bwMode="auto">
            <a:xfrm>
              <a:off x="3419" y="2424"/>
              <a:ext cx="1851" cy="1048"/>
              <a:chOff x="3494" y="2424"/>
              <a:chExt cx="1851" cy="1048"/>
            </a:xfrm>
          </p:grpSpPr>
          <p:grpSp>
            <p:nvGrpSpPr>
              <p:cNvPr id="8231" name="Group 82"/>
              <p:cNvGrpSpPr>
                <a:grpSpLocks/>
              </p:cNvGrpSpPr>
              <p:nvPr/>
            </p:nvGrpSpPr>
            <p:grpSpPr bwMode="auto">
              <a:xfrm>
                <a:off x="3778" y="2517"/>
                <a:ext cx="284" cy="294"/>
                <a:chOff x="3843" y="228"/>
                <a:chExt cx="284" cy="294"/>
              </a:xfrm>
            </p:grpSpPr>
            <p:sp>
              <p:nvSpPr>
                <p:cNvPr id="173139" name="Line 83"/>
                <p:cNvSpPr>
                  <a:spLocks noChangeShapeType="1"/>
                </p:cNvSpPr>
                <p:nvPr/>
              </p:nvSpPr>
              <p:spPr bwMode="auto">
                <a:xfrm>
                  <a:off x="3844" y="459"/>
                  <a:ext cx="283" cy="0"/>
                </a:xfrm>
                <a:prstGeom prst="line">
                  <a:avLst/>
                </a:prstGeom>
                <a:noFill/>
                <a:ln w="22225">
                  <a:solidFill>
                    <a:schemeClr val="hlink"/>
                  </a:solidFill>
                  <a:round/>
                  <a:headEnd/>
                  <a:tailEnd type="triangle" w="med" len="med"/>
                </a:ln>
                <a:effectLst>
                  <a:outerShdw blurRad="63500" dist="38099" dir="2700000" algn="ctr" rotWithShape="0">
                    <a:schemeClr val="bg2">
                      <a:alpha val="50000"/>
                    </a:schemeClr>
                  </a:outerShdw>
                </a:effectLst>
                <a:extLst>
                  <a:ext uri="{909E8E84-426E-40dd-AFC4-6F175D3DCCD1}"/>
                </a:extLst>
              </p:spPr>
              <p:txBody>
                <a:bodyPr wrap="none" tIns="0"/>
                <a:lstStyle/>
                <a:p>
                  <a:pPr>
                    <a:defRPr/>
                  </a:pPr>
                  <a:endParaRPr lang="zh-CN" altLang="en-US">
                    <a:latin typeface="Times New Roman" charset="0"/>
                    <a:ea typeface="宋体" charset="0"/>
                  </a:endParaRPr>
                </a:p>
              </p:txBody>
            </p:sp>
            <p:sp>
              <p:nvSpPr>
                <p:cNvPr id="8244" name="Text Box 84"/>
                <p:cNvSpPr txBox="1">
                  <a:spLocks noChangeArrowheads="1"/>
                </p:cNvSpPr>
                <p:nvPr/>
              </p:nvSpPr>
              <p:spPr bwMode="auto">
                <a:xfrm>
                  <a:off x="3843" y="228"/>
                  <a:ext cx="256" cy="294"/>
                </a:xfrm>
                <a:prstGeom prst="rect">
                  <a:avLst/>
                </a:prstGeom>
                <a:noFill/>
                <a:ln w="9525">
                  <a:noFill/>
                  <a:miter lim="800000"/>
                  <a:headEnd/>
                  <a:tailEnd/>
                </a:ln>
              </p:spPr>
              <p:txBody>
                <a:bodyPr tIns="0">
                  <a:spAutoFit/>
                </a:bodyPr>
                <a:lstStyle/>
                <a:p>
                  <a:pPr algn="l">
                    <a:lnSpc>
                      <a:spcPct val="115000"/>
                    </a:lnSpc>
                  </a:pPr>
                  <a:r>
                    <a:rPr kumimoji="0" lang="en-US" altLang="zh-CN" b="1" i="1">
                      <a:solidFill>
                        <a:schemeClr val="hlink"/>
                      </a:solidFill>
                      <a:latin typeface="Bookman Old Style" pitchFamily="18" charset="0"/>
                      <a:ea typeface="楷体_GB2312" pitchFamily="49" charset="-122"/>
                      <a:cs typeface="Arial" pitchFamily="34" charset="0"/>
                    </a:rPr>
                    <a:t>v</a:t>
                  </a:r>
                </a:p>
              </p:txBody>
            </p:sp>
          </p:grpSp>
          <p:grpSp>
            <p:nvGrpSpPr>
              <p:cNvPr id="8232" name="Group 85"/>
              <p:cNvGrpSpPr>
                <a:grpSpLocks/>
              </p:cNvGrpSpPr>
              <p:nvPr/>
            </p:nvGrpSpPr>
            <p:grpSpPr bwMode="auto">
              <a:xfrm>
                <a:off x="3494" y="2424"/>
                <a:ext cx="1851" cy="1048"/>
                <a:chOff x="2834" y="469"/>
                <a:chExt cx="1851" cy="1048"/>
              </a:xfrm>
            </p:grpSpPr>
            <p:sp>
              <p:nvSpPr>
                <p:cNvPr id="8239" name="Text Box 86"/>
                <p:cNvSpPr txBox="1">
                  <a:spLocks noChangeArrowheads="1"/>
                </p:cNvSpPr>
                <p:nvPr/>
              </p:nvSpPr>
              <p:spPr bwMode="auto">
                <a:xfrm>
                  <a:off x="3022" y="1205"/>
                  <a:ext cx="276"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O'</a:t>
                  </a:r>
                </a:p>
              </p:txBody>
            </p:sp>
            <p:sp>
              <p:nvSpPr>
                <p:cNvPr id="8240" name="Text Box 87"/>
                <p:cNvSpPr txBox="1">
                  <a:spLocks noChangeArrowheads="1"/>
                </p:cNvSpPr>
                <p:nvPr/>
              </p:nvSpPr>
              <p:spPr bwMode="auto">
                <a:xfrm>
                  <a:off x="2834" y="714"/>
                  <a:ext cx="249"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bg1"/>
                      </a:solidFill>
                    </a:rPr>
                    <a:t>S'</a:t>
                  </a:r>
                </a:p>
              </p:txBody>
            </p:sp>
            <p:sp>
              <p:nvSpPr>
                <p:cNvPr id="8241" name="Line 88"/>
                <p:cNvSpPr>
                  <a:spLocks noChangeShapeType="1"/>
                </p:cNvSpPr>
                <p:nvPr/>
              </p:nvSpPr>
              <p:spPr bwMode="auto">
                <a:xfrm flipV="1">
                  <a:off x="3099" y="627"/>
                  <a:ext cx="0" cy="624"/>
                </a:xfrm>
                <a:prstGeom prst="line">
                  <a:avLst/>
                </a:prstGeom>
                <a:noFill/>
                <a:ln w="28575">
                  <a:solidFill>
                    <a:schemeClr val="bg1"/>
                  </a:solidFill>
                  <a:round/>
                  <a:headEnd/>
                  <a:tailEnd type="triangle" w="sm" len="lg"/>
                </a:ln>
              </p:spPr>
              <p:txBody>
                <a:bodyPr wrap="none" anchor="ctr"/>
                <a:lstStyle/>
                <a:p>
                  <a:endParaRPr lang="zh-CN" altLang="en-US"/>
                </a:p>
              </p:txBody>
            </p:sp>
            <p:sp>
              <p:nvSpPr>
                <p:cNvPr id="8242" name="Line 89"/>
                <p:cNvSpPr>
                  <a:spLocks noChangeShapeType="1"/>
                </p:cNvSpPr>
                <p:nvPr/>
              </p:nvSpPr>
              <p:spPr bwMode="auto">
                <a:xfrm>
                  <a:off x="3099" y="1251"/>
                  <a:ext cx="1521" cy="0"/>
                </a:xfrm>
                <a:prstGeom prst="line">
                  <a:avLst/>
                </a:prstGeom>
                <a:noFill/>
                <a:ln w="28575">
                  <a:solidFill>
                    <a:schemeClr val="bg1"/>
                  </a:solidFill>
                  <a:round/>
                  <a:headEnd/>
                  <a:tailEnd type="stealth" w="med" len="lg"/>
                </a:ln>
              </p:spPr>
              <p:txBody>
                <a:bodyPr wrap="none" anchor="ctr"/>
                <a:lstStyle/>
                <a:p>
                  <a:endParaRPr lang="zh-CN" altLang="en-US"/>
                </a:p>
              </p:txBody>
            </p:sp>
            <p:graphicFrame>
              <p:nvGraphicFramePr>
                <p:cNvPr id="8199" name="Object 90"/>
                <p:cNvGraphicFramePr>
                  <a:graphicFrameLocks noChangeAspect="1"/>
                </p:cNvGraphicFramePr>
                <p:nvPr/>
              </p:nvGraphicFramePr>
              <p:xfrm>
                <a:off x="4422" y="1254"/>
                <a:ext cx="263" cy="263"/>
              </p:xfrm>
              <a:graphic>
                <a:graphicData uri="http://schemas.openxmlformats.org/presentationml/2006/ole">
                  <p:oleObj spid="_x0000_s8199" name="Equation" r:id="rId15" imgW="177492" imgH="177492" progId="">
                    <p:embed/>
                  </p:oleObj>
                </a:graphicData>
              </a:graphic>
            </p:graphicFrame>
            <p:graphicFrame>
              <p:nvGraphicFramePr>
                <p:cNvPr id="8200" name="Object 91"/>
                <p:cNvGraphicFramePr>
                  <a:graphicFrameLocks noChangeAspect="1"/>
                </p:cNvGraphicFramePr>
                <p:nvPr/>
              </p:nvGraphicFramePr>
              <p:xfrm>
                <a:off x="2965" y="469"/>
                <a:ext cx="214" cy="245"/>
              </p:xfrm>
              <a:graphic>
                <a:graphicData uri="http://schemas.openxmlformats.org/presentationml/2006/ole">
                  <p:oleObj spid="_x0000_s8200" name="Equation" r:id="rId16" imgW="177569" imgH="202936" progId="">
                    <p:embed/>
                  </p:oleObj>
                </a:graphicData>
              </a:graphic>
            </p:graphicFrame>
          </p:grpSp>
          <p:grpSp>
            <p:nvGrpSpPr>
              <p:cNvPr id="8233" name="Group 92"/>
              <p:cNvGrpSpPr>
                <a:grpSpLocks/>
              </p:cNvGrpSpPr>
              <p:nvPr/>
            </p:nvGrpSpPr>
            <p:grpSpPr bwMode="auto">
              <a:xfrm>
                <a:off x="3822" y="2954"/>
                <a:ext cx="1318" cy="255"/>
                <a:chOff x="3231" y="998"/>
                <a:chExt cx="1318" cy="255"/>
              </a:xfrm>
            </p:grpSpPr>
            <p:sp>
              <p:nvSpPr>
                <p:cNvPr id="8234" name="Rectangle 93"/>
                <p:cNvSpPr>
                  <a:spLocks noChangeArrowheads="1"/>
                </p:cNvSpPr>
                <p:nvPr/>
              </p:nvSpPr>
              <p:spPr bwMode="auto">
                <a:xfrm>
                  <a:off x="3457" y="1148"/>
                  <a:ext cx="864" cy="96"/>
                </a:xfrm>
                <a:prstGeom prst="rect">
                  <a:avLst/>
                </a:prstGeom>
                <a:gradFill rotWithShape="1">
                  <a:gsLst>
                    <a:gs pos="0">
                      <a:srgbClr val="0066FF"/>
                    </a:gs>
                    <a:gs pos="50000">
                      <a:srgbClr val="CCFFFF"/>
                    </a:gs>
                    <a:gs pos="100000">
                      <a:srgbClr val="0066FF"/>
                    </a:gs>
                  </a:gsLst>
                  <a:lin ang="5400000" scaled="1"/>
                </a:gradFill>
                <a:ln w="9525">
                  <a:noFill/>
                  <a:miter lim="800000"/>
                  <a:headEnd/>
                  <a:tailEnd/>
                </a:ln>
              </p:spPr>
              <p:txBody>
                <a:bodyPr wrap="none" anchor="ctr"/>
                <a:lstStyle/>
                <a:p>
                  <a:pPr>
                    <a:lnSpc>
                      <a:spcPct val="115000"/>
                    </a:lnSpc>
                  </a:pPr>
                  <a:endParaRPr lang="zh-CN" altLang="en-US" b="1"/>
                </a:p>
              </p:txBody>
            </p:sp>
            <p:graphicFrame>
              <p:nvGraphicFramePr>
                <p:cNvPr id="8197" name="Object 94"/>
                <p:cNvGraphicFramePr>
                  <a:graphicFrameLocks noChangeAspect="1"/>
                </p:cNvGraphicFramePr>
                <p:nvPr/>
              </p:nvGraphicFramePr>
              <p:xfrm>
                <a:off x="3231" y="1026"/>
                <a:ext cx="184" cy="170"/>
              </p:xfrm>
              <a:graphic>
                <a:graphicData uri="http://schemas.openxmlformats.org/presentationml/2006/ole">
                  <p:oleObj spid="_x0000_s8197" name="公式" r:id="rId17" imgW="342603" imgH="317225" progId="Equation.3">
                    <p:embed/>
                  </p:oleObj>
                </a:graphicData>
              </a:graphic>
            </p:graphicFrame>
            <p:graphicFrame>
              <p:nvGraphicFramePr>
                <p:cNvPr id="8198" name="Object 95"/>
                <p:cNvGraphicFramePr>
                  <a:graphicFrameLocks noChangeAspect="1"/>
                </p:cNvGraphicFramePr>
                <p:nvPr/>
              </p:nvGraphicFramePr>
              <p:xfrm>
                <a:off x="4365" y="998"/>
                <a:ext cx="184" cy="170"/>
              </p:xfrm>
              <a:graphic>
                <a:graphicData uri="http://schemas.openxmlformats.org/presentationml/2006/ole">
                  <p:oleObj spid="_x0000_s8198" name="公式" r:id="rId18" imgW="342603" imgH="317225" progId="Equation.3">
                    <p:embed/>
                  </p:oleObj>
                </a:graphicData>
              </a:graphic>
            </p:graphicFrame>
            <p:sp>
              <p:nvSpPr>
                <p:cNvPr id="8235" name="Rectangle 96"/>
                <p:cNvSpPr>
                  <a:spLocks noChangeArrowheads="1"/>
                </p:cNvSpPr>
                <p:nvPr/>
              </p:nvSpPr>
              <p:spPr bwMode="auto">
                <a:xfrm>
                  <a:off x="3419" y="1026"/>
                  <a:ext cx="28" cy="227"/>
                </a:xfrm>
                <a:prstGeom prst="rect">
                  <a:avLst/>
                </a:prstGeom>
                <a:solidFill>
                  <a:srgbClr val="800080"/>
                </a:solidFill>
                <a:ln w="9525">
                  <a:solidFill>
                    <a:srgbClr val="800080"/>
                  </a:solidFill>
                  <a:miter lim="800000"/>
                  <a:headEnd/>
                  <a:tailEnd/>
                </a:ln>
              </p:spPr>
              <p:txBody>
                <a:bodyPr wrap="none" anchor="ctr"/>
                <a:lstStyle/>
                <a:p>
                  <a:endParaRPr lang="zh-CN" altLang="en-US"/>
                </a:p>
              </p:txBody>
            </p:sp>
            <p:grpSp>
              <p:nvGrpSpPr>
                <p:cNvPr id="8236" name="Group 97"/>
                <p:cNvGrpSpPr>
                  <a:grpSpLocks/>
                </p:cNvGrpSpPr>
                <p:nvPr/>
              </p:nvGrpSpPr>
              <p:grpSpPr bwMode="auto">
                <a:xfrm>
                  <a:off x="4326" y="1026"/>
                  <a:ext cx="28" cy="199"/>
                  <a:chOff x="2370" y="1933"/>
                  <a:chExt cx="28" cy="199"/>
                </a:xfrm>
              </p:grpSpPr>
              <p:sp>
                <p:nvSpPr>
                  <p:cNvPr id="8237" name="Line 98"/>
                  <p:cNvSpPr>
                    <a:spLocks noChangeShapeType="1"/>
                  </p:cNvSpPr>
                  <p:nvPr/>
                </p:nvSpPr>
                <p:spPr bwMode="auto">
                  <a:xfrm>
                    <a:off x="2398" y="1933"/>
                    <a:ext cx="0" cy="199"/>
                  </a:xfrm>
                  <a:prstGeom prst="line">
                    <a:avLst/>
                  </a:prstGeom>
                  <a:noFill/>
                  <a:ln w="76200">
                    <a:pattFill prst="dkDnDiag">
                      <a:fgClr>
                        <a:srgbClr val="00CC00"/>
                      </a:fgClr>
                      <a:bgClr>
                        <a:srgbClr val="FFFFFF"/>
                      </a:bgClr>
                    </a:pattFill>
                    <a:round/>
                    <a:headEnd/>
                    <a:tailEnd/>
                  </a:ln>
                </p:spPr>
                <p:txBody>
                  <a:bodyPr/>
                  <a:lstStyle/>
                  <a:p>
                    <a:endParaRPr lang="zh-CN" altLang="en-US"/>
                  </a:p>
                </p:txBody>
              </p:sp>
              <p:sp>
                <p:nvSpPr>
                  <p:cNvPr id="8238" name="Line 99"/>
                  <p:cNvSpPr>
                    <a:spLocks noChangeShapeType="1"/>
                  </p:cNvSpPr>
                  <p:nvPr/>
                </p:nvSpPr>
                <p:spPr bwMode="auto">
                  <a:xfrm>
                    <a:off x="2370" y="1933"/>
                    <a:ext cx="0" cy="199"/>
                  </a:xfrm>
                  <a:prstGeom prst="line">
                    <a:avLst/>
                  </a:prstGeom>
                  <a:noFill/>
                  <a:ln w="28575">
                    <a:solidFill>
                      <a:srgbClr val="00CC00"/>
                    </a:solidFill>
                    <a:round/>
                    <a:headEnd/>
                    <a:tailEnd/>
                  </a:ln>
                </p:spPr>
                <p:txBody>
                  <a:bodyPr/>
                  <a:lstStyle/>
                  <a:p>
                    <a:endParaRPr lang="zh-CN" altLang="en-US"/>
                  </a:p>
                </p:txBody>
              </p:sp>
            </p:grpSp>
          </p:grpSp>
        </p:grpSp>
        <p:sp>
          <p:nvSpPr>
            <p:cNvPr id="8226" name="Oval 100"/>
            <p:cNvSpPr>
              <a:spLocks noChangeArrowheads="1"/>
            </p:cNvSpPr>
            <p:nvPr/>
          </p:nvSpPr>
          <p:spPr bwMode="auto">
            <a:xfrm>
              <a:off x="3955" y="3181"/>
              <a:ext cx="45" cy="45"/>
            </a:xfrm>
            <a:prstGeom prst="ellipse">
              <a:avLst/>
            </a:prstGeom>
            <a:solidFill>
              <a:srgbClr val="FF3300"/>
            </a:solidFill>
            <a:ln w="9525">
              <a:solidFill>
                <a:srgbClr val="FF3300"/>
              </a:solidFill>
              <a:round/>
              <a:headEnd/>
              <a:tailEnd/>
            </a:ln>
          </p:spPr>
          <p:txBody>
            <a:bodyPr wrap="none" anchor="ctr"/>
            <a:lstStyle/>
            <a:p>
              <a:endParaRPr lang="zh-CN" altLang="en-US"/>
            </a:p>
          </p:txBody>
        </p:sp>
        <p:sp>
          <p:nvSpPr>
            <p:cNvPr id="8227" name="Oval 101"/>
            <p:cNvSpPr>
              <a:spLocks noChangeArrowheads="1"/>
            </p:cNvSpPr>
            <p:nvPr/>
          </p:nvSpPr>
          <p:spPr bwMode="auto">
            <a:xfrm>
              <a:off x="4819" y="3181"/>
              <a:ext cx="45" cy="45"/>
            </a:xfrm>
            <a:prstGeom prst="ellipse">
              <a:avLst/>
            </a:prstGeom>
            <a:solidFill>
              <a:srgbClr val="FF3300"/>
            </a:solidFill>
            <a:ln w="9525">
              <a:solidFill>
                <a:srgbClr val="FF3300"/>
              </a:solidFill>
              <a:round/>
              <a:headEnd/>
              <a:tailEnd/>
            </a:ln>
          </p:spPr>
          <p:txBody>
            <a:bodyPr wrap="none" anchor="ctr"/>
            <a:lstStyle/>
            <a:p>
              <a:endParaRPr lang="zh-CN" altLang="en-US"/>
            </a:p>
          </p:txBody>
        </p:sp>
        <p:sp>
          <p:nvSpPr>
            <p:cNvPr id="8228" name="Line 102"/>
            <p:cNvSpPr>
              <a:spLocks noChangeShapeType="1"/>
            </p:cNvSpPr>
            <p:nvPr/>
          </p:nvSpPr>
          <p:spPr bwMode="auto">
            <a:xfrm flipV="1">
              <a:off x="3419" y="2840"/>
              <a:ext cx="0" cy="369"/>
            </a:xfrm>
            <a:prstGeom prst="line">
              <a:avLst/>
            </a:prstGeom>
            <a:noFill/>
            <a:ln w="9525">
              <a:solidFill>
                <a:srgbClr val="0066FF"/>
              </a:solidFill>
              <a:round/>
              <a:headEnd/>
              <a:tailEnd/>
            </a:ln>
          </p:spPr>
          <p:txBody>
            <a:bodyPr/>
            <a:lstStyle/>
            <a:p>
              <a:endParaRPr lang="zh-CN" altLang="en-US"/>
            </a:p>
          </p:txBody>
        </p:sp>
        <p:sp>
          <p:nvSpPr>
            <p:cNvPr id="8229" name="Line 103"/>
            <p:cNvSpPr>
              <a:spLocks noChangeShapeType="1"/>
            </p:cNvSpPr>
            <p:nvPr/>
          </p:nvSpPr>
          <p:spPr bwMode="auto">
            <a:xfrm>
              <a:off x="3419" y="2954"/>
              <a:ext cx="510" cy="0"/>
            </a:xfrm>
            <a:prstGeom prst="line">
              <a:avLst/>
            </a:prstGeom>
            <a:noFill/>
            <a:ln w="19050">
              <a:solidFill>
                <a:srgbClr val="0066FF"/>
              </a:solidFill>
              <a:round/>
              <a:headEnd type="stealth" w="med" len="lg"/>
              <a:tailEnd type="stealth" w="med" len="lg"/>
            </a:ln>
          </p:spPr>
          <p:txBody>
            <a:bodyPr/>
            <a:lstStyle/>
            <a:p>
              <a:endParaRPr lang="zh-CN" altLang="en-US"/>
            </a:p>
          </p:txBody>
        </p:sp>
        <p:sp>
          <p:nvSpPr>
            <p:cNvPr id="8230" name="Line 104"/>
            <p:cNvSpPr>
              <a:spLocks noChangeShapeType="1"/>
            </p:cNvSpPr>
            <p:nvPr/>
          </p:nvSpPr>
          <p:spPr bwMode="auto">
            <a:xfrm flipV="1">
              <a:off x="3929" y="2840"/>
              <a:ext cx="0" cy="142"/>
            </a:xfrm>
            <a:prstGeom prst="line">
              <a:avLst/>
            </a:prstGeom>
            <a:noFill/>
            <a:ln w="9525">
              <a:solidFill>
                <a:srgbClr val="0066FF"/>
              </a:solidFill>
              <a:round/>
              <a:headEnd/>
              <a:tailEnd/>
            </a:ln>
          </p:spPr>
          <p:txBody>
            <a:bodyPr/>
            <a:lstStyle/>
            <a:p>
              <a:endParaRPr lang="zh-CN" altLang="en-US"/>
            </a:p>
          </p:txBody>
        </p:sp>
        <p:graphicFrame>
          <p:nvGraphicFramePr>
            <p:cNvPr id="8196" name="Object 105"/>
            <p:cNvGraphicFramePr>
              <a:graphicFrameLocks noChangeAspect="1"/>
            </p:cNvGraphicFramePr>
            <p:nvPr/>
          </p:nvGraphicFramePr>
          <p:xfrm>
            <a:off x="3532" y="2869"/>
            <a:ext cx="283" cy="177"/>
          </p:xfrm>
          <a:graphic>
            <a:graphicData uri="http://schemas.openxmlformats.org/presentationml/2006/ole">
              <p:oleObj spid="_x0000_s8196" name="Equation" r:id="rId19" imgW="317087" imgH="164885" progId="">
                <p:embed/>
              </p:oleObj>
            </a:graphicData>
          </a:graphic>
        </p:graphicFrame>
      </p:grpSp>
      <p:sp>
        <p:nvSpPr>
          <p:cNvPr id="173162" name="Text Box 106"/>
          <p:cNvSpPr txBox="1">
            <a:spLocks noChangeArrowheads="1"/>
          </p:cNvSpPr>
          <p:nvPr/>
        </p:nvSpPr>
        <p:spPr bwMode="auto">
          <a:xfrm>
            <a:off x="746125" y="2573338"/>
            <a:ext cx="3060700" cy="830262"/>
          </a:xfrm>
          <a:prstGeom prst="rect">
            <a:avLst/>
          </a:prstGeom>
          <a:noFill/>
          <a:ln w="9525">
            <a:noFill/>
            <a:miter lim="800000"/>
            <a:headEnd/>
            <a:tailEnd/>
          </a:ln>
        </p:spPr>
        <p:txBody>
          <a:bodyPr>
            <a:spAutoFit/>
          </a:bodyPr>
          <a:lstStyle/>
          <a:p>
            <a:pPr algn="just">
              <a:spcBef>
                <a:spcPct val="50000"/>
              </a:spcBef>
            </a:pPr>
            <a:r>
              <a:rPr lang="zh-CN" altLang="en-US" b="1">
                <a:solidFill>
                  <a:schemeClr val="bg1"/>
                </a:solidFill>
              </a:rPr>
              <a:t>闪光光源发光的时刻</a:t>
            </a:r>
            <a:r>
              <a:rPr lang="en-US" altLang="zh-CN" b="1" i="1">
                <a:solidFill>
                  <a:srgbClr val="FF6600"/>
                </a:solidFill>
              </a:rPr>
              <a:t>A' B'</a:t>
            </a:r>
            <a:r>
              <a:rPr lang="zh-CN" altLang="en-US" b="1">
                <a:solidFill>
                  <a:schemeClr val="bg1"/>
                </a:solidFill>
              </a:rPr>
              <a:t>的位置</a:t>
            </a:r>
          </a:p>
        </p:txBody>
      </p:sp>
      <p:sp>
        <p:nvSpPr>
          <p:cNvPr id="173163" name="Text Box 107"/>
          <p:cNvSpPr txBox="1">
            <a:spLocks noChangeArrowheads="1"/>
          </p:cNvSpPr>
          <p:nvPr/>
        </p:nvSpPr>
        <p:spPr bwMode="auto">
          <a:xfrm>
            <a:off x="611188" y="3878263"/>
            <a:ext cx="3465512" cy="1200150"/>
          </a:xfrm>
          <a:prstGeom prst="rect">
            <a:avLst/>
          </a:prstGeom>
          <a:noFill/>
          <a:ln w="9525">
            <a:noFill/>
            <a:miter lim="800000"/>
            <a:headEnd/>
            <a:tailEnd/>
          </a:ln>
        </p:spPr>
        <p:txBody>
          <a:bodyPr>
            <a:spAutoFit/>
          </a:bodyPr>
          <a:lstStyle/>
          <a:p>
            <a:pPr algn="just">
              <a:spcBef>
                <a:spcPct val="50000"/>
              </a:spcBef>
            </a:pPr>
            <a:r>
              <a:rPr lang="zh-CN" altLang="en-US" b="1">
                <a:solidFill>
                  <a:schemeClr val="bg1"/>
                </a:solidFill>
              </a:rPr>
              <a:t>从光源到</a:t>
            </a:r>
            <a:r>
              <a:rPr lang="zh-CN" altLang="en-US" b="1"/>
              <a:t>反射镜面再从镜面反射回到光源</a:t>
            </a:r>
            <a:r>
              <a:rPr lang="zh-CN" altLang="en-US" b="1">
                <a:solidFill>
                  <a:schemeClr val="bg1"/>
                </a:solidFill>
              </a:rPr>
              <a:t>的时刻</a:t>
            </a:r>
            <a:r>
              <a:rPr lang="en-US" altLang="zh-CN" b="1" i="1">
                <a:solidFill>
                  <a:srgbClr val="FF6600"/>
                </a:solidFill>
              </a:rPr>
              <a:t>A' B'</a:t>
            </a:r>
            <a:r>
              <a:rPr lang="zh-CN" altLang="en-US" b="1">
                <a:solidFill>
                  <a:schemeClr val="bg1"/>
                </a:solidFill>
              </a:rPr>
              <a:t>的位置</a:t>
            </a:r>
          </a:p>
        </p:txBody>
      </p:sp>
      <p:sp>
        <p:nvSpPr>
          <p:cNvPr id="173164" name="Text Box 108"/>
          <p:cNvSpPr txBox="1">
            <a:spLocks noChangeArrowheads="1"/>
          </p:cNvSpPr>
          <p:nvPr/>
        </p:nvSpPr>
        <p:spPr bwMode="auto">
          <a:xfrm>
            <a:off x="657225" y="5499100"/>
            <a:ext cx="3914775" cy="830263"/>
          </a:xfrm>
          <a:prstGeom prst="rect">
            <a:avLst/>
          </a:prstGeom>
          <a:noFill/>
          <a:ln w="9525">
            <a:noFill/>
            <a:miter lim="800000"/>
            <a:headEnd/>
            <a:tailEnd/>
          </a:ln>
        </p:spPr>
        <p:txBody>
          <a:bodyPr>
            <a:spAutoFit/>
          </a:bodyPr>
          <a:lstStyle/>
          <a:p>
            <a:pPr algn="just">
              <a:spcBef>
                <a:spcPct val="50000"/>
              </a:spcBef>
            </a:pPr>
            <a:r>
              <a:rPr lang="en-US" altLang="zh-CN" b="1" i="1">
                <a:solidFill>
                  <a:srgbClr val="FF6600"/>
                </a:solidFill>
              </a:rPr>
              <a:t>S'</a:t>
            </a:r>
            <a:r>
              <a:rPr lang="zh-CN" altLang="en-US" b="1"/>
              <a:t>系中同一地点的两个事件，全程所需的时间为</a:t>
            </a:r>
          </a:p>
        </p:txBody>
      </p:sp>
      <p:graphicFrame>
        <p:nvGraphicFramePr>
          <p:cNvPr id="173165" name="Object 109"/>
          <p:cNvGraphicFramePr>
            <a:graphicFrameLocks noChangeAspect="1"/>
          </p:cNvGraphicFramePr>
          <p:nvPr/>
        </p:nvGraphicFramePr>
        <p:xfrm>
          <a:off x="4751388" y="5454650"/>
          <a:ext cx="1395412" cy="969963"/>
        </p:xfrm>
        <a:graphic>
          <a:graphicData uri="http://schemas.openxmlformats.org/presentationml/2006/ole">
            <p:oleObj spid="_x0000_s8195" name="Equation" r:id="rId20" imgW="558558" imgH="393529" progId="">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3067"/>
                                        </p:tgtEl>
                                        <p:attrNameLst>
                                          <p:attrName>style.visibility</p:attrName>
                                        </p:attrNameLst>
                                      </p:cBhvr>
                                      <p:to>
                                        <p:strVal val="visible"/>
                                      </p:to>
                                    </p:set>
                                    <p:animEffect transition="in" filter="wipe(left)">
                                      <p:cBhvr>
                                        <p:cTn id="7" dur="1000"/>
                                        <p:tgtEl>
                                          <p:spTgt spid="1730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3069"/>
                                        </p:tgtEl>
                                        <p:attrNameLst>
                                          <p:attrName>style.visibility</p:attrName>
                                        </p:attrNameLst>
                                      </p:cBhvr>
                                      <p:to>
                                        <p:strVal val="visible"/>
                                      </p:to>
                                    </p:set>
                                    <p:animEffect transition="in" filter="wipe(left)">
                                      <p:cBhvr>
                                        <p:cTn id="12" dur="1000"/>
                                        <p:tgtEl>
                                          <p:spTgt spid="1730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out)">
                                      <p:cBhvr>
                                        <p:cTn id="17" dur="10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ox(out)">
                                      <p:cBhvr>
                                        <p:cTn id="22" dur="10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0" presetClass="path" presetSubtype="0" accel="50000" decel="50000" fill="hold" nodeType="clickEffect">
                                  <p:stCondLst>
                                    <p:cond delay="0"/>
                                  </p:stCondLst>
                                  <p:childTnLst>
                                    <p:animMotion origin="layout" path="M 3.61111E-6 6.18497E-6 L 0.09844 6.18497E-6 " pathEditMode="relative" ptsTypes="AA">
                                      <p:cBhvr>
                                        <p:cTn id="26" dur="2000" fill="hold"/>
                                        <p:tgtEl>
                                          <p:spTgt spid="4"/>
                                        </p:tgtEl>
                                        <p:attrNameLst>
                                          <p:attrName>ppt_x</p:attrName>
                                          <p:attrName>ppt_y</p:attrName>
                                        </p:attrNameLst>
                                      </p:cBhvr>
                                    </p:animMotion>
                                  </p:childTnLst>
                                </p:cTn>
                              </p:par>
                              <p:par>
                                <p:cTn id="27" presetID="1" presetClass="entr" presetSubtype="0" fill="hold" grpId="0" nodeType="withEffect">
                                  <p:stCondLst>
                                    <p:cond delay="0"/>
                                  </p:stCondLst>
                                  <p:childTnLst>
                                    <p:set>
                                      <p:cBhvr>
                                        <p:cTn id="28" dur="1" fill="hold">
                                          <p:stCondLst>
                                            <p:cond delay="0"/>
                                          </p:stCondLst>
                                        </p:cTn>
                                        <p:tgtEl>
                                          <p:spTgt spid="173123"/>
                                        </p:tgtEl>
                                        <p:attrNameLst>
                                          <p:attrName>style.visibility</p:attrName>
                                        </p:attrNameLst>
                                      </p:cBhvr>
                                      <p:to>
                                        <p:strVal val="visible"/>
                                      </p:to>
                                    </p:set>
                                  </p:childTnLst>
                                </p:cTn>
                              </p:par>
                              <p:par>
                                <p:cTn id="29" presetID="14" presetClass="emph" presetSubtype="0" fill="hold" grpId="1" nodeType="withEffect">
                                  <p:stCondLst>
                                    <p:cond delay="0"/>
                                  </p:stCondLst>
                                  <p:childTnLst>
                                    <p:animClr clrSpc="rgb" dir="cw">
                                      <p:cBhvr override="childStyle">
                                        <p:cTn id="30" dur="475" fill="hold">
                                          <p:stCondLst>
                                            <p:cond delay="25"/>
                                          </p:stCondLst>
                                        </p:cTn>
                                        <p:tgtEl>
                                          <p:spTgt spid="173123"/>
                                        </p:tgtEl>
                                        <p:attrNameLst>
                                          <p:attrName>style.color</p:attrName>
                                        </p:attrNameLst>
                                      </p:cBhvr>
                                      <p:to>
                                        <a:schemeClr val="accent2"/>
                                      </p:to>
                                    </p:animClr>
                                    <p:animClr clrSpc="rgb" dir="cw">
                                      <p:cBhvr>
                                        <p:cTn id="31" dur="475" fill="hold">
                                          <p:stCondLst>
                                            <p:cond delay="25"/>
                                          </p:stCondLst>
                                        </p:cTn>
                                        <p:tgtEl>
                                          <p:spTgt spid="173123"/>
                                        </p:tgtEl>
                                        <p:attrNameLst>
                                          <p:attrName>fillColor</p:attrName>
                                        </p:attrNameLst>
                                      </p:cBhvr>
                                      <p:to>
                                        <a:schemeClr val="accent2"/>
                                      </p:to>
                                    </p:animClr>
                                    <p:set>
                                      <p:cBhvr>
                                        <p:cTn id="32" dur="475" fill="hold">
                                          <p:stCondLst>
                                            <p:cond delay="25"/>
                                          </p:stCondLst>
                                        </p:cTn>
                                        <p:tgtEl>
                                          <p:spTgt spid="173123"/>
                                        </p:tgtEl>
                                        <p:attrNameLst>
                                          <p:attrName>fill.type</p:attrName>
                                        </p:attrNameLst>
                                      </p:cBhvr>
                                      <p:to>
                                        <p:strVal val="solid"/>
                                      </p:to>
                                    </p:set>
                                    <p:set>
                                      <p:cBhvr>
                                        <p:cTn id="33" dur="475" fill="hold">
                                          <p:stCondLst>
                                            <p:cond delay="25"/>
                                          </p:stCondLst>
                                        </p:cTn>
                                        <p:tgtEl>
                                          <p:spTgt spid="173123"/>
                                        </p:tgtEl>
                                        <p:attrNameLst>
                                          <p:attrName>fill.on</p:attrName>
                                        </p:attrNameLst>
                                      </p:cBhvr>
                                      <p:to>
                                        <p:strVal val="true"/>
                                      </p:to>
                                    </p:set>
                                    <p:animScale>
                                      <p:cBhvr>
                                        <p:cTn id="34" dur="50" fill="hold">
                                          <p:stCondLst>
                                            <p:cond delay="0"/>
                                          </p:stCondLst>
                                        </p:cTn>
                                        <p:tgtEl>
                                          <p:spTgt spid="173123"/>
                                        </p:tgtEl>
                                      </p:cBhvr>
                                      <p:from x="100000" y="100000"/>
                                      <p:to x="100000" y="5000"/>
                                    </p:animScale>
                                    <p:animScale>
                                      <p:cBhvr>
                                        <p:cTn id="35" dur="50" fill="hold">
                                          <p:stCondLst>
                                            <p:cond delay="50"/>
                                          </p:stCondLst>
                                        </p:cTn>
                                        <p:tgtEl>
                                          <p:spTgt spid="173123"/>
                                        </p:tgtEl>
                                      </p:cBhvr>
                                      <p:from x="100000" y="5000"/>
                                      <p:to x="120000" y="150000"/>
                                    </p:animScale>
                                    <p:animScale>
                                      <p:cBhvr>
                                        <p:cTn id="36" dur="150" fill="hold">
                                          <p:stCondLst>
                                            <p:cond delay="350"/>
                                          </p:stCondLst>
                                        </p:cTn>
                                        <p:tgtEl>
                                          <p:spTgt spid="173123"/>
                                        </p:tgtEl>
                                      </p:cBhvr>
                                      <p:to x="120000" y="150000"/>
                                    </p:animScale>
                                  </p:childTnLst>
                                </p:cTn>
                              </p:par>
                            </p:childTnLst>
                          </p:cTn>
                        </p:par>
                        <p:par>
                          <p:cTn id="37" fill="hold" nodeType="afterGroup">
                            <p:stCondLst>
                              <p:cond delay="2000"/>
                            </p:stCondLst>
                            <p:childTnLst>
                              <p:par>
                                <p:cTn id="38" presetID="1" presetClass="exit" presetSubtype="0" fill="hold" grpId="2" nodeType="afterEffect">
                                  <p:stCondLst>
                                    <p:cond delay="0"/>
                                  </p:stCondLst>
                                  <p:childTnLst>
                                    <p:set>
                                      <p:cBhvr>
                                        <p:cTn id="39" dur="1" fill="hold">
                                          <p:stCondLst>
                                            <p:cond delay="0"/>
                                          </p:stCondLst>
                                        </p:cTn>
                                        <p:tgtEl>
                                          <p:spTgt spid="173123"/>
                                        </p:tgtEl>
                                        <p:attrNameLst>
                                          <p:attrName>style.visibility</p:attrName>
                                        </p:attrNameLst>
                                      </p:cBhvr>
                                      <p:to>
                                        <p:strVal val="hidden"/>
                                      </p:to>
                                    </p:set>
                                  </p:childTnLst>
                                </p:cTn>
                              </p:par>
                            </p:childTnLst>
                          </p:cTn>
                        </p:par>
                        <p:par>
                          <p:cTn id="40" fill="hold" nodeType="afterGroup">
                            <p:stCondLst>
                              <p:cond delay="2000"/>
                            </p:stCondLst>
                            <p:childTnLst>
                              <p:par>
                                <p:cTn id="41" presetID="22" presetClass="entr" presetSubtype="8" fill="hold" grpId="0" nodeType="afterEffect">
                                  <p:stCondLst>
                                    <p:cond delay="0"/>
                                  </p:stCondLst>
                                  <p:childTnLst>
                                    <p:set>
                                      <p:cBhvr>
                                        <p:cTn id="42" dur="1" fill="hold">
                                          <p:stCondLst>
                                            <p:cond delay="0"/>
                                          </p:stCondLst>
                                        </p:cTn>
                                        <p:tgtEl>
                                          <p:spTgt spid="173124"/>
                                        </p:tgtEl>
                                        <p:attrNameLst>
                                          <p:attrName>style.visibility</p:attrName>
                                        </p:attrNameLst>
                                      </p:cBhvr>
                                      <p:to>
                                        <p:strVal val="visible"/>
                                      </p:to>
                                    </p:set>
                                    <p:animEffect transition="in" filter="wipe(left)">
                                      <p:cBhvr>
                                        <p:cTn id="43" dur="500"/>
                                        <p:tgtEl>
                                          <p:spTgt spid="173124"/>
                                        </p:tgtEl>
                                      </p:cBhvr>
                                    </p:animEffect>
                                  </p:childTnLst>
                                </p:cTn>
                              </p:par>
                            </p:childTnLst>
                          </p:cTn>
                        </p:par>
                        <p:par>
                          <p:cTn id="44" fill="hold" nodeType="afterGroup">
                            <p:stCondLst>
                              <p:cond delay="2500"/>
                            </p:stCondLst>
                            <p:childTnLst>
                              <p:par>
                                <p:cTn id="45" presetID="22" presetClass="entr" presetSubtype="2" fill="hold" grpId="0" nodeType="afterEffect">
                                  <p:stCondLst>
                                    <p:cond delay="0"/>
                                  </p:stCondLst>
                                  <p:childTnLst>
                                    <p:set>
                                      <p:cBhvr>
                                        <p:cTn id="46" dur="1" fill="hold">
                                          <p:stCondLst>
                                            <p:cond delay="0"/>
                                          </p:stCondLst>
                                        </p:cTn>
                                        <p:tgtEl>
                                          <p:spTgt spid="173125"/>
                                        </p:tgtEl>
                                        <p:attrNameLst>
                                          <p:attrName>style.visibility</p:attrName>
                                        </p:attrNameLst>
                                      </p:cBhvr>
                                      <p:to>
                                        <p:strVal val="visible"/>
                                      </p:to>
                                    </p:set>
                                    <p:animEffect transition="in" filter="wipe(right)">
                                      <p:cBhvr>
                                        <p:cTn id="47" dur="500"/>
                                        <p:tgtEl>
                                          <p:spTgt spid="17312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0"/>
                                          </p:stCondLst>
                                        </p:cTn>
                                        <p:tgtEl>
                                          <p:spTgt spid="173126"/>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73162"/>
                                        </p:tgtEl>
                                        <p:attrNameLst>
                                          <p:attrName>style.visibility</p:attrName>
                                        </p:attrNameLst>
                                      </p:cBhvr>
                                      <p:to>
                                        <p:strVal val="visible"/>
                                      </p:to>
                                    </p:set>
                                    <p:animEffect transition="in" filter="wipe(left)">
                                      <p:cBhvr>
                                        <p:cTn id="56" dur="1000"/>
                                        <p:tgtEl>
                                          <p:spTgt spid="17316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4" presetClass="entr" presetSubtype="32" fill="hold" nodeType="clickEffect">
                                  <p:stCondLst>
                                    <p:cond delay="0"/>
                                  </p:stCondLst>
                                  <p:childTnLst>
                                    <p:set>
                                      <p:cBhvr>
                                        <p:cTn id="60" dur="1" fill="hold">
                                          <p:stCondLst>
                                            <p:cond delay="0"/>
                                          </p:stCondLst>
                                        </p:cTn>
                                        <p:tgtEl>
                                          <p:spTgt spid="10"/>
                                        </p:tgtEl>
                                        <p:attrNameLst>
                                          <p:attrName>style.visibility</p:attrName>
                                        </p:attrNameLst>
                                      </p:cBhvr>
                                      <p:to>
                                        <p:strVal val="visible"/>
                                      </p:to>
                                    </p:set>
                                    <p:animEffect transition="in" filter="box(out)">
                                      <p:cBhvr>
                                        <p:cTn id="61" dur="1000"/>
                                        <p:tgtEl>
                                          <p:spTgt spid="10"/>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73163"/>
                                        </p:tgtEl>
                                        <p:attrNameLst>
                                          <p:attrName>style.visibility</p:attrName>
                                        </p:attrNameLst>
                                      </p:cBhvr>
                                      <p:to>
                                        <p:strVal val="visible"/>
                                      </p:to>
                                    </p:set>
                                    <p:animEffect transition="in" filter="wipe(left)">
                                      <p:cBhvr>
                                        <p:cTn id="66" dur="1000"/>
                                        <p:tgtEl>
                                          <p:spTgt spid="173163"/>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4" presetClass="entr" presetSubtype="32" fill="hold" nodeType="click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box(out)">
                                      <p:cBhvr>
                                        <p:cTn id="71" dur="1000"/>
                                        <p:tgtEl>
                                          <p:spTgt spid="18"/>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73164"/>
                                        </p:tgtEl>
                                        <p:attrNameLst>
                                          <p:attrName>style.visibility</p:attrName>
                                        </p:attrNameLst>
                                      </p:cBhvr>
                                      <p:to>
                                        <p:strVal val="visible"/>
                                      </p:to>
                                    </p:set>
                                    <p:animEffect transition="in" filter="wipe(left)">
                                      <p:cBhvr>
                                        <p:cTn id="76" dur="1000"/>
                                        <p:tgtEl>
                                          <p:spTgt spid="173164"/>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173165"/>
                                        </p:tgtEl>
                                        <p:attrNameLst>
                                          <p:attrName>style.visibility</p:attrName>
                                        </p:attrNameLst>
                                      </p:cBhvr>
                                      <p:to>
                                        <p:strVal val="visible"/>
                                      </p:to>
                                    </p:set>
                                    <p:animEffect transition="in" filter="wipe(left)">
                                      <p:cBhvr>
                                        <p:cTn id="81" dur="1000"/>
                                        <p:tgtEl>
                                          <p:spTgt spid="173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7" grpId="0"/>
      <p:bldP spid="173069" grpId="0"/>
      <p:bldP spid="173123" grpId="0" animBg="1"/>
      <p:bldP spid="173123" grpId="1" animBg="1"/>
      <p:bldP spid="173123" grpId="2" animBg="1"/>
      <p:bldP spid="173124" grpId="0" animBg="1"/>
      <p:bldP spid="173125" grpId="0" animBg="1"/>
      <p:bldP spid="173162" grpId="0"/>
      <p:bldP spid="173163" grpId="0"/>
      <p:bldP spid="17316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Text Box 2"/>
          <p:cNvSpPr txBox="1">
            <a:spLocks noChangeArrowheads="1"/>
          </p:cNvSpPr>
          <p:nvPr/>
        </p:nvSpPr>
        <p:spPr bwMode="auto">
          <a:xfrm>
            <a:off x="3986213" y="4103688"/>
            <a:ext cx="4772025" cy="903287"/>
          </a:xfrm>
          <a:prstGeom prst="rect">
            <a:avLst/>
          </a:prstGeom>
          <a:solidFill>
            <a:srgbClr val="009999">
              <a:alpha val="10196"/>
            </a:srgbClr>
          </a:solidFill>
          <a:ln w="19050">
            <a:solidFill>
              <a:srgbClr val="009999">
                <a:alpha val="50195"/>
              </a:srgbClr>
            </a:solidFill>
            <a:miter lim="800000"/>
            <a:headEnd type="none" w="sm" len="sm"/>
            <a:tailEnd type="none" w="sm" len="sm"/>
          </a:ln>
        </p:spPr>
        <p:txBody>
          <a:bodyPr>
            <a:spAutoFit/>
          </a:bodyPr>
          <a:lstStyle/>
          <a:p>
            <a:pPr algn="l" defTabSz="762000" eaLnBrk="0" hangingPunct="0">
              <a:lnSpc>
                <a:spcPct val="115000"/>
              </a:lnSpc>
            </a:pPr>
            <a:r>
              <a:rPr lang="zh-CN" altLang="en-US" b="1">
                <a:solidFill>
                  <a:schemeClr val="hlink"/>
                </a:solidFill>
              </a:rPr>
              <a:t>固有长度</a:t>
            </a:r>
            <a:r>
              <a:rPr lang="en-US" altLang="zh-CN" b="1">
                <a:solidFill>
                  <a:schemeClr val="bg1"/>
                </a:solidFill>
              </a:rPr>
              <a:t>:</a:t>
            </a:r>
            <a:r>
              <a:rPr lang="en-US" altLang="zh-CN" b="1">
                <a:solidFill>
                  <a:srgbClr val="66FFFF"/>
                </a:solidFill>
              </a:rPr>
              <a:t>  </a:t>
            </a:r>
            <a:r>
              <a:rPr lang="zh-CN" altLang="en-US" b="1">
                <a:solidFill>
                  <a:schemeClr val="bg1"/>
                </a:solidFill>
              </a:rPr>
              <a:t>相对于棒静止的惯性系测得棒的长度。</a:t>
            </a:r>
            <a:r>
              <a:rPr lang="en-US" altLang="zh-CN" b="1" i="1">
                <a:solidFill>
                  <a:srgbClr val="FF6600"/>
                </a:solidFill>
              </a:rPr>
              <a:t>l</a:t>
            </a:r>
            <a:r>
              <a:rPr lang="en-US" altLang="zh-CN" b="1" baseline="-25000">
                <a:solidFill>
                  <a:srgbClr val="FF6600"/>
                </a:solidFill>
              </a:rPr>
              <a:t>0 </a:t>
            </a:r>
            <a:r>
              <a:rPr lang="zh-CN" altLang="en-US" b="1">
                <a:solidFill>
                  <a:schemeClr val="bg1"/>
                </a:solidFill>
              </a:rPr>
              <a:t>为</a:t>
            </a:r>
            <a:r>
              <a:rPr lang="zh-CN" altLang="en-US" b="1">
                <a:solidFill>
                  <a:schemeClr val="bg2"/>
                </a:solidFill>
              </a:rPr>
              <a:t>固有长度</a:t>
            </a:r>
          </a:p>
        </p:txBody>
      </p:sp>
      <p:sp>
        <p:nvSpPr>
          <p:cNvPr id="174084" name="Text Box 4"/>
          <p:cNvSpPr txBox="1">
            <a:spLocks noChangeArrowheads="1"/>
          </p:cNvSpPr>
          <p:nvPr/>
        </p:nvSpPr>
        <p:spPr bwMode="auto">
          <a:xfrm>
            <a:off x="161925" y="368300"/>
            <a:ext cx="8685213" cy="461963"/>
          </a:xfrm>
          <a:prstGeom prst="rect">
            <a:avLst/>
          </a:prstGeom>
          <a:noFill/>
          <a:ln w="9525">
            <a:noFill/>
            <a:miter lim="800000"/>
            <a:headEnd/>
            <a:tailEnd/>
          </a:ln>
        </p:spPr>
        <p:txBody>
          <a:bodyPr>
            <a:spAutoFit/>
          </a:bodyPr>
          <a:lstStyle/>
          <a:p>
            <a:pPr algn="l">
              <a:spcBef>
                <a:spcPct val="50000"/>
              </a:spcBef>
            </a:pPr>
            <a:r>
              <a:rPr lang="en-US" altLang="zh-CN" b="1" i="1">
                <a:solidFill>
                  <a:srgbClr val="FF6600"/>
                </a:solidFill>
              </a:rPr>
              <a:t>S' </a:t>
            </a:r>
            <a:r>
              <a:rPr lang="zh-CN" altLang="en-US" b="1"/>
              <a:t>系中光的出发和返回是发生在</a:t>
            </a:r>
            <a:r>
              <a:rPr lang="en-US" altLang="zh-CN" b="1"/>
              <a:t> </a:t>
            </a:r>
            <a:r>
              <a:rPr lang="en-US" altLang="zh-CN" b="1" i="1">
                <a:solidFill>
                  <a:schemeClr val="accent2"/>
                </a:solidFill>
              </a:rPr>
              <a:t>S </a:t>
            </a:r>
            <a:r>
              <a:rPr lang="zh-CN" altLang="en-US" b="1"/>
              <a:t>系中的两个地点的两个事件</a:t>
            </a:r>
            <a:r>
              <a:rPr lang="en-US" altLang="zh-CN" b="1"/>
              <a:t> </a:t>
            </a:r>
          </a:p>
        </p:txBody>
      </p:sp>
      <p:sp>
        <p:nvSpPr>
          <p:cNvPr id="174085" name="Text Box 5"/>
          <p:cNvSpPr txBox="1">
            <a:spLocks noChangeArrowheads="1"/>
          </p:cNvSpPr>
          <p:nvPr/>
        </p:nvSpPr>
        <p:spPr bwMode="auto">
          <a:xfrm>
            <a:off x="161925" y="1042988"/>
            <a:ext cx="900113" cy="457200"/>
          </a:xfrm>
          <a:prstGeom prst="rect">
            <a:avLst/>
          </a:prstGeom>
          <a:noFill/>
          <a:ln w="9525">
            <a:noFill/>
            <a:miter lim="800000"/>
            <a:headEnd/>
            <a:tailEnd/>
          </a:ln>
        </p:spPr>
        <p:txBody>
          <a:bodyPr>
            <a:spAutoFit/>
          </a:bodyPr>
          <a:lstStyle/>
          <a:p>
            <a:pPr algn="l">
              <a:spcBef>
                <a:spcPct val="50000"/>
              </a:spcBef>
            </a:pPr>
            <a:r>
              <a:rPr lang="zh-CN" altLang="en-US" b="1">
                <a:ea typeface="楷体_GB2312" pitchFamily="49" charset="-122"/>
              </a:rPr>
              <a:t>光源</a:t>
            </a:r>
          </a:p>
        </p:txBody>
      </p:sp>
      <p:sp>
        <p:nvSpPr>
          <p:cNvPr id="174086" name="Text Box 6"/>
          <p:cNvSpPr txBox="1">
            <a:spLocks noChangeArrowheads="1"/>
          </p:cNvSpPr>
          <p:nvPr/>
        </p:nvSpPr>
        <p:spPr bwMode="auto">
          <a:xfrm>
            <a:off x="161925" y="1892300"/>
            <a:ext cx="1171575" cy="457200"/>
          </a:xfrm>
          <a:prstGeom prst="rect">
            <a:avLst/>
          </a:prstGeom>
          <a:noFill/>
          <a:ln w="9525">
            <a:noFill/>
            <a:miter lim="800000"/>
            <a:headEnd/>
            <a:tailEnd/>
          </a:ln>
        </p:spPr>
        <p:txBody>
          <a:bodyPr>
            <a:spAutoFit/>
          </a:bodyPr>
          <a:lstStyle/>
          <a:p>
            <a:pPr algn="l">
              <a:spcBef>
                <a:spcPct val="50000"/>
              </a:spcBef>
            </a:pPr>
            <a:r>
              <a:rPr lang="zh-CN" altLang="en-US" b="1"/>
              <a:t>反光镜</a:t>
            </a:r>
          </a:p>
        </p:txBody>
      </p:sp>
      <p:sp>
        <p:nvSpPr>
          <p:cNvPr id="174087" name="Text Box 7"/>
          <p:cNvSpPr txBox="1">
            <a:spLocks noChangeArrowheads="1"/>
          </p:cNvSpPr>
          <p:nvPr/>
        </p:nvSpPr>
        <p:spPr bwMode="auto">
          <a:xfrm>
            <a:off x="1827213" y="1892300"/>
            <a:ext cx="900112" cy="457200"/>
          </a:xfrm>
          <a:prstGeom prst="rect">
            <a:avLst/>
          </a:prstGeom>
          <a:noFill/>
          <a:ln w="9525">
            <a:noFill/>
            <a:miter lim="800000"/>
            <a:headEnd/>
            <a:tailEnd/>
          </a:ln>
        </p:spPr>
        <p:txBody>
          <a:bodyPr>
            <a:spAutoFit/>
          </a:bodyPr>
          <a:lstStyle/>
          <a:p>
            <a:pPr algn="l">
              <a:spcBef>
                <a:spcPct val="50000"/>
              </a:spcBef>
            </a:pPr>
            <a:r>
              <a:rPr lang="zh-CN" altLang="en-US" b="1">
                <a:ea typeface="楷体_GB2312" pitchFamily="49" charset="-122"/>
              </a:rPr>
              <a:t>光源</a:t>
            </a:r>
          </a:p>
        </p:txBody>
      </p:sp>
      <p:sp>
        <p:nvSpPr>
          <p:cNvPr id="174088" name="Text Box 8"/>
          <p:cNvSpPr txBox="1">
            <a:spLocks noChangeArrowheads="1"/>
          </p:cNvSpPr>
          <p:nvPr/>
        </p:nvSpPr>
        <p:spPr bwMode="auto">
          <a:xfrm>
            <a:off x="1557338" y="1042988"/>
            <a:ext cx="1214437" cy="457200"/>
          </a:xfrm>
          <a:prstGeom prst="rect">
            <a:avLst/>
          </a:prstGeom>
          <a:noFill/>
          <a:ln w="9525">
            <a:noFill/>
            <a:miter lim="800000"/>
            <a:headEnd/>
            <a:tailEnd/>
          </a:ln>
        </p:spPr>
        <p:txBody>
          <a:bodyPr>
            <a:spAutoFit/>
          </a:bodyPr>
          <a:lstStyle/>
          <a:p>
            <a:pPr algn="l">
              <a:spcBef>
                <a:spcPct val="50000"/>
              </a:spcBef>
            </a:pPr>
            <a:r>
              <a:rPr lang="zh-CN" altLang="en-US" b="1"/>
              <a:t>反光镜</a:t>
            </a:r>
          </a:p>
        </p:txBody>
      </p:sp>
      <p:sp>
        <p:nvSpPr>
          <p:cNvPr id="174089" name="AutoShape 9"/>
          <p:cNvSpPr>
            <a:spLocks noChangeArrowheads="1"/>
          </p:cNvSpPr>
          <p:nvPr/>
        </p:nvSpPr>
        <p:spPr bwMode="auto">
          <a:xfrm>
            <a:off x="927100" y="1223963"/>
            <a:ext cx="674688" cy="179387"/>
          </a:xfrm>
          <a:prstGeom prst="rightArrow">
            <a:avLst>
              <a:gd name="adj1" fmla="val 50000"/>
              <a:gd name="adj2" fmla="val 94027"/>
            </a:avLst>
          </a:prstGeom>
          <a:solidFill>
            <a:srgbClr val="CCFFFF"/>
          </a:solidFill>
          <a:ln w="9525">
            <a:solidFill>
              <a:srgbClr val="00FFFF"/>
            </a:solidFill>
            <a:miter lim="800000"/>
            <a:headEnd/>
            <a:tailEnd/>
          </a:ln>
        </p:spPr>
        <p:txBody>
          <a:bodyPr wrap="none" anchor="ctr"/>
          <a:lstStyle/>
          <a:p>
            <a:endParaRPr lang="zh-CN" altLang="en-US"/>
          </a:p>
        </p:txBody>
      </p:sp>
      <p:sp>
        <p:nvSpPr>
          <p:cNvPr id="174090" name="AutoShape 10"/>
          <p:cNvSpPr>
            <a:spLocks noChangeArrowheads="1"/>
          </p:cNvSpPr>
          <p:nvPr/>
        </p:nvSpPr>
        <p:spPr bwMode="auto">
          <a:xfrm>
            <a:off x="1243013" y="2027238"/>
            <a:ext cx="674687" cy="179387"/>
          </a:xfrm>
          <a:prstGeom prst="rightArrow">
            <a:avLst>
              <a:gd name="adj1" fmla="val 50000"/>
              <a:gd name="adj2" fmla="val 94027"/>
            </a:avLst>
          </a:prstGeom>
          <a:solidFill>
            <a:srgbClr val="CCFFFF"/>
          </a:solidFill>
          <a:ln w="9525">
            <a:solidFill>
              <a:srgbClr val="00FFFF"/>
            </a:solidFill>
            <a:miter lim="800000"/>
            <a:headEnd/>
            <a:tailEnd/>
          </a:ln>
        </p:spPr>
        <p:txBody>
          <a:bodyPr wrap="none" anchor="ctr"/>
          <a:lstStyle/>
          <a:p>
            <a:endParaRPr lang="zh-CN" altLang="en-US"/>
          </a:p>
        </p:txBody>
      </p:sp>
      <p:graphicFrame>
        <p:nvGraphicFramePr>
          <p:cNvPr id="174091" name="Object 11"/>
          <p:cNvGraphicFramePr>
            <a:graphicFrameLocks noChangeAspect="1"/>
          </p:cNvGraphicFramePr>
          <p:nvPr/>
        </p:nvGraphicFramePr>
        <p:xfrm>
          <a:off x="2760663" y="863600"/>
          <a:ext cx="1306512" cy="439738"/>
        </p:xfrm>
        <a:graphic>
          <a:graphicData uri="http://schemas.openxmlformats.org/presentationml/2006/ole">
            <p:oleObj spid="_x0000_s9218" name="Equation" r:id="rId3" imgW="761669" imgH="228501" progId="">
              <p:embed/>
            </p:oleObj>
          </a:graphicData>
        </a:graphic>
      </p:graphicFrame>
      <p:graphicFrame>
        <p:nvGraphicFramePr>
          <p:cNvPr id="174092" name="Object 12"/>
          <p:cNvGraphicFramePr>
            <a:graphicFrameLocks noChangeAspect="1"/>
          </p:cNvGraphicFramePr>
          <p:nvPr/>
        </p:nvGraphicFramePr>
        <p:xfrm>
          <a:off x="2760663" y="1268413"/>
          <a:ext cx="1016000" cy="412750"/>
        </p:xfrm>
        <a:graphic>
          <a:graphicData uri="http://schemas.openxmlformats.org/presentationml/2006/ole">
            <p:oleObj spid="_x0000_s9219" name="Equation" r:id="rId4" imgW="558800" imgH="228600" progId="">
              <p:embed/>
            </p:oleObj>
          </a:graphicData>
        </a:graphic>
      </p:graphicFrame>
      <p:sp>
        <p:nvSpPr>
          <p:cNvPr id="174093" name="AutoShape 13"/>
          <p:cNvSpPr>
            <a:spLocks/>
          </p:cNvSpPr>
          <p:nvPr/>
        </p:nvSpPr>
        <p:spPr bwMode="auto">
          <a:xfrm>
            <a:off x="4156075" y="1089025"/>
            <a:ext cx="134938" cy="584200"/>
          </a:xfrm>
          <a:prstGeom prst="rightBrace">
            <a:avLst>
              <a:gd name="adj1" fmla="val 36078"/>
              <a:gd name="adj2" fmla="val 50000"/>
            </a:avLst>
          </a:prstGeom>
          <a:noFill/>
          <a:ln w="9525">
            <a:solidFill>
              <a:srgbClr val="0033CC"/>
            </a:solidFill>
            <a:round/>
            <a:headEnd/>
            <a:tailEnd/>
          </a:ln>
        </p:spPr>
        <p:txBody>
          <a:bodyPr wrap="none" anchor="ctr"/>
          <a:lstStyle/>
          <a:p>
            <a:endParaRPr lang="zh-CN" altLang="en-US"/>
          </a:p>
        </p:txBody>
      </p:sp>
      <p:graphicFrame>
        <p:nvGraphicFramePr>
          <p:cNvPr id="174094" name="Object 14"/>
          <p:cNvGraphicFramePr>
            <a:graphicFrameLocks noChangeAspect="1"/>
          </p:cNvGraphicFramePr>
          <p:nvPr/>
        </p:nvGraphicFramePr>
        <p:xfrm>
          <a:off x="4335463" y="998538"/>
          <a:ext cx="1169987" cy="650875"/>
        </p:xfrm>
        <a:graphic>
          <a:graphicData uri="http://schemas.openxmlformats.org/presentationml/2006/ole">
            <p:oleObj spid="_x0000_s9220" name="Equation" r:id="rId5" imgW="685800" imgH="393700" progId="">
              <p:embed/>
            </p:oleObj>
          </a:graphicData>
        </a:graphic>
      </p:graphicFrame>
      <p:graphicFrame>
        <p:nvGraphicFramePr>
          <p:cNvPr id="174095" name="Object 15"/>
          <p:cNvGraphicFramePr>
            <a:graphicFrameLocks noChangeAspect="1"/>
          </p:cNvGraphicFramePr>
          <p:nvPr/>
        </p:nvGraphicFramePr>
        <p:xfrm>
          <a:off x="2740025" y="1808163"/>
          <a:ext cx="1349375" cy="439737"/>
        </p:xfrm>
        <a:graphic>
          <a:graphicData uri="http://schemas.openxmlformats.org/presentationml/2006/ole">
            <p:oleObj spid="_x0000_s9221" name="Equation" r:id="rId6" imgW="787400" imgH="228600" progId="">
              <p:embed/>
            </p:oleObj>
          </a:graphicData>
        </a:graphic>
      </p:graphicFrame>
      <p:graphicFrame>
        <p:nvGraphicFramePr>
          <p:cNvPr id="174096" name="Object 16"/>
          <p:cNvGraphicFramePr>
            <a:graphicFrameLocks noChangeAspect="1"/>
          </p:cNvGraphicFramePr>
          <p:nvPr/>
        </p:nvGraphicFramePr>
        <p:xfrm>
          <a:off x="2727325" y="2214563"/>
          <a:ext cx="1084263" cy="412750"/>
        </p:xfrm>
        <a:graphic>
          <a:graphicData uri="http://schemas.openxmlformats.org/presentationml/2006/ole">
            <p:oleObj spid="_x0000_s9222" name="Equation" r:id="rId7" imgW="596900" imgH="228600" progId="">
              <p:embed/>
            </p:oleObj>
          </a:graphicData>
        </a:graphic>
      </p:graphicFrame>
      <p:sp>
        <p:nvSpPr>
          <p:cNvPr id="174097" name="AutoShape 17"/>
          <p:cNvSpPr>
            <a:spLocks/>
          </p:cNvSpPr>
          <p:nvPr/>
        </p:nvSpPr>
        <p:spPr bwMode="auto">
          <a:xfrm>
            <a:off x="4156075" y="2035175"/>
            <a:ext cx="134938" cy="584200"/>
          </a:xfrm>
          <a:prstGeom prst="rightBrace">
            <a:avLst>
              <a:gd name="adj1" fmla="val 36078"/>
              <a:gd name="adj2" fmla="val 50000"/>
            </a:avLst>
          </a:prstGeom>
          <a:noFill/>
          <a:ln w="9525">
            <a:solidFill>
              <a:srgbClr val="0033CC"/>
            </a:solidFill>
            <a:round/>
            <a:headEnd/>
            <a:tailEnd/>
          </a:ln>
        </p:spPr>
        <p:txBody>
          <a:bodyPr wrap="none" anchor="ctr"/>
          <a:lstStyle/>
          <a:p>
            <a:endParaRPr lang="zh-CN" altLang="en-US"/>
          </a:p>
        </p:txBody>
      </p:sp>
      <p:graphicFrame>
        <p:nvGraphicFramePr>
          <p:cNvPr id="174098" name="Object 18"/>
          <p:cNvGraphicFramePr>
            <a:graphicFrameLocks noChangeAspect="1"/>
          </p:cNvGraphicFramePr>
          <p:nvPr/>
        </p:nvGraphicFramePr>
        <p:xfrm>
          <a:off x="4379913" y="1943100"/>
          <a:ext cx="1169987" cy="641350"/>
        </p:xfrm>
        <a:graphic>
          <a:graphicData uri="http://schemas.openxmlformats.org/presentationml/2006/ole">
            <p:oleObj spid="_x0000_s9223" name="Equation" r:id="rId8" imgW="710891" imgH="393529" progId="">
              <p:embed/>
            </p:oleObj>
          </a:graphicData>
        </a:graphic>
      </p:graphicFrame>
      <p:sp>
        <p:nvSpPr>
          <p:cNvPr id="174099" name="AutoShape 19"/>
          <p:cNvSpPr>
            <a:spLocks/>
          </p:cNvSpPr>
          <p:nvPr/>
        </p:nvSpPr>
        <p:spPr bwMode="auto">
          <a:xfrm>
            <a:off x="5549900" y="1314450"/>
            <a:ext cx="180975" cy="1079500"/>
          </a:xfrm>
          <a:prstGeom prst="rightBrace">
            <a:avLst>
              <a:gd name="adj1" fmla="val 49708"/>
              <a:gd name="adj2" fmla="val 50000"/>
            </a:avLst>
          </a:prstGeom>
          <a:noFill/>
          <a:ln w="9525">
            <a:solidFill>
              <a:schemeClr val="tx1"/>
            </a:solidFill>
            <a:round/>
            <a:headEnd/>
            <a:tailEnd/>
          </a:ln>
        </p:spPr>
        <p:txBody>
          <a:bodyPr wrap="none" anchor="ctr"/>
          <a:lstStyle/>
          <a:p>
            <a:endParaRPr lang="zh-CN" altLang="en-US"/>
          </a:p>
        </p:txBody>
      </p:sp>
      <p:graphicFrame>
        <p:nvGraphicFramePr>
          <p:cNvPr id="174100" name="Object 20"/>
          <p:cNvGraphicFramePr>
            <a:graphicFrameLocks noChangeAspect="1"/>
          </p:cNvGraphicFramePr>
          <p:nvPr/>
        </p:nvGraphicFramePr>
        <p:xfrm>
          <a:off x="5684838" y="1358900"/>
          <a:ext cx="3357562" cy="1079500"/>
        </p:xfrm>
        <a:graphic>
          <a:graphicData uri="http://schemas.openxmlformats.org/presentationml/2006/ole">
            <p:oleObj spid="_x0000_s9224" name="Equation" r:id="rId9" imgW="1713756" imgH="545863" progId="">
              <p:embed/>
            </p:oleObj>
          </a:graphicData>
        </a:graphic>
      </p:graphicFrame>
      <p:graphicFrame>
        <p:nvGraphicFramePr>
          <p:cNvPr id="174101" name="Object 21"/>
          <p:cNvGraphicFramePr>
            <a:graphicFrameLocks noChangeAspect="1"/>
          </p:cNvGraphicFramePr>
          <p:nvPr/>
        </p:nvGraphicFramePr>
        <p:xfrm>
          <a:off x="6597650" y="3024188"/>
          <a:ext cx="1304925" cy="906462"/>
        </p:xfrm>
        <a:graphic>
          <a:graphicData uri="http://schemas.openxmlformats.org/presentationml/2006/ole">
            <p:oleObj spid="_x0000_s9225" name="Equation" r:id="rId10" imgW="558558" imgH="393529" progId="">
              <p:embed/>
            </p:oleObj>
          </a:graphicData>
        </a:graphic>
      </p:graphicFrame>
      <p:sp>
        <p:nvSpPr>
          <p:cNvPr id="174102" name="AutoShape 22"/>
          <p:cNvSpPr>
            <a:spLocks noChangeArrowheads="1"/>
          </p:cNvSpPr>
          <p:nvPr/>
        </p:nvSpPr>
        <p:spPr bwMode="auto">
          <a:xfrm>
            <a:off x="4438650" y="3429000"/>
            <a:ext cx="1979613" cy="225425"/>
          </a:xfrm>
          <a:prstGeom prst="leftArrow">
            <a:avLst>
              <a:gd name="adj1" fmla="val 50000"/>
              <a:gd name="adj2" fmla="val 219542"/>
            </a:avLst>
          </a:prstGeom>
          <a:solidFill>
            <a:srgbClr val="CCFFFF"/>
          </a:solidFill>
          <a:ln w="9525">
            <a:solidFill>
              <a:srgbClr val="00FFFF"/>
            </a:solidFill>
            <a:miter lim="800000"/>
            <a:headEnd/>
            <a:tailEnd/>
          </a:ln>
        </p:spPr>
        <p:txBody>
          <a:bodyPr wrap="none" anchor="ctr"/>
          <a:lstStyle/>
          <a:p>
            <a:endParaRPr lang="zh-CN" altLang="en-US"/>
          </a:p>
        </p:txBody>
      </p:sp>
      <p:graphicFrame>
        <p:nvGraphicFramePr>
          <p:cNvPr id="174103" name="Object 23"/>
          <p:cNvGraphicFramePr>
            <a:graphicFrameLocks noChangeAspect="1"/>
          </p:cNvGraphicFramePr>
          <p:nvPr/>
        </p:nvGraphicFramePr>
        <p:xfrm>
          <a:off x="4662488" y="2754313"/>
          <a:ext cx="1439862" cy="735012"/>
        </p:xfrm>
        <a:graphic>
          <a:graphicData uri="http://schemas.openxmlformats.org/presentationml/2006/ole">
            <p:oleObj spid="_x0000_s9226" name="Equation" r:id="rId11" imgW="965200" imgH="571500" progId="">
              <p:embed/>
            </p:oleObj>
          </a:graphicData>
        </a:graphic>
      </p:graphicFrame>
      <p:graphicFrame>
        <p:nvGraphicFramePr>
          <p:cNvPr id="174104" name="Object 24"/>
          <p:cNvGraphicFramePr>
            <a:graphicFrameLocks noChangeAspect="1"/>
          </p:cNvGraphicFramePr>
          <p:nvPr/>
        </p:nvGraphicFramePr>
        <p:xfrm>
          <a:off x="1601788" y="3159125"/>
          <a:ext cx="2501900" cy="595313"/>
        </p:xfrm>
        <a:graphic>
          <a:graphicData uri="http://schemas.openxmlformats.org/presentationml/2006/ole">
            <p:oleObj spid="_x0000_s9227" name="Equation" r:id="rId12" imgW="1143000" imgH="279400" progId="">
              <p:embed/>
            </p:oleObj>
          </a:graphicData>
        </a:graphic>
      </p:graphicFrame>
      <p:graphicFrame>
        <p:nvGraphicFramePr>
          <p:cNvPr id="174105" name="Object 25"/>
          <p:cNvGraphicFramePr>
            <a:graphicFrameLocks noChangeAspect="1"/>
          </p:cNvGraphicFramePr>
          <p:nvPr/>
        </p:nvGraphicFramePr>
        <p:xfrm>
          <a:off x="927100" y="4464050"/>
          <a:ext cx="1349375" cy="436563"/>
        </p:xfrm>
        <a:graphic>
          <a:graphicData uri="http://schemas.openxmlformats.org/presentationml/2006/ole">
            <p:oleObj spid="_x0000_s9228" name="Equation" r:id="rId13" imgW="583693" imgH="177646" progId="">
              <p:embed/>
            </p:oleObj>
          </a:graphicData>
        </a:graphic>
      </p:graphicFrame>
      <p:sp>
        <p:nvSpPr>
          <p:cNvPr id="174106" name="Text Box 26"/>
          <p:cNvSpPr txBox="1">
            <a:spLocks noChangeArrowheads="1"/>
          </p:cNvSpPr>
          <p:nvPr/>
        </p:nvSpPr>
        <p:spPr bwMode="auto">
          <a:xfrm>
            <a:off x="417513" y="4310063"/>
            <a:ext cx="792162" cy="582612"/>
          </a:xfrm>
          <a:prstGeom prst="rect">
            <a:avLst/>
          </a:prstGeom>
          <a:noFill/>
          <a:ln w="9525">
            <a:noFill/>
            <a:miter lim="800000"/>
            <a:headEnd/>
            <a:tailEnd/>
          </a:ln>
        </p:spPr>
        <p:txBody>
          <a:bodyPr>
            <a:spAutoFit/>
          </a:bodyPr>
          <a:lstStyle/>
          <a:p>
            <a:pPr algn="l" eaLnBrk="0" hangingPunct="0">
              <a:lnSpc>
                <a:spcPct val="115000"/>
              </a:lnSpc>
            </a:pPr>
            <a:r>
              <a:rPr lang="zh-CN" altLang="en-US" b="1">
                <a:solidFill>
                  <a:schemeClr val="bg1"/>
                </a:solidFill>
              </a:rPr>
              <a:t>即</a:t>
            </a:r>
            <a:r>
              <a:rPr lang="en-US" altLang="zh-CN" sz="2800" b="1">
                <a:solidFill>
                  <a:srgbClr val="FF0000"/>
                </a:solidFill>
                <a:latin typeface="宋体" pitchFamily="2" charset="-122"/>
              </a:rPr>
              <a:t> </a:t>
            </a:r>
          </a:p>
        </p:txBody>
      </p:sp>
      <p:sp>
        <p:nvSpPr>
          <p:cNvPr id="174107" name="Text Box 27"/>
          <p:cNvSpPr txBox="1">
            <a:spLocks noChangeArrowheads="1"/>
          </p:cNvSpPr>
          <p:nvPr/>
        </p:nvSpPr>
        <p:spPr bwMode="auto">
          <a:xfrm>
            <a:off x="2232025" y="4419600"/>
            <a:ext cx="1665288" cy="444500"/>
          </a:xfrm>
          <a:prstGeom prst="rect">
            <a:avLst/>
          </a:prstGeom>
          <a:noFill/>
          <a:ln w="9525">
            <a:noFill/>
            <a:miter lim="800000"/>
            <a:headEnd/>
            <a:tailEnd/>
          </a:ln>
        </p:spPr>
        <p:txBody>
          <a:bodyPr tIns="10800">
            <a:spAutoFit/>
          </a:bodyPr>
          <a:lstStyle/>
          <a:p>
            <a:pPr algn="l" defTabSz="762000" eaLnBrk="0" hangingPunct="0">
              <a:lnSpc>
                <a:spcPct val="115000"/>
              </a:lnSpc>
            </a:pPr>
            <a:r>
              <a:rPr lang="en-US" altLang="zh-CN" b="1">
                <a:solidFill>
                  <a:srgbClr val="CC0000"/>
                </a:solidFill>
              </a:rPr>
              <a:t>(</a:t>
            </a:r>
            <a:r>
              <a:rPr lang="zh-CN" altLang="en-US" b="1">
                <a:solidFill>
                  <a:srgbClr val="CC0000"/>
                </a:solidFill>
              </a:rPr>
              <a:t>固有长度</a:t>
            </a:r>
            <a:r>
              <a:rPr lang="en-US" altLang="zh-CN" b="1">
                <a:solidFill>
                  <a:srgbClr val="CC0000"/>
                </a:solidFill>
              </a:rPr>
              <a:t>)</a:t>
            </a:r>
          </a:p>
        </p:txBody>
      </p:sp>
      <p:graphicFrame>
        <p:nvGraphicFramePr>
          <p:cNvPr id="174108" name="Object 28"/>
          <p:cNvGraphicFramePr>
            <a:graphicFrameLocks noChangeAspect="1"/>
          </p:cNvGraphicFramePr>
          <p:nvPr/>
        </p:nvGraphicFramePr>
        <p:xfrm>
          <a:off x="1016000" y="5384800"/>
          <a:ext cx="874713" cy="633413"/>
        </p:xfrm>
        <a:graphic>
          <a:graphicData uri="http://schemas.openxmlformats.org/presentationml/2006/ole">
            <p:oleObj spid="_x0000_s9229" name="Equation" r:id="rId14" imgW="393529" imgH="228501" progId="">
              <p:embed/>
            </p:oleObj>
          </a:graphicData>
        </a:graphic>
      </p:graphicFrame>
      <p:sp>
        <p:nvSpPr>
          <p:cNvPr id="174109" name="Text Box 29"/>
          <p:cNvSpPr txBox="1">
            <a:spLocks noChangeArrowheads="1"/>
          </p:cNvSpPr>
          <p:nvPr/>
        </p:nvSpPr>
        <p:spPr bwMode="auto">
          <a:xfrm>
            <a:off x="482600" y="5429250"/>
            <a:ext cx="627063" cy="479425"/>
          </a:xfrm>
          <a:prstGeom prst="rect">
            <a:avLst/>
          </a:prstGeom>
          <a:noFill/>
          <a:ln w="9525">
            <a:noFill/>
            <a:miter lim="800000"/>
            <a:headEnd/>
            <a:tailEnd/>
          </a:ln>
        </p:spPr>
        <p:txBody>
          <a:bodyPr>
            <a:spAutoFit/>
          </a:bodyPr>
          <a:lstStyle/>
          <a:p>
            <a:pPr algn="l">
              <a:lnSpc>
                <a:spcPct val="115000"/>
              </a:lnSpc>
            </a:pPr>
            <a:r>
              <a:rPr lang="zh-CN" altLang="en-US" b="1">
                <a:solidFill>
                  <a:schemeClr val="bg1"/>
                </a:solidFill>
              </a:rPr>
              <a:t>设</a:t>
            </a:r>
          </a:p>
        </p:txBody>
      </p:sp>
      <p:sp>
        <p:nvSpPr>
          <p:cNvPr id="9246" name="Rectangle 30"/>
          <p:cNvSpPr>
            <a:spLocks noChangeArrowheads="1"/>
          </p:cNvSpPr>
          <p:nvPr/>
        </p:nvSpPr>
        <p:spPr bwMode="auto">
          <a:xfrm>
            <a:off x="0" y="32908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74111" name="Object 31"/>
          <p:cNvGraphicFramePr>
            <a:graphicFrameLocks noChangeAspect="1"/>
          </p:cNvGraphicFramePr>
          <p:nvPr/>
        </p:nvGraphicFramePr>
        <p:xfrm>
          <a:off x="2951163" y="5543550"/>
          <a:ext cx="2565400" cy="647700"/>
        </p:xfrm>
        <a:graphic>
          <a:graphicData uri="http://schemas.openxmlformats.org/presentationml/2006/ole">
            <p:oleObj spid="_x0000_s9230" name="Equation" r:id="rId15" imgW="1205977" imgH="304668" progId="">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084"/>
                                        </p:tgtEl>
                                        <p:attrNameLst>
                                          <p:attrName>style.visibility</p:attrName>
                                        </p:attrNameLst>
                                      </p:cBhvr>
                                      <p:to>
                                        <p:strVal val="visible"/>
                                      </p:to>
                                    </p:set>
                                    <p:animEffect transition="in" filter="wipe(left)">
                                      <p:cBhvr>
                                        <p:cTn id="7" dur="1000"/>
                                        <p:tgtEl>
                                          <p:spTgt spid="1740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4085"/>
                                        </p:tgtEl>
                                        <p:attrNameLst>
                                          <p:attrName>style.visibility</p:attrName>
                                        </p:attrNameLst>
                                      </p:cBhvr>
                                      <p:to>
                                        <p:strVal val="visible"/>
                                      </p:to>
                                    </p:set>
                                    <p:animEffect transition="in" filter="wipe(left)">
                                      <p:cBhvr>
                                        <p:cTn id="12" dur="1000"/>
                                        <p:tgtEl>
                                          <p:spTgt spid="17408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4089"/>
                                        </p:tgtEl>
                                        <p:attrNameLst>
                                          <p:attrName>style.visibility</p:attrName>
                                        </p:attrNameLst>
                                      </p:cBhvr>
                                      <p:to>
                                        <p:strVal val="visible"/>
                                      </p:to>
                                    </p:set>
                                    <p:animEffect transition="in" filter="wipe(left)">
                                      <p:cBhvr>
                                        <p:cTn id="17" dur="1000"/>
                                        <p:tgtEl>
                                          <p:spTgt spid="17408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4088"/>
                                        </p:tgtEl>
                                        <p:attrNameLst>
                                          <p:attrName>style.visibility</p:attrName>
                                        </p:attrNameLst>
                                      </p:cBhvr>
                                      <p:to>
                                        <p:strVal val="visible"/>
                                      </p:to>
                                    </p:set>
                                    <p:animEffect transition="in" filter="wipe(left)">
                                      <p:cBhvr>
                                        <p:cTn id="22" dur="1000"/>
                                        <p:tgtEl>
                                          <p:spTgt spid="17408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74091"/>
                                        </p:tgtEl>
                                        <p:attrNameLst>
                                          <p:attrName>style.visibility</p:attrName>
                                        </p:attrNameLst>
                                      </p:cBhvr>
                                      <p:to>
                                        <p:strVal val="visible"/>
                                      </p:to>
                                    </p:set>
                                    <p:animEffect transition="in" filter="wipe(left)">
                                      <p:cBhvr>
                                        <p:cTn id="27" dur="1000"/>
                                        <p:tgtEl>
                                          <p:spTgt spid="17409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74092"/>
                                        </p:tgtEl>
                                        <p:attrNameLst>
                                          <p:attrName>style.visibility</p:attrName>
                                        </p:attrNameLst>
                                      </p:cBhvr>
                                      <p:to>
                                        <p:strVal val="visible"/>
                                      </p:to>
                                    </p:set>
                                    <p:animEffect transition="in" filter="wipe(left)">
                                      <p:cBhvr>
                                        <p:cTn id="32" dur="1000"/>
                                        <p:tgtEl>
                                          <p:spTgt spid="17409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4093"/>
                                        </p:tgtEl>
                                        <p:attrNameLst>
                                          <p:attrName>style.visibility</p:attrName>
                                        </p:attrNameLst>
                                      </p:cBhvr>
                                      <p:to>
                                        <p:strVal val="visible"/>
                                      </p:to>
                                    </p:set>
                                    <p:animEffect transition="in" filter="wipe(left)">
                                      <p:cBhvr>
                                        <p:cTn id="37" dur="1000"/>
                                        <p:tgtEl>
                                          <p:spTgt spid="17409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74094"/>
                                        </p:tgtEl>
                                        <p:attrNameLst>
                                          <p:attrName>style.visibility</p:attrName>
                                        </p:attrNameLst>
                                      </p:cBhvr>
                                      <p:to>
                                        <p:strVal val="visible"/>
                                      </p:to>
                                    </p:set>
                                    <p:animEffect transition="in" filter="wipe(left)">
                                      <p:cBhvr>
                                        <p:cTn id="42" dur="1000"/>
                                        <p:tgtEl>
                                          <p:spTgt spid="17409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74086"/>
                                        </p:tgtEl>
                                        <p:attrNameLst>
                                          <p:attrName>style.visibility</p:attrName>
                                        </p:attrNameLst>
                                      </p:cBhvr>
                                      <p:to>
                                        <p:strVal val="visible"/>
                                      </p:to>
                                    </p:set>
                                    <p:animEffect transition="in" filter="wipe(left)">
                                      <p:cBhvr>
                                        <p:cTn id="47" dur="1000"/>
                                        <p:tgtEl>
                                          <p:spTgt spid="17408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74090"/>
                                        </p:tgtEl>
                                        <p:attrNameLst>
                                          <p:attrName>style.visibility</p:attrName>
                                        </p:attrNameLst>
                                      </p:cBhvr>
                                      <p:to>
                                        <p:strVal val="visible"/>
                                      </p:to>
                                    </p:set>
                                    <p:animEffect transition="in" filter="wipe(left)">
                                      <p:cBhvr>
                                        <p:cTn id="52" dur="1000"/>
                                        <p:tgtEl>
                                          <p:spTgt spid="17409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74087"/>
                                        </p:tgtEl>
                                        <p:attrNameLst>
                                          <p:attrName>style.visibility</p:attrName>
                                        </p:attrNameLst>
                                      </p:cBhvr>
                                      <p:to>
                                        <p:strVal val="visible"/>
                                      </p:to>
                                    </p:set>
                                    <p:animEffect transition="in" filter="wipe(left)">
                                      <p:cBhvr>
                                        <p:cTn id="57" dur="1000"/>
                                        <p:tgtEl>
                                          <p:spTgt spid="17408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174095"/>
                                        </p:tgtEl>
                                        <p:attrNameLst>
                                          <p:attrName>style.visibility</p:attrName>
                                        </p:attrNameLst>
                                      </p:cBhvr>
                                      <p:to>
                                        <p:strVal val="visible"/>
                                      </p:to>
                                    </p:set>
                                    <p:animEffect transition="in" filter="wipe(left)">
                                      <p:cBhvr>
                                        <p:cTn id="62" dur="1000"/>
                                        <p:tgtEl>
                                          <p:spTgt spid="17409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174096"/>
                                        </p:tgtEl>
                                        <p:attrNameLst>
                                          <p:attrName>style.visibility</p:attrName>
                                        </p:attrNameLst>
                                      </p:cBhvr>
                                      <p:to>
                                        <p:strVal val="visible"/>
                                      </p:to>
                                    </p:set>
                                    <p:animEffect transition="in" filter="wipe(left)">
                                      <p:cBhvr>
                                        <p:cTn id="67" dur="1000"/>
                                        <p:tgtEl>
                                          <p:spTgt spid="17409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74097"/>
                                        </p:tgtEl>
                                        <p:attrNameLst>
                                          <p:attrName>style.visibility</p:attrName>
                                        </p:attrNameLst>
                                      </p:cBhvr>
                                      <p:to>
                                        <p:strVal val="visible"/>
                                      </p:to>
                                    </p:set>
                                    <p:animEffect transition="in" filter="wipe(left)">
                                      <p:cBhvr>
                                        <p:cTn id="72" dur="1000"/>
                                        <p:tgtEl>
                                          <p:spTgt spid="174097"/>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174098"/>
                                        </p:tgtEl>
                                        <p:attrNameLst>
                                          <p:attrName>style.visibility</p:attrName>
                                        </p:attrNameLst>
                                      </p:cBhvr>
                                      <p:to>
                                        <p:strVal val="visible"/>
                                      </p:to>
                                    </p:set>
                                    <p:animEffect transition="in" filter="wipe(left)">
                                      <p:cBhvr>
                                        <p:cTn id="77" dur="1000"/>
                                        <p:tgtEl>
                                          <p:spTgt spid="174098"/>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74099"/>
                                        </p:tgtEl>
                                        <p:attrNameLst>
                                          <p:attrName>style.visibility</p:attrName>
                                        </p:attrNameLst>
                                      </p:cBhvr>
                                      <p:to>
                                        <p:strVal val="visible"/>
                                      </p:to>
                                    </p:set>
                                    <p:animEffect transition="in" filter="wipe(left)">
                                      <p:cBhvr>
                                        <p:cTn id="82" dur="1000"/>
                                        <p:tgtEl>
                                          <p:spTgt spid="174099"/>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174100"/>
                                        </p:tgtEl>
                                        <p:attrNameLst>
                                          <p:attrName>style.visibility</p:attrName>
                                        </p:attrNameLst>
                                      </p:cBhvr>
                                      <p:to>
                                        <p:strVal val="visible"/>
                                      </p:to>
                                    </p:set>
                                    <p:animEffect transition="in" filter="wipe(left)">
                                      <p:cBhvr>
                                        <p:cTn id="87" dur="1000"/>
                                        <p:tgtEl>
                                          <p:spTgt spid="174100"/>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174101"/>
                                        </p:tgtEl>
                                        <p:attrNameLst>
                                          <p:attrName>style.visibility</p:attrName>
                                        </p:attrNameLst>
                                      </p:cBhvr>
                                      <p:to>
                                        <p:strVal val="visible"/>
                                      </p:to>
                                    </p:set>
                                    <p:animEffect transition="in" filter="wipe(left)">
                                      <p:cBhvr>
                                        <p:cTn id="92" dur="1000"/>
                                        <p:tgtEl>
                                          <p:spTgt spid="174101"/>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2" fill="hold" grpId="0" nodeType="clickEffect">
                                  <p:stCondLst>
                                    <p:cond delay="0"/>
                                  </p:stCondLst>
                                  <p:childTnLst>
                                    <p:set>
                                      <p:cBhvr>
                                        <p:cTn id="96" dur="1" fill="hold">
                                          <p:stCondLst>
                                            <p:cond delay="0"/>
                                          </p:stCondLst>
                                        </p:cTn>
                                        <p:tgtEl>
                                          <p:spTgt spid="174102"/>
                                        </p:tgtEl>
                                        <p:attrNameLst>
                                          <p:attrName>style.visibility</p:attrName>
                                        </p:attrNameLst>
                                      </p:cBhvr>
                                      <p:to>
                                        <p:strVal val="visible"/>
                                      </p:to>
                                    </p:set>
                                    <p:animEffect transition="in" filter="wipe(right)">
                                      <p:cBhvr>
                                        <p:cTn id="97" dur="1000"/>
                                        <p:tgtEl>
                                          <p:spTgt spid="174102"/>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2" fill="hold" nodeType="clickEffect">
                                  <p:stCondLst>
                                    <p:cond delay="0"/>
                                  </p:stCondLst>
                                  <p:childTnLst>
                                    <p:set>
                                      <p:cBhvr>
                                        <p:cTn id="101" dur="1" fill="hold">
                                          <p:stCondLst>
                                            <p:cond delay="0"/>
                                          </p:stCondLst>
                                        </p:cTn>
                                        <p:tgtEl>
                                          <p:spTgt spid="174103"/>
                                        </p:tgtEl>
                                        <p:attrNameLst>
                                          <p:attrName>style.visibility</p:attrName>
                                        </p:attrNameLst>
                                      </p:cBhvr>
                                      <p:to>
                                        <p:strVal val="visible"/>
                                      </p:to>
                                    </p:set>
                                    <p:animEffect transition="in" filter="wipe(right)">
                                      <p:cBhvr>
                                        <p:cTn id="102" dur="1000"/>
                                        <p:tgtEl>
                                          <p:spTgt spid="174103"/>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2" fill="hold" nodeType="clickEffect">
                                  <p:stCondLst>
                                    <p:cond delay="0"/>
                                  </p:stCondLst>
                                  <p:childTnLst>
                                    <p:set>
                                      <p:cBhvr>
                                        <p:cTn id="106" dur="1" fill="hold">
                                          <p:stCondLst>
                                            <p:cond delay="0"/>
                                          </p:stCondLst>
                                        </p:cTn>
                                        <p:tgtEl>
                                          <p:spTgt spid="174104"/>
                                        </p:tgtEl>
                                        <p:attrNameLst>
                                          <p:attrName>style.visibility</p:attrName>
                                        </p:attrNameLst>
                                      </p:cBhvr>
                                      <p:to>
                                        <p:strVal val="visible"/>
                                      </p:to>
                                    </p:set>
                                    <p:animEffect transition="in" filter="wipe(right)">
                                      <p:cBhvr>
                                        <p:cTn id="107" dur="1000"/>
                                        <p:tgtEl>
                                          <p:spTgt spid="174104"/>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174106"/>
                                        </p:tgtEl>
                                        <p:attrNameLst>
                                          <p:attrName>style.visibility</p:attrName>
                                        </p:attrNameLst>
                                      </p:cBhvr>
                                      <p:to>
                                        <p:strVal val="visible"/>
                                      </p:to>
                                    </p:set>
                                    <p:animEffect transition="in" filter="wipe(left)">
                                      <p:cBhvr>
                                        <p:cTn id="112" dur="1000"/>
                                        <p:tgtEl>
                                          <p:spTgt spid="174106"/>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174105"/>
                                        </p:tgtEl>
                                        <p:attrNameLst>
                                          <p:attrName>style.visibility</p:attrName>
                                        </p:attrNameLst>
                                      </p:cBhvr>
                                      <p:to>
                                        <p:strVal val="visible"/>
                                      </p:to>
                                    </p:set>
                                    <p:animEffect transition="in" filter="wipe(left)">
                                      <p:cBhvr>
                                        <p:cTn id="117" dur="1000"/>
                                        <p:tgtEl>
                                          <p:spTgt spid="174105"/>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174107"/>
                                        </p:tgtEl>
                                        <p:attrNameLst>
                                          <p:attrName>style.visibility</p:attrName>
                                        </p:attrNameLst>
                                      </p:cBhvr>
                                      <p:to>
                                        <p:strVal val="visible"/>
                                      </p:to>
                                    </p:set>
                                    <p:animEffect transition="in" filter="wipe(left)">
                                      <p:cBhvr>
                                        <p:cTn id="122" dur="1000"/>
                                        <p:tgtEl>
                                          <p:spTgt spid="174107"/>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174082"/>
                                        </p:tgtEl>
                                        <p:attrNameLst>
                                          <p:attrName>style.visibility</p:attrName>
                                        </p:attrNameLst>
                                      </p:cBhvr>
                                      <p:to>
                                        <p:strVal val="visible"/>
                                      </p:to>
                                    </p:set>
                                    <p:animEffect transition="in" filter="wipe(left)">
                                      <p:cBhvr>
                                        <p:cTn id="127" dur="1000"/>
                                        <p:tgtEl>
                                          <p:spTgt spid="174082"/>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174109"/>
                                        </p:tgtEl>
                                        <p:attrNameLst>
                                          <p:attrName>style.visibility</p:attrName>
                                        </p:attrNameLst>
                                      </p:cBhvr>
                                      <p:to>
                                        <p:strVal val="visible"/>
                                      </p:to>
                                    </p:set>
                                    <p:animEffect transition="in" filter="wipe(left)">
                                      <p:cBhvr>
                                        <p:cTn id="132" dur="1000"/>
                                        <p:tgtEl>
                                          <p:spTgt spid="174109"/>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nodeType="clickEffect">
                                  <p:stCondLst>
                                    <p:cond delay="0"/>
                                  </p:stCondLst>
                                  <p:childTnLst>
                                    <p:set>
                                      <p:cBhvr>
                                        <p:cTn id="136" dur="1" fill="hold">
                                          <p:stCondLst>
                                            <p:cond delay="0"/>
                                          </p:stCondLst>
                                        </p:cTn>
                                        <p:tgtEl>
                                          <p:spTgt spid="174108"/>
                                        </p:tgtEl>
                                        <p:attrNameLst>
                                          <p:attrName>style.visibility</p:attrName>
                                        </p:attrNameLst>
                                      </p:cBhvr>
                                      <p:to>
                                        <p:strVal val="visible"/>
                                      </p:to>
                                    </p:set>
                                    <p:animEffect transition="in" filter="wipe(left)">
                                      <p:cBhvr>
                                        <p:cTn id="137" dur="1000"/>
                                        <p:tgtEl>
                                          <p:spTgt spid="174108"/>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8" fill="hold" nodeType="clickEffect">
                                  <p:stCondLst>
                                    <p:cond delay="0"/>
                                  </p:stCondLst>
                                  <p:childTnLst>
                                    <p:set>
                                      <p:cBhvr>
                                        <p:cTn id="141" dur="1" fill="hold">
                                          <p:stCondLst>
                                            <p:cond delay="0"/>
                                          </p:stCondLst>
                                        </p:cTn>
                                        <p:tgtEl>
                                          <p:spTgt spid="174111"/>
                                        </p:tgtEl>
                                        <p:attrNameLst>
                                          <p:attrName>style.visibility</p:attrName>
                                        </p:attrNameLst>
                                      </p:cBhvr>
                                      <p:to>
                                        <p:strVal val="visible"/>
                                      </p:to>
                                    </p:set>
                                    <p:animEffect transition="in" filter="wipe(left)">
                                      <p:cBhvr>
                                        <p:cTn id="142" dur="1000"/>
                                        <p:tgtEl>
                                          <p:spTgt spid="174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2" grpId="0" animBg="1"/>
      <p:bldP spid="174084" grpId="0"/>
      <p:bldP spid="174085" grpId="0"/>
      <p:bldP spid="174086" grpId="0"/>
      <p:bldP spid="174087" grpId="0"/>
      <p:bldP spid="174088" grpId="0"/>
      <p:bldP spid="174089" grpId="0" animBg="1"/>
      <p:bldP spid="174090" grpId="0" animBg="1"/>
      <p:bldP spid="174093" grpId="0" animBg="1"/>
      <p:bldP spid="174097" grpId="0" animBg="1"/>
      <p:bldP spid="174099" grpId="0" animBg="1"/>
      <p:bldP spid="174102" grpId="0" animBg="1"/>
      <p:bldP spid="174106" grpId="0"/>
      <p:bldP spid="174107" grpId="0"/>
      <p:bldP spid="17410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Text Box 2"/>
          <p:cNvSpPr txBox="1">
            <a:spLocks noChangeArrowheads="1"/>
          </p:cNvSpPr>
          <p:nvPr/>
        </p:nvSpPr>
        <p:spPr bwMode="auto">
          <a:xfrm>
            <a:off x="647700" y="2438400"/>
            <a:ext cx="7704138" cy="933450"/>
          </a:xfrm>
          <a:prstGeom prst="rect">
            <a:avLst/>
          </a:prstGeom>
          <a:noFill/>
          <a:ln w="9525">
            <a:noFill/>
            <a:miter lim="800000"/>
            <a:headEnd/>
            <a:tailEnd/>
          </a:ln>
        </p:spPr>
        <p:txBody>
          <a:bodyPr>
            <a:spAutoFit/>
          </a:bodyPr>
          <a:lstStyle/>
          <a:p>
            <a:pPr algn="l">
              <a:lnSpc>
                <a:spcPct val="115000"/>
              </a:lnSpc>
            </a:pPr>
            <a:r>
              <a:rPr lang="zh-CN" altLang="en-US" b="1">
                <a:solidFill>
                  <a:schemeClr val="bg1"/>
                </a:solidFill>
              </a:rPr>
              <a:t>沿棒长度方向相对棒运动的观测者测得的尺长</a:t>
            </a:r>
            <a:r>
              <a:rPr lang="en-US" altLang="zh-CN" b="1">
                <a:solidFill>
                  <a:srgbClr val="FF6600"/>
                </a:solidFill>
              </a:rPr>
              <a:t> </a:t>
            </a:r>
            <a:r>
              <a:rPr lang="en-US" altLang="zh-CN" b="1" i="1">
                <a:solidFill>
                  <a:srgbClr val="FF6600"/>
                </a:solidFill>
              </a:rPr>
              <a:t>l </a:t>
            </a:r>
            <a:r>
              <a:rPr lang="zh-CN" altLang="en-US" b="1">
                <a:solidFill>
                  <a:schemeClr val="bg1"/>
                </a:solidFill>
              </a:rPr>
              <a:t>，较相对棒静止观测者测得的同一棒的原长</a:t>
            </a:r>
            <a:r>
              <a:rPr lang="en-US" altLang="zh-CN" b="1">
                <a:solidFill>
                  <a:schemeClr val="bg1"/>
                </a:solidFill>
              </a:rPr>
              <a:t> </a:t>
            </a:r>
            <a:r>
              <a:rPr lang="en-US" altLang="zh-CN" b="1" i="1">
                <a:solidFill>
                  <a:srgbClr val="FF6600"/>
                </a:solidFill>
              </a:rPr>
              <a:t>l</a:t>
            </a:r>
            <a:r>
              <a:rPr lang="en-US" altLang="zh-CN" b="1" baseline="-25000">
                <a:solidFill>
                  <a:srgbClr val="FF6600"/>
                </a:solidFill>
              </a:rPr>
              <a:t>0</a:t>
            </a:r>
            <a:r>
              <a:rPr lang="en-US" altLang="zh-CN" b="1" baseline="-25000">
                <a:solidFill>
                  <a:srgbClr val="66FFFF"/>
                </a:solidFill>
              </a:rPr>
              <a:t>  </a:t>
            </a:r>
            <a:r>
              <a:rPr lang="zh-CN" altLang="en-US" b="1">
                <a:solidFill>
                  <a:schemeClr val="bg1"/>
                </a:solidFill>
              </a:rPr>
              <a:t>要短。</a:t>
            </a:r>
          </a:p>
        </p:txBody>
      </p:sp>
      <p:sp>
        <p:nvSpPr>
          <p:cNvPr id="175107" name="Text Box 3"/>
          <p:cNvSpPr txBox="1">
            <a:spLocks noChangeArrowheads="1"/>
          </p:cNvSpPr>
          <p:nvPr/>
        </p:nvSpPr>
        <p:spPr bwMode="auto">
          <a:xfrm>
            <a:off x="250825" y="1790700"/>
            <a:ext cx="3095625" cy="479425"/>
          </a:xfrm>
          <a:prstGeom prst="rect">
            <a:avLst/>
          </a:prstGeom>
          <a:noFill/>
          <a:ln w="9525">
            <a:noFill/>
            <a:miter lim="800000"/>
            <a:headEnd/>
            <a:tailEnd/>
          </a:ln>
        </p:spPr>
        <p:txBody>
          <a:bodyPr>
            <a:spAutoFit/>
          </a:bodyPr>
          <a:lstStyle/>
          <a:p>
            <a:pPr algn="l" defTabSz="762000">
              <a:lnSpc>
                <a:spcPct val="115000"/>
              </a:lnSpc>
            </a:pPr>
            <a:r>
              <a:rPr lang="en-US" altLang="zh-CN" b="1">
                <a:solidFill>
                  <a:schemeClr val="bg1"/>
                </a:solidFill>
              </a:rPr>
              <a:t>(2) </a:t>
            </a:r>
            <a:r>
              <a:rPr lang="zh-CN" altLang="en-US" b="1">
                <a:solidFill>
                  <a:srgbClr val="FF6600"/>
                </a:solidFill>
              </a:rPr>
              <a:t>长度缩短效应</a:t>
            </a:r>
          </a:p>
        </p:txBody>
      </p:sp>
      <p:sp>
        <p:nvSpPr>
          <p:cNvPr id="175108" name="Text Box 4"/>
          <p:cNvSpPr txBox="1">
            <a:spLocks noChangeArrowheads="1"/>
          </p:cNvSpPr>
          <p:nvPr/>
        </p:nvSpPr>
        <p:spPr bwMode="auto">
          <a:xfrm>
            <a:off x="379413" y="4149725"/>
            <a:ext cx="5183187" cy="479425"/>
          </a:xfrm>
          <a:prstGeom prst="rect">
            <a:avLst/>
          </a:prstGeom>
          <a:noFill/>
          <a:ln w="9525">
            <a:noFill/>
            <a:miter lim="800000"/>
            <a:headEnd/>
            <a:tailEnd/>
          </a:ln>
        </p:spPr>
        <p:txBody>
          <a:bodyPr>
            <a:spAutoFit/>
          </a:bodyPr>
          <a:lstStyle/>
          <a:p>
            <a:pPr algn="l">
              <a:lnSpc>
                <a:spcPct val="115000"/>
              </a:lnSpc>
              <a:buClr>
                <a:srgbClr val="FF6600"/>
              </a:buClr>
              <a:buFont typeface="Wingdings" pitchFamily="2" charset="2"/>
              <a:buNone/>
            </a:pPr>
            <a:r>
              <a:rPr lang="en-US" altLang="zh-CN" b="1">
                <a:solidFill>
                  <a:schemeClr val="bg1"/>
                </a:solidFill>
              </a:rPr>
              <a:t>(3) </a:t>
            </a:r>
            <a:r>
              <a:rPr lang="zh-CN" altLang="en-US" b="1">
                <a:solidFill>
                  <a:schemeClr val="bg1"/>
                </a:solidFill>
              </a:rPr>
              <a:t>长度收缩效应是</a:t>
            </a:r>
            <a:r>
              <a:rPr lang="zh-CN" altLang="en-US" b="1">
                <a:solidFill>
                  <a:srgbClr val="FF6600"/>
                </a:solidFill>
              </a:rPr>
              <a:t>相对的</a:t>
            </a:r>
            <a:r>
              <a:rPr lang="zh-CN" altLang="en-US" b="1">
                <a:solidFill>
                  <a:schemeClr val="bg1"/>
                </a:solidFill>
              </a:rPr>
              <a:t>。</a:t>
            </a:r>
          </a:p>
        </p:txBody>
      </p:sp>
      <p:sp>
        <p:nvSpPr>
          <p:cNvPr id="175109" name="Text Box 5"/>
          <p:cNvSpPr txBox="1">
            <a:spLocks noChangeArrowheads="1"/>
          </p:cNvSpPr>
          <p:nvPr/>
        </p:nvSpPr>
        <p:spPr bwMode="auto">
          <a:xfrm>
            <a:off x="495300" y="3429000"/>
            <a:ext cx="7451725" cy="479425"/>
          </a:xfrm>
          <a:prstGeom prst="rect">
            <a:avLst/>
          </a:prstGeom>
          <a:noFill/>
          <a:ln w="9525">
            <a:noFill/>
            <a:miter lim="800000"/>
            <a:headEnd/>
            <a:tailEnd/>
          </a:ln>
        </p:spPr>
        <p:txBody>
          <a:bodyPr>
            <a:spAutoFit/>
          </a:bodyPr>
          <a:lstStyle/>
          <a:p>
            <a:pPr algn="l">
              <a:lnSpc>
                <a:spcPct val="115000"/>
              </a:lnSpc>
              <a:buClr>
                <a:srgbClr val="009900"/>
              </a:buClr>
              <a:buSzPct val="130000"/>
              <a:buFontTx/>
              <a:buChar char="•"/>
            </a:pPr>
            <a:r>
              <a:rPr lang="en-US" altLang="zh-CN" b="1">
                <a:solidFill>
                  <a:schemeClr val="bg1"/>
                </a:solidFill>
              </a:rPr>
              <a:t> </a:t>
            </a:r>
            <a:r>
              <a:rPr lang="zh-CN" altLang="en-US" b="1">
                <a:solidFill>
                  <a:schemeClr val="bg1"/>
                </a:solidFill>
              </a:rPr>
              <a:t>在不同惯性系中测量同一棒长，以原长为</a:t>
            </a:r>
            <a:r>
              <a:rPr lang="zh-CN" altLang="en-US" b="1">
                <a:solidFill>
                  <a:srgbClr val="FF6600"/>
                </a:solidFill>
              </a:rPr>
              <a:t>最长</a:t>
            </a:r>
            <a:r>
              <a:rPr lang="zh-CN" altLang="en-US" b="1"/>
              <a:t>。</a:t>
            </a:r>
          </a:p>
        </p:txBody>
      </p:sp>
      <p:sp>
        <p:nvSpPr>
          <p:cNvPr id="175110" name="Text Box 6"/>
          <p:cNvSpPr txBox="1">
            <a:spLocks noChangeArrowheads="1"/>
          </p:cNvSpPr>
          <p:nvPr/>
        </p:nvSpPr>
        <p:spPr bwMode="auto">
          <a:xfrm>
            <a:off x="341313" y="4806950"/>
            <a:ext cx="6975475" cy="479425"/>
          </a:xfrm>
          <a:prstGeom prst="rect">
            <a:avLst/>
          </a:prstGeom>
          <a:noFill/>
          <a:ln w="9525">
            <a:noFill/>
            <a:miter lim="800000"/>
            <a:headEnd/>
            <a:tailEnd/>
          </a:ln>
        </p:spPr>
        <p:txBody>
          <a:bodyPr>
            <a:spAutoFit/>
          </a:bodyPr>
          <a:lstStyle/>
          <a:p>
            <a:pPr marL="442913" indent="-442913" algn="l">
              <a:lnSpc>
                <a:spcPct val="115000"/>
              </a:lnSpc>
            </a:pPr>
            <a:r>
              <a:rPr lang="en-US" altLang="zh-CN" b="1">
                <a:solidFill>
                  <a:schemeClr val="bg1"/>
                </a:solidFill>
                <a:sym typeface="Monotype Sorts" pitchFamily="2" charset="2"/>
              </a:rPr>
              <a:t>(4) </a:t>
            </a:r>
            <a:r>
              <a:rPr lang="zh-CN" altLang="en-US" b="1">
                <a:solidFill>
                  <a:schemeClr val="bg1"/>
                </a:solidFill>
              </a:rPr>
              <a:t>长度收缩效应显著与否决定于</a:t>
            </a:r>
            <a:r>
              <a:rPr lang="en-US" altLang="zh-CN" b="1">
                <a:solidFill>
                  <a:schemeClr val="bg1"/>
                </a:solidFill>
              </a:rPr>
              <a:t>                </a:t>
            </a:r>
            <a:r>
              <a:rPr lang="en-US" altLang="zh-CN">
                <a:solidFill>
                  <a:srgbClr val="FFFF00"/>
                </a:solidFill>
              </a:rPr>
              <a:t> </a:t>
            </a:r>
            <a:r>
              <a:rPr lang="zh-CN" altLang="en-US" b="1">
                <a:solidFill>
                  <a:schemeClr val="bg1"/>
                </a:solidFill>
              </a:rPr>
              <a:t>因子。</a:t>
            </a:r>
            <a:r>
              <a:rPr lang="en-US" altLang="zh-CN" b="1">
                <a:solidFill>
                  <a:schemeClr val="bg1"/>
                </a:solidFill>
              </a:rPr>
              <a:t>  </a:t>
            </a:r>
          </a:p>
        </p:txBody>
      </p:sp>
      <p:sp>
        <p:nvSpPr>
          <p:cNvPr id="175111" name="Text Box 7"/>
          <p:cNvSpPr txBox="1">
            <a:spLocks noChangeArrowheads="1"/>
          </p:cNvSpPr>
          <p:nvPr/>
        </p:nvSpPr>
        <p:spPr bwMode="auto">
          <a:xfrm>
            <a:off x="360363" y="5454650"/>
            <a:ext cx="7272337" cy="479425"/>
          </a:xfrm>
          <a:prstGeom prst="rect">
            <a:avLst/>
          </a:prstGeom>
          <a:noFill/>
          <a:ln w="9525">
            <a:noFill/>
            <a:miter lim="800000"/>
            <a:headEnd/>
            <a:tailEnd/>
          </a:ln>
        </p:spPr>
        <p:txBody>
          <a:bodyPr>
            <a:spAutoFit/>
          </a:bodyPr>
          <a:lstStyle/>
          <a:p>
            <a:pPr marL="442913" indent="-442913" algn="l">
              <a:lnSpc>
                <a:spcPct val="115000"/>
              </a:lnSpc>
            </a:pPr>
            <a:r>
              <a:rPr lang="en-US" altLang="zh-CN" b="1">
                <a:solidFill>
                  <a:schemeClr val="bg1"/>
                </a:solidFill>
                <a:sym typeface="Monotype Sorts" pitchFamily="2" charset="2"/>
              </a:rPr>
              <a:t>(5) </a:t>
            </a:r>
            <a:r>
              <a:rPr lang="zh-CN" altLang="en-US" b="1">
                <a:solidFill>
                  <a:schemeClr val="bg1"/>
                </a:solidFill>
              </a:rPr>
              <a:t>长度收缩效应是</a:t>
            </a:r>
            <a:r>
              <a:rPr lang="zh-CN" altLang="en-US" b="1">
                <a:solidFill>
                  <a:srgbClr val="FF6600"/>
                </a:solidFill>
              </a:rPr>
              <a:t>同时性相对性</a:t>
            </a:r>
            <a:r>
              <a:rPr lang="zh-CN" altLang="en-US" b="1">
                <a:solidFill>
                  <a:schemeClr val="bg1"/>
                </a:solidFill>
              </a:rPr>
              <a:t>的直接结果。</a:t>
            </a:r>
          </a:p>
        </p:txBody>
      </p:sp>
      <p:sp>
        <p:nvSpPr>
          <p:cNvPr id="175112" name="Text Box 8"/>
          <p:cNvSpPr txBox="1">
            <a:spLocks noChangeArrowheads="1"/>
          </p:cNvSpPr>
          <p:nvPr/>
        </p:nvSpPr>
        <p:spPr bwMode="auto">
          <a:xfrm>
            <a:off x="206375" y="1206500"/>
            <a:ext cx="2797175" cy="479425"/>
          </a:xfrm>
          <a:prstGeom prst="rect">
            <a:avLst/>
          </a:prstGeom>
          <a:noFill/>
          <a:ln w="9525">
            <a:noFill/>
            <a:miter lim="800000"/>
            <a:headEnd/>
            <a:tailEnd/>
          </a:ln>
        </p:spPr>
        <p:txBody>
          <a:bodyPr>
            <a:spAutoFit/>
          </a:bodyPr>
          <a:lstStyle/>
          <a:p>
            <a:pPr algn="l">
              <a:lnSpc>
                <a:spcPct val="115000"/>
              </a:lnSpc>
            </a:pPr>
            <a:r>
              <a:rPr lang="en-US" altLang="zh-CN" b="1">
                <a:solidFill>
                  <a:schemeClr val="bg1"/>
                </a:solidFill>
              </a:rPr>
              <a:t>(1) </a:t>
            </a:r>
            <a:r>
              <a:rPr lang="zh-CN" altLang="en-US" b="1">
                <a:solidFill>
                  <a:schemeClr val="bg1"/>
                </a:solidFill>
              </a:rPr>
              <a:t>当</a:t>
            </a:r>
            <a:r>
              <a:rPr lang="en-US" altLang="zh-CN" b="1">
                <a:solidFill>
                  <a:schemeClr val="bg1"/>
                </a:solidFill>
              </a:rPr>
              <a:t> </a:t>
            </a:r>
            <a:r>
              <a:rPr lang="en-US" altLang="zh-CN" b="1" i="1">
                <a:solidFill>
                  <a:srgbClr val="FF6600"/>
                </a:solidFill>
              </a:rPr>
              <a:t>u </a:t>
            </a:r>
            <a:r>
              <a:rPr lang="en-US" altLang="zh-CN" b="1">
                <a:solidFill>
                  <a:srgbClr val="FF6600"/>
                </a:solidFill>
              </a:rPr>
              <a:t>&lt;&lt; </a:t>
            </a:r>
            <a:r>
              <a:rPr lang="en-US" altLang="zh-CN" b="1" i="1">
                <a:solidFill>
                  <a:srgbClr val="FF6600"/>
                </a:solidFill>
              </a:rPr>
              <a:t>c</a:t>
            </a:r>
            <a:r>
              <a:rPr lang="en-US" altLang="zh-CN" b="1" i="1">
                <a:solidFill>
                  <a:srgbClr val="66FFFF"/>
                </a:solidFill>
              </a:rPr>
              <a:t> </a:t>
            </a:r>
            <a:r>
              <a:rPr lang="zh-CN" altLang="en-US" b="1">
                <a:solidFill>
                  <a:schemeClr val="bg1"/>
                </a:solidFill>
              </a:rPr>
              <a:t>时，</a:t>
            </a:r>
            <a:endParaRPr lang="zh-CN" altLang="en-US" b="1" baseline="-25000">
              <a:solidFill>
                <a:schemeClr val="bg1"/>
              </a:solidFill>
            </a:endParaRPr>
          </a:p>
        </p:txBody>
      </p:sp>
      <p:graphicFrame>
        <p:nvGraphicFramePr>
          <p:cNvPr id="175113" name="Object 9"/>
          <p:cNvGraphicFramePr>
            <a:graphicFrameLocks noChangeAspect="1"/>
          </p:cNvGraphicFramePr>
          <p:nvPr/>
        </p:nvGraphicFramePr>
        <p:xfrm>
          <a:off x="3052763" y="1258888"/>
          <a:ext cx="765175" cy="411162"/>
        </p:xfrm>
        <a:graphic>
          <a:graphicData uri="http://schemas.openxmlformats.org/presentationml/2006/ole">
            <p:oleObj spid="_x0000_s10242" name="Equation" r:id="rId3" imgW="419100" imgH="228600" progId="">
              <p:embed/>
            </p:oleObj>
          </a:graphicData>
        </a:graphic>
      </p:graphicFrame>
      <p:sp>
        <p:nvSpPr>
          <p:cNvPr id="175114" name="Text Box 10"/>
          <p:cNvSpPr txBox="1">
            <a:spLocks noChangeArrowheads="1"/>
          </p:cNvSpPr>
          <p:nvPr/>
        </p:nvSpPr>
        <p:spPr bwMode="auto">
          <a:xfrm>
            <a:off x="296863" y="503238"/>
            <a:ext cx="1304925" cy="479425"/>
          </a:xfrm>
          <a:prstGeom prst="rect">
            <a:avLst/>
          </a:prstGeom>
          <a:noFill/>
          <a:ln w="9525">
            <a:noFill/>
            <a:miter lim="800000"/>
            <a:headEnd/>
            <a:tailEnd/>
          </a:ln>
        </p:spPr>
        <p:txBody>
          <a:bodyPr>
            <a:spAutoFit/>
          </a:bodyPr>
          <a:lstStyle/>
          <a:p>
            <a:pPr algn="l">
              <a:lnSpc>
                <a:spcPct val="115000"/>
              </a:lnSpc>
            </a:pPr>
            <a:r>
              <a:rPr lang="zh-CN" altLang="en-US" b="1">
                <a:solidFill>
                  <a:schemeClr val="hlink"/>
                </a:solidFill>
              </a:rPr>
              <a:t>讨论：</a:t>
            </a:r>
          </a:p>
        </p:txBody>
      </p:sp>
      <p:graphicFrame>
        <p:nvGraphicFramePr>
          <p:cNvPr id="10243" name="Object 11"/>
          <p:cNvGraphicFramePr>
            <a:graphicFrameLocks noChangeAspect="1"/>
          </p:cNvGraphicFramePr>
          <p:nvPr/>
        </p:nvGraphicFramePr>
        <p:xfrm>
          <a:off x="2794000" y="495300"/>
          <a:ext cx="2565400" cy="647700"/>
        </p:xfrm>
        <a:graphic>
          <a:graphicData uri="http://schemas.openxmlformats.org/presentationml/2006/ole">
            <p:oleObj spid="_x0000_s10243" name="Equation" r:id="rId4" imgW="1205977" imgH="304668" progId="">
              <p:embed/>
            </p:oleObj>
          </a:graphicData>
        </a:graphic>
      </p:graphicFrame>
      <p:graphicFrame>
        <p:nvGraphicFramePr>
          <p:cNvPr id="175116" name="Object 12"/>
          <p:cNvGraphicFramePr>
            <a:graphicFrameLocks noChangeAspect="1"/>
          </p:cNvGraphicFramePr>
          <p:nvPr/>
        </p:nvGraphicFramePr>
        <p:xfrm>
          <a:off x="4932363" y="4598988"/>
          <a:ext cx="1125537" cy="838200"/>
        </p:xfrm>
        <a:graphic>
          <a:graphicData uri="http://schemas.openxmlformats.org/presentationml/2006/ole">
            <p:oleObj spid="_x0000_s10244" name="Equation" r:id="rId5" imgW="1180588" imgH="571252" progId="">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7511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75112"/>
                                        </p:tgtEl>
                                        <p:attrNameLst>
                                          <p:attrName>style.visibility</p:attrName>
                                        </p:attrNameLst>
                                      </p:cBhvr>
                                      <p:to>
                                        <p:strVal val="visible"/>
                                      </p:to>
                                    </p:set>
                                    <p:animEffect transition="in" filter="wipe(left)">
                                      <p:cBhvr>
                                        <p:cTn id="11" dur="500"/>
                                        <p:tgtEl>
                                          <p:spTgt spid="17511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75113"/>
                                        </p:tgtEl>
                                        <p:attrNameLst>
                                          <p:attrName>style.visibility</p:attrName>
                                        </p:attrNameLst>
                                      </p:cBhvr>
                                      <p:to>
                                        <p:strVal val="visible"/>
                                      </p:to>
                                    </p:set>
                                    <p:animEffect transition="in" filter="wipe(left)">
                                      <p:cBhvr>
                                        <p:cTn id="16" dur="500"/>
                                        <p:tgtEl>
                                          <p:spTgt spid="17511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iterate type="wd">
                                    <p:tmPct val="100000"/>
                                  </p:iterate>
                                  <p:childTnLst>
                                    <p:set>
                                      <p:cBhvr>
                                        <p:cTn id="20" dur="1" fill="hold">
                                          <p:stCondLst>
                                            <p:cond delay="0"/>
                                          </p:stCondLst>
                                        </p:cTn>
                                        <p:tgtEl>
                                          <p:spTgt spid="175107"/>
                                        </p:tgtEl>
                                        <p:attrNameLst>
                                          <p:attrName>style.visibility</p:attrName>
                                        </p:attrNameLst>
                                      </p:cBhvr>
                                      <p:to>
                                        <p:strVal val="visible"/>
                                      </p:to>
                                    </p:set>
                                    <p:animEffect transition="in" filter="wipe(left)">
                                      <p:cBhvr>
                                        <p:cTn id="21" dur="100"/>
                                        <p:tgtEl>
                                          <p:spTgt spid="17510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75106"/>
                                        </p:tgtEl>
                                        <p:attrNameLst>
                                          <p:attrName>style.visibility</p:attrName>
                                        </p:attrNameLst>
                                      </p:cBhvr>
                                      <p:to>
                                        <p:strVal val="visible"/>
                                      </p:to>
                                    </p:set>
                                    <p:animEffect transition="in" filter="wipe(left)">
                                      <p:cBhvr>
                                        <p:cTn id="26" dur="100"/>
                                        <p:tgtEl>
                                          <p:spTgt spid="17510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75109"/>
                                        </p:tgtEl>
                                        <p:attrNameLst>
                                          <p:attrName>style.visibility</p:attrName>
                                        </p:attrNameLst>
                                      </p:cBhvr>
                                      <p:to>
                                        <p:strVal val="visible"/>
                                      </p:to>
                                    </p:set>
                                    <p:animEffect transition="in" filter="wipe(left)">
                                      <p:cBhvr>
                                        <p:cTn id="31" dur="500"/>
                                        <p:tgtEl>
                                          <p:spTgt spid="17510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75108"/>
                                        </p:tgtEl>
                                        <p:attrNameLst>
                                          <p:attrName>style.visibility</p:attrName>
                                        </p:attrNameLst>
                                      </p:cBhvr>
                                      <p:to>
                                        <p:strVal val="visible"/>
                                      </p:to>
                                    </p:set>
                                    <p:animEffect transition="in" filter="wipe(left)">
                                      <p:cBhvr>
                                        <p:cTn id="36" dur="500"/>
                                        <p:tgtEl>
                                          <p:spTgt spid="17510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75110"/>
                                        </p:tgtEl>
                                        <p:attrNameLst>
                                          <p:attrName>style.visibility</p:attrName>
                                        </p:attrNameLst>
                                      </p:cBhvr>
                                      <p:to>
                                        <p:strVal val="visible"/>
                                      </p:to>
                                    </p:set>
                                    <p:animEffect transition="in" filter="wipe(left)">
                                      <p:cBhvr>
                                        <p:cTn id="41" dur="500"/>
                                        <p:tgtEl>
                                          <p:spTgt spid="175110"/>
                                        </p:tgtEl>
                                      </p:cBhvr>
                                    </p:animEffect>
                                  </p:childTnLst>
                                </p:cTn>
                              </p:par>
                            </p:childTnLst>
                          </p:cTn>
                        </p:par>
                        <p:par>
                          <p:cTn id="42" fill="hold" nodeType="afterGroup">
                            <p:stCondLst>
                              <p:cond delay="500"/>
                            </p:stCondLst>
                            <p:childTnLst>
                              <p:par>
                                <p:cTn id="43" presetID="1" presetClass="entr" presetSubtype="0" fill="hold" nodeType="afterEffect">
                                  <p:stCondLst>
                                    <p:cond delay="0"/>
                                  </p:stCondLst>
                                  <p:childTnLst>
                                    <p:set>
                                      <p:cBhvr>
                                        <p:cTn id="44" dur="1" fill="hold">
                                          <p:stCondLst>
                                            <p:cond delay="0"/>
                                          </p:stCondLst>
                                        </p:cTn>
                                        <p:tgtEl>
                                          <p:spTgt spid="175116"/>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75111"/>
                                        </p:tgtEl>
                                        <p:attrNameLst>
                                          <p:attrName>style.visibility</p:attrName>
                                        </p:attrNameLst>
                                      </p:cBhvr>
                                      <p:to>
                                        <p:strVal val="visible"/>
                                      </p:to>
                                    </p:set>
                                    <p:animEffect transition="in" filter="wipe(left)">
                                      <p:cBhvr>
                                        <p:cTn id="49" dur="500"/>
                                        <p:tgtEl>
                                          <p:spTgt spid="175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6" grpId="0" autoUpdateAnimBg="0"/>
      <p:bldP spid="175107" grpId="0"/>
      <p:bldP spid="175108" grpId="0" autoUpdateAnimBg="0"/>
      <p:bldP spid="175109" grpId="0"/>
      <p:bldP spid="175110" grpId="0"/>
      <p:bldP spid="175111" grpId="0"/>
      <p:bldP spid="175112" grpId="0" autoUpdateAnimBg="0"/>
      <p:bldP spid="175114"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Text Box 2"/>
          <p:cNvSpPr txBox="1">
            <a:spLocks noChangeArrowheads="1"/>
          </p:cNvSpPr>
          <p:nvPr/>
        </p:nvSpPr>
        <p:spPr bwMode="auto">
          <a:xfrm>
            <a:off x="296863" y="414338"/>
            <a:ext cx="8686800" cy="830262"/>
          </a:xfrm>
          <a:prstGeom prst="rect">
            <a:avLst/>
          </a:prstGeom>
          <a:noFill/>
          <a:ln w="9525">
            <a:noFill/>
            <a:miter lim="800000"/>
            <a:headEnd type="none" w="sm" len="sm"/>
            <a:tailEnd type="none" w="sm" len="sm"/>
          </a:ln>
        </p:spPr>
        <p:txBody>
          <a:bodyPr>
            <a:spAutoFit/>
          </a:bodyPr>
          <a:lstStyle/>
          <a:p>
            <a:pPr algn="l" defTabSz="762000" eaLnBrk="0" hangingPunct="0">
              <a:spcBef>
                <a:spcPct val="50000"/>
              </a:spcBef>
            </a:pPr>
            <a:r>
              <a:rPr lang="zh-CN" altLang="en-US" b="1">
                <a:solidFill>
                  <a:schemeClr val="tx2"/>
                </a:solidFill>
              </a:rPr>
              <a:t>例</a:t>
            </a:r>
            <a:r>
              <a:rPr lang="en-US" altLang="zh-CN" b="1">
                <a:solidFill>
                  <a:schemeClr val="tx2"/>
                </a:solidFill>
              </a:rPr>
              <a:t>1</a:t>
            </a:r>
            <a:r>
              <a:rPr lang="en-US" altLang="zh-CN" b="1"/>
              <a:t> </a:t>
            </a:r>
            <a:r>
              <a:rPr lang="zh-CN" altLang="en-US" b="1"/>
              <a:t>一飞船以</a:t>
            </a:r>
            <a:r>
              <a:rPr lang="en-US" altLang="zh-CN" b="1">
                <a:solidFill>
                  <a:schemeClr val="accent2"/>
                </a:solidFill>
              </a:rPr>
              <a:t>3×10</a:t>
            </a:r>
            <a:r>
              <a:rPr lang="en-US" altLang="zh-CN" b="1" baseline="30000">
                <a:solidFill>
                  <a:schemeClr val="accent2"/>
                </a:solidFill>
              </a:rPr>
              <a:t>3</a:t>
            </a:r>
            <a:r>
              <a:rPr lang="en-US" altLang="zh-CN" b="1">
                <a:solidFill>
                  <a:schemeClr val="accent2"/>
                </a:solidFill>
              </a:rPr>
              <a:t>m/s</a:t>
            </a:r>
            <a:r>
              <a:rPr lang="zh-CN" altLang="en-US" b="1"/>
              <a:t>的速率相对与地面匀速飞行。飞船上的钟走了</a:t>
            </a:r>
            <a:r>
              <a:rPr lang="en-US" altLang="zh-CN" b="1">
                <a:solidFill>
                  <a:schemeClr val="accent2"/>
                </a:solidFill>
              </a:rPr>
              <a:t>10 s</a:t>
            </a:r>
            <a:r>
              <a:rPr lang="zh-CN" altLang="en-US" b="1"/>
              <a:t>，地面上的钟经过了多少时间？</a:t>
            </a:r>
          </a:p>
        </p:txBody>
      </p:sp>
      <p:sp>
        <p:nvSpPr>
          <p:cNvPr id="176131" name="Text Box 3"/>
          <p:cNvSpPr txBox="1">
            <a:spLocks noChangeArrowheads="1"/>
          </p:cNvSpPr>
          <p:nvPr/>
        </p:nvSpPr>
        <p:spPr bwMode="auto">
          <a:xfrm>
            <a:off x="296863" y="1358900"/>
            <a:ext cx="944562" cy="461963"/>
          </a:xfrm>
          <a:prstGeom prst="rect">
            <a:avLst/>
          </a:prstGeom>
          <a:noFill/>
          <a:ln w="9525">
            <a:noFill/>
            <a:miter lim="800000"/>
            <a:headEnd type="none" w="sm" len="sm"/>
            <a:tailEnd type="none" w="sm" len="sm"/>
          </a:ln>
        </p:spPr>
        <p:txBody>
          <a:bodyPr>
            <a:spAutoFit/>
          </a:bodyPr>
          <a:lstStyle/>
          <a:p>
            <a:pPr algn="l" defTabSz="762000" eaLnBrk="0" hangingPunct="0">
              <a:spcBef>
                <a:spcPct val="50000"/>
              </a:spcBef>
            </a:pPr>
            <a:r>
              <a:rPr lang="zh-CN" altLang="en-US" b="1">
                <a:solidFill>
                  <a:schemeClr val="tx2"/>
                </a:solidFill>
              </a:rPr>
              <a:t>解</a:t>
            </a:r>
            <a:r>
              <a:rPr lang="zh-CN" altLang="en-US" b="1"/>
              <a:t>：</a:t>
            </a:r>
          </a:p>
        </p:txBody>
      </p:sp>
      <p:pic>
        <p:nvPicPr>
          <p:cNvPr id="176132" name="Picture 4"/>
          <p:cNvPicPr>
            <a:picLocks noChangeAspect="1" noChangeArrowheads="1"/>
          </p:cNvPicPr>
          <p:nvPr/>
        </p:nvPicPr>
        <p:blipFill>
          <a:blip r:embed="rId3"/>
          <a:srcRect/>
          <a:stretch>
            <a:fillRect/>
          </a:stretch>
        </p:blipFill>
        <p:spPr bwMode="auto">
          <a:xfrm>
            <a:off x="1016000" y="1403350"/>
            <a:ext cx="1828800" cy="495300"/>
          </a:xfrm>
          <a:prstGeom prst="rect">
            <a:avLst/>
          </a:prstGeom>
          <a:noFill/>
          <a:ln w="9525">
            <a:noFill/>
            <a:miter lim="800000"/>
            <a:headEnd/>
            <a:tailEnd/>
          </a:ln>
        </p:spPr>
      </p:pic>
      <p:pic>
        <p:nvPicPr>
          <p:cNvPr id="176133" name="Picture 5"/>
          <p:cNvPicPr>
            <a:picLocks noChangeAspect="1" noChangeArrowheads="1"/>
          </p:cNvPicPr>
          <p:nvPr/>
        </p:nvPicPr>
        <p:blipFill>
          <a:blip r:embed="rId4"/>
          <a:srcRect/>
          <a:stretch>
            <a:fillRect/>
          </a:stretch>
        </p:blipFill>
        <p:spPr bwMode="auto">
          <a:xfrm>
            <a:off x="3222625" y="1943100"/>
            <a:ext cx="5732463" cy="1262063"/>
          </a:xfrm>
          <a:prstGeom prst="rect">
            <a:avLst/>
          </a:prstGeom>
          <a:noFill/>
          <a:ln w="9525">
            <a:noFill/>
            <a:miter lim="800000"/>
            <a:headEnd/>
            <a:tailEnd/>
          </a:ln>
        </p:spPr>
      </p:pic>
      <p:sp>
        <p:nvSpPr>
          <p:cNvPr id="176134" name="Text Box 6"/>
          <p:cNvSpPr txBox="1">
            <a:spLocks noChangeArrowheads="1"/>
          </p:cNvSpPr>
          <p:nvPr/>
        </p:nvSpPr>
        <p:spPr bwMode="auto">
          <a:xfrm>
            <a:off x="3505200" y="3294063"/>
            <a:ext cx="5443538" cy="461962"/>
          </a:xfrm>
          <a:prstGeom prst="rect">
            <a:avLst/>
          </a:prstGeom>
          <a:noFill/>
          <a:ln w="9525">
            <a:solidFill>
              <a:srgbClr val="FF0000"/>
            </a:solidFill>
            <a:miter lim="800000"/>
            <a:headEnd type="none" w="sm" len="sm"/>
            <a:tailEnd type="none" w="sm" len="sm"/>
          </a:ln>
        </p:spPr>
        <p:txBody>
          <a:bodyPr>
            <a:spAutoFit/>
          </a:bodyPr>
          <a:lstStyle/>
          <a:p>
            <a:pPr algn="l" defTabSz="762000" eaLnBrk="0" hangingPunct="0">
              <a:spcBef>
                <a:spcPct val="50000"/>
              </a:spcBef>
            </a:pPr>
            <a:r>
              <a:rPr lang="zh-CN" altLang="en-US" b="1">
                <a:solidFill>
                  <a:srgbClr val="FF0000"/>
                </a:solidFill>
              </a:rPr>
              <a:t>飞船的时间膨胀效应实际上很难测出</a:t>
            </a:r>
          </a:p>
        </p:txBody>
      </p:sp>
      <p:sp>
        <p:nvSpPr>
          <p:cNvPr id="176135" name="Text Box 7"/>
          <p:cNvSpPr txBox="1">
            <a:spLocks noChangeArrowheads="1"/>
          </p:cNvSpPr>
          <p:nvPr/>
        </p:nvSpPr>
        <p:spPr bwMode="auto">
          <a:xfrm>
            <a:off x="161925" y="3743325"/>
            <a:ext cx="8763000" cy="830263"/>
          </a:xfrm>
          <a:prstGeom prst="rect">
            <a:avLst/>
          </a:prstGeom>
          <a:noFill/>
          <a:ln w="9525">
            <a:noFill/>
            <a:miter lim="800000"/>
            <a:headEnd type="none" w="sm" len="sm"/>
            <a:tailEnd type="none" w="sm" len="sm"/>
          </a:ln>
        </p:spPr>
        <p:txBody>
          <a:bodyPr>
            <a:spAutoFit/>
          </a:bodyPr>
          <a:lstStyle/>
          <a:p>
            <a:pPr algn="l" defTabSz="762000" eaLnBrk="0" hangingPunct="0">
              <a:spcBef>
                <a:spcPct val="50000"/>
              </a:spcBef>
            </a:pPr>
            <a:r>
              <a:rPr lang="zh-CN" altLang="en-US" b="1">
                <a:solidFill>
                  <a:schemeClr val="tx2"/>
                </a:solidFill>
              </a:rPr>
              <a:t>例</a:t>
            </a:r>
            <a:r>
              <a:rPr lang="en-US" altLang="zh-CN" b="1">
                <a:solidFill>
                  <a:schemeClr val="tx2"/>
                </a:solidFill>
              </a:rPr>
              <a:t>2 </a:t>
            </a:r>
            <a:r>
              <a:rPr lang="zh-CN" altLang="en-US" b="1"/>
              <a:t>原长为</a:t>
            </a:r>
            <a:r>
              <a:rPr lang="en-US" altLang="zh-CN" b="1">
                <a:solidFill>
                  <a:schemeClr val="accent2"/>
                </a:solidFill>
              </a:rPr>
              <a:t>10m</a:t>
            </a:r>
            <a:r>
              <a:rPr lang="zh-CN" altLang="en-US" b="1"/>
              <a:t>的飞船以</a:t>
            </a:r>
            <a:r>
              <a:rPr lang="en-US" altLang="zh-CN" b="1" i="1">
                <a:solidFill>
                  <a:schemeClr val="accent2"/>
                </a:solidFill>
              </a:rPr>
              <a:t>v </a:t>
            </a:r>
            <a:r>
              <a:rPr lang="zh-CN" altLang="en-US" b="1">
                <a:solidFill>
                  <a:schemeClr val="accent2"/>
                </a:solidFill>
              </a:rPr>
              <a:t>＝</a:t>
            </a:r>
            <a:r>
              <a:rPr lang="en-US" altLang="zh-CN" b="1">
                <a:solidFill>
                  <a:schemeClr val="accent2"/>
                </a:solidFill>
              </a:rPr>
              <a:t>3×10</a:t>
            </a:r>
            <a:r>
              <a:rPr lang="en-US" altLang="zh-CN" b="1" baseline="30000">
                <a:solidFill>
                  <a:schemeClr val="accent2"/>
                </a:solidFill>
              </a:rPr>
              <a:t>3</a:t>
            </a:r>
            <a:r>
              <a:rPr lang="en-US" altLang="zh-CN" b="1">
                <a:solidFill>
                  <a:schemeClr val="accent2"/>
                </a:solidFill>
              </a:rPr>
              <a:t>m/s</a:t>
            </a:r>
            <a:r>
              <a:rPr lang="zh-CN" altLang="en-US" b="1"/>
              <a:t>的速率相对于地面匀速飞行时，从地面上测量，它的长度是多少？</a:t>
            </a:r>
          </a:p>
        </p:txBody>
      </p:sp>
      <p:sp>
        <p:nvSpPr>
          <p:cNvPr id="176136" name="Text Box 8"/>
          <p:cNvSpPr txBox="1">
            <a:spLocks noChangeArrowheads="1"/>
          </p:cNvSpPr>
          <p:nvPr/>
        </p:nvSpPr>
        <p:spPr bwMode="auto">
          <a:xfrm>
            <a:off x="296863" y="4733925"/>
            <a:ext cx="1524000" cy="461963"/>
          </a:xfrm>
          <a:prstGeom prst="rect">
            <a:avLst/>
          </a:prstGeom>
          <a:noFill/>
          <a:ln w="9525">
            <a:noFill/>
            <a:miter lim="800000"/>
            <a:headEnd type="none" w="sm" len="sm"/>
            <a:tailEnd type="none" w="sm" len="sm"/>
          </a:ln>
        </p:spPr>
        <p:txBody>
          <a:bodyPr>
            <a:spAutoFit/>
          </a:bodyPr>
          <a:lstStyle/>
          <a:p>
            <a:pPr algn="l" defTabSz="762000" eaLnBrk="0" hangingPunct="0">
              <a:spcBef>
                <a:spcPct val="50000"/>
              </a:spcBef>
            </a:pPr>
            <a:r>
              <a:rPr lang="zh-CN" altLang="en-US" b="1">
                <a:solidFill>
                  <a:schemeClr val="accent2"/>
                </a:solidFill>
              </a:rPr>
              <a:t>解</a:t>
            </a:r>
            <a:r>
              <a:rPr lang="zh-CN" altLang="en-US" b="1"/>
              <a:t>：</a:t>
            </a:r>
          </a:p>
        </p:txBody>
      </p:sp>
      <p:pic>
        <p:nvPicPr>
          <p:cNvPr id="176137" name="Picture 9"/>
          <p:cNvPicPr>
            <a:picLocks noChangeAspect="1" noChangeArrowheads="1"/>
          </p:cNvPicPr>
          <p:nvPr/>
        </p:nvPicPr>
        <p:blipFill>
          <a:blip r:embed="rId5"/>
          <a:srcRect r="40614"/>
          <a:stretch>
            <a:fillRect/>
          </a:stretch>
        </p:blipFill>
        <p:spPr bwMode="auto">
          <a:xfrm>
            <a:off x="971550" y="5634038"/>
            <a:ext cx="3194050" cy="584200"/>
          </a:xfrm>
          <a:prstGeom prst="rect">
            <a:avLst/>
          </a:prstGeom>
          <a:noFill/>
          <a:ln w="9525">
            <a:noFill/>
            <a:miter lim="800000"/>
            <a:headEnd/>
            <a:tailEnd/>
          </a:ln>
        </p:spPr>
      </p:pic>
      <p:sp>
        <p:nvSpPr>
          <p:cNvPr id="176138" name="Text Box 10"/>
          <p:cNvSpPr txBox="1">
            <a:spLocks noChangeArrowheads="1"/>
          </p:cNvSpPr>
          <p:nvPr/>
        </p:nvSpPr>
        <p:spPr bwMode="auto">
          <a:xfrm>
            <a:off x="6146800" y="5003800"/>
            <a:ext cx="2336800" cy="461963"/>
          </a:xfrm>
          <a:prstGeom prst="rect">
            <a:avLst/>
          </a:prstGeom>
          <a:noFill/>
          <a:ln w="9525">
            <a:solidFill>
              <a:srgbClr val="FF0000"/>
            </a:solidFill>
            <a:miter lim="800000"/>
            <a:headEnd type="none" w="sm" len="sm"/>
            <a:tailEnd type="none" w="sm" len="sm"/>
          </a:ln>
        </p:spPr>
        <p:txBody>
          <a:bodyPr>
            <a:spAutoFit/>
          </a:bodyPr>
          <a:lstStyle/>
          <a:p>
            <a:pPr algn="l" defTabSz="762000" eaLnBrk="0" hangingPunct="0">
              <a:spcBef>
                <a:spcPct val="50000"/>
              </a:spcBef>
            </a:pPr>
            <a:r>
              <a:rPr lang="zh-CN" altLang="en-US" b="1">
                <a:solidFill>
                  <a:srgbClr val="FF0000"/>
                </a:solidFill>
              </a:rPr>
              <a:t>差别很难测出</a:t>
            </a:r>
          </a:p>
        </p:txBody>
      </p:sp>
      <p:pic>
        <p:nvPicPr>
          <p:cNvPr id="176139" name="Picture 11"/>
          <p:cNvPicPr>
            <a:picLocks noChangeAspect="1" noChangeArrowheads="1"/>
          </p:cNvPicPr>
          <p:nvPr/>
        </p:nvPicPr>
        <p:blipFill>
          <a:blip r:embed="rId6"/>
          <a:srcRect l="59416" r="-414"/>
          <a:stretch>
            <a:fillRect/>
          </a:stretch>
        </p:blipFill>
        <p:spPr bwMode="auto">
          <a:xfrm>
            <a:off x="4392613" y="5589588"/>
            <a:ext cx="2520950" cy="584200"/>
          </a:xfrm>
          <a:prstGeom prst="rect">
            <a:avLst/>
          </a:prstGeom>
          <a:noFill/>
          <a:ln w="9525">
            <a:noFill/>
            <a:miter lim="800000"/>
            <a:headEnd/>
            <a:tailEnd/>
          </a:ln>
        </p:spPr>
      </p:pic>
      <p:graphicFrame>
        <p:nvGraphicFramePr>
          <p:cNvPr id="176140" name="Object 12"/>
          <p:cNvGraphicFramePr>
            <a:graphicFrameLocks noChangeAspect="1"/>
          </p:cNvGraphicFramePr>
          <p:nvPr/>
        </p:nvGraphicFramePr>
        <p:xfrm>
          <a:off x="1106488" y="4778375"/>
          <a:ext cx="2519362" cy="636588"/>
        </p:xfrm>
        <a:graphic>
          <a:graphicData uri="http://schemas.openxmlformats.org/presentationml/2006/ole">
            <p:oleObj spid="_x0000_s11266" name="Equation" r:id="rId7" imgW="1205977" imgH="304668" progId="">
              <p:embed/>
            </p:oleObj>
          </a:graphicData>
        </a:graphic>
      </p:graphicFrame>
      <p:graphicFrame>
        <p:nvGraphicFramePr>
          <p:cNvPr id="176141" name="Object 13"/>
          <p:cNvGraphicFramePr>
            <a:graphicFrameLocks noChangeAspect="1"/>
          </p:cNvGraphicFramePr>
          <p:nvPr/>
        </p:nvGraphicFramePr>
        <p:xfrm>
          <a:off x="927100" y="1898650"/>
          <a:ext cx="2295525" cy="1171575"/>
        </p:xfrm>
        <a:graphic>
          <a:graphicData uri="http://schemas.openxmlformats.org/presentationml/2006/ole">
            <p:oleObj spid="_x0000_s11267" name="Equation" r:id="rId8" imgW="965200" imgH="571500"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6131"/>
                                        </p:tgtEl>
                                        <p:attrNameLst>
                                          <p:attrName>style.visibility</p:attrName>
                                        </p:attrNameLst>
                                      </p:cBhvr>
                                      <p:to>
                                        <p:strVal val="visible"/>
                                      </p:to>
                                    </p:set>
                                    <p:animEffect transition="in" filter="wipe(left)">
                                      <p:cBhvr>
                                        <p:cTn id="7" dur="1000"/>
                                        <p:tgtEl>
                                          <p:spTgt spid="1761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76132"/>
                                        </p:tgtEl>
                                        <p:attrNameLst>
                                          <p:attrName>style.visibility</p:attrName>
                                        </p:attrNameLst>
                                      </p:cBhvr>
                                      <p:to>
                                        <p:strVal val="visible"/>
                                      </p:to>
                                    </p:set>
                                    <p:animEffect transition="in" filter="wipe(left)">
                                      <p:cBhvr>
                                        <p:cTn id="12" dur="1000"/>
                                        <p:tgtEl>
                                          <p:spTgt spid="1761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76141"/>
                                        </p:tgtEl>
                                        <p:attrNameLst>
                                          <p:attrName>style.visibility</p:attrName>
                                        </p:attrNameLst>
                                      </p:cBhvr>
                                      <p:to>
                                        <p:strVal val="visible"/>
                                      </p:to>
                                    </p:set>
                                    <p:animEffect transition="in" filter="wipe(left)">
                                      <p:cBhvr>
                                        <p:cTn id="17" dur="1000"/>
                                        <p:tgtEl>
                                          <p:spTgt spid="17614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76133"/>
                                        </p:tgtEl>
                                        <p:attrNameLst>
                                          <p:attrName>style.visibility</p:attrName>
                                        </p:attrNameLst>
                                      </p:cBhvr>
                                      <p:to>
                                        <p:strVal val="visible"/>
                                      </p:to>
                                    </p:set>
                                    <p:animEffect transition="in" filter="wipe(left)">
                                      <p:cBhvr>
                                        <p:cTn id="22" dur="1000"/>
                                        <p:tgtEl>
                                          <p:spTgt spid="17613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6134"/>
                                        </p:tgtEl>
                                        <p:attrNameLst>
                                          <p:attrName>style.visibility</p:attrName>
                                        </p:attrNameLst>
                                      </p:cBhvr>
                                      <p:to>
                                        <p:strVal val="visible"/>
                                      </p:to>
                                    </p:set>
                                    <p:animEffect transition="in" filter="wipe(left)">
                                      <p:cBhvr>
                                        <p:cTn id="27" dur="1000"/>
                                        <p:tgtEl>
                                          <p:spTgt spid="17613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6135"/>
                                        </p:tgtEl>
                                        <p:attrNameLst>
                                          <p:attrName>style.visibility</p:attrName>
                                        </p:attrNameLst>
                                      </p:cBhvr>
                                      <p:to>
                                        <p:strVal val="visible"/>
                                      </p:to>
                                    </p:set>
                                    <p:animEffect transition="in" filter="wipe(left)">
                                      <p:cBhvr>
                                        <p:cTn id="32" dur="1000"/>
                                        <p:tgtEl>
                                          <p:spTgt spid="17613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6136"/>
                                        </p:tgtEl>
                                        <p:attrNameLst>
                                          <p:attrName>style.visibility</p:attrName>
                                        </p:attrNameLst>
                                      </p:cBhvr>
                                      <p:to>
                                        <p:strVal val="visible"/>
                                      </p:to>
                                    </p:set>
                                    <p:animEffect transition="in" filter="wipe(left)">
                                      <p:cBhvr>
                                        <p:cTn id="37" dur="1000"/>
                                        <p:tgtEl>
                                          <p:spTgt spid="17613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76140"/>
                                        </p:tgtEl>
                                        <p:attrNameLst>
                                          <p:attrName>style.visibility</p:attrName>
                                        </p:attrNameLst>
                                      </p:cBhvr>
                                      <p:to>
                                        <p:strVal val="visible"/>
                                      </p:to>
                                    </p:set>
                                    <p:animEffect transition="in" filter="wipe(left)">
                                      <p:cBhvr>
                                        <p:cTn id="42" dur="1000"/>
                                        <p:tgtEl>
                                          <p:spTgt spid="17614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76137"/>
                                        </p:tgtEl>
                                        <p:attrNameLst>
                                          <p:attrName>style.visibility</p:attrName>
                                        </p:attrNameLst>
                                      </p:cBhvr>
                                      <p:to>
                                        <p:strVal val="visible"/>
                                      </p:to>
                                    </p:set>
                                    <p:animEffect transition="in" filter="wipe(left)">
                                      <p:cBhvr>
                                        <p:cTn id="47" dur="1000"/>
                                        <p:tgtEl>
                                          <p:spTgt spid="17613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76139"/>
                                        </p:tgtEl>
                                        <p:attrNameLst>
                                          <p:attrName>style.visibility</p:attrName>
                                        </p:attrNameLst>
                                      </p:cBhvr>
                                      <p:to>
                                        <p:strVal val="visible"/>
                                      </p:to>
                                    </p:set>
                                    <p:animEffect transition="in" filter="wipe(left)">
                                      <p:cBhvr>
                                        <p:cTn id="52" dur="1000"/>
                                        <p:tgtEl>
                                          <p:spTgt spid="17613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76138"/>
                                        </p:tgtEl>
                                        <p:attrNameLst>
                                          <p:attrName>style.visibility</p:attrName>
                                        </p:attrNameLst>
                                      </p:cBhvr>
                                      <p:to>
                                        <p:strVal val="visible"/>
                                      </p:to>
                                    </p:set>
                                    <p:animEffect transition="in" filter="wipe(left)">
                                      <p:cBhvr>
                                        <p:cTn id="57" dur="1000"/>
                                        <p:tgtEl>
                                          <p:spTgt spid="176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1" grpId="0"/>
      <p:bldP spid="176134" grpId="0" animBg="1"/>
      <p:bldP spid="176135" grpId="0"/>
      <p:bldP spid="176136" grpId="0"/>
      <p:bldP spid="17613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5" name="Text Box 2"/>
          <p:cNvSpPr txBox="1">
            <a:spLocks noChangeArrowheads="1"/>
          </p:cNvSpPr>
          <p:nvPr/>
        </p:nvSpPr>
        <p:spPr bwMode="auto">
          <a:xfrm>
            <a:off x="250825" y="368300"/>
            <a:ext cx="8507413" cy="1938338"/>
          </a:xfrm>
          <a:prstGeom prst="rect">
            <a:avLst/>
          </a:prstGeom>
          <a:noFill/>
          <a:ln w="9525">
            <a:noFill/>
            <a:miter lim="800000"/>
            <a:headEnd/>
            <a:tailEnd/>
          </a:ln>
        </p:spPr>
        <p:txBody>
          <a:bodyPr>
            <a:spAutoFit/>
          </a:bodyPr>
          <a:lstStyle/>
          <a:p>
            <a:pPr algn="l"/>
            <a:r>
              <a:rPr lang="zh-CN" altLang="en-US" b="1">
                <a:solidFill>
                  <a:schemeClr val="hlink"/>
                </a:solidFill>
              </a:rPr>
              <a:t>例</a:t>
            </a:r>
            <a:r>
              <a:rPr lang="en-US" altLang="zh-CN" b="1">
                <a:solidFill>
                  <a:schemeClr val="hlink"/>
                </a:solidFill>
              </a:rPr>
              <a:t>3 </a:t>
            </a:r>
            <a:r>
              <a:rPr lang="zh-CN" altLang="en-US" b="1"/>
              <a:t>宇宙射线进入大气层时，会形成丰富的 </a:t>
            </a:r>
            <a:r>
              <a:rPr lang="en-US" altLang="zh-CN" b="1" i="1">
                <a:solidFill>
                  <a:schemeClr val="accent2"/>
                </a:solidFill>
              </a:rPr>
              <a:t>μ </a:t>
            </a:r>
            <a:r>
              <a:rPr lang="zh-CN" altLang="en-US" b="1"/>
              <a:t>子。并以</a:t>
            </a:r>
            <a:r>
              <a:rPr lang="en-US" altLang="zh-CN" b="1">
                <a:solidFill>
                  <a:schemeClr val="accent2"/>
                </a:solidFill>
              </a:rPr>
              <a:t>0.995c</a:t>
            </a:r>
            <a:r>
              <a:rPr lang="zh-CN" altLang="en-US" b="1"/>
              <a:t>的速率飞向地面。已知实验室中 </a:t>
            </a:r>
            <a:r>
              <a:rPr lang="en-US" altLang="zh-CN" b="1" i="1">
                <a:solidFill>
                  <a:schemeClr val="accent2"/>
                </a:solidFill>
              </a:rPr>
              <a:t>μ </a:t>
            </a:r>
            <a:r>
              <a:rPr lang="zh-CN" altLang="en-US" b="1"/>
              <a:t>子（静止）的平均寿命为  　　　　　　　</a:t>
            </a:r>
            <a:endParaRPr lang="en-US" altLang="zh-CN" b="1"/>
          </a:p>
          <a:p>
            <a:pPr algn="l"/>
            <a:r>
              <a:rPr lang="en-US" altLang="zh-CN" b="1"/>
              <a:t>                       </a:t>
            </a:r>
            <a:r>
              <a:rPr lang="zh-CN" altLang="en-US" b="1"/>
              <a:t>设大气层厚度为</a:t>
            </a:r>
            <a:r>
              <a:rPr lang="en-US" altLang="zh-CN" b="1">
                <a:solidFill>
                  <a:schemeClr val="accent2"/>
                </a:solidFill>
              </a:rPr>
              <a:t>6000m</a:t>
            </a:r>
            <a:r>
              <a:rPr lang="zh-CN" altLang="en-US" b="1"/>
              <a:t>，试问 </a:t>
            </a:r>
            <a:r>
              <a:rPr lang="en-US" altLang="zh-CN" b="1" i="1">
                <a:solidFill>
                  <a:schemeClr val="accent2"/>
                </a:solidFill>
              </a:rPr>
              <a:t>μ </a:t>
            </a:r>
            <a:r>
              <a:rPr lang="zh-CN" altLang="en-US" b="1"/>
              <a:t>子能否在衰变前到达地面？</a:t>
            </a:r>
            <a:endParaRPr lang="en-US" altLang="zh-CN" b="1"/>
          </a:p>
          <a:p>
            <a:pPr algn="l"/>
            <a:endParaRPr lang="zh-CN" altLang="en-US" b="1"/>
          </a:p>
        </p:txBody>
      </p:sp>
      <p:pic>
        <p:nvPicPr>
          <p:cNvPr id="12296" name="Picture 3"/>
          <p:cNvPicPr>
            <a:picLocks noChangeAspect="1" noChangeArrowheads="1"/>
          </p:cNvPicPr>
          <p:nvPr/>
        </p:nvPicPr>
        <p:blipFill>
          <a:blip r:embed="rId3"/>
          <a:srcRect/>
          <a:stretch>
            <a:fillRect/>
          </a:stretch>
        </p:blipFill>
        <p:spPr bwMode="auto">
          <a:xfrm>
            <a:off x="385763" y="1133475"/>
            <a:ext cx="1576387" cy="404813"/>
          </a:xfrm>
          <a:prstGeom prst="rect">
            <a:avLst/>
          </a:prstGeom>
          <a:noFill/>
          <a:ln w="9525">
            <a:noFill/>
            <a:miter lim="800000"/>
            <a:headEnd/>
            <a:tailEnd/>
          </a:ln>
        </p:spPr>
      </p:pic>
      <p:sp>
        <p:nvSpPr>
          <p:cNvPr id="177156" name="Text Box 4"/>
          <p:cNvSpPr txBox="1">
            <a:spLocks noChangeArrowheads="1"/>
          </p:cNvSpPr>
          <p:nvPr/>
        </p:nvSpPr>
        <p:spPr bwMode="auto">
          <a:xfrm>
            <a:off x="836613" y="1963738"/>
            <a:ext cx="4262437" cy="461962"/>
          </a:xfrm>
          <a:prstGeom prst="rect">
            <a:avLst/>
          </a:prstGeom>
          <a:noFill/>
          <a:ln w="9525">
            <a:noFill/>
            <a:miter lim="800000"/>
            <a:headEnd/>
            <a:tailEnd/>
          </a:ln>
        </p:spPr>
        <p:txBody>
          <a:bodyPr wrap="none">
            <a:spAutoFit/>
          </a:bodyPr>
          <a:lstStyle/>
          <a:p>
            <a:pPr algn="l"/>
            <a:r>
              <a:rPr lang="zh-CN" altLang="en-US" b="1"/>
              <a:t>设地为 </a:t>
            </a:r>
            <a:r>
              <a:rPr lang="en-US" altLang="zh-CN" b="1" i="1">
                <a:solidFill>
                  <a:schemeClr val="accent2"/>
                </a:solidFill>
              </a:rPr>
              <a:t>S </a:t>
            </a:r>
            <a:r>
              <a:rPr lang="zh-CN" altLang="en-US" b="1"/>
              <a:t>系、</a:t>
            </a:r>
            <a:r>
              <a:rPr lang="en-US" altLang="zh-CN" b="1"/>
              <a:t> </a:t>
            </a:r>
            <a:r>
              <a:rPr lang="en-US" altLang="zh-CN" b="1" i="1">
                <a:solidFill>
                  <a:schemeClr val="accent2"/>
                </a:solidFill>
              </a:rPr>
              <a:t>μ</a:t>
            </a:r>
            <a:r>
              <a:rPr lang="zh-CN" altLang="en-US" b="1"/>
              <a:t>子为 </a:t>
            </a:r>
            <a:r>
              <a:rPr lang="en-US" altLang="zh-CN" b="1" i="1">
                <a:solidFill>
                  <a:srgbClr val="FF6600"/>
                </a:solidFill>
              </a:rPr>
              <a:t>S' </a:t>
            </a:r>
            <a:r>
              <a:rPr lang="zh-CN" altLang="en-US" b="1"/>
              <a:t>系。则</a:t>
            </a:r>
          </a:p>
        </p:txBody>
      </p:sp>
      <p:sp>
        <p:nvSpPr>
          <p:cNvPr id="177157" name="Text Box 5"/>
          <p:cNvSpPr txBox="1">
            <a:spLocks noChangeArrowheads="1"/>
          </p:cNvSpPr>
          <p:nvPr/>
        </p:nvSpPr>
        <p:spPr bwMode="auto">
          <a:xfrm>
            <a:off x="296863" y="1943100"/>
            <a:ext cx="1524000" cy="461963"/>
          </a:xfrm>
          <a:prstGeom prst="rect">
            <a:avLst/>
          </a:prstGeom>
          <a:noFill/>
          <a:ln w="9525">
            <a:noFill/>
            <a:miter lim="800000"/>
            <a:headEnd type="none" w="sm" len="sm"/>
            <a:tailEnd type="none" w="sm" len="sm"/>
          </a:ln>
        </p:spPr>
        <p:txBody>
          <a:bodyPr>
            <a:spAutoFit/>
          </a:bodyPr>
          <a:lstStyle/>
          <a:p>
            <a:pPr algn="l" defTabSz="762000" eaLnBrk="0" hangingPunct="0">
              <a:spcBef>
                <a:spcPct val="50000"/>
              </a:spcBef>
            </a:pPr>
            <a:r>
              <a:rPr lang="zh-CN" altLang="en-US" b="1">
                <a:solidFill>
                  <a:schemeClr val="accent2"/>
                </a:solidFill>
              </a:rPr>
              <a:t>解</a:t>
            </a:r>
            <a:r>
              <a:rPr lang="zh-CN" altLang="en-US" b="1"/>
              <a:t>：</a:t>
            </a:r>
          </a:p>
        </p:txBody>
      </p:sp>
      <p:graphicFrame>
        <p:nvGraphicFramePr>
          <p:cNvPr id="177158" name="Object 6"/>
          <p:cNvGraphicFramePr>
            <a:graphicFrameLocks noChangeAspect="1"/>
          </p:cNvGraphicFramePr>
          <p:nvPr/>
        </p:nvGraphicFramePr>
        <p:xfrm>
          <a:off x="5300663" y="1943100"/>
          <a:ext cx="2052637" cy="431800"/>
        </p:xfrm>
        <a:graphic>
          <a:graphicData uri="http://schemas.openxmlformats.org/presentationml/2006/ole">
            <p:oleObj spid="_x0000_s12290" name="Equation" r:id="rId4" imgW="723272" imgH="177646" progId="">
              <p:embed/>
            </p:oleObj>
          </a:graphicData>
        </a:graphic>
      </p:graphicFrame>
      <p:sp>
        <p:nvSpPr>
          <p:cNvPr id="177159" name="Text Box 7"/>
          <p:cNvSpPr txBox="1">
            <a:spLocks noChangeArrowheads="1"/>
          </p:cNvSpPr>
          <p:nvPr/>
        </p:nvSpPr>
        <p:spPr bwMode="auto">
          <a:xfrm>
            <a:off x="61913" y="4103688"/>
            <a:ext cx="1420812" cy="461962"/>
          </a:xfrm>
          <a:prstGeom prst="rect">
            <a:avLst/>
          </a:prstGeom>
          <a:noFill/>
          <a:ln w="9525">
            <a:noFill/>
            <a:miter lim="800000"/>
            <a:headEnd/>
            <a:tailEnd/>
          </a:ln>
        </p:spPr>
        <p:txBody>
          <a:bodyPr wrap="none">
            <a:spAutoFit/>
          </a:bodyPr>
          <a:lstStyle/>
          <a:p>
            <a:pPr algn="l"/>
            <a:r>
              <a:rPr lang="zh-CN" altLang="en-US" b="1">
                <a:solidFill>
                  <a:srgbClr val="3333FF"/>
                </a:solidFill>
              </a:rPr>
              <a:t>解法二</a:t>
            </a:r>
            <a:r>
              <a:rPr lang="en-US" altLang="zh-CN" b="1"/>
              <a:t>    </a:t>
            </a:r>
          </a:p>
        </p:txBody>
      </p:sp>
      <p:sp>
        <p:nvSpPr>
          <p:cNvPr id="177160" name="Text Box 8"/>
          <p:cNvSpPr txBox="1">
            <a:spLocks noChangeArrowheads="1"/>
          </p:cNvSpPr>
          <p:nvPr/>
        </p:nvSpPr>
        <p:spPr bwMode="auto">
          <a:xfrm>
            <a:off x="1376363" y="4754563"/>
            <a:ext cx="1050925" cy="457200"/>
          </a:xfrm>
          <a:prstGeom prst="rect">
            <a:avLst/>
          </a:prstGeom>
          <a:noFill/>
          <a:ln w="9525">
            <a:noFill/>
            <a:miter lim="800000"/>
            <a:headEnd/>
            <a:tailEnd/>
          </a:ln>
        </p:spPr>
        <p:txBody>
          <a:bodyPr wrap="none">
            <a:spAutoFit/>
          </a:bodyPr>
          <a:lstStyle/>
          <a:p>
            <a:pPr algn="l"/>
            <a:r>
              <a:rPr lang="zh-CN" altLang="en-US" b="1"/>
              <a:t>对</a:t>
            </a:r>
            <a:r>
              <a:rPr lang="en-US" altLang="zh-CN" b="1" i="1">
                <a:solidFill>
                  <a:srgbClr val="FF6600"/>
                </a:solidFill>
              </a:rPr>
              <a:t>S'</a:t>
            </a:r>
            <a:r>
              <a:rPr lang="zh-CN" altLang="en-US" b="1"/>
              <a:t>系</a:t>
            </a:r>
          </a:p>
        </p:txBody>
      </p:sp>
      <p:pic>
        <p:nvPicPr>
          <p:cNvPr id="177161" name="Picture 9"/>
          <p:cNvPicPr>
            <a:picLocks noChangeAspect="1" noChangeArrowheads="1"/>
          </p:cNvPicPr>
          <p:nvPr/>
        </p:nvPicPr>
        <p:blipFill>
          <a:blip r:embed="rId5"/>
          <a:srcRect/>
          <a:stretch>
            <a:fillRect/>
          </a:stretch>
        </p:blipFill>
        <p:spPr bwMode="auto">
          <a:xfrm>
            <a:off x="1285875" y="5499100"/>
            <a:ext cx="2498725" cy="582613"/>
          </a:xfrm>
          <a:prstGeom prst="rect">
            <a:avLst/>
          </a:prstGeom>
          <a:noFill/>
          <a:ln w="9525">
            <a:noFill/>
            <a:miter lim="800000"/>
            <a:headEnd/>
            <a:tailEnd/>
          </a:ln>
        </p:spPr>
      </p:pic>
      <p:sp>
        <p:nvSpPr>
          <p:cNvPr id="177162" name="Text Box 10"/>
          <p:cNvSpPr txBox="1">
            <a:spLocks noChangeArrowheads="1"/>
          </p:cNvSpPr>
          <p:nvPr/>
        </p:nvSpPr>
        <p:spPr bwMode="auto">
          <a:xfrm>
            <a:off x="1331913" y="4079875"/>
            <a:ext cx="966787" cy="457200"/>
          </a:xfrm>
          <a:prstGeom prst="rect">
            <a:avLst/>
          </a:prstGeom>
          <a:noFill/>
          <a:ln w="9525">
            <a:noFill/>
            <a:miter lim="800000"/>
            <a:headEnd/>
            <a:tailEnd/>
          </a:ln>
        </p:spPr>
        <p:txBody>
          <a:bodyPr wrap="none">
            <a:spAutoFit/>
          </a:bodyPr>
          <a:lstStyle/>
          <a:p>
            <a:pPr algn="l"/>
            <a:r>
              <a:rPr lang="zh-CN" altLang="en-US" b="1"/>
              <a:t>对</a:t>
            </a:r>
            <a:r>
              <a:rPr lang="en-US" altLang="zh-CN" b="1" i="1">
                <a:solidFill>
                  <a:schemeClr val="accent2"/>
                </a:solidFill>
              </a:rPr>
              <a:t>S</a:t>
            </a:r>
            <a:r>
              <a:rPr lang="zh-CN" altLang="en-US" b="1"/>
              <a:t>系</a:t>
            </a:r>
          </a:p>
        </p:txBody>
      </p:sp>
      <p:pic>
        <p:nvPicPr>
          <p:cNvPr id="177163" name="Picture 11"/>
          <p:cNvPicPr>
            <a:picLocks noChangeAspect="1" noChangeArrowheads="1"/>
          </p:cNvPicPr>
          <p:nvPr/>
        </p:nvPicPr>
        <p:blipFill>
          <a:blip r:embed="rId6"/>
          <a:srcRect/>
          <a:stretch>
            <a:fillRect/>
          </a:stretch>
        </p:blipFill>
        <p:spPr bwMode="auto">
          <a:xfrm>
            <a:off x="2546350" y="4014788"/>
            <a:ext cx="1727200" cy="555625"/>
          </a:xfrm>
          <a:prstGeom prst="rect">
            <a:avLst/>
          </a:prstGeom>
          <a:noFill/>
          <a:ln w="9525">
            <a:noFill/>
            <a:miter lim="800000"/>
            <a:headEnd/>
            <a:tailEnd/>
          </a:ln>
        </p:spPr>
      </p:pic>
      <p:sp>
        <p:nvSpPr>
          <p:cNvPr id="177164" name="Text Box 12"/>
          <p:cNvSpPr txBox="1">
            <a:spLocks noChangeArrowheads="1"/>
          </p:cNvSpPr>
          <p:nvPr/>
        </p:nvSpPr>
        <p:spPr bwMode="auto">
          <a:xfrm>
            <a:off x="115888" y="2595563"/>
            <a:ext cx="1497012" cy="461962"/>
          </a:xfrm>
          <a:prstGeom prst="rect">
            <a:avLst/>
          </a:prstGeom>
          <a:noFill/>
          <a:ln w="9525">
            <a:noFill/>
            <a:miter lim="800000"/>
            <a:headEnd/>
            <a:tailEnd/>
          </a:ln>
        </p:spPr>
        <p:txBody>
          <a:bodyPr wrap="none">
            <a:spAutoFit/>
          </a:bodyPr>
          <a:lstStyle/>
          <a:p>
            <a:pPr algn="l"/>
            <a:r>
              <a:rPr lang="zh-CN" altLang="en-US" b="1">
                <a:solidFill>
                  <a:srgbClr val="3333FF"/>
                </a:solidFill>
              </a:rPr>
              <a:t>解法一</a:t>
            </a:r>
            <a:r>
              <a:rPr lang="en-US" altLang="zh-CN" b="1"/>
              <a:t>     </a:t>
            </a:r>
          </a:p>
        </p:txBody>
      </p:sp>
      <p:sp>
        <p:nvSpPr>
          <p:cNvPr id="177165" name="Text Box 13"/>
          <p:cNvSpPr txBox="1">
            <a:spLocks noChangeArrowheads="1"/>
          </p:cNvSpPr>
          <p:nvPr/>
        </p:nvSpPr>
        <p:spPr bwMode="auto">
          <a:xfrm>
            <a:off x="1176338" y="2573338"/>
            <a:ext cx="1260475" cy="457200"/>
          </a:xfrm>
          <a:prstGeom prst="rect">
            <a:avLst/>
          </a:prstGeom>
          <a:noFill/>
          <a:ln w="9525">
            <a:noFill/>
            <a:miter lim="800000"/>
            <a:headEnd/>
            <a:tailEnd/>
          </a:ln>
        </p:spPr>
        <p:txBody>
          <a:bodyPr>
            <a:spAutoFit/>
          </a:bodyPr>
          <a:lstStyle/>
          <a:p>
            <a:pPr algn="l"/>
            <a:r>
              <a:rPr lang="zh-CN" altLang="en-US" b="1"/>
              <a:t>对</a:t>
            </a:r>
            <a:r>
              <a:rPr lang="en-US" altLang="zh-CN" b="1" i="1">
                <a:solidFill>
                  <a:srgbClr val="FF6600"/>
                </a:solidFill>
              </a:rPr>
              <a:t>S'</a:t>
            </a:r>
            <a:r>
              <a:rPr lang="zh-CN" altLang="en-US" b="1"/>
              <a:t>系</a:t>
            </a:r>
          </a:p>
        </p:txBody>
      </p:sp>
      <p:pic>
        <p:nvPicPr>
          <p:cNvPr id="177166" name="Picture 14"/>
          <p:cNvPicPr>
            <a:picLocks noChangeAspect="1" noChangeArrowheads="1"/>
          </p:cNvPicPr>
          <p:nvPr/>
        </p:nvPicPr>
        <p:blipFill>
          <a:blip r:embed="rId7"/>
          <a:srcRect/>
          <a:stretch>
            <a:fillRect/>
          </a:stretch>
        </p:blipFill>
        <p:spPr bwMode="auto">
          <a:xfrm>
            <a:off x="2816225" y="2528888"/>
            <a:ext cx="2498725" cy="495300"/>
          </a:xfrm>
          <a:prstGeom prst="rect">
            <a:avLst/>
          </a:prstGeom>
          <a:noFill/>
          <a:ln w="9525">
            <a:noFill/>
            <a:miter lim="800000"/>
            <a:headEnd/>
            <a:tailEnd/>
          </a:ln>
        </p:spPr>
      </p:pic>
      <p:sp>
        <p:nvSpPr>
          <p:cNvPr id="177167" name="Text Box 15"/>
          <p:cNvSpPr txBox="1">
            <a:spLocks noChangeArrowheads="1"/>
          </p:cNvSpPr>
          <p:nvPr/>
        </p:nvSpPr>
        <p:spPr bwMode="auto">
          <a:xfrm>
            <a:off x="1266825" y="3224213"/>
            <a:ext cx="966788" cy="457200"/>
          </a:xfrm>
          <a:prstGeom prst="rect">
            <a:avLst/>
          </a:prstGeom>
          <a:noFill/>
          <a:ln w="9525">
            <a:noFill/>
            <a:miter lim="800000"/>
            <a:headEnd/>
            <a:tailEnd/>
          </a:ln>
        </p:spPr>
        <p:txBody>
          <a:bodyPr wrap="none">
            <a:spAutoFit/>
          </a:bodyPr>
          <a:lstStyle/>
          <a:p>
            <a:pPr algn="l"/>
            <a:r>
              <a:rPr lang="zh-CN" altLang="en-US" b="1"/>
              <a:t>对</a:t>
            </a:r>
            <a:r>
              <a:rPr lang="en-US" altLang="zh-CN" b="1" i="1">
                <a:solidFill>
                  <a:schemeClr val="accent2"/>
                </a:solidFill>
              </a:rPr>
              <a:t>S</a:t>
            </a:r>
            <a:r>
              <a:rPr lang="zh-CN" altLang="en-US" b="1"/>
              <a:t>系</a:t>
            </a:r>
          </a:p>
        </p:txBody>
      </p:sp>
      <p:sp>
        <p:nvSpPr>
          <p:cNvPr id="177168" name="Text Box 16"/>
          <p:cNvSpPr txBox="1">
            <a:spLocks noChangeArrowheads="1"/>
          </p:cNvSpPr>
          <p:nvPr/>
        </p:nvSpPr>
        <p:spPr bwMode="auto">
          <a:xfrm>
            <a:off x="1282700" y="6007100"/>
            <a:ext cx="2673350" cy="461963"/>
          </a:xfrm>
          <a:prstGeom prst="rect">
            <a:avLst/>
          </a:prstGeom>
          <a:noFill/>
          <a:ln w="9525">
            <a:noFill/>
            <a:miter lim="800000"/>
            <a:headEnd/>
            <a:tailEnd/>
          </a:ln>
        </p:spPr>
        <p:txBody>
          <a:bodyPr>
            <a:spAutoFit/>
          </a:bodyPr>
          <a:lstStyle/>
          <a:p>
            <a:pPr algn="l"/>
            <a:r>
              <a:rPr lang="zh-CN" altLang="en-US" b="1"/>
              <a:t>可以到达地面</a:t>
            </a:r>
          </a:p>
        </p:txBody>
      </p:sp>
      <p:graphicFrame>
        <p:nvGraphicFramePr>
          <p:cNvPr id="177169" name="Object 17"/>
          <p:cNvGraphicFramePr>
            <a:graphicFrameLocks noChangeAspect="1"/>
          </p:cNvGraphicFramePr>
          <p:nvPr/>
        </p:nvGraphicFramePr>
        <p:xfrm>
          <a:off x="2366963" y="2979738"/>
          <a:ext cx="3249612" cy="944562"/>
        </p:xfrm>
        <a:graphic>
          <a:graphicData uri="http://schemas.openxmlformats.org/presentationml/2006/ole">
            <p:oleObj spid="_x0000_s12291" name="Equation" r:id="rId8" imgW="1879600" imgH="469900" progId="">
              <p:embed/>
            </p:oleObj>
          </a:graphicData>
        </a:graphic>
      </p:graphicFrame>
      <p:graphicFrame>
        <p:nvGraphicFramePr>
          <p:cNvPr id="177170" name="Object 18"/>
          <p:cNvGraphicFramePr>
            <a:graphicFrameLocks noChangeAspect="1"/>
          </p:cNvGraphicFramePr>
          <p:nvPr/>
        </p:nvGraphicFramePr>
        <p:xfrm>
          <a:off x="2816225" y="4689475"/>
          <a:ext cx="3552825" cy="636588"/>
        </p:xfrm>
        <a:graphic>
          <a:graphicData uri="http://schemas.openxmlformats.org/presentationml/2006/ole">
            <p:oleObj spid="_x0000_s12292" name="Equation" r:id="rId9" imgW="1701800" imgH="304800" progId="">
              <p:embed/>
            </p:oleObj>
          </a:graphicData>
        </a:graphic>
      </p:graphicFrame>
      <p:graphicFrame>
        <p:nvGraphicFramePr>
          <p:cNvPr id="177171" name="Object 19"/>
          <p:cNvGraphicFramePr>
            <a:graphicFrameLocks noChangeAspect="1"/>
          </p:cNvGraphicFramePr>
          <p:nvPr/>
        </p:nvGraphicFramePr>
        <p:xfrm>
          <a:off x="4122738" y="5454650"/>
          <a:ext cx="2970212" cy="587375"/>
        </p:xfrm>
        <a:graphic>
          <a:graphicData uri="http://schemas.openxmlformats.org/presentationml/2006/ole">
            <p:oleObj spid="_x0000_s12293" name="Equation" r:id="rId10" imgW="1117600" imgH="228600" progId="">
              <p:embed/>
            </p:oleObj>
          </a:graphicData>
        </a:graphic>
      </p:graphicFrame>
      <p:graphicFrame>
        <p:nvGraphicFramePr>
          <p:cNvPr id="177172" name="Object 20"/>
          <p:cNvGraphicFramePr>
            <a:graphicFrameLocks noChangeAspect="1"/>
          </p:cNvGraphicFramePr>
          <p:nvPr/>
        </p:nvGraphicFramePr>
        <p:xfrm>
          <a:off x="6372225" y="3203575"/>
          <a:ext cx="2295525" cy="404813"/>
        </p:xfrm>
        <a:graphic>
          <a:graphicData uri="http://schemas.openxmlformats.org/presentationml/2006/ole">
            <p:oleObj spid="_x0000_s12294" name="Equation" r:id="rId11" imgW="1002865" imgH="177723"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7157"/>
                                        </p:tgtEl>
                                        <p:attrNameLst>
                                          <p:attrName>style.visibility</p:attrName>
                                        </p:attrNameLst>
                                      </p:cBhvr>
                                      <p:to>
                                        <p:strVal val="visible"/>
                                      </p:to>
                                    </p:set>
                                    <p:animEffect transition="in" filter="wipe(left)">
                                      <p:cBhvr>
                                        <p:cTn id="7" dur="1000"/>
                                        <p:tgtEl>
                                          <p:spTgt spid="1771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7156"/>
                                        </p:tgtEl>
                                        <p:attrNameLst>
                                          <p:attrName>style.visibility</p:attrName>
                                        </p:attrNameLst>
                                      </p:cBhvr>
                                      <p:to>
                                        <p:strVal val="visible"/>
                                      </p:to>
                                    </p:set>
                                    <p:animEffect transition="in" filter="wipe(left)">
                                      <p:cBhvr>
                                        <p:cTn id="12" dur="1000"/>
                                        <p:tgtEl>
                                          <p:spTgt spid="1771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77158"/>
                                        </p:tgtEl>
                                        <p:attrNameLst>
                                          <p:attrName>style.visibility</p:attrName>
                                        </p:attrNameLst>
                                      </p:cBhvr>
                                      <p:to>
                                        <p:strVal val="visible"/>
                                      </p:to>
                                    </p:set>
                                    <p:animEffect transition="in" filter="wipe(left)">
                                      <p:cBhvr>
                                        <p:cTn id="17" dur="1000"/>
                                        <p:tgtEl>
                                          <p:spTgt spid="17715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7164"/>
                                        </p:tgtEl>
                                        <p:attrNameLst>
                                          <p:attrName>style.visibility</p:attrName>
                                        </p:attrNameLst>
                                      </p:cBhvr>
                                      <p:to>
                                        <p:strVal val="visible"/>
                                      </p:to>
                                    </p:set>
                                    <p:animEffect transition="in" filter="wipe(left)">
                                      <p:cBhvr>
                                        <p:cTn id="22" dur="1000"/>
                                        <p:tgtEl>
                                          <p:spTgt spid="17716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7165"/>
                                        </p:tgtEl>
                                        <p:attrNameLst>
                                          <p:attrName>style.visibility</p:attrName>
                                        </p:attrNameLst>
                                      </p:cBhvr>
                                      <p:to>
                                        <p:strVal val="visible"/>
                                      </p:to>
                                    </p:set>
                                    <p:animEffect transition="in" filter="wipe(left)">
                                      <p:cBhvr>
                                        <p:cTn id="27" dur="1000"/>
                                        <p:tgtEl>
                                          <p:spTgt spid="17716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77166"/>
                                        </p:tgtEl>
                                        <p:attrNameLst>
                                          <p:attrName>style.visibility</p:attrName>
                                        </p:attrNameLst>
                                      </p:cBhvr>
                                      <p:to>
                                        <p:strVal val="visible"/>
                                      </p:to>
                                    </p:set>
                                    <p:animEffect transition="in" filter="wipe(left)">
                                      <p:cBhvr>
                                        <p:cTn id="32" dur="1000"/>
                                        <p:tgtEl>
                                          <p:spTgt spid="17716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7167"/>
                                        </p:tgtEl>
                                        <p:attrNameLst>
                                          <p:attrName>style.visibility</p:attrName>
                                        </p:attrNameLst>
                                      </p:cBhvr>
                                      <p:to>
                                        <p:strVal val="visible"/>
                                      </p:to>
                                    </p:set>
                                    <p:animEffect transition="in" filter="wipe(left)">
                                      <p:cBhvr>
                                        <p:cTn id="37" dur="1000"/>
                                        <p:tgtEl>
                                          <p:spTgt spid="17716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77169"/>
                                        </p:tgtEl>
                                        <p:attrNameLst>
                                          <p:attrName>style.visibility</p:attrName>
                                        </p:attrNameLst>
                                      </p:cBhvr>
                                      <p:to>
                                        <p:strVal val="visible"/>
                                      </p:to>
                                    </p:set>
                                    <p:animEffect transition="in" filter="wipe(left)">
                                      <p:cBhvr>
                                        <p:cTn id="42" dur="1000"/>
                                        <p:tgtEl>
                                          <p:spTgt spid="17716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77172"/>
                                        </p:tgtEl>
                                        <p:attrNameLst>
                                          <p:attrName>style.visibility</p:attrName>
                                        </p:attrNameLst>
                                      </p:cBhvr>
                                      <p:to>
                                        <p:strVal val="visible"/>
                                      </p:to>
                                    </p:set>
                                    <p:animEffect transition="in" filter="wipe(left)">
                                      <p:cBhvr>
                                        <p:cTn id="47" dur="1000"/>
                                        <p:tgtEl>
                                          <p:spTgt spid="17717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77159"/>
                                        </p:tgtEl>
                                        <p:attrNameLst>
                                          <p:attrName>style.visibility</p:attrName>
                                        </p:attrNameLst>
                                      </p:cBhvr>
                                      <p:to>
                                        <p:strVal val="visible"/>
                                      </p:to>
                                    </p:set>
                                    <p:animEffect transition="in" filter="wipe(left)">
                                      <p:cBhvr>
                                        <p:cTn id="52" dur="1000"/>
                                        <p:tgtEl>
                                          <p:spTgt spid="17715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77162"/>
                                        </p:tgtEl>
                                        <p:attrNameLst>
                                          <p:attrName>style.visibility</p:attrName>
                                        </p:attrNameLst>
                                      </p:cBhvr>
                                      <p:to>
                                        <p:strVal val="visible"/>
                                      </p:to>
                                    </p:set>
                                    <p:animEffect transition="in" filter="wipe(left)">
                                      <p:cBhvr>
                                        <p:cTn id="57" dur="1000"/>
                                        <p:tgtEl>
                                          <p:spTgt spid="17716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177163"/>
                                        </p:tgtEl>
                                        <p:attrNameLst>
                                          <p:attrName>style.visibility</p:attrName>
                                        </p:attrNameLst>
                                      </p:cBhvr>
                                      <p:to>
                                        <p:strVal val="visible"/>
                                      </p:to>
                                    </p:set>
                                    <p:animEffect transition="in" filter="wipe(left)">
                                      <p:cBhvr>
                                        <p:cTn id="62" dur="1000"/>
                                        <p:tgtEl>
                                          <p:spTgt spid="17716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77160"/>
                                        </p:tgtEl>
                                        <p:attrNameLst>
                                          <p:attrName>style.visibility</p:attrName>
                                        </p:attrNameLst>
                                      </p:cBhvr>
                                      <p:to>
                                        <p:strVal val="visible"/>
                                      </p:to>
                                    </p:set>
                                    <p:animEffect transition="in" filter="wipe(left)">
                                      <p:cBhvr>
                                        <p:cTn id="67" dur="1000"/>
                                        <p:tgtEl>
                                          <p:spTgt spid="17716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177170"/>
                                        </p:tgtEl>
                                        <p:attrNameLst>
                                          <p:attrName>style.visibility</p:attrName>
                                        </p:attrNameLst>
                                      </p:cBhvr>
                                      <p:to>
                                        <p:strVal val="visible"/>
                                      </p:to>
                                    </p:set>
                                    <p:animEffect transition="in" filter="wipe(left)">
                                      <p:cBhvr>
                                        <p:cTn id="72" dur="1000"/>
                                        <p:tgtEl>
                                          <p:spTgt spid="177170"/>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177161"/>
                                        </p:tgtEl>
                                        <p:attrNameLst>
                                          <p:attrName>style.visibility</p:attrName>
                                        </p:attrNameLst>
                                      </p:cBhvr>
                                      <p:to>
                                        <p:strVal val="visible"/>
                                      </p:to>
                                    </p:set>
                                    <p:animEffect transition="in" filter="wipe(left)">
                                      <p:cBhvr>
                                        <p:cTn id="77" dur="1000"/>
                                        <p:tgtEl>
                                          <p:spTgt spid="177161"/>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177171"/>
                                        </p:tgtEl>
                                        <p:attrNameLst>
                                          <p:attrName>style.visibility</p:attrName>
                                        </p:attrNameLst>
                                      </p:cBhvr>
                                      <p:to>
                                        <p:strVal val="visible"/>
                                      </p:to>
                                    </p:set>
                                    <p:animEffect transition="in" filter="wipe(left)">
                                      <p:cBhvr>
                                        <p:cTn id="82" dur="1000"/>
                                        <p:tgtEl>
                                          <p:spTgt spid="177171"/>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77168"/>
                                        </p:tgtEl>
                                        <p:attrNameLst>
                                          <p:attrName>style.visibility</p:attrName>
                                        </p:attrNameLst>
                                      </p:cBhvr>
                                      <p:to>
                                        <p:strVal val="visible"/>
                                      </p:to>
                                    </p:set>
                                    <p:animEffect transition="in" filter="wipe(left)">
                                      <p:cBhvr>
                                        <p:cTn id="87" dur="1000"/>
                                        <p:tgtEl>
                                          <p:spTgt spid="177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6" grpId="0"/>
      <p:bldP spid="177157" grpId="0"/>
      <p:bldP spid="177159" grpId="0"/>
      <p:bldP spid="177160" grpId="0"/>
      <p:bldP spid="177162" grpId="0"/>
      <p:bldP spid="177164" grpId="0"/>
      <p:bldP spid="177165" grpId="0"/>
      <p:bldP spid="177167" grpId="0"/>
      <p:bldP spid="17716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AutoShape 2"/>
          <p:cNvSpPr>
            <a:spLocks noChangeArrowheads="1"/>
          </p:cNvSpPr>
          <p:nvPr/>
        </p:nvSpPr>
        <p:spPr bwMode="auto">
          <a:xfrm>
            <a:off x="836613" y="5273675"/>
            <a:ext cx="7335837" cy="1171575"/>
          </a:xfrm>
          <a:prstGeom prst="roundRect">
            <a:avLst>
              <a:gd name="adj" fmla="val 16667"/>
            </a:avLst>
          </a:prstGeom>
          <a:gradFill rotWithShape="1">
            <a:gsLst>
              <a:gs pos="0">
                <a:srgbClr val="FFFFFF"/>
              </a:gs>
              <a:gs pos="100000">
                <a:srgbClr val="CCFFFF"/>
              </a:gs>
            </a:gsLst>
            <a:path path="shape">
              <a:fillToRect l="50000" t="50000" r="50000" b="50000"/>
            </a:path>
          </a:gradFill>
          <a:ln w="9525">
            <a:solidFill>
              <a:srgbClr val="66FFFF"/>
            </a:solidFill>
            <a:round/>
            <a:headEnd/>
            <a:tailEnd/>
          </a:ln>
        </p:spPr>
        <p:txBody>
          <a:bodyPr wrap="none" anchor="ctr"/>
          <a:lstStyle/>
          <a:p>
            <a:endParaRPr lang="zh-CN" altLang="en-US"/>
          </a:p>
        </p:txBody>
      </p:sp>
      <p:sp>
        <p:nvSpPr>
          <p:cNvPr id="178179" name="Text Box 3"/>
          <p:cNvSpPr txBox="1">
            <a:spLocks noChangeArrowheads="1"/>
          </p:cNvSpPr>
          <p:nvPr/>
        </p:nvSpPr>
        <p:spPr bwMode="auto">
          <a:xfrm>
            <a:off x="179388" y="908050"/>
            <a:ext cx="4419600" cy="457200"/>
          </a:xfrm>
          <a:prstGeom prst="rect">
            <a:avLst/>
          </a:prstGeom>
          <a:noFill/>
          <a:ln w="9525">
            <a:noFill/>
            <a:miter lim="800000"/>
            <a:headEnd/>
            <a:tailEnd/>
          </a:ln>
        </p:spPr>
        <p:txBody>
          <a:bodyPr>
            <a:spAutoFit/>
          </a:bodyPr>
          <a:lstStyle/>
          <a:p>
            <a:pPr algn="l">
              <a:spcBef>
                <a:spcPct val="50000"/>
              </a:spcBef>
            </a:pPr>
            <a:r>
              <a:rPr lang="en-US" altLang="zh-CN" b="1">
                <a:solidFill>
                  <a:srgbClr val="0000FF"/>
                </a:solidFill>
              </a:rPr>
              <a:t>4.3.1  </a:t>
            </a:r>
            <a:r>
              <a:rPr lang="zh-CN" altLang="en-US" b="1">
                <a:solidFill>
                  <a:srgbClr val="0000FF"/>
                </a:solidFill>
              </a:rPr>
              <a:t>洛伦兹变换</a:t>
            </a:r>
          </a:p>
        </p:txBody>
      </p:sp>
      <p:graphicFrame>
        <p:nvGraphicFramePr>
          <p:cNvPr id="178180" name="Object 4"/>
          <p:cNvGraphicFramePr>
            <a:graphicFrameLocks noChangeAspect="1"/>
          </p:cNvGraphicFramePr>
          <p:nvPr/>
        </p:nvGraphicFramePr>
        <p:xfrm>
          <a:off x="5846763" y="4976813"/>
          <a:ext cx="252412" cy="252412"/>
        </p:xfrm>
        <a:graphic>
          <a:graphicData uri="http://schemas.openxmlformats.org/presentationml/2006/ole">
            <p:oleObj spid="_x0000_s13314" name="公式" r:id="rId3" imgW="139700" imgH="139700" progId="Equation.3">
              <p:embed/>
            </p:oleObj>
          </a:graphicData>
        </a:graphic>
      </p:graphicFrame>
      <p:graphicFrame>
        <p:nvGraphicFramePr>
          <p:cNvPr id="178181" name="Object 5"/>
          <p:cNvGraphicFramePr>
            <a:graphicFrameLocks noChangeAspect="1"/>
          </p:cNvGraphicFramePr>
          <p:nvPr/>
        </p:nvGraphicFramePr>
        <p:xfrm>
          <a:off x="6765925" y="4527550"/>
          <a:ext cx="341313" cy="317500"/>
        </p:xfrm>
        <a:graphic>
          <a:graphicData uri="http://schemas.openxmlformats.org/presentationml/2006/ole">
            <p:oleObj spid="_x0000_s13315" name="公式" r:id="rId4" imgW="190335" imgH="177646" progId="Equation.3">
              <p:embed/>
            </p:oleObj>
          </a:graphicData>
        </a:graphic>
      </p:graphicFrame>
      <p:sp>
        <p:nvSpPr>
          <p:cNvPr id="178182" name="Text Box 6"/>
          <p:cNvSpPr txBox="1">
            <a:spLocks noChangeArrowheads="1"/>
          </p:cNvSpPr>
          <p:nvPr/>
        </p:nvSpPr>
        <p:spPr bwMode="auto">
          <a:xfrm>
            <a:off x="7291388" y="2813050"/>
            <a:ext cx="533400" cy="512763"/>
          </a:xfrm>
          <a:prstGeom prst="rect">
            <a:avLst/>
          </a:prstGeom>
          <a:noFill/>
          <a:ln w="9525">
            <a:noFill/>
            <a:miter lim="800000"/>
            <a:headEnd/>
            <a:tailEnd/>
          </a:ln>
        </p:spPr>
        <p:txBody>
          <a:bodyPr>
            <a:spAutoFit/>
          </a:bodyPr>
          <a:lstStyle/>
          <a:p>
            <a:pPr algn="l">
              <a:lnSpc>
                <a:spcPct val="115000"/>
              </a:lnSpc>
            </a:pPr>
            <a:r>
              <a:rPr lang="en-US" altLang="zh-CN" b="1" i="1">
                <a:solidFill>
                  <a:schemeClr val="bg1"/>
                </a:solidFill>
              </a:rPr>
              <a:t>P</a:t>
            </a:r>
            <a:endParaRPr lang="en-US" altLang="zh-CN">
              <a:solidFill>
                <a:schemeClr val="bg1"/>
              </a:solidFill>
            </a:endParaRPr>
          </a:p>
        </p:txBody>
      </p:sp>
      <p:sp>
        <p:nvSpPr>
          <p:cNvPr id="178183" name="Text Box 7"/>
          <p:cNvSpPr txBox="1">
            <a:spLocks noChangeArrowheads="1"/>
          </p:cNvSpPr>
          <p:nvPr/>
        </p:nvSpPr>
        <p:spPr bwMode="auto">
          <a:xfrm>
            <a:off x="7577138" y="2797175"/>
            <a:ext cx="1204912" cy="442913"/>
          </a:xfrm>
          <a:prstGeom prst="rect">
            <a:avLst/>
          </a:prstGeom>
          <a:noFill/>
          <a:ln w="9525">
            <a:noFill/>
            <a:miter lim="800000"/>
            <a:headEnd/>
            <a:tailEnd/>
          </a:ln>
        </p:spPr>
        <p:txBody>
          <a:bodyPr wrap="none">
            <a:spAutoFit/>
          </a:bodyPr>
          <a:lstStyle/>
          <a:p>
            <a:pPr algn="l">
              <a:lnSpc>
                <a:spcPct val="115000"/>
              </a:lnSpc>
            </a:pPr>
            <a:r>
              <a:rPr lang="en-US" altLang="zh-CN" sz="2000" b="1">
                <a:solidFill>
                  <a:srgbClr val="0000FF"/>
                </a:solidFill>
              </a:rPr>
              <a:t>(</a:t>
            </a:r>
            <a:r>
              <a:rPr lang="en-US" altLang="zh-CN" sz="2000" b="1" i="1">
                <a:solidFill>
                  <a:srgbClr val="0000FF"/>
                </a:solidFill>
              </a:rPr>
              <a:t>x</a:t>
            </a:r>
            <a:r>
              <a:rPr lang="en-US" altLang="zh-CN" sz="2000" b="1">
                <a:solidFill>
                  <a:srgbClr val="0000FF"/>
                </a:solidFill>
              </a:rPr>
              <a:t>, </a:t>
            </a:r>
            <a:r>
              <a:rPr lang="en-US" altLang="zh-CN" sz="2000" b="1" i="1">
                <a:solidFill>
                  <a:srgbClr val="0000FF"/>
                </a:solidFill>
              </a:rPr>
              <a:t>y</a:t>
            </a:r>
            <a:r>
              <a:rPr lang="en-US" altLang="zh-CN" sz="2000" b="1">
                <a:solidFill>
                  <a:srgbClr val="0000FF"/>
                </a:solidFill>
              </a:rPr>
              <a:t>, </a:t>
            </a:r>
            <a:r>
              <a:rPr lang="en-US" altLang="zh-CN" sz="2000" b="1" i="1">
                <a:solidFill>
                  <a:srgbClr val="0000FF"/>
                </a:solidFill>
              </a:rPr>
              <a:t>z</a:t>
            </a:r>
            <a:r>
              <a:rPr lang="en-US" altLang="zh-CN" sz="2000" b="1">
                <a:solidFill>
                  <a:srgbClr val="0000FF"/>
                </a:solidFill>
              </a:rPr>
              <a:t>, </a:t>
            </a:r>
            <a:r>
              <a:rPr lang="en-US" altLang="zh-CN" sz="2000" b="1" i="1">
                <a:solidFill>
                  <a:srgbClr val="0000FF"/>
                </a:solidFill>
              </a:rPr>
              <a:t>t</a:t>
            </a:r>
            <a:r>
              <a:rPr lang="en-US" altLang="zh-CN" sz="2000" b="1">
                <a:solidFill>
                  <a:srgbClr val="0000FF"/>
                </a:solidFill>
              </a:rPr>
              <a:t> )</a:t>
            </a:r>
            <a:endParaRPr lang="en-US" altLang="zh-CN" sz="2000">
              <a:solidFill>
                <a:srgbClr val="0000FF"/>
              </a:solidFill>
            </a:endParaRPr>
          </a:p>
        </p:txBody>
      </p:sp>
      <p:sp>
        <p:nvSpPr>
          <p:cNvPr id="178184" name="Line 8"/>
          <p:cNvSpPr>
            <a:spLocks noChangeShapeType="1"/>
          </p:cNvSpPr>
          <p:nvPr/>
        </p:nvSpPr>
        <p:spPr bwMode="auto">
          <a:xfrm flipV="1">
            <a:off x="5508625" y="3024188"/>
            <a:ext cx="1754188" cy="1323975"/>
          </a:xfrm>
          <a:prstGeom prst="line">
            <a:avLst/>
          </a:prstGeom>
          <a:noFill/>
          <a:ln w="28575">
            <a:solidFill>
              <a:srgbClr val="0000FF"/>
            </a:solidFill>
            <a:round/>
            <a:headEnd/>
            <a:tailEnd type="triangle" w="sm" len="lg"/>
          </a:ln>
        </p:spPr>
        <p:txBody>
          <a:bodyPr wrap="none" anchor="ctr"/>
          <a:lstStyle/>
          <a:p>
            <a:endParaRPr lang="zh-CN" altLang="en-US"/>
          </a:p>
        </p:txBody>
      </p:sp>
      <p:sp>
        <p:nvSpPr>
          <p:cNvPr id="178185" name="Line 9"/>
          <p:cNvSpPr>
            <a:spLocks noChangeShapeType="1"/>
          </p:cNvSpPr>
          <p:nvPr/>
        </p:nvSpPr>
        <p:spPr bwMode="auto">
          <a:xfrm flipV="1">
            <a:off x="6423025" y="3021013"/>
            <a:ext cx="839788" cy="1327150"/>
          </a:xfrm>
          <a:prstGeom prst="line">
            <a:avLst/>
          </a:prstGeom>
          <a:noFill/>
          <a:ln w="28575">
            <a:solidFill>
              <a:schemeClr val="tx2"/>
            </a:solidFill>
            <a:round/>
            <a:headEnd/>
            <a:tailEnd type="triangle" w="sm" len="lg"/>
          </a:ln>
        </p:spPr>
        <p:txBody>
          <a:bodyPr wrap="none" anchor="ctr"/>
          <a:lstStyle/>
          <a:p>
            <a:endParaRPr lang="zh-CN" altLang="en-US"/>
          </a:p>
        </p:txBody>
      </p:sp>
      <p:sp>
        <p:nvSpPr>
          <p:cNvPr id="178186" name="Line 10"/>
          <p:cNvSpPr>
            <a:spLocks noChangeShapeType="1"/>
          </p:cNvSpPr>
          <p:nvPr/>
        </p:nvSpPr>
        <p:spPr bwMode="auto">
          <a:xfrm>
            <a:off x="7261225" y="3052763"/>
            <a:ext cx="0" cy="1828800"/>
          </a:xfrm>
          <a:prstGeom prst="line">
            <a:avLst/>
          </a:prstGeom>
          <a:noFill/>
          <a:ln w="12700">
            <a:solidFill>
              <a:schemeClr val="tx2"/>
            </a:solidFill>
            <a:prstDash val="lgDashDot"/>
            <a:round/>
            <a:headEnd/>
            <a:tailEnd/>
          </a:ln>
        </p:spPr>
        <p:txBody>
          <a:bodyPr wrap="none" anchor="ctr"/>
          <a:lstStyle/>
          <a:p>
            <a:endParaRPr lang="zh-CN" altLang="en-US"/>
          </a:p>
        </p:txBody>
      </p:sp>
      <p:sp>
        <p:nvSpPr>
          <p:cNvPr id="178187" name="Line 11"/>
          <p:cNvSpPr>
            <a:spLocks noChangeShapeType="1"/>
          </p:cNvSpPr>
          <p:nvPr/>
        </p:nvSpPr>
        <p:spPr bwMode="auto">
          <a:xfrm flipH="1">
            <a:off x="7261225" y="4383088"/>
            <a:ext cx="585788" cy="498475"/>
          </a:xfrm>
          <a:prstGeom prst="line">
            <a:avLst/>
          </a:prstGeom>
          <a:noFill/>
          <a:ln w="12700">
            <a:solidFill>
              <a:schemeClr val="tx2"/>
            </a:solidFill>
            <a:prstDash val="lgDashDot"/>
            <a:round/>
            <a:headEnd/>
            <a:tailEnd/>
          </a:ln>
        </p:spPr>
        <p:txBody>
          <a:bodyPr wrap="none" anchor="ctr"/>
          <a:lstStyle/>
          <a:p>
            <a:endParaRPr lang="zh-CN" altLang="en-US"/>
          </a:p>
        </p:txBody>
      </p:sp>
      <p:sp>
        <p:nvSpPr>
          <p:cNvPr id="178188" name="Line 12"/>
          <p:cNvSpPr>
            <a:spLocks noChangeShapeType="1"/>
          </p:cNvSpPr>
          <p:nvPr/>
        </p:nvSpPr>
        <p:spPr bwMode="auto">
          <a:xfrm>
            <a:off x="4826000" y="4946650"/>
            <a:ext cx="2339975" cy="0"/>
          </a:xfrm>
          <a:prstGeom prst="line">
            <a:avLst/>
          </a:prstGeom>
          <a:noFill/>
          <a:ln w="12700">
            <a:solidFill>
              <a:srgbClr val="009900"/>
            </a:solidFill>
            <a:round/>
            <a:headEnd type="triangle" w="med" len="lg"/>
            <a:tailEnd type="triangle" w="med" len="lg"/>
          </a:ln>
        </p:spPr>
        <p:txBody>
          <a:bodyPr wrap="none" anchor="ctr"/>
          <a:lstStyle/>
          <a:p>
            <a:endParaRPr lang="zh-CN" altLang="en-US"/>
          </a:p>
        </p:txBody>
      </p:sp>
      <p:sp>
        <p:nvSpPr>
          <p:cNvPr id="178189" name="Line 13"/>
          <p:cNvSpPr>
            <a:spLocks noChangeShapeType="1"/>
          </p:cNvSpPr>
          <p:nvPr/>
        </p:nvSpPr>
        <p:spPr bwMode="auto">
          <a:xfrm>
            <a:off x="6278563" y="4489450"/>
            <a:ext cx="1416050" cy="0"/>
          </a:xfrm>
          <a:prstGeom prst="line">
            <a:avLst/>
          </a:prstGeom>
          <a:noFill/>
          <a:ln w="12700">
            <a:solidFill>
              <a:srgbClr val="009900"/>
            </a:solidFill>
            <a:round/>
            <a:headEnd type="triangle" w="med" len="lg"/>
            <a:tailEnd type="triangle" w="med" len="lg"/>
          </a:ln>
        </p:spPr>
        <p:txBody>
          <a:bodyPr wrap="none" anchor="ctr"/>
          <a:lstStyle/>
          <a:p>
            <a:endParaRPr lang="zh-CN" altLang="en-US"/>
          </a:p>
        </p:txBody>
      </p:sp>
      <p:sp>
        <p:nvSpPr>
          <p:cNvPr id="178190" name="Oval 14"/>
          <p:cNvSpPr>
            <a:spLocks noChangeArrowheads="1"/>
          </p:cNvSpPr>
          <p:nvPr/>
        </p:nvSpPr>
        <p:spPr bwMode="auto">
          <a:xfrm>
            <a:off x="7221538" y="2981325"/>
            <a:ext cx="90487" cy="90488"/>
          </a:xfrm>
          <a:prstGeom prst="ellipse">
            <a:avLst/>
          </a:prstGeom>
          <a:gradFill rotWithShape="1">
            <a:gsLst>
              <a:gs pos="0">
                <a:srgbClr val="FF3300"/>
              </a:gs>
              <a:gs pos="100000">
                <a:srgbClr val="761800">
                  <a:alpha val="79999"/>
                </a:srgbClr>
              </a:gs>
            </a:gsLst>
            <a:path path="shape">
              <a:fillToRect l="50000" t="50000" r="50000" b="50000"/>
            </a:path>
          </a:gradFill>
          <a:ln w="9525">
            <a:noFill/>
            <a:round/>
            <a:headEnd/>
            <a:tailEnd/>
          </a:ln>
        </p:spPr>
        <p:txBody>
          <a:bodyPr wrap="none" anchor="ctr"/>
          <a:lstStyle/>
          <a:p>
            <a:endParaRPr lang="zh-CN" altLang="en-US"/>
          </a:p>
        </p:txBody>
      </p:sp>
      <p:grpSp>
        <p:nvGrpSpPr>
          <p:cNvPr id="2" name="Group 15"/>
          <p:cNvGrpSpPr>
            <a:grpSpLocks/>
          </p:cNvGrpSpPr>
          <p:nvPr/>
        </p:nvGrpSpPr>
        <p:grpSpPr bwMode="auto">
          <a:xfrm>
            <a:off x="6477000" y="2501900"/>
            <a:ext cx="519113" cy="396875"/>
            <a:chOff x="2562" y="459"/>
            <a:chExt cx="327" cy="250"/>
          </a:xfrm>
        </p:grpSpPr>
        <p:sp>
          <p:nvSpPr>
            <p:cNvPr id="13401" name="Line 16"/>
            <p:cNvSpPr>
              <a:spLocks noChangeShapeType="1"/>
            </p:cNvSpPr>
            <p:nvPr/>
          </p:nvSpPr>
          <p:spPr bwMode="auto">
            <a:xfrm>
              <a:off x="2562" y="709"/>
              <a:ext cx="327" cy="0"/>
            </a:xfrm>
            <a:prstGeom prst="line">
              <a:avLst/>
            </a:prstGeom>
            <a:noFill/>
            <a:ln w="28575">
              <a:solidFill>
                <a:srgbClr val="008000"/>
              </a:solidFill>
              <a:round/>
              <a:headEnd/>
              <a:tailEnd type="triangle" w="sm" len="lg"/>
            </a:ln>
          </p:spPr>
          <p:txBody>
            <a:bodyPr wrap="none" anchor="ctr"/>
            <a:lstStyle/>
            <a:p>
              <a:endParaRPr lang="zh-CN" altLang="en-US"/>
            </a:p>
          </p:txBody>
        </p:sp>
        <p:graphicFrame>
          <p:nvGraphicFramePr>
            <p:cNvPr id="13334" name="Object 17"/>
            <p:cNvGraphicFramePr>
              <a:graphicFrameLocks noChangeAspect="1"/>
            </p:cNvGraphicFramePr>
            <p:nvPr/>
          </p:nvGraphicFramePr>
          <p:xfrm>
            <a:off x="2736" y="459"/>
            <a:ext cx="144" cy="192"/>
          </p:xfrm>
          <a:graphic>
            <a:graphicData uri="http://schemas.openxmlformats.org/presentationml/2006/ole">
              <p:oleObj spid="_x0000_s13334" name="公式" r:id="rId5" imgW="228501" imgH="304668" progId="Equation.3">
                <p:embed/>
              </p:oleObj>
            </a:graphicData>
          </a:graphic>
        </p:graphicFrame>
      </p:grpSp>
      <p:sp>
        <p:nvSpPr>
          <p:cNvPr id="178194" name="Line 18"/>
          <p:cNvSpPr>
            <a:spLocks noChangeShapeType="1"/>
          </p:cNvSpPr>
          <p:nvPr/>
        </p:nvSpPr>
        <p:spPr bwMode="auto">
          <a:xfrm flipH="1">
            <a:off x="7043738" y="4851400"/>
            <a:ext cx="254000" cy="217488"/>
          </a:xfrm>
          <a:prstGeom prst="line">
            <a:avLst/>
          </a:prstGeom>
          <a:noFill/>
          <a:ln w="12700">
            <a:solidFill>
              <a:schemeClr val="tx1"/>
            </a:solidFill>
            <a:round/>
            <a:headEnd/>
            <a:tailEnd/>
          </a:ln>
        </p:spPr>
        <p:txBody>
          <a:bodyPr wrap="none" anchor="ctr"/>
          <a:lstStyle/>
          <a:p>
            <a:endParaRPr lang="zh-CN" altLang="en-US"/>
          </a:p>
        </p:txBody>
      </p:sp>
      <p:sp>
        <p:nvSpPr>
          <p:cNvPr id="178195" name="Line 19"/>
          <p:cNvSpPr>
            <a:spLocks noChangeShapeType="1"/>
          </p:cNvSpPr>
          <p:nvPr/>
        </p:nvSpPr>
        <p:spPr bwMode="auto">
          <a:xfrm>
            <a:off x="4883150" y="4876800"/>
            <a:ext cx="2378075" cy="0"/>
          </a:xfrm>
          <a:prstGeom prst="line">
            <a:avLst/>
          </a:prstGeom>
          <a:noFill/>
          <a:ln w="12700">
            <a:solidFill>
              <a:srgbClr val="000099"/>
            </a:solidFill>
            <a:prstDash val="lgDashDot"/>
            <a:round/>
            <a:headEnd/>
            <a:tailEnd/>
          </a:ln>
        </p:spPr>
        <p:txBody>
          <a:bodyPr wrap="none" anchor="ctr"/>
          <a:lstStyle/>
          <a:p>
            <a:endParaRPr lang="zh-CN" altLang="en-US"/>
          </a:p>
        </p:txBody>
      </p:sp>
      <p:grpSp>
        <p:nvGrpSpPr>
          <p:cNvPr id="3" name="Group 20"/>
          <p:cNvGrpSpPr>
            <a:grpSpLocks/>
          </p:cNvGrpSpPr>
          <p:nvPr/>
        </p:nvGrpSpPr>
        <p:grpSpPr bwMode="auto">
          <a:xfrm>
            <a:off x="4597400" y="2443163"/>
            <a:ext cx="3581400" cy="2681287"/>
            <a:chOff x="521" y="2376"/>
            <a:chExt cx="2256" cy="1689"/>
          </a:xfrm>
        </p:grpSpPr>
        <p:sp>
          <p:nvSpPr>
            <p:cNvPr id="13396" name="Line 21"/>
            <p:cNvSpPr>
              <a:spLocks noChangeShapeType="1"/>
            </p:cNvSpPr>
            <p:nvPr/>
          </p:nvSpPr>
          <p:spPr bwMode="auto">
            <a:xfrm>
              <a:off x="1087" y="3576"/>
              <a:ext cx="1690" cy="1"/>
            </a:xfrm>
            <a:prstGeom prst="line">
              <a:avLst/>
            </a:prstGeom>
            <a:noFill/>
            <a:ln w="19050">
              <a:solidFill>
                <a:srgbClr val="0000FF"/>
              </a:solidFill>
              <a:round/>
              <a:headEnd/>
              <a:tailEnd type="triangle" w="med" len="lg"/>
            </a:ln>
          </p:spPr>
          <p:txBody>
            <a:bodyPr wrap="none" anchor="ctr"/>
            <a:lstStyle/>
            <a:p>
              <a:endParaRPr lang="zh-CN" altLang="en-US"/>
            </a:p>
          </p:txBody>
        </p:sp>
        <p:sp>
          <p:nvSpPr>
            <p:cNvPr id="13397" name="Text Box 22"/>
            <p:cNvSpPr txBox="1">
              <a:spLocks noChangeArrowheads="1"/>
            </p:cNvSpPr>
            <p:nvPr/>
          </p:nvSpPr>
          <p:spPr bwMode="auto">
            <a:xfrm>
              <a:off x="810" y="3385"/>
              <a:ext cx="232"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FF"/>
                  </a:solidFill>
                </a:rPr>
                <a:t>O</a:t>
              </a:r>
              <a:endParaRPr lang="en-US" altLang="zh-CN" sz="2000">
                <a:solidFill>
                  <a:srgbClr val="0000FF"/>
                </a:solidFill>
              </a:endParaRPr>
            </a:p>
          </p:txBody>
        </p:sp>
        <p:sp>
          <p:nvSpPr>
            <p:cNvPr id="13398" name="Text Box 23"/>
            <p:cNvSpPr txBox="1">
              <a:spLocks noChangeArrowheads="1"/>
            </p:cNvSpPr>
            <p:nvPr/>
          </p:nvSpPr>
          <p:spPr bwMode="auto">
            <a:xfrm>
              <a:off x="808" y="2425"/>
              <a:ext cx="205"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FF"/>
                  </a:solidFill>
                </a:rPr>
                <a:t>S</a:t>
              </a:r>
              <a:endParaRPr lang="en-US" altLang="zh-CN" sz="2000">
                <a:solidFill>
                  <a:srgbClr val="0000FF"/>
                </a:solidFill>
              </a:endParaRPr>
            </a:p>
          </p:txBody>
        </p:sp>
        <p:sp>
          <p:nvSpPr>
            <p:cNvPr id="13399" name="Line 24"/>
            <p:cNvSpPr>
              <a:spLocks noChangeShapeType="1"/>
            </p:cNvSpPr>
            <p:nvPr/>
          </p:nvSpPr>
          <p:spPr bwMode="auto">
            <a:xfrm flipH="1">
              <a:off x="521" y="3576"/>
              <a:ext cx="576" cy="489"/>
            </a:xfrm>
            <a:prstGeom prst="line">
              <a:avLst/>
            </a:prstGeom>
            <a:noFill/>
            <a:ln w="19050">
              <a:solidFill>
                <a:srgbClr val="0000FF"/>
              </a:solidFill>
              <a:round/>
              <a:headEnd/>
              <a:tailEnd type="triangle" w="med" len="lg"/>
            </a:ln>
          </p:spPr>
          <p:txBody>
            <a:bodyPr wrap="none" anchor="ctr"/>
            <a:lstStyle/>
            <a:p>
              <a:endParaRPr lang="zh-CN" altLang="en-US"/>
            </a:p>
          </p:txBody>
        </p:sp>
        <p:sp>
          <p:nvSpPr>
            <p:cNvPr id="13400" name="Line 25"/>
            <p:cNvSpPr>
              <a:spLocks noChangeShapeType="1"/>
            </p:cNvSpPr>
            <p:nvPr/>
          </p:nvSpPr>
          <p:spPr bwMode="auto">
            <a:xfrm flipV="1">
              <a:off x="1097" y="2376"/>
              <a:ext cx="0" cy="1209"/>
            </a:xfrm>
            <a:prstGeom prst="line">
              <a:avLst/>
            </a:prstGeom>
            <a:noFill/>
            <a:ln w="19050">
              <a:solidFill>
                <a:srgbClr val="0000FF"/>
              </a:solidFill>
              <a:round/>
              <a:headEnd/>
              <a:tailEnd type="triangle" w="med" len="lg"/>
            </a:ln>
          </p:spPr>
          <p:txBody>
            <a:bodyPr wrap="none" anchor="ctr"/>
            <a:lstStyle/>
            <a:p>
              <a:endParaRPr lang="zh-CN" altLang="en-US"/>
            </a:p>
          </p:txBody>
        </p:sp>
      </p:grpSp>
      <p:grpSp>
        <p:nvGrpSpPr>
          <p:cNvPr id="4" name="Group 26"/>
          <p:cNvGrpSpPr>
            <a:grpSpLocks/>
          </p:cNvGrpSpPr>
          <p:nvPr/>
        </p:nvGrpSpPr>
        <p:grpSpPr bwMode="auto">
          <a:xfrm>
            <a:off x="5519738" y="2439988"/>
            <a:ext cx="2667000" cy="2682875"/>
            <a:chOff x="521" y="1450"/>
            <a:chExt cx="1680" cy="1690"/>
          </a:xfrm>
        </p:grpSpPr>
        <p:sp>
          <p:nvSpPr>
            <p:cNvPr id="13391" name="Text Box 27"/>
            <p:cNvSpPr txBox="1">
              <a:spLocks noChangeArrowheads="1"/>
            </p:cNvSpPr>
            <p:nvPr/>
          </p:nvSpPr>
          <p:spPr bwMode="auto">
            <a:xfrm>
              <a:off x="815" y="2404"/>
              <a:ext cx="276"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tx2"/>
                  </a:solidFill>
                </a:rPr>
                <a:t>O'</a:t>
              </a:r>
            </a:p>
          </p:txBody>
        </p:sp>
        <p:sp>
          <p:nvSpPr>
            <p:cNvPr id="13392" name="Text Box 28"/>
            <p:cNvSpPr txBox="1">
              <a:spLocks noChangeArrowheads="1"/>
            </p:cNvSpPr>
            <p:nvPr/>
          </p:nvSpPr>
          <p:spPr bwMode="auto">
            <a:xfrm>
              <a:off x="806" y="1498"/>
              <a:ext cx="249"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tx2"/>
                  </a:solidFill>
                </a:rPr>
                <a:t>S'</a:t>
              </a:r>
            </a:p>
          </p:txBody>
        </p:sp>
        <p:sp>
          <p:nvSpPr>
            <p:cNvPr id="13393" name="Line 29"/>
            <p:cNvSpPr>
              <a:spLocks noChangeShapeType="1"/>
            </p:cNvSpPr>
            <p:nvPr/>
          </p:nvSpPr>
          <p:spPr bwMode="auto">
            <a:xfrm flipH="1">
              <a:off x="521" y="2647"/>
              <a:ext cx="578" cy="493"/>
            </a:xfrm>
            <a:prstGeom prst="line">
              <a:avLst/>
            </a:prstGeom>
            <a:noFill/>
            <a:ln w="28575">
              <a:solidFill>
                <a:schemeClr val="tx2"/>
              </a:solidFill>
              <a:round/>
              <a:headEnd/>
              <a:tailEnd type="triangle" w="med" len="lg"/>
            </a:ln>
          </p:spPr>
          <p:txBody>
            <a:bodyPr wrap="none" anchor="ctr"/>
            <a:lstStyle/>
            <a:p>
              <a:endParaRPr lang="zh-CN" altLang="en-US"/>
            </a:p>
          </p:txBody>
        </p:sp>
        <p:sp>
          <p:nvSpPr>
            <p:cNvPr id="13394" name="Line 30"/>
            <p:cNvSpPr>
              <a:spLocks noChangeShapeType="1"/>
            </p:cNvSpPr>
            <p:nvPr/>
          </p:nvSpPr>
          <p:spPr bwMode="auto">
            <a:xfrm flipV="1">
              <a:off x="1098" y="1450"/>
              <a:ext cx="0" cy="1209"/>
            </a:xfrm>
            <a:prstGeom prst="line">
              <a:avLst/>
            </a:prstGeom>
            <a:noFill/>
            <a:ln w="28575">
              <a:solidFill>
                <a:schemeClr val="tx2"/>
              </a:solidFill>
              <a:round/>
              <a:headEnd/>
              <a:tailEnd type="triangle" w="med" len="lg"/>
            </a:ln>
          </p:spPr>
          <p:txBody>
            <a:bodyPr wrap="none" anchor="ctr"/>
            <a:lstStyle/>
            <a:p>
              <a:endParaRPr lang="zh-CN" altLang="en-US"/>
            </a:p>
          </p:txBody>
        </p:sp>
        <p:sp>
          <p:nvSpPr>
            <p:cNvPr id="13395" name="Line 31"/>
            <p:cNvSpPr>
              <a:spLocks noChangeShapeType="1"/>
            </p:cNvSpPr>
            <p:nvPr/>
          </p:nvSpPr>
          <p:spPr bwMode="auto">
            <a:xfrm>
              <a:off x="1099" y="2650"/>
              <a:ext cx="1102" cy="2"/>
            </a:xfrm>
            <a:prstGeom prst="line">
              <a:avLst/>
            </a:prstGeom>
            <a:noFill/>
            <a:ln w="28575">
              <a:solidFill>
                <a:schemeClr val="tx2"/>
              </a:solidFill>
              <a:round/>
              <a:headEnd/>
              <a:tailEnd type="triangle" w="med" len="lg"/>
            </a:ln>
          </p:spPr>
          <p:txBody>
            <a:bodyPr wrap="none" anchor="ctr"/>
            <a:lstStyle/>
            <a:p>
              <a:endParaRPr lang="zh-CN" altLang="en-US"/>
            </a:p>
          </p:txBody>
        </p:sp>
      </p:grpSp>
      <p:sp>
        <p:nvSpPr>
          <p:cNvPr id="178208" name="Text Box 32"/>
          <p:cNvSpPr txBox="1">
            <a:spLocks noChangeArrowheads="1"/>
          </p:cNvSpPr>
          <p:nvPr/>
        </p:nvSpPr>
        <p:spPr bwMode="auto">
          <a:xfrm>
            <a:off x="2951163" y="954088"/>
            <a:ext cx="5670550" cy="830262"/>
          </a:xfrm>
          <a:prstGeom prst="rect">
            <a:avLst/>
          </a:prstGeom>
          <a:noFill/>
          <a:ln w="9525">
            <a:noFill/>
            <a:miter lim="800000"/>
            <a:headEnd/>
            <a:tailEnd/>
          </a:ln>
        </p:spPr>
        <p:txBody>
          <a:bodyPr>
            <a:spAutoFit/>
          </a:bodyPr>
          <a:lstStyle/>
          <a:p>
            <a:pPr algn="l">
              <a:spcBef>
                <a:spcPct val="50000"/>
              </a:spcBef>
            </a:pPr>
            <a:r>
              <a:rPr lang="zh-CN" altLang="en-US" b="1">
                <a:solidFill>
                  <a:srgbClr val="990000"/>
                </a:solidFill>
              </a:rPr>
              <a:t>它是关于同一物理事件在两个惯性系中的两组时空坐标之间的变换关系。</a:t>
            </a:r>
          </a:p>
        </p:txBody>
      </p:sp>
      <p:sp>
        <p:nvSpPr>
          <p:cNvPr id="13352" name="Text Box 33"/>
          <p:cNvSpPr txBox="1">
            <a:spLocks noChangeArrowheads="1"/>
          </p:cNvSpPr>
          <p:nvPr/>
        </p:nvSpPr>
        <p:spPr bwMode="auto">
          <a:xfrm>
            <a:off x="611188" y="368300"/>
            <a:ext cx="7699375" cy="519113"/>
          </a:xfrm>
          <a:prstGeom prst="rect">
            <a:avLst/>
          </a:prstGeom>
          <a:noFill/>
          <a:ln w="9525">
            <a:noFill/>
            <a:miter lim="800000"/>
            <a:headEnd/>
            <a:tailEnd/>
          </a:ln>
        </p:spPr>
        <p:txBody>
          <a:bodyPr>
            <a:spAutoFit/>
          </a:bodyPr>
          <a:lstStyle/>
          <a:p>
            <a:r>
              <a:rPr lang="en-US" altLang="zh-CN" sz="2800" b="1">
                <a:solidFill>
                  <a:srgbClr val="000099"/>
                </a:solidFill>
                <a:ea typeface="黑体" pitchFamily="49" charset="-122"/>
              </a:rPr>
              <a:t>§ 4.3     </a:t>
            </a:r>
            <a:r>
              <a:rPr lang="zh-CN" altLang="en-US" sz="2800" b="1">
                <a:solidFill>
                  <a:srgbClr val="000099"/>
                </a:solidFill>
                <a:ea typeface="黑体" pitchFamily="49" charset="-122"/>
              </a:rPr>
              <a:t>洛伦兹变换</a:t>
            </a:r>
          </a:p>
        </p:txBody>
      </p:sp>
      <p:grpSp>
        <p:nvGrpSpPr>
          <p:cNvPr id="5" name="Group 34"/>
          <p:cNvGrpSpPr>
            <a:grpSpLocks/>
          </p:cNvGrpSpPr>
          <p:nvPr/>
        </p:nvGrpSpPr>
        <p:grpSpPr bwMode="auto">
          <a:xfrm>
            <a:off x="296863" y="1784350"/>
            <a:ext cx="8382000" cy="534988"/>
            <a:chOff x="187" y="1026"/>
            <a:chExt cx="5280" cy="337"/>
          </a:xfrm>
        </p:grpSpPr>
        <p:sp>
          <p:nvSpPr>
            <p:cNvPr id="13390" name="Text Box 35"/>
            <p:cNvSpPr txBox="1">
              <a:spLocks noChangeArrowheads="1"/>
            </p:cNvSpPr>
            <p:nvPr/>
          </p:nvSpPr>
          <p:spPr bwMode="auto">
            <a:xfrm>
              <a:off x="187" y="1026"/>
              <a:ext cx="5280" cy="337"/>
            </a:xfrm>
            <a:prstGeom prst="rect">
              <a:avLst/>
            </a:prstGeom>
            <a:noFill/>
            <a:ln w="9525">
              <a:noFill/>
              <a:miter lim="800000"/>
              <a:headEnd/>
              <a:tailEnd/>
            </a:ln>
          </p:spPr>
          <p:txBody>
            <a:bodyPr>
              <a:spAutoFit/>
            </a:bodyPr>
            <a:lstStyle/>
            <a:p>
              <a:pPr algn="l">
                <a:lnSpc>
                  <a:spcPct val="120000"/>
                </a:lnSpc>
              </a:pPr>
              <a:r>
                <a:rPr kumimoji="0" lang="zh-CN" altLang="en-US" b="1">
                  <a:solidFill>
                    <a:schemeClr val="bg2"/>
                  </a:solidFill>
                </a:rPr>
                <a:t>设：        </a:t>
              </a:r>
              <a:r>
                <a:rPr kumimoji="0" lang="en-US" altLang="zh-CN" b="1">
                  <a:solidFill>
                    <a:schemeClr val="bg2"/>
                  </a:solidFill>
                </a:rPr>
                <a:t>   </a:t>
              </a:r>
              <a:r>
                <a:rPr kumimoji="0" lang="zh-CN" altLang="en-US" b="1">
                  <a:solidFill>
                    <a:schemeClr val="bg2"/>
                  </a:solidFill>
                </a:rPr>
                <a:t>时，</a:t>
              </a:r>
              <a:r>
                <a:rPr lang="en-US" altLang="zh-CN" b="1" i="1">
                  <a:solidFill>
                    <a:srgbClr val="FF6600"/>
                  </a:solidFill>
                </a:rPr>
                <a:t> OO' </a:t>
              </a:r>
              <a:r>
                <a:rPr kumimoji="0" lang="zh-CN" altLang="en-US" b="1">
                  <a:solidFill>
                    <a:schemeClr val="bg2"/>
                  </a:solidFill>
                </a:rPr>
                <a:t>重合，事件</a:t>
              </a:r>
              <a:r>
                <a:rPr kumimoji="0" lang="en-US" altLang="zh-CN" b="1">
                  <a:solidFill>
                    <a:schemeClr val="bg2"/>
                  </a:solidFill>
                </a:rPr>
                <a:t> </a:t>
              </a:r>
              <a:r>
                <a:rPr kumimoji="0" lang="en-US" altLang="zh-CN" b="1" i="1">
                  <a:solidFill>
                    <a:schemeClr val="bg2"/>
                  </a:solidFill>
                </a:rPr>
                <a:t>P </a:t>
              </a:r>
              <a:r>
                <a:rPr kumimoji="0" lang="zh-CN" altLang="en-US" b="1">
                  <a:solidFill>
                    <a:schemeClr val="bg2"/>
                  </a:solidFill>
                </a:rPr>
                <a:t>的时空坐标如图所示。</a:t>
              </a:r>
            </a:p>
          </p:txBody>
        </p:sp>
        <p:graphicFrame>
          <p:nvGraphicFramePr>
            <p:cNvPr id="13333" name="Object 36"/>
            <p:cNvGraphicFramePr>
              <a:graphicFrameLocks noChangeAspect="1"/>
            </p:cNvGraphicFramePr>
            <p:nvPr/>
          </p:nvGraphicFramePr>
          <p:xfrm>
            <a:off x="584" y="1110"/>
            <a:ext cx="505" cy="181"/>
          </p:xfrm>
          <a:graphic>
            <a:graphicData uri="http://schemas.openxmlformats.org/presentationml/2006/ole">
              <p:oleObj spid="_x0000_s13333" name="公式" r:id="rId6" imgW="533160" imgH="177480" progId="Equation.3">
                <p:embed/>
              </p:oleObj>
            </a:graphicData>
          </a:graphic>
        </p:graphicFrame>
      </p:grpSp>
      <p:graphicFrame>
        <p:nvGraphicFramePr>
          <p:cNvPr id="178214" name="Object 38"/>
          <p:cNvGraphicFramePr>
            <a:graphicFrameLocks noChangeAspect="1"/>
          </p:cNvGraphicFramePr>
          <p:nvPr/>
        </p:nvGraphicFramePr>
        <p:xfrm>
          <a:off x="7542213" y="3249613"/>
          <a:ext cx="1260475" cy="361950"/>
        </p:xfrm>
        <a:graphic>
          <a:graphicData uri="http://schemas.openxmlformats.org/presentationml/2006/ole">
            <p:oleObj spid="_x0000_s13316" name="Equation" r:id="rId7" imgW="761669" imgH="203112" progId="">
              <p:embed/>
            </p:oleObj>
          </a:graphicData>
        </a:graphic>
      </p:graphicFrame>
      <p:sp>
        <p:nvSpPr>
          <p:cNvPr id="178217" name="Text Box 41"/>
          <p:cNvSpPr txBox="1">
            <a:spLocks noChangeArrowheads="1"/>
          </p:cNvSpPr>
          <p:nvPr/>
        </p:nvSpPr>
        <p:spPr bwMode="auto">
          <a:xfrm>
            <a:off x="385763" y="2386013"/>
            <a:ext cx="1081087" cy="457200"/>
          </a:xfrm>
          <a:prstGeom prst="rect">
            <a:avLst/>
          </a:prstGeom>
          <a:noFill/>
          <a:ln w="9525">
            <a:noFill/>
            <a:miter lim="800000"/>
            <a:headEnd/>
            <a:tailEnd/>
          </a:ln>
        </p:spPr>
        <p:txBody>
          <a:bodyPr>
            <a:spAutoFit/>
          </a:bodyPr>
          <a:lstStyle/>
          <a:p>
            <a:pPr>
              <a:spcBef>
                <a:spcPct val="50000"/>
              </a:spcBef>
            </a:pPr>
            <a:r>
              <a:rPr lang="en-US" altLang="zh-CN" b="1" i="1">
                <a:solidFill>
                  <a:srgbClr val="FF6600"/>
                </a:solidFill>
              </a:rPr>
              <a:t>S </a:t>
            </a:r>
            <a:r>
              <a:rPr lang="zh-CN" altLang="en-US" b="1"/>
              <a:t>测量</a:t>
            </a:r>
          </a:p>
        </p:txBody>
      </p:sp>
      <p:sp>
        <p:nvSpPr>
          <p:cNvPr id="178218" name="Text Box 42"/>
          <p:cNvSpPr txBox="1">
            <a:spLocks noChangeArrowheads="1"/>
          </p:cNvSpPr>
          <p:nvPr/>
        </p:nvSpPr>
        <p:spPr bwMode="auto">
          <a:xfrm>
            <a:off x="341313" y="3743325"/>
            <a:ext cx="1296987" cy="461963"/>
          </a:xfrm>
          <a:prstGeom prst="rect">
            <a:avLst/>
          </a:prstGeom>
          <a:noFill/>
          <a:ln w="9525">
            <a:noFill/>
            <a:miter lim="800000"/>
            <a:headEnd/>
            <a:tailEnd/>
          </a:ln>
        </p:spPr>
        <p:txBody>
          <a:bodyPr>
            <a:spAutoFit/>
          </a:bodyPr>
          <a:lstStyle/>
          <a:p>
            <a:pPr>
              <a:spcBef>
                <a:spcPct val="50000"/>
              </a:spcBef>
            </a:pPr>
            <a:r>
              <a:rPr lang="en-US" altLang="zh-CN" b="1" i="1">
                <a:solidFill>
                  <a:srgbClr val="FF6600"/>
                </a:solidFill>
              </a:rPr>
              <a:t>S' </a:t>
            </a:r>
            <a:r>
              <a:rPr lang="zh-CN" altLang="en-US" b="1"/>
              <a:t>测量</a:t>
            </a:r>
          </a:p>
        </p:txBody>
      </p:sp>
      <p:graphicFrame>
        <p:nvGraphicFramePr>
          <p:cNvPr id="178219" name="Object 43"/>
          <p:cNvGraphicFramePr>
            <a:graphicFrameLocks noChangeAspect="1"/>
          </p:cNvGraphicFramePr>
          <p:nvPr/>
        </p:nvGraphicFramePr>
        <p:xfrm>
          <a:off x="1371600" y="2438400"/>
          <a:ext cx="495300" cy="349250"/>
        </p:xfrm>
        <a:graphic>
          <a:graphicData uri="http://schemas.openxmlformats.org/presentationml/2006/ole">
            <p:oleObj spid="_x0000_s13317" name="Equation" r:id="rId8" imgW="253670" imgH="177569" progId="">
              <p:embed/>
            </p:oleObj>
          </a:graphicData>
        </a:graphic>
      </p:graphicFrame>
      <p:graphicFrame>
        <p:nvGraphicFramePr>
          <p:cNvPr id="178220" name="Object 44"/>
          <p:cNvGraphicFramePr>
            <a:graphicFrameLocks noChangeAspect="1"/>
          </p:cNvGraphicFramePr>
          <p:nvPr/>
        </p:nvGraphicFramePr>
        <p:xfrm>
          <a:off x="1460500" y="3832225"/>
          <a:ext cx="450850" cy="338138"/>
        </p:xfrm>
        <a:graphic>
          <a:graphicData uri="http://schemas.openxmlformats.org/presentationml/2006/ole">
            <p:oleObj spid="_x0000_s13318" name="Equation" r:id="rId9" imgW="190417" imgH="139639" progId="">
              <p:embed/>
            </p:oleObj>
          </a:graphicData>
        </a:graphic>
      </p:graphicFrame>
      <p:graphicFrame>
        <p:nvGraphicFramePr>
          <p:cNvPr id="178221" name="Object 45"/>
          <p:cNvGraphicFramePr>
            <a:graphicFrameLocks noChangeAspect="1"/>
          </p:cNvGraphicFramePr>
          <p:nvPr/>
        </p:nvGraphicFramePr>
        <p:xfrm>
          <a:off x="2097088" y="2393950"/>
          <a:ext cx="1890712" cy="471488"/>
        </p:xfrm>
        <a:graphic>
          <a:graphicData uri="http://schemas.openxmlformats.org/presentationml/2006/ole">
            <p:oleObj spid="_x0000_s13319" name="Equation" r:id="rId10" imgW="952087" imgH="279279" progId="">
              <p:embed/>
            </p:oleObj>
          </a:graphicData>
        </a:graphic>
      </p:graphicFrame>
      <p:graphicFrame>
        <p:nvGraphicFramePr>
          <p:cNvPr id="178222" name="Object 46"/>
          <p:cNvGraphicFramePr>
            <a:graphicFrameLocks noChangeAspect="1"/>
          </p:cNvGraphicFramePr>
          <p:nvPr/>
        </p:nvGraphicFramePr>
        <p:xfrm>
          <a:off x="881063" y="3024188"/>
          <a:ext cx="2881312" cy="584200"/>
        </p:xfrm>
        <a:graphic>
          <a:graphicData uri="http://schemas.openxmlformats.org/presentationml/2006/ole">
            <p:oleObj spid="_x0000_s13320" name="Equation" r:id="rId11" imgW="1536700" imgH="292100" progId="">
              <p:embed/>
            </p:oleObj>
          </a:graphicData>
        </a:graphic>
      </p:graphicFrame>
      <p:grpSp>
        <p:nvGrpSpPr>
          <p:cNvPr id="6" name="Group 47"/>
          <p:cNvGrpSpPr>
            <a:grpSpLocks/>
          </p:cNvGrpSpPr>
          <p:nvPr/>
        </p:nvGrpSpPr>
        <p:grpSpPr bwMode="auto">
          <a:xfrm>
            <a:off x="5516563" y="3294063"/>
            <a:ext cx="946150" cy="355600"/>
            <a:chOff x="3475" y="2075"/>
            <a:chExt cx="596" cy="224"/>
          </a:xfrm>
        </p:grpSpPr>
        <p:sp>
          <p:nvSpPr>
            <p:cNvPr id="13389" name="Line 48"/>
            <p:cNvSpPr>
              <a:spLocks noChangeShapeType="1"/>
            </p:cNvSpPr>
            <p:nvPr/>
          </p:nvSpPr>
          <p:spPr bwMode="auto">
            <a:xfrm>
              <a:off x="3475" y="2188"/>
              <a:ext cx="596" cy="0"/>
            </a:xfrm>
            <a:prstGeom prst="line">
              <a:avLst/>
            </a:prstGeom>
            <a:noFill/>
            <a:ln w="12700">
              <a:solidFill>
                <a:srgbClr val="008000"/>
              </a:solidFill>
              <a:round/>
              <a:headEnd type="stealth" w="med" len="lg"/>
              <a:tailEnd type="stealth" w="med" len="lg"/>
            </a:ln>
          </p:spPr>
          <p:txBody>
            <a:bodyPr/>
            <a:lstStyle/>
            <a:p>
              <a:endParaRPr lang="zh-CN" altLang="en-US"/>
            </a:p>
          </p:txBody>
        </p:sp>
        <p:graphicFrame>
          <p:nvGraphicFramePr>
            <p:cNvPr id="13332" name="Object 49"/>
            <p:cNvGraphicFramePr>
              <a:graphicFrameLocks noChangeAspect="1"/>
            </p:cNvGraphicFramePr>
            <p:nvPr/>
          </p:nvGraphicFramePr>
          <p:xfrm>
            <a:off x="3645" y="2075"/>
            <a:ext cx="258" cy="224"/>
          </p:xfrm>
          <a:graphic>
            <a:graphicData uri="http://schemas.openxmlformats.org/presentationml/2006/ole">
              <p:oleObj spid="_x0000_s13332" name="Equation" r:id="rId12" imgW="190335" imgH="164957" progId="">
                <p:embed/>
              </p:oleObj>
            </a:graphicData>
          </a:graphic>
        </p:graphicFrame>
      </p:grpSp>
      <p:graphicFrame>
        <p:nvGraphicFramePr>
          <p:cNvPr id="178226" name="Object 50"/>
          <p:cNvGraphicFramePr>
            <a:graphicFrameLocks noChangeAspect="1"/>
          </p:cNvGraphicFramePr>
          <p:nvPr/>
        </p:nvGraphicFramePr>
        <p:xfrm>
          <a:off x="5840413" y="4978400"/>
          <a:ext cx="252412" cy="252413"/>
        </p:xfrm>
        <a:graphic>
          <a:graphicData uri="http://schemas.openxmlformats.org/presentationml/2006/ole">
            <p:oleObj spid="_x0000_s13321" name="公式" r:id="rId13" imgW="139700" imgH="139700" progId="Equation.3">
              <p:embed/>
            </p:oleObj>
          </a:graphicData>
        </a:graphic>
      </p:graphicFrame>
      <p:graphicFrame>
        <p:nvGraphicFramePr>
          <p:cNvPr id="178227" name="Object 51"/>
          <p:cNvGraphicFramePr>
            <a:graphicFrameLocks noChangeAspect="1"/>
          </p:cNvGraphicFramePr>
          <p:nvPr/>
        </p:nvGraphicFramePr>
        <p:xfrm>
          <a:off x="6759575" y="4529138"/>
          <a:ext cx="341313" cy="317500"/>
        </p:xfrm>
        <a:graphic>
          <a:graphicData uri="http://schemas.openxmlformats.org/presentationml/2006/ole">
            <p:oleObj spid="_x0000_s13322" name="公式" r:id="rId14" imgW="190335" imgH="177646" progId="Equation.3">
              <p:embed/>
            </p:oleObj>
          </a:graphicData>
        </a:graphic>
      </p:graphicFrame>
      <p:sp>
        <p:nvSpPr>
          <p:cNvPr id="178228" name="Text Box 52"/>
          <p:cNvSpPr txBox="1">
            <a:spLocks noChangeArrowheads="1"/>
          </p:cNvSpPr>
          <p:nvPr/>
        </p:nvSpPr>
        <p:spPr bwMode="auto">
          <a:xfrm>
            <a:off x="7285038" y="2814638"/>
            <a:ext cx="533400" cy="512762"/>
          </a:xfrm>
          <a:prstGeom prst="rect">
            <a:avLst/>
          </a:prstGeom>
          <a:noFill/>
          <a:ln w="9525">
            <a:noFill/>
            <a:miter lim="800000"/>
            <a:headEnd/>
            <a:tailEnd/>
          </a:ln>
        </p:spPr>
        <p:txBody>
          <a:bodyPr>
            <a:spAutoFit/>
          </a:bodyPr>
          <a:lstStyle/>
          <a:p>
            <a:pPr algn="l">
              <a:lnSpc>
                <a:spcPct val="115000"/>
              </a:lnSpc>
            </a:pPr>
            <a:r>
              <a:rPr lang="en-US" altLang="zh-CN" b="1" i="1">
                <a:solidFill>
                  <a:schemeClr val="bg1"/>
                </a:solidFill>
              </a:rPr>
              <a:t>P</a:t>
            </a:r>
            <a:endParaRPr lang="en-US" altLang="zh-CN">
              <a:solidFill>
                <a:schemeClr val="bg1"/>
              </a:solidFill>
            </a:endParaRPr>
          </a:p>
        </p:txBody>
      </p:sp>
      <p:sp>
        <p:nvSpPr>
          <p:cNvPr id="178229" name="Text Box 53"/>
          <p:cNvSpPr txBox="1">
            <a:spLocks noChangeArrowheads="1"/>
          </p:cNvSpPr>
          <p:nvPr/>
        </p:nvSpPr>
        <p:spPr bwMode="auto">
          <a:xfrm>
            <a:off x="7542213" y="3203575"/>
            <a:ext cx="1304925" cy="442913"/>
          </a:xfrm>
          <a:prstGeom prst="rect">
            <a:avLst/>
          </a:prstGeom>
          <a:solidFill>
            <a:schemeClr val="accent1"/>
          </a:solidFill>
          <a:ln w="9525">
            <a:noFill/>
            <a:miter lim="800000"/>
            <a:headEnd/>
            <a:tailEnd/>
          </a:ln>
        </p:spPr>
        <p:txBody>
          <a:bodyPr>
            <a:spAutoFit/>
          </a:bodyPr>
          <a:lstStyle/>
          <a:p>
            <a:pPr algn="l">
              <a:lnSpc>
                <a:spcPct val="115000"/>
              </a:lnSpc>
            </a:pPr>
            <a:r>
              <a:rPr lang="en-US" altLang="zh-CN" sz="2000" b="1">
                <a:solidFill>
                  <a:srgbClr val="0000FF"/>
                </a:solidFill>
              </a:rPr>
              <a:t>(</a:t>
            </a:r>
            <a:r>
              <a:rPr lang="en-US" altLang="zh-CN" sz="2000" b="1" i="1">
                <a:solidFill>
                  <a:srgbClr val="0000FF"/>
                </a:solidFill>
              </a:rPr>
              <a:t>x</a:t>
            </a:r>
            <a:r>
              <a:rPr lang="en-US" altLang="zh-CN" sz="2000" b="1">
                <a:solidFill>
                  <a:srgbClr val="0000FF"/>
                </a:solidFill>
              </a:rPr>
              <a:t>, </a:t>
            </a:r>
            <a:r>
              <a:rPr lang="en-US" altLang="zh-CN" sz="2000" b="1" i="1">
                <a:solidFill>
                  <a:srgbClr val="0000FF"/>
                </a:solidFill>
              </a:rPr>
              <a:t>y</a:t>
            </a:r>
            <a:r>
              <a:rPr lang="en-US" altLang="zh-CN" sz="2000" b="1">
                <a:solidFill>
                  <a:srgbClr val="0000FF"/>
                </a:solidFill>
              </a:rPr>
              <a:t>, </a:t>
            </a:r>
            <a:r>
              <a:rPr lang="en-US" altLang="zh-CN" sz="2000" b="1" i="1">
                <a:solidFill>
                  <a:srgbClr val="0000FF"/>
                </a:solidFill>
              </a:rPr>
              <a:t>z</a:t>
            </a:r>
            <a:r>
              <a:rPr lang="en-US" altLang="zh-CN" sz="2000" b="1">
                <a:solidFill>
                  <a:srgbClr val="0000FF"/>
                </a:solidFill>
              </a:rPr>
              <a:t>, </a:t>
            </a:r>
            <a:r>
              <a:rPr lang="en-US" altLang="zh-CN" sz="2000" b="1" i="1">
                <a:solidFill>
                  <a:srgbClr val="0000FF"/>
                </a:solidFill>
              </a:rPr>
              <a:t>t</a:t>
            </a:r>
            <a:r>
              <a:rPr lang="en-US" altLang="zh-CN" sz="2000" b="1">
                <a:solidFill>
                  <a:srgbClr val="0000FF"/>
                </a:solidFill>
              </a:rPr>
              <a:t> )</a:t>
            </a:r>
            <a:endParaRPr lang="en-US" altLang="zh-CN" sz="2000">
              <a:solidFill>
                <a:srgbClr val="0000FF"/>
              </a:solidFill>
            </a:endParaRPr>
          </a:p>
        </p:txBody>
      </p:sp>
      <p:sp>
        <p:nvSpPr>
          <p:cNvPr id="178230" name="Line 54"/>
          <p:cNvSpPr>
            <a:spLocks noChangeShapeType="1"/>
          </p:cNvSpPr>
          <p:nvPr/>
        </p:nvSpPr>
        <p:spPr bwMode="auto">
          <a:xfrm flipV="1">
            <a:off x="5502275" y="3025775"/>
            <a:ext cx="1754188" cy="1323975"/>
          </a:xfrm>
          <a:prstGeom prst="line">
            <a:avLst/>
          </a:prstGeom>
          <a:noFill/>
          <a:ln w="28575">
            <a:solidFill>
              <a:srgbClr val="0000FF"/>
            </a:solidFill>
            <a:round/>
            <a:headEnd/>
            <a:tailEnd type="triangle" w="sm" len="lg"/>
          </a:ln>
        </p:spPr>
        <p:txBody>
          <a:bodyPr wrap="none" anchor="ctr"/>
          <a:lstStyle/>
          <a:p>
            <a:endParaRPr lang="zh-CN" altLang="en-US"/>
          </a:p>
        </p:txBody>
      </p:sp>
      <p:sp>
        <p:nvSpPr>
          <p:cNvPr id="178231" name="Line 55"/>
          <p:cNvSpPr>
            <a:spLocks noChangeShapeType="1"/>
          </p:cNvSpPr>
          <p:nvPr/>
        </p:nvSpPr>
        <p:spPr bwMode="auto">
          <a:xfrm flipV="1">
            <a:off x="6416675" y="3022600"/>
            <a:ext cx="839788" cy="1327150"/>
          </a:xfrm>
          <a:prstGeom prst="line">
            <a:avLst/>
          </a:prstGeom>
          <a:noFill/>
          <a:ln w="28575">
            <a:solidFill>
              <a:schemeClr val="tx2"/>
            </a:solidFill>
            <a:round/>
            <a:headEnd/>
            <a:tailEnd type="triangle" w="sm" len="lg"/>
          </a:ln>
        </p:spPr>
        <p:txBody>
          <a:bodyPr wrap="none" anchor="ctr"/>
          <a:lstStyle/>
          <a:p>
            <a:endParaRPr lang="zh-CN" altLang="en-US"/>
          </a:p>
        </p:txBody>
      </p:sp>
      <p:sp>
        <p:nvSpPr>
          <p:cNvPr id="178232" name="Line 56"/>
          <p:cNvSpPr>
            <a:spLocks noChangeShapeType="1"/>
          </p:cNvSpPr>
          <p:nvPr/>
        </p:nvSpPr>
        <p:spPr bwMode="auto">
          <a:xfrm>
            <a:off x="7254875" y="3054350"/>
            <a:ext cx="0" cy="1828800"/>
          </a:xfrm>
          <a:prstGeom prst="line">
            <a:avLst/>
          </a:prstGeom>
          <a:noFill/>
          <a:ln w="12700">
            <a:solidFill>
              <a:schemeClr val="tx2"/>
            </a:solidFill>
            <a:prstDash val="lgDashDot"/>
            <a:round/>
            <a:headEnd/>
            <a:tailEnd/>
          </a:ln>
        </p:spPr>
        <p:txBody>
          <a:bodyPr wrap="none" anchor="ctr"/>
          <a:lstStyle/>
          <a:p>
            <a:endParaRPr lang="zh-CN" altLang="en-US"/>
          </a:p>
        </p:txBody>
      </p:sp>
      <p:sp>
        <p:nvSpPr>
          <p:cNvPr id="178233" name="Line 57"/>
          <p:cNvSpPr>
            <a:spLocks noChangeShapeType="1"/>
          </p:cNvSpPr>
          <p:nvPr/>
        </p:nvSpPr>
        <p:spPr bwMode="auto">
          <a:xfrm flipH="1">
            <a:off x="7272338" y="4384675"/>
            <a:ext cx="568325" cy="484188"/>
          </a:xfrm>
          <a:prstGeom prst="line">
            <a:avLst/>
          </a:prstGeom>
          <a:noFill/>
          <a:ln w="12700">
            <a:solidFill>
              <a:schemeClr val="tx2"/>
            </a:solidFill>
            <a:prstDash val="lgDashDot"/>
            <a:round/>
            <a:headEnd/>
            <a:tailEnd/>
          </a:ln>
        </p:spPr>
        <p:txBody>
          <a:bodyPr wrap="none" anchor="ctr"/>
          <a:lstStyle/>
          <a:p>
            <a:endParaRPr lang="zh-CN" altLang="en-US"/>
          </a:p>
        </p:txBody>
      </p:sp>
      <p:sp>
        <p:nvSpPr>
          <p:cNvPr id="178234" name="Line 58"/>
          <p:cNvSpPr>
            <a:spLocks noChangeShapeType="1"/>
          </p:cNvSpPr>
          <p:nvPr/>
        </p:nvSpPr>
        <p:spPr bwMode="auto">
          <a:xfrm>
            <a:off x="4819650" y="4948238"/>
            <a:ext cx="2339975" cy="0"/>
          </a:xfrm>
          <a:prstGeom prst="line">
            <a:avLst/>
          </a:prstGeom>
          <a:noFill/>
          <a:ln w="12700">
            <a:solidFill>
              <a:srgbClr val="009900"/>
            </a:solidFill>
            <a:round/>
            <a:headEnd type="triangle" w="med" len="lg"/>
            <a:tailEnd type="triangle" w="med" len="lg"/>
          </a:ln>
        </p:spPr>
        <p:txBody>
          <a:bodyPr wrap="none" anchor="ctr"/>
          <a:lstStyle/>
          <a:p>
            <a:endParaRPr lang="zh-CN" altLang="en-US"/>
          </a:p>
        </p:txBody>
      </p:sp>
      <p:sp>
        <p:nvSpPr>
          <p:cNvPr id="178235" name="Line 59"/>
          <p:cNvSpPr>
            <a:spLocks noChangeShapeType="1"/>
          </p:cNvSpPr>
          <p:nvPr/>
        </p:nvSpPr>
        <p:spPr bwMode="auto">
          <a:xfrm>
            <a:off x="6272213" y="4491038"/>
            <a:ext cx="1416050" cy="0"/>
          </a:xfrm>
          <a:prstGeom prst="line">
            <a:avLst/>
          </a:prstGeom>
          <a:noFill/>
          <a:ln w="12700">
            <a:solidFill>
              <a:srgbClr val="009900"/>
            </a:solidFill>
            <a:round/>
            <a:headEnd type="triangle" w="med" len="lg"/>
            <a:tailEnd type="triangle" w="med" len="lg"/>
          </a:ln>
        </p:spPr>
        <p:txBody>
          <a:bodyPr wrap="none" anchor="ctr"/>
          <a:lstStyle/>
          <a:p>
            <a:endParaRPr lang="zh-CN" altLang="en-US"/>
          </a:p>
        </p:txBody>
      </p:sp>
      <p:sp>
        <p:nvSpPr>
          <p:cNvPr id="178236" name="Oval 60"/>
          <p:cNvSpPr>
            <a:spLocks noChangeArrowheads="1"/>
          </p:cNvSpPr>
          <p:nvPr/>
        </p:nvSpPr>
        <p:spPr bwMode="auto">
          <a:xfrm>
            <a:off x="7215188" y="2982913"/>
            <a:ext cx="90487" cy="90487"/>
          </a:xfrm>
          <a:prstGeom prst="ellipse">
            <a:avLst/>
          </a:prstGeom>
          <a:gradFill rotWithShape="1">
            <a:gsLst>
              <a:gs pos="0">
                <a:srgbClr val="FF3300"/>
              </a:gs>
              <a:gs pos="100000">
                <a:srgbClr val="761800">
                  <a:alpha val="79999"/>
                </a:srgbClr>
              </a:gs>
            </a:gsLst>
            <a:path path="shape">
              <a:fillToRect l="50000" t="50000" r="50000" b="50000"/>
            </a:path>
          </a:gradFill>
          <a:ln w="9525">
            <a:noFill/>
            <a:round/>
            <a:headEnd/>
            <a:tailEnd/>
          </a:ln>
        </p:spPr>
        <p:txBody>
          <a:bodyPr wrap="none" anchor="ctr"/>
          <a:lstStyle/>
          <a:p>
            <a:endParaRPr lang="zh-CN" altLang="en-US"/>
          </a:p>
        </p:txBody>
      </p:sp>
      <p:grpSp>
        <p:nvGrpSpPr>
          <p:cNvPr id="7" name="Group 61"/>
          <p:cNvGrpSpPr>
            <a:grpSpLocks/>
          </p:cNvGrpSpPr>
          <p:nvPr/>
        </p:nvGrpSpPr>
        <p:grpSpPr bwMode="auto">
          <a:xfrm>
            <a:off x="4976813" y="2852738"/>
            <a:ext cx="519112" cy="396875"/>
            <a:chOff x="1944" y="2529"/>
            <a:chExt cx="327" cy="250"/>
          </a:xfrm>
        </p:grpSpPr>
        <p:sp>
          <p:nvSpPr>
            <p:cNvPr id="13388" name="Line 62"/>
            <p:cNvSpPr>
              <a:spLocks noChangeShapeType="1"/>
            </p:cNvSpPr>
            <p:nvPr/>
          </p:nvSpPr>
          <p:spPr bwMode="auto">
            <a:xfrm>
              <a:off x="1944" y="2779"/>
              <a:ext cx="327" cy="0"/>
            </a:xfrm>
            <a:prstGeom prst="line">
              <a:avLst/>
            </a:prstGeom>
            <a:noFill/>
            <a:ln w="28575">
              <a:solidFill>
                <a:srgbClr val="008000"/>
              </a:solidFill>
              <a:round/>
              <a:headEnd type="stealth" w="med" len="lg"/>
              <a:tailEnd type="none" w="sm" len="lg"/>
            </a:ln>
          </p:spPr>
          <p:txBody>
            <a:bodyPr wrap="none" anchor="ctr"/>
            <a:lstStyle/>
            <a:p>
              <a:endParaRPr lang="zh-CN" altLang="en-US"/>
            </a:p>
          </p:txBody>
        </p:sp>
        <p:graphicFrame>
          <p:nvGraphicFramePr>
            <p:cNvPr id="13331" name="Object 63"/>
            <p:cNvGraphicFramePr>
              <a:graphicFrameLocks noChangeAspect="1"/>
            </p:cNvGraphicFramePr>
            <p:nvPr/>
          </p:nvGraphicFramePr>
          <p:xfrm>
            <a:off x="1973" y="2529"/>
            <a:ext cx="144" cy="192"/>
          </p:xfrm>
          <a:graphic>
            <a:graphicData uri="http://schemas.openxmlformats.org/presentationml/2006/ole">
              <p:oleObj spid="_x0000_s13331" name="公式" r:id="rId15" imgW="228501" imgH="304668" progId="Equation.3">
                <p:embed/>
              </p:oleObj>
            </a:graphicData>
          </a:graphic>
        </p:graphicFrame>
      </p:grpSp>
      <p:sp>
        <p:nvSpPr>
          <p:cNvPr id="178240" name="Line 64"/>
          <p:cNvSpPr>
            <a:spLocks noChangeShapeType="1"/>
          </p:cNvSpPr>
          <p:nvPr/>
        </p:nvSpPr>
        <p:spPr bwMode="auto">
          <a:xfrm>
            <a:off x="4876800" y="4878388"/>
            <a:ext cx="2378075" cy="0"/>
          </a:xfrm>
          <a:prstGeom prst="line">
            <a:avLst/>
          </a:prstGeom>
          <a:noFill/>
          <a:ln w="12700">
            <a:solidFill>
              <a:srgbClr val="000099"/>
            </a:solidFill>
            <a:prstDash val="lgDashDot"/>
            <a:round/>
            <a:headEnd/>
            <a:tailEnd/>
          </a:ln>
        </p:spPr>
        <p:txBody>
          <a:bodyPr wrap="none" anchor="ctr"/>
          <a:lstStyle/>
          <a:p>
            <a:endParaRPr lang="zh-CN" altLang="en-US"/>
          </a:p>
        </p:txBody>
      </p:sp>
      <p:grpSp>
        <p:nvGrpSpPr>
          <p:cNvPr id="8" name="Group 65"/>
          <p:cNvGrpSpPr>
            <a:grpSpLocks/>
          </p:cNvGrpSpPr>
          <p:nvPr/>
        </p:nvGrpSpPr>
        <p:grpSpPr bwMode="auto">
          <a:xfrm>
            <a:off x="4591050" y="2444750"/>
            <a:ext cx="3581400" cy="2681288"/>
            <a:chOff x="521" y="2376"/>
            <a:chExt cx="2256" cy="1689"/>
          </a:xfrm>
        </p:grpSpPr>
        <p:sp>
          <p:nvSpPr>
            <p:cNvPr id="13383" name="Line 66"/>
            <p:cNvSpPr>
              <a:spLocks noChangeShapeType="1"/>
            </p:cNvSpPr>
            <p:nvPr/>
          </p:nvSpPr>
          <p:spPr bwMode="auto">
            <a:xfrm>
              <a:off x="1087" y="3576"/>
              <a:ext cx="1690" cy="1"/>
            </a:xfrm>
            <a:prstGeom prst="line">
              <a:avLst/>
            </a:prstGeom>
            <a:noFill/>
            <a:ln w="19050">
              <a:solidFill>
                <a:srgbClr val="0000FF"/>
              </a:solidFill>
              <a:round/>
              <a:headEnd/>
              <a:tailEnd type="triangle" w="med" len="lg"/>
            </a:ln>
          </p:spPr>
          <p:txBody>
            <a:bodyPr wrap="none" anchor="ctr"/>
            <a:lstStyle/>
            <a:p>
              <a:endParaRPr lang="zh-CN" altLang="en-US"/>
            </a:p>
          </p:txBody>
        </p:sp>
        <p:sp>
          <p:nvSpPr>
            <p:cNvPr id="13384" name="Text Box 67"/>
            <p:cNvSpPr txBox="1">
              <a:spLocks noChangeArrowheads="1"/>
            </p:cNvSpPr>
            <p:nvPr/>
          </p:nvSpPr>
          <p:spPr bwMode="auto">
            <a:xfrm>
              <a:off x="810" y="3385"/>
              <a:ext cx="232"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FF"/>
                  </a:solidFill>
                </a:rPr>
                <a:t>O</a:t>
              </a:r>
              <a:endParaRPr lang="en-US" altLang="zh-CN" sz="2000">
                <a:solidFill>
                  <a:srgbClr val="0000FF"/>
                </a:solidFill>
              </a:endParaRPr>
            </a:p>
          </p:txBody>
        </p:sp>
        <p:sp>
          <p:nvSpPr>
            <p:cNvPr id="13385" name="Text Box 68"/>
            <p:cNvSpPr txBox="1">
              <a:spLocks noChangeArrowheads="1"/>
            </p:cNvSpPr>
            <p:nvPr/>
          </p:nvSpPr>
          <p:spPr bwMode="auto">
            <a:xfrm>
              <a:off x="808" y="2425"/>
              <a:ext cx="205"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FF"/>
                  </a:solidFill>
                </a:rPr>
                <a:t>S</a:t>
              </a:r>
              <a:endParaRPr lang="en-US" altLang="zh-CN" sz="2000">
                <a:solidFill>
                  <a:srgbClr val="0000FF"/>
                </a:solidFill>
              </a:endParaRPr>
            </a:p>
          </p:txBody>
        </p:sp>
        <p:sp>
          <p:nvSpPr>
            <p:cNvPr id="13386" name="Line 69"/>
            <p:cNvSpPr>
              <a:spLocks noChangeShapeType="1"/>
            </p:cNvSpPr>
            <p:nvPr/>
          </p:nvSpPr>
          <p:spPr bwMode="auto">
            <a:xfrm flipH="1">
              <a:off x="521" y="3576"/>
              <a:ext cx="576" cy="489"/>
            </a:xfrm>
            <a:prstGeom prst="line">
              <a:avLst/>
            </a:prstGeom>
            <a:noFill/>
            <a:ln w="19050">
              <a:solidFill>
                <a:srgbClr val="0000FF"/>
              </a:solidFill>
              <a:round/>
              <a:headEnd/>
              <a:tailEnd type="triangle" w="med" len="lg"/>
            </a:ln>
          </p:spPr>
          <p:txBody>
            <a:bodyPr wrap="none" anchor="ctr"/>
            <a:lstStyle/>
            <a:p>
              <a:endParaRPr lang="zh-CN" altLang="en-US"/>
            </a:p>
          </p:txBody>
        </p:sp>
        <p:sp>
          <p:nvSpPr>
            <p:cNvPr id="13387" name="Line 70"/>
            <p:cNvSpPr>
              <a:spLocks noChangeShapeType="1"/>
            </p:cNvSpPr>
            <p:nvPr/>
          </p:nvSpPr>
          <p:spPr bwMode="auto">
            <a:xfrm flipV="1">
              <a:off x="1097" y="2376"/>
              <a:ext cx="0" cy="1209"/>
            </a:xfrm>
            <a:prstGeom prst="line">
              <a:avLst/>
            </a:prstGeom>
            <a:noFill/>
            <a:ln w="19050">
              <a:solidFill>
                <a:srgbClr val="0000FF"/>
              </a:solidFill>
              <a:round/>
              <a:headEnd/>
              <a:tailEnd type="triangle" w="med" len="lg"/>
            </a:ln>
          </p:spPr>
          <p:txBody>
            <a:bodyPr wrap="none" anchor="ctr"/>
            <a:lstStyle/>
            <a:p>
              <a:endParaRPr lang="zh-CN" altLang="en-US"/>
            </a:p>
          </p:txBody>
        </p:sp>
      </p:grpSp>
      <p:grpSp>
        <p:nvGrpSpPr>
          <p:cNvPr id="9" name="Group 71"/>
          <p:cNvGrpSpPr>
            <a:grpSpLocks/>
          </p:cNvGrpSpPr>
          <p:nvPr/>
        </p:nvGrpSpPr>
        <p:grpSpPr bwMode="auto">
          <a:xfrm>
            <a:off x="5513388" y="2441575"/>
            <a:ext cx="2667000" cy="2682875"/>
            <a:chOff x="521" y="1450"/>
            <a:chExt cx="1680" cy="1690"/>
          </a:xfrm>
        </p:grpSpPr>
        <p:sp>
          <p:nvSpPr>
            <p:cNvPr id="13378" name="Text Box 72"/>
            <p:cNvSpPr txBox="1">
              <a:spLocks noChangeArrowheads="1"/>
            </p:cNvSpPr>
            <p:nvPr/>
          </p:nvSpPr>
          <p:spPr bwMode="auto">
            <a:xfrm>
              <a:off x="815" y="2404"/>
              <a:ext cx="276"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tx2"/>
                  </a:solidFill>
                </a:rPr>
                <a:t>O'</a:t>
              </a:r>
            </a:p>
          </p:txBody>
        </p:sp>
        <p:sp>
          <p:nvSpPr>
            <p:cNvPr id="13379" name="Text Box 73"/>
            <p:cNvSpPr txBox="1">
              <a:spLocks noChangeArrowheads="1"/>
            </p:cNvSpPr>
            <p:nvPr/>
          </p:nvSpPr>
          <p:spPr bwMode="auto">
            <a:xfrm>
              <a:off x="806" y="1498"/>
              <a:ext cx="249"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tx2"/>
                  </a:solidFill>
                </a:rPr>
                <a:t>S'</a:t>
              </a:r>
            </a:p>
          </p:txBody>
        </p:sp>
        <p:sp>
          <p:nvSpPr>
            <p:cNvPr id="13380" name="Line 74"/>
            <p:cNvSpPr>
              <a:spLocks noChangeShapeType="1"/>
            </p:cNvSpPr>
            <p:nvPr/>
          </p:nvSpPr>
          <p:spPr bwMode="auto">
            <a:xfrm flipH="1">
              <a:off x="521" y="2647"/>
              <a:ext cx="578" cy="493"/>
            </a:xfrm>
            <a:prstGeom prst="line">
              <a:avLst/>
            </a:prstGeom>
            <a:noFill/>
            <a:ln w="28575">
              <a:solidFill>
                <a:schemeClr val="tx2"/>
              </a:solidFill>
              <a:round/>
              <a:headEnd/>
              <a:tailEnd type="triangle" w="med" len="lg"/>
            </a:ln>
          </p:spPr>
          <p:txBody>
            <a:bodyPr wrap="none" anchor="ctr"/>
            <a:lstStyle/>
            <a:p>
              <a:endParaRPr lang="zh-CN" altLang="en-US"/>
            </a:p>
          </p:txBody>
        </p:sp>
        <p:sp>
          <p:nvSpPr>
            <p:cNvPr id="13381" name="Line 75"/>
            <p:cNvSpPr>
              <a:spLocks noChangeShapeType="1"/>
            </p:cNvSpPr>
            <p:nvPr/>
          </p:nvSpPr>
          <p:spPr bwMode="auto">
            <a:xfrm flipV="1">
              <a:off x="1098" y="1450"/>
              <a:ext cx="0" cy="1209"/>
            </a:xfrm>
            <a:prstGeom prst="line">
              <a:avLst/>
            </a:prstGeom>
            <a:noFill/>
            <a:ln w="28575">
              <a:solidFill>
                <a:schemeClr val="tx2"/>
              </a:solidFill>
              <a:round/>
              <a:headEnd/>
              <a:tailEnd type="triangle" w="med" len="lg"/>
            </a:ln>
          </p:spPr>
          <p:txBody>
            <a:bodyPr wrap="none" anchor="ctr"/>
            <a:lstStyle/>
            <a:p>
              <a:endParaRPr lang="zh-CN" altLang="en-US"/>
            </a:p>
          </p:txBody>
        </p:sp>
        <p:sp>
          <p:nvSpPr>
            <p:cNvPr id="13382" name="Line 76"/>
            <p:cNvSpPr>
              <a:spLocks noChangeShapeType="1"/>
            </p:cNvSpPr>
            <p:nvPr/>
          </p:nvSpPr>
          <p:spPr bwMode="auto">
            <a:xfrm>
              <a:off x="1099" y="2650"/>
              <a:ext cx="1102" cy="2"/>
            </a:xfrm>
            <a:prstGeom prst="line">
              <a:avLst/>
            </a:prstGeom>
            <a:noFill/>
            <a:ln w="28575">
              <a:solidFill>
                <a:schemeClr val="tx2"/>
              </a:solidFill>
              <a:round/>
              <a:headEnd/>
              <a:tailEnd type="triangle" w="med" len="lg"/>
            </a:ln>
          </p:spPr>
          <p:txBody>
            <a:bodyPr wrap="none" anchor="ctr"/>
            <a:lstStyle/>
            <a:p>
              <a:endParaRPr lang="zh-CN" altLang="en-US"/>
            </a:p>
          </p:txBody>
        </p:sp>
      </p:grpSp>
      <p:graphicFrame>
        <p:nvGraphicFramePr>
          <p:cNvPr id="178253" name="Object 77"/>
          <p:cNvGraphicFramePr>
            <a:graphicFrameLocks noChangeAspect="1"/>
          </p:cNvGraphicFramePr>
          <p:nvPr/>
        </p:nvGraphicFramePr>
        <p:xfrm>
          <a:off x="7588250" y="2889250"/>
          <a:ext cx="1355725" cy="361950"/>
        </p:xfrm>
        <a:graphic>
          <a:graphicData uri="http://schemas.openxmlformats.org/presentationml/2006/ole">
            <p:oleObj spid="_x0000_s13323" name="Equation" r:id="rId16" imgW="761669" imgH="203112" progId="">
              <p:embed/>
            </p:oleObj>
          </a:graphicData>
        </a:graphic>
      </p:graphicFrame>
      <p:grpSp>
        <p:nvGrpSpPr>
          <p:cNvPr id="10" name="Group 78"/>
          <p:cNvGrpSpPr>
            <a:grpSpLocks/>
          </p:cNvGrpSpPr>
          <p:nvPr/>
        </p:nvGrpSpPr>
        <p:grpSpPr bwMode="auto">
          <a:xfrm>
            <a:off x="5510213" y="3281363"/>
            <a:ext cx="946150" cy="384175"/>
            <a:chOff x="3475" y="2066"/>
            <a:chExt cx="596" cy="242"/>
          </a:xfrm>
        </p:grpSpPr>
        <p:sp>
          <p:nvSpPr>
            <p:cNvPr id="13377" name="Line 79"/>
            <p:cNvSpPr>
              <a:spLocks noChangeShapeType="1"/>
            </p:cNvSpPr>
            <p:nvPr/>
          </p:nvSpPr>
          <p:spPr bwMode="auto">
            <a:xfrm>
              <a:off x="3475" y="2188"/>
              <a:ext cx="596" cy="0"/>
            </a:xfrm>
            <a:prstGeom prst="line">
              <a:avLst/>
            </a:prstGeom>
            <a:noFill/>
            <a:ln w="12700">
              <a:solidFill>
                <a:srgbClr val="008000"/>
              </a:solidFill>
              <a:round/>
              <a:headEnd type="stealth" w="med" len="lg"/>
              <a:tailEnd type="stealth" w="med" len="lg"/>
            </a:ln>
          </p:spPr>
          <p:txBody>
            <a:bodyPr/>
            <a:lstStyle/>
            <a:p>
              <a:endParaRPr lang="zh-CN" altLang="en-US"/>
            </a:p>
          </p:txBody>
        </p:sp>
        <p:graphicFrame>
          <p:nvGraphicFramePr>
            <p:cNvPr id="13330" name="Object 80"/>
            <p:cNvGraphicFramePr>
              <a:graphicFrameLocks noChangeAspect="1"/>
            </p:cNvGraphicFramePr>
            <p:nvPr/>
          </p:nvGraphicFramePr>
          <p:xfrm>
            <a:off x="3628" y="2066"/>
            <a:ext cx="292" cy="242"/>
          </p:xfrm>
          <a:graphic>
            <a:graphicData uri="http://schemas.openxmlformats.org/presentationml/2006/ole">
              <p:oleObj spid="_x0000_s13330" name="Equation" r:id="rId17" imgW="215619" imgH="177569" progId="">
                <p:embed/>
              </p:oleObj>
            </a:graphicData>
          </a:graphic>
        </p:graphicFrame>
      </p:grpSp>
      <p:sp>
        <p:nvSpPr>
          <p:cNvPr id="178257" name="Line 81"/>
          <p:cNvSpPr>
            <a:spLocks noChangeShapeType="1"/>
          </p:cNvSpPr>
          <p:nvPr/>
        </p:nvSpPr>
        <p:spPr bwMode="auto">
          <a:xfrm flipH="1">
            <a:off x="7002463" y="4868863"/>
            <a:ext cx="254000" cy="217487"/>
          </a:xfrm>
          <a:prstGeom prst="line">
            <a:avLst/>
          </a:prstGeom>
          <a:noFill/>
          <a:ln w="12700">
            <a:solidFill>
              <a:schemeClr val="tx1"/>
            </a:solidFill>
            <a:round/>
            <a:headEnd/>
            <a:tailEnd/>
          </a:ln>
        </p:spPr>
        <p:txBody>
          <a:bodyPr wrap="none" anchor="ctr"/>
          <a:lstStyle/>
          <a:p>
            <a:endParaRPr lang="zh-CN" altLang="en-US"/>
          </a:p>
        </p:txBody>
      </p:sp>
      <p:sp>
        <p:nvSpPr>
          <p:cNvPr id="13372" name="Rectangle 82"/>
          <p:cNvSpPr>
            <a:spLocks noChangeArrowheads="1"/>
          </p:cNvSpPr>
          <p:nvPr/>
        </p:nvSpPr>
        <p:spPr bwMode="auto">
          <a:xfrm>
            <a:off x="0" y="3305175"/>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78259" name="Object 83"/>
          <p:cNvGraphicFramePr>
            <a:graphicFrameLocks noChangeAspect="1"/>
          </p:cNvGraphicFramePr>
          <p:nvPr/>
        </p:nvGraphicFramePr>
        <p:xfrm>
          <a:off x="2051050" y="3698875"/>
          <a:ext cx="1844675" cy="515938"/>
        </p:xfrm>
        <a:graphic>
          <a:graphicData uri="http://schemas.openxmlformats.org/presentationml/2006/ole">
            <p:oleObj spid="_x0000_s13324" name="Equation" r:id="rId18" imgW="889000" imgH="279400" progId="">
              <p:embed/>
            </p:oleObj>
          </a:graphicData>
        </a:graphic>
      </p:graphicFrame>
      <p:sp>
        <p:nvSpPr>
          <p:cNvPr id="13373" name="Rectangle 84"/>
          <p:cNvSpPr>
            <a:spLocks noChangeArrowheads="1"/>
          </p:cNvSpPr>
          <p:nvPr/>
        </p:nvSpPr>
        <p:spPr bwMode="auto">
          <a:xfrm>
            <a:off x="0" y="3305175"/>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78261" name="Object 85"/>
          <p:cNvGraphicFramePr>
            <a:graphicFrameLocks noChangeAspect="1"/>
          </p:cNvGraphicFramePr>
          <p:nvPr/>
        </p:nvGraphicFramePr>
        <p:xfrm>
          <a:off x="566738" y="4329113"/>
          <a:ext cx="3330575" cy="630237"/>
        </p:xfrm>
        <a:graphic>
          <a:graphicData uri="http://schemas.openxmlformats.org/presentationml/2006/ole">
            <p:oleObj spid="_x0000_s13325" name="Equation" r:id="rId19" imgW="1485900" imgH="279400" progId="">
              <p:embed/>
            </p:oleObj>
          </a:graphicData>
        </a:graphic>
      </p:graphicFrame>
      <p:graphicFrame>
        <p:nvGraphicFramePr>
          <p:cNvPr id="178262" name="Object 86"/>
          <p:cNvGraphicFramePr>
            <a:graphicFrameLocks noChangeAspect="1"/>
          </p:cNvGraphicFramePr>
          <p:nvPr/>
        </p:nvGraphicFramePr>
        <p:xfrm>
          <a:off x="881063" y="3024188"/>
          <a:ext cx="2881312" cy="584200"/>
        </p:xfrm>
        <a:graphic>
          <a:graphicData uri="http://schemas.openxmlformats.org/presentationml/2006/ole">
            <p:oleObj spid="_x0000_s13326" name="Equation" r:id="rId20" imgW="1536700" imgH="292100" progId="">
              <p:embed/>
            </p:oleObj>
          </a:graphicData>
        </a:graphic>
      </p:graphicFrame>
      <p:graphicFrame>
        <p:nvGraphicFramePr>
          <p:cNvPr id="178263" name="Object 87"/>
          <p:cNvGraphicFramePr>
            <a:graphicFrameLocks noChangeAspect="1"/>
          </p:cNvGraphicFramePr>
          <p:nvPr/>
        </p:nvGraphicFramePr>
        <p:xfrm>
          <a:off x="566738" y="4329113"/>
          <a:ext cx="3330575" cy="630237"/>
        </p:xfrm>
        <a:graphic>
          <a:graphicData uri="http://schemas.openxmlformats.org/presentationml/2006/ole">
            <p:oleObj spid="_x0000_s13327" name="Equation" r:id="rId21" imgW="1485900" imgH="279400" progId="">
              <p:embed/>
            </p:oleObj>
          </a:graphicData>
        </a:graphic>
      </p:graphicFrame>
      <p:sp>
        <p:nvSpPr>
          <p:cNvPr id="178264" name="AutoShape 88"/>
          <p:cNvSpPr>
            <a:spLocks noChangeArrowheads="1"/>
          </p:cNvSpPr>
          <p:nvPr/>
        </p:nvSpPr>
        <p:spPr bwMode="auto">
          <a:xfrm>
            <a:off x="341313" y="5724525"/>
            <a:ext cx="495300" cy="179388"/>
          </a:xfrm>
          <a:prstGeom prst="rightArrow">
            <a:avLst>
              <a:gd name="adj1" fmla="val 50000"/>
              <a:gd name="adj2" fmla="val 69026"/>
            </a:avLst>
          </a:prstGeom>
          <a:solidFill>
            <a:srgbClr val="99FFCC"/>
          </a:solidFill>
          <a:ln w="9525">
            <a:solidFill>
              <a:srgbClr val="66FFFF"/>
            </a:solidFill>
            <a:miter lim="800000"/>
            <a:headEnd/>
            <a:tailEnd/>
          </a:ln>
        </p:spPr>
        <p:txBody>
          <a:bodyPr wrap="none" anchor="ctr"/>
          <a:lstStyle/>
          <a:p>
            <a:endParaRPr lang="zh-CN" altLang="en-US"/>
          </a:p>
        </p:txBody>
      </p:sp>
      <p:graphicFrame>
        <p:nvGraphicFramePr>
          <p:cNvPr id="178265" name="Object 89"/>
          <p:cNvGraphicFramePr>
            <a:graphicFrameLocks noChangeAspect="1"/>
          </p:cNvGraphicFramePr>
          <p:nvPr/>
        </p:nvGraphicFramePr>
        <p:xfrm>
          <a:off x="836613" y="5184775"/>
          <a:ext cx="2159000" cy="1246188"/>
        </p:xfrm>
        <a:graphic>
          <a:graphicData uri="http://schemas.openxmlformats.org/presentationml/2006/ole">
            <p:oleObj spid="_x0000_s13328" name="Equation" r:id="rId22" imgW="1079032" imgH="660113" progId="">
              <p:embed/>
            </p:oleObj>
          </a:graphicData>
        </a:graphic>
      </p:graphicFrame>
      <p:sp>
        <p:nvSpPr>
          <p:cNvPr id="13375" name="Rectangle 90"/>
          <p:cNvSpPr>
            <a:spLocks noChangeArrowheads="1"/>
          </p:cNvSpPr>
          <p:nvPr/>
        </p:nvSpPr>
        <p:spPr bwMode="auto">
          <a:xfrm>
            <a:off x="0" y="27289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78267" name="Object 91"/>
          <p:cNvGraphicFramePr>
            <a:graphicFrameLocks noChangeAspect="1"/>
          </p:cNvGraphicFramePr>
          <p:nvPr/>
        </p:nvGraphicFramePr>
        <p:xfrm>
          <a:off x="3267075" y="5319713"/>
          <a:ext cx="5040313" cy="1122362"/>
        </p:xfrm>
        <a:graphic>
          <a:graphicData uri="http://schemas.openxmlformats.org/presentationml/2006/ole">
            <p:oleObj spid="_x0000_s13329" name="Equation" r:id="rId23" imgW="2527300" imgH="469900" progId="">
              <p:embed/>
            </p:oleObj>
          </a:graphicData>
        </a:graphic>
      </p:graphicFrame>
      <p:sp>
        <p:nvSpPr>
          <p:cNvPr id="178268" name="AutoShape 92"/>
          <p:cNvSpPr>
            <a:spLocks noChangeArrowheads="1"/>
          </p:cNvSpPr>
          <p:nvPr/>
        </p:nvSpPr>
        <p:spPr bwMode="auto">
          <a:xfrm>
            <a:off x="8532813" y="4184650"/>
            <a:ext cx="449262" cy="2303463"/>
          </a:xfrm>
          <a:prstGeom prst="wedgeRoundRectCallout">
            <a:avLst>
              <a:gd name="adj1" fmla="val -131977"/>
              <a:gd name="adj2" fmla="val 19356"/>
              <a:gd name="adj3" fmla="val 16667"/>
            </a:avLst>
          </a:prstGeom>
          <a:gradFill rotWithShape="1">
            <a:gsLst>
              <a:gs pos="0">
                <a:srgbClr val="FFCCFF"/>
              </a:gs>
              <a:gs pos="50000">
                <a:srgbClr val="FFFF99"/>
              </a:gs>
              <a:gs pos="100000">
                <a:srgbClr val="FFCCFF"/>
              </a:gs>
            </a:gsLst>
            <a:lin ang="18900000" scaled="1"/>
          </a:gradFill>
          <a:ln w="9525">
            <a:solidFill>
              <a:schemeClr val="tx1"/>
            </a:solidFill>
            <a:miter lim="800000"/>
            <a:headEnd/>
            <a:tailEnd/>
          </a:ln>
        </p:spPr>
        <p:txBody>
          <a:bodyPr/>
          <a:lstStyle/>
          <a:p>
            <a:r>
              <a:rPr lang="zh-CN" altLang="en-US" b="1">
                <a:solidFill>
                  <a:srgbClr val="990000"/>
                </a:solidFill>
              </a:rPr>
              <a:t>洛伦兹变换式</a:t>
            </a:r>
            <a:endParaRPr lang="zh-CN" altLang="en-US" b="1"/>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817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7" presetClass="entr" presetSubtype="0" fill="hold" grpId="0" nodeType="clickEffect">
                                  <p:stCondLst>
                                    <p:cond delay="0"/>
                                  </p:stCondLst>
                                  <p:iterate type="lt">
                                    <p:tmPct val="50000"/>
                                  </p:iterate>
                                  <p:childTnLst>
                                    <p:set>
                                      <p:cBhvr>
                                        <p:cTn id="10" dur="1" fill="hold">
                                          <p:stCondLst>
                                            <p:cond delay="0"/>
                                          </p:stCondLst>
                                        </p:cTn>
                                        <p:tgtEl>
                                          <p:spTgt spid="178208"/>
                                        </p:tgtEl>
                                        <p:attrNameLst>
                                          <p:attrName>style.visibility</p:attrName>
                                        </p:attrNameLst>
                                      </p:cBhvr>
                                      <p:to>
                                        <p:strVal val="visible"/>
                                      </p:to>
                                    </p:set>
                                    <p:anim calcmode="discrete" valueType="clr">
                                      <p:cBhvr override="childStyle">
                                        <p:cTn id="11" dur="80"/>
                                        <p:tgtEl>
                                          <p:spTgt spid="178208"/>
                                        </p:tgtEl>
                                        <p:attrNameLst>
                                          <p:attrName>style.color</p:attrName>
                                        </p:attrNameLst>
                                      </p:cBhvr>
                                      <p:tavLst>
                                        <p:tav tm="0">
                                          <p:val>
                                            <p:clrVal>
                                              <a:schemeClr val="accent2"/>
                                            </p:clrVal>
                                          </p:val>
                                        </p:tav>
                                        <p:tav tm="50000">
                                          <p:val>
                                            <p:clrVal>
                                              <a:schemeClr val="hlink"/>
                                            </p:clrVal>
                                          </p:val>
                                        </p:tav>
                                      </p:tavLst>
                                    </p:anim>
                                    <p:anim calcmode="discrete" valueType="clr">
                                      <p:cBhvr>
                                        <p:cTn id="12" dur="80"/>
                                        <p:tgtEl>
                                          <p:spTgt spid="178208"/>
                                        </p:tgtEl>
                                        <p:attrNameLst>
                                          <p:attrName>fillcolor</p:attrName>
                                        </p:attrNameLst>
                                      </p:cBhvr>
                                      <p:tavLst>
                                        <p:tav tm="0">
                                          <p:val>
                                            <p:clrVal>
                                              <a:schemeClr val="accent2"/>
                                            </p:clrVal>
                                          </p:val>
                                        </p:tav>
                                        <p:tav tm="50000">
                                          <p:val>
                                            <p:clrVal>
                                              <a:schemeClr val="hlink"/>
                                            </p:clrVal>
                                          </p:val>
                                        </p:tav>
                                      </p:tavLst>
                                    </p:anim>
                                    <p:set>
                                      <p:cBhvr>
                                        <p:cTn id="13" dur="80"/>
                                        <p:tgtEl>
                                          <p:spTgt spid="178208"/>
                                        </p:tgtEl>
                                        <p:attrNameLst>
                                          <p:attrName>fill.type</p:attrName>
                                        </p:attrNameLst>
                                      </p:cBhvr>
                                      <p:to>
                                        <p:strVal val="solid"/>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1000"/>
                                        <p:tgtEl>
                                          <p:spTgt spid="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slide(fromLeft)">
                                      <p:cBhvr>
                                        <p:cTn id="27" dur="500"/>
                                        <p:tgtEl>
                                          <p:spTgt spid="4"/>
                                        </p:tgtEl>
                                      </p:cBhvr>
                                    </p:animEffect>
                                  </p:childTnLst>
                                </p:cTn>
                              </p:par>
                            </p:childTnLst>
                          </p:cTn>
                        </p:par>
                        <p:par>
                          <p:cTn id="28" fill="hold" nodeType="afterGroup">
                            <p:stCondLst>
                              <p:cond delay="500"/>
                            </p:stCondLst>
                            <p:childTnLst>
                              <p:par>
                                <p:cTn id="29" presetID="22" presetClass="entr" presetSubtype="8" fill="hold" nodeType="after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left)">
                                      <p:cBhvr>
                                        <p:cTn id="31" dur="500"/>
                                        <p:tgtEl>
                                          <p:spTgt spid="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178190"/>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499"/>
                                          </p:stCondLst>
                                        </p:cTn>
                                        <p:tgtEl>
                                          <p:spTgt spid="178182"/>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78183"/>
                                        </p:tgtEl>
                                        <p:attrNameLst>
                                          <p:attrName>style.visibility</p:attrName>
                                        </p:attrNameLst>
                                      </p:cBhvr>
                                      <p:to>
                                        <p:strVal val="visible"/>
                                      </p:to>
                                    </p:set>
                                    <p:animEffect transition="in" filter="wipe(left)">
                                      <p:cBhvr>
                                        <p:cTn id="42" dur="500"/>
                                        <p:tgtEl>
                                          <p:spTgt spid="17818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78214"/>
                                        </p:tgtEl>
                                        <p:attrNameLst>
                                          <p:attrName>style.visibility</p:attrName>
                                        </p:attrNameLst>
                                      </p:cBhvr>
                                      <p:to>
                                        <p:strVal val="visible"/>
                                      </p:to>
                                    </p:set>
                                    <p:animEffect transition="in" filter="wipe(left)">
                                      <p:cBhvr>
                                        <p:cTn id="47" dur="1000"/>
                                        <p:tgtEl>
                                          <p:spTgt spid="17821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78184"/>
                                        </p:tgtEl>
                                        <p:attrNameLst>
                                          <p:attrName>style.visibility</p:attrName>
                                        </p:attrNameLst>
                                      </p:cBhvr>
                                      <p:to>
                                        <p:strVal val="visible"/>
                                      </p:to>
                                    </p:set>
                                    <p:animEffect transition="in" filter="wipe(down)">
                                      <p:cBhvr>
                                        <p:cTn id="52" dur="500"/>
                                        <p:tgtEl>
                                          <p:spTgt spid="178184"/>
                                        </p:tgtEl>
                                      </p:cBhvr>
                                    </p:animEffect>
                                  </p:childTnLst>
                                </p:cTn>
                              </p:par>
                            </p:childTnLst>
                          </p:cTn>
                        </p:par>
                        <p:par>
                          <p:cTn id="53" fill="hold" nodeType="afterGroup">
                            <p:stCondLst>
                              <p:cond delay="500"/>
                            </p:stCondLst>
                            <p:childTnLst>
                              <p:par>
                                <p:cTn id="54" presetID="22" presetClass="entr" presetSubtype="4" fill="hold" grpId="0" nodeType="afterEffect">
                                  <p:stCondLst>
                                    <p:cond delay="0"/>
                                  </p:stCondLst>
                                  <p:childTnLst>
                                    <p:set>
                                      <p:cBhvr>
                                        <p:cTn id="55" dur="1" fill="hold">
                                          <p:stCondLst>
                                            <p:cond delay="0"/>
                                          </p:stCondLst>
                                        </p:cTn>
                                        <p:tgtEl>
                                          <p:spTgt spid="178185"/>
                                        </p:tgtEl>
                                        <p:attrNameLst>
                                          <p:attrName>style.visibility</p:attrName>
                                        </p:attrNameLst>
                                      </p:cBhvr>
                                      <p:to>
                                        <p:strVal val="visible"/>
                                      </p:to>
                                    </p:set>
                                    <p:animEffect transition="in" filter="wipe(down)">
                                      <p:cBhvr>
                                        <p:cTn id="56" dur="500"/>
                                        <p:tgtEl>
                                          <p:spTgt spid="17818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178186"/>
                                        </p:tgtEl>
                                        <p:attrNameLst>
                                          <p:attrName>style.visibility</p:attrName>
                                        </p:attrNameLst>
                                      </p:cBhvr>
                                      <p:to>
                                        <p:strVal val="visible"/>
                                      </p:to>
                                    </p:set>
                                    <p:animEffect transition="in" filter="wipe(up)">
                                      <p:cBhvr>
                                        <p:cTn id="61" dur="500"/>
                                        <p:tgtEl>
                                          <p:spTgt spid="178186"/>
                                        </p:tgtEl>
                                      </p:cBhvr>
                                    </p:animEffect>
                                  </p:childTnLst>
                                </p:cTn>
                              </p:par>
                            </p:childTnLst>
                          </p:cTn>
                        </p:par>
                        <p:par>
                          <p:cTn id="62" fill="hold" nodeType="afterGroup">
                            <p:stCondLst>
                              <p:cond delay="500"/>
                            </p:stCondLst>
                            <p:childTnLst>
                              <p:par>
                                <p:cTn id="63" presetID="22" presetClass="entr" presetSubtype="4" fill="hold" grpId="0" nodeType="afterEffect">
                                  <p:stCondLst>
                                    <p:cond delay="0"/>
                                  </p:stCondLst>
                                  <p:childTnLst>
                                    <p:set>
                                      <p:cBhvr>
                                        <p:cTn id="64" dur="1" fill="hold">
                                          <p:stCondLst>
                                            <p:cond delay="0"/>
                                          </p:stCondLst>
                                        </p:cTn>
                                        <p:tgtEl>
                                          <p:spTgt spid="178187"/>
                                        </p:tgtEl>
                                        <p:attrNameLst>
                                          <p:attrName>style.visibility</p:attrName>
                                        </p:attrNameLst>
                                      </p:cBhvr>
                                      <p:to>
                                        <p:strVal val="visible"/>
                                      </p:to>
                                    </p:set>
                                    <p:animEffect transition="in" filter="wipe(down)">
                                      <p:cBhvr>
                                        <p:cTn id="65" dur="500"/>
                                        <p:tgtEl>
                                          <p:spTgt spid="178187"/>
                                        </p:tgtEl>
                                      </p:cBhvr>
                                    </p:animEffect>
                                  </p:childTnLst>
                                </p:cTn>
                              </p:par>
                            </p:childTnLst>
                          </p:cTn>
                        </p:par>
                        <p:par>
                          <p:cTn id="66" fill="hold" nodeType="afterGroup">
                            <p:stCondLst>
                              <p:cond delay="1000"/>
                            </p:stCondLst>
                            <p:childTnLst>
                              <p:par>
                                <p:cTn id="67" presetID="22" presetClass="entr" presetSubtype="2" fill="hold" grpId="0" nodeType="afterEffect">
                                  <p:stCondLst>
                                    <p:cond delay="0"/>
                                  </p:stCondLst>
                                  <p:childTnLst>
                                    <p:set>
                                      <p:cBhvr>
                                        <p:cTn id="68" dur="1" fill="hold">
                                          <p:stCondLst>
                                            <p:cond delay="0"/>
                                          </p:stCondLst>
                                        </p:cTn>
                                        <p:tgtEl>
                                          <p:spTgt spid="178195"/>
                                        </p:tgtEl>
                                        <p:attrNameLst>
                                          <p:attrName>style.visibility</p:attrName>
                                        </p:attrNameLst>
                                      </p:cBhvr>
                                      <p:to>
                                        <p:strVal val="visible"/>
                                      </p:to>
                                    </p:set>
                                    <p:animEffect transition="in" filter="wipe(right)">
                                      <p:cBhvr>
                                        <p:cTn id="69" dur="500"/>
                                        <p:tgtEl>
                                          <p:spTgt spid="178195"/>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 presetClass="entr" presetSubtype="0" fill="hold" grpId="0" nodeType="clickEffect">
                                  <p:stCondLst>
                                    <p:cond delay="0"/>
                                  </p:stCondLst>
                                  <p:childTnLst>
                                    <p:set>
                                      <p:cBhvr>
                                        <p:cTn id="73" dur="1" fill="hold">
                                          <p:stCondLst>
                                            <p:cond delay="499"/>
                                          </p:stCondLst>
                                        </p:cTn>
                                        <p:tgtEl>
                                          <p:spTgt spid="178188"/>
                                        </p:tgtEl>
                                        <p:attrNameLst>
                                          <p:attrName>style.visibility</p:attrName>
                                        </p:attrNameLst>
                                      </p:cBhvr>
                                      <p:to>
                                        <p:strVal val="visible"/>
                                      </p:to>
                                    </p:set>
                                  </p:childTnLst>
                                </p:cTn>
                              </p:par>
                              <p:par>
                                <p:cTn id="74" presetID="22" presetClass="entr" presetSubtype="2" fill="hold" grpId="0" nodeType="withEffect">
                                  <p:stCondLst>
                                    <p:cond delay="0"/>
                                  </p:stCondLst>
                                  <p:childTnLst>
                                    <p:set>
                                      <p:cBhvr>
                                        <p:cTn id="75" dur="1" fill="hold">
                                          <p:stCondLst>
                                            <p:cond delay="0"/>
                                          </p:stCondLst>
                                        </p:cTn>
                                        <p:tgtEl>
                                          <p:spTgt spid="178194"/>
                                        </p:tgtEl>
                                        <p:attrNameLst>
                                          <p:attrName>style.visibility</p:attrName>
                                        </p:attrNameLst>
                                      </p:cBhvr>
                                      <p:to>
                                        <p:strVal val="visible"/>
                                      </p:to>
                                    </p:set>
                                    <p:animEffect transition="in" filter="wipe(right)">
                                      <p:cBhvr>
                                        <p:cTn id="76" dur="500"/>
                                        <p:tgtEl>
                                          <p:spTgt spid="178194"/>
                                        </p:tgtEl>
                                      </p:cBhvr>
                                    </p:animEffect>
                                  </p:childTnLst>
                                </p:cTn>
                              </p:par>
                            </p:childTnLst>
                          </p:cTn>
                        </p:par>
                        <p:par>
                          <p:cTn id="77" fill="hold" nodeType="afterGroup">
                            <p:stCondLst>
                              <p:cond delay="500"/>
                            </p:stCondLst>
                            <p:childTnLst>
                              <p:par>
                                <p:cTn id="78" presetID="1" presetClass="entr" presetSubtype="0" fill="hold" nodeType="afterEffect">
                                  <p:stCondLst>
                                    <p:cond delay="0"/>
                                  </p:stCondLst>
                                  <p:childTnLst>
                                    <p:set>
                                      <p:cBhvr>
                                        <p:cTn id="79" dur="1" fill="hold">
                                          <p:stCondLst>
                                            <p:cond delay="499"/>
                                          </p:stCondLst>
                                        </p:cTn>
                                        <p:tgtEl>
                                          <p:spTgt spid="178180"/>
                                        </p:tgtEl>
                                        <p:attrNameLst>
                                          <p:attrName>style.visibility</p:attrName>
                                        </p:attrNameLst>
                                      </p:cBhvr>
                                      <p:to>
                                        <p:strVal val="visible"/>
                                      </p:to>
                                    </p:set>
                                  </p:childTnLst>
                                </p:cTn>
                              </p:par>
                            </p:childTnLst>
                          </p:cTn>
                        </p:par>
                      </p:childTnLst>
                    </p:cTn>
                  </p:par>
                  <p:par>
                    <p:cTn id="80" fill="hold" nodeType="clickPar">
                      <p:stCondLst>
                        <p:cond delay="indefinite"/>
                      </p:stCondLst>
                      <p:childTnLst>
                        <p:par>
                          <p:cTn id="81" fill="hold" nodeType="withGroup">
                            <p:stCondLst>
                              <p:cond delay="0"/>
                            </p:stCondLst>
                            <p:childTnLst>
                              <p:par>
                                <p:cTn id="82" presetID="1" presetClass="entr" presetSubtype="0" fill="hold" grpId="0" nodeType="clickEffect">
                                  <p:stCondLst>
                                    <p:cond delay="0"/>
                                  </p:stCondLst>
                                  <p:childTnLst>
                                    <p:set>
                                      <p:cBhvr>
                                        <p:cTn id="83" dur="1" fill="hold">
                                          <p:stCondLst>
                                            <p:cond delay="499"/>
                                          </p:stCondLst>
                                        </p:cTn>
                                        <p:tgtEl>
                                          <p:spTgt spid="178189"/>
                                        </p:tgtEl>
                                        <p:attrNameLst>
                                          <p:attrName>style.visibility</p:attrName>
                                        </p:attrNameLst>
                                      </p:cBhvr>
                                      <p:to>
                                        <p:strVal val="visible"/>
                                      </p:to>
                                    </p:set>
                                  </p:childTnLst>
                                </p:cTn>
                              </p:par>
                            </p:childTnLst>
                          </p:cTn>
                        </p:par>
                        <p:par>
                          <p:cTn id="84" fill="hold" nodeType="afterGroup">
                            <p:stCondLst>
                              <p:cond delay="500"/>
                            </p:stCondLst>
                            <p:childTnLst>
                              <p:par>
                                <p:cTn id="85" presetID="1" presetClass="entr" presetSubtype="0" fill="hold" nodeType="afterEffect">
                                  <p:stCondLst>
                                    <p:cond delay="0"/>
                                  </p:stCondLst>
                                  <p:childTnLst>
                                    <p:set>
                                      <p:cBhvr>
                                        <p:cTn id="86" dur="1" fill="hold">
                                          <p:stCondLst>
                                            <p:cond delay="499"/>
                                          </p:stCondLst>
                                        </p:cTn>
                                        <p:tgtEl>
                                          <p:spTgt spid="178181"/>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178217"/>
                                        </p:tgtEl>
                                        <p:attrNameLst>
                                          <p:attrName>style.visibility</p:attrName>
                                        </p:attrNameLst>
                                      </p:cBhvr>
                                      <p:to>
                                        <p:strVal val="visible"/>
                                      </p:to>
                                    </p:set>
                                    <p:animEffect transition="in" filter="wipe(left)">
                                      <p:cBhvr>
                                        <p:cTn id="91" dur="1000"/>
                                        <p:tgtEl>
                                          <p:spTgt spid="178217"/>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178219"/>
                                        </p:tgtEl>
                                        <p:attrNameLst>
                                          <p:attrName>style.visibility</p:attrName>
                                        </p:attrNameLst>
                                      </p:cBhvr>
                                      <p:to>
                                        <p:strVal val="visible"/>
                                      </p:to>
                                    </p:set>
                                    <p:animEffect transition="in" filter="wipe(left)">
                                      <p:cBhvr>
                                        <p:cTn id="96" dur="1000"/>
                                        <p:tgtEl>
                                          <p:spTgt spid="178219"/>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178221"/>
                                        </p:tgtEl>
                                        <p:attrNameLst>
                                          <p:attrName>style.visibility</p:attrName>
                                        </p:attrNameLst>
                                      </p:cBhvr>
                                      <p:to>
                                        <p:strVal val="visible"/>
                                      </p:to>
                                    </p:set>
                                    <p:animEffect transition="in" filter="wipe(left)">
                                      <p:cBhvr>
                                        <p:cTn id="101" dur="1000"/>
                                        <p:tgtEl>
                                          <p:spTgt spid="178221"/>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4" presetClass="entr" presetSubtype="32" fill="hold" nodeType="clickEffect">
                                  <p:stCondLst>
                                    <p:cond delay="0"/>
                                  </p:stCondLst>
                                  <p:childTnLst>
                                    <p:set>
                                      <p:cBhvr>
                                        <p:cTn id="105" dur="1" fill="hold">
                                          <p:stCondLst>
                                            <p:cond delay="0"/>
                                          </p:stCondLst>
                                        </p:cTn>
                                        <p:tgtEl>
                                          <p:spTgt spid="6"/>
                                        </p:tgtEl>
                                        <p:attrNameLst>
                                          <p:attrName>style.visibility</p:attrName>
                                        </p:attrNameLst>
                                      </p:cBhvr>
                                      <p:to>
                                        <p:strVal val="visible"/>
                                      </p:to>
                                    </p:set>
                                    <p:animEffect transition="in" filter="box(out)">
                                      <p:cBhvr>
                                        <p:cTn id="106" dur="1000"/>
                                        <p:tgtEl>
                                          <p:spTgt spid="6"/>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nodeType="clickEffect">
                                  <p:stCondLst>
                                    <p:cond delay="0"/>
                                  </p:stCondLst>
                                  <p:childTnLst>
                                    <p:set>
                                      <p:cBhvr>
                                        <p:cTn id="110" dur="1" fill="hold">
                                          <p:stCondLst>
                                            <p:cond delay="0"/>
                                          </p:stCondLst>
                                        </p:cTn>
                                        <p:tgtEl>
                                          <p:spTgt spid="178222"/>
                                        </p:tgtEl>
                                        <p:attrNameLst>
                                          <p:attrName>style.visibility</p:attrName>
                                        </p:attrNameLst>
                                      </p:cBhvr>
                                      <p:to>
                                        <p:strVal val="visible"/>
                                      </p:to>
                                    </p:set>
                                    <p:animEffect transition="in" filter="wipe(left)">
                                      <p:cBhvr>
                                        <p:cTn id="111" dur="1000"/>
                                        <p:tgtEl>
                                          <p:spTgt spid="178222"/>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1" presetClass="exit" presetSubtype="0" fill="hold" nodeType="clickEffect">
                                  <p:stCondLst>
                                    <p:cond delay="0"/>
                                  </p:stCondLst>
                                  <p:childTnLst>
                                    <p:set>
                                      <p:cBhvr>
                                        <p:cTn id="115" dur="1" fill="hold">
                                          <p:stCondLst>
                                            <p:cond delay="0"/>
                                          </p:stCondLst>
                                        </p:cTn>
                                        <p:tgtEl>
                                          <p:spTgt spid="178180"/>
                                        </p:tgtEl>
                                        <p:attrNameLst>
                                          <p:attrName>style.visibility</p:attrName>
                                        </p:attrNameLst>
                                      </p:cBhvr>
                                      <p:to>
                                        <p:strVal val="hidden"/>
                                      </p:to>
                                    </p:set>
                                  </p:childTnLst>
                                </p:cTn>
                              </p:par>
                              <p:par>
                                <p:cTn id="116" presetID="1" presetClass="exit" presetSubtype="0" fill="hold" nodeType="withEffect">
                                  <p:stCondLst>
                                    <p:cond delay="0"/>
                                  </p:stCondLst>
                                  <p:childTnLst>
                                    <p:set>
                                      <p:cBhvr>
                                        <p:cTn id="117" dur="1" fill="hold">
                                          <p:stCondLst>
                                            <p:cond delay="0"/>
                                          </p:stCondLst>
                                        </p:cTn>
                                        <p:tgtEl>
                                          <p:spTgt spid="178181"/>
                                        </p:tgtEl>
                                        <p:attrNameLst>
                                          <p:attrName>style.visibility</p:attrName>
                                        </p:attrNameLst>
                                      </p:cBhvr>
                                      <p:to>
                                        <p:strVal val="hidden"/>
                                      </p:to>
                                    </p:set>
                                  </p:childTnLst>
                                </p:cTn>
                              </p:par>
                              <p:par>
                                <p:cTn id="118" presetID="1" presetClass="exit" presetSubtype="0" fill="hold" grpId="1" nodeType="withEffect">
                                  <p:stCondLst>
                                    <p:cond delay="0"/>
                                  </p:stCondLst>
                                  <p:childTnLst>
                                    <p:set>
                                      <p:cBhvr>
                                        <p:cTn id="119" dur="1" fill="hold">
                                          <p:stCondLst>
                                            <p:cond delay="0"/>
                                          </p:stCondLst>
                                        </p:cTn>
                                        <p:tgtEl>
                                          <p:spTgt spid="178182"/>
                                        </p:tgtEl>
                                        <p:attrNameLst>
                                          <p:attrName>style.visibility</p:attrName>
                                        </p:attrNameLst>
                                      </p:cBhvr>
                                      <p:to>
                                        <p:strVal val="hidden"/>
                                      </p:to>
                                    </p:set>
                                  </p:childTnLst>
                                </p:cTn>
                              </p:par>
                              <p:par>
                                <p:cTn id="120" presetID="1" presetClass="exit" presetSubtype="0" fill="hold" grpId="1" nodeType="withEffect">
                                  <p:stCondLst>
                                    <p:cond delay="0"/>
                                  </p:stCondLst>
                                  <p:childTnLst>
                                    <p:set>
                                      <p:cBhvr>
                                        <p:cTn id="121" dur="1" fill="hold">
                                          <p:stCondLst>
                                            <p:cond delay="0"/>
                                          </p:stCondLst>
                                        </p:cTn>
                                        <p:tgtEl>
                                          <p:spTgt spid="178183"/>
                                        </p:tgtEl>
                                        <p:attrNameLst>
                                          <p:attrName>style.visibility</p:attrName>
                                        </p:attrNameLst>
                                      </p:cBhvr>
                                      <p:to>
                                        <p:strVal val="hidden"/>
                                      </p:to>
                                    </p:set>
                                  </p:childTnLst>
                                </p:cTn>
                              </p:par>
                              <p:par>
                                <p:cTn id="122" presetID="1" presetClass="exit" presetSubtype="0" fill="hold" grpId="1" nodeType="withEffect">
                                  <p:stCondLst>
                                    <p:cond delay="0"/>
                                  </p:stCondLst>
                                  <p:childTnLst>
                                    <p:set>
                                      <p:cBhvr>
                                        <p:cTn id="123" dur="1" fill="hold">
                                          <p:stCondLst>
                                            <p:cond delay="0"/>
                                          </p:stCondLst>
                                        </p:cTn>
                                        <p:tgtEl>
                                          <p:spTgt spid="178184"/>
                                        </p:tgtEl>
                                        <p:attrNameLst>
                                          <p:attrName>style.visibility</p:attrName>
                                        </p:attrNameLst>
                                      </p:cBhvr>
                                      <p:to>
                                        <p:strVal val="hidden"/>
                                      </p:to>
                                    </p:set>
                                  </p:childTnLst>
                                </p:cTn>
                              </p:par>
                              <p:par>
                                <p:cTn id="124" presetID="1" presetClass="exit" presetSubtype="0" fill="hold" grpId="1" nodeType="withEffect">
                                  <p:stCondLst>
                                    <p:cond delay="0"/>
                                  </p:stCondLst>
                                  <p:childTnLst>
                                    <p:set>
                                      <p:cBhvr>
                                        <p:cTn id="125" dur="1" fill="hold">
                                          <p:stCondLst>
                                            <p:cond delay="0"/>
                                          </p:stCondLst>
                                        </p:cTn>
                                        <p:tgtEl>
                                          <p:spTgt spid="178185"/>
                                        </p:tgtEl>
                                        <p:attrNameLst>
                                          <p:attrName>style.visibility</p:attrName>
                                        </p:attrNameLst>
                                      </p:cBhvr>
                                      <p:to>
                                        <p:strVal val="hidden"/>
                                      </p:to>
                                    </p:set>
                                  </p:childTnLst>
                                </p:cTn>
                              </p:par>
                              <p:par>
                                <p:cTn id="126" presetID="1" presetClass="exit" presetSubtype="0" fill="hold" grpId="1" nodeType="withEffect">
                                  <p:stCondLst>
                                    <p:cond delay="0"/>
                                  </p:stCondLst>
                                  <p:childTnLst>
                                    <p:set>
                                      <p:cBhvr>
                                        <p:cTn id="127" dur="1" fill="hold">
                                          <p:stCondLst>
                                            <p:cond delay="0"/>
                                          </p:stCondLst>
                                        </p:cTn>
                                        <p:tgtEl>
                                          <p:spTgt spid="178186"/>
                                        </p:tgtEl>
                                        <p:attrNameLst>
                                          <p:attrName>style.visibility</p:attrName>
                                        </p:attrNameLst>
                                      </p:cBhvr>
                                      <p:to>
                                        <p:strVal val="hidden"/>
                                      </p:to>
                                    </p:set>
                                  </p:childTnLst>
                                </p:cTn>
                              </p:par>
                              <p:par>
                                <p:cTn id="128" presetID="1" presetClass="exit" presetSubtype="0" fill="hold" grpId="1" nodeType="withEffect">
                                  <p:stCondLst>
                                    <p:cond delay="0"/>
                                  </p:stCondLst>
                                  <p:childTnLst>
                                    <p:set>
                                      <p:cBhvr>
                                        <p:cTn id="129" dur="1" fill="hold">
                                          <p:stCondLst>
                                            <p:cond delay="0"/>
                                          </p:stCondLst>
                                        </p:cTn>
                                        <p:tgtEl>
                                          <p:spTgt spid="178187"/>
                                        </p:tgtEl>
                                        <p:attrNameLst>
                                          <p:attrName>style.visibility</p:attrName>
                                        </p:attrNameLst>
                                      </p:cBhvr>
                                      <p:to>
                                        <p:strVal val="hidden"/>
                                      </p:to>
                                    </p:set>
                                  </p:childTnLst>
                                </p:cTn>
                              </p:par>
                              <p:par>
                                <p:cTn id="130" presetID="1" presetClass="exit" presetSubtype="0" fill="hold" grpId="1" nodeType="withEffect">
                                  <p:stCondLst>
                                    <p:cond delay="0"/>
                                  </p:stCondLst>
                                  <p:childTnLst>
                                    <p:set>
                                      <p:cBhvr>
                                        <p:cTn id="131" dur="1" fill="hold">
                                          <p:stCondLst>
                                            <p:cond delay="0"/>
                                          </p:stCondLst>
                                        </p:cTn>
                                        <p:tgtEl>
                                          <p:spTgt spid="178188"/>
                                        </p:tgtEl>
                                        <p:attrNameLst>
                                          <p:attrName>style.visibility</p:attrName>
                                        </p:attrNameLst>
                                      </p:cBhvr>
                                      <p:to>
                                        <p:strVal val="hidden"/>
                                      </p:to>
                                    </p:set>
                                  </p:childTnLst>
                                </p:cTn>
                              </p:par>
                              <p:par>
                                <p:cTn id="132" presetID="1" presetClass="exit" presetSubtype="0" fill="hold" grpId="1" nodeType="withEffect">
                                  <p:stCondLst>
                                    <p:cond delay="0"/>
                                  </p:stCondLst>
                                  <p:childTnLst>
                                    <p:set>
                                      <p:cBhvr>
                                        <p:cTn id="133" dur="1" fill="hold">
                                          <p:stCondLst>
                                            <p:cond delay="0"/>
                                          </p:stCondLst>
                                        </p:cTn>
                                        <p:tgtEl>
                                          <p:spTgt spid="178189"/>
                                        </p:tgtEl>
                                        <p:attrNameLst>
                                          <p:attrName>style.visibility</p:attrName>
                                        </p:attrNameLst>
                                      </p:cBhvr>
                                      <p:to>
                                        <p:strVal val="hidden"/>
                                      </p:to>
                                    </p:set>
                                  </p:childTnLst>
                                </p:cTn>
                              </p:par>
                              <p:par>
                                <p:cTn id="134" presetID="1" presetClass="exit" presetSubtype="0" fill="hold" grpId="1" nodeType="withEffect">
                                  <p:stCondLst>
                                    <p:cond delay="0"/>
                                  </p:stCondLst>
                                  <p:childTnLst>
                                    <p:set>
                                      <p:cBhvr>
                                        <p:cTn id="135" dur="1" fill="hold">
                                          <p:stCondLst>
                                            <p:cond delay="0"/>
                                          </p:stCondLst>
                                        </p:cTn>
                                        <p:tgtEl>
                                          <p:spTgt spid="178190"/>
                                        </p:tgtEl>
                                        <p:attrNameLst>
                                          <p:attrName>style.visibility</p:attrName>
                                        </p:attrNameLst>
                                      </p:cBhvr>
                                      <p:to>
                                        <p:strVal val="hidden"/>
                                      </p:to>
                                    </p:set>
                                  </p:childTnLst>
                                </p:cTn>
                              </p:par>
                              <p:par>
                                <p:cTn id="136" presetID="1" presetClass="exit" presetSubtype="0" fill="hold" nodeType="withEffect">
                                  <p:stCondLst>
                                    <p:cond delay="0"/>
                                  </p:stCondLst>
                                  <p:childTnLst>
                                    <p:set>
                                      <p:cBhvr>
                                        <p:cTn id="137" dur="1" fill="hold">
                                          <p:stCondLst>
                                            <p:cond delay="0"/>
                                          </p:stCondLst>
                                        </p:cTn>
                                        <p:tgtEl>
                                          <p:spTgt spid="2"/>
                                        </p:tgtEl>
                                        <p:attrNameLst>
                                          <p:attrName>style.visibility</p:attrName>
                                        </p:attrNameLst>
                                      </p:cBhvr>
                                      <p:to>
                                        <p:strVal val="hidden"/>
                                      </p:to>
                                    </p:set>
                                  </p:childTnLst>
                                </p:cTn>
                              </p:par>
                              <p:par>
                                <p:cTn id="138" presetID="1" presetClass="exit" presetSubtype="0" fill="hold" grpId="1" nodeType="withEffect">
                                  <p:stCondLst>
                                    <p:cond delay="0"/>
                                  </p:stCondLst>
                                  <p:childTnLst>
                                    <p:set>
                                      <p:cBhvr>
                                        <p:cTn id="139" dur="1" fill="hold">
                                          <p:stCondLst>
                                            <p:cond delay="0"/>
                                          </p:stCondLst>
                                        </p:cTn>
                                        <p:tgtEl>
                                          <p:spTgt spid="178194"/>
                                        </p:tgtEl>
                                        <p:attrNameLst>
                                          <p:attrName>style.visibility</p:attrName>
                                        </p:attrNameLst>
                                      </p:cBhvr>
                                      <p:to>
                                        <p:strVal val="hidden"/>
                                      </p:to>
                                    </p:set>
                                  </p:childTnLst>
                                </p:cTn>
                              </p:par>
                              <p:par>
                                <p:cTn id="140" presetID="1" presetClass="exit" presetSubtype="0" fill="hold" grpId="1" nodeType="withEffect">
                                  <p:stCondLst>
                                    <p:cond delay="0"/>
                                  </p:stCondLst>
                                  <p:childTnLst>
                                    <p:set>
                                      <p:cBhvr>
                                        <p:cTn id="141" dur="1" fill="hold">
                                          <p:stCondLst>
                                            <p:cond delay="0"/>
                                          </p:stCondLst>
                                        </p:cTn>
                                        <p:tgtEl>
                                          <p:spTgt spid="178195"/>
                                        </p:tgtEl>
                                        <p:attrNameLst>
                                          <p:attrName>style.visibility</p:attrName>
                                        </p:attrNameLst>
                                      </p:cBhvr>
                                      <p:to>
                                        <p:strVal val="hidden"/>
                                      </p:to>
                                    </p:set>
                                  </p:childTnLst>
                                </p:cTn>
                              </p:par>
                              <p:par>
                                <p:cTn id="142" presetID="1" presetClass="exit" presetSubtype="0" fill="hold" nodeType="withEffect">
                                  <p:stCondLst>
                                    <p:cond delay="0"/>
                                  </p:stCondLst>
                                  <p:childTnLst>
                                    <p:set>
                                      <p:cBhvr>
                                        <p:cTn id="143" dur="1" fill="hold">
                                          <p:stCondLst>
                                            <p:cond delay="0"/>
                                          </p:stCondLst>
                                        </p:cTn>
                                        <p:tgtEl>
                                          <p:spTgt spid="3"/>
                                        </p:tgtEl>
                                        <p:attrNameLst>
                                          <p:attrName>style.visibility</p:attrName>
                                        </p:attrNameLst>
                                      </p:cBhvr>
                                      <p:to>
                                        <p:strVal val="hidden"/>
                                      </p:to>
                                    </p:set>
                                  </p:childTnLst>
                                </p:cTn>
                              </p:par>
                              <p:par>
                                <p:cTn id="144" presetID="1" presetClass="exit" presetSubtype="0" fill="hold" nodeType="withEffect">
                                  <p:stCondLst>
                                    <p:cond delay="0"/>
                                  </p:stCondLst>
                                  <p:childTnLst>
                                    <p:set>
                                      <p:cBhvr>
                                        <p:cTn id="145" dur="1" fill="hold">
                                          <p:stCondLst>
                                            <p:cond delay="0"/>
                                          </p:stCondLst>
                                        </p:cTn>
                                        <p:tgtEl>
                                          <p:spTgt spid="4"/>
                                        </p:tgtEl>
                                        <p:attrNameLst>
                                          <p:attrName>style.visibility</p:attrName>
                                        </p:attrNameLst>
                                      </p:cBhvr>
                                      <p:to>
                                        <p:strVal val="hidden"/>
                                      </p:to>
                                    </p:set>
                                  </p:childTnLst>
                                </p:cTn>
                              </p:par>
                              <p:par>
                                <p:cTn id="146" presetID="1" presetClass="exit" presetSubtype="0" fill="hold" nodeType="withEffect">
                                  <p:stCondLst>
                                    <p:cond delay="0"/>
                                  </p:stCondLst>
                                  <p:childTnLst>
                                    <p:set>
                                      <p:cBhvr>
                                        <p:cTn id="147" dur="1" fill="hold">
                                          <p:stCondLst>
                                            <p:cond delay="0"/>
                                          </p:stCondLst>
                                        </p:cTn>
                                        <p:tgtEl>
                                          <p:spTgt spid="178214"/>
                                        </p:tgtEl>
                                        <p:attrNameLst>
                                          <p:attrName>style.visibility</p:attrName>
                                        </p:attrNameLst>
                                      </p:cBhvr>
                                      <p:to>
                                        <p:strVal val="hidden"/>
                                      </p:to>
                                    </p:set>
                                  </p:childTnLst>
                                </p:cTn>
                              </p:par>
                              <p:par>
                                <p:cTn id="148" presetID="1" presetClass="exit" presetSubtype="0" fill="hold" nodeType="withEffect">
                                  <p:stCondLst>
                                    <p:cond delay="0"/>
                                  </p:stCondLst>
                                  <p:childTnLst>
                                    <p:set>
                                      <p:cBhvr>
                                        <p:cTn id="149" dur="1" fill="hold">
                                          <p:stCondLst>
                                            <p:cond delay="0"/>
                                          </p:stCondLst>
                                        </p:cTn>
                                        <p:tgtEl>
                                          <p:spTgt spid="6"/>
                                        </p:tgtEl>
                                        <p:attrNameLst>
                                          <p:attrName>style.visibility</p:attrName>
                                        </p:attrNameLst>
                                      </p:cBhvr>
                                      <p:to>
                                        <p:strVal val="hidden"/>
                                      </p:to>
                                    </p:se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22" presetClass="entr" presetSubtype="8" fill="hold" grpId="0" nodeType="clickEffect">
                                  <p:stCondLst>
                                    <p:cond delay="0"/>
                                  </p:stCondLst>
                                  <p:childTnLst>
                                    <p:set>
                                      <p:cBhvr>
                                        <p:cTn id="153" dur="1" fill="hold">
                                          <p:stCondLst>
                                            <p:cond delay="0"/>
                                          </p:stCondLst>
                                        </p:cTn>
                                        <p:tgtEl>
                                          <p:spTgt spid="178218"/>
                                        </p:tgtEl>
                                        <p:attrNameLst>
                                          <p:attrName>style.visibility</p:attrName>
                                        </p:attrNameLst>
                                      </p:cBhvr>
                                      <p:to>
                                        <p:strVal val="visible"/>
                                      </p:to>
                                    </p:set>
                                    <p:animEffect transition="in" filter="wipe(left)">
                                      <p:cBhvr>
                                        <p:cTn id="154" dur="1000"/>
                                        <p:tgtEl>
                                          <p:spTgt spid="178218"/>
                                        </p:tgtEl>
                                      </p:cBhvr>
                                    </p:animEffec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22" presetClass="entr" presetSubtype="8" fill="hold" nodeType="clickEffect">
                                  <p:stCondLst>
                                    <p:cond delay="0"/>
                                  </p:stCondLst>
                                  <p:childTnLst>
                                    <p:set>
                                      <p:cBhvr>
                                        <p:cTn id="158" dur="1" fill="hold">
                                          <p:stCondLst>
                                            <p:cond delay="0"/>
                                          </p:stCondLst>
                                        </p:cTn>
                                        <p:tgtEl>
                                          <p:spTgt spid="178220"/>
                                        </p:tgtEl>
                                        <p:attrNameLst>
                                          <p:attrName>style.visibility</p:attrName>
                                        </p:attrNameLst>
                                      </p:cBhvr>
                                      <p:to>
                                        <p:strVal val="visible"/>
                                      </p:to>
                                    </p:set>
                                    <p:animEffect transition="in" filter="wipe(left)">
                                      <p:cBhvr>
                                        <p:cTn id="159" dur="1000"/>
                                        <p:tgtEl>
                                          <p:spTgt spid="178220"/>
                                        </p:tgtEl>
                                      </p:cBhvr>
                                    </p:animEffect>
                                  </p:childTnLst>
                                </p:cTn>
                              </p:par>
                            </p:childTnLst>
                          </p:cTn>
                        </p:par>
                      </p:childTnLst>
                    </p:cTn>
                  </p:par>
                  <p:par>
                    <p:cTn id="160" fill="hold" nodeType="clickPar">
                      <p:stCondLst>
                        <p:cond delay="indefinite"/>
                      </p:stCondLst>
                      <p:childTnLst>
                        <p:par>
                          <p:cTn id="161" fill="hold" nodeType="withGroup">
                            <p:stCondLst>
                              <p:cond delay="0"/>
                            </p:stCondLst>
                            <p:childTnLst>
                              <p:par>
                                <p:cTn id="162" presetID="22" presetClass="entr" presetSubtype="8" fill="hold" nodeType="clickEffect">
                                  <p:stCondLst>
                                    <p:cond delay="0"/>
                                  </p:stCondLst>
                                  <p:childTnLst>
                                    <p:set>
                                      <p:cBhvr>
                                        <p:cTn id="163" dur="1" fill="hold">
                                          <p:stCondLst>
                                            <p:cond delay="0"/>
                                          </p:stCondLst>
                                        </p:cTn>
                                        <p:tgtEl>
                                          <p:spTgt spid="9"/>
                                        </p:tgtEl>
                                        <p:attrNameLst>
                                          <p:attrName>style.visibility</p:attrName>
                                        </p:attrNameLst>
                                      </p:cBhvr>
                                      <p:to>
                                        <p:strVal val="visible"/>
                                      </p:to>
                                    </p:set>
                                    <p:animEffect transition="in" filter="wipe(left)">
                                      <p:cBhvr>
                                        <p:cTn id="164" dur="1000"/>
                                        <p:tgtEl>
                                          <p:spTgt spid="9"/>
                                        </p:tgtEl>
                                      </p:cBhvr>
                                    </p:animEffect>
                                  </p:childTnLst>
                                </p:cTn>
                              </p:par>
                            </p:childTnLst>
                          </p:cTn>
                        </p:par>
                      </p:childTnLst>
                    </p:cTn>
                  </p:par>
                  <p:par>
                    <p:cTn id="165" fill="hold" nodeType="clickPar">
                      <p:stCondLst>
                        <p:cond delay="indefinite"/>
                      </p:stCondLst>
                      <p:childTnLst>
                        <p:par>
                          <p:cTn id="166" fill="hold" nodeType="withGroup">
                            <p:stCondLst>
                              <p:cond delay="0"/>
                            </p:stCondLst>
                            <p:childTnLst>
                              <p:par>
                                <p:cTn id="167" presetID="12" presetClass="entr" presetSubtype="2" fill="hold" nodeType="clickEffect">
                                  <p:stCondLst>
                                    <p:cond delay="0"/>
                                  </p:stCondLst>
                                  <p:childTnLst>
                                    <p:set>
                                      <p:cBhvr>
                                        <p:cTn id="168" dur="1" fill="hold">
                                          <p:stCondLst>
                                            <p:cond delay="0"/>
                                          </p:stCondLst>
                                        </p:cTn>
                                        <p:tgtEl>
                                          <p:spTgt spid="8"/>
                                        </p:tgtEl>
                                        <p:attrNameLst>
                                          <p:attrName>style.visibility</p:attrName>
                                        </p:attrNameLst>
                                      </p:cBhvr>
                                      <p:to>
                                        <p:strVal val="visible"/>
                                      </p:to>
                                    </p:set>
                                    <p:animEffect transition="in" filter="slide(fromRight)">
                                      <p:cBhvr>
                                        <p:cTn id="169" dur="1000"/>
                                        <p:tgtEl>
                                          <p:spTgt spid="8"/>
                                        </p:tgtEl>
                                      </p:cBhvr>
                                    </p:animEffect>
                                  </p:childTnLst>
                                </p:cTn>
                              </p:par>
                            </p:childTnLst>
                          </p:cTn>
                        </p:par>
                        <p:par>
                          <p:cTn id="170" fill="hold" nodeType="afterGroup">
                            <p:stCondLst>
                              <p:cond delay="1000"/>
                            </p:stCondLst>
                            <p:childTnLst>
                              <p:par>
                                <p:cTn id="171" presetID="22" presetClass="entr" presetSubtype="2" fill="hold" nodeType="afterEffect">
                                  <p:stCondLst>
                                    <p:cond delay="0"/>
                                  </p:stCondLst>
                                  <p:childTnLst>
                                    <p:set>
                                      <p:cBhvr>
                                        <p:cTn id="172" dur="1" fill="hold">
                                          <p:stCondLst>
                                            <p:cond delay="0"/>
                                          </p:stCondLst>
                                        </p:cTn>
                                        <p:tgtEl>
                                          <p:spTgt spid="7"/>
                                        </p:tgtEl>
                                        <p:attrNameLst>
                                          <p:attrName>style.visibility</p:attrName>
                                        </p:attrNameLst>
                                      </p:cBhvr>
                                      <p:to>
                                        <p:strVal val="visible"/>
                                      </p:to>
                                    </p:set>
                                    <p:animEffect transition="in" filter="wipe(right)">
                                      <p:cBhvr>
                                        <p:cTn id="173" dur="500"/>
                                        <p:tgtEl>
                                          <p:spTgt spid="7"/>
                                        </p:tgtEl>
                                      </p:cBhvr>
                                    </p:animEffect>
                                  </p:childTnLst>
                                </p:cTn>
                              </p:par>
                            </p:childTnLst>
                          </p:cTn>
                        </p:par>
                      </p:childTnLst>
                    </p:cTn>
                  </p:par>
                  <p:par>
                    <p:cTn id="174" fill="hold" nodeType="clickPar">
                      <p:stCondLst>
                        <p:cond delay="indefinite"/>
                      </p:stCondLst>
                      <p:childTnLst>
                        <p:par>
                          <p:cTn id="175" fill="hold" nodeType="withGroup">
                            <p:stCondLst>
                              <p:cond delay="0"/>
                            </p:stCondLst>
                            <p:childTnLst>
                              <p:par>
                                <p:cTn id="176" presetID="22" presetClass="entr" presetSubtype="8" fill="hold" grpId="0" nodeType="clickEffect">
                                  <p:stCondLst>
                                    <p:cond delay="0"/>
                                  </p:stCondLst>
                                  <p:childTnLst>
                                    <p:set>
                                      <p:cBhvr>
                                        <p:cTn id="177" dur="1" fill="hold">
                                          <p:stCondLst>
                                            <p:cond delay="0"/>
                                          </p:stCondLst>
                                        </p:cTn>
                                        <p:tgtEl>
                                          <p:spTgt spid="178236"/>
                                        </p:tgtEl>
                                        <p:attrNameLst>
                                          <p:attrName>style.visibility</p:attrName>
                                        </p:attrNameLst>
                                      </p:cBhvr>
                                      <p:to>
                                        <p:strVal val="visible"/>
                                      </p:to>
                                    </p:set>
                                    <p:animEffect transition="in" filter="wipe(left)">
                                      <p:cBhvr>
                                        <p:cTn id="178" dur="1000"/>
                                        <p:tgtEl>
                                          <p:spTgt spid="178236"/>
                                        </p:tgtEl>
                                      </p:cBhvr>
                                    </p:animEffect>
                                  </p:childTnLst>
                                </p:cTn>
                              </p:par>
                            </p:childTnLst>
                          </p:cTn>
                        </p:par>
                      </p:childTnLst>
                    </p:cTn>
                  </p:par>
                  <p:par>
                    <p:cTn id="179" fill="hold" nodeType="clickPar">
                      <p:stCondLst>
                        <p:cond delay="indefinite"/>
                      </p:stCondLst>
                      <p:childTnLst>
                        <p:par>
                          <p:cTn id="180" fill="hold" nodeType="withGroup">
                            <p:stCondLst>
                              <p:cond delay="0"/>
                            </p:stCondLst>
                            <p:childTnLst>
                              <p:par>
                                <p:cTn id="181" presetID="22" presetClass="entr" presetSubtype="8" fill="hold" grpId="0" nodeType="clickEffect">
                                  <p:stCondLst>
                                    <p:cond delay="0"/>
                                  </p:stCondLst>
                                  <p:childTnLst>
                                    <p:set>
                                      <p:cBhvr>
                                        <p:cTn id="182" dur="1" fill="hold">
                                          <p:stCondLst>
                                            <p:cond delay="0"/>
                                          </p:stCondLst>
                                        </p:cTn>
                                        <p:tgtEl>
                                          <p:spTgt spid="178228"/>
                                        </p:tgtEl>
                                        <p:attrNameLst>
                                          <p:attrName>style.visibility</p:attrName>
                                        </p:attrNameLst>
                                      </p:cBhvr>
                                      <p:to>
                                        <p:strVal val="visible"/>
                                      </p:to>
                                    </p:set>
                                    <p:animEffect transition="in" filter="wipe(left)">
                                      <p:cBhvr>
                                        <p:cTn id="183" dur="1000"/>
                                        <p:tgtEl>
                                          <p:spTgt spid="178228"/>
                                        </p:tgtEl>
                                      </p:cBhvr>
                                    </p:animEffect>
                                  </p:childTnLst>
                                </p:cTn>
                              </p:par>
                            </p:childTnLst>
                          </p:cTn>
                        </p:par>
                      </p:childTnLst>
                    </p:cTn>
                  </p:par>
                  <p:par>
                    <p:cTn id="184" fill="hold" nodeType="clickPar">
                      <p:stCondLst>
                        <p:cond delay="indefinite"/>
                      </p:stCondLst>
                      <p:childTnLst>
                        <p:par>
                          <p:cTn id="185" fill="hold" nodeType="withGroup">
                            <p:stCondLst>
                              <p:cond delay="0"/>
                            </p:stCondLst>
                            <p:childTnLst>
                              <p:par>
                                <p:cTn id="186" presetID="22" presetClass="entr" presetSubtype="8" fill="hold" grpId="0" nodeType="clickEffect">
                                  <p:stCondLst>
                                    <p:cond delay="0"/>
                                  </p:stCondLst>
                                  <p:childTnLst>
                                    <p:set>
                                      <p:cBhvr>
                                        <p:cTn id="187" dur="1" fill="hold">
                                          <p:stCondLst>
                                            <p:cond delay="0"/>
                                          </p:stCondLst>
                                        </p:cTn>
                                        <p:tgtEl>
                                          <p:spTgt spid="178231"/>
                                        </p:tgtEl>
                                        <p:attrNameLst>
                                          <p:attrName>style.visibility</p:attrName>
                                        </p:attrNameLst>
                                      </p:cBhvr>
                                      <p:to>
                                        <p:strVal val="visible"/>
                                      </p:to>
                                    </p:set>
                                    <p:animEffect transition="in" filter="wipe(left)">
                                      <p:cBhvr>
                                        <p:cTn id="188" dur="1000"/>
                                        <p:tgtEl>
                                          <p:spTgt spid="178231"/>
                                        </p:tgtEl>
                                      </p:cBhvr>
                                    </p:animEffect>
                                  </p:childTnLst>
                                </p:cTn>
                              </p:par>
                            </p:childTnLst>
                          </p:cTn>
                        </p:par>
                      </p:childTnLst>
                    </p:cTn>
                  </p:par>
                  <p:par>
                    <p:cTn id="189" fill="hold" nodeType="clickPar">
                      <p:stCondLst>
                        <p:cond delay="indefinite"/>
                      </p:stCondLst>
                      <p:childTnLst>
                        <p:par>
                          <p:cTn id="190" fill="hold" nodeType="withGroup">
                            <p:stCondLst>
                              <p:cond delay="0"/>
                            </p:stCondLst>
                            <p:childTnLst>
                              <p:par>
                                <p:cTn id="191" presetID="22" presetClass="entr" presetSubtype="8" fill="hold" grpId="0" nodeType="clickEffect">
                                  <p:stCondLst>
                                    <p:cond delay="0"/>
                                  </p:stCondLst>
                                  <p:childTnLst>
                                    <p:set>
                                      <p:cBhvr>
                                        <p:cTn id="192" dur="1" fill="hold">
                                          <p:stCondLst>
                                            <p:cond delay="0"/>
                                          </p:stCondLst>
                                        </p:cTn>
                                        <p:tgtEl>
                                          <p:spTgt spid="178230"/>
                                        </p:tgtEl>
                                        <p:attrNameLst>
                                          <p:attrName>style.visibility</p:attrName>
                                        </p:attrNameLst>
                                      </p:cBhvr>
                                      <p:to>
                                        <p:strVal val="visible"/>
                                      </p:to>
                                    </p:set>
                                    <p:animEffect transition="in" filter="wipe(left)">
                                      <p:cBhvr>
                                        <p:cTn id="193" dur="1000"/>
                                        <p:tgtEl>
                                          <p:spTgt spid="178230"/>
                                        </p:tgtEl>
                                      </p:cBhvr>
                                    </p:animEffect>
                                  </p:childTnLst>
                                </p:cTn>
                              </p:par>
                            </p:childTnLst>
                          </p:cTn>
                        </p:par>
                      </p:childTnLst>
                    </p:cTn>
                  </p:par>
                  <p:par>
                    <p:cTn id="194" fill="hold" nodeType="clickPar">
                      <p:stCondLst>
                        <p:cond delay="indefinite"/>
                      </p:stCondLst>
                      <p:childTnLst>
                        <p:par>
                          <p:cTn id="195" fill="hold" nodeType="withGroup">
                            <p:stCondLst>
                              <p:cond delay="0"/>
                            </p:stCondLst>
                            <p:childTnLst>
                              <p:par>
                                <p:cTn id="196" presetID="22" presetClass="entr" presetSubtype="8" fill="hold" grpId="0" nodeType="clickEffect">
                                  <p:stCondLst>
                                    <p:cond delay="0"/>
                                  </p:stCondLst>
                                  <p:childTnLst>
                                    <p:set>
                                      <p:cBhvr>
                                        <p:cTn id="197" dur="1" fill="hold">
                                          <p:stCondLst>
                                            <p:cond delay="0"/>
                                          </p:stCondLst>
                                        </p:cTn>
                                        <p:tgtEl>
                                          <p:spTgt spid="178232"/>
                                        </p:tgtEl>
                                        <p:attrNameLst>
                                          <p:attrName>style.visibility</p:attrName>
                                        </p:attrNameLst>
                                      </p:cBhvr>
                                      <p:to>
                                        <p:strVal val="visible"/>
                                      </p:to>
                                    </p:set>
                                    <p:animEffect transition="in" filter="wipe(left)">
                                      <p:cBhvr>
                                        <p:cTn id="198" dur="1000"/>
                                        <p:tgtEl>
                                          <p:spTgt spid="178232"/>
                                        </p:tgtEl>
                                      </p:cBhvr>
                                    </p:animEffect>
                                  </p:childTnLst>
                                </p:cTn>
                              </p:par>
                            </p:childTnLst>
                          </p:cTn>
                        </p:par>
                      </p:childTnLst>
                    </p:cTn>
                  </p:par>
                  <p:par>
                    <p:cTn id="199" fill="hold" nodeType="clickPar">
                      <p:stCondLst>
                        <p:cond delay="indefinite"/>
                      </p:stCondLst>
                      <p:childTnLst>
                        <p:par>
                          <p:cTn id="200" fill="hold" nodeType="withGroup">
                            <p:stCondLst>
                              <p:cond delay="0"/>
                            </p:stCondLst>
                            <p:childTnLst>
                              <p:par>
                                <p:cTn id="201" presetID="22" presetClass="entr" presetSubtype="8" fill="hold" grpId="0" nodeType="clickEffect">
                                  <p:stCondLst>
                                    <p:cond delay="0"/>
                                  </p:stCondLst>
                                  <p:childTnLst>
                                    <p:set>
                                      <p:cBhvr>
                                        <p:cTn id="202" dur="1" fill="hold">
                                          <p:stCondLst>
                                            <p:cond delay="0"/>
                                          </p:stCondLst>
                                        </p:cTn>
                                        <p:tgtEl>
                                          <p:spTgt spid="178233"/>
                                        </p:tgtEl>
                                        <p:attrNameLst>
                                          <p:attrName>style.visibility</p:attrName>
                                        </p:attrNameLst>
                                      </p:cBhvr>
                                      <p:to>
                                        <p:strVal val="visible"/>
                                      </p:to>
                                    </p:set>
                                    <p:animEffect transition="in" filter="wipe(left)">
                                      <p:cBhvr>
                                        <p:cTn id="203" dur="1000"/>
                                        <p:tgtEl>
                                          <p:spTgt spid="178233"/>
                                        </p:tgtEl>
                                      </p:cBhvr>
                                    </p:animEffect>
                                  </p:childTnLst>
                                </p:cTn>
                              </p:par>
                            </p:childTnLst>
                          </p:cTn>
                        </p:par>
                      </p:childTnLst>
                    </p:cTn>
                  </p:par>
                  <p:par>
                    <p:cTn id="204" fill="hold" nodeType="clickPar">
                      <p:stCondLst>
                        <p:cond delay="indefinite"/>
                      </p:stCondLst>
                      <p:childTnLst>
                        <p:par>
                          <p:cTn id="205" fill="hold" nodeType="withGroup">
                            <p:stCondLst>
                              <p:cond delay="0"/>
                            </p:stCondLst>
                            <p:childTnLst>
                              <p:par>
                                <p:cTn id="206" presetID="22" presetClass="entr" presetSubtype="8" fill="hold" grpId="0" nodeType="clickEffect">
                                  <p:stCondLst>
                                    <p:cond delay="0"/>
                                  </p:stCondLst>
                                  <p:childTnLst>
                                    <p:set>
                                      <p:cBhvr>
                                        <p:cTn id="207" dur="1" fill="hold">
                                          <p:stCondLst>
                                            <p:cond delay="0"/>
                                          </p:stCondLst>
                                        </p:cTn>
                                        <p:tgtEl>
                                          <p:spTgt spid="178235"/>
                                        </p:tgtEl>
                                        <p:attrNameLst>
                                          <p:attrName>style.visibility</p:attrName>
                                        </p:attrNameLst>
                                      </p:cBhvr>
                                      <p:to>
                                        <p:strVal val="visible"/>
                                      </p:to>
                                    </p:set>
                                    <p:animEffect transition="in" filter="wipe(left)">
                                      <p:cBhvr>
                                        <p:cTn id="208" dur="1000"/>
                                        <p:tgtEl>
                                          <p:spTgt spid="178235"/>
                                        </p:tgtEl>
                                      </p:cBhvr>
                                    </p:animEffect>
                                  </p:childTnLst>
                                </p:cTn>
                              </p:par>
                            </p:childTnLst>
                          </p:cTn>
                        </p:par>
                      </p:childTnLst>
                    </p:cTn>
                  </p:par>
                  <p:par>
                    <p:cTn id="209" fill="hold" nodeType="clickPar">
                      <p:stCondLst>
                        <p:cond delay="indefinite"/>
                      </p:stCondLst>
                      <p:childTnLst>
                        <p:par>
                          <p:cTn id="210" fill="hold" nodeType="withGroup">
                            <p:stCondLst>
                              <p:cond delay="0"/>
                            </p:stCondLst>
                            <p:childTnLst>
                              <p:par>
                                <p:cTn id="211" presetID="22" presetClass="entr" presetSubtype="8" fill="hold" nodeType="clickEffect">
                                  <p:stCondLst>
                                    <p:cond delay="0"/>
                                  </p:stCondLst>
                                  <p:childTnLst>
                                    <p:set>
                                      <p:cBhvr>
                                        <p:cTn id="212" dur="1" fill="hold">
                                          <p:stCondLst>
                                            <p:cond delay="0"/>
                                          </p:stCondLst>
                                        </p:cTn>
                                        <p:tgtEl>
                                          <p:spTgt spid="178227"/>
                                        </p:tgtEl>
                                        <p:attrNameLst>
                                          <p:attrName>style.visibility</p:attrName>
                                        </p:attrNameLst>
                                      </p:cBhvr>
                                      <p:to>
                                        <p:strVal val="visible"/>
                                      </p:to>
                                    </p:set>
                                    <p:animEffect transition="in" filter="wipe(left)">
                                      <p:cBhvr>
                                        <p:cTn id="213" dur="1000"/>
                                        <p:tgtEl>
                                          <p:spTgt spid="178227"/>
                                        </p:tgtEl>
                                      </p:cBhvr>
                                    </p:animEffect>
                                  </p:childTnLst>
                                </p:cTn>
                              </p:par>
                              <p:par>
                                <p:cTn id="214" presetID="22" presetClass="entr" presetSubtype="2" fill="hold" grpId="0" nodeType="withEffect">
                                  <p:stCondLst>
                                    <p:cond delay="0"/>
                                  </p:stCondLst>
                                  <p:childTnLst>
                                    <p:set>
                                      <p:cBhvr>
                                        <p:cTn id="215" dur="1" fill="hold">
                                          <p:stCondLst>
                                            <p:cond delay="0"/>
                                          </p:stCondLst>
                                        </p:cTn>
                                        <p:tgtEl>
                                          <p:spTgt spid="178257"/>
                                        </p:tgtEl>
                                        <p:attrNameLst>
                                          <p:attrName>style.visibility</p:attrName>
                                        </p:attrNameLst>
                                      </p:cBhvr>
                                      <p:to>
                                        <p:strVal val="visible"/>
                                      </p:to>
                                    </p:set>
                                    <p:animEffect transition="in" filter="wipe(right)">
                                      <p:cBhvr>
                                        <p:cTn id="216" dur="500"/>
                                        <p:tgtEl>
                                          <p:spTgt spid="178257"/>
                                        </p:tgtEl>
                                      </p:cBhvr>
                                    </p:animEffect>
                                  </p:childTnLst>
                                </p:cTn>
                              </p:par>
                            </p:childTnLst>
                          </p:cTn>
                        </p:par>
                      </p:childTnLst>
                    </p:cTn>
                  </p:par>
                  <p:par>
                    <p:cTn id="217" fill="hold" nodeType="clickPar">
                      <p:stCondLst>
                        <p:cond delay="indefinite"/>
                      </p:stCondLst>
                      <p:childTnLst>
                        <p:par>
                          <p:cTn id="218" fill="hold" nodeType="withGroup">
                            <p:stCondLst>
                              <p:cond delay="0"/>
                            </p:stCondLst>
                            <p:childTnLst>
                              <p:par>
                                <p:cTn id="219" presetID="22" presetClass="entr" presetSubtype="8" fill="hold" grpId="0" nodeType="clickEffect">
                                  <p:stCondLst>
                                    <p:cond delay="0"/>
                                  </p:stCondLst>
                                  <p:childTnLst>
                                    <p:set>
                                      <p:cBhvr>
                                        <p:cTn id="220" dur="1" fill="hold">
                                          <p:stCondLst>
                                            <p:cond delay="0"/>
                                          </p:stCondLst>
                                        </p:cTn>
                                        <p:tgtEl>
                                          <p:spTgt spid="178240"/>
                                        </p:tgtEl>
                                        <p:attrNameLst>
                                          <p:attrName>style.visibility</p:attrName>
                                        </p:attrNameLst>
                                      </p:cBhvr>
                                      <p:to>
                                        <p:strVal val="visible"/>
                                      </p:to>
                                    </p:set>
                                    <p:animEffect transition="in" filter="wipe(left)">
                                      <p:cBhvr>
                                        <p:cTn id="221" dur="1000"/>
                                        <p:tgtEl>
                                          <p:spTgt spid="178240"/>
                                        </p:tgtEl>
                                      </p:cBhvr>
                                    </p:animEffect>
                                  </p:childTnLst>
                                </p:cTn>
                              </p:par>
                            </p:childTnLst>
                          </p:cTn>
                        </p:par>
                      </p:childTnLst>
                    </p:cTn>
                  </p:par>
                  <p:par>
                    <p:cTn id="222" fill="hold" nodeType="clickPar">
                      <p:stCondLst>
                        <p:cond delay="indefinite"/>
                      </p:stCondLst>
                      <p:childTnLst>
                        <p:par>
                          <p:cTn id="223" fill="hold" nodeType="withGroup">
                            <p:stCondLst>
                              <p:cond delay="0"/>
                            </p:stCondLst>
                            <p:childTnLst>
                              <p:par>
                                <p:cTn id="224" presetID="22" presetClass="entr" presetSubtype="8" fill="hold" grpId="0" nodeType="clickEffect">
                                  <p:stCondLst>
                                    <p:cond delay="0"/>
                                  </p:stCondLst>
                                  <p:childTnLst>
                                    <p:set>
                                      <p:cBhvr>
                                        <p:cTn id="225" dur="1" fill="hold">
                                          <p:stCondLst>
                                            <p:cond delay="0"/>
                                          </p:stCondLst>
                                        </p:cTn>
                                        <p:tgtEl>
                                          <p:spTgt spid="178234"/>
                                        </p:tgtEl>
                                        <p:attrNameLst>
                                          <p:attrName>style.visibility</p:attrName>
                                        </p:attrNameLst>
                                      </p:cBhvr>
                                      <p:to>
                                        <p:strVal val="visible"/>
                                      </p:to>
                                    </p:set>
                                    <p:animEffect transition="in" filter="wipe(left)">
                                      <p:cBhvr>
                                        <p:cTn id="226" dur="1000"/>
                                        <p:tgtEl>
                                          <p:spTgt spid="178234"/>
                                        </p:tgtEl>
                                      </p:cBhvr>
                                    </p:animEffect>
                                  </p:childTnLst>
                                </p:cTn>
                              </p:par>
                            </p:childTnLst>
                          </p:cTn>
                        </p:par>
                      </p:childTnLst>
                    </p:cTn>
                  </p:par>
                  <p:par>
                    <p:cTn id="227" fill="hold" nodeType="clickPar">
                      <p:stCondLst>
                        <p:cond delay="indefinite"/>
                      </p:stCondLst>
                      <p:childTnLst>
                        <p:par>
                          <p:cTn id="228" fill="hold" nodeType="withGroup">
                            <p:stCondLst>
                              <p:cond delay="0"/>
                            </p:stCondLst>
                            <p:childTnLst>
                              <p:par>
                                <p:cTn id="229" presetID="22" presetClass="entr" presetSubtype="8" fill="hold" nodeType="clickEffect">
                                  <p:stCondLst>
                                    <p:cond delay="0"/>
                                  </p:stCondLst>
                                  <p:childTnLst>
                                    <p:set>
                                      <p:cBhvr>
                                        <p:cTn id="230" dur="1" fill="hold">
                                          <p:stCondLst>
                                            <p:cond delay="0"/>
                                          </p:stCondLst>
                                        </p:cTn>
                                        <p:tgtEl>
                                          <p:spTgt spid="178226"/>
                                        </p:tgtEl>
                                        <p:attrNameLst>
                                          <p:attrName>style.visibility</p:attrName>
                                        </p:attrNameLst>
                                      </p:cBhvr>
                                      <p:to>
                                        <p:strVal val="visible"/>
                                      </p:to>
                                    </p:set>
                                    <p:animEffect transition="in" filter="wipe(left)">
                                      <p:cBhvr>
                                        <p:cTn id="231" dur="1000"/>
                                        <p:tgtEl>
                                          <p:spTgt spid="178226"/>
                                        </p:tgtEl>
                                      </p:cBhvr>
                                    </p:animEffect>
                                  </p:childTnLst>
                                </p:cTn>
                              </p:par>
                            </p:childTnLst>
                          </p:cTn>
                        </p:par>
                      </p:childTnLst>
                    </p:cTn>
                  </p:par>
                  <p:par>
                    <p:cTn id="232" fill="hold" nodeType="clickPar">
                      <p:stCondLst>
                        <p:cond delay="indefinite"/>
                      </p:stCondLst>
                      <p:childTnLst>
                        <p:par>
                          <p:cTn id="233" fill="hold" nodeType="withGroup">
                            <p:stCondLst>
                              <p:cond delay="0"/>
                            </p:stCondLst>
                            <p:childTnLst>
                              <p:par>
                                <p:cTn id="234" presetID="22" presetClass="entr" presetSubtype="8" fill="hold" nodeType="clickEffect">
                                  <p:stCondLst>
                                    <p:cond delay="0"/>
                                  </p:stCondLst>
                                  <p:childTnLst>
                                    <p:set>
                                      <p:cBhvr>
                                        <p:cTn id="235" dur="1" fill="hold">
                                          <p:stCondLst>
                                            <p:cond delay="0"/>
                                          </p:stCondLst>
                                        </p:cTn>
                                        <p:tgtEl>
                                          <p:spTgt spid="178253"/>
                                        </p:tgtEl>
                                        <p:attrNameLst>
                                          <p:attrName>style.visibility</p:attrName>
                                        </p:attrNameLst>
                                      </p:cBhvr>
                                      <p:to>
                                        <p:strVal val="visible"/>
                                      </p:to>
                                    </p:set>
                                    <p:animEffect transition="in" filter="wipe(left)">
                                      <p:cBhvr>
                                        <p:cTn id="236" dur="1000"/>
                                        <p:tgtEl>
                                          <p:spTgt spid="178253"/>
                                        </p:tgtEl>
                                      </p:cBhvr>
                                    </p:animEffect>
                                  </p:childTnLst>
                                </p:cTn>
                              </p:par>
                            </p:childTnLst>
                          </p:cTn>
                        </p:par>
                      </p:childTnLst>
                    </p:cTn>
                  </p:par>
                  <p:par>
                    <p:cTn id="237" fill="hold" nodeType="clickPar">
                      <p:stCondLst>
                        <p:cond delay="indefinite"/>
                      </p:stCondLst>
                      <p:childTnLst>
                        <p:par>
                          <p:cTn id="238" fill="hold" nodeType="withGroup">
                            <p:stCondLst>
                              <p:cond delay="0"/>
                            </p:stCondLst>
                            <p:childTnLst>
                              <p:par>
                                <p:cTn id="239" presetID="22" presetClass="entr" presetSubtype="8" fill="hold" grpId="0" nodeType="clickEffect">
                                  <p:stCondLst>
                                    <p:cond delay="0"/>
                                  </p:stCondLst>
                                  <p:childTnLst>
                                    <p:set>
                                      <p:cBhvr>
                                        <p:cTn id="240" dur="1" fill="hold">
                                          <p:stCondLst>
                                            <p:cond delay="0"/>
                                          </p:stCondLst>
                                        </p:cTn>
                                        <p:tgtEl>
                                          <p:spTgt spid="178229"/>
                                        </p:tgtEl>
                                        <p:attrNameLst>
                                          <p:attrName>style.visibility</p:attrName>
                                        </p:attrNameLst>
                                      </p:cBhvr>
                                      <p:to>
                                        <p:strVal val="visible"/>
                                      </p:to>
                                    </p:set>
                                    <p:animEffect transition="in" filter="wipe(left)">
                                      <p:cBhvr>
                                        <p:cTn id="241" dur="1000"/>
                                        <p:tgtEl>
                                          <p:spTgt spid="178229"/>
                                        </p:tgtEl>
                                      </p:cBhvr>
                                    </p:animEffect>
                                  </p:childTnLst>
                                </p:cTn>
                              </p:par>
                            </p:childTnLst>
                          </p:cTn>
                        </p:par>
                      </p:childTnLst>
                    </p:cTn>
                  </p:par>
                  <p:par>
                    <p:cTn id="242" fill="hold" nodeType="clickPar">
                      <p:stCondLst>
                        <p:cond delay="indefinite"/>
                      </p:stCondLst>
                      <p:childTnLst>
                        <p:par>
                          <p:cTn id="243" fill="hold" nodeType="withGroup">
                            <p:stCondLst>
                              <p:cond delay="0"/>
                            </p:stCondLst>
                            <p:childTnLst>
                              <p:par>
                                <p:cTn id="244" presetID="22" presetClass="entr" presetSubtype="8" fill="hold" nodeType="clickEffect">
                                  <p:stCondLst>
                                    <p:cond delay="0"/>
                                  </p:stCondLst>
                                  <p:childTnLst>
                                    <p:set>
                                      <p:cBhvr>
                                        <p:cTn id="245" dur="1" fill="hold">
                                          <p:stCondLst>
                                            <p:cond delay="0"/>
                                          </p:stCondLst>
                                        </p:cTn>
                                        <p:tgtEl>
                                          <p:spTgt spid="10"/>
                                        </p:tgtEl>
                                        <p:attrNameLst>
                                          <p:attrName>style.visibility</p:attrName>
                                        </p:attrNameLst>
                                      </p:cBhvr>
                                      <p:to>
                                        <p:strVal val="visible"/>
                                      </p:to>
                                    </p:set>
                                    <p:animEffect transition="in" filter="wipe(left)">
                                      <p:cBhvr>
                                        <p:cTn id="246" dur="1000"/>
                                        <p:tgtEl>
                                          <p:spTgt spid="10"/>
                                        </p:tgtEl>
                                      </p:cBhvr>
                                    </p:animEffect>
                                  </p:childTnLst>
                                </p:cTn>
                              </p:par>
                            </p:childTnLst>
                          </p:cTn>
                        </p:par>
                      </p:childTnLst>
                    </p:cTn>
                  </p:par>
                  <p:par>
                    <p:cTn id="247" fill="hold" nodeType="clickPar">
                      <p:stCondLst>
                        <p:cond delay="indefinite"/>
                      </p:stCondLst>
                      <p:childTnLst>
                        <p:par>
                          <p:cTn id="248" fill="hold" nodeType="withGroup">
                            <p:stCondLst>
                              <p:cond delay="0"/>
                            </p:stCondLst>
                            <p:childTnLst>
                              <p:par>
                                <p:cTn id="249" presetID="22" presetClass="entr" presetSubtype="8" fill="hold" nodeType="clickEffect">
                                  <p:stCondLst>
                                    <p:cond delay="0"/>
                                  </p:stCondLst>
                                  <p:childTnLst>
                                    <p:set>
                                      <p:cBhvr>
                                        <p:cTn id="250" dur="1" fill="hold">
                                          <p:stCondLst>
                                            <p:cond delay="0"/>
                                          </p:stCondLst>
                                        </p:cTn>
                                        <p:tgtEl>
                                          <p:spTgt spid="178259"/>
                                        </p:tgtEl>
                                        <p:attrNameLst>
                                          <p:attrName>style.visibility</p:attrName>
                                        </p:attrNameLst>
                                      </p:cBhvr>
                                      <p:to>
                                        <p:strVal val="visible"/>
                                      </p:to>
                                    </p:set>
                                    <p:animEffect transition="in" filter="wipe(left)">
                                      <p:cBhvr>
                                        <p:cTn id="251" dur="1000"/>
                                        <p:tgtEl>
                                          <p:spTgt spid="178259"/>
                                        </p:tgtEl>
                                      </p:cBhvr>
                                    </p:animEffect>
                                  </p:childTnLst>
                                </p:cTn>
                              </p:par>
                            </p:childTnLst>
                          </p:cTn>
                        </p:par>
                      </p:childTnLst>
                    </p:cTn>
                  </p:par>
                  <p:par>
                    <p:cTn id="252" fill="hold" nodeType="clickPar">
                      <p:stCondLst>
                        <p:cond delay="indefinite"/>
                      </p:stCondLst>
                      <p:childTnLst>
                        <p:par>
                          <p:cTn id="253" fill="hold" nodeType="withGroup">
                            <p:stCondLst>
                              <p:cond delay="0"/>
                            </p:stCondLst>
                            <p:childTnLst>
                              <p:par>
                                <p:cTn id="254" presetID="22" presetClass="entr" presetSubtype="8" fill="hold" nodeType="clickEffect">
                                  <p:stCondLst>
                                    <p:cond delay="0"/>
                                  </p:stCondLst>
                                  <p:childTnLst>
                                    <p:set>
                                      <p:cBhvr>
                                        <p:cTn id="255" dur="1" fill="hold">
                                          <p:stCondLst>
                                            <p:cond delay="0"/>
                                          </p:stCondLst>
                                        </p:cTn>
                                        <p:tgtEl>
                                          <p:spTgt spid="178261"/>
                                        </p:tgtEl>
                                        <p:attrNameLst>
                                          <p:attrName>style.visibility</p:attrName>
                                        </p:attrNameLst>
                                      </p:cBhvr>
                                      <p:to>
                                        <p:strVal val="visible"/>
                                      </p:to>
                                    </p:set>
                                    <p:animEffect transition="in" filter="wipe(left)">
                                      <p:cBhvr>
                                        <p:cTn id="256" dur="1000"/>
                                        <p:tgtEl>
                                          <p:spTgt spid="178261"/>
                                        </p:tgtEl>
                                      </p:cBhvr>
                                    </p:animEffect>
                                  </p:childTnLst>
                                </p:cTn>
                              </p:par>
                            </p:childTnLst>
                          </p:cTn>
                        </p:par>
                      </p:childTnLst>
                    </p:cTn>
                  </p:par>
                  <p:par>
                    <p:cTn id="257" fill="hold" nodeType="clickPar">
                      <p:stCondLst>
                        <p:cond delay="indefinite"/>
                      </p:stCondLst>
                      <p:childTnLst>
                        <p:par>
                          <p:cTn id="258" fill="hold" nodeType="withGroup">
                            <p:stCondLst>
                              <p:cond delay="0"/>
                            </p:stCondLst>
                            <p:childTnLst>
                              <p:par>
                                <p:cTn id="259" presetID="22" presetClass="entr" presetSubtype="8" fill="hold" nodeType="clickEffect">
                                  <p:stCondLst>
                                    <p:cond delay="0"/>
                                  </p:stCondLst>
                                  <p:childTnLst>
                                    <p:set>
                                      <p:cBhvr>
                                        <p:cTn id="260" dur="1" fill="hold">
                                          <p:stCondLst>
                                            <p:cond delay="0"/>
                                          </p:stCondLst>
                                        </p:cTn>
                                        <p:tgtEl>
                                          <p:spTgt spid="178262"/>
                                        </p:tgtEl>
                                        <p:attrNameLst>
                                          <p:attrName>style.visibility</p:attrName>
                                        </p:attrNameLst>
                                      </p:cBhvr>
                                      <p:to>
                                        <p:strVal val="visible"/>
                                      </p:to>
                                    </p:set>
                                    <p:animEffect transition="in" filter="wipe(left)">
                                      <p:cBhvr>
                                        <p:cTn id="261" dur="1000"/>
                                        <p:tgtEl>
                                          <p:spTgt spid="178262"/>
                                        </p:tgtEl>
                                      </p:cBhvr>
                                    </p:animEffect>
                                  </p:childTnLst>
                                </p:cTn>
                              </p:par>
                            </p:childTnLst>
                          </p:cTn>
                        </p:par>
                      </p:childTnLst>
                    </p:cTn>
                  </p:par>
                  <p:par>
                    <p:cTn id="262" fill="hold" nodeType="clickPar">
                      <p:stCondLst>
                        <p:cond delay="indefinite"/>
                      </p:stCondLst>
                      <p:childTnLst>
                        <p:par>
                          <p:cTn id="263" fill="hold" nodeType="withGroup">
                            <p:stCondLst>
                              <p:cond delay="0"/>
                            </p:stCondLst>
                            <p:childTnLst>
                              <p:par>
                                <p:cTn id="264" presetID="22" presetClass="entr" presetSubtype="8" fill="hold" nodeType="clickEffect">
                                  <p:stCondLst>
                                    <p:cond delay="0"/>
                                  </p:stCondLst>
                                  <p:childTnLst>
                                    <p:set>
                                      <p:cBhvr>
                                        <p:cTn id="265" dur="1" fill="hold">
                                          <p:stCondLst>
                                            <p:cond delay="0"/>
                                          </p:stCondLst>
                                        </p:cTn>
                                        <p:tgtEl>
                                          <p:spTgt spid="178263"/>
                                        </p:tgtEl>
                                        <p:attrNameLst>
                                          <p:attrName>style.visibility</p:attrName>
                                        </p:attrNameLst>
                                      </p:cBhvr>
                                      <p:to>
                                        <p:strVal val="visible"/>
                                      </p:to>
                                    </p:set>
                                    <p:animEffect transition="in" filter="wipe(left)">
                                      <p:cBhvr>
                                        <p:cTn id="266" dur="1000"/>
                                        <p:tgtEl>
                                          <p:spTgt spid="178263"/>
                                        </p:tgtEl>
                                      </p:cBhvr>
                                    </p:animEffect>
                                  </p:childTnLst>
                                </p:cTn>
                              </p:par>
                            </p:childTnLst>
                          </p:cTn>
                        </p:par>
                      </p:childTnLst>
                    </p:cTn>
                  </p:par>
                  <p:par>
                    <p:cTn id="267" fill="hold" nodeType="clickPar">
                      <p:stCondLst>
                        <p:cond delay="indefinite"/>
                      </p:stCondLst>
                      <p:childTnLst>
                        <p:par>
                          <p:cTn id="268" fill="hold" nodeType="withGroup">
                            <p:stCondLst>
                              <p:cond delay="0"/>
                            </p:stCondLst>
                            <p:childTnLst>
                              <p:par>
                                <p:cTn id="269" presetID="8" presetClass="emph" presetSubtype="0" fill="hold" nodeType="clickEffect">
                                  <p:stCondLst>
                                    <p:cond delay="0"/>
                                  </p:stCondLst>
                                  <p:childTnLst>
                                    <p:animRot by="43200000">
                                      <p:cBhvr>
                                        <p:cTn id="270" dur="1000" fill="hold"/>
                                        <p:tgtEl>
                                          <p:spTgt spid="178262"/>
                                        </p:tgtEl>
                                        <p:attrNameLst>
                                          <p:attrName>r</p:attrName>
                                        </p:attrNameLst>
                                      </p:cBhvr>
                                    </p:animRot>
                                  </p:childTnLst>
                                </p:cTn>
                              </p:par>
                              <p:par>
                                <p:cTn id="271" presetID="8" presetClass="emph" presetSubtype="0" fill="hold" nodeType="withEffect">
                                  <p:stCondLst>
                                    <p:cond delay="0"/>
                                  </p:stCondLst>
                                  <p:childTnLst>
                                    <p:animRot by="43200000">
                                      <p:cBhvr>
                                        <p:cTn id="272" dur="1000" fill="hold"/>
                                        <p:tgtEl>
                                          <p:spTgt spid="178263"/>
                                        </p:tgtEl>
                                        <p:attrNameLst>
                                          <p:attrName>r</p:attrName>
                                        </p:attrNameLst>
                                      </p:cBhvr>
                                    </p:animRot>
                                  </p:childTnLst>
                                </p:cTn>
                              </p:par>
                            </p:childTnLst>
                          </p:cTn>
                        </p:par>
                      </p:childTnLst>
                    </p:cTn>
                  </p:par>
                  <p:par>
                    <p:cTn id="273" fill="hold" nodeType="clickPar">
                      <p:stCondLst>
                        <p:cond delay="indefinite"/>
                      </p:stCondLst>
                      <p:childTnLst>
                        <p:par>
                          <p:cTn id="274" fill="hold" nodeType="withGroup">
                            <p:stCondLst>
                              <p:cond delay="0"/>
                            </p:stCondLst>
                            <p:childTnLst>
                              <p:par>
                                <p:cTn id="275" presetID="22" presetClass="entr" presetSubtype="8" fill="hold" grpId="0" nodeType="clickEffect">
                                  <p:stCondLst>
                                    <p:cond delay="0"/>
                                  </p:stCondLst>
                                  <p:childTnLst>
                                    <p:set>
                                      <p:cBhvr>
                                        <p:cTn id="276" dur="1" fill="hold">
                                          <p:stCondLst>
                                            <p:cond delay="0"/>
                                          </p:stCondLst>
                                        </p:cTn>
                                        <p:tgtEl>
                                          <p:spTgt spid="178264"/>
                                        </p:tgtEl>
                                        <p:attrNameLst>
                                          <p:attrName>style.visibility</p:attrName>
                                        </p:attrNameLst>
                                      </p:cBhvr>
                                      <p:to>
                                        <p:strVal val="visible"/>
                                      </p:to>
                                    </p:set>
                                    <p:animEffect transition="in" filter="wipe(left)">
                                      <p:cBhvr>
                                        <p:cTn id="277" dur="1000"/>
                                        <p:tgtEl>
                                          <p:spTgt spid="178264"/>
                                        </p:tgtEl>
                                      </p:cBhvr>
                                    </p:animEffect>
                                  </p:childTnLst>
                                </p:cTn>
                              </p:par>
                            </p:childTnLst>
                          </p:cTn>
                        </p:par>
                      </p:childTnLst>
                    </p:cTn>
                  </p:par>
                  <p:par>
                    <p:cTn id="278" fill="hold" nodeType="clickPar">
                      <p:stCondLst>
                        <p:cond delay="indefinite"/>
                      </p:stCondLst>
                      <p:childTnLst>
                        <p:par>
                          <p:cTn id="279" fill="hold" nodeType="withGroup">
                            <p:stCondLst>
                              <p:cond delay="0"/>
                            </p:stCondLst>
                            <p:childTnLst>
                              <p:par>
                                <p:cTn id="280" presetID="22" presetClass="entr" presetSubtype="8" fill="hold" nodeType="clickEffect">
                                  <p:stCondLst>
                                    <p:cond delay="0"/>
                                  </p:stCondLst>
                                  <p:childTnLst>
                                    <p:set>
                                      <p:cBhvr>
                                        <p:cTn id="281" dur="1" fill="hold">
                                          <p:stCondLst>
                                            <p:cond delay="0"/>
                                          </p:stCondLst>
                                        </p:cTn>
                                        <p:tgtEl>
                                          <p:spTgt spid="178265"/>
                                        </p:tgtEl>
                                        <p:attrNameLst>
                                          <p:attrName>style.visibility</p:attrName>
                                        </p:attrNameLst>
                                      </p:cBhvr>
                                      <p:to>
                                        <p:strVal val="visible"/>
                                      </p:to>
                                    </p:set>
                                    <p:animEffect transition="in" filter="wipe(left)">
                                      <p:cBhvr>
                                        <p:cTn id="282" dur="1000"/>
                                        <p:tgtEl>
                                          <p:spTgt spid="178265"/>
                                        </p:tgtEl>
                                      </p:cBhvr>
                                    </p:animEffect>
                                  </p:childTnLst>
                                </p:cTn>
                              </p:par>
                            </p:childTnLst>
                          </p:cTn>
                        </p:par>
                      </p:childTnLst>
                    </p:cTn>
                  </p:par>
                  <p:par>
                    <p:cTn id="283" fill="hold" nodeType="clickPar">
                      <p:stCondLst>
                        <p:cond delay="indefinite"/>
                      </p:stCondLst>
                      <p:childTnLst>
                        <p:par>
                          <p:cTn id="284" fill="hold" nodeType="withGroup">
                            <p:stCondLst>
                              <p:cond delay="0"/>
                            </p:stCondLst>
                            <p:childTnLst>
                              <p:par>
                                <p:cTn id="285" presetID="22" presetClass="entr" presetSubtype="8" fill="hold" nodeType="clickEffect">
                                  <p:stCondLst>
                                    <p:cond delay="0"/>
                                  </p:stCondLst>
                                  <p:childTnLst>
                                    <p:set>
                                      <p:cBhvr>
                                        <p:cTn id="286" dur="1" fill="hold">
                                          <p:stCondLst>
                                            <p:cond delay="0"/>
                                          </p:stCondLst>
                                        </p:cTn>
                                        <p:tgtEl>
                                          <p:spTgt spid="178267"/>
                                        </p:tgtEl>
                                        <p:attrNameLst>
                                          <p:attrName>style.visibility</p:attrName>
                                        </p:attrNameLst>
                                      </p:cBhvr>
                                      <p:to>
                                        <p:strVal val="visible"/>
                                      </p:to>
                                    </p:set>
                                    <p:animEffect transition="in" filter="wipe(left)">
                                      <p:cBhvr>
                                        <p:cTn id="287" dur="1000"/>
                                        <p:tgtEl>
                                          <p:spTgt spid="178267"/>
                                        </p:tgtEl>
                                      </p:cBhvr>
                                    </p:animEffect>
                                  </p:childTnLst>
                                </p:cTn>
                              </p:par>
                            </p:childTnLst>
                          </p:cTn>
                        </p:par>
                      </p:childTnLst>
                    </p:cTn>
                  </p:par>
                  <p:par>
                    <p:cTn id="288" fill="hold" nodeType="clickPar">
                      <p:stCondLst>
                        <p:cond delay="indefinite"/>
                      </p:stCondLst>
                      <p:childTnLst>
                        <p:par>
                          <p:cTn id="289" fill="hold" nodeType="withGroup">
                            <p:stCondLst>
                              <p:cond delay="0"/>
                            </p:stCondLst>
                            <p:childTnLst>
                              <p:par>
                                <p:cTn id="290" presetID="4" presetClass="entr" presetSubtype="32" fill="hold" grpId="0" nodeType="clickEffect">
                                  <p:stCondLst>
                                    <p:cond delay="0"/>
                                  </p:stCondLst>
                                  <p:childTnLst>
                                    <p:set>
                                      <p:cBhvr>
                                        <p:cTn id="291" dur="1" fill="hold">
                                          <p:stCondLst>
                                            <p:cond delay="0"/>
                                          </p:stCondLst>
                                        </p:cTn>
                                        <p:tgtEl>
                                          <p:spTgt spid="178178"/>
                                        </p:tgtEl>
                                        <p:attrNameLst>
                                          <p:attrName>style.visibility</p:attrName>
                                        </p:attrNameLst>
                                      </p:cBhvr>
                                      <p:to>
                                        <p:strVal val="visible"/>
                                      </p:to>
                                    </p:set>
                                    <p:animEffect transition="in" filter="box(out)">
                                      <p:cBhvr>
                                        <p:cTn id="292" dur="1000"/>
                                        <p:tgtEl>
                                          <p:spTgt spid="178178"/>
                                        </p:tgtEl>
                                      </p:cBhvr>
                                    </p:animEffect>
                                  </p:childTnLst>
                                </p:cTn>
                              </p:par>
                            </p:childTnLst>
                          </p:cTn>
                        </p:par>
                      </p:childTnLst>
                    </p:cTn>
                  </p:par>
                  <p:par>
                    <p:cTn id="293" fill="hold" nodeType="clickPar">
                      <p:stCondLst>
                        <p:cond delay="indefinite"/>
                      </p:stCondLst>
                      <p:childTnLst>
                        <p:par>
                          <p:cTn id="294" fill="hold" nodeType="withGroup">
                            <p:stCondLst>
                              <p:cond delay="0"/>
                            </p:stCondLst>
                            <p:childTnLst>
                              <p:par>
                                <p:cTn id="295" presetID="12" presetClass="entr" presetSubtype="2" fill="hold" grpId="0" nodeType="clickEffect">
                                  <p:stCondLst>
                                    <p:cond delay="0"/>
                                  </p:stCondLst>
                                  <p:childTnLst>
                                    <p:set>
                                      <p:cBhvr>
                                        <p:cTn id="296" dur="1" fill="hold">
                                          <p:stCondLst>
                                            <p:cond delay="0"/>
                                          </p:stCondLst>
                                        </p:cTn>
                                        <p:tgtEl>
                                          <p:spTgt spid="178268"/>
                                        </p:tgtEl>
                                        <p:attrNameLst>
                                          <p:attrName>style.visibility</p:attrName>
                                        </p:attrNameLst>
                                      </p:cBhvr>
                                      <p:to>
                                        <p:strVal val="visible"/>
                                      </p:to>
                                    </p:set>
                                    <p:animEffect transition="in" filter="slide(fromRight)">
                                      <p:cBhvr>
                                        <p:cTn id="297" dur="1000"/>
                                        <p:tgtEl>
                                          <p:spTgt spid="178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8" grpId="0" animBg="1"/>
      <p:bldP spid="178179" grpId="0" autoUpdateAnimBg="0"/>
      <p:bldP spid="178182" grpId="0" autoUpdateAnimBg="0"/>
      <p:bldP spid="178182" grpId="1"/>
      <p:bldP spid="178183" grpId="0" autoUpdateAnimBg="0"/>
      <p:bldP spid="178183" grpId="1"/>
      <p:bldP spid="178184" grpId="0" animBg="1"/>
      <p:bldP spid="178184" grpId="1" animBg="1"/>
      <p:bldP spid="178185" grpId="0" animBg="1"/>
      <p:bldP spid="178185" grpId="1" animBg="1"/>
      <p:bldP spid="178186" grpId="0" animBg="1"/>
      <p:bldP spid="178186" grpId="1" animBg="1"/>
      <p:bldP spid="178187" grpId="0" animBg="1"/>
      <p:bldP spid="178187" grpId="1" animBg="1"/>
      <p:bldP spid="178188" grpId="0" animBg="1"/>
      <p:bldP spid="178188" grpId="1" animBg="1"/>
      <p:bldP spid="178189" grpId="0" animBg="1"/>
      <p:bldP spid="178189" grpId="1" animBg="1"/>
      <p:bldP spid="178190" grpId="0" animBg="1"/>
      <p:bldP spid="178190" grpId="1" animBg="1"/>
      <p:bldP spid="178194" grpId="0" animBg="1"/>
      <p:bldP spid="178194" grpId="1" animBg="1"/>
      <p:bldP spid="178195" grpId="0" animBg="1"/>
      <p:bldP spid="178195" grpId="1" animBg="1"/>
      <p:bldP spid="178208" grpId="0"/>
      <p:bldP spid="178217" grpId="0"/>
      <p:bldP spid="178218" grpId="0"/>
      <p:bldP spid="178228" grpId="0"/>
      <p:bldP spid="178229" grpId="0" animBg="1"/>
      <p:bldP spid="178230" grpId="0" animBg="1"/>
      <p:bldP spid="178231" grpId="0" animBg="1"/>
      <p:bldP spid="178232" grpId="0" animBg="1"/>
      <p:bldP spid="178233" grpId="0" animBg="1"/>
      <p:bldP spid="178234" grpId="0" animBg="1"/>
      <p:bldP spid="178235" grpId="0" animBg="1"/>
      <p:bldP spid="178236" grpId="0" animBg="1"/>
      <p:bldP spid="178240" grpId="0" animBg="1"/>
      <p:bldP spid="178257" grpId="0" animBg="1"/>
      <p:bldP spid="178264" grpId="0" animBg="1"/>
      <p:bldP spid="17826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Text Box 2"/>
          <p:cNvSpPr txBox="1">
            <a:spLocks noChangeArrowheads="1"/>
          </p:cNvSpPr>
          <p:nvPr/>
        </p:nvSpPr>
        <p:spPr bwMode="auto">
          <a:xfrm>
            <a:off x="385763" y="1377950"/>
            <a:ext cx="1790700" cy="479425"/>
          </a:xfrm>
          <a:prstGeom prst="rect">
            <a:avLst/>
          </a:prstGeom>
          <a:noFill/>
          <a:ln w="9525">
            <a:noFill/>
            <a:miter lim="800000"/>
            <a:headEnd/>
            <a:tailEnd/>
          </a:ln>
        </p:spPr>
        <p:txBody>
          <a:bodyPr>
            <a:spAutoFit/>
          </a:bodyPr>
          <a:lstStyle/>
          <a:p>
            <a:pPr algn="l" defTabSz="762000" eaLnBrk="0" hangingPunct="0">
              <a:lnSpc>
                <a:spcPct val="115000"/>
              </a:lnSpc>
            </a:pPr>
            <a:r>
              <a:rPr lang="zh-CN" altLang="en-US" b="1">
                <a:solidFill>
                  <a:srgbClr val="FF0000"/>
                </a:solidFill>
              </a:rPr>
              <a:t>正变换式</a:t>
            </a:r>
          </a:p>
        </p:txBody>
      </p:sp>
      <p:grpSp>
        <p:nvGrpSpPr>
          <p:cNvPr id="2" name="Group 3"/>
          <p:cNvGrpSpPr>
            <a:grpSpLocks/>
          </p:cNvGrpSpPr>
          <p:nvPr/>
        </p:nvGrpSpPr>
        <p:grpSpPr bwMode="auto">
          <a:xfrm>
            <a:off x="1871663" y="1133475"/>
            <a:ext cx="6665912" cy="963613"/>
            <a:chOff x="1247" y="3197"/>
            <a:chExt cx="4199" cy="607"/>
          </a:xfrm>
        </p:grpSpPr>
        <p:sp>
          <p:nvSpPr>
            <p:cNvPr id="14368" name="Rectangle 4"/>
            <p:cNvSpPr>
              <a:spLocks noChangeArrowheads="1"/>
            </p:cNvSpPr>
            <p:nvPr/>
          </p:nvSpPr>
          <p:spPr bwMode="auto">
            <a:xfrm>
              <a:off x="1247" y="3197"/>
              <a:ext cx="4199" cy="607"/>
            </a:xfrm>
            <a:prstGeom prst="rect">
              <a:avLst/>
            </a:prstGeom>
            <a:gradFill rotWithShape="1">
              <a:gsLst>
                <a:gs pos="0">
                  <a:srgbClr val="FFFFFF"/>
                </a:gs>
                <a:gs pos="100000">
                  <a:srgbClr val="CCFFFF"/>
                </a:gs>
              </a:gsLst>
              <a:path path="shape">
                <a:fillToRect l="50000" t="50000" r="50000" b="50000"/>
              </a:path>
            </a:gradFill>
            <a:ln w="19050">
              <a:solidFill>
                <a:srgbClr val="66FFFF"/>
              </a:solidFill>
              <a:miter lim="800000"/>
              <a:headEnd/>
              <a:tailEnd/>
            </a:ln>
          </p:spPr>
          <p:txBody>
            <a:bodyPr wrap="none" anchor="ctr"/>
            <a:lstStyle/>
            <a:p>
              <a:endParaRPr lang="zh-CN" altLang="en-US"/>
            </a:p>
          </p:txBody>
        </p:sp>
        <p:graphicFrame>
          <p:nvGraphicFramePr>
            <p:cNvPr id="14352" name="Object 5"/>
            <p:cNvGraphicFramePr>
              <a:graphicFrameLocks noChangeAspect="1"/>
            </p:cNvGraphicFramePr>
            <p:nvPr/>
          </p:nvGraphicFramePr>
          <p:xfrm>
            <a:off x="3475" y="3351"/>
            <a:ext cx="496" cy="231"/>
          </p:xfrm>
          <a:graphic>
            <a:graphicData uri="http://schemas.openxmlformats.org/presentationml/2006/ole">
              <p:oleObj spid="_x0000_s14352" name="公式" r:id="rId3" imgW="431613" imgH="203112" progId="Equation.3">
                <p:embed/>
              </p:oleObj>
            </a:graphicData>
          </a:graphic>
        </p:graphicFrame>
        <p:graphicFrame>
          <p:nvGraphicFramePr>
            <p:cNvPr id="14353" name="Object 6"/>
            <p:cNvGraphicFramePr>
              <a:graphicFrameLocks noChangeAspect="1"/>
            </p:cNvGraphicFramePr>
            <p:nvPr/>
          </p:nvGraphicFramePr>
          <p:xfrm>
            <a:off x="2682" y="3351"/>
            <a:ext cx="594" cy="231"/>
          </p:xfrm>
          <a:graphic>
            <a:graphicData uri="http://schemas.openxmlformats.org/presentationml/2006/ole">
              <p:oleObj spid="_x0000_s14353" name="公式" r:id="rId4" imgW="520474" imgH="203112" progId="Equation.3">
                <p:embed/>
              </p:oleObj>
            </a:graphicData>
          </a:graphic>
        </p:graphicFrame>
        <p:graphicFrame>
          <p:nvGraphicFramePr>
            <p:cNvPr id="14354" name="Object 7"/>
            <p:cNvGraphicFramePr>
              <a:graphicFrameLocks noChangeAspect="1"/>
            </p:cNvGraphicFramePr>
            <p:nvPr/>
          </p:nvGraphicFramePr>
          <p:xfrm>
            <a:off x="4269" y="3212"/>
            <a:ext cx="1013" cy="564"/>
          </p:xfrm>
          <a:graphic>
            <a:graphicData uri="http://schemas.openxmlformats.org/presentationml/2006/ole">
              <p:oleObj spid="_x0000_s14354" name="公式" r:id="rId5" imgW="888614" imgH="495085" progId="Equation.3">
                <p:embed/>
              </p:oleObj>
            </a:graphicData>
          </a:graphic>
        </p:graphicFrame>
        <p:graphicFrame>
          <p:nvGraphicFramePr>
            <p:cNvPr id="14355" name="Object 8"/>
            <p:cNvGraphicFramePr>
              <a:graphicFrameLocks noChangeAspect="1"/>
            </p:cNvGraphicFramePr>
            <p:nvPr/>
          </p:nvGraphicFramePr>
          <p:xfrm>
            <a:off x="1377" y="3237"/>
            <a:ext cx="963" cy="547"/>
          </p:xfrm>
          <a:graphic>
            <a:graphicData uri="http://schemas.openxmlformats.org/presentationml/2006/ole">
              <p:oleObj spid="_x0000_s14355" name="公式" r:id="rId6" imgW="850531" imgH="482391" progId="Equation.3">
                <p:embed/>
              </p:oleObj>
            </a:graphicData>
          </a:graphic>
        </p:graphicFrame>
      </p:grpSp>
      <p:sp>
        <p:nvSpPr>
          <p:cNvPr id="179209" name="Text Box 9"/>
          <p:cNvSpPr txBox="1">
            <a:spLocks noChangeArrowheads="1"/>
          </p:cNvSpPr>
          <p:nvPr/>
        </p:nvSpPr>
        <p:spPr bwMode="auto">
          <a:xfrm>
            <a:off x="385763" y="2305050"/>
            <a:ext cx="1552575" cy="479425"/>
          </a:xfrm>
          <a:prstGeom prst="rect">
            <a:avLst/>
          </a:prstGeom>
          <a:noFill/>
          <a:ln w="9525">
            <a:noFill/>
            <a:miter lim="800000"/>
            <a:headEnd/>
            <a:tailEnd/>
          </a:ln>
        </p:spPr>
        <p:txBody>
          <a:bodyPr>
            <a:spAutoFit/>
          </a:bodyPr>
          <a:lstStyle/>
          <a:p>
            <a:pPr algn="l" defTabSz="762000" eaLnBrk="0" hangingPunct="0">
              <a:lnSpc>
                <a:spcPct val="115000"/>
              </a:lnSpc>
            </a:pPr>
            <a:r>
              <a:rPr lang="zh-CN" altLang="en-US" b="1">
                <a:solidFill>
                  <a:srgbClr val="FF0000"/>
                </a:solidFill>
              </a:rPr>
              <a:t>逆变换式</a:t>
            </a:r>
          </a:p>
        </p:txBody>
      </p:sp>
      <p:grpSp>
        <p:nvGrpSpPr>
          <p:cNvPr id="3" name="Group 10"/>
          <p:cNvGrpSpPr>
            <a:grpSpLocks/>
          </p:cNvGrpSpPr>
          <p:nvPr/>
        </p:nvGrpSpPr>
        <p:grpSpPr bwMode="auto">
          <a:xfrm>
            <a:off x="1916113" y="2214563"/>
            <a:ext cx="6665912" cy="963612"/>
            <a:chOff x="1247" y="3197"/>
            <a:chExt cx="4199" cy="607"/>
          </a:xfrm>
        </p:grpSpPr>
        <p:sp>
          <p:nvSpPr>
            <p:cNvPr id="14367" name="Rectangle 11"/>
            <p:cNvSpPr>
              <a:spLocks noChangeArrowheads="1"/>
            </p:cNvSpPr>
            <p:nvPr/>
          </p:nvSpPr>
          <p:spPr bwMode="auto">
            <a:xfrm>
              <a:off x="1247" y="3197"/>
              <a:ext cx="4199" cy="607"/>
            </a:xfrm>
            <a:prstGeom prst="rect">
              <a:avLst/>
            </a:prstGeom>
            <a:gradFill rotWithShape="1">
              <a:gsLst>
                <a:gs pos="0">
                  <a:srgbClr val="FFFFFF"/>
                </a:gs>
                <a:gs pos="100000">
                  <a:srgbClr val="CCFFFF"/>
                </a:gs>
              </a:gsLst>
              <a:path path="shape">
                <a:fillToRect l="50000" t="50000" r="50000" b="50000"/>
              </a:path>
            </a:gradFill>
            <a:ln w="19050">
              <a:solidFill>
                <a:srgbClr val="66FFFF"/>
              </a:solidFill>
              <a:miter lim="800000"/>
              <a:headEnd/>
              <a:tailEnd/>
            </a:ln>
          </p:spPr>
          <p:txBody>
            <a:bodyPr wrap="none" anchor="ctr"/>
            <a:lstStyle/>
            <a:p>
              <a:endParaRPr lang="zh-CN" altLang="en-US"/>
            </a:p>
          </p:txBody>
        </p:sp>
        <p:graphicFrame>
          <p:nvGraphicFramePr>
            <p:cNvPr id="14348" name="Object 12"/>
            <p:cNvGraphicFramePr>
              <a:graphicFrameLocks noChangeAspect="1"/>
            </p:cNvGraphicFramePr>
            <p:nvPr/>
          </p:nvGraphicFramePr>
          <p:xfrm>
            <a:off x="3482" y="3351"/>
            <a:ext cx="481" cy="231"/>
          </p:xfrm>
          <a:graphic>
            <a:graphicData uri="http://schemas.openxmlformats.org/presentationml/2006/ole">
              <p:oleObj spid="_x0000_s14348" name="公式" r:id="rId7" imgW="418918" imgH="203112" progId="Equation.3">
                <p:embed/>
              </p:oleObj>
            </a:graphicData>
          </a:graphic>
        </p:graphicFrame>
        <p:graphicFrame>
          <p:nvGraphicFramePr>
            <p:cNvPr id="14349" name="Object 13"/>
            <p:cNvGraphicFramePr>
              <a:graphicFrameLocks noChangeAspect="1"/>
            </p:cNvGraphicFramePr>
            <p:nvPr/>
          </p:nvGraphicFramePr>
          <p:xfrm>
            <a:off x="2689" y="3351"/>
            <a:ext cx="579" cy="231"/>
          </p:xfrm>
          <a:graphic>
            <a:graphicData uri="http://schemas.openxmlformats.org/presentationml/2006/ole">
              <p:oleObj spid="_x0000_s14349" name="公式" r:id="rId8" imgW="507780" imgH="203112" progId="Equation.3">
                <p:embed/>
              </p:oleObj>
            </a:graphicData>
          </a:graphic>
        </p:graphicFrame>
        <p:graphicFrame>
          <p:nvGraphicFramePr>
            <p:cNvPr id="14350" name="Object 14"/>
            <p:cNvGraphicFramePr>
              <a:graphicFrameLocks noChangeAspect="1"/>
            </p:cNvGraphicFramePr>
            <p:nvPr/>
          </p:nvGraphicFramePr>
          <p:xfrm>
            <a:off x="4262" y="3226"/>
            <a:ext cx="1028" cy="535"/>
          </p:xfrm>
          <a:graphic>
            <a:graphicData uri="http://schemas.openxmlformats.org/presentationml/2006/ole">
              <p:oleObj spid="_x0000_s14350" name="公式" r:id="rId9" imgW="901309" imgH="469696" progId="Equation.3">
                <p:embed/>
              </p:oleObj>
            </a:graphicData>
          </a:graphic>
        </p:graphicFrame>
        <p:graphicFrame>
          <p:nvGraphicFramePr>
            <p:cNvPr id="14351" name="Object 15"/>
            <p:cNvGraphicFramePr>
              <a:graphicFrameLocks noChangeAspect="1"/>
            </p:cNvGraphicFramePr>
            <p:nvPr/>
          </p:nvGraphicFramePr>
          <p:xfrm>
            <a:off x="1420" y="3251"/>
            <a:ext cx="877" cy="518"/>
          </p:xfrm>
          <a:graphic>
            <a:graphicData uri="http://schemas.openxmlformats.org/presentationml/2006/ole">
              <p:oleObj spid="_x0000_s14351" name="公式" r:id="rId10" imgW="774364" imgH="457002" progId="Equation.3">
                <p:embed/>
              </p:oleObj>
            </a:graphicData>
          </a:graphic>
        </p:graphicFrame>
      </p:grpSp>
      <p:graphicFrame>
        <p:nvGraphicFramePr>
          <p:cNvPr id="179216" name="Object 16"/>
          <p:cNvGraphicFramePr>
            <a:graphicFrameLocks noChangeAspect="1"/>
          </p:cNvGraphicFramePr>
          <p:nvPr/>
        </p:nvGraphicFramePr>
        <p:xfrm>
          <a:off x="2322513" y="238125"/>
          <a:ext cx="946150" cy="866775"/>
        </p:xfrm>
        <a:graphic>
          <a:graphicData uri="http://schemas.openxmlformats.org/presentationml/2006/ole">
            <p:oleObj spid="_x0000_s14338" name="Equation" r:id="rId11" imgW="342603" imgH="317225" progId="">
              <p:embed/>
            </p:oleObj>
          </a:graphicData>
        </a:graphic>
      </p:graphicFrame>
      <p:graphicFrame>
        <p:nvGraphicFramePr>
          <p:cNvPr id="179217" name="Object 17"/>
          <p:cNvGraphicFramePr>
            <a:graphicFrameLocks noChangeAspect="1"/>
          </p:cNvGraphicFramePr>
          <p:nvPr/>
        </p:nvGraphicFramePr>
        <p:xfrm>
          <a:off x="4257675" y="193675"/>
          <a:ext cx="1665288" cy="1030288"/>
        </p:xfrm>
        <a:graphic>
          <a:graphicData uri="http://schemas.openxmlformats.org/presentationml/2006/ole">
            <p:oleObj spid="_x0000_s14339" name="Equation" r:id="rId12" imgW="622030" imgH="380835" progId="">
              <p:embed/>
            </p:oleObj>
          </a:graphicData>
        </a:graphic>
      </p:graphicFrame>
      <p:sp>
        <p:nvSpPr>
          <p:cNvPr id="179218" name="Text Box 18"/>
          <p:cNvSpPr txBox="1">
            <a:spLocks noChangeArrowheads="1"/>
          </p:cNvSpPr>
          <p:nvPr/>
        </p:nvSpPr>
        <p:spPr bwMode="auto">
          <a:xfrm>
            <a:off x="971550" y="458788"/>
            <a:ext cx="585788" cy="457200"/>
          </a:xfrm>
          <a:prstGeom prst="rect">
            <a:avLst/>
          </a:prstGeom>
          <a:noFill/>
          <a:ln w="9525">
            <a:noFill/>
            <a:miter lim="800000"/>
            <a:headEnd/>
            <a:tailEnd/>
          </a:ln>
        </p:spPr>
        <p:txBody>
          <a:bodyPr>
            <a:spAutoFit/>
          </a:bodyPr>
          <a:lstStyle/>
          <a:p>
            <a:pPr>
              <a:spcBef>
                <a:spcPct val="50000"/>
              </a:spcBef>
            </a:pPr>
            <a:r>
              <a:rPr lang="zh-CN" altLang="en-US" b="1"/>
              <a:t>若</a:t>
            </a:r>
          </a:p>
        </p:txBody>
      </p:sp>
      <p:sp>
        <p:nvSpPr>
          <p:cNvPr id="179219" name="Text Box 19"/>
          <p:cNvSpPr txBox="1">
            <a:spLocks noChangeArrowheads="1"/>
          </p:cNvSpPr>
          <p:nvPr/>
        </p:nvSpPr>
        <p:spPr bwMode="auto">
          <a:xfrm>
            <a:off x="6416675" y="368300"/>
            <a:ext cx="719138" cy="457200"/>
          </a:xfrm>
          <a:prstGeom prst="rect">
            <a:avLst/>
          </a:prstGeom>
          <a:noFill/>
          <a:ln w="9525">
            <a:noFill/>
            <a:miter lim="800000"/>
            <a:headEnd/>
            <a:tailEnd/>
          </a:ln>
        </p:spPr>
        <p:txBody>
          <a:bodyPr>
            <a:spAutoFit/>
          </a:bodyPr>
          <a:lstStyle/>
          <a:p>
            <a:pPr>
              <a:spcBef>
                <a:spcPct val="50000"/>
              </a:spcBef>
            </a:pPr>
            <a:r>
              <a:rPr lang="zh-CN" altLang="en-US" b="1"/>
              <a:t>则</a:t>
            </a:r>
          </a:p>
        </p:txBody>
      </p:sp>
      <p:sp>
        <p:nvSpPr>
          <p:cNvPr id="179220" name="Text Box 20"/>
          <p:cNvSpPr txBox="1">
            <a:spLocks noChangeArrowheads="1"/>
          </p:cNvSpPr>
          <p:nvPr/>
        </p:nvSpPr>
        <p:spPr bwMode="auto">
          <a:xfrm>
            <a:off x="296863" y="3294063"/>
            <a:ext cx="1306512" cy="479425"/>
          </a:xfrm>
          <a:prstGeom prst="rect">
            <a:avLst/>
          </a:prstGeom>
          <a:noFill/>
          <a:ln w="9525">
            <a:noFill/>
            <a:miter lim="800000"/>
            <a:headEnd/>
            <a:tailEnd/>
          </a:ln>
        </p:spPr>
        <p:txBody>
          <a:bodyPr>
            <a:spAutoFit/>
          </a:bodyPr>
          <a:lstStyle/>
          <a:p>
            <a:pPr algn="l">
              <a:lnSpc>
                <a:spcPct val="115000"/>
              </a:lnSpc>
            </a:pPr>
            <a:r>
              <a:rPr lang="zh-CN" altLang="en-US" b="1">
                <a:solidFill>
                  <a:schemeClr val="hlink"/>
                </a:solidFill>
              </a:rPr>
              <a:t>讨论：</a:t>
            </a:r>
          </a:p>
        </p:txBody>
      </p:sp>
      <p:sp>
        <p:nvSpPr>
          <p:cNvPr id="179221" name="Rectangle 21"/>
          <p:cNvSpPr>
            <a:spLocks noChangeArrowheads="1"/>
          </p:cNvSpPr>
          <p:nvPr/>
        </p:nvSpPr>
        <p:spPr bwMode="auto">
          <a:xfrm>
            <a:off x="1511300" y="3294063"/>
            <a:ext cx="6757988" cy="479425"/>
          </a:xfrm>
          <a:prstGeom prst="rect">
            <a:avLst/>
          </a:prstGeom>
          <a:noFill/>
          <a:ln w="9525">
            <a:noFill/>
            <a:miter lim="800000"/>
            <a:headEnd/>
            <a:tailEnd/>
          </a:ln>
        </p:spPr>
        <p:txBody>
          <a:bodyPr>
            <a:spAutoFit/>
          </a:bodyPr>
          <a:lstStyle/>
          <a:p>
            <a:pPr algn="l">
              <a:lnSpc>
                <a:spcPct val="115000"/>
              </a:lnSpc>
            </a:pPr>
            <a:r>
              <a:rPr lang="en-US" altLang="zh-CN" b="1">
                <a:solidFill>
                  <a:schemeClr val="bg1"/>
                </a:solidFill>
                <a:sym typeface="Monotype Sorts" pitchFamily="2" charset="2"/>
              </a:rPr>
              <a:t>(1)</a:t>
            </a:r>
            <a:r>
              <a:rPr lang="en-US" altLang="zh-CN" b="1">
                <a:sym typeface="Monotype Sorts" pitchFamily="2" charset="2"/>
              </a:rPr>
              <a:t> </a:t>
            </a:r>
            <a:r>
              <a:rPr lang="zh-CN" altLang="en-US" b="1">
                <a:solidFill>
                  <a:schemeClr val="bg1"/>
                </a:solidFill>
                <a:sym typeface="Symbol" pitchFamily="18" charset="2"/>
              </a:rPr>
              <a:t>空间测量与时间测量相互影响，相互制约</a:t>
            </a:r>
            <a:endParaRPr lang="zh-CN" altLang="en-US" b="1">
              <a:solidFill>
                <a:schemeClr val="bg1"/>
              </a:solidFill>
            </a:endParaRPr>
          </a:p>
        </p:txBody>
      </p:sp>
      <p:sp>
        <p:nvSpPr>
          <p:cNvPr id="179222" name="Rectangle 22"/>
          <p:cNvSpPr>
            <a:spLocks noChangeArrowheads="1"/>
          </p:cNvSpPr>
          <p:nvPr/>
        </p:nvSpPr>
        <p:spPr bwMode="auto">
          <a:xfrm>
            <a:off x="746125" y="3878263"/>
            <a:ext cx="7981950" cy="809625"/>
          </a:xfrm>
          <a:prstGeom prst="rect">
            <a:avLst/>
          </a:prstGeom>
          <a:gradFill rotWithShape="1">
            <a:gsLst>
              <a:gs pos="0">
                <a:srgbClr val="FFFFFF"/>
              </a:gs>
              <a:gs pos="100000">
                <a:srgbClr val="CCFFCC"/>
              </a:gs>
            </a:gsLst>
            <a:path path="shape">
              <a:fillToRect l="50000" t="50000" r="50000" b="50000"/>
            </a:path>
          </a:gradFill>
          <a:ln w="19050">
            <a:solidFill>
              <a:srgbClr val="00FF00"/>
            </a:solidFill>
            <a:miter lim="800000"/>
            <a:headEnd/>
            <a:tailEnd/>
          </a:ln>
        </p:spPr>
        <p:txBody>
          <a:bodyPr wrap="none" anchor="ctr"/>
          <a:lstStyle/>
          <a:p>
            <a:endParaRPr lang="zh-CN" altLang="en-US"/>
          </a:p>
        </p:txBody>
      </p:sp>
      <p:graphicFrame>
        <p:nvGraphicFramePr>
          <p:cNvPr id="179223" name="Object 23"/>
          <p:cNvGraphicFramePr>
            <a:graphicFrameLocks noChangeAspect="1"/>
          </p:cNvGraphicFramePr>
          <p:nvPr/>
        </p:nvGraphicFramePr>
        <p:xfrm>
          <a:off x="955675" y="3878263"/>
          <a:ext cx="1803400" cy="866775"/>
        </p:xfrm>
        <a:graphic>
          <a:graphicData uri="http://schemas.openxmlformats.org/presentationml/2006/ole">
            <p:oleObj spid="_x0000_s14340" name="公式" r:id="rId13" imgW="1002865" imgH="482391" progId="Equation.3">
              <p:embed/>
            </p:oleObj>
          </a:graphicData>
        </a:graphic>
      </p:graphicFrame>
      <p:graphicFrame>
        <p:nvGraphicFramePr>
          <p:cNvPr id="179224" name="Object 24"/>
          <p:cNvGraphicFramePr>
            <a:graphicFrameLocks noChangeAspect="1"/>
          </p:cNvGraphicFramePr>
          <p:nvPr/>
        </p:nvGraphicFramePr>
        <p:xfrm>
          <a:off x="3162300" y="4057650"/>
          <a:ext cx="1054100" cy="366713"/>
        </p:xfrm>
        <a:graphic>
          <a:graphicData uri="http://schemas.openxmlformats.org/presentationml/2006/ole">
            <p:oleObj spid="_x0000_s14341" name="公式" r:id="rId14" imgW="583947" imgH="203112" progId="Equation.3">
              <p:embed/>
            </p:oleObj>
          </a:graphicData>
        </a:graphic>
      </p:graphicFrame>
      <p:graphicFrame>
        <p:nvGraphicFramePr>
          <p:cNvPr id="179225" name="Object 25"/>
          <p:cNvGraphicFramePr>
            <a:graphicFrameLocks noChangeAspect="1"/>
          </p:cNvGraphicFramePr>
          <p:nvPr/>
        </p:nvGraphicFramePr>
        <p:xfrm>
          <a:off x="4826000" y="4097338"/>
          <a:ext cx="1028700" cy="320675"/>
        </p:xfrm>
        <a:graphic>
          <a:graphicData uri="http://schemas.openxmlformats.org/presentationml/2006/ole">
            <p:oleObj spid="_x0000_s14342" name="公式" r:id="rId15" imgW="571004" imgH="177646" progId="Equation.3">
              <p:embed/>
            </p:oleObj>
          </a:graphicData>
        </a:graphic>
      </p:graphicFrame>
      <p:graphicFrame>
        <p:nvGraphicFramePr>
          <p:cNvPr id="179226" name="Object 26"/>
          <p:cNvGraphicFramePr>
            <a:graphicFrameLocks noChangeAspect="1"/>
          </p:cNvGraphicFramePr>
          <p:nvPr/>
        </p:nvGraphicFramePr>
        <p:xfrm>
          <a:off x="6402388" y="3832225"/>
          <a:ext cx="2105025" cy="892175"/>
        </p:xfrm>
        <a:graphic>
          <a:graphicData uri="http://schemas.openxmlformats.org/presentationml/2006/ole">
            <p:oleObj spid="_x0000_s14343" name="公式" r:id="rId16" imgW="1167893" imgH="495085" progId="Equation.3">
              <p:embed/>
            </p:oleObj>
          </a:graphicData>
        </a:graphic>
      </p:graphicFrame>
      <p:sp>
        <p:nvSpPr>
          <p:cNvPr id="179227" name="Rectangle 27"/>
          <p:cNvSpPr>
            <a:spLocks noChangeArrowheads="1"/>
          </p:cNvSpPr>
          <p:nvPr/>
        </p:nvSpPr>
        <p:spPr bwMode="auto">
          <a:xfrm>
            <a:off x="746125" y="4797425"/>
            <a:ext cx="7981950" cy="836613"/>
          </a:xfrm>
          <a:prstGeom prst="rect">
            <a:avLst/>
          </a:prstGeom>
          <a:gradFill rotWithShape="1">
            <a:gsLst>
              <a:gs pos="0">
                <a:srgbClr val="FFFFFF"/>
              </a:gs>
              <a:gs pos="100000">
                <a:srgbClr val="CCFFCC"/>
              </a:gs>
            </a:gsLst>
            <a:path path="shape">
              <a:fillToRect l="50000" t="50000" r="50000" b="50000"/>
            </a:path>
          </a:gradFill>
          <a:ln w="19050">
            <a:solidFill>
              <a:srgbClr val="00FF00"/>
            </a:solidFill>
            <a:miter lim="800000"/>
            <a:headEnd/>
            <a:tailEnd/>
          </a:ln>
        </p:spPr>
        <p:txBody>
          <a:bodyPr wrap="none" anchor="ctr"/>
          <a:lstStyle/>
          <a:p>
            <a:endParaRPr lang="zh-CN" altLang="en-US"/>
          </a:p>
        </p:txBody>
      </p:sp>
      <p:graphicFrame>
        <p:nvGraphicFramePr>
          <p:cNvPr id="179228" name="Object 28"/>
          <p:cNvGraphicFramePr>
            <a:graphicFrameLocks noChangeAspect="1"/>
          </p:cNvGraphicFramePr>
          <p:nvPr/>
        </p:nvGraphicFramePr>
        <p:xfrm>
          <a:off x="944563" y="4803775"/>
          <a:ext cx="1825625" cy="820738"/>
        </p:xfrm>
        <a:graphic>
          <a:graphicData uri="http://schemas.openxmlformats.org/presentationml/2006/ole">
            <p:oleObj spid="_x0000_s14344" name="公式" r:id="rId17" imgW="1016000" imgH="457200" progId="Equation.3">
              <p:embed/>
            </p:oleObj>
          </a:graphicData>
        </a:graphic>
      </p:graphicFrame>
      <p:graphicFrame>
        <p:nvGraphicFramePr>
          <p:cNvPr id="179229" name="Object 29"/>
          <p:cNvGraphicFramePr>
            <a:graphicFrameLocks noChangeAspect="1"/>
          </p:cNvGraphicFramePr>
          <p:nvPr/>
        </p:nvGraphicFramePr>
        <p:xfrm>
          <a:off x="3173413" y="5011738"/>
          <a:ext cx="1030287" cy="366712"/>
        </p:xfrm>
        <a:graphic>
          <a:graphicData uri="http://schemas.openxmlformats.org/presentationml/2006/ole">
            <p:oleObj spid="_x0000_s14345" name="公式" r:id="rId18" imgW="571252" imgH="203112" progId="Equation.3">
              <p:embed/>
            </p:oleObj>
          </a:graphicData>
        </a:graphic>
      </p:graphicFrame>
      <p:graphicFrame>
        <p:nvGraphicFramePr>
          <p:cNvPr id="179230" name="Object 30"/>
          <p:cNvGraphicFramePr>
            <a:graphicFrameLocks noChangeAspect="1"/>
          </p:cNvGraphicFramePr>
          <p:nvPr/>
        </p:nvGraphicFramePr>
        <p:xfrm>
          <a:off x="4852988" y="5018088"/>
          <a:ext cx="1006475" cy="320675"/>
        </p:xfrm>
        <a:graphic>
          <a:graphicData uri="http://schemas.openxmlformats.org/presentationml/2006/ole">
            <p:oleObj spid="_x0000_s14346" name="公式" r:id="rId19" imgW="558558" imgH="177723" progId="Equation.3">
              <p:embed/>
            </p:oleObj>
          </a:graphicData>
        </a:graphic>
      </p:graphicFrame>
      <p:graphicFrame>
        <p:nvGraphicFramePr>
          <p:cNvPr id="179231" name="Object 31"/>
          <p:cNvGraphicFramePr>
            <a:graphicFrameLocks noChangeAspect="1"/>
          </p:cNvGraphicFramePr>
          <p:nvPr/>
        </p:nvGraphicFramePr>
        <p:xfrm>
          <a:off x="6391275" y="4778375"/>
          <a:ext cx="2127250" cy="846138"/>
        </p:xfrm>
        <a:graphic>
          <a:graphicData uri="http://schemas.openxmlformats.org/presentationml/2006/ole">
            <p:oleObj spid="_x0000_s14347" name="公式" r:id="rId20" imgW="1180588" imgH="469696" progId="Equation.3">
              <p:embed/>
            </p:oleObj>
          </a:graphicData>
        </a:graphic>
      </p:graphicFrame>
      <p:sp>
        <p:nvSpPr>
          <p:cNvPr id="179232" name="Rectangle 32"/>
          <p:cNvSpPr>
            <a:spLocks noChangeArrowheads="1"/>
          </p:cNvSpPr>
          <p:nvPr/>
        </p:nvSpPr>
        <p:spPr bwMode="auto">
          <a:xfrm>
            <a:off x="1466850" y="5768975"/>
            <a:ext cx="7227888" cy="479425"/>
          </a:xfrm>
          <a:prstGeom prst="rect">
            <a:avLst/>
          </a:prstGeom>
          <a:noFill/>
          <a:ln w="9525">
            <a:noFill/>
            <a:miter lim="800000"/>
            <a:headEnd/>
            <a:tailEnd/>
          </a:ln>
        </p:spPr>
        <p:txBody>
          <a:bodyPr>
            <a:spAutoFit/>
          </a:bodyPr>
          <a:lstStyle/>
          <a:p>
            <a:pPr algn="l">
              <a:lnSpc>
                <a:spcPct val="115000"/>
              </a:lnSpc>
            </a:pPr>
            <a:r>
              <a:rPr lang="en-US" altLang="zh-CN" b="1">
                <a:solidFill>
                  <a:schemeClr val="bg1"/>
                </a:solidFill>
              </a:rPr>
              <a:t>(2) </a:t>
            </a:r>
            <a:r>
              <a:rPr lang="zh-CN" altLang="en-US" b="1">
                <a:solidFill>
                  <a:schemeClr val="bg1"/>
                </a:solidFill>
              </a:rPr>
              <a:t>当</a:t>
            </a:r>
            <a:r>
              <a:rPr lang="en-US" altLang="zh-CN" b="1">
                <a:solidFill>
                  <a:schemeClr val="bg1"/>
                </a:solidFill>
              </a:rPr>
              <a:t> </a:t>
            </a:r>
            <a:r>
              <a:rPr lang="en-US" altLang="zh-CN" b="1" i="1">
                <a:solidFill>
                  <a:srgbClr val="FF6600"/>
                </a:solidFill>
              </a:rPr>
              <a:t>u &lt;&lt; c</a:t>
            </a:r>
            <a:r>
              <a:rPr lang="en-US" altLang="zh-CN" b="1" i="1">
                <a:solidFill>
                  <a:srgbClr val="66FFFF"/>
                </a:solidFill>
              </a:rPr>
              <a:t>  </a:t>
            </a:r>
            <a:r>
              <a:rPr lang="zh-CN" altLang="en-US" b="1">
                <a:solidFill>
                  <a:schemeClr val="bg1"/>
                </a:solidFill>
              </a:rPr>
              <a:t>洛伦兹变换简化为伽利略变换式</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9218"/>
                                        </p:tgtEl>
                                        <p:attrNameLst>
                                          <p:attrName>style.visibility</p:attrName>
                                        </p:attrNameLst>
                                      </p:cBhvr>
                                      <p:to>
                                        <p:strVal val="visible"/>
                                      </p:to>
                                    </p:set>
                                    <p:animEffect transition="in" filter="wipe(left)">
                                      <p:cBhvr>
                                        <p:cTn id="7" dur="1000"/>
                                        <p:tgtEl>
                                          <p:spTgt spid="1792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79216"/>
                                        </p:tgtEl>
                                        <p:attrNameLst>
                                          <p:attrName>style.visibility</p:attrName>
                                        </p:attrNameLst>
                                      </p:cBhvr>
                                      <p:to>
                                        <p:strVal val="visible"/>
                                      </p:to>
                                    </p:set>
                                    <p:animEffect transition="in" filter="wipe(left)">
                                      <p:cBhvr>
                                        <p:cTn id="12" dur="1000"/>
                                        <p:tgtEl>
                                          <p:spTgt spid="1792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79217"/>
                                        </p:tgtEl>
                                        <p:attrNameLst>
                                          <p:attrName>style.visibility</p:attrName>
                                        </p:attrNameLst>
                                      </p:cBhvr>
                                      <p:to>
                                        <p:strVal val="visible"/>
                                      </p:to>
                                    </p:set>
                                    <p:animEffect transition="in" filter="wipe(left)">
                                      <p:cBhvr>
                                        <p:cTn id="17" dur="1000"/>
                                        <p:tgtEl>
                                          <p:spTgt spid="17921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9219"/>
                                        </p:tgtEl>
                                        <p:attrNameLst>
                                          <p:attrName>style.visibility</p:attrName>
                                        </p:attrNameLst>
                                      </p:cBhvr>
                                      <p:to>
                                        <p:strVal val="visible"/>
                                      </p:to>
                                    </p:set>
                                    <p:animEffect transition="in" filter="wipe(left)">
                                      <p:cBhvr>
                                        <p:cTn id="22" dur="1000"/>
                                        <p:tgtEl>
                                          <p:spTgt spid="17921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7920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1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p:cTn id="31" dur="1000" fill="hold"/>
                                        <p:tgtEl>
                                          <p:spTgt spid="2"/>
                                        </p:tgtEl>
                                        <p:attrNameLst>
                                          <p:attrName>ppt_w</p:attrName>
                                        </p:attrNameLst>
                                      </p:cBhvr>
                                      <p:tavLst>
                                        <p:tav tm="0">
                                          <p:val>
                                            <p:fltVal val="0"/>
                                          </p:val>
                                        </p:tav>
                                        <p:tav tm="100000">
                                          <p:val>
                                            <p:strVal val="#ppt_w"/>
                                          </p:val>
                                        </p:tav>
                                      </p:tavLst>
                                    </p:anim>
                                    <p:anim calcmode="lin" valueType="num">
                                      <p:cBhvr>
                                        <p:cTn id="32" dur="1000" fill="hold"/>
                                        <p:tgtEl>
                                          <p:spTgt spid="2"/>
                                        </p:tgtEl>
                                        <p:attrNameLst>
                                          <p:attrName>ppt_h</p:attrName>
                                        </p:attrNameLst>
                                      </p:cBhvr>
                                      <p:tavLst>
                                        <p:tav tm="0">
                                          <p:val>
                                            <p:strVal val="#ppt_h"/>
                                          </p:val>
                                        </p:tav>
                                        <p:tav tm="100000">
                                          <p:val>
                                            <p:strVal val="#ppt_h"/>
                                          </p:val>
                                        </p:tav>
                                      </p:tavLst>
                                    </p:anim>
                                  </p:childTnLst>
                                </p:cTn>
                              </p:par>
                            </p:childTnLst>
                          </p:cTn>
                        </p:par>
                        <p:par>
                          <p:cTn id="33" fill="hold" nodeType="afterGroup">
                            <p:stCondLst>
                              <p:cond delay="1000"/>
                            </p:stCondLst>
                            <p:childTnLst>
                              <p:par>
                                <p:cTn id="34" presetID="1" presetClass="entr" presetSubtype="0" fill="hold" grpId="0" nodeType="afterEffect">
                                  <p:stCondLst>
                                    <p:cond delay="0"/>
                                  </p:stCondLst>
                                  <p:childTnLst>
                                    <p:set>
                                      <p:cBhvr>
                                        <p:cTn id="35" dur="1" fill="hold">
                                          <p:stCondLst>
                                            <p:cond delay="499"/>
                                          </p:stCondLst>
                                        </p:cTn>
                                        <p:tgtEl>
                                          <p:spTgt spid="179209"/>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7" presetClass="entr" presetSubtype="10" fill="hold" nodeType="clickEffect">
                                  <p:stCondLst>
                                    <p:cond delay="0"/>
                                  </p:stCondLst>
                                  <p:childTnLst>
                                    <p:set>
                                      <p:cBhvr>
                                        <p:cTn id="39" dur="1" fill="hold">
                                          <p:stCondLst>
                                            <p:cond delay="0"/>
                                          </p:stCondLst>
                                        </p:cTn>
                                        <p:tgtEl>
                                          <p:spTgt spid="3"/>
                                        </p:tgtEl>
                                        <p:attrNameLst>
                                          <p:attrName>style.visibility</p:attrName>
                                        </p:attrNameLst>
                                      </p:cBhvr>
                                      <p:to>
                                        <p:strVal val="visible"/>
                                      </p:to>
                                    </p:set>
                                    <p:anim calcmode="lin" valueType="num">
                                      <p:cBhvr>
                                        <p:cTn id="40" dur="1000" fill="hold"/>
                                        <p:tgtEl>
                                          <p:spTgt spid="3"/>
                                        </p:tgtEl>
                                        <p:attrNameLst>
                                          <p:attrName>ppt_w</p:attrName>
                                        </p:attrNameLst>
                                      </p:cBhvr>
                                      <p:tavLst>
                                        <p:tav tm="0">
                                          <p:val>
                                            <p:fltVal val="0"/>
                                          </p:val>
                                        </p:tav>
                                        <p:tav tm="100000">
                                          <p:val>
                                            <p:strVal val="#ppt_w"/>
                                          </p:val>
                                        </p:tav>
                                      </p:tavLst>
                                    </p:anim>
                                    <p:anim calcmode="lin" valueType="num">
                                      <p:cBhvr>
                                        <p:cTn id="41" dur="1000" fill="hold"/>
                                        <p:tgtEl>
                                          <p:spTgt spid="3"/>
                                        </p:tgtEl>
                                        <p:attrNameLst>
                                          <p:attrName>ppt_h</p:attrName>
                                        </p:attrNameLst>
                                      </p:cBhvr>
                                      <p:tavLst>
                                        <p:tav tm="0">
                                          <p:val>
                                            <p:strVal val="#ppt_h"/>
                                          </p:val>
                                        </p:tav>
                                        <p:tav tm="100000">
                                          <p:val>
                                            <p:strVal val="#ppt_h"/>
                                          </p:val>
                                        </p:tav>
                                      </p:tavLst>
                                    </p:anim>
                                  </p:childTnLst>
                                </p:cTn>
                              </p:par>
                            </p:childTnLst>
                          </p:cTn>
                        </p:par>
                        <p:par>
                          <p:cTn id="42" fill="hold" nodeType="afterGroup">
                            <p:stCondLst>
                              <p:cond delay="1000"/>
                            </p:stCondLst>
                            <p:childTnLst>
                              <p:par>
                                <p:cTn id="43" presetID="1" presetClass="entr" presetSubtype="0" fill="hold" grpId="0" nodeType="afterEffect">
                                  <p:stCondLst>
                                    <p:cond delay="0"/>
                                  </p:stCondLst>
                                  <p:childTnLst>
                                    <p:set>
                                      <p:cBhvr>
                                        <p:cTn id="44" dur="1" fill="hold">
                                          <p:stCondLst>
                                            <p:cond delay="0"/>
                                          </p:stCondLst>
                                        </p:cTn>
                                        <p:tgtEl>
                                          <p:spTgt spid="179220"/>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79221"/>
                                        </p:tgtEl>
                                        <p:attrNameLst>
                                          <p:attrName>style.visibility</p:attrName>
                                        </p:attrNameLst>
                                      </p:cBhvr>
                                      <p:to>
                                        <p:strVal val="visible"/>
                                      </p:to>
                                    </p:set>
                                    <p:animEffect transition="in" filter="wipe(left)">
                                      <p:cBhvr>
                                        <p:cTn id="49" dur="500"/>
                                        <p:tgtEl>
                                          <p:spTgt spid="179221"/>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179223"/>
                                        </p:tgtEl>
                                        <p:attrNameLst>
                                          <p:attrName>style.visibility</p:attrName>
                                        </p:attrNameLst>
                                      </p:cBhvr>
                                      <p:to>
                                        <p:strVal val="visible"/>
                                      </p:to>
                                    </p:set>
                                    <p:animEffect transition="in" filter="wipe(left)">
                                      <p:cBhvr>
                                        <p:cTn id="54" dur="500"/>
                                        <p:tgtEl>
                                          <p:spTgt spid="179223"/>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179224"/>
                                        </p:tgtEl>
                                        <p:attrNameLst>
                                          <p:attrName>style.visibility</p:attrName>
                                        </p:attrNameLst>
                                      </p:cBhvr>
                                      <p:to>
                                        <p:strVal val="visible"/>
                                      </p:to>
                                    </p:set>
                                    <p:animEffect transition="in" filter="wipe(left)">
                                      <p:cBhvr>
                                        <p:cTn id="59" dur="500"/>
                                        <p:tgtEl>
                                          <p:spTgt spid="179224"/>
                                        </p:tgtEl>
                                      </p:cBhvr>
                                    </p:animEffect>
                                  </p:childTnLst>
                                </p:cTn>
                              </p:par>
                            </p:childTnLst>
                          </p:cTn>
                        </p:par>
                        <p:par>
                          <p:cTn id="60" fill="hold" nodeType="afterGroup">
                            <p:stCondLst>
                              <p:cond delay="500"/>
                            </p:stCondLst>
                            <p:childTnLst>
                              <p:par>
                                <p:cTn id="61" presetID="22" presetClass="entr" presetSubtype="8" fill="hold" nodeType="afterEffect">
                                  <p:stCondLst>
                                    <p:cond delay="0"/>
                                  </p:stCondLst>
                                  <p:childTnLst>
                                    <p:set>
                                      <p:cBhvr>
                                        <p:cTn id="62" dur="1" fill="hold">
                                          <p:stCondLst>
                                            <p:cond delay="0"/>
                                          </p:stCondLst>
                                        </p:cTn>
                                        <p:tgtEl>
                                          <p:spTgt spid="179225"/>
                                        </p:tgtEl>
                                        <p:attrNameLst>
                                          <p:attrName>style.visibility</p:attrName>
                                        </p:attrNameLst>
                                      </p:cBhvr>
                                      <p:to>
                                        <p:strVal val="visible"/>
                                      </p:to>
                                    </p:set>
                                    <p:animEffect transition="in" filter="wipe(left)">
                                      <p:cBhvr>
                                        <p:cTn id="63" dur="500"/>
                                        <p:tgtEl>
                                          <p:spTgt spid="179225"/>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179226"/>
                                        </p:tgtEl>
                                        <p:attrNameLst>
                                          <p:attrName>style.visibility</p:attrName>
                                        </p:attrNameLst>
                                      </p:cBhvr>
                                      <p:to>
                                        <p:strVal val="visible"/>
                                      </p:to>
                                    </p:set>
                                    <p:animEffect transition="in" filter="wipe(left)">
                                      <p:cBhvr>
                                        <p:cTn id="68" dur="500"/>
                                        <p:tgtEl>
                                          <p:spTgt spid="179226"/>
                                        </p:tgtEl>
                                      </p:cBhvr>
                                    </p:animEffect>
                                  </p:childTnLst>
                                </p:cTn>
                              </p:par>
                            </p:childTnLst>
                          </p:cTn>
                        </p:par>
                        <p:par>
                          <p:cTn id="69" fill="hold" nodeType="afterGroup">
                            <p:stCondLst>
                              <p:cond delay="500"/>
                            </p:stCondLst>
                            <p:childTnLst>
                              <p:par>
                                <p:cTn id="70" presetID="1" presetClass="entr" presetSubtype="0" fill="hold" grpId="0" nodeType="afterEffect">
                                  <p:stCondLst>
                                    <p:cond delay="0"/>
                                  </p:stCondLst>
                                  <p:childTnLst>
                                    <p:set>
                                      <p:cBhvr>
                                        <p:cTn id="71" dur="1" fill="hold">
                                          <p:stCondLst>
                                            <p:cond delay="499"/>
                                          </p:stCondLst>
                                        </p:cTn>
                                        <p:tgtEl>
                                          <p:spTgt spid="179222"/>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179228"/>
                                        </p:tgtEl>
                                        <p:attrNameLst>
                                          <p:attrName>style.visibility</p:attrName>
                                        </p:attrNameLst>
                                      </p:cBhvr>
                                      <p:to>
                                        <p:strVal val="visible"/>
                                      </p:to>
                                    </p:set>
                                    <p:animEffect transition="in" filter="wipe(left)">
                                      <p:cBhvr>
                                        <p:cTn id="76" dur="500"/>
                                        <p:tgtEl>
                                          <p:spTgt spid="179228"/>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179229"/>
                                        </p:tgtEl>
                                        <p:attrNameLst>
                                          <p:attrName>style.visibility</p:attrName>
                                        </p:attrNameLst>
                                      </p:cBhvr>
                                      <p:to>
                                        <p:strVal val="visible"/>
                                      </p:to>
                                    </p:set>
                                    <p:animEffect transition="in" filter="wipe(left)">
                                      <p:cBhvr>
                                        <p:cTn id="81" dur="500"/>
                                        <p:tgtEl>
                                          <p:spTgt spid="179229"/>
                                        </p:tgtEl>
                                      </p:cBhvr>
                                    </p:animEffect>
                                  </p:childTnLst>
                                </p:cTn>
                              </p:par>
                            </p:childTnLst>
                          </p:cTn>
                        </p:par>
                        <p:par>
                          <p:cTn id="82" fill="hold" nodeType="afterGroup">
                            <p:stCondLst>
                              <p:cond delay="500"/>
                            </p:stCondLst>
                            <p:childTnLst>
                              <p:par>
                                <p:cTn id="83" presetID="22" presetClass="entr" presetSubtype="8" fill="hold" nodeType="afterEffect">
                                  <p:stCondLst>
                                    <p:cond delay="0"/>
                                  </p:stCondLst>
                                  <p:childTnLst>
                                    <p:set>
                                      <p:cBhvr>
                                        <p:cTn id="84" dur="1" fill="hold">
                                          <p:stCondLst>
                                            <p:cond delay="0"/>
                                          </p:stCondLst>
                                        </p:cTn>
                                        <p:tgtEl>
                                          <p:spTgt spid="179230"/>
                                        </p:tgtEl>
                                        <p:attrNameLst>
                                          <p:attrName>style.visibility</p:attrName>
                                        </p:attrNameLst>
                                      </p:cBhvr>
                                      <p:to>
                                        <p:strVal val="visible"/>
                                      </p:to>
                                    </p:set>
                                    <p:animEffect transition="in" filter="wipe(left)">
                                      <p:cBhvr>
                                        <p:cTn id="85" dur="500"/>
                                        <p:tgtEl>
                                          <p:spTgt spid="179230"/>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179231"/>
                                        </p:tgtEl>
                                        <p:attrNameLst>
                                          <p:attrName>style.visibility</p:attrName>
                                        </p:attrNameLst>
                                      </p:cBhvr>
                                      <p:to>
                                        <p:strVal val="visible"/>
                                      </p:to>
                                    </p:set>
                                    <p:animEffect transition="in" filter="wipe(left)">
                                      <p:cBhvr>
                                        <p:cTn id="90" dur="500"/>
                                        <p:tgtEl>
                                          <p:spTgt spid="179231"/>
                                        </p:tgtEl>
                                      </p:cBhvr>
                                    </p:animEffect>
                                  </p:childTnLst>
                                </p:cTn>
                              </p:par>
                            </p:childTnLst>
                          </p:cTn>
                        </p:par>
                        <p:par>
                          <p:cTn id="91" fill="hold" nodeType="afterGroup">
                            <p:stCondLst>
                              <p:cond delay="500"/>
                            </p:stCondLst>
                            <p:childTnLst>
                              <p:par>
                                <p:cTn id="92" presetID="1" presetClass="entr" presetSubtype="0" fill="hold" grpId="0" nodeType="afterEffect">
                                  <p:stCondLst>
                                    <p:cond delay="0"/>
                                  </p:stCondLst>
                                  <p:childTnLst>
                                    <p:set>
                                      <p:cBhvr>
                                        <p:cTn id="93" dur="1" fill="hold">
                                          <p:stCondLst>
                                            <p:cond delay="499"/>
                                          </p:stCondLst>
                                        </p:cTn>
                                        <p:tgtEl>
                                          <p:spTgt spid="179227"/>
                                        </p:tgtEl>
                                        <p:attrNameLst>
                                          <p:attrName>style.visibility</p:attrName>
                                        </p:attrNameLst>
                                      </p:cBhvr>
                                      <p:to>
                                        <p:strVal val="visible"/>
                                      </p:to>
                                    </p:se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79232"/>
                                        </p:tgtEl>
                                        <p:attrNameLst>
                                          <p:attrName>style.visibility</p:attrName>
                                        </p:attrNameLst>
                                      </p:cBhvr>
                                      <p:to>
                                        <p:strVal val="visible"/>
                                      </p:to>
                                    </p:set>
                                    <p:animEffect transition="in" filter="wipe(left)">
                                      <p:cBhvr>
                                        <p:cTn id="98" dur="500"/>
                                        <p:tgtEl>
                                          <p:spTgt spid="1792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2" grpId="0" autoUpdateAnimBg="0"/>
      <p:bldP spid="179209" grpId="0"/>
      <p:bldP spid="179218" grpId="0"/>
      <p:bldP spid="179219" grpId="0"/>
      <p:bldP spid="179220" grpId="0"/>
      <p:bldP spid="179221" grpId="0" autoUpdateAnimBg="0"/>
      <p:bldP spid="179222" grpId="0" animBg="1"/>
      <p:bldP spid="179227" grpId="0" animBg="1"/>
      <p:bldP spid="179232"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0226" name="Object 2"/>
          <p:cNvGraphicFramePr>
            <a:graphicFrameLocks noChangeAspect="1"/>
          </p:cNvGraphicFramePr>
          <p:nvPr/>
        </p:nvGraphicFramePr>
        <p:xfrm>
          <a:off x="338138" y="450850"/>
          <a:ext cx="1849437" cy="798513"/>
        </p:xfrm>
        <a:graphic>
          <a:graphicData uri="http://schemas.openxmlformats.org/presentationml/2006/ole">
            <p:oleObj spid="_x0000_s15362" name="公式" r:id="rId3" imgW="1028254" imgH="444307" progId="Equation.3">
              <p:embed/>
            </p:oleObj>
          </a:graphicData>
        </a:graphic>
      </p:graphicFrame>
      <p:sp>
        <p:nvSpPr>
          <p:cNvPr id="180227" name="AutoShape 3"/>
          <p:cNvSpPr>
            <a:spLocks noChangeArrowheads="1"/>
          </p:cNvSpPr>
          <p:nvPr/>
        </p:nvSpPr>
        <p:spPr bwMode="auto">
          <a:xfrm>
            <a:off x="2466975" y="674688"/>
            <a:ext cx="584200" cy="269875"/>
          </a:xfrm>
          <a:prstGeom prst="rightArrow">
            <a:avLst>
              <a:gd name="adj1" fmla="val 35417"/>
              <a:gd name="adj2" fmla="val 70804"/>
            </a:avLst>
          </a:prstGeom>
          <a:solidFill>
            <a:srgbClr val="CCFFFF"/>
          </a:solidFill>
          <a:ln w="9525">
            <a:solidFill>
              <a:srgbClr val="66FFFF"/>
            </a:solidFill>
            <a:miter lim="800000"/>
            <a:headEnd/>
            <a:tailEnd/>
          </a:ln>
        </p:spPr>
        <p:txBody>
          <a:bodyPr wrap="none" anchor="ctr"/>
          <a:lstStyle/>
          <a:p>
            <a:endParaRPr lang="zh-CN" altLang="en-US"/>
          </a:p>
        </p:txBody>
      </p:sp>
      <p:graphicFrame>
        <p:nvGraphicFramePr>
          <p:cNvPr id="180228" name="Object 4"/>
          <p:cNvGraphicFramePr>
            <a:graphicFrameLocks noChangeAspect="1"/>
          </p:cNvGraphicFramePr>
          <p:nvPr/>
        </p:nvGraphicFramePr>
        <p:xfrm>
          <a:off x="3086100" y="638175"/>
          <a:ext cx="1303338" cy="320675"/>
        </p:xfrm>
        <a:graphic>
          <a:graphicData uri="http://schemas.openxmlformats.org/presentationml/2006/ole">
            <p:oleObj spid="_x0000_s15363" name="公式" r:id="rId4" imgW="723272" imgH="177646" progId="Equation.3">
              <p:embed/>
            </p:oleObj>
          </a:graphicData>
        </a:graphic>
      </p:graphicFrame>
      <p:graphicFrame>
        <p:nvGraphicFramePr>
          <p:cNvPr id="180229" name="Object 5"/>
          <p:cNvGraphicFramePr>
            <a:graphicFrameLocks noChangeAspect="1"/>
          </p:cNvGraphicFramePr>
          <p:nvPr/>
        </p:nvGraphicFramePr>
        <p:xfrm>
          <a:off x="7767638" y="684213"/>
          <a:ext cx="636587" cy="319087"/>
        </p:xfrm>
        <a:graphic>
          <a:graphicData uri="http://schemas.openxmlformats.org/presentationml/2006/ole">
            <p:oleObj spid="_x0000_s15364" name="公式" r:id="rId5" imgW="355138" imgH="177569" progId="Equation.3">
              <p:embed/>
            </p:oleObj>
          </a:graphicData>
        </a:graphic>
      </p:graphicFrame>
      <p:sp>
        <p:nvSpPr>
          <p:cNvPr id="180230" name="Rectangle 6"/>
          <p:cNvSpPr>
            <a:spLocks noChangeArrowheads="1"/>
          </p:cNvSpPr>
          <p:nvPr/>
        </p:nvSpPr>
        <p:spPr bwMode="auto">
          <a:xfrm>
            <a:off x="393700" y="1358900"/>
            <a:ext cx="7162800" cy="479425"/>
          </a:xfrm>
          <a:prstGeom prst="rect">
            <a:avLst/>
          </a:prstGeom>
          <a:noFill/>
          <a:ln w="9525">
            <a:noFill/>
            <a:miter lim="800000"/>
            <a:headEnd/>
            <a:tailEnd/>
          </a:ln>
        </p:spPr>
        <p:txBody>
          <a:bodyPr>
            <a:spAutoFit/>
          </a:bodyPr>
          <a:lstStyle/>
          <a:p>
            <a:pPr algn="l">
              <a:lnSpc>
                <a:spcPct val="115000"/>
              </a:lnSpc>
            </a:pPr>
            <a:r>
              <a:rPr lang="en-US" altLang="zh-CN" b="1">
                <a:solidFill>
                  <a:schemeClr val="bg1"/>
                </a:solidFill>
              </a:rPr>
              <a:t>(3) </a:t>
            </a:r>
            <a:r>
              <a:rPr lang="zh-CN" altLang="en-US" b="1">
                <a:solidFill>
                  <a:schemeClr val="bg1"/>
                </a:solidFill>
              </a:rPr>
              <a:t>光速是各种物体运动的极限速度</a:t>
            </a:r>
            <a:r>
              <a:rPr lang="en-US" altLang="zh-CN" b="1">
                <a:solidFill>
                  <a:schemeClr val="bg1"/>
                </a:solidFill>
              </a:rPr>
              <a:t>  </a:t>
            </a:r>
          </a:p>
        </p:txBody>
      </p:sp>
      <p:graphicFrame>
        <p:nvGraphicFramePr>
          <p:cNvPr id="180231" name="Object 7"/>
          <p:cNvGraphicFramePr>
            <a:graphicFrameLocks noChangeAspect="1"/>
          </p:cNvGraphicFramePr>
          <p:nvPr/>
        </p:nvGraphicFramePr>
        <p:xfrm>
          <a:off x="1989138" y="2097088"/>
          <a:ext cx="557212" cy="252412"/>
        </p:xfrm>
        <a:graphic>
          <a:graphicData uri="http://schemas.openxmlformats.org/presentationml/2006/ole">
            <p:oleObj spid="_x0000_s15365" name="公式" r:id="rId6" imgW="355446" imgH="139639" progId="Equation.3">
              <p:embed/>
            </p:oleObj>
          </a:graphicData>
        </a:graphic>
      </p:graphicFrame>
      <p:graphicFrame>
        <p:nvGraphicFramePr>
          <p:cNvPr id="180232" name="Object 8"/>
          <p:cNvGraphicFramePr>
            <a:graphicFrameLocks/>
          </p:cNvGraphicFramePr>
          <p:nvPr/>
        </p:nvGraphicFramePr>
        <p:xfrm>
          <a:off x="3041650" y="1962150"/>
          <a:ext cx="1343025" cy="460375"/>
        </p:xfrm>
        <a:graphic>
          <a:graphicData uri="http://schemas.openxmlformats.org/presentationml/2006/ole">
            <p:oleObj spid="_x0000_s15366" name="公式" r:id="rId7" imgW="748975" imgH="253890" progId="Equation.3">
              <p:embed/>
            </p:oleObj>
          </a:graphicData>
        </a:graphic>
      </p:graphicFrame>
      <p:sp>
        <p:nvSpPr>
          <p:cNvPr id="180233" name="Rectangle 9"/>
          <p:cNvSpPr>
            <a:spLocks noChangeArrowheads="1"/>
          </p:cNvSpPr>
          <p:nvPr/>
        </p:nvSpPr>
        <p:spPr bwMode="auto">
          <a:xfrm>
            <a:off x="4316413" y="1854200"/>
            <a:ext cx="1290637" cy="479425"/>
          </a:xfrm>
          <a:prstGeom prst="rect">
            <a:avLst/>
          </a:prstGeom>
          <a:noFill/>
          <a:ln w="9525">
            <a:noFill/>
            <a:miter lim="800000"/>
            <a:headEnd/>
            <a:tailEnd/>
          </a:ln>
        </p:spPr>
        <p:txBody>
          <a:bodyPr>
            <a:spAutoFit/>
          </a:bodyPr>
          <a:lstStyle/>
          <a:p>
            <a:pPr algn="l">
              <a:lnSpc>
                <a:spcPct val="115000"/>
              </a:lnSpc>
            </a:pPr>
            <a:r>
              <a:rPr lang="zh-CN" altLang="en-US" b="1">
                <a:solidFill>
                  <a:schemeClr val="bg1"/>
                </a:solidFill>
                <a:sym typeface="Symbol" pitchFamily="18" charset="2"/>
              </a:rPr>
              <a:t>为虚数</a:t>
            </a:r>
          </a:p>
        </p:txBody>
      </p:sp>
      <p:graphicFrame>
        <p:nvGraphicFramePr>
          <p:cNvPr id="180234" name="Object 10"/>
          <p:cNvGraphicFramePr>
            <a:graphicFrameLocks noChangeAspect="1"/>
          </p:cNvGraphicFramePr>
          <p:nvPr/>
        </p:nvGraphicFramePr>
        <p:xfrm>
          <a:off x="5246688" y="414338"/>
          <a:ext cx="1608137" cy="895350"/>
        </p:xfrm>
        <a:graphic>
          <a:graphicData uri="http://schemas.openxmlformats.org/presentationml/2006/ole">
            <p:oleObj spid="_x0000_s15367" name="公式" r:id="rId8" imgW="888614" imgH="495085" progId="Equation.3">
              <p:embed/>
            </p:oleObj>
          </a:graphicData>
        </a:graphic>
      </p:graphicFrame>
      <p:sp>
        <p:nvSpPr>
          <p:cNvPr id="180235" name="AutoShape 11"/>
          <p:cNvSpPr>
            <a:spLocks noChangeArrowheads="1"/>
          </p:cNvSpPr>
          <p:nvPr/>
        </p:nvSpPr>
        <p:spPr bwMode="auto">
          <a:xfrm>
            <a:off x="6911975" y="728663"/>
            <a:ext cx="584200" cy="225425"/>
          </a:xfrm>
          <a:prstGeom prst="rightArrow">
            <a:avLst>
              <a:gd name="adj1" fmla="val 35417"/>
              <a:gd name="adj2" fmla="val 84765"/>
            </a:avLst>
          </a:prstGeom>
          <a:solidFill>
            <a:srgbClr val="CCFFFF"/>
          </a:solidFill>
          <a:ln w="9525">
            <a:solidFill>
              <a:srgbClr val="66FFFF"/>
            </a:solidFill>
            <a:miter lim="800000"/>
            <a:headEnd/>
            <a:tailEnd/>
          </a:ln>
        </p:spPr>
        <p:txBody>
          <a:bodyPr wrap="none" anchor="ctr"/>
          <a:lstStyle/>
          <a:p>
            <a:endParaRPr lang="zh-CN" altLang="en-US"/>
          </a:p>
        </p:txBody>
      </p:sp>
      <p:sp>
        <p:nvSpPr>
          <p:cNvPr id="180236" name="Rectangle 12"/>
          <p:cNvSpPr>
            <a:spLocks noChangeArrowheads="1"/>
          </p:cNvSpPr>
          <p:nvPr/>
        </p:nvSpPr>
        <p:spPr bwMode="auto">
          <a:xfrm>
            <a:off x="5545138" y="1900238"/>
            <a:ext cx="2968625" cy="433387"/>
          </a:xfrm>
          <a:prstGeom prst="rect">
            <a:avLst/>
          </a:prstGeom>
          <a:noFill/>
          <a:ln w="9525">
            <a:noFill/>
            <a:miter lim="800000"/>
            <a:headEnd/>
            <a:tailEnd/>
          </a:ln>
        </p:spPr>
        <p:txBody>
          <a:bodyPr wrap="none" tIns="0">
            <a:spAutoFit/>
          </a:bodyPr>
          <a:lstStyle/>
          <a:p>
            <a:pPr algn="l">
              <a:lnSpc>
                <a:spcPct val="115000"/>
              </a:lnSpc>
            </a:pPr>
            <a:r>
              <a:rPr lang="zh-CN" altLang="en-US" b="1">
                <a:solidFill>
                  <a:schemeClr val="bg1"/>
                </a:solidFill>
              </a:rPr>
              <a:t>洛伦兹变换失去意义</a:t>
            </a:r>
            <a:endParaRPr lang="zh-CN" altLang="en-US" b="1">
              <a:solidFill>
                <a:schemeClr val="bg1"/>
              </a:solidFill>
              <a:sym typeface="Symbol" pitchFamily="18" charset="2"/>
            </a:endParaRPr>
          </a:p>
        </p:txBody>
      </p:sp>
      <p:sp>
        <p:nvSpPr>
          <p:cNvPr id="180237" name="Text Box 13"/>
          <p:cNvSpPr txBox="1">
            <a:spLocks noChangeArrowheads="1"/>
          </p:cNvSpPr>
          <p:nvPr/>
        </p:nvSpPr>
        <p:spPr bwMode="auto">
          <a:xfrm>
            <a:off x="393700" y="2528888"/>
            <a:ext cx="8262938" cy="1570037"/>
          </a:xfrm>
          <a:prstGeom prst="rect">
            <a:avLst/>
          </a:prstGeom>
          <a:noFill/>
          <a:ln w="9525">
            <a:noFill/>
            <a:miter lim="800000"/>
            <a:headEnd/>
            <a:tailEnd/>
          </a:ln>
        </p:spPr>
        <p:txBody>
          <a:bodyPr>
            <a:spAutoFit/>
          </a:bodyPr>
          <a:lstStyle/>
          <a:p>
            <a:pPr algn="l"/>
            <a:r>
              <a:rPr lang="en-US" altLang="zh-CN" b="1">
                <a:solidFill>
                  <a:schemeClr val="bg1"/>
                </a:solidFill>
              </a:rPr>
              <a:t>(4)</a:t>
            </a:r>
            <a:r>
              <a:rPr lang="zh-CN" altLang="en-US" b="1">
                <a:solidFill>
                  <a:schemeClr val="bg1"/>
                </a:solidFill>
              </a:rPr>
              <a:t>变换式原来是洛伦兹在</a:t>
            </a:r>
            <a:r>
              <a:rPr lang="en-US" altLang="zh-CN" b="1">
                <a:solidFill>
                  <a:schemeClr val="bg1"/>
                </a:solidFill>
              </a:rPr>
              <a:t>1904</a:t>
            </a:r>
            <a:r>
              <a:rPr lang="zh-CN" altLang="en-US" b="1">
                <a:solidFill>
                  <a:schemeClr val="bg1"/>
                </a:solidFill>
              </a:rPr>
              <a:t>年研究电磁场理论时提出来的，当时并未给予正确解释。第二年爱因斯坦从新的观点独立地导出了这个变换式。通常以洛伦兹命名。</a:t>
            </a:r>
            <a:endParaRPr lang="en-US" altLang="zh-CN" b="1">
              <a:solidFill>
                <a:schemeClr val="bg1"/>
              </a:solidFill>
            </a:endParaRPr>
          </a:p>
          <a:p>
            <a:pPr algn="l"/>
            <a:r>
              <a:rPr lang="en-US" altLang="zh-CN" b="1">
                <a:solidFill>
                  <a:schemeClr val="bg1"/>
                </a:solidFill>
              </a:rPr>
              <a:t>       </a:t>
            </a:r>
            <a:r>
              <a:rPr lang="zh-CN" altLang="en-US" b="1">
                <a:solidFill>
                  <a:srgbClr val="990000"/>
                </a:solidFill>
              </a:rPr>
              <a:t>洛伦兹（</a:t>
            </a:r>
            <a:r>
              <a:rPr lang="en-US" altLang="zh-CN" b="1">
                <a:solidFill>
                  <a:srgbClr val="990000"/>
                </a:solidFill>
              </a:rPr>
              <a:t>H. A. Lorentz </a:t>
            </a:r>
            <a:r>
              <a:rPr lang="zh-CN" altLang="en-US" b="1">
                <a:solidFill>
                  <a:srgbClr val="990000"/>
                </a:solidFill>
              </a:rPr>
              <a:t>，</a:t>
            </a:r>
            <a:r>
              <a:rPr lang="en-US" altLang="zh-CN" b="1">
                <a:solidFill>
                  <a:srgbClr val="990000"/>
                </a:solidFill>
              </a:rPr>
              <a:t>1853</a:t>
            </a:r>
            <a:r>
              <a:rPr lang="zh-CN" altLang="en-US" b="1">
                <a:solidFill>
                  <a:srgbClr val="990000"/>
                </a:solidFill>
              </a:rPr>
              <a:t>－</a:t>
            </a:r>
            <a:r>
              <a:rPr lang="en-US" altLang="zh-CN" b="1">
                <a:solidFill>
                  <a:srgbClr val="990000"/>
                </a:solidFill>
              </a:rPr>
              <a:t>1928</a:t>
            </a:r>
            <a:r>
              <a:rPr lang="zh-CN" altLang="en-US" b="1">
                <a:solidFill>
                  <a:srgbClr val="990000"/>
                </a:solidFill>
              </a:rPr>
              <a:t>）荷兰物理学家</a:t>
            </a:r>
            <a:r>
              <a:rPr lang="zh-CN" altLang="en-US" b="1">
                <a:solidFill>
                  <a:schemeClr val="bg1"/>
                </a:solidFill>
              </a:rPr>
              <a:t>。</a:t>
            </a:r>
          </a:p>
        </p:txBody>
      </p:sp>
      <p:sp>
        <p:nvSpPr>
          <p:cNvPr id="180238" name="Rectangle 14"/>
          <p:cNvSpPr>
            <a:spLocks noChangeArrowheads="1"/>
          </p:cNvSpPr>
          <p:nvPr/>
        </p:nvSpPr>
        <p:spPr bwMode="auto">
          <a:xfrm>
            <a:off x="393700" y="4041775"/>
            <a:ext cx="8199438" cy="1200150"/>
          </a:xfrm>
          <a:prstGeom prst="rect">
            <a:avLst/>
          </a:prstGeom>
          <a:noFill/>
          <a:ln w="9525">
            <a:noFill/>
            <a:miter lim="800000"/>
            <a:headEnd/>
            <a:tailEnd/>
          </a:ln>
        </p:spPr>
        <p:txBody>
          <a:bodyPr>
            <a:spAutoFit/>
          </a:bodyPr>
          <a:lstStyle/>
          <a:p>
            <a:pPr marL="450850" indent="-450850" algn="l"/>
            <a:r>
              <a:rPr lang="en-US" altLang="zh-CN" b="1">
                <a:solidFill>
                  <a:schemeClr val="bg1"/>
                </a:solidFill>
              </a:rPr>
              <a:t>(5) </a:t>
            </a:r>
            <a:r>
              <a:rPr lang="zh-CN" altLang="en-US" b="1">
                <a:solidFill>
                  <a:schemeClr val="bg1"/>
                </a:solidFill>
              </a:rPr>
              <a:t>变换式中</a:t>
            </a:r>
            <a:r>
              <a:rPr lang="en-US" altLang="zh-CN" b="1">
                <a:solidFill>
                  <a:schemeClr val="bg1"/>
                </a:solidFill>
              </a:rPr>
              <a:t> </a:t>
            </a:r>
            <a:r>
              <a:rPr lang="en-US" altLang="zh-CN" b="1">
                <a:solidFill>
                  <a:schemeClr val="accent2"/>
                </a:solidFill>
              </a:rPr>
              <a:t>(</a:t>
            </a:r>
            <a:r>
              <a:rPr lang="en-US" altLang="zh-CN" b="1" i="1">
                <a:solidFill>
                  <a:schemeClr val="accent2"/>
                </a:solidFill>
              </a:rPr>
              <a:t>x</a:t>
            </a:r>
            <a:r>
              <a:rPr lang="en-US" altLang="zh-CN" b="1">
                <a:solidFill>
                  <a:schemeClr val="accent2"/>
                </a:solidFill>
              </a:rPr>
              <a:t>, </a:t>
            </a:r>
            <a:r>
              <a:rPr lang="en-US" altLang="zh-CN" b="1" i="1">
                <a:solidFill>
                  <a:schemeClr val="accent2"/>
                </a:solidFill>
              </a:rPr>
              <a:t>y</a:t>
            </a:r>
            <a:r>
              <a:rPr lang="en-US" altLang="zh-CN" b="1">
                <a:solidFill>
                  <a:schemeClr val="accent2"/>
                </a:solidFill>
              </a:rPr>
              <a:t>, </a:t>
            </a:r>
            <a:r>
              <a:rPr lang="en-US" altLang="zh-CN" b="1" i="1">
                <a:solidFill>
                  <a:schemeClr val="accent2"/>
                </a:solidFill>
              </a:rPr>
              <a:t>z</a:t>
            </a:r>
            <a:r>
              <a:rPr lang="en-US" altLang="zh-CN" b="1">
                <a:solidFill>
                  <a:schemeClr val="accent2"/>
                </a:solidFill>
              </a:rPr>
              <a:t> )</a:t>
            </a:r>
            <a:r>
              <a:rPr lang="en-US" altLang="zh-CN" b="1">
                <a:solidFill>
                  <a:srgbClr val="66FFFF"/>
                </a:solidFill>
              </a:rPr>
              <a:t> </a:t>
            </a:r>
            <a:r>
              <a:rPr lang="zh-CN" altLang="en-US" b="1">
                <a:solidFill>
                  <a:schemeClr val="bg1"/>
                </a:solidFill>
              </a:rPr>
              <a:t>和</a:t>
            </a:r>
            <a:r>
              <a:rPr lang="en-US" altLang="zh-CN" b="1">
                <a:solidFill>
                  <a:schemeClr val="bg1"/>
                </a:solidFill>
              </a:rPr>
              <a:t> </a:t>
            </a:r>
            <a:r>
              <a:rPr lang="en-US" altLang="zh-CN" b="1">
                <a:solidFill>
                  <a:schemeClr val="accent2"/>
                </a:solidFill>
              </a:rPr>
              <a:t>(</a:t>
            </a:r>
            <a:r>
              <a:rPr lang="en-US" altLang="zh-CN" b="1" i="1">
                <a:solidFill>
                  <a:schemeClr val="accent2"/>
                </a:solidFill>
              </a:rPr>
              <a:t>x'</a:t>
            </a:r>
            <a:r>
              <a:rPr lang="en-US" altLang="zh-CN" b="1">
                <a:solidFill>
                  <a:schemeClr val="accent2"/>
                </a:solidFill>
              </a:rPr>
              <a:t>, </a:t>
            </a:r>
            <a:r>
              <a:rPr lang="en-US" altLang="zh-CN" b="1" i="1">
                <a:solidFill>
                  <a:schemeClr val="accent2"/>
                </a:solidFill>
              </a:rPr>
              <a:t>y'</a:t>
            </a:r>
            <a:r>
              <a:rPr lang="en-US" altLang="zh-CN" b="1">
                <a:solidFill>
                  <a:schemeClr val="accent2"/>
                </a:solidFill>
              </a:rPr>
              <a:t>, </a:t>
            </a:r>
            <a:r>
              <a:rPr lang="en-US" altLang="zh-CN" b="1" i="1">
                <a:solidFill>
                  <a:schemeClr val="accent2"/>
                </a:solidFill>
              </a:rPr>
              <a:t>z'</a:t>
            </a:r>
            <a:r>
              <a:rPr lang="en-US" altLang="zh-CN" b="1">
                <a:solidFill>
                  <a:schemeClr val="accent2"/>
                </a:solidFill>
              </a:rPr>
              <a:t> )</a:t>
            </a:r>
            <a:r>
              <a:rPr lang="en-US" altLang="zh-CN" b="1">
                <a:solidFill>
                  <a:srgbClr val="66FFFF"/>
                </a:solidFill>
              </a:rPr>
              <a:t> </a:t>
            </a:r>
            <a:r>
              <a:rPr lang="zh-CN" altLang="en-US" b="1">
                <a:solidFill>
                  <a:schemeClr val="bg1"/>
                </a:solidFill>
              </a:rPr>
              <a:t>的关系是线性的，这是因为一事件在两惯性系的坐标总是一一对应的，这是真实物理事件必须满足的。</a:t>
            </a:r>
          </a:p>
        </p:txBody>
      </p:sp>
      <p:sp>
        <p:nvSpPr>
          <p:cNvPr id="180239" name="Text Box 15"/>
          <p:cNvSpPr txBox="1">
            <a:spLocks noChangeArrowheads="1"/>
          </p:cNvSpPr>
          <p:nvPr/>
        </p:nvSpPr>
        <p:spPr bwMode="auto">
          <a:xfrm>
            <a:off x="482600" y="5184775"/>
            <a:ext cx="8326438" cy="1406525"/>
          </a:xfrm>
          <a:prstGeom prst="rect">
            <a:avLst/>
          </a:prstGeom>
          <a:noFill/>
          <a:ln w="9525">
            <a:noFill/>
            <a:miter lim="800000"/>
            <a:headEnd/>
            <a:tailEnd/>
          </a:ln>
        </p:spPr>
        <p:txBody>
          <a:bodyPr>
            <a:spAutoFit/>
          </a:bodyPr>
          <a:lstStyle/>
          <a:p>
            <a:pPr algn="l">
              <a:lnSpc>
                <a:spcPct val="120000"/>
              </a:lnSpc>
              <a:spcBef>
                <a:spcPct val="50000"/>
              </a:spcBef>
            </a:pPr>
            <a:r>
              <a:rPr kumimoji="0" lang="zh-CN" altLang="en-US" b="1">
                <a:solidFill>
                  <a:srgbClr val="CC0000"/>
                </a:solidFill>
              </a:rPr>
              <a:t>意义：</a:t>
            </a:r>
            <a:r>
              <a:rPr kumimoji="0" lang="zh-CN" altLang="en-US" b="1"/>
              <a:t>基本的物理定律应该在</a:t>
            </a:r>
            <a:r>
              <a:rPr kumimoji="0" lang="zh-CN" altLang="en-US" b="1">
                <a:solidFill>
                  <a:srgbClr val="CC0000"/>
                </a:solidFill>
              </a:rPr>
              <a:t>洛伦兹变换</a:t>
            </a:r>
            <a:r>
              <a:rPr kumimoji="0" lang="zh-CN" altLang="en-US" b="1"/>
              <a:t>下保持</a:t>
            </a:r>
            <a:r>
              <a:rPr kumimoji="0" lang="zh-CN" altLang="en-US" b="1">
                <a:solidFill>
                  <a:srgbClr val="CC0000"/>
                </a:solidFill>
              </a:rPr>
              <a:t>不变。</a:t>
            </a:r>
            <a:r>
              <a:rPr kumimoji="0" lang="zh-CN" altLang="en-US" b="1"/>
              <a:t>这种不变显示出物理定律对匀速直线运动的对称性</a:t>
            </a:r>
            <a:r>
              <a:rPr kumimoji="0" lang="en-US" altLang="zh-CN" b="1"/>
              <a:t> —— </a:t>
            </a:r>
            <a:r>
              <a:rPr kumimoji="0" lang="zh-CN" altLang="en-US" b="1">
                <a:solidFill>
                  <a:srgbClr val="CC0000"/>
                </a:solidFill>
              </a:rPr>
              <a:t>物理定律的对称性</a:t>
            </a:r>
            <a:r>
              <a:rPr kumimoji="0" lang="en-US" altLang="zh-CN" b="1"/>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80226"/>
                                        </p:tgtEl>
                                        <p:attrNameLst>
                                          <p:attrName>style.visibility</p:attrName>
                                        </p:attrNameLst>
                                      </p:cBhvr>
                                      <p:to>
                                        <p:strVal val="visible"/>
                                      </p:to>
                                    </p:set>
                                    <p:animEffect transition="in" filter="wipe(left)">
                                      <p:cBhvr>
                                        <p:cTn id="7" dur="500"/>
                                        <p:tgtEl>
                                          <p:spTgt spid="1802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0227"/>
                                        </p:tgtEl>
                                        <p:attrNameLst>
                                          <p:attrName>style.visibility</p:attrName>
                                        </p:attrNameLst>
                                      </p:cBhvr>
                                      <p:to>
                                        <p:strVal val="visible"/>
                                      </p:to>
                                    </p:set>
                                    <p:animEffect transition="in" filter="wipe(left)">
                                      <p:cBhvr>
                                        <p:cTn id="12" dur="500"/>
                                        <p:tgtEl>
                                          <p:spTgt spid="1802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80228"/>
                                        </p:tgtEl>
                                        <p:attrNameLst>
                                          <p:attrName>style.visibility</p:attrName>
                                        </p:attrNameLst>
                                      </p:cBhvr>
                                      <p:to>
                                        <p:strVal val="visible"/>
                                      </p:to>
                                    </p:set>
                                    <p:animEffect transition="in" filter="wipe(left)">
                                      <p:cBhvr>
                                        <p:cTn id="17" dur="500"/>
                                        <p:tgtEl>
                                          <p:spTgt spid="1802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80234"/>
                                        </p:tgtEl>
                                        <p:attrNameLst>
                                          <p:attrName>style.visibility</p:attrName>
                                        </p:attrNameLst>
                                      </p:cBhvr>
                                      <p:to>
                                        <p:strVal val="visible"/>
                                      </p:to>
                                    </p:set>
                                    <p:animEffect transition="in" filter="wipe(left)">
                                      <p:cBhvr>
                                        <p:cTn id="22" dur="500"/>
                                        <p:tgtEl>
                                          <p:spTgt spid="18023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0235"/>
                                        </p:tgtEl>
                                        <p:attrNameLst>
                                          <p:attrName>style.visibility</p:attrName>
                                        </p:attrNameLst>
                                      </p:cBhvr>
                                      <p:to>
                                        <p:strVal val="visible"/>
                                      </p:to>
                                    </p:set>
                                    <p:animEffect transition="in" filter="wipe(left)">
                                      <p:cBhvr>
                                        <p:cTn id="27" dur="500"/>
                                        <p:tgtEl>
                                          <p:spTgt spid="18023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80229"/>
                                        </p:tgtEl>
                                        <p:attrNameLst>
                                          <p:attrName>style.visibility</p:attrName>
                                        </p:attrNameLst>
                                      </p:cBhvr>
                                      <p:to>
                                        <p:strVal val="visible"/>
                                      </p:to>
                                    </p:set>
                                    <p:animEffect transition="in" filter="wipe(left)">
                                      <p:cBhvr>
                                        <p:cTn id="32" dur="500"/>
                                        <p:tgtEl>
                                          <p:spTgt spid="18022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80230"/>
                                        </p:tgtEl>
                                        <p:attrNameLst>
                                          <p:attrName>style.visibility</p:attrName>
                                        </p:attrNameLst>
                                      </p:cBhvr>
                                      <p:to>
                                        <p:strVal val="visible"/>
                                      </p:to>
                                    </p:set>
                                    <p:animEffect transition="in" filter="wipe(left)">
                                      <p:cBhvr>
                                        <p:cTn id="37" dur="500"/>
                                        <p:tgtEl>
                                          <p:spTgt spid="18023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80231"/>
                                        </p:tgtEl>
                                        <p:attrNameLst>
                                          <p:attrName>style.visibility</p:attrName>
                                        </p:attrNameLst>
                                      </p:cBhvr>
                                      <p:to>
                                        <p:strVal val="visible"/>
                                      </p:to>
                                    </p:set>
                                    <p:animEffect transition="in" filter="wipe(left)">
                                      <p:cBhvr>
                                        <p:cTn id="42" dur="500"/>
                                        <p:tgtEl>
                                          <p:spTgt spid="18023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80232"/>
                                        </p:tgtEl>
                                        <p:attrNameLst>
                                          <p:attrName>style.visibility</p:attrName>
                                        </p:attrNameLst>
                                      </p:cBhvr>
                                      <p:to>
                                        <p:strVal val="visible"/>
                                      </p:to>
                                    </p:set>
                                    <p:animEffect transition="in" filter="wipe(left)">
                                      <p:cBhvr>
                                        <p:cTn id="47" dur="500"/>
                                        <p:tgtEl>
                                          <p:spTgt spid="18023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80233"/>
                                        </p:tgtEl>
                                        <p:attrNameLst>
                                          <p:attrName>style.visibility</p:attrName>
                                        </p:attrNameLst>
                                      </p:cBhvr>
                                      <p:to>
                                        <p:strVal val="visible"/>
                                      </p:to>
                                    </p:set>
                                    <p:animEffect transition="in" filter="wipe(left)">
                                      <p:cBhvr>
                                        <p:cTn id="52" dur="500"/>
                                        <p:tgtEl>
                                          <p:spTgt spid="18023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80236"/>
                                        </p:tgtEl>
                                        <p:attrNameLst>
                                          <p:attrName>style.visibility</p:attrName>
                                        </p:attrNameLst>
                                      </p:cBhvr>
                                      <p:to>
                                        <p:strVal val="visible"/>
                                      </p:to>
                                    </p:set>
                                    <p:anim calcmode="lin" valueType="num">
                                      <p:cBhvr additive="base">
                                        <p:cTn id="57" dur="500" fill="hold"/>
                                        <p:tgtEl>
                                          <p:spTgt spid="180236"/>
                                        </p:tgtEl>
                                        <p:attrNameLst>
                                          <p:attrName>ppt_x</p:attrName>
                                        </p:attrNameLst>
                                      </p:cBhvr>
                                      <p:tavLst>
                                        <p:tav tm="0">
                                          <p:val>
                                            <p:strVal val="#ppt_x"/>
                                          </p:val>
                                        </p:tav>
                                        <p:tav tm="100000">
                                          <p:val>
                                            <p:strVal val="#ppt_x"/>
                                          </p:val>
                                        </p:tav>
                                      </p:tavLst>
                                    </p:anim>
                                    <p:anim calcmode="lin" valueType="num">
                                      <p:cBhvr additive="base">
                                        <p:cTn id="58" dur="500" fill="hold"/>
                                        <p:tgtEl>
                                          <p:spTgt spid="180236"/>
                                        </p:tgtEl>
                                        <p:attrNameLst>
                                          <p:attrName>ppt_y</p:attrName>
                                        </p:attrNameLst>
                                      </p:cBhvr>
                                      <p:tavLst>
                                        <p:tav tm="0">
                                          <p:val>
                                            <p:strVal val="1+#ppt_h/2"/>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80237"/>
                                        </p:tgtEl>
                                        <p:attrNameLst>
                                          <p:attrName>style.visibility</p:attrName>
                                        </p:attrNameLst>
                                      </p:cBhvr>
                                      <p:to>
                                        <p:strVal val="visible"/>
                                      </p:to>
                                    </p:set>
                                    <p:animEffect transition="in" filter="wipe(left)">
                                      <p:cBhvr>
                                        <p:cTn id="63" dur="1000"/>
                                        <p:tgtEl>
                                          <p:spTgt spid="180237"/>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80238"/>
                                        </p:tgtEl>
                                        <p:attrNameLst>
                                          <p:attrName>style.visibility</p:attrName>
                                        </p:attrNameLst>
                                      </p:cBhvr>
                                      <p:to>
                                        <p:strVal val="visible"/>
                                      </p:to>
                                    </p:set>
                                    <p:animEffect transition="in" filter="wipe(left)">
                                      <p:cBhvr>
                                        <p:cTn id="68" dur="500"/>
                                        <p:tgtEl>
                                          <p:spTgt spid="180238"/>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3" presetClass="entr" presetSubtype="5" fill="hold" grpId="0" nodeType="clickEffect">
                                  <p:stCondLst>
                                    <p:cond delay="0"/>
                                  </p:stCondLst>
                                  <p:childTnLst>
                                    <p:set>
                                      <p:cBhvr>
                                        <p:cTn id="72" dur="1" fill="hold">
                                          <p:stCondLst>
                                            <p:cond delay="0"/>
                                          </p:stCondLst>
                                        </p:cTn>
                                        <p:tgtEl>
                                          <p:spTgt spid="180239"/>
                                        </p:tgtEl>
                                        <p:attrNameLst>
                                          <p:attrName>style.visibility</p:attrName>
                                        </p:attrNameLst>
                                      </p:cBhvr>
                                      <p:to>
                                        <p:strVal val="visible"/>
                                      </p:to>
                                    </p:set>
                                    <p:animEffect transition="in" filter="blinds(vertical)">
                                      <p:cBhvr>
                                        <p:cTn id="73" dur="500"/>
                                        <p:tgtEl>
                                          <p:spTgt spid="180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7" grpId="0" animBg="1"/>
      <p:bldP spid="180230" grpId="0" autoUpdateAnimBg="0"/>
      <p:bldP spid="180233" grpId="0" autoUpdateAnimBg="0"/>
      <p:bldP spid="180235" grpId="0" animBg="1"/>
      <p:bldP spid="180236" grpId="0"/>
      <p:bldP spid="180237" grpId="0"/>
      <p:bldP spid="180238" grpId="0" autoUpdateAnimBg="0"/>
      <p:bldP spid="18023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1" name="Text Box 3"/>
          <p:cNvSpPr txBox="1">
            <a:spLocks noChangeArrowheads="1"/>
          </p:cNvSpPr>
          <p:nvPr/>
        </p:nvSpPr>
        <p:spPr bwMode="auto">
          <a:xfrm>
            <a:off x="161925" y="458788"/>
            <a:ext cx="8566150" cy="1357312"/>
          </a:xfrm>
          <a:prstGeom prst="rect">
            <a:avLst/>
          </a:prstGeom>
          <a:noFill/>
          <a:ln w="9525">
            <a:noFill/>
            <a:miter lim="800000"/>
            <a:headEnd/>
            <a:tailEnd/>
          </a:ln>
        </p:spPr>
        <p:txBody>
          <a:bodyPr>
            <a:spAutoFit/>
          </a:bodyPr>
          <a:lstStyle/>
          <a:p>
            <a:pPr algn="l">
              <a:lnSpc>
                <a:spcPct val="115000"/>
              </a:lnSpc>
            </a:pPr>
            <a:r>
              <a:rPr lang="zh-CN" altLang="en-US" b="1">
                <a:solidFill>
                  <a:schemeClr val="hlink"/>
                </a:solidFill>
              </a:rPr>
              <a:t>例</a:t>
            </a:r>
            <a:r>
              <a:rPr lang="en-US" altLang="zh-CN" b="1">
                <a:solidFill>
                  <a:schemeClr val="hlink"/>
                </a:solidFill>
              </a:rPr>
              <a:t>4 </a:t>
            </a:r>
            <a:r>
              <a:rPr lang="zh-CN" altLang="en-US" b="1">
                <a:solidFill>
                  <a:schemeClr val="bg1"/>
                </a:solidFill>
              </a:rPr>
              <a:t>北京和上海相距</a:t>
            </a:r>
            <a:r>
              <a:rPr lang="en-US" altLang="zh-CN" b="1">
                <a:solidFill>
                  <a:schemeClr val="bg1"/>
                </a:solidFill>
              </a:rPr>
              <a:t> </a:t>
            </a:r>
            <a:r>
              <a:rPr lang="en-US" altLang="zh-CN" b="1">
                <a:solidFill>
                  <a:srgbClr val="FF6600"/>
                </a:solidFill>
              </a:rPr>
              <a:t>1000 km </a:t>
            </a:r>
            <a:r>
              <a:rPr lang="zh-CN" altLang="en-US" b="1">
                <a:solidFill>
                  <a:schemeClr val="bg1"/>
                </a:solidFill>
              </a:rPr>
              <a:t>，北京站的甲火车先于上海站的乙火车</a:t>
            </a:r>
            <a:r>
              <a:rPr lang="en-US" altLang="zh-CN" b="1">
                <a:solidFill>
                  <a:schemeClr val="bg1"/>
                </a:solidFill>
              </a:rPr>
              <a:t> </a:t>
            </a:r>
            <a:r>
              <a:rPr lang="en-US" altLang="zh-CN" b="1">
                <a:solidFill>
                  <a:srgbClr val="FF6600"/>
                </a:solidFill>
              </a:rPr>
              <a:t>1.0×10 </a:t>
            </a:r>
            <a:r>
              <a:rPr lang="en-US" altLang="zh-CN" b="1" baseline="30000">
                <a:solidFill>
                  <a:srgbClr val="FF6600"/>
                </a:solidFill>
              </a:rPr>
              <a:t>-3 </a:t>
            </a:r>
            <a:r>
              <a:rPr lang="en-US" altLang="zh-CN" b="1">
                <a:solidFill>
                  <a:srgbClr val="FF6600"/>
                </a:solidFill>
              </a:rPr>
              <a:t>s</a:t>
            </a:r>
            <a:r>
              <a:rPr lang="en-US" altLang="zh-CN" b="1">
                <a:solidFill>
                  <a:srgbClr val="66FFFF"/>
                </a:solidFill>
              </a:rPr>
              <a:t> </a:t>
            </a:r>
            <a:r>
              <a:rPr lang="zh-CN" altLang="en-US" b="1">
                <a:solidFill>
                  <a:schemeClr val="bg1"/>
                </a:solidFill>
              </a:rPr>
              <a:t>发车。现有一艘飞船沿从北京到上海的方向从高空掠过，速率恒为</a:t>
            </a:r>
            <a:r>
              <a:rPr lang="en-US" altLang="zh-CN" b="1">
                <a:solidFill>
                  <a:schemeClr val="bg1"/>
                </a:solidFill>
              </a:rPr>
              <a:t> </a:t>
            </a:r>
            <a:r>
              <a:rPr lang="en-US" altLang="zh-CN" b="1" i="1">
                <a:solidFill>
                  <a:srgbClr val="FF6600"/>
                </a:solidFill>
              </a:rPr>
              <a:t>u </a:t>
            </a:r>
            <a:r>
              <a:rPr lang="en-US" altLang="zh-CN" b="1">
                <a:solidFill>
                  <a:srgbClr val="FF6600"/>
                </a:solidFill>
              </a:rPr>
              <a:t>= 0.6 </a:t>
            </a:r>
            <a:r>
              <a:rPr lang="en-US" altLang="zh-CN" b="1" i="1">
                <a:solidFill>
                  <a:srgbClr val="FF6600"/>
                </a:solidFill>
              </a:rPr>
              <a:t>c</a:t>
            </a:r>
            <a:r>
              <a:rPr lang="en-US" altLang="zh-CN" b="1" i="1">
                <a:solidFill>
                  <a:schemeClr val="bg1"/>
                </a:solidFill>
              </a:rPr>
              <a:t> </a:t>
            </a:r>
            <a:r>
              <a:rPr lang="zh-CN" altLang="en-US" b="1">
                <a:solidFill>
                  <a:schemeClr val="bg1"/>
                </a:solidFill>
              </a:rPr>
              <a:t>。</a:t>
            </a:r>
          </a:p>
        </p:txBody>
      </p:sp>
      <p:sp>
        <p:nvSpPr>
          <p:cNvPr id="181253" name="Text Box 5"/>
          <p:cNvSpPr txBox="1">
            <a:spLocks noChangeArrowheads="1"/>
          </p:cNvSpPr>
          <p:nvPr/>
        </p:nvSpPr>
        <p:spPr bwMode="auto">
          <a:xfrm>
            <a:off x="206375" y="1808163"/>
            <a:ext cx="8504238" cy="931862"/>
          </a:xfrm>
          <a:prstGeom prst="rect">
            <a:avLst/>
          </a:prstGeom>
          <a:noFill/>
          <a:ln w="9525">
            <a:noFill/>
            <a:miter lim="800000"/>
            <a:headEnd/>
            <a:tailEnd/>
          </a:ln>
        </p:spPr>
        <p:txBody>
          <a:bodyPr>
            <a:spAutoFit/>
          </a:bodyPr>
          <a:lstStyle/>
          <a:p>
            <a:pPr algn="l">
              <a:lnSpc>
                <a:spcPct val="115000"/>
              </a:lnSpc>
            </a:pPr>
            <a:r>
              <a:rPr lang="zh-CN" altLang="en-US" b="1">
                <a:solidFill>
                  <a:schemeClr val="hlink"/>
                </a:solidFill>
              </a:rPr>
              <a:t>求</a:t>
            </a:r>
            <a:r>
              <a:rPr lang="en-US" altLang="zh-CN" b="1">
                <a:solidFill>
                  <a:schemeClr val="hlink"/>
                </a:solidFill>
              </a:rPr>
              <a:t> </a:t>
            </a:r>
            <a:r>
              <a:rPr lang="zh-CN" altLang="en-US" b="1">
                <a:solidFill>
                  <a:schemeClr val="bg1"/>
                </a:solidFill>
              </a:rPr>
              <a:t>宇航员参考系中测得的甲乙两列火车发车的时间间隔，哪一列先开</a:t>
            </a:r>
            <a:r>
              <a:rPr lang="en-US" altLang="zh-CN" b="1">
                <a:solidFill>
                  <a:schemeClr val="bg1"/>
                </a:solidFill>
              </a:rPr>
              <a:t>?</a:t>
            </a:r>
          </a:p>
        </p:txBody>
      </p:sp>
      <p:sp>
        <p:nvSpPr>
          <p:cNvPr id="181254" name="Rectangle 6"/>
          <p:cNvSpPr>
            <a:spLocks noChangeArrowheads="1"/>
          </p:cNvSpPr>
          <p:nvPr/>
        </p:nvSpPr>
        <p:spPr bwMode="auto">
          <a:xfrm>
            <a:off x="161925" y="2663825"/>
            <a:ext cx="493713" cy="479425"/>
          </a:xfrm>
          <a:prstGeom prst="rect">
            <a:avLst/>
          </a:prstGeom>
          <a:noFill/>
          <a:ln w="9525">
            <a:noFill/>
            <a:miter lim="800000"/>
            <a:headEnd/>
            <a:tailEnd/>
          </a:ln>
        </p:spPr>
        <p:txBody>
          <a:bodyPr wrap="none">
            <a:spAutoFit/>
          </a:bodyPr>
          <a:lstStyle/>
          <a:p>
            <a:pPr>
              <a:lnSpc>
                <a:spcPct val="115000"/>
              </a:lnSpc>
            </a:pPr>
            <a:r>
              <a:rPr lang="zh-CN" altLang="en-US" b="1">
                <a:solidFill>
                  <a:schemeClr val="hlink"/>
                </a:solidFill>
              </a:rPr>
              <a:t>解</a:t>
            </a:r>
          </a:p>
        </p:txBody>
      </p:sp>
      <p:sp>
        <p:nvSpPr>
          <p:cNvPr id="181255" name="Rectangle 7"/>
          <p:cNvSpPr>
            <a:spLocks noChangeArrowheads="1"/>
          </p:cNvSpPr>
          <p:nvPr/>
        </p:nvSpPr>
        <p:spPr bwMode="auto">
          <a:xfrm>
            <a:off x="701675" y="2708275"/>
            <a:ext cx="8137525" cy="1354138"/>
          </a:xfrm>
          <a:prstGeom prst="rect">
            <a:avLst/>
          </a:prstGeom>
          <a:noFill/>
          <a:ln w="9525">
            <a:noFill/>
            <a:miter lim="800000"/>
            <a:headEnd/>
            <a:tailEnd/>
          </a:ln>
        </p:spPr>
        <p:txBody>
          <a:bodyPr>
            <a:spAutoFit/>
          </a:bodyPr>
          <a:lstStyle/>
          <a:p>
            <a:pPr algn="l">
              <a:lnSpc>
                <a:spcPct val="115000"/>
              </a:lnSpc>
            </a:pPr>
            <a:r>
              <a:rPr lang="zh-CN" altLang="en-US" b="1">
                <a:solidFill>
                  <a:schemeClr val="bg1"/>
                </a:solidFill>
              </a:rPr>
              <a:t>取地面为</a:t>
            </a:r>
            <a:r>
              <a:rPr lang="en-US" altLang="zh-CN" b="1">
                <a:solidFill>
                  <a:srgbClr val="66FFFF"/>
                </a:solidFill>
              </a:rPr>
              <a:t> </a:t>
            </a:r>
            <a:r>
              <a:rPr lang="en-US" altLang="zh-CN" b="1" i="1">
                <a:solidFill>
                  <a:srgbClr val="FF6600"/>
                </a:solidFill>
              </a:rPr>
              <a:t>S</a:t>
            </a:r>
            <a:r>
              <a:rPr lang="en-US" altLang="zh-CN" b="1">
                <a:solidFill>
                  <a:srgbClr val="66FFFF"/>
                </a:solidFill>
              </a:rPr>
              <a:t> </a:t>
            </a:r>
            <a:r>
              <a:rPr lang="zh-CN" altLang="en-US" b="1">
                <a:solidFill>
                  <a:schemeClr val="bg1"/>
                </a:solidFill>
              </a:rPr>
              <a:t>系，和飞船一起运动的参考系为</a:t>
            </a:r>
            <a:r>
              <a:rPr lang="en-US" altLang="zh-CN" b="1">
                <a:solidFill>
                  <a:schemeClr val="bg1"/>
                </a:solidFill>
              </a:rPr>
              <a:t> </a:t>
            </a:r>
            <a:r>
              <a:rPr lang="en-US" altLang="zh-CN" b="1" i="1">
                <a:solidFill>
                  <a:srgbClr val="FF6600"/>
                </a:solidFill>
              </a:rPr>
              <a:t>S</a:t>
            </a:r>
            <a:r>
              <a:rPr lang="en-US" altLang="zh-CN" b="1" i="1">
                <a:solidFill>
                  <a:srgbClr val="FF6600"/>
                </a:solidFill>
                <a:sym typeface="Symbol" pitchFamily="18" charset="2"/>
              </a:rPr>
              <a:t>'</a:t>
            </a:r>
            <a:r>
              <a:rPr lang="en-US" altLang="zh-CN" b="1">
                <a:solidFill>
                  <a:schemeClr val="bg1"/>
                </a:solidFill>
              </a:rPr>
              <a:t> </a:t>
            </a:r>
            <a:r>
              <a:rPr lang="zh-CN" altLang="en-US" b="1">
                <a:solidFill>
                  <a:schemeClr val="bg1"/>
                </a:solidFill>
              </a:rPr>
              <a:t>系，北京站</a:t>
            </a:r>
            <a:endParaRPr lang="en-US" altLang="zh-CN" b="1">
              <a:solidFill>
                <a:schemeClr val="bg1"/>
              </a:solidFill>
            </a:endParaRPr>
          </a:p>
          <a:p>
            <a:pPr algn="l">
              <a:lnSpc>
                <a:spcPct val="115000"/>
              </a:lnSpc>
            </a:pPr>
            <a:r>
              <a:rPr lang="zh-CN" altLang="en-US" b="1">
                <a:solidFill>
                  <a:schemeClr val="bg1"/>
                </a:solidFill>
              </a:rPr>
              <a:t>为坐标原点，北京至上海方</a:t>
            </a:r>
            <a:endParaRPr lang="en-US" altLang="zh-CN" b="1">
              <a:solidFill>
                <a:schemeClr val="bg1"/>
              </a:solidFill>
            </a:endParaRPr>
          </a:p>
          <a:p>
            <a:pPr algn="l">
              <a:lnSpc>
                <a:spcPct val="115000"/>
              </a:lnSpc>
            </a:pPr>
            <a:r>
              <a:rPr lang="zh-CN" altLang="en-US" b="1">
                <a:solidFill>
                  <a:schemeClr val="bg1"/>
                </a:solidFill>
              </a:rPr>
              <a:t>向为</a:t>
            </a:r>
            <a:r>
              <a:rPr lang="en-US" altLang="zh-CN" b="1" i="1">
                <a:solidFill>
                  <a:schemeClr val="bg1"/>
                </a:solidFill>
              </a:rPr>
              <a:t> </a:t>
            </a:r>
            <a:r>
              <a:rPr lang="en-US" altLang="zh-CN" b="1" i="1">
                <a:solidFill>
                  <a:srgbClr val="FF6600"/>
                </a:solidFill>
              </a:rPr>
              <a:t>x</a:t>
            </a:r>
            <a:r>
              <a:rPr lang="en-US" altLang="zh-CN" b="1">
                <a:solidFill>
                  <a:schemeClr val="bg1"/>
                </a:solidFill>
              </a:rPr>
              <a:t> </a:t>
            </a:r>
            <a:r>
              <a:rPr lang="zh-CN" altLang="en-US" b="1">
                <a:solidFill>
                  <a:schemeClr val="bg1"/>
                </a:solidFill>
              </a:rPr>
              <a:t>轴正方向，依题意有</a:t>
            </a:r>
          </a:p>
        </p:txBody>
      </p:sp>
      <p:pic>
        <p:nvPicPr>
          <p:cNvPr id="181256" name="Picture 8" descr="j0802"/>
          <p:cNvPicPr>
            <a:picLocks noChangeAspect="1" noChangeArrowheads="1"/>
          </p:cNvPicPr>
          <p:nvPr/>
        </p:nvPicPr>
        <p:blipFill>
          <a:blip r:embed="rId3"/>
          <a:srcRect l="34506" r="26711" b="10342"/>
          <a:stretch>
            <a:fillRect/>
          </a:stretch>
        </p:blipFill>
        <p:spPr bwMode="auto">
          <a:xfrm>
            <a:off x="7566025" y="4410075"/>
            <a:ext cx="349250" cy="1008063"/>
          </a:xfrm>
          <a:prstGeom prst="rect">
            <a:avLst/>
          </a:prstGeom>
          <a:noFill/>
          <a:ln w="9525">
            <a:noFill/>
            <a:miter lim="800000"/>
            <a:headEnd/>
            <a:tailEnd/>
          </a:ln>
        </p:spPr>
      </p:pic>
      <p:pic>
        <p:nvPicPr>
          <p:cNvPr id="181257" name="Picture 9" descr="tam1a"/>
          <p:cNvPicPr>
            <a:picLocks noChangeAspect="1" noChangeArrowheads="1"/>
          </p:cNvPicPr>
          <p:nvPr/>
        </p:nvPicPr>
        <p:blipFill>
          <a:blip r:embed="rId4"/>
          <a:srcRect l="14099" t="13971" r="9538" b="27766"/>
          <a:stretch>
            <a:fillRect/>
          </a:stretch>
        </p:blipFill>
        <p:spPr bwMode="auto">
          <a:xfrm>
            <a:off x="5129213" y="4646613"/>
            <a:ext cx="879475" cy="501650"/>
          </a:xfrm>
          <a:prstGeom prst="rect">
            <a:avLst/>
          </a:prstGeom>
          <a:noFill/>
          <a:ln w="9525">
            <a:noFill/>
            <a:miter lim="800000"/>
            <a:headEnd/>
            <a:tailEnd/>
          </a:ln>
        </p:spPr>
      </p:pic>
      <p:pic>
        <p:nvPicPr>
          <p:cNvPr id="181258" name="Picture 10" descr="x-33htfj05"/>
          <p:cNvPicPr>
            <a:picLocks noChangeAspect="1" noChangeArrowheads="1"/>
          </p:cNvPicPr>
          <p:nvPr/>
        </p:nvPicPr>
        <p:blipFill>
          <a:blip r:embed="rId5">
            <a:clrChange>
              <a:clrFrom>
                <a:srgbClr val="000000"/>
              </a:clrFrom>
              <a:clrTo>
                <a:srgbClr val="000000">
                  <a:alpha val="0"/>
                </a:srgbClr>
              </a:clrTo>
            </a:clrChange>
          </a:blip>
          <a:srcRect l="919" t="11157" b="20020"/>
          <a:stretch>
            <a:fillRect/>
          </a:stretch>
        </p:blipFill>
        <p:spPr bwMode="auto">
          <a:xfrm>
            <a:off x="6176963" y="3943350"/>
            <a:ext cx="965200" cy="450850"/>
          </a:xfrm>
          <a:prstGeom prst="rect">
            <a:avLst/>
          </a:prstGeom>
          <a:noFill/>
          <a:ln w="9525">
            <a:noFill/>
            <a:miter lim="800000"/>
            <a:headEnd/>
            <a:tailEnd/>
          </a:ln>
        </p:spPr>
      </p:pic>
      <p:sp>
        <p:nvSpPr>
          <p:cNvPr id="181259" name="Text Box 11"/>
          <p:cNvSpPr txBox="1">
            <a:spLocks noChangeArrowheads="1"/>
          </p:cNvSpPr>
          <p:nvPr/>
        </p:nvSpPr>
        <p:spPr bwMode="auto">
          <a:xfrm>
            <a:off x="5359400" y="5040313"/>
            <a:ext cx="368300" cy="442912"/>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FF"/>
                </a:solidFill>
              </a:rPr>
              <a:t>O</a:t>
            </a:r>
            <a:endParaRPr lang="en-US" altLang="zh-CN" sz="2000">
              <a:solidFill>
                <a:srgbClr val="0000FF"/>
              </a:solidFill>
            </a:endParaRPr>
          </a:p>
        </p:txBody>
      </p:sp>
      <p:sp>
        <p:nvSpPr>
          <p:cNvPr id="181260" name="Text Box 12"/>
          <p:cNvSpPr txBox="1">
            <a:spLocks noChangeArrowheads="1"/>
          </p:cNvSpPr>
          <p:nvPr/>
        </p:nvSpPr>
        <p:spPr bwMode="auto">
          <a:xfrm>
            <a:off x="8251825" y="4894263"/>
            <a:ext cx="311150" cy="442912"/>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FF"/>
                </a:solidFill>
              </a:rPr>
              <a:t>x</a:t>
            </a:r>
            <a:endParaRPr lang="en-US" altLang="zh-CN" sz="2000">
              <a:solidFill>
                <a:srgbClr val="0000FF"/>
              </a:solidFill>
            </a:endParaRPr>
          </a:p>
        </p:txBody>
      </p:sp>
      <p:grpSp>
        <p:nvGrpSpPr>
          <p:cNvPr id="2" name="Group 13"/>
          <p:cNvGrpSpPr>
            <a:grpSpLocks/>
          </p:cNvGrpSpPr>
          <p:nvPr/>
        </p:nvGrpSpPr>
        <p:grpSpPr bwMode="auto">
          <a:xfrm>
            <a:off x="6146800" y="3370263"/>
            <a:ext cx="1430338" cy="1231900"/>
            <a:chOff x="4610" y="2722"/>
            <a:chExt cx="901" cy="776"/>
          </a:xfrm>
        </p:grpSpPr>
        <p:sp>
          <p:nvSpPr>
            <p:cNvPr id="16409" name="Text Box 14"/>
            <p:cNvSpPr txBox="1">
              <a:spLocks noChangeArrowheads="1"/>
            </p:cNvSpPr>
            <p:nvPr/>
          </p:nvSpPr>
          <p:spPr bwMode="auto">
            <a:xfrm>
              <a:off x="4610" y="2722"/>
              <a:ext cx="297" cy="323"/>
            </a:xfrm>
            <a:prstGeom prst="rect">
              <a:avLst/>
            </a:prstGeom>
            <a:noFill/>
            <a:ln w="9525">
              <a:noFill/>
              <a:miter lim="800000"/>
              <a:headEnd/>
              <a:tailEnd/>
            </a:ln>
          </p:spPr>
          <p:txBody>
            <a:bodyPr wrap="none">
              <a:spAutoFit/>
            </a:bodyPr>
            <a:lstStyle/>
            <a:p>
              <a:pPr algn="l">
                <a:lnSpc>
                  <a:spcPct val="115000"/>
                </a:lnSpc>
              </a:pPr>
              <a:r>
                <a:rPr lang="en-US" altLang="zh-CN" sz="2000" b="1" i="1"/>
                <a:t>S'</a:t>
              </a:r>
              <a:r>
                <a:rPr lang="en-US" altLang="zh-CN" b="1">
                  <a:solidFill>
                    <a:srgbClr val="66FF33"/>
                  </a:solidFill>
                </a:rPr>
                <a:t> </a:t>
              </a:r>
            </a:p>
          </p:txBody>
        </p:sp>
        <p:sp>
          <p:nvSpPr>
            <p:cNvPr id="16410" name="Text Box 15"/>
            <p:cNvSpPr txBox="1">
              <a:spLocks noChangeArrowheads="1"/>
            </p:cNvSpPr>
            <p:nvPr/>
          </p:nvSpPr>
          <p:spPr bwMode="auto">
            <a:xfrm>
              <a:off x="4830" y="3175"/>
              <a:ext cx="324" cy="323"/>
            </a:xfrm>
            <a:prstGeom prst="rect">
              <a:avLst/>
            </a:prstGeom>
            <a:noFill/>
            <a:ln w="9525">
              <a:noFill/>
              <a:miter lim="800000"/>
              <a:headEnd/>
              <a:tailEnd/>
            </a:ln>
          </p:spPr>
          <p:txBody>
            <a:bodyPr wrap="none">
              <a:spAutoFit/>
            </a:bodyPr>
            <a:lstStyle/>
            <a:p>
              <a:pPr algn="l">
                <a:lnSpc>
                  <a:spcPct val="115000"/>
                </a:lnSpc>
              </a:pPr>
              <a:r>
                <a:rPr lang="en-US" altLang="zh-CN" sz="2000" b="1" i="1"/>
                <a:t>O'</a:t>
              </a:r>
              <a:r>
                <a:rPr lang="en-US" altLang="zh-CN" b="1">
                  <a:solidFill>
                    <a:srgbClr val="66FF33"/>
                  </a:solidFill>
                </a:rPr>
                <a:t> </a:t>
              </a:r>
              <a:endParaRPr lang="en-US" altLang="zh-CN" sz="2800" b="1" i="1">
                <a:solidFill>
                  <a:srgbClr val="66FF33"/>
                </a:solidFill>
              </a:endParaRPr>
            </a:p>
          </p:txBody>
        </p:sp>
        <p:sp>
          <p:nvSpPr>
            <p:cNvPr id="16411" name="Line 16"/>
            <p:cNvSpPr>
              <a:spLocks noChangeShapeType="1"/>
            </p:cNvSpPr>
            <p:nvPr/>
          </p:nvSpPr>
          <p:spPr bwMode="auto">
            <a:xfrm flipH="1">
              <a:off x="4748" y="3205"/>
              <a:ext cx="175" cy="159"/>
            </a:xfrm>
            <a:prstGeom prst="line">
              <a:avLst/>
            </a:prstGeom>
            <a:noFill/>
            <a:ln w="19050">
              <a:solidFill>
                <a:schemeClr val="tx1"/>
              </a:solidFill>
              <a:round/>
              <a:headEnd/>
              <a:tailEnd type="triangle" w="med" len="lg"/>
            </a:ln>
          </p:spPr>
          <p:txBody>
            <a:bodyPr wrap="none" anchor="ctr"/>
            <a:lstStyle/>
            <a:p>
              <a:endParaRPr lang="zh-CN" altLang="en-US"/>
            </a:p>
          </p:txBody>
        </p:sp>
        <p:sp>
          <p:nvSpPr>
            <p:cNvPr id="16412" name="Line 17"/>
            <p:cNvSpPr>
              <a:spLocks noChangeShapeType="1"/>
            </p:cNvSpPr>
            <p:nvPr/>
          </p:nvSpPr>
          <p:spPr bwMode="auto">
            <a:xfrm flipV="1">
              <a:off x="4926" y="2795"/>
              <a:ext cx="0" cy="411"/>
            </a:xfrm>
            <a:prstGeom prst="line">
              <a:avLst/>
            </a:prstGeom>
            <a:noFill/>
            <a:ln w="19050">
              <a:solidFill>
                <a:schemeClr val="tx1"/>
              </a:solidFill>
              <a:round/>
              <a:headEnd/>
              <a:tailEnd type="triangle" w="med" len="lg"/>
            </a:ln>
          </p:spPr>
          <p:txBody>
            <a:bodyPr wrap="none" anchor="ctr"/>
            <a:lstStyle/>
            <a:p>
              <a:endParaRPr lang="zh-CN" altLang="en-US"/>
            </a:p>
          </p:txBody>
        </p:sp>
        <p:sp>
          <p:nvSpPr>
            <p:cNvPr id="16413" name="Line 18"/>
            <p:cNvSpPr>
              <a:spLocks noChangeShapeType="1"/>
            </p:cNvSpPr>
            <p:nvPr/>
          </p:nvSpPr>
          <p:spPr bwMode="auto">
            <a:xfrm>
              <a:off x="4922" y="3206"/>
              <a:ext cx="589" cy="0"/>
            </a:xfrm>
            <a:prstGeom prst="line">
              <a:avLst/>
            </a:prstGeom>
            <a:noFill/>
            <a:ln w="19050">
              <a:solidFill>
                <a:schemeClr val="bg1"/>
              </a:solidFill>
              <a:round/>
              <a:headEnd/>
              <a:tailEnd type="triangle" w="med" len="lg"/>
            </a:ln>
          </p:spPr>
          <p:txBody>
            <a:bodyPr wrap="none" anchor="ctr"/>
            <a:lstStyle/>
            <a:p>
              <a:endParaRPr lang="zh-CN" altLang="en-US"/>
            </a:p>
          </p:txBody>
        </p:sp>
      </p:grpSp>
      <p:graphicFrame>
        <p:nvGraphicFramePr>
          <p:cNvPr id="181267" name="Object 19"/>
          <p:cNvGraphicFramePr>
            <a:graphicFrameLocks noChangeAspect="1"/>
          </p:cNvGraphicFramePr>
          <p:nvPr/>
        </p:nvGraphicFramePr>
        <p:xfrm>
          <a:off x="881063" y="5184775"/>
          <a:ext cx="3114675" cy="495300"/>
        </p:xfrm>
        <a:graphic>
          <a:graphicData uri="http://schemas.openxmlformats.org/presentationml/2006/ole">
            <p:oleObj spid="_x0000_s16386" name="公式" r:id="rId6" imgW="1206500" imgH="203200" progId="Equation.3">
              <p:embed/>
            </p:oleObj>
          </a:graphicData>
        </a:graphic>
      </p:graphicFrame>
      <p:graphicFrame>
        <p:nvGraphicFramePr>
          <p:cNvPr id="181268" name="Object 20"/>
          <p:cNvGraphicFramePr>
            <a:graphicFrameLocks noChangeAspect="1"/>
          </p:cNvGraphicFramePr>
          <p:nvPr/>
        </p:nvGraphicFramePr>
        <p:xfrm>
          <a:off x="1062038" y="4419600"/>
          <a:ext cx="2746375" cy="500063"/>
        </p:xfrm>
        <a:graphic>
          <a:graphicData uri="http://schemas.openxmlformats.org/presentationml/2006/ole">
            <p:oleObj spid="_x0000_s16387" name="公式" r:id="rId7" imgW="1040948" imgH="203112" progId="Equation.3">
              <p:embed/>
            </p:oleObj>
          </a:graphicData>
        </a:graphic>
      </p:graphicFrame>
      <p:grpSp>
        <p:nvGrpSpPr>
          <p:cNvPr id="3" name="Group 21"/>
          <p:cNvGrpSpPr>
            <a:grpSpLocks/>
          </p:cNvGrpSpPr>
          <p:nvPr/>
        </p:nvGrpSpPr>
        <p:grpSpPr bwMode="auto">
          <a:xfrm>
            <a:off x="4913313" y="3159125"/>
            <a:ext cx="3657600" cy="2505075"/>
            <a:chOff x="3173" y="2531"/>
            <a:chExt cx="2304" cy="1578"/>
          </a:xfrm>
        </p:grpSpPr>
        <p:sp>
          <p:nvSpPr>
            <p:cNvPr id="16403" name="Line 22"/>
            <p:cNvSpPr>
              <a:spLocks noChangeShapeType="1"/>
            </p:cNvSpPr>
            <p:nvPr/>
          </p:nvSpPr>
          <p:spPr bwMode="auto">
            <a:xfrm>
              <a:off x="3557" y="3675"/>
              <a:ext cx="1920" cy="0"/>
            </a:xfrm>
            <a:prstGeom prst="line">
              <a:avLst/>
            </a:prstGeom>
            <a:noFill/>
            <a:ln w="19050">
              <a:solidFill>
                <a:srgbClr val="0000FF"/>
              </a:solidFill>
              <a:round/>
              <a:headEnd/>
              <a:tailEnd type="triangle" w="med" len="lg"/>
            </a:ln>
          </p:spPr>
          <p:txBody>
            <a:bodyPr wrap="none" anchor="ctr"/>
            <a:lstStyle/>
            <a:p>
              <a:endParaRPr lang="zh-CN" altLang="en-US"/>
            </a:p>
          </p:txBody>
        </p:sp>
        <p:sp>
          <p:nvSpPr>
            <p:cNvPr id="16404" name="Line 23"/>
            <p:cNvSpPr>
              <a:spLocks noChangeShapeType="1"/>
            </p:cNvSpPr>
            <p:nvPr/>
          </p:nvSpPr>
          <p:spPr bwMode="auto">
            <a:xfrm flipH="1">
              <a:off x="3173" y="3666"/>
              <a:ext cx="384" cy="345"/>
            </a:xfrm>
            <a:prstGeom prst="line">
              <a:avLst/>
            </a:prstGeom>
            <a:noFill/>
            <a:ln w="19050">
              <a:solidFill>
                <a:srgbClr val="0000FF"/>
              </a:solidFill>
              <a:round/>
              <a:headEnd/>
              <a:tailEnd type="triangle" w="med" len="lg"/>
            </a:ln>
          </p:spPr>
          <p:txBody>
            <a:bodyPr wrap="none" anchor="ctr"/>
            <a:lstStyle/>
            <a:p>
              <a:endParaRPr lang="zh-CN" altLang="en-US"/>
            </a:p>
          </p:txBody>
        </p:sp>
        <p:sp>
          <p:nvSpPr>
            <p:cNvPr id="16405" name="Line 24"/>
            <p:cNvSpPr>
              <a:spLocks noChangeShapeType="1"/>
            </p:cNvSpPr>
            <p:nvPr/>
          </p:nvSpPr>
          <p:spPr bwMode="auto">
            <a:xfrm flipV="1">
              <a:off x="3557" y="2610"/>
              <a:ext cx="0" cy="1065"/>
            </a:xfrm>
            <a:prstGeom prst="line">
              <a:avLst/>
            </a:prstGeom>
            <a:noFill/>
            <a:ln w="19050">
              <a:solidFill>
                <a:srgbClr val="0000FF"/>
              </a:solidFill>
              <a:round/>
              <a:headEnd/>
              <a:tailEnd type="triangle" w="med" len="lg"/>
            </a:ln>
          </p:spPr>
          <p:txBody>
            <a:bodyPr wrap="none" anchor="ctr"/>
            <a:lstStyle/>
            <a:p>
              <a:endParaRPr lang="zh-CN" altLang="en-US"/>
            </a:p>
          </p:txBody>
        </p:sp>
        <p:sp>
          <p:nvSpPr>
            <p:cNvPr id="16406" name="Text Box 25"/>
            <p:cNvSpPr txBox="1">
              <a:spLocks noChangeArrowheads="1"/>
            </p:cNvSpPr>
            <p:nvPr/>
          </p:nvSpPr>
          <p:spPr bwMode="auto">
            <a:xfrm>
              <a:off x="3269" y="2779"/>
              <a:ext cx="241" cy="279"/>
            </a:xfrm>
            <a:prstGeom prst="rect">
              <a:avLst/>
            </a:prstGeom>
            <a:noFill/>
            <a:ln w="9525">
              <a:noFill/>
              <a:miter lim="800000"/>
              <a:headEnd/>
              <a:tailEnd/>
            </a:ln>
          </p:spPr>
          <p:txBody>
            <a:bodyPr>
              <a:spAutoFit/>
            </a:bodyPr>
            <a:lstStyle/>
            <a:p>
              <a:pPr algn="l">
                <a:lnSpc>
                  <a:spcPct val="115000"/>
                </a:lnSpc>
              </a:pPr>
              <a:r>
                <a:rPr lang="en-US" altLang="zh-CN" sz="2000" b="1" i="1">
                  <a:solidFill>
                    <a:srgbClr val="0000FF"/>
                  </a:solidFill>
                </a:rPr>
                <a:t>S</a:t>
              </a:r>
              <a:endParaRPr lang="en-US" altLang="zh-CN" sz="2000">
                <a:solidFill>
                  <a:srgbClr val="0000FF"/>
                </a:solidFill>
              </a:endParaRPr>
            </a:p>
          </p:txBody>
        </p:sp>
        <p:sp>
          <p:nvSpPr>
            <p:cNvPr id="16407" name="Text Box 26"/>
            <p:cNvSpPr txBox="1">
              <a:spLocks noChangeArrowheads="1"/>
            </p:cNvSpPr>
            <p:nvPr/>
          </p:nvSpPr>
          <p:spPr bwMode="auto">
            <a:xfrm>
              <a:off x="3279" y="3830"/>
              <a:ext cx="178"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FF"/>
                  </a:solidFill>
                </a:rPr>
                <a:t>z</a:t>
              </a:r>
              <a:endParaRPr lang="en-US" altLang="zh-CN" sz="2000">
                <a:solidFill>
                  <a:srgbClr val="0000FF"/>
                </a:solidFill>
              </a:endParaRPr>
            </a:p>
          </p:txBody>
        </p:sp>
        <p:sp>
          <p:nvSpPr>
            <p:cNvPr id="16408" name="Text Box 27"/>
            <p:cNvSpPr txBox="1">
              <a:spLocks noChangeArrowheads="1"/>
            </p:cNvSpPr>
            <p:nvPr/>
          </p:nvSpPr>
          <p:spPr bwMode="auto">
            <a:xfrm>
              <a:off x="3606" y="2531"/>
              <a:ext cx="187"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FF"/>
                  </a:solidFill>
                </a:rPr>
                <a:t>y</a:t>
              </a:r>
              <a:endParaRPr lang="en-US" altLang="zh-CN" sz="2000">
                <a:solidFill>
                  <a:srgbClr val="0000FF"/>
                </a:solidFill>
              </a:endParaRPr>
            </a:p>
          </p:txBody>
        </p:sp>
      </p:grpSp>
      <p:grpSp>
        <p:nvGrpSpPr>
          <p:cNvPr id="4" name="Group 28"/>
          <p:cNvGrpSpPr>
            <a:grpSpLocks/>
          </p:cNvGrpSpPr>
          <p:nvPr/>
        </p:nvGrpSpPr>
        <p:grpSpPr bwMode="auto">
          <a:xfrm>
            <a:off x="6662738" y="3440113"/>
            <a:ext cx="519112" cy="396875"/>
            <a:chOff x="2562" y="459"/>
            <a:chExt cx="327" cy="250"/>
          </a:xfrm>
        </p:grpSpPr>
        <p:sp>
          <p:nvSpPr>
            <p:cNvPr id="16402" name="Line 29"/>
            <p:cNvSpPr>
              <a:spLocks noChangeShapeType="1"/>
            </p:cNvSpPr>
            <p:nvPr/>
          </p:nvSpPr>
          <p:spPr bwMode="auto">
            <a:xfrm>
              <a:off x="2562" y="709"/>
              <a:ext cx="327" cy="0"/>
            </a:xfrm>
            <a:prstGeom prst="line">
              <a:avLst/>
            </a:prstGeom>
            <a:noFill/>
            <a:ln w="28575">
              <a:solidFill>
                <a:schemeClr val="hlink"/>
              </a:solidFill>
              <a:round/>
              <a:headEnd/>
              <a:tailEnd type="triangle" w="sm" len="lg"/>
            </a:ln>
          </p:spPr>
          <p:txBody>
            <a:bodyPr wrap="none" anchor="ctr"/>
            <a:lstStyle/>
            <a:p>
              <a:endParaRPr lang="zh-CN" altLang="en-US"/>
            </a:p>
          </p:txBody>
        </p:sp>
        <p:graphicFrame>
          <p:nvGraphicFramePr>
            <p:cNvPr id="16388" name="Object 30"/>
            <p:cNvGraphicFramePr>
              <a:graphicFrameLocks noChangeAspect="1"/>
            </p:cNvGraphicFramePr>
            <p:nvPr/>
          </p:nvGraphicFramePr>
          <p:xfrm>
            <a:off x="2736" y="459"/>
            <a:ext cx="144" cy="192"/>
          </p:xfrm>
          <a:graphic>
            <a:graphicData uri="http://schemas.openxmlformats.org/presentationml/2006/ole">
              <p:oleObj spid="_x0000_s16388" name="公式" r:id="rId8" imgW="228501" imgH="304668" progId="Equation.3">
                <p:embed/>
              </p:oleObj>
            </a:graphicData>
          </a:graphic>
        </p:graphicFrame>
      </p:grpSp>
      <p:sp>
        <p:nvSpPr>
          <p:cNvPr id="181279" name="Oval 31"/>
          <p:cNvSpPr>
            <a:spLocks noChangeArrowheads="1"/>
          </p:cNvSpPr>
          <p:nvPr/>
        </p:nvSpPr>
        <p:spPr bwMode="auto">
          <a:xfrm>
            <a:off x="7683500" y="4921250"/>
            <a:ext cx="100013" cy="100013"/>
          </a:xfrm>
          <a:prstGeom prst="ellipse">
            <a:avLst/>
          </a:prstGeom>
          <a:solidFill>
            <a:schemeClr val="hlink"/>
          </a:solidFill>
          <a:ln w="9525">
            <a:solidFill>
              <a:schemeClr val="tx1"/>
            </a:solidFill>
            <a:round/>
            <a:headEnd/>
            <a:tailE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1251"/>
                                        </p:tgtEl>
                                        <p:attrNameLst>
                                          <p:attrName>style.visibility</p:attrName>
                                        </p:attrNameLst>
                                      </p:cBhvr>
                                      <p:to>
                                        <p:strVal val="visible"/>
                                      </p:to>
                                    </p:set>
                                    <p:animEffect transition="in" filter="wipe(left)">
                                      <p:cBhvr>
                                        <p:cTn id="7" dur="500"/>
                                        <p:tgtEl>
                                          <p:spTgt spid="1812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1253"/>
                                        </p:tgtEl>
                                        <p:attrNameLst>
                                          <p:attrName>style.visibility</p:attrName>
                                        </p:attrNameLst>
                                      </p:cBhvr>
                                      <p:to>
                                        <p:strVal val="visible"/>
                                      </p:to>
                                    </p:set>
                                    <p:animEffect transition="in" filter="wipe(left)">
                                      <p:cBhvr>
                                        <p:cTn id="12" dur="500"/>
                                        <p:tgtEl>
                                          <p:spTgt spid="1812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1254"/>
                                        </p:tgtEl>
                                        <p:attrNameLst>
                                          <p:attrName>style.visibility</p:attrName>
                                        </p:attrNameLst>
                                      </p:cBhvr>
                                      <p:to>
                                        <p:strVal val="visible"/>
                                      </p:to>
                                    </p:set>
                                    <p:animEffect transition="in" filter="wipe(left)">
                                      <p:cBhvr>
                                        <p:cTn id="17" dur="500"/>
                                        <p:tgtEl>
                                          <p:spTgt spid="1812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181257"/>
                                        </p:tgtEl>
                                        <p:attrNameLst>
                                          <p:attrName>style.visibility</p:attrName>
                                        </p:attrNameLst>
                                      </p:cBhvr>
                                      <p:to>
                                        <p:strVal val="visible"/>
                                      </p:to>
                                    </p:set>
                                  </p:childTnLst>
                                </p:cTn>
                              </p:par>
                            </p:childTnLst>
                          </p:cTn>
                        </p:par>
                        <p:par>
                          <p:cTn id="22" fill="hold" nodeType="afterGroup">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181259"/>
                                        </p:tgtEl>
                                        <p:attrNameLst>
                                          <p:attrName>style.visibility</p:attrName>
                                        </p:attrNameLst>
                                      </p:cBhvr>
                                      <p:to>
                                        <p:strVal val="visible"/>
                                      </p:to>
                                    </p:set>
                                  </p:childTnLst>
                                </p:cTn>
                              </p:par>
                            </p:childTnLst>
                          </p:cTn>
                        </p:par>
                        <p:par>
                          <p:cTn id="25" fill="hold" nodeType="afterGroup">
                            <p:stCondLst>
                              <p:cond delay="0"/>
                            </p:stCondLst>
                            <p:childTnLst>
                              <p:par>
                                <p:cTn id="26" presetID="23" presetClass="entr" presetSubtype="16" fill="hold" nodeType="afterEffect">
                                  <p:stCondLst>
                                    <p:cond delay="0"/>
                                  </p:stCondLst>
                                  <p:childTnLst>
                                    <p:set>
                                      <p:cBhvr>
                                        <p:cTn id="27" dur="1" fill="hold">
                                          <p:stCondLst>
                                            <p:cond delay="0"/>
                                          </p:stCondLst>
                                        </p:cTn>
                                        <p:tgtEl>
                                          <p:spTgt spid="181256"/>
                                        </p:tgtEl>
                                        <p:attrNameLst>
                                          <p:attrName>style.visibility</p:attrName>
                                        </p:attrNameLst>
                                      </p:cBhvr>
                                      <p:to>
                                        <p:strVal val="visible"/>
                                      </p:to>
                                    </p:set>
                                    <p:anim calcmode="lin" valueType="num">
                                      <p:cBhvr>
                                        <p:cTn id="28" dur="500" fill="hold"/>
                                        <p:tgtEl>
                                          <p:spTgt spid="181256"/>
                                        </p:tgtEl>
                                        <p:attrNameLst>
                                          <p:attrName>ppt_w</p:attrName>
                                        </p:attrNameLst>
                                      </p:cBhvr>
                                      <p:tavLst>
                                        <p:tav tm="0">
                                          <p:val>
                                            <p:fltVal val="0"/>
                                          </p:val>
                                        </p:tav>
                                        <p:tav tm="100000">
                                          <p:val>
                                            <p:strVal val="#ppt_w"/>
                                          </p:val>
                                        </p:tav>
                                      </p:tavLst>
                                    </p:anim>
                                    <p:anim calcmode="lin" valueType="num">
                                      <p:cBhvr>
                                        <p:cTn id="29" dur="500" fill="hold"/>
                                        <p:tgtEl>
                                          <p:spTgt spid="181256"/>
                                        </p:tgtEl>
                                        <p:attrNameLst>
                                          <p:attrName>ppt_h</p:attrName>
                                        </p:attrNameLst>
                                      </p:cBhvr>
                                      <p:tavLst>
                                        <p:tav tm="0">
                                          <p:val>
                                            <p:fltVal val="0"/>
                                          </p:val>
                                        </p:tav>
                                        <p:tav tm="100000">
                                          <p:val>
                                            <p:strVal val="#ppt_h"/>
                                          </p:val>
                                        </p:tav>
                                      </p:tavLst>
                                    </p:anim>
                                  </p:childTnLst>
                                </p:cTn>
                              </p:par>
                            </p:childTnLst>
                          </p:cTn>
                        </p:par>
                        <p:par>
                          <p:cTn id="30" fill="hold" nodeType="afterGroup">
                            <p:stCondLst>
                              <p:cond delay="500"/>
                            </p:stCondLst>
                            <p:childTnLst>
                              <p:par>
                                <p:cTn id="31" presetID="1" presetClass="entr" presetSubtype="0" fill="hold" grpId="0" nodeType="afterEffect">
                                  <p:stCondLst>
                                    <p:cond delay="0"/>
                                  </p:stCondLst>
                                  <p:childTnLst>
                                    <p:set>
                                      <p:cBhvr>
                                        <p:cTn id="32" dur="1" fill="hold">
                                          <p:stCondLst>
                                            <p:cond delay="0"/>
                                          </p:stCondLst>
                                        </p:cTn>
                                        <p:tgtEl>
                                          <p:spTgt spid="181279"/>
                                        </p:tgtEl>
                                        <p:attrNameLst>
                                          <p:attrName>style.visibility</p:attrName>
                                        </p:attrNameLst>
                                      </p:cBhvr>
                                      <p:to>
                                        <p:strVal val="visible"/>
                                      </p:to>
                                    </p:set>
                                  </p:childTnLst>
                                </p:cTn>
                              </p:par>
                            </p:childTnLst>
                          </p:cTn>
                        </p:par>
                        <p:par>
                          <p:cTn id="33" fill="hold" nodeType="afterGroup">
                            <p:stCondLst>
                              <p:cond delay="500"/>
                            </p:stCondLst>
                            <p:childTnLst>
                              <p:par>
                                <p:cTn id="34" presetID="1" presetClass="entr" presetSubtype="0" fill="hold" grpId="0" nodeType="afterEffect">
                                  <p:stCondLst>
                                    <p:cond delay="0"/>
                                  </p:stCondLst>
                                  <p:childTnLst>
                                    <p:set>
                                      <p:cBhvr>
                                        <p:cTn id="35" dur="1" fill="hold">
                                          <p:stCondLst>
                                            <p:cond delay="0"/>
                                          </p:stCondLst>
                                        </p:cTn>
                                        <p:tgtEl>
                                          <p:spTgt spid="181260"/>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3"/>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2" presetClass="entr" presetSubtype="8" fill="hold" nodeType="clickEffect">
                                  <p:stCondLst>
                                    <p:cond delay="0"/>
                                  </p:stCondLst>
                                  <p:childTnLst>
                                    <p:set>
                                      <p:cBhvr>
                                        <p:cTn id="43" dur="1" fill="hold">
                                          <p:stCondLst>
                                            <p:cond delay="0"/>
                                          </p:stCondLst>
                                        </p:cTn>
                                        <p:tgtEl>
                                          <p:spTgt spid="181258"/>
                                        </p:tgtEl>
                                        <p:attrNameLst>
                                          <p:attrName>style.visibility</p:attrName>
                                        </p:attrNameLst>
                                      </p:cBhvr>
                                      <p:to>
                                        <p:strVal val="visible"/>
                                      </p:to>
                                    </p:set>
                                    <p:animEffect transition="in" filter="slide(fromLeft)">
                                      <p:cBhvr>
                                        <p:cTn id="44" dur="500"/>
                                        <p:tgtEl>
                                          <p:spTgt spid="18125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par>
                          <p:cTn id="49" fill="hold" nodeType="afterGroup">
                            <p:stCondLst>
                              <p:cond delay="0"/>
                            </p:stCondLst>
                            <p:childTnLst>
                              <p:par>
                                <p:cTn id="50" presetID="22" presetClass="entr" presetSubtype="8" fill="hold" nodeType="after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wipe(left)">
                                      <p:cBhvr>
                                        <p:cTn id="52" dur="500"/>
                                        <p:tgtEl>
                                          <p:spTgt spid="4"/>
                                        </p:tgtEl>
                                      </p:cBhvr>
                                    </p:animEffect>
                                  </p:childTnLst>
                                </p:cTn>
                              </p:par>
                            </p:childTnLst>
                          </p:cTn>
                        </p:par>
                        <p:par>
                          <p:cTn id="53" fill="hold" nodeType="afterGroup">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181255"/>
                                        </p:tgtEl>
                                        <p:attrNameLst>
                                          <p:attrName>style.visibility</p:attrName>
                                        </p:attrNameLst>
                                      </p:cBhvr>
                                      <p:to>
                                        <p:strVal val="visible"/>
                                      </p:to>
                                    </p:set>
                                    <p:animEffect transition="in" filter="wipe(left)">
                                      <p:cBhvr>
                                        <p:cTn id="56" dur="500"/>
                                        <p:tgtEl>
                                          <p:spTgt spid="18125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181268"/>
                                        </p:tgtEl>
                                        <p:attrNameLst>
                                          <p:attrName>style.visibility</p:attrName>
                                        </p:attrNameLst>
                                      </p:cBhvr>
                                      <p:to>
                                        <p:strVal val="visible"/>
                                      </p:to>
                                    </p:set>
                                    <p:animEffect transition="in" filter="wipe(left)">
                                      <p:cBhvr>
                                        <p:cTn id="61" dur="500"/>
                                        <p:tgtEl>
                                          <p:spTgt spid="181268"/>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181267"/>
                                        </p:tgtEl>
                                        <p:attrNameLst>
                                          <p:attrName>style.visibility</p:attrName>
                                        </p:attrNameLst>
                                      </p:cBhvr>
                                      <p:to>
                                        <p:strVal val="visible"/>
                                      </p:to>
                                    </p:set>
                                    <p:animEffect transition="in" filter="wipe(left)">
                                      <p:cBhvr>
                                        <p:cTn id="66" dur="500"/>
                                        <p:tgtEl>
                                          <p:spTgt spid="181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1" grpId="0" autoUpdateAnimBg="0"/>
      <p:bldP spid="181253" grpId="0" autoUpdateAnimBg="0"/>
      <p:bldP spid="181254" grpId="0" autoUpdateAnimBg="0"/>
      <p:bldP spid="181255" grpId="0" autoUpdateAnimBg="0"/>
      <p:bldP spid="181259" grpId="0"/>
      <p:bldP spid="181260" grpId="0"/>
      <p:bldP spid="18127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Text Box 2"/>
          <p:cNvSpPr txBox="1">
            <a:spLocks noChangeArrowheads="1"/>
          </p:cNvSpPr>
          <p:nvPr/>
        </p:nvSpPr>
        <p:spPr bwMode="auto">
          <a:xfrm>
            <a:off x="927100" y="3924300"/>
            <a:ext cx="6759575" cy="479425"/>
          </a:xfrm>
          <a:prstGeom prst="rect">
            <a:avLst/>
          </a:prstGeom>
          <a:noFill/>
          <a:ln w="9525">
            <a:noFill/>
            <a:miter lim="800000"/>
            <a:headEnd/>
            <a:tailEnd/>
          </a:ln>
        </p:spPr>
        <p:txBody>
          <a:bodyPr>
            <a:spAutoFit/>
          </a:bodyPr>
          <a:lstStyle/>
          <a:p>
            <a:pPr algn="l" eaLnBrk="0" hangingPunct="0">
              <a:lnSpc>
                <a:spcPct val="115000"/>
              </a:lnSpc>
            </a:pPr>
            <a:r>
              <a:rPr lang="en-US" altLang="zh-CN" b="1">
                <a:solidFill>
                  <a:srgbClr val="FF6600"/>
                </a:solidFill>
                <a:sym typeface="Symbol" pitchFamily="18" charset="2"/>
              </a:rPr>
              <a:t></a:t>
            </a:r>
            <a:r>
              <a:rPr lang="en-US" altLang="zh-CN" b="1" i="1">
                <a:solidFill>
                  <a:srgbClr val="FF6600"/>
                </a:solidFill>
                <a:sym typeface="Symbol" pitchFamily="18" charset="2"/>
              </a:rPr>
              <a:t>t' </a:t>
            </a:r>
            <a:r>
              <a:rPr lang="en-US" altLang="zh-CN" b="1">
                <a:solidFill>
                  <a:srgbClr val="FF6600"/>
                </a:solidFill>
                <a:sym typeface="Symbol" pitchFamily="18" charset="2"/>
              </a:rPr>
              <a:t>&lt; 0 </a:t>
            </a:r>
            <a:r>
              <a:rPr lang="zh-CN" altLang="en-US" b="1">
                <a:solidFill>
                  <a:schemeClr val="bg1"/>
                </a:solidFill>
              </a:rPr>
              <a:t>，说明上海站的乙火车先开，时序颠倒。</a:t>
            </a:r>
          </a:p>
        </p:txBody>
      </p:sp>
      <p:graphicFrame>
        <p:nvGraphicFramePr>
          <p:cNvPr id="182275" name="Object 3"/>
          <p:cNvGraphicFramePr>
            <a:graphicFrameLocks noChangeAspect="1"/>
          </p:cNvGraphicFramePr>
          <p:nvPr/>
        </p:nvGraphicFramePr>
        <p:xfrm>
          <a:off x="1062038" y="1052513"/>
          <a:ext cx="2243137" cy="1266825"/>
        </p:xfrm>
        <a:graphic>
          <a:graphicData uri="http://schemas.openxmlformats.org/presentationml/2006/ole">
            <p:oleObj spid="_x0000_s17410" name="公式" r:id="rId3" imgW="1079500" imgH="609600" progId="Equation.3">
              <p:embed/>
            </p:oleObj>
          </a:graphicData>
        </a:graphic>
      </p:graphicFrame>
      <p:graphicFrame>
        <p:nvGraphicFramePr>
          <p:cNvPr id="182276" name="Object 4"/>
          <p:cNvGraphicFramePr>
            <a:graphicFrameLocks noChangeAspect="1"/>
          </p:cNvGraphicFramePr>
          <p:nvPr/>
        </p:nvGraphicFramePr>
        <p:xfrm>
          <a:off x="1525588" y="2528888"/>
          <a:ext cx="5972175" cy="1323975"/>
        </p:xfrm>
        <a:graphic>
          <a:graphicData uri="http://schemas.openxmlformats.org/presentationml/2006/ole">
            <p:oleObj spid="_x0000_s17411" name="公式" r:id="rId4" imgW="2870200" imgH="635000" progId="Equation.3">
              <p:embed/>
            </p:oleObj>
          </a:graphicData>
        </a:graphic>
      </p:graphicFrame>
      <p:sp>
        <p:nvSpPr>
          <p:cNvPr id="182277" name="Rectangle 5"/>
          <p:cNvSpPr>
            <a:spLocks noChangeArrowheads="1"/>
          </p:cNvSpPr>
          <p:nvPr/>
        </p:nvSpPr>
        <p:spPr bwMode="auto">
          <a:xfrm>
            <a:off x="323850" y="503238"/>
            <a:ext cx="8388350" cy="479425"/>
          </a:xfrm>
          <a:prstGeom prst="rect">
            <a:avLst/>
          </a:prstGeom>
          <a:noFill/>
          <a:ln w="9525">
            <a:noFill/>
            <a:miter lim="800000"/>
            <a:headEnd/>
            <a:tailEnd/>
          </a:ln>
        </p:spPr>
        <p:txBody>
          <a:bodyPr>
            <a:spAutoFit/>
          </a:bodyPr>
          <a:lstStyle/>
          <a:p>
            <a:pPr algn="l">
              <a:lnSpc>
                <a:spcPct val="115000"/>
              </a:lnSpc>
            </a:pPr>
            <a:r>
              <a:rPr lang="zh-CN" altLang="en-US" b="1">
                <a:solidFill>
                  <a:schemeClr val="bg1"/>
                </a:solidFill>
              </a:rPr>
              <a:t>由洛仑兹坐标变换，</a:t>
            </a:r>
            <a:r>
              <a:rPr lang="en-US" altLang="zh-CN" b="1" i="1">
                <a:solidFill>
                  <a:srgbClr val="FF6600"/>
                </a:solidFill>
              </a:rPr>
              <a:t>S</a:t>
            </a:r>
            <a:r>
              <a:rPr lang="en-US" altLang="zh-CN" b="1" i="1">
                <a:solidFill>
                  <a:srgbClr val="FF6600"/>
                </a:solidFill>
                <a:sym typeface="Symbol" pitchFamily="18" charset="2"/>
              </a:rPr>
              <a:t>'</a:t>
            </a:r>
            <a:r>
              <a:rPr lang="en-US" altLang="zh-CN" b="1">
                <a:solidFill>
                  <a:schemeClr val="bg1"/>
                </a:solidFill>
                <a:sym typeface="Symbol" pitchFamily="18" charset="2"/>
              </a:rPr>
              <a:t> </a:t>
            </a:r>
            <a:r>
              <a:rPr lang="zh-CN" altLang="en-US" b="1">
                <a:solidFill>
                  <a:schemeClr val="bg1"/>
                </a:solidFill>
              </a:rPr>
              <a:t>测得甲乙两列火车发车的时间间隔为</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2277"/>
                                        </p:tgtEl>
                                        <p:attrNameLst>
                                          <p:attrName>style.visibility</p:attrName>
                                        </p:attrNameLst>
                                      </p:cBhvr>
                                      <p:to>
                                        <p:strVal val="visible"/>
                                      </p:to>
                                    </p:set>
                                    <p:animEffect transition="in" filter="wipe(left)">
                                      <p:cBhvr>
                                        <p:cTn id="7" dur="500"/>
                                        <p:tgtEl>
                                          <p:spTgt spid="1822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82275"/>
                                        </p:tgtEl>
                                        <p:attrNameLst>
                                          <p:attrName>style.visibility</p:attrName>
                                        </p:attrNameLst>
                                      </p:cBhvr>
                                      <p:to>
                                        <p:strVal val="visible"/>
                                      </p:to>
                                    </p:set>
                                    <p:animEffect transition="in" filter="wipe(left)">
                                      <p:cBhvr>
                                        <p:cTn id="12" dur="500"/>
                                        <p:tgtEl>
                                          <p:spTgt spid="18227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82276"/>
                                        </p:tgtEl>
                                        <p:attrNameLst>
                                          <p:attrName>style.visibility</p:attrName>
                                        </p:attrNameLst>
                                      </p:cBhvr>
                                      <p:to>
                                        <p:strVal val="visible"/>
                                      </p:to>
                                    </p:set>
                                    <p:animEffect transition="in" filter="wipe(left)">
                                      <p:cBhvr>
                                        <p:cTn id="17" dur="500"/>
                                        <p:tgtEl>
                                          <p:spTgt spid="182276"/>
                                        </p:tgtEl>
                                      </p:cBhvr>
                                    </p:animEffect>
                                  </p:childTnLst>
                                </p:cTn>
                              </p:par>
                            </p:childTnLst>
                          </p:cTn>
                        </p:par>
                        <p:par>
                          <p:cTn id="18" fill="hold" nodeType="afterGroup">
                            <p:stCondLst>
                              <p:cond delay="500"/>
                            </p:stCondLst>
                            <p:childTnLst>
                              <p:par>
                                <p:cTn id="19" presetID="22" presetClass="entr" presetSubtype="8" fill="hold" grpId="0" nodeType="afterEffect">
                                  <p:stCondLst>
                                    <p:cond delay="0"/>
                                  </p:stCondLst>
                                  <p:iterate type="wd">
                                    <p:tmPct val="100000"/>
                                  </p:iterate>
                                  <p:childTnLst>
                                    <p:set>
                                      <p:cBhvr>
                                        <p:cTn id="20" dur="1" fill="hold">
                                          <p:stCondLst>
                                            <p:cond delay="0"/>
                                          </p:stCondLst>
                                        </p:cTn>
                                        <p:tgtEl>
                                          <p:spTgt spid="182274"/>
                                        </p:tgtEl>
                                        <p:attrNameLst>
                                          <p:attrName>style.visibility</p:attrName>
                                        </p:attrNameLst>
                                      </p:cBhvr>
                                      <p:to>
                                        <p:strVal val="visible"/>
                                      </p:to>
                                    </p:set>
                                    <p:animEffect transition="in" filter="wipe(left)">
                                      <p:cBhvr>
                                        <p:cTn id="21" dur="200"/>
                                        <p:tgtEl>
                                          <p:spTgt spid="182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4" grpId="0" autoUpdateAnimBg="0"/>
      <p:bldP spid="182277"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Text Box 2"/>
          <p:cNvSpPr txBox="1">
            <a:spLocks noChangeArrowheads="1"/>
          </p:cNvSpPr>
          <p:nvPr/>
        </p:nvSpPr>
        <p:spPr bwMode="auto">
          <a:xfrm>
            <a:off x="206375" y="414338"/>
            <a:ext cx="4995863" cy="457200"/>
          </a:xfrm>
          <a:prstGeom prst="rect">
            <a:avLst/>
          </a:prstGeom>
          <a:noFill/>
          <a:ln w="9525">
            <a:noFill/>
            <a:miter lim="800000"/>
            <a:headEnd/>
            <a:tailEnd/>
          </a:ln>
        </p:spPr>
        <p:txBody>
          <a:bodyPr>
            <a:spAutoFit/>
          </a:bodyPr>
          <a:lstStyle/>
          <a:p>
            <a:pPr algn="l">
              <a:spcBef>
                <a:spcPct val="50000"/>
              </a:spcBef>
            </a:pPr>
            <a:r>
              <a:rPr lang="en-US" altLang="zh-CN" b="1">
                <a:solidFill>
                  <a:srgbClr val="0000FF"/>
                </a:solidFill>
              </a:rPr>
              <a:t>4.3.2  </a:t>
            </a:r>
            <a:r>
              <a:rPr lang="zh-CN" altLang="en-US" b="1">
                <a:solidFill>
                  <a:srgbClr val="0000FF"/>
                </a:solidFill>
              </a:rPr>
              <a:t>爱因斯坦相对论速度变换</a:t>
            </a:r>
          </a:p>
        </p:txBody>
      </p:sp>
      <p:grpSp>
        <p:nvGrpSpPr>
          <p:cNvPr id="2" name="Group 3"/>
          <p:cNvGrpSpPr>
            <a:grpSpLocks/>
          </p:cNvGrpSpPr>
          <p:nvPr/>
        </p:nvGrpSpPr>
        <p:grpSpPr bwMode="auto">
          <a:xfrm>
            <a:off x="4572000" y="549275"/>
            <a:ext cx="4205288" cy="2684463"/>
            <a:chOff x="2880" y="346"/>
            <a:chExt cx="2649" cy="1691"/>
          </a:xfrm>
        </p:grpSpPr>
        <p:sp>
          <p:nvSpPr>
            <p:cNvPr id="18455" name="Text Box 4"/>
            <p:cNvSpPr txBox="1">
              <a:spLocks noChangeArrowheads="1"/>
            </p:cNvSpPr>
            <p:nvPr/>
          </p:nvSpPr>
          <p:spPr bwMode="auto">
            <a:xfrm>
              <a:off x="4577" y="581"/>
              <a:ext cx="336" cy="323"/>
            </a:xfrm>
            <a:prstGeom prst="rect">
              <a:avLst/>
            </a:prstGeom>
            <a:noFill/>
            <a:ln w="9525">
              <a:noFill/>
              <a:miter lim="800000"/>
              <a:headEnd/>
              <a:tailEnd/>
            </a:ln>
          </p:spPr>
          <p:txBody>
            <a:bodyPr>
              <a:spAutoFit/>
            </a:bodyPr>
            <a:lstStyle/>
            <a:p>
              <a:pPr algn="l">
                <a:lnSpc>
                  <a:spcPct val="115000"/>
                </a:lnSpc>
              </a:pPr>
              <a:r>
                <a:rPr lang="en-US" altLang="zh-CN" b="1" i="1">
                  <a:solidFill>
                    <a:schemeClr val="bg1"/>
                  </a:solidFill>
                </a:rPr>
                <a:t>P</a:t>
              </a:r>
              <a:endParaRPr lang="en-US" altLang="zh-CN">
                <a:solidFill>
                  <a:schemeClr val="bg1"/>
                </a:solidFill>
              </a:endParaRPr>
            </a:p>
          </p:txBody>
        </p:sp>
        <p:sp>
          <p:nvSpPr>
            <p:cNvPr id="18456" name="Text Box 5"/>
            <p:cNvSpPr txBox="1">
              <a:spLocks noChangeArrowheads="1"/>
            </p:cNvSpPr>
            <p:nvPr/>
          </p:nvSpPr>
          <p:spPr bwMode="auto">
            <a:xfrm>
              <a:off x="4757" y="571"/>
              <a:ext cx="759" cy="279"/>
            </a:xfrm>
            <a:prstGeom prst="rect">
              <a:avLst/>
            </a:prstGeom>
            <a:noFill/>
            <a:ln w="9525">
              <a:noFill/>
              <a:miter lim="800000"/>
              <a:headEnd/>
              <a:tailEnd/>
            </a:ln>
          </p:spPr>
          <p:txBody>
            <a:bodyPr wrap="none">
              <a:spAutoFit/>
            </a:bodyPr>
            <a:lstStyle/>
            <a:p>
              <a:pPr algn="l">
                <a:lnSpc>
                  <a:spcPct val="115000"/>
                </a:lnSpc>
              </a:pPr>
              <a:r>
                <a:rPr lang="en-US" altLang="zh-CN" sz="2000" b="1">
                  <a:solidFill>
                    <a:srgbClr val="0000FF"/>
                  </a:solidFill>
                </a:rPr>
                <a:t>(</a:t>
              </a:r>
              <a:r>
                <a:rPr lang="en-US" altLang="zh-CN" sz="2000" b="1" i="1">
                  <a:solidFill>
                    <a:srgbClr val="0000FF"/>
                  </a:solidFill>
                </a:rPr>
                <a:t>x</a:t>
              </a:r>
              <a:r>
                <a:rPr lang="en-US" altLang="zh-CN" sz="2000" b="1">
                  <a:solidFill>
                    <a:srgbClr val="0000FF"/>
                  </a:solidFill>
                </a:rPr>
                <a:t>, </a:t>
              </a:r>
              <a:r>
                <a:rPr lang="en-US" altLang="zh-CN" sz="2000" b="1" i="1">
                  <a:solidFill>
                    <a:srgbClr val="0000FF"/>
                  </a:solidFill>
                </a:rPr>
                <a:t>y</a:t>
              </a:r>
              <a:r>
                <a:rPr lang="en-US" altLang="zh-CN" sz="2000" b="1">
                  <a:solidFill>
                    <a:srgbClr val="0000FF"/>
                  </a:solidFill>
                </a:rPr>
                <a:t>, </a:t>
              </a:r>
              <a:r>
                <a:rPr lang="en-US" altLang="zh-CN" sz="2000" b="1" i="1">
                  <a:solidFill>
                    <a:srgbClr val="0000FF"/>
                  </a:solidFill>
                </a:rPr>
                <a:t>z</a:t>
              </a:r>
              <a:r>
                <a:rPr lang="en-US" altLang="zh-CN" sz="2000" b="1">
                  <a:solidFill>
                    <a:srgbClr val="0000FF"/>
                  </a:solidFill>
                </a:rPr>
                <a:t>, </a:t>
              </a:r>
              <a:r>
                <a:rPr lang="en-US" altLang="zh-CN" sz="2000" b="1" i="1">
                  <a:solidFill>
                    <a:srgbClr val="0000FF"/>
                  </a:solidFill>
                </a:rPr>
                <a:t>t</a:t>
              </a:r>
              <a:r>
                <a:rPr lang="en-US" altLang="zh-CN" sz="2000" b="1">
                  <a:solidFill>
                    <a:srgbClr val="0000FF"/>
                  </a:solidFill>
                </a:rPr>
                <a:t> )</a:t>
              </a:r>
              <a:endParaRPr lang="en-US" altLang="zh-CN" sz="2000">
                <a:solidFill>
                  <a:srgbClr val="0000FF"/>
                </a:solidFill>
              </a:endParaRPr>
            </a:p>
          </p:txBody>
        </p:sp>
        <p:sp>
          <p:nvSpPr>
            <p:cNvPr id="18457" name="Line 6"/>
            <p:cNvSpPr>
              <a:spLocks noChangeShapeType="1"/>
            </p:cNvSpPr>
            <p:nvPr/>
          </p:nvSpPr>
          <p:spPr bwMode="auto">
            <a:xfrm flipV="1">
              <a:off x="3454" y="714"/>
              <a:ext cx="1105" cy="834"/>
            </a:xfrm>
            <a:prstGeom prst="line">
              <a:avLst/>
            </a:prstGeom>
            <a:noFill/>
            <a:ln w="28575">
              <a:solidFill>
                <a:srgbClr val="0000FF"/>
              </a:solidFill>
              <a:round/>
              <a:headEnd/>
              <a:tailEnd type="triangle" w="sm" len="lg"/>
            </a:ln>
          </p:spPr>
          <p:txBody>
            <a:bodyPr wrap="none" anchor="ctr"/>
            <a:lstStyle/>
            <a:p>
              <a:endParaRPr lang="zh-CN" altLang="en-US"/>
            </a:p>
          </p:txBody>
        </p:sp>
        <p:sp>
          <p:nvSpPr>
            <p:cNvPr id="18458" name="Line 7"/>
            <p:cNvSpPr>
              <a:spLocks noChangeShapeType="1"/>
            </p:cNvSpPr>
            <p:nvPr/>
          </p:nvSpPr>
          <p:spPr bwMode="auto">
            <a:xfrm flipV="1">
              <a:off x="4030" y="712"/>
              <a:ext cx="529" cy="836"/>
            </a:xfrm>
            <a:prstGeom prst="line">
              <a:avLst/>
            </a:prstGeom>
            <a:noFill/>
            <a:ln w="28575">
              <a:solidFill>
                <a:schemeClr val="tx2"/>
              </a:solidFill>
              <a:round/>
              <a:headEnd/>
              <a:tailEnd type="triangle" w="sm" len="lg"/>
            </a:ln>
          </p:spPr>
          <p:txBody>
            <a:bodyPr wrap="none" anchor="ctr"/>
            <a:lstStyle/>
            <a:p>
              <a:endParaRPr lang="zh-CN" altLang="en-US"/>
            </a:p>
          </p:txBody>
        </p:sp>
        <p:sp>
          <p:nvSpPr>
            <p:cNvPr id="18459" name="Line 8"/>
            <p:cNvSpPr>
              <a:spLocks noChangeShapeType="1"/>
            </p:cNvSpPr>
            <p:nvPr/>
          </p:nvSpPr>
          <p:spPr bwMode="auto">
            <a:xfrm>
              <a:off x="4558" y="732"/>
              <a:ext cx="0" cy="1152"/>
            </a:xfrm>
            <a:prstGeom prst="line">
              <a:avLst/>
            </a:prstGeom>
            <a:noFill/>
            <a:ln w="12700">
              <a:solidFill>
                <a:schemeClr val="tx2"/>
              </a:solidFill>
              <a:prstDash val="lgDashDot"/>
              <a:round/>
              <a:headEnd/>
              <a:tailEnd/>
            </a:ln>
          </p:spPr>
          <p:txBody>
            <a:bodyPr wrap="none" anchor="ctr"/>
            <a:lstStyle/>
            <a:p>
              <a:endParaRPr lang="zh-CN" altLang="en-US"/>
            </a:p>
          </p:txBody>
        </p:sp>
        <p:sp>
          <p:nvSpPr>
            <p:cNvPr id="18460" name="Line 9"/>
            <p:cNvSpPr>
              <a:spLocks noChangeShapeType="1"/>
            </p:cNvSpPr>
            <p:nvPr/>
          </p:nvSpPr>
          <p:spPr bwMode="auto">
            <a:xfrm flipH="1">
              <a:off x="4558" y="1570"/>
              <a:ext cx="369" cy="314"/>
            </a:xfrm>
            <a:prstGeom prst="line">
              <a:avLst/>
            </a:prstGeom>
            <a:noFill/>
            <a:ln w="12700">
              <a:solidFill>
                <a:schemeClr val="tx2"/>
              </a:solidFill>
              <a:prstDash val="lgDashDot"/>
              <a:round/>
              <a:headEnd/>
              <a:tailEnd/>
            </a:ln>
          </p:spPr>
          <p:txBody>
            <a:bodyPr wrap="none" anchor="ctr"/>
            <a:lstStyle/>
            <a:p>
              <a:endParaRPr lang="zh-CN" altLang="en-US"/>
            </a:p>
          </p:txBody>
        </p:sp>
        <p:sp>
          <p:nvSpPr>
            <p:cNvPr id="18461" name="Oval 10"/>
            <p:cNvSpPr>
              <a:spLocks noChangeArrowheads="1"/>
            </p:cNvSpPr>
            <p:nvPr/>
          </p:nvSpPr>
          <p:spPr bwMode="auto">
            <a:xfrm>
              <a:off x="4533" y="687"/>
              <a:ext cx="57" cy="57"/>
            </a:xfrm>
            <a:prstGeom prst="ellipse">
              <a:avLst/>
            </a:prstGeom>
            <a:gradFill rotWithShape="1">
              <a:gsLst>
                <a:gs pos="0">
                  <a:srgbClr val="FF3300"/>
                </a:gs>
                <a:gs pos="100000">
                  <a:srgbClr val="761800">
                    <a:alpha val="79999"/>
                  </a:srgbClr>
                </a:gs>
              </a:gsLst>
              <a:path path="shape">
                <a:fillToRect l="50000" t="50000" r="50000" b="50000"/>
              </a:path>
            </a:gradFill>
            <a:ln w="9525">
              <a:noFill/>
              <a:round/>
              <a:headEnd/>
              <a:tailEnd/>
            </a:ln>
          </p:spPr>
          <p:txBody>
            <a:bodyPr wrap="none" anchor="ctr"/>
            <a:lstStyle/>
            <a:p>
              <a:endParaRPr lang="zh-CN" altLang="en-US"/>
            </a:p>
          </p:txBody>
        </p:sp>
        <p:grpSp>
          <p:nvGrpSpPr>
            <p:cNvPr id="18462" name="Group 11"/>
            <p:cNvGrpSpPr>
              <a:grpSpLocks/>
            </p:cNvGrpSpPr>
            <p:nvPr/>
          </p:nvGrpSpPr>
          <p:grpSpPr bwMode="auto">
            <a:xfrm>
              <a:off x="4064" y="385"/>
              <a:ext cx="327" cy="250"/>
              <a:chOff x="2562" y="459"/>
              <a:chExt cx="327" cy="250"/>
            </a:xfrm>
          </p:grpSpPr>
          <p:sp>
            <p:nvSpPr>
              <p:cNvPr id="18484" name="Line 12"/>
              <p:cNvSpPr>
                <a:spLocks noChangeShapeType="1"/>
              </p:cNvSpPr>
              <p:nvPr/>
            </p:nvSpPr>
            <p:spPr bwMode="auto">
              <a:xfrm>
                <a:off x="2562" y="709"/>
                <a:ext cx="327" cy="0"/>
              </a:xfrm>
              <a:prstGeom prst="line">
                <a:avLst/>
              </a:prstGeom>
              <a:noFill/>
              <a:ln w="28575">
                <a:solidFill>
                  <a:srgbClr val="008000"/>
                </a:solidFill>
                <a:round/>
                <a:headEnd/>
                <a:tailEnd type="triangle" w="sm" len="lg"/>
              </a:ln>
            </p:spPr>
            <p:txBody>
              <a:bodyPr wrap="none" anchor="ctr"/>
              <a:lstStyle/>
              <a:p>
                <a:endParaRPr lang="zh-CN" altLang="en-US"/>
              </a:p>
            </p:txBody>
          </p:sp>
          <p:graphicFrame>
            <p:nvGraphicFramePr>
              <p:cNvPr id="18445" name="Object 13"/>
              <p:cNvGraphicFramePr>
                <a:graphicFrameLocks noChangeAspect="1"/>
              </p:cNvGraphicFramePr>
              <p:nvPr/>
            </p:nvGraphicFramePr>
            <p:xfrm>
              <a:off x="2736" y="459"/>
              <a:ext cx="144" cy="192"/>
            </p:xfrm>
            <a:graphic>
              <a:graphicData uri="http://schemas.openxmlformats.org/presentationml/2006/ole">
                <p:oleObj spid="_x0000_s18445" name="公式" r:id="rId3" imgW="228501" imgH="304668" progId="Equation.3">
                  <p:embed/>
                </p:oleObj>
              </a:graphicData>
            </a:graphic>
          </p:graphicFrame>
        </p:grpSp>
        <p:sp>
          <p:nvSpPr>
            <p:cNvPr id="18463" name="Line 14"/>
            <p:cNvSpPr>
              <a:spLocks noChangeShapeType="1"/>
            </p:cNvSpPr>
            <p:nvPr/>
          </p:nvSpPr>
          <p:spPr bwMode="auto">
            <a:xfrm>
              <a:off x="3060" y="1881"/>
              <a:ext cx="1498" cy="0"/>
            </a:xfrm>
            <a:prstGeom prst="line">
              <a:avLst/>
            </a:prstGeom>
            <a:noFill/>
            <a:ln w="12700">
              <a:solidFill>
                <a:srgbClr val="000099"/>
              </a:solidFill>
              <a:prstDash val="lgDashDot"/>
              <a:round/>
              <a:headEnd/>
              <a:tailEnd/>
            </a:ln>
          </p:spPr>
          <p:txBody>
            <a:bodyPr wrap="none" anchor="ctr"/>
            <a:lstStyle/>
            <a:p>
              <a:endParaRPr lang="zh-CN" altLang="en-US"/>
            </a:p>
          </p:txBody>
        </p:sp>
        <p:grpSp>
          <p:nvGrpSpPr>
            <p:cNvPr id="18464" name="Group 15"/>
            <p:cNvGrpSpPr>
              <a:grpSpLocks/>
            </p:cNvGrpSpPr>
            <p:nvPr/>
          </p:nvGrpSpPr>
          <p:grpSpPr bwMode="auto">
            <a:xfrm>
              <a:off x="2880" y="348"/>
              <a:ext cx="2256" cy="1689"/>
              <a:chOff x="521" y="2376"/>
              <a:chExt cx="2256" cy="1689"/>
            </a:xfrm>
          </p:grpSpPr>
          <p:sp>
            <p:nvSpPr>
              <p:cNvPr id="18479" name="Line 16"/>
              <p:cNvSpPr>
                <a:spLocks noChangeShapeType="1"/>
              </p:cNvSpPr>
              <p:nvPr/>
            </p:nvSpPr>
            <p:spPr bwMode="auto">
              <a:xfrm>
                <a:off x="1087" y="3576"/>
                <a:ext cx="1690" cy="1"/>
              </a:xfrm>
              <a:prstGeom prst="line">
                <a:avLst/>
              </a:prstGeom>
              <a:noFill/>
              <a:ln w="19050">
                <a:solidFill>
                  <a:srgbClr val="0000FF"/>
                </a:solidFill>
                <a:round/>
                <a:headEnd/>
                <a:tailEnd type="triangle" w="med" len="lg"/>
              </a:ln>
            </p:spPr>
            <p:txBody>
              <a:bodyPr wrap="none" anchor="ctr"/>
              <a:lstStyle/>
              <a:p>
                <a:endParaRPr lang="zh-CN" altLang="en-US"/>
              </a:p>
            </p:txBody>
          </p:sp>
          <p:sp>
            <p:nvSpPr>
              <p:cNvPr id="18480" name="Text Box 17"/>
              <p:cNvSpPr txBox="1">
                <a:spLocks noChangeArrowheads="1"/>
              </p:cNvSpPr>
              <p:nvPr/>
            </p:nvSpPr>
            <p:spPr bwMode="auto">
              <a:xfrm>
                <a:off x="810" y="3385"/>
                <a:ext cx="232"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FF"/>
                    </a:solidFill>
                  </a:rPr>
                  <a:t>O</a:t>
                </a:r>
                <a:endParaRPr lang="en-US" altLang="zh-CN" sz="2000">
                  <a:solidFill>
                    <a:srgbClr val="0000FF"/>
                  </a:solidFill>
                </a:endParaRPr>
              </a:p>
            </p:txBody>
          </p:sp>
          <p:sp>
            <p:nvSpPr>
              <p:cNvPr id="18481" name="Text Box 18"/>
              <p:cNvSpPr txBox="1">
                <a:spLocks noChangeArrowheads="1"/>
              </p:cNvSpPr>
              <p:nvPr/>
            </p:nvSpPr>
            <p:spPr bwMode="auto">
              <a:xfrm>
                <a:off x="808" y="2425"/>
                <a:ext cx="205"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rgbClr val="0000FF"/>
                    </a:solidFill>
                  </a:rPr>
                  <a:t>S</a:t>
                </a:r>
                <a:endParaRPr lang="en-US" altLang="zh-CN" sz="2000">
                  <a:solidFill>
                    <a:srgbClr val="0000FF"/>
                  </a:solidFill>
                </a:endParaRPr>
              </a:p>
            </p:txBody>
          </p:sp>
          <p:sp>
            <p:nvSpPr>
              <p:cNvPr id="18482" name="Line 19"/>
              <p:cNvSpPr>
                <a:spLocks noChangeShapeType="1"/>
              </p:cNvSpPr>
              <p:nvPr/>
            </p:nvSpPr>
            <p:spPr bwMode="auto">
              <a:xfrm flipH="1">
                <a:off x="521" y="3576"/>
                <a:ext cx="576" cy="489"/>
              </a:xfrm>
              <a:prstGeom prst="line">
                <a:avLst/>
              </a:prstGeom>
              <a:noFill/>
              <a:ln w="19050">
                <a:solidFill>
                  <a:srgbClr val="0000FF"/>
                </a:solidFill>
                <a:round/>
                <a:headEnd/>
                <a:tailEnd type="triangle" w="med" len="lg"/>
              </a:ln>
            </p:spPr>
            <p:txBody>
              <a:bodyPr wrap="none" anchor="ctr"/>
              <a:lstStyle/>
              <a:p>
                <a:endParaRPr lang="zh-CN" altLang="en-US"/>
              </a:p>
            </p:txBody>
          </p:sp>
          <p:sp>
            <p:nvSpPr>
              <p:cNvPr id="18483" name="Line 20"/>
              <p:cNvSpPr>
                <a:spLocks noChangeShapeType="1"/>
              </p:cNvSpPr>
              <p:nvPr/>
            </p:nvSpPr>
            <p:spPr bwMode="auto">
              <a:xfrm flipV="1">
                <a:off x="1097" y="2376"/>
                <a:ext cx="0" cy="1209"/>
              </a:xfrm>
              <a:prstGeom prst="line">
                <a:avLst/>
              </a:prstGeom>
              <a:noFill/>
              <a:ln w="19050">
                <a:solidFill>
                  <a:srgbClr val="0000FF"/>
                </a:solidFill>
                <a:round/>
                <a:headEnd/>
                <a:tailEnd type="triangle" w="med" len="lg"/>
              </a:ln>
            </p:spPr>
            <p:txBody>
              <a:bodyPr wrap="none" anchor="ctr"/>
              <a:lstStyle/>
              <a:p>
                <a:endParaRPr lang="zh-CN" altLang="en-US"/>
              </a:p>
            </p:txBody>
          </p:sp>
        </p:grpSp>
        <p:grpSp>
          <p:nvGrpSpPr>
            <p:cNvPr id="18465" name="Group 21"/>
            <p:cNvGrpSpPr>
              <a:grpSpLocks/>
            </p:cNvGrpSpPr>
            <p:nvPr/>
          </p:nvGrpSpPr>
          <p:grpSpPr bwMode="auto">
            <a:xfrm>
              <a:off x="3461" y="346"/>
              <a:ext cx="1680" cy="1690"/>
              <a:chOff x="521" y="1450"/>
              <a:chExt cx="1680" cy="1690"/>
            </a:xfrm>
          </p:grpSpPr>
          <p:sp>
            <p:nvSpPr>
              <p:cNvPr id="18474" name="Text Box 22"/>
              <p:cNvSpPr txBox="1">
                <a:spLocks noChangeArrowheads="1"/>
              </p:cNvSpPr>
              <p:nvPr/>
            </p:nvSpPr>
            <p:spPr bwMode="auto">
              <a:xfrm>
                <a:off x="815" y="2404"/>
                <a:ext cx="276"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tx2"/>
                    </a:solidFill>
                  </a:rPr>
                  <a:t>O'</a:t>
                </a:r>
              </a:p>
            </p:txBody>
          </p:sp>
          <p:sp>
            <p:nvSpPr>
              <p:cNvPr id="18475" name="Text Box 23"/>
              <p:cNvSpPr txBox="1">
                <a:spLocks noChangeArrowheads="1"/>
              </p:cNvSpPr>
              <p:nvPr/>
            </p:nvSpPr>
            <p:spPr bwMode="auto">
              <a:xfrm>
                <a:off x="806" y="1498"/>
                <a:ext cx="249" cy="279"/>
              </a:xfrm>
              <a:prstGeom prst="rect">
                <a:avLst/>
              </a:prstGeom>
              <a:noFill/>
              <a:ln w="9525">
                <a:noFill/>
                <a:miter lim="800000"/>
                <a:headEnd/>
                <a:tailEnd/>
              </a:ln>
            </p:spPr>
            <p:txBody>
              <a:bodyPr wrap="none">
                <a:spAutoFit/>
              </a:bodyPr>
              <a:lstStyle/>
              <a:p>
                <a:pPr algn="l">
                  <a:lnSpc>
                    <a:spcPct val="115000"/>
                  </a:lnSpc>
                </a:pPr>
                <a:r>
                  <a:rPr lang="en-US" altLang="zh-CN" sz="2000" b="1" i="1">
                    <a:solidFill>
                      <a:schemeClr val="tx2"/>
                    </a:solidFill>
                  </a:rPr>
                  <a:t>S'</a:t>
                </a:r>
              </a:p>
            </p:txBody>
          </p:sp>
          <p:sp>
            <p:nvSpPr>
              <p:cNvPr id="18476" name="Line 24"/>
              <p:cNvSpPr>
                <a:spLocks noChangeShapeType="1"/>
              </p:cNvSpPr>
              <p:nvPr/>
            </p:nvSpPr>
            <p:spPr bwMode="auto">
              <a:xfrm flipH="1">
                <a:off x="521" y="2647"/>
                <a:ext cx="578" cy="493"/>
              </a:xfrm>
              <a:prstGeom prst="line">
                <a:avLst/>
              </a:prstGeom>
              <a:noFill/>
              <a:ln w="28575">
                <a:solidFill>
                  <a:schemeClr val="tx2"/>
                </a:solidFill>
                <a:round/>
                <a:headEnd/>
                <a:tailEnd type="triangle" w="med" len="lg"/>
              </a:ln>
            </p:spPr>
            <p:txBody>
              <a:bodyPr wrap="none" anchor="ctr"/>
              <a:lstStyle/>
              <a:p>
                <a:endParaRPr lang="zh-CN" altLang="en-US"/>
              </a:p>
            </p:txBody>
          </p:sp>
          <p:sp>
            <p:nvSpPr>
              <p:cNvPr id="18477" name="Line 25"/>
              <p:cNvSpPr>
                <a:spLocks noChangeShapeType="1"/>
              </p:cNvSpPr>
              <p:nvPr/>
            </p:nvSpPr>
            <p:spPr bwMode="auto">
              <a:xfrm flipV="1">
                <a:off x="1098" y="1450"/>
                <a:ext cx="0" cy="1209"/>
              </a:xfrm>
              <a:prstGeom prst="line">
                <a:avLst/>
              </a:prstGeom>
              <a:noFill/>
              <a:ln w="28575">
                <a:solidFill>
                  <a:schemeClr val="tx2"/>
                </a:solidFill>
                <a:round/>
                <a:headEnd/>
                <a:tailEnd type="triangle" w="med" len="lg"/>
              </a:ln>
            </p:spPr>
            <p:txBody>
              <a:bodyPr wrap="none" anchor="ctr"/>
              <a:lstStyle/>
              <a:p>
                <a:endParaRPr lang="zh-CN" altLang="en-US"/>
              </a:p>
            </p:txBody>
          </p:sp>
          <p:sp>
            <p:nvSpPr>
              <p:cNvPr id="18478" name="Line 26"/>
              <p:cNvSpPr>
                <a:spLocks noChangeShapeType="1"/>
              </p:cNvSpPr>
              <p:nvPr/>
            </p:nvSpPr>
            <p:spPr bwMode="auto">
              <a:xfrm>
                <a:off x="1099" y="2650"/>
                <a:ext cx="1102" cy="2"/>
              </a:xfrm>
              <a:prstGeom prst="line">
                <a:avLst/>
              </a:prstGeom>
              <a:noFill/>
              <a:ln w="28575">
                <a:solidFill>
                  <a:schemeClr val="tx2"/>
                </a:solidFill>
                <a:round/>
                <a:headEnd/>
                <a:tailEnd type="triangle" w="med" len="lg"/>
              </a:ln>
            </p:spPr>
            <p:txBody>
              <a:bodyPr wrap="none" anchor="ctr"/>
              <a:lstStyle/>
              <a:p>
                <a:endParaRPr lang="zh-CN" altLang="en-US"/>
              </a:p>
            </p:txBody>
          </p:sp>
        </p:grpSp>
        <p:graphicFrame>
          <p:nvGraphicFramePr>
            <p:cNvPr id="18443" name="Object 27"/>
            <p:cNvGraphicFramePr>
              <a:graphicFrameLocks noChangeAspect="1"/>
            </p:cNvGraphicFramePr>
            <p:nvPr/>
          </p:nvGraphicFramePr>
          <p:xfrm>
            <a:off x="4735" y="856"/>
            <a:ext cx="794" cy="228"/>
          </p:xfrm>
          <a:graphic>
            <a:graphicData uri="http://schemas.openxmlformats.org/presentationml/2006/ole">
              <p:oleObj spid="_x0000_s18443" name="Equation" r:id="rId4" imgW="761669" imgH="203112" progId="">
                <p:embed/>
              </p:oleObj>
            </a:graphicData>
          </a:graphic>
        </p:graphicFrame>
        <p:grpSp>
          <p:nvGrpSpPr>
            <p:cNvPr id="18466" name="Group 28"/>
            <p:cNvGrpSpPr>
              <a:grpSpLocks/>
            </p:cNvGrpSpPr>
            <p:nvPr/>
          </p:nvGrpSpPr>
          <p:grpSpPr bwMode="auto">
            <a:xfrm>
              <a:off x="3459" y="884"/>
              <a:ext cx="596" cy="224"/>
              <a:chOff x="3475" y="2075"/>
              <a:chExt cx="596" cy="224"/>
            </a:xfrm>
          </p:grpSpPr>
          <p:sp>
            <p:nvSpPr>
              <p:cNvPr id="18473" name="Line 29"/>
              <p:cNvSpPr>
                <a:spLocks noChangeShapeType="1"/>
              </p:cNvSpPr>
              <p:nvPr/>
            </p:nvSpPr>
            <p:spPr bwMode="auto">
              <a:xfrm>
                <a:off x="3475" y="2188"/>
                <a:ext cx="596" cy="0"/>
              </a:xfrm>
              <a:prstGeom prst="line">
                <a:avLst/>
              </a:prstGeom>
              <a:noFill/>
              <a:ln w="12700">
                <a:solidFill>
                  <a:srgbClr val="008000"/>
                </a:solidFill>
                <a:round/>
                <a:headEnd type="stealth" w="med" len="lg"/>
                <a:tailEnd type="stealth" w="med" len="lg"/>
              </a:ln>
            </p:spPr>
            <p:txBody>
              <a:bodyPr/>
              <a:lstStyle/>
              <a:p>
                <a:endParaRPr lang="zh-CN" altLang="en-US"/>
              </a:p>
            </p:txBody>
          </p:sp>
          <p:graphicFrame>
            <p:nvGraphicFramePr>
              <p:cNvPr id="18444" name="Object 30"/>
              <p:cNvGraphicFramePr>
                <a:graphicFrameLocks noChangeAspect="1"/>
              </p:cNvGraphicFramePr>
              <p:nvPr/>
            </p:nvGraphicFramePr>
            <p:xfrm>
              <a:off x="3645" y="2075"/>
              <a:ext cx="258" cy="224"/>
            </p:xfrm>
            <a:graphic>
              <a:graphicData uri="http://schemas.openxmlformats.org/presentationml/2006/ole">
                <p:oleObj spid="_x0000_s18444" name="Equation" r:id="rId5" imgW="190335" imgH="164957" progId="">
                  <p:embed/>
                </p:oleObj>
              </a:graphicData>
            </a:graphic>
          </p:graphicFrame>
        </p:grpSp>
        <p:sp>
          <p:nvSpPr>
            <p:cNvPr id="18467" name="Line 31"/>
            <p:cNvSpPr>
              <a:spLocks noChangeShapeType="1"/>
            </p:cNvSpPr>
            <p:nvPr/>
          </p:nvSpPr>
          <p:spPr bwMode="auto">
            <a:xfrm flipV="1">
              <a:off x="3450" y="715"/>
              <a:ext cx="1105" cy="834"/>
            </a:xfrm>
            <a:prstGeom prst="line">
              <a:avLst/>
            </a:prstGeom>
            <a:noFill/>
            <a:ln w="28575">
              <a:solidFill>
                <a:srgbClr val="0000FF"/>
              </a:solidFill>
              <a:round/>
              <a:headEnd/>
              <a:tailEnd type="triangle" w="sm" len="lg"/>
            </a:ln>
          </p:spPr>
          <p:txBody>
            <a:bodyPr wrap="none" anchor="ctr"/>
            <a:lstStyle/>
            <a:p>
              <a:endParaRPr lang="zh-CN" altLang="en-US"/>
            </a:p>
          </p:txBody>
        </p:sp>
        <p:sp>
          <p:nvSpPr>
            <p:cNvPr id="18468" name="Line 32"/>
            <p:cNvSpPr>
              <a:spLocks noChangeShapeType="1"/>
            </p:cNvSpPr>
            <p:nvPr/>
          </p:nvSpPr>
          <p:spPr bwMode="auto">
            <a:xfrm flipV="1">
              <a:off x="4026" y="713"/>
              <a:ext cx="529" cy="836"/>
            </a:xfrm>
            <a:prstGeom prst="line">
              <a:avLst/>
            </a:prstGeom>
            <a:noFill/>
            <a:ln w="28575">
              <a:solidFill>
                <a:schemeClr val="tx2"/>
              </a:solidFill>
              <a:round/>
              <a:headEnd/>
              <a:tailEnd type="triangle" w="sm" len="lg"/>
            </a:ln>
          </p:spPr>
          <p:txBody>
            <a:bodyPr wrap="none" anchor="ctr"/>
            <a:lstStyle/>
            <a:p>
              <a:endParaRPr lang="zh-CN" altLang="en-US"/>
            </a:p>
          </p:txBody>
        </p:sp>
        <p:sp>
          <p:nvSpPr>
            <p:cNvPr id="18469" name="Line 33"/>
            <p:cNvSpPr>
              <a:spLocks noChangeShapeType="1"/>
            </p:cNvSpPr>
            <p:nvPr/>
          </p:nvSpPr>
          <p:spPr bwMode="auto">
            <a:xfrm>
              <a:off x="4554" y="733"/>
              <a:ext cx="0" cy="1152"/>
            </a:xfrm>
            <a:prstGeom prst="line">
              <a:avLst/>
            </a:prstGeom>
            <a:noFill/>
            <a:ln w="12700">
              <a:solidFill>
                <a:schemeClr val="tx2"/>
              </a:solidFill>
              <a:prstDash val="lgDashDot"/>
              <a:round/>
              <a:headEnd/>
              <a:tailEnd/>
            </a:ln>
          </p:spPr>
          <p:txBody>
            <a:bodyPr wrap="none" anchor="ctr"/>
            <a:lstStyle/>
            <a:p>
              <a:endParaRPr lang="zh-CN" altLang="en-US"/>
            </a:p>
          </p:txBody>
        </p:sp>
        <p:sp>
          <p:nvSpPr>
            <p:cNvPr id="18470" name="Line 34"/>
            <p:cNvSpPr>
              <a:spLocks noChangeShapeType="1"/>
            </p:cNvSpPr>
            <p:nvPr/>
          </p:nvSpPr>
          <p:spPr bwMode="auto">
            <a:xfrm flipH="1">
              <a:off x="4565" y="1571"/>
              <a:ext cx="358" cy="305"/>
            </a:xfrm>
            <a:prstGeom prst="line">
              <a:avLst/>
            </a:prstGeom>
            <a:noFill/>
            <a:ln w="12700">
              <a:solidFill>
                <a:schemeClr val="tx2"/>
              </a:solidFill>
              <a:prstDash val="lgDashDot"/>
              <a:round/>
              <a:headEnd/>
              <a:tailEnd/>
            </a:ln>
          </p:spPr>
          <p:txBody>
            <a:bodyPr wrap="none" anchor="ctr"/>
            <a:lstStyle/>
            <a:p>
              <a:endParaRPr lang="zh-CN" altLang="en-US"/>
            </a:p>
          </p:txBody>
        </p:sp>
        <p:sp>
          <p:nvSpPr>
            <p:cNvPr id="18471" name="Oval 35"/>
            <p:cNvSpPr>
              <a:spLocks noChangeArrowheads="1"/>
            </p:cNvSpPr>
            <p:nvPr/>
          </p:nvSpPr>
          <p:spPr bwMode="auto">
            <a:xfrm>
              <a:off x="4529" y="688"/>
              <a:ext cx="57" cy="57"/>
            </a:xfrm>
            <a:prstGeom prst="ellipse">
              <a:avLst/>
            </a:prstGeom>
            <a:gradFill rotWithShape="1">
              <a:gsLst>
                <a:gs pos="0">
                  <a:srgbClr val="FF3300"/>
                </a:gs>
                <a:gs pos="100000">
                  <a:srgbClr val="761800">
                    <a:alpha val="79999"/>
                  </a:srgbClr>
                </a:gs>
              </a:gsLst>
              <a:path path="shape">
                <a:fillToRect l="50000" t="50000" r="50000" b="50000"/>
              </a:path>
            </a:gradFill>
            <a:ln w="9525">
              <a:noFill/>
              <a:round/>
              <a:headEnd/>
              <a:tailEnd/>
            </a:ln>
          </p:spPr>
          <p:txBody>
            <a:bodyPr wrap="none" anchor="ctr"/>
            <a:lstStyle/>
            <a:p>
              <a:endParaRPr lang="zh-CN" altLang="en-US"/>
            </a:p>
          </p:txBody>
        </p:sp>
        <p:sp>
          <p:nvSpPr>
            <p:cNvPr id="18472" name="Line 36"/>
            <p:cNvSpPr>
              <a:spLocks noChangeShapeType="1"/>
            </p:cNvSpPr>
            <p:nvPr/>
          </p:nvSpPr>
          <p:spPr bwMode="auto">
            <a:xfrm>
              <a:off x="3056" y="1882"/>
              <a:ext cx="1498" cy="0"/>
            </a:xfrm>
            <a:prstGeom prst="line">
              <a:avLst/>
            </a:prstGeom>
            <a:noFill/>
            <a:ln w="12700">
              <a:solidFill>
                <a:srgbClr val="000099"/>
              </a:solidFill>
              <a:prstDash val="lgDashDot"/>
              <a:round/>
              <a:headEnd/>
              <a:tailEnd/>
            </a:ln>
          </p:spPr>
          <p:txBody>
            <a:bodyPr wrap="none" anchor="ctr"/>
            <a:lstStyle/>
            <a:p>
              <a:endParaRPr lang="zh-CN" altLang="en-US"/>
            </a:p>
          </p:txBody>
        </p:sp>
      </p:grpSp>
      <p:graphicFrame>
        <p:nvGraphicFramePr>
          <p:cNvPr id="183335" name="Object 39"/>
          <p:cNvGraphicFramePr>
            <a:graphicFrameLocks noChangeAspect="1"/>
          </p:cNvGraphicFramePr>
          <p:nvPr/>
        </p:nvGraphicFramePr>
        <p:xfrm>
          <a:off x="522288" y="1336675"/>
          <a:ext cx="993775" cy="817563"/>
        </p:xfrm>
        <a:graphic>
          <a:graphicData uri="http://schemas.openxmlformats.org/presentationml/2006/ole">
            <p:oleObj spid="_x0000_s18434" name="公式" r:id="rId6" imgW="507960" imgH="419040" progId="Equation.3">
              <p:embed/>
            </p:oleObj>
          </a:graphicData>
        </a:graphic>
      </p:graphicFrame>
      <p:graphicFrame>
        <p:nvGraphicFramePr>
          <p:cNvPr id="183336" name="Object 40"/>
          <p:cNvGraphicFramePr>
            <a:graphicFrameLocks noChangeAspect="1"/>
          </p:cNvGraphicFramePr>
          <p:nvPr/>
        </p:nvGraphicFramePr>
        <p:xfrm>
          <a:off x="1871663" y="1358900"/>
          <a:ext cx="995362" cy="768350"/>
        </p:xfrm>
        <a:graphic>
          <a:graphicData uri="http://schemas.openxmlformats.org/presentationml/2006/ole">
            <p:oleObj spid="_x0000_s18435" name="Equation" r:id="rId7" imgW="507780" imgH="393529" progId="">
              <p:embed/>
            </p:oleObj>
          </a:graphicData>
        </a:graphic>
      </p:graphicFrame>
      <p:graphicFrame>
        <p:nvGraphicFramePr>
          <p:cNvPr id="183337" name="Object 41"/>
          <p:cNvGraphicFramePr>
            <a:graphicFrameLocks noChangeAspect="1"/>
          </p:cNvGraphicFramePr>
          <p:nvPr/>
        </p:nvGraphicFramePr>
        <p:xfrm>
          <a:off x="3357563" y="1358900"/>
          <a:ext cx="946150" cy="746125"/>
        </p:xfrm>
        <a:graphic>
          <a:graphicData uri="http://schemas.openxmlformats.org/presentationml/2006/ole">
            <p:oleObj spid="_x0000_s18436" name="Equation" r:id="rId8" imgW="495085" imgH="393529" progId="">
              <p:embed/>
            </p:oleObj>
          </a:graphicData>
        </a:graphic>
      </p:graphicFrame>
      <p:sp>
        <p:nvSpPr>
          <p:cNvPr id="18448" name="Rectangle 42"/>
          <p:cNvSpPr>
            <a:spLocks noChangeArrowheads="1"/>
          </p:cNvSpPr>
          <p:nvPr/>
        </p:nvSpPr>
        <p:spPr bwMode="auto">
          <a:xfrm>
            <a:off x="0" y="4129088"/>
            <a:ext cx="219075" cy="260350"/>
          </a:xfrm>
          <a:prstGeom prst="rect">
            <a:avLst/>
          </a:prstGeom>
          <a:noFill/>
          <a:ln w="9525">
            <a:noFill/>
            <a:miter lim="800000"/>
            <a:headEnd/>
            <a:tailEnd/>
          </a:ln>
        </p:spPr>
        <p:txBody>
          <a:bodyPr wrap="none" anchor="ctr">
            <a:spAutoFit/>
          </a:bodyPr>
          <a:lstStyle/>
          <a:p>
            <a:pPr algn="l"/>
            <a:r>
              <a:rPr lang="en-US" altLang="zh-CN" sz="1100"/>
              <a:t> </a:t>
            </a:r>
            <a:endParaRPr lang="en-US" altLang="zh-CN"/>
          </a:p>
        </p:txBody>
      </p:sp>
      <p:sp>
        <p:nvSpPr>
          <p:cNvPr id="183339" name="Text Box 43"/>
          <p:cNvSpPr txBox="1">
            <a:spLocks noChangeArrowheads="1"/>
          </p:cNvSpPr>
          <p:nvPr/>
        </p:nvSpPr>
        <p:spPr bwMode="auto">
          <a:xfrm>
            <a:off x="1736725" y="954088"/>
            <a:ext cx="2474913" cy="461962"/>
          </a:xfrm>
          <a:prstGeom prst="rect">
            <a:avLst/>
          </a:prstGeom>
          <a:noFill/>
          <a:ln w="9525">
            <a:noFill/>
            <a:miter lim="800000"/>
            <a:headEnd/>
            <a:tailEnd/>
          </a:ln>
        </p:spPr>
        <p:txBody>
          <a:bodyPr>
            <a:spAutoFit/>
          </a:bodyPr>
          <a:lstStyle/>
          <a:p>
            <a:pPr algn="l">
              <a:spcBef>
                <a:spcPct val="50000"/>
              </a:spcBef>
            </a:pPr>
            <a:r>
              <a:rPr lang="zh-CN" altLang="en-US" b="1"/>
              <a:t>质点</a:t>
            </a:r>
            <a:r>
              <a:rPr lang="en-US" altLang="zh-CN" b="1"/>
              <a:t> </a:t>
            </a:r>
            <a:r>
              <a:rPr lang="en-US" altLang="zh-CN" b="1" i="1">
                <a:solidFill>
                  <a:schemeClr val="accent2"/>
                </a:solidFill>
              </a:rPr>
              <a:t>P </a:t>
            </a:r>
            <a:r>
              <a:rPr lang="zh-CN" altLang="en-US" b="1"/>
              <a:t>的速度</a:t>
            </a:r>
            <a:r>
              <a:rPr lang="en-US" altLang="zh-CN" b="1"/>
              <a:t> </a:t>
            </a:r>
          </a:p>
        </p:txBody>
      </p:sp>
      <p:sp>
        <p:nvSpPr>
          <p:cNvPr id="183340" name="Text Box 44"/>
          <p:cNvSpPr txBox="1">
            <a:spLocks noChangeArrowheads="1"/>
          </p:cNvSpPr>
          <p:nvPr/>
        </p:nvSpPr>
        <p:spPr bwMode="auto">
          <a:xfrm>
            <a:off x="611188" y="2168525"/>
            <a:ext cx="1081087" cy="461963"/>
          </a:xfrm>
          <a:prstGeom prst="rect">
            <a:avLst/>
          </a:prstGeom>
          <a:noFill/>
          <a:ln w="9525">
            <a:noFill/>
            <a:miter lim="800000"/>
            <a:headEnd/>
            <a:tailEnd/>
          </a:ln>
        </p:spPr>
        <p:txBody>
          <a:bodyPr>
            <a:spAutoFit/>
          </a:bodyPr>
          <a:lstStyle/>
          <a:p>
            <a:pPr>
              <a:spcBef>
                <a:spcPct val="50000"/>
              </a:spcBef>
            </a:pPr>
            <a:r>
              <a:rPr lang="en-US" altLang="zh-CN" b="1" i="1">
                <a:solidFill>
                  <a:schemeClr val="accent2"/>
                </a:solidFill>
              </a:rPr>
              <a:t>S' </a:t>
            </a:r>
            <a:r>
              <a:rPr lang="zh-CN" altLang="en-US" b="1"/>
              <a:t>系</a:t>
            </a:r>
          </a:p>
        </p:txBody>
      </p:sp>
      <p:sp>
        <p:nvSpPr>
          <p:cNvPr id="183341" name="Text Box 45"/>
          <p:cNvSpPr txBox="1">
            <a:spLocks noChangeArrowheads="1"/>
          </p:cNvSpPr>
          <p:nvPr/>
        </p:nvSpPr>
        <p:spPr bwMode="auto">
          <a:xfrm>
            <a:off x="565150" y="946150"/>
            <a:ext cx="1036638" cy="461963"/>
          </a:xfrm>
          <a:prstGeom prst="rect">
            <a:avLst/>
          </a:prstGeom>
          <a:noFill/>
          <a:ln w="9525">
            <a:noFill/>
            <a:miter lim="800000"/>
            <a:headEnd/>
            <a:tailEnd/>
          </a:ln>
        </p:spPr>
        <p:txBody>
          <a:bodyPr>
            <a:spAutoFit/>
          </a:bodyPr>
          <a:lstStyle/>
          <a:p>
            <a:pPr>
              <a:spcBef>
                <a:spcPct val="50000"/>
              </a:spcBef>
            </a:pPr>
            <a:r>
              <a:rPr lang="en-US" altLang="zh-CN" b="1" i="1">
                <a:solidFill>
                  <a:schemeClr val="accent2"/>
                </a:solidFill>
              </a:rPr>
              <a:t>S </a:t>
            </a:r>
            <a:r>
              <a:rPr lang="zh-CN" altLang="en-US" b="1"/>
              <a:t>系</a:t>
            </a:r>
          </a:p>
        </p:txBody>
      </p:sp>
      <p:sp>
        <p:nvSpPr>
          <p:cNvPr id="183342" name="Text Box 46"/>
          <p:cNvSpPr txBox="1">
            <a:spLocks noChangeArrowheads="1"/>
          </p:cNvSpPr>
          <p:nvPr/>
        </p:nvSpPr>
        <p:spPr bwMode="auto">
          <a:xfrm>
            <a:off x="1736725" y="2168525"/>
            <a:ext cx="2609850" cy="461963"/>
          </a:xfrm>
          <a:prstGeom prst="rect">
            <a:avLst/>
          </a:prstGeom>
          <a:noFill/>
          <a:ln w="9525">
            <a:noFill/>
            <a:miter lim="800000"/>
            <a:headEnd/>
            <a:tailEnd/>
          </a:ln>
        </p:spPr>
        <p:txBody>
          <a:bodyPr>
            <a:spAutoFit/>
          </a:bodyPr>
          <a:lstStyle/>
          <a:p>
            <a:pPr algn="l">
              <a:spcBef>
                <a:spcPct val="50000"/>
              </a:spcBef>
            </a:pPr>
            <a:r>
              <a:rPr lang="zh-CN" altLang="en-US" b="1"/>
              <a:t>质点</a:t>
            </a:r>
            <a:r>
              <a:rPr lang="en-US" altLang="zh-CN" b="1"/>
              <a:t> </a:t>
            </a:r>
            <a:r>
              <a:rPr lang="en-US" altLang="zh-CN" b="1" i="1">
                <a:solidFill>
                  <a:schemeClr val="accent2"/>
                </a:solidFill>
              </a:rPr>
              <a:t>P </a:t>
            </a:r>
            <a:r>
              <a:rPr lang="zh-CN" altLang="en-US" b="1"/>
              <a:t>的速度</a:t>
            </a:r>
            <a:r>
              <a:rPr lang="en-US" altLang="zh-CN" b="1"/>
              <a:t> </a:t>
            </a:r>
          </a:p>
        </p:txBody>
      </p:sp>
      <p:graphicFrame>
        <p:nvGraphicFramePr>
          <p:cNvPr id="183343" name="Object 47"/>
          <p:cNvGraphicFramePr>
            <a:graphicFrameLocks noChangeAspect="1"/>
          </p:cNvGraphicFramePr>
          <p:nvPr/>
        </p:nvGraphicFramePr>
        <p:xfrm>
          <a:off x="385763" y="2573338"/>
          <a:ext cx="1035050" cy="758825"/>
        </p:xfrm>
        <a:graphic>
          <a:graphicData uri="http://schemas.openxmlformats.org/presentationml/2006/ole">
            <p:oleObj spid="_x0000_s18437" name="Equation" r:id="rId9" imgW="533169" imgH="393529" progId="">
              <p:embed/>
            </p:oleObj>
          </a:graphicData>
        </a:graphic>
      </p:graphicFrame>
      <p:graphicFrame>
        <p:nvGraphicFramePr>
          <p:cNvPr id="183344" name="Object 48"/>
          <p:cNvGraphicFramePr>
            <a:graphicFrameLocks noChangeAspect="1"/>
          </p:cNvGraphicFramePr>
          <p:nvPr/>
        </p:nvGraphicFramePr>
        <p:xfrm>
          <a:off x="1825625" y="2579688"/>
          <a:ext cx="1054100" cy="758825"/>
        </p:xfrm>
        <a:graphic>
          <a:graphicData uri="http://schemas.openxmlformats.org/presentationml/2006/ole">
            <p:oleObj spid="_x0000_s18438" name="Equation" r:id="rId10" imgW="545863" imgH="393529" progId="">
              <p:embed/>
            </p:oleObj>
          </a:graphicData>
        </a:graphic>
      </p:graphicFrame>
      <p:graphicFrame>
        <p:nvGraphicFramePr>
          <p:cNvPr id="183345" name="Object 49"/>
          <p:cNvGraphicFramePr>
            <a:graphicFrameLocks noChangeAspect="1"/>
          </p:cNvGraphicFramePr>
          <p:nvPr/>
        </p:nvGraphicFramePr>
        <p:xfrm>
          <a:off x="3311525" y="2573338"/>
          <a:ext cx="1035050" cy="758825"/>
        </p:xfrm>
        <a:graphic>
          <a:graphicData uri="http://schemas.openxmlformats.org/presentationml/2006/ole">
            <p:oleObj spid="_x0000_s18439" name="Equation" r:id="rId11" imgW="533169" imgH="393529" progId="">
              <p:embed/>
            </p:oleObj>
          </a:graphicData>
        </a:graphic>
      </p:graphicFrame>
      <p:sp>
        <p:nvSpPr>
          <p:cNvPr id="18453" name="Rectangle 50"/>
          <p:cNvSpPr>
            <a:spLocks noChangeArrowheads="1"/>
          </p:cNvSpPr>
          <p:nvPr/>
        </p:nvSpPr>
        <p:spPr bwMode="auto">
          <a:xfrm>
            <a:off x="0" y="4129088"/>
            <a:ext cx="219075" cy="260350"/>
          </a:xfrm>
          <a:prstGeom prst="rect">
            <a:avLst/>
          </a:prstGeom>
          <a:noFill/>
          <a:ln w="9525">
            <a:noFill/>
            <a:miter lim="800000"/>
            <a:headEnd/>
            <a:tailEnd/>
          </a:ln>
        </p:spPr>
        <p:txBody>
          <a:bodyPr wrap="none" anchor="ctr">
            <a:spAutoFit/>
          </a:bodyPr>
          <a:lstStyle/>
          <a:p>
            <a:pPr algn="l"/>
            <a:r>
              <a:rPr lang="en-US" altLang="zh-CN" sz="1100"/>
              <a:t> </a:t>
            </a:r>
            <a:endParaRPr lang="en-US" altLang="zh-CN"/>
          </a:p>
        </p:txBody>
      </p:sp>
      <p:graphicFrame>
        <p:nvGraphicFramePr>
          <p:cNvPr id="183347" name="Object 51"/>
          <p:cNvGraphicFramePr>
            <a:graphicFrameLocks/>
          </p:cNvGraphicFramePr>
          <p:nvPr/>
        </p:nvGraphicFramePr>
        <p:xfrm>
          <a:off x="1193800" y="3606800"/>
          <a:ext cx="2901950" cy="1227138"/>
        </p:xfrm>
        <a:graphic>
          <a:graphicData uri="http://schemas.openxmlformats.org/presentationml/2006/ole">
            <p:oleObj spid="_x0000_s18440" name="Equation" r:id="rId12" imgW="2895600" imgH="1231900" progId="">
              <p:embed/>
            </p:oleObj>
          </a:graphicData>
        </a:graphic>
      </p:graphicFrame>
      <p:sp>
        <p:nvSpPr>
          <p:cNvPr id="183348" name="Text Box 52"/>
          <p:cNvSpPr txBox="1">
            <a:spLocks noChangeArrowheads="1"/>
          </p:cNvSpPr>
          <p:nvPr/>
        </p:nvSpPr>
        <p:spPr bwMode="auto">
          <a:xfrm>
            <a:off x="571500" y="3784600"/>
            <a:ext cx="638175" cy="457200"/>
          </a:xfrm>
          <a:prstGeom prst="rect">
            <a:avLst/>
          </a:prstGeom>
          <a:noFill/>
          <a:ln w="9525">
            <a:noFill/>
            <a:miter lim="800000"/>
            <a:headEnd/>
            <a:tailEnd/>
          </a:ln>
        </p:spPr>
        <p:txBody>
          <a:bodyPr>
            <a:spAutoFit/>
          </a:bodyPr>
          <a:lstStyle/>
          <a:p>
            <a:pPr algn="l" defTabSz="762000" eaLnBrk="0" hangingPunct="0">
              <a:spcBef>
                <a:spcPct val="50000"/>
              </a:spcBef>
            </a:pPr>
            <a:r>
              <a:rPr lang="zh-CN" altLang="en-US" b="1">
                <a:solidFill>
                  <a:schemeClr val="bg2"/>
                </a:solidFill>
                <a:latin typeface="宋体" pitchFamily="2" charset="-122"/>
              </a:rPr>
              <a:t>得</a:t>
            </a:r>
          </a:p>
        </p:txBody>
      </p:sp>
      <p:graphicFrame>
        <p:nvGraphicFramePr>
          <p:cNvPr id="183349" name="Object 53"/>
          <p:cNvGraphicFramePr>
            <a:graphicFrameLocks/>
          </p:cNvGraphicFramePr>
          <p:nvPr/>
        </p:nvGraphicFramePr>
        <p:xfrm>
          <a:off x="1376363" y="5094288"/>
          <a:ext cx="2971800" cy="1301750"/>
        </p:xfrm>
        <a:graphic>
          <a:graphicData uri="http://schemas.openxmlformats.org/presentationml/2006/ole">
            <p:oleObj spid="_x0000_s18441" name="公式" r:id="rId13" imgW="2971800" imgH="1308100" progId="Equation.3">
              <p:embed/>
            </p:oleObj>
          </a:graphicData>
        </a:graphic>
      </p:graphicFrame>
      <p:graphicFrame>
        <p:nvGraphicFramePr>
          <p:cNvPr id="183350" name="Object 54"/>
          <p:cNvGraphicFramePr>
            <a:graphicFrameLocks/>
          </p:cNvGraphicFramePr>
          <p:nvPr/>
        </p:nvGraphicFramePr>
        <p:xfrm>
          <a:off x="5246688" y="5094288"/>
          <a:ext cx="2916237" cy="1301750"/>
        </p:xfrm>
        <a:graphic>
          <a:graphicData uri="http://schemas.openxmlformats.org/presentationml/2006/ole">
            <p:oleObj spid="_x0000_s18442" name="公式" r:id="rId14" imgW="2921000" imgH="13081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3298"/>
                                        </p:tgtEl>
                                        <p:attrNameLst>
                                          <p:attrName>style.visibility</p:attrName>
                                        </p:attrNameLst>
                                      </p:cBhvr>
                                      <p:to>
                                        <p:strVal val="visible"/>
                                      </p:to>
                                    </p:set>
                                    <p:animEffect transition="in" filter="wipe(left)">
                                      <p:cBhvr>
                                        <p:cTn id="7" dur="1000"/>
                                        <p:tgtEl>
                                          <p:spTgt spid="1832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out)">
                                      <p:cBhvr>
                                        <p:cTn id="12" dur="10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3341"/>
                                        </p:tgtEl>
                                        <p:attrNameLst>
                                          <p:attrName>style.visibility</p:attrName>
                                        </p:attrNameLst>
                                      </p:cBhvr>
                                      <p:to>
                                        <p:strVal val="visible"/>
                                      </p:to>
                                    </p:set>
                                    <p:animEffect transition="in" filter="wipe(left)">
                                      <p:cBhvr>
                                        <p:cTn id="17" dur="1000"/>
                                        <p:tgtEl>
                                          <p:spTgt spid="18334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3339"/>
                                        </p:tgtEl>
                                        <p:attrNameLst>
                                          <p:attrName>style.visibility</p:attrName>
                                        </p:attrNameLst>
                                      </p:cBhvr>
                                      <p:to>
                                        <p:strVal val="visible"/>
                                      </p:to>
                                    </p:set>
                                    <p:animEffect transition="in" filter="wipe(left)">
                                      <p:cBhvr>
                                        <p:cTn id="22" dur="1000"/>
                                        <p:tgtEl>
                                          <p:spTgt spid="1833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83335"/>
                                        </p:tgtEl>
                                        <p:attrNameLst>
                                          <p:attrName>style.visibility</p:attrName>
                                        </p:attrNameLst>
                                      </p:cBhvr>
                                      <p:to>
                                        <p:strVal val="visible"/>
                                      </p:to>
                                    </p:set>
                                    <p:animEffect transition="in" filter="wipe(left)">
                                      <p:cBhvr>
                                        <p:cTn id="27" dur="1000"/>
                                        <p:tgtEl>
                                          <p:spTgt spid="18333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83336"/>
                                        </p:tgtEl>
                                        <p:attrNameLst>
                                          <p:attrName>style.visibility</p:attrName>
                                        </p:attrNameLst>
                                      </p:cBhvr>
                                      <p:to>
                                        <p:strVal val="visible"/>
                                      </p:to>
                                    </p:set>
                                    <p:animEffect transition="in" filter="wipe(left)">
                                      <p:cBhvr>
                                        <p:cTn id="32" dur="1000"/>
                                        <p:tgtEl>
                                          <p:spTgt spid="18333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83337"/>
                                        </p:tgtEl>
                                        <p:attrNameLst>
                                          <p:attrName>style.visibility</p:attrName>
                                        </p:attrNameLst>
                                      </p:cBhvr>
                                      <p:to>
                                        <p:strVal val="visible"/>
                                      </p:to>
                                    </p:set>
                                    <p:animEffect transition="in" filter="wipe(left)">
                                      <p:cBhvr>
                                        <p:cTn id="37" dur="1000"/>
                                        <p:tgtEl>
                                          <p:spTgt spid="18333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3340"/>
                                        </p:tgtEl>
                                        <p:attrNameLst>
                                          <p:attrName>style.visibility</p:attrName>
                                        </p:attrNameLst>
                                      </p:cBhvr>
                                      <p:to>
                                        <p:strVal val="visible"/>
                                      </p:to>
                                    </p:set>
                                    <p:animEffect transition="in" filter="wipe(left)">
                                      <p:cBhvr>
                                        <p:cTn id="42" dur="1000"/>
                                        <p:tgtEl>
                                          <p:spTgt spid="18334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83342"/>
                                        </p:tgtEl>
                                        <p:attrNameLst>
                                          <p:attrName>style.visibility</p:attrName>
                                        </p:attrNameLst>
                                      </p:cBhvr>
                                      <p:to>
                                        <p:strVal val="visible"/>
                                      </p:to>
                                    </p:set>
                                    <p:animEffect transition="in" filter="wipe(left)">
                                      <p:cBhvr>
                                        <p:cTn id="47" dur="1000"/>
                                        <p:tgtEl>
                                          <p:spTgt spid="18334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83343"/>
                                        </p:tgtEl>
                                        <p:attrNameLst>
                                          <p:attrName>style.visibility</p:attrName>
                                        </p:attrNameLst>
                                      </p:cBhvr>
                                      <p:to>
                                        <p:strVal val="visible"/>
                                      </p:to>
                                    </p:set>
                                    <p:animEffect transition="in" filter="wipe(left)">
                                      <p:cBhvr>
                                        <p:cTn id="52" dur="1000"/>
                                        <p:tgtEl>
                                          <p:spTgt spid="18334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83344"/>
                                        </p:tgtEl>
                                        <p:attrNameLst>
                                          <p:attrName>style.visibility</p:attrName>
                                        </p:attrNameLst>
                                      </p:cBhvr>
                                      <p:to>
                                        <p:strVal val="visible"/>
                                      </p:to>
                                    </p:set>
                                    <p:animEffect transition="in" filter="wipe(left)">
                                      <p:cBhvr>
                                        <p:cTn id="57" dur="1000"/>
                                        <p:tgtEl>
                                          <p:spTgt spid="18334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183345"/>
                                        </p:tgtEl>
                                        <p:attrNameLst>
                                          <p:attrName>style.visibility</p:attrName>
                                        </p:attrNameLst>
                                      </p:cBhvr>
                                      <p:to>
                                        <p:strVal val="visible"/>
                                      </p:to>
                                    </p:set>
                                    <p:animEffect transition="in" filter="wipe(left)">
                                      <p:cBhvr>
                                        <p:cTn id="62" dur="1000"/>
                                        <p:tgtEl>
                                          <p:spTgt spid="18334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83348"/>
                                        </p:tgtEl>
                                        <p:attrNameLst>
                                          <p:attrName>style.visibility</p:attrName>
                                        </p:attrNameLst>
                                      </p:cBhvr>
                                      <p:to>
                                        <p:strVal val="visible"/>
                                      </p:to>
                                    </p:set>
                                    <p:animEffect transition="in" filter="wipe(left)">
                                      <p:cBhvr>
                                        <p:cTn id="67" dur="1000"/>
                                        <p:tgtEl>
                                          <p:spTgt spid="18334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183347"/>
                                        </p:tgtEl>
                                        <p:attrNameLst>
                                          <p:attrName>style.visibility</p:attrName>
                                        </p:attrNameLst>
                                      </p:cBhvr>
                                      <p:to>
                                        <p:strVal val="visible"/>
                                      </p:to>
                                    </p:set>
                                    <p:animEffect transition="in" filter="wipe(left)">
                                      <p:cBhvr>
                                        <p:cTn id="72" dur="1000"/>
                                        <p:tgtEl>
                                          <p:spTgt spid="183347"/>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183349"/>
                                        </p:tgtEl>
                                        <p:attrNameLst>
                                          <p:attrName>style.visibility</p:attrName>
                                        </p:attrNameLst>
                                      </p:cBhvr>
                                      <p:to>
                                        <p:strVal val="visible"/>
                                      </p:to>
                                    </p:set>
                                    <p:animEffect transition="in" filter="wipe(left)">
                                      <p:cBhvr>
                                        <p:cTn id="77" dur="1000"/>
                                        <p:tgtEl>
                                          <p:spTgt spid="183349"/>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183350"/>
                                        </p:tgtEl>
                                        <p:attrNameLst>
                                          <p:attrName>style.visibility</p:attrName>
                                        </p:attrNameLst>
                                      </p:cBhvr>
                                      <p:to>
                                        <p:strVal val="visible"/>
                                      </p:to>
                                    </p:set>
                                    <p:animEffect transition="in" filter="wipe(left)">
                                      <p:cBhvr>
                                        <p:cTn id="82" dur="1000"/>
                                        <p:tgtEl>
                                          <p:spTgt spid="1833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8" grpId="0"/>
      <p:bldP spid="183339" grpId="0"/>
      <p:bldP spid="183340" grpId="0"/>
      <p:bldP spid="183341" grpId="0"/>
      <p:bldP spid="183342" grpId="0"/>
      <p:bldP spid="18334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ChangeArrowheads="1"/>
          </p:cNvSpPr>
          <p:nvPr/>
        </p:nvSpPr>
        <p:spPr bwMode="auto">
          <a:xfrm>
            <a:off x="0" y="1968500"/>
            <a:ext cx="219075" cy="260350"/>
          </a:xfrm>
          <a:prstGeom prst="rect">
            <a:avLst/>
          </a:prstGeom>
          <a:noFill/>
          <a:ln w="9525">
            <a:noFill/>
            <a:miter lim="800000"/>
            <a:headEnd/>
            <a:tailEnd/>
          </a:ln>
        </p:spPr>
        <p:txBody>
          <a:bodyPr wrap="none" anchor="ctr">
            <a:spAutoFit/>
          </a:bodyPr>
          <a:lstStyle/>
          <a:p>
            <a:pPr algn="l"/>
            <a:r>
              <a:rPr lang="en-US" altLang="zh-CN" sz="1100"/>
              <a:t> </a:t>
            </a:r>
            <a:endParaRPr lang="en-US" altLang="zh-CN"/>
          </a:p>
        </p:txBody>
      </p:sp>
      <p:sp>
        <p:nvSpPr>
          <p:cNvPr id="19461" name="Rectangle 3"/>
          <p:cNvSpPr>
            <a:spLocks noChangeArrowheads="1"/>
          </p:cNvSpPr>
          <p:nvPr/>
        </p:nvSpPr>
        <p:spPr bwMode="auto">
          <a:xfrm>
            <a:off x="0" y="1968500"/>
            <a:ext cx="219075" cy="260350"/>
          </a:xfrm>
          <a:prstGeom prst="rect">
            <a:avLst/>
          </a:prstGeom>
          <a:noFill/>
          <a:ln w="9525">
            <a:noFill/>
            <a:miter lim="800000"/>
            <a:headEnd/>
            <a:tailEnd/>
          </a:ln>
        </p:spPr>
        <p:txBody>
          <a:bodyPr wrap="none" anchor="ctr">
            <a:spAutoFit/>
          </a:bodyPr>
          <a:lstStyle/>
          <a:p>
            <a:pPr algn="l"/>
            <a:r>
              <a:rPr lang="en-US" altLang="zh-CN" sz="1100"/>
              <a:t> </a:t>
            </a:r>
            <a:endParaRPr lang="en-US" altLang="zh-CN"/>
          </a:p>
        </p:txBody>
      </p:sp>
      <p:graphicFrame>
        <p:nvGraphicFramePr>
          <p:cNvPr id="184324" name="Object 4"/>
          <p:cNvGraphicFramePr>
            <a:graphicFrameLocks noChangeAspect="1"/>
          </p:cNvGraphicFramePr>
          <p:nvPr/>
        </p:nvGraphicFramePr>
        <p:xfrm>
          <a:off x="1555750" y="368300"/>
          <a:ext cx="2617788" cy="4005263"/>
        </p:xfrm>
        <a:graphic>
          <a:graphicData uri="http://schemas.openxmlformats.org/presentationml/2006/ole">
            <p:oleObj spid="_x0000_s19458" name="Equation" r:id="rId3" imgW="1524000" imgH="1955800" progId="">
              <p:embed/>
            </p:oleObj>
          </a:graphicData>
        </a:graphic>
      </p:graphicFrame>
      <p:sp>
        <p:nvSpPr>
          <p:cNvPr id="184325" name="AutoShape 5"/>
          <p:cNvSpPr>
            <a:spLocks/>
          </p:cNvSpPr>
          <p:nvPr/>
        </p:nvSpPr>
        <p:spPr bwMode="auto">
          <a:xfrm>
            <a:off x="1112838" y="817563"/>
            <a:ext cx="360362" cy="2971800"/>
          </a:xfrm>
          <a:prstGeom prst="leftBrace">
            <a:avLst>
              <a:gd name="adj1" fmla="val 68723"/>
              <a:gd name="adj2" fmla="val 50000"/>
            </a:avLst>
          </a:prstGeom>
          <a:noFill/>
          <a:ln w="28575">
            <a:solidFill>
              <a:srgbClr val="000099"/>
            </a:solidFill>
            <a:round/>
            <a:headEnd/>
            <a:tailEnd/>
          </a:ln>
        </p:spPr>
        <p:txBody>
          <a:bodyPr wrap="none" anchor="ctr"/>
          <a:lstStyle/>
          <a:p>
            <a:endParaRPr lang="zh-CN" altLang="en-US"/>
          </a:p>
        </p:txBody>
      </p:sp>
      <p:graphicFrame>
        <p:nvGraphicFramePr>
          <p:cNvPr id="184326" name="Object 6"/>
          <p:cNvGraphicFramePr>
            <a:graphicFrameLocks noChangeAspect="1"/>
          </p:cNvGraphicFramePr>
          <p:nvPr/>
        </p:nvGraphicFramePr>
        <p:xfrm>
          <a:off x="5524500" y="368300"/>
          <a:ext cx="2794000" cy="4005263"/>
        </p:xfrm>
        <a:graphic>
          <a:graphicData uri="http://schemas.openxmlformats.org/presentationml/2006/ole">
            <p:oleObj spid="_x0000_s19459" name="Equation" r:id="rId4" imgW="1524000" imgH="1955800" progId="">
              <p:embed/>
            </p:oleObj>
          </a:graphicData>
        </a:graphic>
      </p:graphicFrame>
      <p:sp>
        <p:nvSpPr>
          <p:cNvPr id="184327" name="AutoShape 7"/>
          <p:cNvSpPr>
            <a:spLocks/>
          </p:cNvSpPr>
          <p:nvPr/>
        </p:nvSpPr>
        <p:spPr bwMode="auto">
          <a:xfrm>
            <a:off x="5157788" y="773113"/>
            <a:ext cx="366712" cy="2971800"/>
          </a:xfrm>
          <a:prstGeom prst="leftBrace">
            <a:avLst>
              <a:gd name="adj1" fmla="val 67533"/>
              <a:gd name="adj2" fmla="val 50000"/>
            </a:avLst>
          </a:prstGeom>
          <a:noFill/>
          <a:ln w="28575">
            <a:solidFill>
              <a:srgbClr val="000099"/>
            </a:solidFill>
            <a:round/>
            <a:headEnd/>
            <a:tailEnd/>
          </a:ln>
        </p:spPr>
        <p:txBody>
          <a:bodyPr wrap="none" anchor="ctr"/>
          <a:lstStyle/>
          <a:p>
            <a:endParaRPr lang="zh-CN" altLang="en-US"/>
          </a:p>
        </p:txBody>
      </p:sp>
      <p:sp>
        <p:nvSpPr>
          <p:cNvPr id="184328" name="Text Box 8"/>
          <p:cNvSpPr txBox="1">
            <a:spLocks noChangeArrowheads="1"/>
          </p:cNvSpPr>
          <p:nvPr/>
        </p:nvSpPr>
        <p:spPr bwMode="auto">
          <a:xfrm>
            <a:off x="566738" y="4554538"/>
            <a:ext cx="8280400" cy="1422400"/>
          </a:xfrm>
          <a:prstGeom prst="rect">
            <a:avLst/>
          </a:prstGeom>
          <a:noFill/>
          <a:ln w="9525">
            <a:noFill/>
            <a:miter lim="800000"/>
            <a:headEnd/>
            <a:tailEnd/>
          </a:ln>
        </p:spPr>
        <p:txBody>
          <a:bodyPr>
            <a:spAutoFit/>
          </a:bodyPr>
          <a:lstStyle/>
          <a:p>
            <a:pPr algn="l">
              <a:lnSpc>
                <a:spcPct val="120000"/>
              </a:lnSpc>
            </a:pPr>
            <a:r>
              <a:rPr lang="zh-CN" altLang="en-US" b="1">
                <a:latin typeface="宋体" pitchFamily="2" charset="-122"/>
              </a:rPr>
              <a:t>相对论速度变换与伽利略速度变换不同，虽然</a:t>
            </a:r>
            <a:r>
              <a:rPr lang="en-US" altLang="zh-CN" b="1">
                <a:latin typeface="宋体" pitchFamily="2" charset="-122"/>
              </a:rPr>
              <a:t> </a:t>
            </a:r>
            <a:r>
              <a:rPr lang="en-US" altLang="zh-CN" b="1" i="1">
                <a:solidFill>
                  <a:schemeClr val="accent2"/>
                </a:solidFill>
              </a:rPr>
              <a:t>S</a:t>
            </a:r>
            <a:r>
              <a:rPr lang="en-US" altLang="zh-CN" b="1" i="1">
                <a:solidFill>
                  <a:srgbClr val="FF6600"/>
                </a:solidFill>
                <a:sym typeface="Symbol" pitchFamily="18" charset="2"/>
              </a:rPr>
              <a:t>'</a:t>
            </a:r>
            <a:r>
              <a:rPr lang="en-US" altLang="zh-CN" b="1" i="1">
                <a:solidFill>
                  <a:schemeClr val="accent2"/>
                </a:solidFill>
              </a:rPr>
              <a:t> </a:t>
            </a:r>
            <a:r>
              <a:rPr lang="zh-CN" altLang="en-US" b="1">
                <a:latin typeface="宋体" pitchFamily="2" charset="-122"/>
              </a:rPr>
              <a:t>系相对于</a:t>
            </a:r>
            <a:r>
              <a:rPr lang="en-US" altLang="zh-CN" b="1" i="1">
                <a:solidFill>
                  <a:schemeClr val="accent2"/>
                </a:solidFill>
              </a:rPr>
              <a:t>S</a:t>
            </a:r>
            <a:r>
              <a:rPr lang="zh-CN" altLang="en-US" b="1">
                <a:latin typeface="宋体" pitchFamily="2" charset="-122"/>
              </a:rPr>
              <a:t>系只是沿</a:t>
            </a:r>
            <a:r>
              <a:rPr lang="en-US" altLang="zh-CN" b="1">
                <a:latin typeface="宋体" pitchFamily="2" charset="-122"/>
              </a:rPr>
              <a:t> </a:t>
            </a:r>
            <a:r>
              <a:rPr lang="en-US" altLang="zh-CN" b="1" i="1">
                <a:solidFill>
                  <a:schemeClr val="accent2"/>
                </a:solidFill>
              </a:rPr>
              <a:t>x </a:t>
            </a:r>
            <a:r>
              <a:rPr lang="zh-CN" altLang="en-US" b="1">
                <a:latin typeface="宋体" pitchFamily="2" charset="-122"/>
              </a:rPr>
              <a:t>轴方向运动，但是速度不仅在</a:t>
            </a:r>
            <a:r>
              <a:rPr lang="en-US" altLang="zh-CN" b="1">
                <a:latin typeface="宋体" pitchFamily="2" charset="-122"/>
              </a:rPr>
              <a:t> </a:t>
            </a:r>
            <a:r>
              <a:rPr lang="en-US" altLang="zh-CN" b="1" i="1">
                <a:solidFill>
                  <a:schemeClr val="accent2"/>
                </a:solidFill>
              </a:rPr>
              <a:t>x </a:t>
            </a:r>
            <a:r>
              <a:rPr lang="zh-CN" altLang="en-US" b="1">
                <a:latin typeface="宋体" pitchFamily="2" charset="-122"/>
              </a:rPr>
              <a:t>方向的分量要变换，而且在</a:t>
            </a:r>
            <a:r>
              <a:rPr lang="en-US" altLang="zh-CN" b="1">
                <a:latin typeface="宋体" pitchFamily="2" charset="-122"/>
              </a:rPr>
              <a:t> </a:t>
            </a:r>
            <a:r>
              <a:rPr lang="en-US" altLang="zh-CN" b="1" i="1">
                <a:solidFill>
                  <a:schemeClr val="accent2"/>
                </a:solidFill>
              </a:rPr>
              <a:t>y </a:t>
            </a:r>
            <a:r>
              <a:rPr lang="zh-CN" altLang="en-US" b="1">
                <a:latin typeface="宋体" pitchFamily="2" charset="-122"/>
              </a:rPr>
              <a:t>方向的分量和</a:t>
            </a:r>
            <a:r>
              <a:rPr lang="en-US" altLang="zh-CN" b="1">
                <a:latin typeface="宋体" pitchFamily="2" charset="-122"/>
              </a:rPr>
              <a:t> </a:t>
            </a:r>
            <a:r>
              <a:rPr lang="en-US" altLang="zh-CN" b="1" i="1">
                <a:solidFill>
                  <a:schemeClr val="accent2"/>
                </a:solidFill>
              </a:rPr>
              <a:t>z </a:t>
            </a:r>
            <a:r>
              <a:rPr lang="zh-CN" altLang="en-US" b="1">
                <a:latin typeface="宋体" pitchFamily="2" charset="-122"/>
              </a:rPr>
              <a:t>方向的分量也要变换．</a:t>
            </a:r>
            <a:r>
              <a:rPr lang="en-US" altLang="zh-CN" b="1">
                <a:latin typeface="宋体" pitchFamily="2" charset="-122"/>
              </a:rPr>
              <a:t> </a:t>
            </a:r>
          </a:p>
        </p:txBody>
      </p:sp>
      <p:sp>
        <p:nvSpPr>
          <p:cNvPr id="184329" name="Text Box 9"/>
          <p:cNvSpPr txBox="1">
            <a:spLocks noChangeArrowheads="1"/>
          </p:cNvSpPr>
          <p:nvPr/>
        </p:nvSpPr>
        <p:spPr bwMode="auto">
          <a:xfrm>
            <a:off x="476250" y="915988"/>
            <a:ext cx="585788" cy="3416300"/>
          </a:xfrm>
          <a:prstGeom prst="rect">
            <a:avLst/>
          </a:prstGeom>
          <a:noFill/>
          <a:ln w="9525">
            <a:noFill/>
            <a:miter lim="800000"/>
            <a:headEnd/>
            <a:tailEnd/>
          </a:ln>
        </p:spPr>
        <p:txBody>
          <a:bodyPr>
            <a:spAutoFit/>
          </a:bodyPr>
          <a:lstStyle/>
          <a:p>
            <a:pPr>
              <a:spcBef>
                <a:spcPct val="50000"/>
              </a:spcBef>
            </a:pPr>
            <a:r>
              <a:rPr lang="zh-CN" altLang="en-US" b="1">
                <a:solidFill>
                  <a:srgbClr val="990000"/>
                </a:solidFill>
              </a:rPr>
              <a:t>洛伦兹速度变换公式</a:t>
            </a:r>
            <a:r>
              <a:rPr lang="en-US" altLang="zh-CN" b="1">
                <a:solidFill>
                  <a:srgbClr val="990000"/>
                </a:solidFill>
              </a:rPr>
              <a:t> </a:t>
            </a:r>
          </a:p>
        </p:txBody>
      </p:sp>
      <p:sp>
        <p:nvSpPr>
          <p:cNvPr id="184330" name="Text Box 10"/>
          <p:cNvSpPr txBox="1">
            <a:spLocks noChangeArrowheads="1"/>
          </p:cNvSpPr>
          <p:nvPr/>
        </p:nvSpPr>
        <p:spPr bwMode="auto">
          <a:xfrm>
            <a:off x="4527550" y="738188"/>
            <a:ext cx="585788" cy="3786187"/>
          </a:xfrm>
          <a:prstGeom prst="rect">
            <a:avLst/>
          </a:prstGeom>
          <a:noFill/>
          <a:ln w="9525">
            <a:noFill/>
            <a:miter lim="800000"/>
            <a:headEnd/>
            <a:tailEnd/>
          </a:ln>
        </p:spPr>
        <p:txBody>
          <a:bodyPr>
            <a:spAutoFit/>
          </a:bodyPr>
          <a:lstStyle/>
          <a:p>
            <a:pPr>
              <a:spcBef>
                <a:spcPct val="50000"/>
              </a:spcBef>
            </a:pPr>
            <a:r>
              <a:rPr lang="zh-CN" altLang="en-US" b="1">
                <a:solidFill>
                  <a:srgbClr val="990000"/>
                </a:solidFill>
              </a:rPr>
              <a:t>洛伦兹速度逆变换公式</a:t>
            </a:r>
            <a:r>
              <a:rPr lang="en-US" altLang="zh-CN" b="1">
                <a:solidFill>
                  <a:srgbClr val="990000"/>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329"/>
                                        </p:tgtEl>
                                        <p:attrNameLst>
                                          <p:attrName>style.visibility</p:attrName>
                                        </p:attrNameLst>
                                      </p:cBhvr>
                                      <p:to>
                                        <p:strVal val="visible"/>
                                      </p:to>
                                    </p:set>
                                    <p:animEffect transition="in" filter="wipe(left)">
                                      <p:cBhvr>
                                        <p:cTn id="7" dur="1000"/>
                                        <p:tgtEl>
                                          <p:spTgt spid="1843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325"/>
                                        </p:tgtEl>
                                        <p:attrNameLst>
                                          <p:attrName>style.visibility</p:attrName>
                                        </p:attrNameLst>
                                      </p:cBhvr>
                                      <p:to>
                                        <p:strVal val="visible"/>
                                      </p:to>
                                    </p:set>
                                    <p:animEffect transition="in" filter="wipe(left)">
                                      <p:cBhvr>
                                        <p:cTn id="12" dur="1000"/>
                                        <p:tgtEl>
                                          <p:spTgt spid="1843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84324"/>
                                        </p:tgtEl>
                                        <p:attrNameLst>
                                          <p:attrName>style.visibility</p:attrName>
                                        </p:attrNameLst>
                                      </p:cBhvr>
                                      <p:to>
                                        <p:strVal val="visible"/>
                                      </p:to>
                                    </p:set>
                                    <p:animEffect transition="in" filter="wipe(left)">
                                      <p:cBhvr>
                                        <p:cTn id="17" dur="1000"/>
                                        <p:tgtEl>
                                          <p:spTgt spid="1843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4330"/>
                                        </p:tgtEl>
                                        <p:attrNameLst>
                                          <p:attrName>style.visibility</p:attrName>
                                        </p:attrNameLst>
                                      </p:cBhvr>
                                      <p:to>
                                        <p:strVal val="visible"/>
                                      </p:to>
                                    </p:set>
                                    <p:animEffect transition="in" filter="wipe(left)">
                                      <p:cBhvr>
                                        <p:cTn id="22" dur="1000"/>
                                        <p:tgtEl>
                                          <p:spTgt spid="18433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4327"/>
                                        </p:tgtEl>
                                        <p:attrNameLst>
                                          <p:attrName>style.visibility</p:attrName>
                                        </p:attrNameLst>
                                      </p:cBhvr>
                                      <p:to>
                                        <p:strVal val="visible"/>
                                      </p:to>
                                    </p:set>
                                    <p:animEffect transition="in" filter="wipe(left)">
                                      <p:cBhvr>
                                        <p:cTn id="27" dur="1000"/>
                                        <p:tgtEl>
                                          <p:spTgt spid="18432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84326"/>
                                        </p:tgtEl>
                                        <p:attrNameLst>
                                          <p:attrName>style.visibility</p:attrName>
                                        </p:attrNameLst>
                                      </p:cBhvr>
                                      <p:to>
                                        <p:strVal val="visible"/>
                                      </p:to>
                                    </p:set>
                                    <p:animEffect transition="in" filter="wipe(left)">
                                      <p:cBhvr>
                                        <p:cTn id="32" dur="1000"/>
                                        <p:tgtEl>
                                          <p:spTgt spid="18432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84328"/>
                                        </p:tgtEl>
                                        <p:attrNameLst>
                                          <p:attrName>style.visibility</p:attrName>
                                        </p:attrNameLst>
                                      </p:cBhvr>
                                      <p:to>
                                        <p:strVal val="visible"/>
                                      </p:to>
                                    </p:set>
                                    <p:animEffect transition="in" filter="wipe(left)">
                                      <p:cBhvr>
                                        <p:cTn id="37" dur="1000"/>
                                        <p:tgtEl>
                                          <p:spTgt spid="184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5" grpId="0" animBg="1"/>
      <p:bldP spid="184327" grpId="0" animBg="1"/>
      <p:bldP spid="184328" grpId="0"/>
      <p:bldP spid="184329" grpId="0"/>
      <p:bldP spid="18433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7" name="Rectangle 3"/>
          <p:cNvSpPr>
            <a:spLocks noChangeArrowheads="1"/>
          </p:cNvSpPr>
          <p:nvPr/>
        </p:nvSpPr>
        <p:spPr bwMode="auto">
          <a:xfrm>
            <a:off x="276225" y="2124075"/>
            <a:ext cx="492125" cy="457200"/>
          </a:xfrm>
          <a:prstGeom prst="rect">
            <a:avLst/>
          </a:prstGeom>
          <a:noFill/>
          <a:ln w="9525">
            <a:noFill/>
            <a:miter lim="800000"/>
            <a:headEnd/>
            <a:tailEnd/>
          </a:ln>
        </p:spPr>
        <p:txBody>
          <a:bodyPr wrap="none">
            <a:spAutoFit/>
          </a:bodyPr>
          <a:lstStyle/>
          <a:p>
            <a:r>
              <a:rPr lang="zh-CN" altLang="en-US" b="1">
                <a:solidFill>
                  <a:schemeClr val="hlink"/>
                </a:solidFill>
                <a:latin typeface="宋体" pitchFamily="2" charset="-122"/>
              </a:rPr>
              <a:t>解</a:t>
            </a:r>
          </a:p>
        </p:txBody>
      </p:sp>
      <p:sp>
        <p:nvSpPr>
          <p:cNvPr id="185348" name="Rectangle 4"/>
          <p:cNvSpPr>
            <a:spLocks noChangeArrowheads="1"/>
          </p:cNvSpPr>
          <p:nvPr/>
        </p:nvSpPr>
        <p:spPr bwMode="auto">
          <a:xfrm>
            <a:off x="277813" y="981075"/>
            <a:ext cx="492125" cy="457200"/>
          </a:xfrm>
          <a:prstGeom prst="rect">
            <a:avLst/>
          </a:prstGeom>
          <a:noFill/>
          <a:ln w="9525">
            <a:noFill/>
            <a:miter lim="800000"/>
            <a:headEnd/>
            <a:tailEnd/>
          </a:ln>
        </p:spPr>
        <p:txBody>
          <a:bodyPr wrap="none">
            <a:spAutoFit/>
          </a:bodyPr>
          <a:lstStyle/>
          <a:p>
            <a:r>
              <a:rPr lang="zh-CN" altLang="en-US" b="1">
                <a:solidFill>
                  <a:schemeClr val="hlink"/>
                </a:solidFill>
                <a:latin typeface="宋体" pitchFamily="2" charset="-122"/>
              </a:rPr>
              <a:t>求</a:t>
            </a:r>
          </a:p>
        </p:txBody>
      </p:sp>
      <p:sp>
        <p:nvSpPr>
          <p:cNvPr id="185349" name="Text Box 5"/>
          <p:cNvSpPr txBox="1">
            <a:spLocks noChangeArrowheads="1"/>
          </p:cNvSpPr>
          <p:nvPr/>
        </p:nvSpPr>
        <p:spPr bwMode="auto">
          <a:xfrm>
            <a:off x="296863" y="333375"/>
            <a:ext cx="8847137" cy="520700"/>
          </a:xfrm>
          <a:prstGeom prst="rect">
            <a:avLst/>
          </a:prstGeom>
          <a:noFill/>
          <a:ln w="9525">
            <a:noFill/>
            <a:miter lim="800000"/>
            <a:headEnd/>
            <a:tailEnd/>
          </a:ln>
        </p:spPr>
        <p:txBody>
          <a:bodyPr>
            <a:spAutoFit/>
          </a:bodyPr>
          <a:lstStyle/>
          <a:p>
            <a:pPr algn="l">
              <a:lnSpc>
                <a:spcPct val="130000"/>
              </a:lnSpc>
            </a:pPr>
            <a:r>
              <a:rPr lang="zh-CN" altLang="en-US" b="1">
                <a:solidFill>
                  <a:schemeClr val="hlink"/>
                </a:solidFill>
              </a:rPr>
              <a:t>例</a:t>
            </a:r>
            <a:r>
              <a:rPr lang="en-US" altLang="zh-CN" b="1">
                <a:solidFill>
                  <a:schemeClr val="hlink"/>
                </a:solidFill>
              </a:rPr>
              <a:t>5 </a:t>
            </a:r>
            <a:r>
              <a:rPr lang="zh-CN" altLang="en-US" b="1">
                <a:solidFill>
                  <a:schemeClr val="bg2"/>
                </a:solidFill>
              </a:rPr>
              <a:t>飞船</a:t>
            </a:r>
            <a:r>
              <a:rPr lang="en-US" altLang="zh-CN" b="1">
                <a:solidFill>
                  <a:srgbClr val="FFFFFF"/>
                </a:solidFill>
              </a:rPr>
              <a:t> </a:t>
            </a:r>
            <a:r>
              <a:rPr lang="en-US" altLang="zh-CN" b="1" i="1">
                <a:solidFill>
                  <a:schemeClr val="accent2"/>
                </a:solidFill>
              </a:rPr>
              <a:t>A</a:t>
            </a:r>
            <a:r>
              <a:rPr lang="en-US" altLang="zh-CN" b="1">
                <a:solidFill>
                  <a:schemeClr val="accent2"/>
                </a:solidFill>
              </a:rPr>
              <a:t> </a:t>
            </a:r>
            <a:r>
              <a:rPr lang="en-US" altLang="zh-CN" b="1">
                <a:solidFill>
                  <a:schemeClr val="bg2"/>
                </a:solidFill>
              </a:rPr>
              <a:t>, </a:t>
            </a:r>
            <a:r>
              <a:rPr lang="en-US" altLang="zh-CN" b="1" i="1">
                <a:solidFill>
                  <a:schemeClr val="accent2"/>
                </a:solidFill>
              </a:rPr>
              <a:t>B</a:t>
            </a:r>
            <a:r>
              <a:rPr lang="en-US" altLang="zh-CN" b="1">
                <a:solidFill>
                  <a:schemeClr val="accent2"/>
                </a:solidFill>
              </a:rPr>
              <a:t> </a:t>
            </a:r>
            <a:r>
              <a:rPr lang="zh-CN" altLang="en-US" b="1">
                <a:solidFill>
                  <a:schemeClr val="bg2"/>
                </a:solidFill>
              </a:rPr>
              <a:t>相对于地面分别以</a:t>
            </a:r>
            <a:r>
              <a:rPr lang="en-US" altLang="zh-CN" b="1">
                <a:solidFill>
                  <a:srgbClr val="FFFFFF"/>
                </a:solidFill>
              </a:rPr>
              <a:t> </a:t>
            </a:r>
            <a:r>
              <a:rPr lang="en-US" altLang="zh-CN" b="1">
                <a:solidFill>
                  <a:schemeClr val="accent2"/>
                </a:solidFill>
              </a:rPr>
              <a:t>0.6</a:t>
            </a:r>
            <a:r>
              <a:rPr lang="en-US" altLang="zh-CN" sz="1000" b="1">
                <a:solidFill>
                  <a:schemeClr val="accent2"/>
                </a:solidFill>
              </a:rPr>
              <a:t> </a:t>
            </a:r>
            <a:r>
              <a:rPr lang="en-US" altLang="zh-CN" b="1" i="1">
                <a:solidFill>
                  <a:schemeClr val="accent2"/>
                </a:solidFill>
              </a:rPr>
              <a:t>c</a:t>
            </a:r>
            <a:r>
              <a:rPr lang="en-US" altLang="zh-CN" b="1" i="1">
                <a:solidFill>
                  <a:schemeClr val="bg2"/>
                </a:solidFill>
              </a:rPr>
              <a:t> </a:t>
            </a:r>
            <a:r>
              <a:rPr lang="zh-CN" altLang="en-US" b="1">
                <a:solidFill>
                  <a:schemeClr val="bg2"/>
                </a:solidFill>
              </a:rPr>
              <a:t>和</a:t>
            </a:r>
            <a:r>
              <a:rPr lang="en-US" altLang="zh-CN" b="1">
                <a:solidFill>
                  <a:schemeClr val="bg2"/>
                </a:solidFill>
              </a:rPr>
              <a:t> </a:t>
            </a:r>
            <a:r>
              <a:rPr lang="en-US" altLang="zh-CN" b="1">
                <a:solidFill>
                  <a:schemeClr val="accent2"/>
                </a:solidFill>
              </a:rPr>
              <a:t>0.8</a:t>
            </a:r>
            <a:r>
              <a:rPr lang="en-US" altLang="zh-CN" sz="1000" b="1">
                <a:solidFill>
                  <a:schemeClr val="accent2"/>
                </a:solidFill>
              </a:rPr>
              <a:t> </a:t>
            </a:r>
            <a:r>
              <a:rPr lang="en-US" altLang="zh-CN" b="1" i="1">
                <a:solidFill>
                  <a:schemeClr val="accent2"/>
                </a:solidFill>
              </a:rPr>
              <a:t>c</a:t>
            </a:r>
            <a:r>
              <a:rPr lang="en-US" altLang="zh-CN" b="1" i="1">
                <a:solidFill>
                  <a:srgbClr val="FFFFFF"/>
                </a:solidFill>
              </a:rPr>
              <a:t> </a:t>
            </a:r>
            <a:r>
              <a:rPr lang="zh-CN" altLang="en-US" b="1">
                <a:solidFill>
                  <a:schemeClr val="bg2"/>
                </a:solidFill>
              </a:rPr>
              <a:t>的速度相向而行。</a:t>
            </a:r>
          </a:p>
        </p:txBody>
      </p:sp>
      <p:sp>
        <p:nvSpPr>
          <p:cNvPr id="185350" name="Text Box 6"/>
          <p:cNvSpPr txBox="1">
            <a:spLocks noChangeArrowheads="1"/>
          </p:cNvSpPr>
          <p:nvPr/>
        </p:nvSpPr>
        <p:spPr bwMode="auto">
          <a:xfrm>
            <a:off x="766763" y="908050"/>
            <a:ext cx="7189787" cy="1001713"/>
          </a:xfrm>
          <a:prstGeom prst="rect">
            <a:avLst/>
          </a:prstGeom>
          <a:noFill/>
          <a:ln w="9525">
            <a:noFill/>
            <a:miter lim="800000"/>
            <a:headEnd/>
            <a:tailEnd/>
          </a:ln>
        </p:spPr>
        <p:txBody>
          <a:bodyPr>
            <a:spAutoFit/>
          </a:bodyPr>
          <a:lstStyle/>
          <a:p>
            <a:pPr algn="l">
              <a:lnSpc>
                <a:spcPct val="130000"/>
              </a:lnSpc>
            </a:pPr>
            <a:r>
              <a:rPr lang="en-US" altLang="zh-CN" b="1">
                <a:solidFill>
                  <a:schemeClr val="bg2"/>
                </a:solidFill>
              </a:rPr>
              <a:t>(1) </a:t>
            </a:r>
            <a:r>
              <a:rPr lang="zh-CN" altLang="en-US" b="1">
                <a:solidFill>
                  <a:schemeClr val="bg2"/>
                </a:solidFill>
              </a:rPr>
              <a:t>飞船</a:t>
            </a:r>
            <a:r>
              <a:rPr lang="en-US" altLang="zh-CN" b="1">
                <a:solidFill>
                  <a:schemeClr val="accent2"/>
                </a:solidFill>
              </a:rPr>
              <a:t> </a:t>
            </a:r>
            <a:r>
              <a:rPr lang="en-US" altLang="zh-CN" b="1" i="1">
                <a:solidFill>
                  <a:schemeClr val="accent2"/>
                </a:solidFill>
              </a:rPr>
              <a:t>A </a:t>
            </a:r>
            <a:r>
              <a:rPr lang="zh-CN" altLang="en-US" b="1">
                <a:solidFill>
                  <a:schemeClr val="bg2"/>
                </a:solidFill>
              </a:rPr>
              <a:t>上测得地球的速度；</a:t>
            </a:r>
            <a:endParaRPr lang="en-US" altLang="zh-CN" b="1">
              <a:solidFill>
                <a:schemeClr val="bg2"/>
              </a:solidFill>
            </a:endParaRPr>
          </a:p>
          <a:p>
            <a:pPr algn="l">
              <a:lnSpc>
                <a:spcPct val="130000"/>
              </a:lnSpc>
            </a:pPr>
            <a:r>
              <a:rPr lang="en-US" altLang="zh-CN" b="1">
                <a:solidFill>
                  <a:schemeClr val="bg2"/>
                </a:solidFill>
              </a:rPr>
              <a:t>(2) </a:t>
            </a:r>
            <a:r>
              <a:rPr lang="zh-CN" altLang="en-US" b="1">
                <a:solidFill>
                  <a:schemeClr val="bg2"/>
                </a:solidFill>
              </a:rPr>
              <a:t>飞船</a:t>
            </a:r>
            <a:r>
              <a:rPr lang="en-US" altLang="zh-CN" b="1">
                <a:solidFill>
                  <a:schemeClr val="accent2"/>
                </a:solidFill>
              </a:rPr>
              <a:t> </a:t>
            </a:r>
            <a:r>
              <a:rPr lang="en-US" altLang="zh-CN" b="1" i="1">
                <a:solidFill>
                  <a:schemeClr val="accent2"/>
                </a:solidFill>
              </a:rPr>
              <a:t>A</a:t>
            </a:r>
            <a:r>
              <a:rPr lang="en-US" altLang="zh-CN" b="1">
                <a:solidFill>
                  <a:schemeClr val="accent2"/>
                </a:solidFill>
              </a:rPr>
              <a:t> </a:t>
            </a:r>
            <a:r>
              <a:rPr lang="zh-CN" altLang="en-US" b="1">
                <a:solidFill>
                  <a:schemeClr val="bg2"/>
                </a:solidFill>
              </a:rPr>
              <a:t>上测得飞船</a:t>
            </a:r>
            <a:r>
              <a:rPr lang="en-US" altLang="zh-CN" b="1">
                <a:solidFill>
                  <a:srgbClr val="FFFFFF"/>
                </a:solidFill>
              </a:rPr>
              <a:t> </a:t>
            </a:r>
            <a:r>
              <a:rPr lang="en-US" altLang="zh-CN" b="1" i="1">
                <a:solidFill>
                  <a:schemeClr val="accent2"/>
                </a:solidFill>
              </a:rPr>
              <a:t>B</a:t>
            </a:r>
            <a:r>
              <a:rPr lang="en-US" altLang="zh-CN" b="1">
                <a:solidFill>
                  <a:schemeClr val="accent2"/>
                </a:solidFill>
              </a:rPr>
              <a:t> </a:t>
            </a:r>
            <a:r>
              <a:rPr lang="zh-CN" altLang="en-US" b="1">
                <a:solidFill>
                  <a:schemeClr val="bg2"/>
                </a:solidFill>
              </a:rPr>
              <a:t>的速度；</a:t>
            </a:r>
          </a:p>
        </p:txBody>
      </p:sp>
      <p:sp>
        <p:nvSpPr>
          <p:cNvPr id="185351" name="Text Box 7"/>
          <p:cNvSpPr txBox="1">
            <a:spLocks noChangeArrowheads="1"/>
          </p:cNvSpPr>
          <p:nvPr/>
        </p:nvSpPr>
        <p:spPr bwMode="auto">
          <a:xfrm>
            <a:off x="727075" y="2149475"/>
            <a:ext cx="8382000" cy="457200"/>
          </a:xfrm>
          <a:prstGeom prst="rect">
            <a:avLst/>
          </a:prstGeom>
          <a:noFill/>
          <a:ln w="9525">
            <a:noFill/>
            <a:miter lim="800000"/>
            <a:headEnd/>
            <a:tailEnd/>
          </a:ln>
        </p:spPr>
        <p:txBody>
          <a:bodyPr>
            <a:spAutoFit/>
          </a:bodyPr>
          <a:lstStyle/>
          <a:p>
            <a:pPr algn="l" eaLnBrk="0" hangingPunct="0"/>
            <a:r>
              <a:rPr lang="en-US" altLang="zh-CN" b="1">
                <a:solidFill>
                  <a:schemeClr val="bg2"/>
                </a:solidFill>
              </a:rPr>
              <a:t>(1) </a:t>
            </a:r>
            <a:r>
              <a:rPr lang="zh-CN" altLang="en-US" b="1">
                <a:solidFill>
                  <a:schemeClr val="bg2"/>
                </a:solidFill>
              </a:rPr>
              <a:t>根据运动的相对性，飞船</a:t>
            </a:r>
            <a:r>
              <a:rPr lang="en-US" altLang="zh-CN" b="1" i="1">
                <a:solidFill>
                  <a:srgbClr val="66FFFF"/>
                </a:solidFill>
              </a:rPr>
              <a:t> </a:t>
            </a:r>
            <a:r>
              <a:rPr lang="en-US" altLang="zh-CN" b="1" i="1">
                <a:solidFill>
                  <a:schemeClr val="accent2"/>
                </a:solidFill>
              </a:rPr>
              <a:t>A </a:t>
            </a:r>
            <a:r>
              <a:rPr lang="zh-CN" altLang="en-US" b="1">
                <a:solidFill>
                  <a:schemeClr val="bg2"/>
                </a:solidFill>
              </a:rPr>
              <a:t>上测得地球的速度为</a:t>
            </a:r>
            <a:r>
              <a:rPr lang="en-US" altLang="zh-CN" b="1">
                <a:solidFill>
                  <a:schemeClr val="bg2"/>
                </a:solidFill>
              </a:rPr>
              <a:t>:</a:t>
            </a:r>
            <a:r>
              <a:rPr lang="en-US" altLang="zh-CN" b="1">
                <a:solidFill>
                  <a:srgbClr val="66FFFF"/>
                </a:solidFill>
                <a:latin typeface="Symbol" pitchFamily="18" charset="2"/>
              </a:rPr>
              <a:t> </a:t>
            </a:r>
            <a:r>
              <a:rPr lang="en-US" altLang="zh-CN" b="1">
                <a:solidFill>
                  <a:schemeClr val="accent2"/>
                </a:solidFill>
                <a:latin typeface="Symbol" pitchFamily="18" charset="2"/>
              </a:rPr>
              <a:t>-</a:t>
            </a:r>
            <a:r>
              <a:rPr lang="en-US" altLang="zh-CN" b="1">
                <a:solidFill>
                  <a:schemeClr val="accent2"/>
                </a:solidFill>
              </a:rPr>
              <a:t> 0.6</a:t>
            </a:r>
            <a:r>
              <a:rPr lang="en-US" altLang="zh-CN" b="1" i="1">
                <a:solidFill>
                  <a:schemeClr val="accent2"/>
                </a:solidFill>
              </a:rPr>
              <a:t>c</a:t>
            </a:r>
            <a:endParaRPr lang="en-US" altLang="zh-CN" b="1">
              <a:solidFill>
                <a:schemeClr val="accent2"/>
              </a:solidFill>
            </a:endParaRPr>
          </a:p>
        </p:txBody>
      </p:sp>
      <p:sp>
        <p:nvSpPr>
          <p:cNvPr id="185352" name="Text Box 8"/>
          <p:cNvSpPr txBox="1">
            <a:spLocks noChangeArrowheads="1"/>
          </p:cNvSpPr>
          <p:nvPr/>
        </p:nvSpPr>
        <p:spPr bwMode="auto">
          <a:xfrm>
            <a:off x="755650" y="2528888"/>
            <a:ext cx="8064500" cy="1430337"/>
          </a:xfrm>
          <a:prstGeom prst="rect">
            <a:avLst/>
          </a:prstGeom>
          <a:noFill/>
          <a:ln w="9525">
            <a:noFill/>
            <a:miter lim="800000"/>
            <a:headEnd/>
            <a:tailEnd/>
          </a:ln>
        </p:spPr>
        <p:txBody>
          <a:bodyPr>
            <a:spAutoFit/>
          </a:bodyPr>
          <a:lstStyle/>
          <a:p>
            <a:pPr algn="l" eaLnBrk="0" hangingPunct="0">
              <a:lnSpc>
                <a:spcPct val="125000"/>
              </a:lnSpc>
            </a:pPr>
            <a:r>
              <a:rPr lang="en-US" altLang="zh-CN" b="1">
                <a:solidFill>
                  <a:schemeClr val="bg2"/>
                </a:solidFill>
              </a:rPr>
              <a:t>(2) </a:t>
            </a:r>
            <a:r>
              <a:rPr lang="zh-CN" altLang="en-US" b="1">
                <a:solidFill>
                  <a:schemeClr val="bg2"/>
                </a:solidFill>
              </a:rPr>
              <a:t>设地面为</a:t>
            </a:r>
            <a:r>
              <a:rPr lang="en-US" altLang="zh-CN" b="1">
                <a:solidFill>
                  <a:schemeClr val="accent2"/>
                </a:solidFill>
              </a:rPr>
              <a:t> </a:t>
            </a:r>
            <a:r>
              <a:rPr lang="en-US" altLang="zh-CN" b="1" i="1">
                <a:solidFill>
                  <a:schemeClr val="accent2"/>
                </a:solidFill>
              </a:rPr>
              <a:t>S </a:t>
            </a:r>
            <a:r>
              <a:rPr lang="zh-CN" altLang="en-US" b="1">
                <a:solidFill>
                  <a:schemeClr val="bg2"/>
                </a:solidFill>
              </a:rPr>
              <a:t>系，飞船</a:t>
            </a:r>
            <a:r>
              <a:rPr lang="en-US" altLang="zh-CN" b="1">
                <a:solidFill>
                  <a:schemeClr val="accent2"/>
                </a:solidFill>
              </a:rPr>
              <a:t> </a:t>
            </a:r>
            <a:r>
              <a:rPr lang="en-US" altLang="zh-CN" b="1" i="1">
                <a:solidFill>
                  <a:schemeClr val="accent2"/>
                </a:solidFill>
              </a:rPr>
              <a:t>A</a:t>
            </a:r>
            <a:r>
              <a:rPr lang="en-US" altLang="zh-CN" b="1">
                <a:solidFill>
                  <a:schemeClr val="accent2"/>
                </a:solidFill>
              </a:rPr>
              <a:t> </a:t>
            </a:r>
            <a:r>
              <a:rPr lang="zh-CN" altLang="en-US" b="1">
                <a:solidFill>
                  <a:schemeClr val="bg2"/>
                </a:solidFill>
              </a:rPr>
              <a:t>为</a:t>
            </a:r>
            <a:r>
              <a:rPr lang="en-US" altLang="zh-CN" b="1">
                <a:solidFill>
                  <a:srgbClr val="FFFFFF"/>
                </a:solidFill>
              </a:rPr>
              <a:t> </a:t>
            </a:r>
            <a:r>
              <a:rPr lang="en-US" altLang="zh-CN" b="1" i="1">
                <a:solidFill>
                  <a:schemeClr val="accent2"/>
                </a:solidFill>
              </a:rPr>
              <a:t>S'</a:t>
            </a:r>
            <a:r>
              <a:rPr lang="en-US" altLang="zh-CN" b="1" i="1">
                <a:solidFill>
                  <a:srgbClr val="66FFFF"/>
                </a:solidFill>
                <a:sym typeface="Symbol" pitchFamily="18" charset="2"/>
              </a:rPr>
              <a:t> </a:t>
            </a:r>
            <a:r>
              <a:rPr lang="zh-CN" altLang="en-US" b="1">
                <a:solidFill>
                  <a:schemeClr val="bg2"/>
                </a:solidFill>
              </a:rPr>
              <a:t>系，</a:t>
            </a:r>
            <a:r>
              <a:rPr lang="en-US" altLang="zh-CN" b="1" i="1">
                <a:solidFill>
                  <a:schemeClr val="accent2"/>
                </a:solidFill>
              </a:rPr>
              <a:t>S'</a:t>
            </a:r>
            <a:r>
              <a:rPr lang="en-US" altLang="zh-CN" b="1" i="1">
                <a:solidFill>
                  <a:srgbClr val="66FFFF"/>
                </a:solidFill>
                <a:sym typeface="Symbol" pitchFamily="18" charset="2"/>
              </a:rPr>
              <a:t> </a:t>
            </a:r>
            <a:r>
              <a:rPr lang="zh-CN" altLang="en-US" b="1">
                <a:solidFill>
                  <a:schemeClr val="bg2"/>
                </a:solidFill>
              </a:rPr>
              <a:t>系相对与</a:t>
            </a:r>
            <a:r>
              <a:rPr lang="en-US" altLang="zh-CN" b="1">
                <a:solidFill>
                  <a:schemeClr val="accent2"/>
                </a:solidFill>
              </a:rPr>
              <a:t> </a:t>
            </a:r>
            <a:r>
              <a:rPr lang="en-US" altLang="zh-CN" b="1" i="1">
                <a:solidFill>
                  <a:schemeClr val="accent2"/>
                </a:solidFill>
              </a:rPr>
              <a:t>S</a:t>
            </a:r>
            <a:r>
              <a:rPr lang="en-US" altLang="zh-CN" b="1" i="1">
                <a:solidFill>
                  <a:schemeClr val="accent2"/>
                </a:solidFill>
                <a:sym typeface="Symbol" pitchFamily="18" charset="2"/>
              </a:rPr>
              <a:t> </a:t>
            </a:r>
            <a:r>
              <a:rPr lang="zh-CN" altLang="en-US" b="1">
                <a:solidFill>
                  <a:schemeClr val="bg2"/>
                </a:solidFill>
              </a:rPr>
              <a:t>系的速度为</a:t>
            </a:r>
            <a:r>
              <a:rPr lang="en-US" altLang="zh-CN" b="1">
                <a:solidFill>
                  <a:schemeClr val="bg2"/>
                </a:solidFill>
              </a:rPr>
              <a:t> </a:t>
            </a:r>
            <a:r>
              <a:rPr lang="en-US" altLang="zh-CN" b="1" i="1">
                <a:solidFill>
                  <a:schemeClr val="accent2"/>
                </a:solidFill>
              </a:rPr>
              <a:t>u</a:t>
            </a:r>
            <a:r>
              <a:rPr lang="en-US" altLang="zh-CN" b="1">
                <a:solidFill>
                  <a:schemeClr val="accent2"/>
                </a:solidFill>
              </a:rPr>
              <a:t> = 0.6</a:t>
            </a:r>
            <a:r>
              <a:rPr lang="en-US" altLang="zh-CN" sz="1000" b="1">
                <a:solidFill>
                  <a:schemeClr val="accent2"/>
                </a:solidFill>
              </a:rPr>
              <a:t> </a:t>
            </a:r>
            <a:r>
              <a:rPr lang="en-US" altLang="zh-CN" b="1" i="1">
                <a:solidFill>
                  <a:schemeClr val="accent2"/>
                </a:solidFill>
              </a:rPr>
              <a:t>c</a:t>
            </a:r>
            <a:r>
              <a:rPr lang="en-US" altLang="zh-CN" b="1">
                <a:solidFill>
                  <a:schemeClr val="bg2"/>
                </a:solidFill>
              </a:rPr>
              <a:t>. </a:t>
            </a:r>
            <a:r>
              <a:rPr lang="zh-CN" altLang="en-US" b="1">
                <a:solidFill>
                  <a:schemeClr val="bg2"/>
                </a:solidFill>
              </a:rPr>
              <a:t>依题意飞船</a:t>
            </a:r>
            <a:r>
              <a:rPr lang="en-US" altLang="zh-CN" b="1" i="1">
                <a:solidFill>
                  <a:schemeClr val="accent2"/>
                </a:solidFill>
              </a:rPr>
              <a:t> B</a:t>
            </a:r>
            <a:r>
              <a:rPr lang="en-US" altLang="zh-CN" b="1">
                <a:solidFill>
                  <a:schemeClr val="accent2"/>
                </a:solidFill>
              </a:rPr>
              <a:t> </a:t>
            </a:r>
            <a:r>
              <a:rPr lang="zh-CN" altLang="en-US" b="1">
                <a:solidFill>
                  <a:schemeClr val="bg2"/>
                </a:solidFill>
              </a:rPr>
              <a:t>在</a:t>
            </a:r>
            <a:r>
              <a:rPr lang="en-US" altLang="zh-CN" b="1">
                <a:solidFill>
                  <a:schemeClr val="accent2"/>
                </a:solidFill>
              </a:rPr>
              <a:t> </a:t>
            </a:r>
            <a:r>
              <a:rPr lang="en-US" altLang="zh-CN" b="1" i="1">
                <a:solidFill>
                  <a:schemeClr val="accent2"/>
                </a:solidFill>
              </a:rPr>
              <a:t>S </a:t>
            </a:r>
            <a:r>
              <a:rPr lang="zh-CN" altLang="en-US" b="1">
                <a:solidFill>
                  <a:schemeClr val="bg2"/>
                </a:solidFill>
              </a:rPr>
              <a:t>系中的速度</a:t>
            </a:r>
            <a:r>
              <a:rPr lang="en-US" altLang="zh-CN" b="1">
                <a:solidFill>
                  <a:srgbClr val="FFFFFF"/>
                </a:solidFill>
              </a:rPr>
              <a:t> </a:t>
            </a:r>
            <a:r>
              <a:rPr lang="en-US" altLang="zh-CN" b="1" i="1">
                <a:solidFill>
                  <a:schemeClr val="accent2"/>
                </a:solidFill>
                <a:latin typeface="Bookman Old Style" pitchFamily="18" charset="0"/>
              </a:rPr>
              <a:t>v </a:t>
            </a:r>
            <a:r>
              <a:rPr lang="en-US" altLang="zh-CN" b="1">
                <a:solidFill>
                  <a:schemeClr val="accent2"/>
                </a:solidFill>
              </a:rPr>
              <a:t>= </a:t>
            </a:r>
            <a:r>
              <a:rPr lang="en-US" altLang="zh-CN" b="1">
                <a:solidFill>
                  <a:schemeClr val="accent2"/>
                </a:solidFill>
                <a:latin typeface="Symbol" pitchFamily="18" charset="2"/>
              </a:rPr>
              <a:t>-</a:t>
            </a:r>
            <a:r>
              <a:rPr lang="en-US" altLang="zh-CN" b="1">
                <a:solidFill>
                  <a:schemeClr val="accent2"/>
                </a:solidFill>
              </a:rPr>
              <a:t>0.8</a:t>
            </a:r>
            <a:r>
              <a:rPr lang="en-US" altLang="zh-CN" sz="1000" b="1">
                <a:solidFill>
                  <a:schemeClr val="accent2"/>
                </a:solidFill>
              </a:rPr>
              <a:t> </a:t>
            </a:r>
            <a:r>
              <a:rPr lang="en-US" altLang="zh-CN" b="1" i="1">
                <a:solidFill>
                  <a:schemeClr val="accent2"/>
                </a:solidFill>
              </a:rPr>
              <a:t>c</a:t>
            </a:r>
            <a:r>
              <a:rPr lang="zh-CN" altLang="en-US" b="1">
                <a:solidFill>
                  <a:schemeClr val="bg2"/>
                </a:solidFill>
              </a:rPr>
              <a:t>，由洛仑兹速度变换，</a:t>
            </a:r>
            <a:r>
              <a:rPr lang="en-US" altLang="zh-CN" b="1" i="1">
                <a:solidFill>
                  <a:schemeClr val="accent2"/>
                </a:solidFill>
              </a:rPr>
              <a:t>S'</a:t>
            </a:r>
            <a:r>
              <a:rPr lang="en-US" altLang="zh-CN" b="1" i="1">
                <a:solidFill>
                  <a:srgbClr val="66FFFF"/>
                </a:solidFill>
                <a:sym typeface="Symbol" pitchFamily="18" charset="2"/>
              </a:rPr>
              <a:t> </a:t>
            </a:r>
            <a:r>
              <a:rPr lang="zh-CN" altLang="en-US" b="1">
                <a:solidFill>
                  <a:schemeClr val="bg2"/>
                </a:solidFill>
              </a:rPr>
              <a:t>系</a:t>
            </a:r>
            <a:r>
              <a:rPr lang="en-US" altLang="zh-CN" b="1">
                <a:solidFill>
                  <a:schemeClr val="bg2"/>
                </a:solidFill>
              </a:rPr>
              <a:t>(</a:t>
            </a:r>
            <a:r>
              <a:rPr lang="zh-CN" altLang="en-US" b="1">
                <a:solidFill>
                  <a:schemeClr val="bg2"/>
                </a:solidFill>
              </a:rPr>
              <a:t>飞船</a:t>
            </a:r>
            <a:r>
              <a:rPr lang="en-US" altLang="zh-CN" b="1" i="1">
                <a:solidFill>
                  <a:schemeClr val="bg2"/>
                </a:solidFill>
              </a:rPr>
              <a:t> </a:t>
            </a:r>
            <a:r>
              <a:rPr lang="en-US" altLang="zh-CN" b="1" i="1">
                <a:solidFill>
                  <a:schemeClr val="accent2"/>
                </a:solidFill>
              </a:rPr>
              <a:t>A</a:t>
            </a:r>
            <a:r>
              <a:rPr lang="en-US" altLang="zh-CN" b="1">
                <a:solidFill>
                  <a:schemeClr val="bg2"/>
                </a:solidFill>
              </a:rPr>
              <a:t>)</a:t>
            </a:r>
            <a:r>
              <a:rPr lang="zh-CN" altLang="en-US" b="1">
                <a:solidFill>
                  <a:schemeClr val="bg2"/>
                </a:solidFill>
              </a:rPr>
              <a:t>测得飞船</a:t>
            </a:r>
            <a:r>
              <a:rPr lang="en-US" altLang="zh-CN" b="1" i="1">
                <a:solidFill>
                  <a:schemeClr val="accent2"/>
                </a:solidFill>
              </a:rPr>
              <a:t> B</a:t>
            </a:r>
            <a:r>
              <a:rPr lang="en-US" altLang="zh-CN" b="1">
                <a:solidFill>
                  <a:srgbClr val="FFFFFF"/>
                </a:solidFill>
              </a:rPr>
              <a:t> </a:t>
            </a:r>
            <a:r>
              <a:rPr lang="zh-CN" altLang="en-US" b="1">
                <a:solidFill>
                  <a:schemeClr val="bg2"/>
                </a:solidFill>
              </a:rPr>
              <a:t>的速度为</a:t>
            </a:r>
          </a:p>
        </p:txBody>
      </p:sp>
      <p:graphicFrame>
        <p:nvGraphicFramePr>
          <p:cNvPr id="185353" name="Object 9"/>
          <p:cNvGraphicFramePr>
            <a:graphicFrameLocks/>
          </p:cNvGraphicFramePr>
          <p:nvPr/>
        </p:nvGraphicFramePr>
        <p:xfrm>
          <a:off x="793750" y="4095750"/>
          <a:ext cx="4217988" cy="1701800"/>
        </p:xfrm>
        <a:graphic>
          <a:graphicData uri="http://schemas.openxmlformats.org/presentationml/2006/ole">
            <p:oleObj spid="_x0000_s20482" name="公式" r:id="rId3" imgW="4203700" imgH="1701800" progId="Equation.3">
              <p:embed/>
            </p:oleObj>
          </a:graphicData>
        </a:graphic>
      </p:graphicFrame>
      <p:pic>
        <p:nvPicPr>
          <p:cNvPr id="185354" name="Picture 10" descr="x-33htfj05"/>
          <p:cNvPicPr>
            <a:picLocks noChangeAspect="1" noChangeArrowheads="1"/>
          </p:cNvPicPr>
          <p:nvPr/>
        </p:nvPicPr>
        <p:blipFill>
          <a:blip r:embed="rId4">
            <a:clrChange>
              <a:clrFrom>
                <a:srgbClr val="000000"/>
              </a:clrFrom>
              <a:clrTo>
                <a:srgbClr val="000000">
                  <a:alpha val="0"/>
                </a:srgbClr>
              </a:clrTo>
            </a:clrChange>
          </a:blip>
          <a:srcRect l="919" t="11157" b="20020"/>
          <a:stretch>
            <a:fillRect/>
          </a:stretch>
        </p:blipFill>
        <p:spPr bwMode="auto">
          <a:xfrm>
            <a:off x="6300788" y="4846638"/>
            <a:ext cx="752475" cy="269875"/>
          </a:xfrm>
          <a:prstGeom prst="rect">
            <a:avLst/>
          </a:prstGeom>
          <a:noFill/>
          <a:ln w="9525">
            <a:noFill/>
            <a:miter lim="800000"/>
            <a:headEnd/>
            <a:tailEnd/>
          </a:ln>
        </p:spPr>
      </p:pic>
      <p:sp>
        <p:nvSpPr>
          <p:cNvPr id="185355" name="Text Box 11"/>
          <p:cNvSpPr txBox="1">
            <a:spLocks noChangeArrowheads="1"/>
          </p:cNvSpPr>
          <p:nvPr/>
        </p:nvSpPr>
        <p:spPr bwMode="auto">
          <a:xfrm>
            <a:off x="6673850" y="4918075"/>
            <a:ext cx="431800" cy="488950"/>
          </a:xfrm>
          <a:prstGeom prst="rect">
            <a:avLst/>
          </a:prstGeom>
          <a:noFill/>
          <a:ln w="9525">
            <a:noFill/>
            <a:miter lim="800000"/>
            <a:headEnd/>
            <a:tailEnd/>
          </a:ln>
        </p:spPr>
        <p:txBody>
          <a:bodyPr>
            <a:spAutoFit/>
          </a:bodyPr>
          <a:lstStyle/>
          <a:p>
            <a:pPr algn="l">
              <a:lnSpc>
                <a:spcPct val="130000"/>
              </a:lnSpc>
            </a:pPr>
            <a:r>
              <a:rPr lang="en-US" altLang="zh-CN" sz="2000" b="1" i="1">
                <a:solidFill>
                  <a:schemeClr val="accent2"/>
                </a:solidFill>
              </a:rPr>
              <a:t>A</a:t>
            </a:r>
            <a:endParaRPr lang="en-US" altLang="zh-CN" sz="2000" b="1">
              <a:solidFill>
                <a:schemeClr val="accent2"/>
              </a:solidFill>
            </a:endParaRPr>
          </a:p>
        </p:txBody>
      </p:sp>
      <p:sp>
        <p:nvSpPr>
          <p:cNvPr id="185356" name="Text Box 12"/>
          <p:cNvSpPr txBox="1">
            <a:spLocks noChangeArrowheads="1"/>
          </p:cNvSpPr>
          <p:nvPr/>
        </p:nvSpPr>
        <p:spPr bwMode="auto">
          <a:xfrm>
            <a:off x="7607300" y="4933950"/>
            <a:ext cx="431800" cy="488950"/>
          </a:xfrm>
          <a:prstGeom prst="rect">
            <a:avLst/>
          </a:prstGeom>
          <a:noFill/>
          <a:ln w="9525">
            <a:noFill/>
            <a:miter lim="800000"/>
            <a:headEnd/>
            <a:tailEnd/>
          </a:ln>
        </p:spPr>
        <p:txBody>
          <a:bodyPr>
            <a:spAutoFit/>
          </a:bodyPr>
          <a:lstStyle/>
          <a:p>
            <a:pPr algn="l">
              <a:lnSpc>
                <a:spcPct val="130000"/>
              </a:lnSpc>
            </a:pPr>
            <a:r>
              <a:rPr lang="en-US" altLang="zh-CN" sz="2000" b="1" i="1">
                <a:solidFill>
                  <a:schemeClr val="accent2"/>
                </a:solidFill>
              </a:rPr>
              <a:t>B</a:t>
            </a:r>
            <a:endParaRPr lang="en-US" altLang="zh-CN" sz="2000" b="1">
              <a:solidFill>
                <a:schemeClr val="accent2"/>
              </a:solidFill>
            </a:endParaRPr>
          </a:p>
        </p:txBody>
      </p:sp>
      <p:pic>
        <p:nvPicPr>
          <p:cNvPr id="185357" name="Picture 13" descr="x-33htfj05"/>
          <p:cNvPicPr>
            <a:picLocks noChangeAspect="1" noChangeArrowheads="1"/>
          </p:cNvPicPr>
          <p:nvPr/>
        </p:nvPicPr>
        <p:blipFill>
          <a:blip r:embed="rId5">
            <a:clrChange>
              <a:clrFrom>
                <a:srgbClr val="000000"/>
              </a:clrFrom>
              <a:clrTo>
                <a:srgbClr val="000000">
                  <a:alpha val="0"/>
                </a:srgbClr>
              </a:clrTo>
            </a:clrChange>
          </a:blip>
          <a:srcRect t="20042" r="931" b="11183"/>
          <a:stretch>
            <a:fillRect/>
          </a:stretch>
        </p:blipFill>
        <p:spPr bwMode="auto">
          <a:xfrm>
            <a:off x="7708900" y="4818063"/>
            <a:ext cx="752475" cy="269875"/>
          </a:xfrm>
          <a:prstGeom prst="rect">
            <a:avLst/>
          </a:prstGeom>
          <a:noFill/>
          <a:ln w="9525">
            <a:noFill/>
            <a:miter lim="800000"/>
            <a:headEnd/>
            <a:tailEnd/>
          </a:ln>
        </p:spPr>
      </p:pic>
      <p:grpSp>
        <p:nvGrpSpPr>
          <p:cNvPr id="2" name="Group 14"/>
          <p:cNvGrpSpPr>
            <a:grpSpLocks/>
          </p:cNvGrpSpPr>
          <p:nvPr/>
        </p:nvGrpSpPr>
        <p:grpSpPr bwMode="auto">
          <a:xfrm>
            <a:off x="7524750" y="4232275"/>
            <a:ext cx="576263" cy="325438"/>
            <a:chOff x="4195" y="1846"/>
            <a:chExt cx="363" cy="205"/>
          </a:xfrm>
        </p:grpSpPr>
        <p:sp>
          <p:nvSpPr>
            <p:cNvPr id="20514" name="Line 15"/>
            <p:cNvSpPr>
              <a:spLocks noChangeShapeType="1"/>
            </p:cNvSpPr>
            <p:nvPr/>
          </p:nvSpPr>
          <p:spPr bwMode="auto">
            <a:xfrm rot="10800000">
              <a:off x="4195" y="2051"/>
              <a:ext cx="363" cy="0"/>
            </a:xfrm>
            <a:prstGeom prst="line">
              <a:avLst/>
            </a:prstGeom>
            <a:noFill/>
            <a:ln w="28575">
              <a:solidFill>
                <a:srgbClr val="FF3300"/>
              </a:solidFill>
              <a:round/>
              <a:headEnd/>
              <a:tailEnd type="triangle" w="med" len="lg"/>
            </a:ln>
          </p:spPr>
          <p:txBody>
            <a:bodyPr/>
            <a:lstStyle/>
            <a:p>
              <a:endParaRPr lang="zh-CN" altLang="en-US"/>
            </a:p>
          </p:txBody>
        </p:sp>
        <p:graphicFrame>
          <p:nvGraphicFramePr>
            <p:cNvPr id="20484" name="Object 16"/>
            <p:cNvGraphicFramePr>
              <a:graphicFrameLocks noChangeAspect="1"/>
            </p:cNvGraphicFramePr>
            <p:nvPr/>
          </p:nvGraphicFramePr>
          <p:xfrm>
            <a:off x="4263" y="1846"/>
            <a:ext cx="125" cy="168"/>
          </p:xfrm>
          <a:graphic>
            <a:graphicData uri="http://schemas.openxmlformats.org/presentationml/2006/ole">
              <p:oleObj spid="_x0000_s20484" name="公式" r:id="rId6" imgW="228501" imgH="304668" progId="Equation.3">
                <p:embed/>
              </p:oleObj>
            </a:graphicData>
          </a:graphic>
        </p:graphicFrame>
      </p:grpSp>
      <p:grpSp>
        <p:nvGrpSpPr>
          <p:cNvPr id="3" name="Group 17"/>
          <p:cNvGrpSpPr>
            <a:grpSpLocks/>
          </p:cNvGrpSpPr>
          <p:nvPr/>
        </p:nvGrpSpPr>
        <p:grpSpPr bwMode="auto">
          <a:xfrm>
            <a:off x="5148263" y="4097338"/>
            <a:ext cx="3636962" cy="2211387"/>
            <a:chOff x="3237" y="1283"/>
            <a:chExt cx="2291" cy="1393"/>
          </a:xfrm>
        </p:grpSpPr>
        <p:grpSp>
          <p:nvGrpSpPr>
            <p:cNvPr id="20506" name="Group 18"/>
            <p:cNvGrpSpPr>
              <a:grpSpLocks/>
            </p:cNvGrpSpPr>
            <p:nvPr/>
          </p:nvGrpSpPr>
          <p:grpSpPr bwMode="auto">
            <a:xfrm>
              <a:off x="3237" y="1283"/>
              <a:ext cx="2291" cy="1393"/>
              <a:chOff x="3237" y="1283"/>
              <a:chExt cx="2291" cy="1393"/>
            </a:xfrm>
          </p:grpSpPr>
          <p:sp>
            <p:nvSpPr>
              <p:cNvPr id="20508" name="Text Box 19"/>
              <p:cNvSpPr txBox="1">
                <a:spLocks noChangeArrowheads="1"/>
              </p:cNvSpPr>
              <p:nvPr/>
            </p:nvSpPr>
            <p:spPr bwMode="auto">
              <a:xfrm>
                <a:off x="3530" y="2256"/>
                <a:ext cx="232" cy="250"/>
              </a:xfrm>
              <a:prstGeom prst="rect">
                <a:avLst/>
              </a:prstGeom>
              <a:noFill/>
              <a:ln w="9525">
                <a:noFill/>
                <a:miter lim="800000"/>
                <a:headEnd/>
                <a:tailEnd/>
              </a:ln>
            </p:spPr>
            <p:txBody>
              <a:bodyPr wrap="none">
                <a:spAutoFit/>
              </a:bodyPr>
              <a:lstStyle/>
              <a:p>
                <a:pPr algn="l"/>
                <a:r>
                  <a:rPr lang="en-US" altLang="zh-CN" sz="2000" b="1" i="1">
                    <a:solidFill>
                      <a:srgbClr val="000099"/>
                    </a:solidFill>
                  </a:rPr>
                  <a:t>O</a:t>
                </a:r>
                <a:endParaRPr lang="en-US" altLang="zh-CN" sz="2000">
                  <a:solidFill>
                    <a:srgbClr val="000099"/>
                  </a:solidFill>
                </a:endParaRPr>
              </a:p>
            </p:txBody>
          </p:sp>
          <p:grpSp>
            <p:nvGrpSpPr>
              <p:cNvPr id="20509" name="Group 20"/>
              <p:cNvGrpSpPr>
                <a:grpSpLocks/>
              </p:cNvGrpSpPr>
              <p:nvPr/>
            </p:nvGrpSpPr>
            <p:grpSpPr bwMode="auto">
              <a:xfrm>
                <a:off x="3237" y="1283"/>
                <a:ext cx="2291" cy="1393"/>
                <a:chOff x="3237" y="1283"/>
                <a:chExt cx="2291" cy="1393"/>
              </a:xfrm>
            </p:grpSpPr>
            <p:sp>
              <p:nvSpPr>
                <p:cNvPr id="20511" name="Line 21"/>
                <p:cNvSpPr>
                  <a:spLocks noChangeShapeType="1"/>
                </p:cNvSpPr>
                <p:nvPr/>
              </p:nvSpPr>
              <p:spPr bwMode="auto">
                <a:xfrm>
                  <a:off x="3608" y="2280"/>
                  <a:ext cx="1920" cy="0"/>
                </a:xfrm>
                <a:prstGeom prst="line">
                  <a:avLst/>
                </a:prstGeom>
                <a:noFill/>
                <a:ln w="19050">
                  <a:solidFill>
                    <a:srgbClr val="000099"/>
                  </a:solidFill>
                  <a:round/>
                  <a:headEnd/>
                  <a:tailEnd type="triangle" w="med" len="lg"/>
                </a:ln>
              </p:spPr>
              <p:txBody>
                <a:bodyPr wrap="none" anchor="ctr"/>
                <a:lstStyle/>
                <a:p>
                  <a:endParaRPr lang="zh-CN" altLang="en-US"/>
                </a:p>
              </p:txBody>
            </p:sp>
            <p:sp>
              <p:nvSpPr>
                <p:cNvPr id="20512" name="Line 22"/>
                <p:cNvSpPr>
                  <a:spLocks noChangeShapeType="1"/>
                </p:cNvSpPr>
                <p:nvPr/>
              </p:nvSpPr>
              <p:spPr bwMode="auto">
                <a:xfrm flipH="1">
                  <a:off x="3237" y="2277"/>
                  <a:ext cx="373" cy="399"/>
                </a:xfrm>
                <a:prstGeom prst="line">
                  <a:avLst/>
                </a:prstGeom>
                <a:noFill/>
                <a:ln w="19050">
                  <a:solidFill>
                    <a:srgbClr val="000099"/>
                  </a:solidFill>
                  <a:round/>
                  <a:headEnd/>
                  <a:tailEnd type="triangle" w="med" len="lg"/>
                </a:ln>
              </p:spPr>
              <p:txBody>
                <a:bodyPr wrap="none" anchor="ctr"/>
                <a:lstStyle/>
                <a:p>
                  <a:endParaRPr lang="zh-CN" altLang="en-US"/>
                </a:p>
              </p:txBody>
            </p:sp>
            <p:sp>
              <p:nvSpPr>
                <p:cNvPr id="20513" name="Line 23"/>
                <p:cNvSpPr>
                  <a:spLocks noChangeShapeType="1"/>
                </p:cNvSpPr>
                <p:nvPr/>
              </p:nvSpPr>
              <p:spPr bwMode="auto">
                <a:xfrm flipH="1" flipV="1">
                  <a:off x="3608" y="1283"/>
                  <a:ext cx="1" cy="996"/>
                </a:xfrm>
                <a:prstGeom prst="line">
                  <a:avLst/>
                </a:prstGeom>
                <a:noFill/>
                <a:ln w="19050">
                  <a:solidFill>
                    <a:srgbClr val="000099"/>
                  </a:solidFill>
                  <a:round/>
                  <a:headEnd/>
                  <a:tailEnd type="triangle" w="med" len="lg"/>
                </a:ln>
              </p:spPr>
              <p:txBody>
                <a:bodyPr wrap="none" anchor="ctr"/>
                <a:lstStyle/>
                <a:p>
                  <a:endParaRPr lang="zh-CN" altLang="en-US"/>
                </a:p>
              </p:txBody>
            </p:sp>
          </p:grpSp>
          <p:sp>
            <p:nvSpPr>
              <p:cNvPr id="20510" name="Text Box 24"/>
              <p:cNvSpPr txBox="1">
                <a:spLocks noChangeArrowheads="1"/>
              </p:cNvSpPr>
              <p:nvPr/>
            </p:nvSpPr>
            <p:spPr bwMode="auto">
              <a:xfrm>
                <a:off x="3350" y="1283"/>
                <a:ext cx="241" cy="250"/>
              </a:xfrm>
              <a:prstGeom prst="rect">
                <a:avLst/>
              </a:prstGeom>
              <a:noFill/>
              <a:ln w="9525">
                <a:noFill/>
                <a:miter lim="800000"/>
                <a:headEnd/>
                <a:tailEnd/>
              </a:ln>
            </p:spPr>
            <p:txBody>
              <a:bodyPr>
                <a:spAutoFit/>
              </a:bodyPr>
              <a:lstStyle/>
              <a:p>
                <a:pPr algn="l"/>
                <a:r>
                  <a:rPr lang="en-US" altLang="zh-CN" sz="2000" b="1" i="1">
                    <a:solidFill>
                      <a:srgbClr val="000099"/>
                    </a:solidFill>
                  </a:rPr>
                  <a:t>S</a:t>
                </a:r>
                <a:endParaRPr lang="en-US" altLang="zh-CN" sz="2000">
                  <a:solidFill>
                    <a:srgbClr val="000099"/>
                  </a:solidFill>
                </a:endParaRPr>
              </a:p>
            </p:txBody>
          </p:sp>
        </p:grpSp>
        <p:sp>
          <p:nvSpPr>
            <p:cNvPr id="20507" name="Rectangle 25"/>
            <p:cNvSpPr>
              <a:spLocks noChangeArrowheads="1"/>
            </p:cNvSpPr>
            <p:nvPr/>
          </p:nvSpPr>
          <p:spPr bwMode="auto">
            <a:xfrm>
              <a:off x="5324" y="2235"/>
              <a:ext cx="116" cy="250"/>
            </a:xfrm>
            <a:prstGeom prst="rect">
              <a:avLst/>
            </a:prstGeom>
            <a:noFill/>
            <a:ln w="9525">
              <a:noFill/>
              <a:miter lim="800000"/>
              <a:headEnd/>
              <a:tailEnd/>
            </a:ln>
          </p:spPr>
          <p:txBody>
            <a:bodyPr wrap="none">
              <a:spAutoFit/>
            </a:bodyPr>
            <a:lstStyle/>
            <a:p>
              <a:endParaRPr lang="zh-CN" altLang="en-US" sz="2000" b="1" i="1">
                <a:solidFill>
                  <a:srgbClr val="FFFF00"/>
                </a:solidFill>
              </a:endParaRPr>
            </a:p>
          </p:txBody>
        </p:sp>
      </p:grpSp>
      <p:grpSp>
        <p:nvGrpSpPr>
          <p:cNvPr id="6" name="Group 26"/>
          <p:cNvGrpSpPr>
            <a:grpSpLocks/>
          </p:cNvGrpSpPr>
          <p:nvPr/>
        </p:nvGrpSpPr>
        <p:grpSpPr bwMode="auto">
          <a:xfrm>
            <a:off x="6192838" y="4184650"/>
            <a:ext cx="519112" cy="325438"/>
            <a:chOff x="4018" y="1394"/>
            <a:chExt cx="327" cy="205"/>
          </a:xfrm>
        </p:grpSpPr>
        <p:sp>
          <p:nvSpPr>
            <p:cNvPr id="20505" name="Line 27"/>
            <p:cNvSpPr>
              <a:spLocks noChangeShapeType="1"/>
            </p:cNvSpPr>
            <p:nvPr/>
          </p:nvSpPr>
          <p:spPr bwMode="auto">
            <a:xfrm>
              <a:off x="4018" y="1599"/>
              <a:ext cx="327" cy="0"/>
            </a:xfrm>
            <a:prstGeom prst="line">
              <a:avLst/>
            </a:prstGeom>
            <a:noFill/>
            <a:ln w="28575">
              <a:solidFill>
                <a:srgbClr val="008000"/>
              </a:solidFill>
              <a:round/>
              <a:headEnd/>
              <a:tailEnd type="triangle" w="sm" len="lg"/>
            </a:ln>
          </p:spPr>
          <p:txBody>
            <a:bodyPr wrap="none" anchor="ctr"/>
            <a:lstStyle/>
            <a:p>
              <a:endParaRPr lang="zh-CN" altLang="en-US"/>
            </a:p>
          </p:txBody>
        </p:sp>
        <p:graphicFrame>
          <p:nvGraphicFramePr>
            <p:cNvPr id="20483" name="Object 28"/>
            <p:cNvGraphicFramePr>
              <a:graphicFrameLocks noChangeAspect="1"/>
            </p:cNvGraphicFramePr>
            <p:nvPr/>
          </p:nvGraphicFramePr>
          <p:xfrm>
            <a:off x="4183" y="1394"/>
            <a:ext cx="122" cy="163"/>
          </p:xfrm>
          <a:graphic>
            <a:graphicData uri="http://schemas.openxmlformats.org/presentationml/2006/ole">
              <p:oleObj spid="_x0000_s20483" name="公式" r:id="rId7" imgW="228501" imgH="304668" progId="Equation.3">
                <p:embed/>
              </p:oleObj>
            </a:graphicData>
          </a:graphic>
        </p:graphicFrame>
      </p:grpSp>
      <p:grpSp>
        <p:nvGrpSpPr>
          <p:cNvPr id="7" name="Group 29"/>
          <p:cNvGrpSpPr>
            <a:grpSpLocks/>
          </p:cNvGrpSpPr>
          <p:nvPr/>
        </p:nvGrpSpPr>
        <p:grpSpPr bwMode="auto">
          <a:xfrm>
            <a:off x="5621338" y="4048125"/>
            <a:ext cx="3160712" cy="2259013"/>
            <a:chOff x="3535" y="1222"/>
            <a:chExt cx="1991" cy="1423"/>
          </a:xfrm>
        </p:grpSpPr>
        <p:sp>
          <p:nvSpPr>
            <p:cNvPr id="20499" name="Text Box 30"/>
            <p:cNvSpPr txBox="1">
              <a:spLocks noChangeArrowheads="1"/>
            </p:cNvSpPr>
            <p:nvPr/>
          </p:nvSpPr>
          <p:spPr bwMode="auto">
            <a:xfrm>
              <a:off x="3658" y="1222"/>
              <a:ext cx="297" cy="288"/>
            </a:xfrm>
            <a:prstGeom prst="rect">
              <a:avLst/>
            </a:prstGeom>
            <a:noFill/>
            <a:ln w="9525">
              <a:noFill/>
              <a:miter lim="800000"/>
              <a:headEnd/>
              <a:tailEnd/>
            </a:ln>
          </p:spPr>
          <p:txBody>
            <a:bodyPr wrap="none">
              <a:spAutoFit/>
            </a:bodyPr>
            <a:lstStyle/>
            <a:p>
              <a:pPr algn="l"/>
              <a:r>
                <a:rPr lang="en-US" altLang="zh-CN" sz="2000" b="1" i="1">
                  <a:solidFill>
                    <a:schemeClr val="hlink"/>
                  </a:solidFill>
                </a:rPr>
                <a:t>S'</a:t>
              </a:r>
              <a:r>
                <a:rPr lang="en-US" altLang="zh-CN" b="1">
                  <a:solidFill>
                    <a:schemeClr val="hlink"/>
                  </a:solidFill>
                </a:rPr>
                <a:t> </a:t>
              </a:r>
            </a:p>
          </p:txBody>
        </p:sp>
        <p:sp>
          <p:nvSpPr>
            <p:cNvPr id="20500" name="Text Box 31"/>
            <p:cNvSpPr txBox="1">
              <a:spLocks noChangeArrowheads="1"/>
            </p:cNvSpPr>
            <p:nvPr/>
          </p:nvSpPr>
          <p:spPr bwMode="auto">
            <a:xfrm>
              <a:off x="3822" y="2226"/>
              <a:ext cx="316" cy="250"/>
            </a:xfrm>
            <a:prstGeom prst="rect">
              <a:avLst/>
            </a:prstGeom>
            <a:noFill/>
            <a:ln w="9525">
              <a:noFill/>
              <a:miter lim="800000"/>
              <a:headEnd/>
              <a:tailEnd/>
            </a:ln>
          </p:spPr>
          <p:txBody>
            <a:bodyPr wrap="none">
              <a:spAutoFit/>
            </a:bodyPr>
            <a:lstStyle/>
            <a:p>
              <a:pPr algn="l"/>
              <a:r>
                <a:rPr lang="en-US" altLang="zh-CN" sz="2000" b="1" i="1">
                  <a:solidFill>
                    <a:schemeClr val="hlink"/>
                  </a:solidFill>
                </a:rPr>
                <a:t>O'</a:t>
              </a:r>
              <a:r>
                <a:rPr lang="en-US" altLang="zh-CN" sz="2000" b="1">
                  <a:solidFill>
                    <a:schemeClr val="hlink"/>
                  </a:solidFill>
                </a:rPr>
                <a:t> </a:t>
              </a:r>
              <a:endParaRPr lang="en-US" altLang="zh-CN" sz="2000" b="1" i="1">
                <a:solidFill>
                  <a:schemeClr val="hlink"/>
                </a:solidFill>
              </a:endParaRPr>
            </a:p>
          </p:txBody>
        </p:sp>
        <p:grpSp>
          <p:nvGrpSpPr>
            <p:cNvPr id="20501" name="Group 32"/>
            <p:cNvGrpSpPr>
              <a:grpSpLocks/>
            </p:cNvGrpSpPr>
            <p:nvPr/>
          </p:nvGrpSpPr>
          <p:grpSpPr bwMode="auto">
            <a:xfrm>
              <a:off x="3535" y="1262"/>
              <a:ext cx="1991" cy="1383"/>
              <a:chOff x="3535" y="1262"/>
              <a:chExt cx="1991" cy="1383"/>
            </a:xfrm>
          </p:grpSpPr>
          <p:sp>
            <p:nvSpPr>
              <p:cNvPr id="20502" name="Line 33"/>
              <p:cNvSpPr>
                <a:spLocks noChangeShapeType="1"/>
              </p:cNvSpPr>
              <p:nvPr/>
            </p:nvSpPr>
            <p:spPr bwMode="auto">
              <a:xfrm flipH="1">
                <a:off x="3535" y="2247"/>
                <a:ext cx="373" cy="398"/>
              </a:xfrm>
              <a:prstGeom prst="line">
                <a:avLst/>
              </a:prstGeom>
              <a:noFill/>
              <a:ln w="19050">
                <a:solidFill>
                  <a:schemeClr val="hlink"/>
                </a:solidFill>
                <a:round/>
                <a:headEnd/>
                <a:tailEnd type="triangle" w="med" len="lg"/>
              </a:ln>
            </p:spPr>
            <p:txBody>
              <a:bodyPr wrap="none" anchor="ctr"/>
              <a:lstStyle/>
              <a:p>
                <a:endParaRPr lang="zh-CN" altLang="en-US"/>
              </a:p>
            </p:txBody>
          </p:sp>
          <p:sp>
            <p:nvSpPr>
              <p:cNvPr id="20503" name="Line 34"/>
              <p:cNvSpPr>
                <a:spLocks noChangeShapeType="1"/>
              </p:cNvSpPr>
              <p:nvPr/>
            </p:nvSpPr>
            <p:spPr bwMode="auto">
              <a:xfrm flipV="1">
                <a:off x="3907" y="1262"/>
                <a:ext cx="0" cy="992"/>
              </a:xfrm>
              <a:prstGeom prst="line">
                <a:avLst/>
              </a:prstGeom>
              <a:noFill/>
              <a:ln w="19050">
                <a:solidFill>
                  <a:schemeClr val="hlink"/>
                </a:solidFill>
                <a:round/>
                <a:headEnd/>
                <a:tailEnd type="triangle" w="med" len="lg"/>
              </a:ln>
            </p:spPr>
            <p:txBody>
              <a:bodyPr wrap="none" anchor="ctr"/>
              <a:lstStyle/>
              <a:p>
                <a:endParaRPr lang="zh-CN" altLang="en-US"/>
              </a:p>
            </p:txBody>
          </p:sp>
          <p:sp>
            <p:nvSpPr>
              <p:cNvPr id="20504" name="Line 35"/>
              <p:cNvSpPr>
                <a:spLocks noChangeShapeType="1"/>
              </p:cNvSpPr>
              <p:nvPr/>
            </p:nvSpPr>
            <p:spPr bwMode="auto">
              <a:xfrm>
                <a:off x="3907" y="2249"/>
                <a:ext cx="1619" cy="0"/>
              </a:xfrm>
              <a:prstGeom prst="line">
                <a:avLst/>
              </a:prstGeom>
              <a:noFill/>
              <a:ln w="19050">
                <a:solidFill>
                  <a:schemeClr val="hlink"/>
                </a:solidFill>
                <a:round/>
                <a:headEnd/>
                <a:tailEnd type="triangle" w="med" len="lg"/>
              </a:ln>
            </p:spPr>
            <p:txBody>
              <a:bodyPr wrap="none" anchor="ctr"/>
              <a:lstStyle/>
              <a:p>
                <a:endParaRPr lang="zh-CN" altLang="en-US"/>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5349"/>
                                        </p:tgtEl>
                                        <p:attrNameLst>
                                          <p:attrName>style.visibility</p:attrName>
                                        </p:attrNameLst>
                                      </p:cBhvr>
                                      <p:to>
                                        <p:strVal val="visible"/>
                                      </p:to>
                                    </p:set>
                                    <p:animEffect transition="in" filter="wipe(left)">
                                      <p:cBhvr>
                                        <p:cTn id="7" dur="500"/>
                                        <p:tgtEl>
                                          <p:spTgt spid="1853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6000"/>
                                  </p:iterate>
                                  <p:childTnLst>
                                    <p:set>
                                      <p:cBhvr>
                                        <p:cTn id="11" dur="1" fill="hold">
                                          <p:stCondLst>
                                            <p:cond delay="0"/>
                                          </p:stCondLst>
                                        </p:cTn>
                                        <p:tgtEl>
                                          <p:spTgt spid="185348"/>
                                        </p:tgtEl>
                                        <p:attrNameLst>
                                          <p:attrName>style.visibility</p:attrName>
                                        </p:attrNameLst>
                                      </p:cBhvr>
                                      <p:to>
                                        <p:strVal val="visible"/>
                                      </p:to>
                                    </p:set>
                                    <p:animEffect transition="in" filter="wipe(left)">
                                      <p:cBhvr>
                                        <p:cTn id="12" dur="500"/>
                                        <p:tgtEl>
                                          <p:spTgt spid="1853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185350"/>
                                        </p:tgtEl>
                                        <p:attrNameLst>
                                          <p:attrName>style.visibility</p:attrName>
                                        </p:attrNameLst>
                                      </p:cBhvr>
                                      <p:to>
                                        <p:strVal val="visible"/>
                                      </p:to>
                                    </p:set>
                                    <p:animEffect transition="in" filter="wipe(left)">
                                      <p:cBhvr>
                                        <p:cTn id="17" dur="10"/>
                                        <p:tgtEl>
                                          <p:spTgt spid="18535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6000"/>
                                  </p:iterate>
                                  <p:childTnLst>
                                    <p:set>
                                      <p:cBhvr>
                                        <p:cTn id="21" dur="1" fill="hold">
                                          <p:stCondLst>
                                            <p:cond delay="0"/>
                                          </p:stCondLst>
                                        </p:cTn>
                                        <p:tgtEl>
                                          <p:spTgt spid="185347"/>
                                        </p:tgtEl>
                                        <p:attrNameLst>
                                          <p:attrName>style.visibility</p:attrName>
                                        </p:attrNameLst>
                                      </p:cBhvr>
                                      <p:to>
                                        <p:strVal val="visible"/>
                                      </p:to>
                                    </p:set>
                                    <p:animEffect transition="in" filter="wipe(left)">
                                      <p:cBhvr>
                                        <p:cTn id="22" dur="500"/>
                                        <p:tgtEl>
                                          <p:spTgt spid="18534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5351"/>
                                        </p:tgtEl>
                                        <p:attrNameLst>
                                          <p:attrName>style.visibility</p:attrName>
                                        </p:attrNameLst>
                                      </p:cBhvr>
                                      <p:to>
                                        <p:strVal val="visible"/>
                                      </p:to>
                                    </p:set>
                                    <p:animEffect transition="in" filter="wipe(left)">
                                      <p:cBhvr>
                                        <p:cTn id="27" dur="500"/>
                                        <p:tgtEl>
                                          <p:spTgt spid="185351"/>
                                        </p:tgtEl>
                                      </p:cBhvr>
                                    </p:animEffect>
                                  </p:childTnLst>
                                </p:cTn>
                              </p:par>
                            </p:childTnLst>
                          </p:cTn>
                        </p:par>
                        <p:par>
                          <p:cTn id="28" fill="hold" nodeType="afterGroup">
                            <p:stCondLst>
                              <p:cond delay="500"/>
                            </p:stCondLst>
                            <p:childTnLst>
                              <p:par>
                                <p:cTn id="29" presetID="22" presetClass="entr" presetSubtype="8" fill="hold" grpId="0" nodeType="afterEffect">
                                  <p:stCondLst>
                                    <p:cond delay="0"/>
                                  </p:stCondLst>
                                  <p:iterate type="lt">
                                    <p:tmPct val="100000"/>
                                  </p:iterate>
                                  <p:childTnLst>
                                    <p:set>
                                      <p:cBhvr>
                                        <p:cTn id="30" dur="1" fill="hold">
                                          <p:stCondLst>
                                            <p:cond delay="0"/>
                                          </p:stCondLst>
                                        </p:cTn>
                                        <p:tgtEl>
                                          <p:spTgt spid="185352"/>
                                        </p:tgtEl>
                                        <p:attrNameLst>
                                          <p:attrName>style.visibility</p:attrName>
                                        </p:attrNameLst>
                                      </p:cBhvr>
                                      <p:to>
                                        <p:strVal val="visible"/>
                                      </p:to>
                                    </p:set>
                                    <p:animEffect transition="in" filter="wipe(left)">
                                      <p:cBhvr>
                                        <p:cTn id="31" dur="10"/>
                                        <p:tgtEl>
                                          <p:spTgt spid="18535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2" presetClass="entr" presetSubtype="8" fill="hold" nodeType="clickEffect">
                                  <p:stCondLst>
                                    <p:cond delay="0"/>
                                  </p:stCondLst>
                                  <p:childTnLst>
                                    <p:set>
                                      <p:cBhvr>
                                        <p:cTn id="39" dur="1" fill="hold">
                                          <p:stCondLst>
                                            <p:cond delay="0"/>
                                          </p:stCondLst>
                                        </p:cTn>
                                        <p:tgtEl>
                                          <p:spTgt spid="185354"/>
                                        </p:tgtEl>
                                        <p:attrNameLst>
                                          <p:attrName>style.visibility</p:attrName>
                                        </p:attrNameLst>
                                      </p:cBhvr>
                                      <p:to>
                                        <p:strVal val="visible"/>
                                      </p:to>
                                    </p:set>
                                    <p:animEffect transition="in" filter="slide(fromLeft)">
                                      <p:cBhvr>
                                        <p:cTn id="40" dur="500"/>
                                        <p:tgtEl>
                                          <p:spTgt spid="185354"/>
                                        </p:tgtEl>
                                      </p:cBhvr>
                                    </p:animEffect>
                                  </p:childTnLst>
                                </p:cTn>
                              </p:par>
                            </p:childTnLst>
                          </p:cTn>
                        </p:par>
                        <p:par>
                          <p:cTn id="41" fill="hold" nodeType="afterGroup">
                            <p:stCondLst>
                              <p:cond delay="500"/>
                            </p:stCondLst>
                            <p:childTnLst>
                              <p:par>
                                <p:cTn id="42" presetID="22" presetClass="entr" presetSubtype="8" fill="hold" nodeType="afterEffect">
                                  <p:stCondLst>
                                    <p:cond delay="0"/>
                                  </p:stCondLst>
                                  <p:iterate type="lt">
                                    <p:tmPct val="6000"/>
                                  </p:iterate>
                                  <p:childTnLst>
                                    <p:set>
                                      <p:cBhvr>
                                        <p:cTn id="43" dur="1" fill="hold">
                                          <p:stCondLst>
                                            <p:cond delay="0"/>
                                          </p:stCondLst>
                                        </p:cTn>
                                        <p:tgtEl>
                                          <p:spTgt spid="185355"/>
                                        </p:tgtEl>
                                        <p:attrNameLst>
                                          <p:attrName>style.visibility</p:attrName>
                                        </p:attrNameLst>
                                      </p:cBhvr>
                                      <p:to>
                                        <p:strVal val="visible"/>
                                      </p:to>
                                    </p:set>
                                    <p:animEffect transition="in" filter="wipe(left)">
                                      <p:cBhvr>
                                        <p:cTn id="44" dur="500"/>
                                        <p:tgtEl>
                                          <p:spTgt spid="185355"/>
                                        </p:tgtEl>
                                      </p:cBhvr>
                                    </p:animEffect>
                                  </p:childTnLst>
                                </p:cTn>
                              </p:par>
                            </p:childTnLst>
                          </p:cTn>
                        </p:par>
                        <p:par>
                          <p:cTn id="45" fill="hold" nodeType="afterGroup">
                            <p:stCondLst>
                              <p:cond delay="1000"/>
                            </p:stCondLst>
                            <p:childTnLst>
                              <p:par>
                                <p:cTn id="46" presetID="12" presetClass="entr" presetSubtype="8" fill="hold" nodeType="after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slide(fromLeft)">
                                      <p:cBhvr>
                                        <p:cTn id="48" dur="500"/>
                                        <p:tgtEl>
                                          <p:spTgt spid="7"/>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wipe(left)">
                                      <p:cBhvr>
                                        <p:cTn id="53" dur="500"/>
                                        <p:tgtEl>
                                          <p:spTgt spid="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2" presetClass="entr" presetSubtype="8" fill="hold" nodeType="clickEffect">
                                  <p:stCondLst>
                                    <p:cond delay="0"/>
                                  </p:stCondLst>
                                  <p:childTnLst>
                                    <p:set>
                                      <p:cBhvr>
                                        <p:cTn id="57" dur="1" fill="hold">
                                          <p:stCondLst>
                                            <p:cond delay="0"/>
                                          </p:stCondLst>
                                        </p:cTn>
                                        <p:tgtEl>
                                          <p:spTgt spid="185357"/>
                                        </p:tgtEl>
                                        <p:attrNameLst>
                                          <p:attrName>style.visibility</p:attrName>
                                        </p:attrNameLst>
                                      </p:cBhvr>
                                      <p:to>
                                        <p:strVal val="visible"/>
                                      </p:to>
                                    </p:set>
                                    <p:animEffect transition="in" filter="slide(fromLeft)">
                                      <p:cBhvr>
                                        <p:cTn id="58" dur="500"/>
                                        <p:tgtEl>
                                          <p:spTgt spid="185357"/>
                                        </p:tgtEl>
                                      </p:cBhvr>
                                    </p:animEffect>
                                  </p:childTnLst>
                                </p:cTn>
                              </p:par>
                            </p:childTnLst>
                          </p:cTn>
                        </p:par>
                        <p:par>
                          <p:cTn id="59" fill="hold" nodeType="afterGroup">
                            <p:stCondLst>
                              <p:cond delay="500"/>
                            </p:stCondLst>
                            <p:childTnLst>
                              <p:par>
                                <p:cTn id="60" presetID="22" presetClass="entr" presetSubtype="8" fill="hold" grpId="0" nodeType="afterEffect">
                                  <p:stCondLst>
                                    <p:cond delay="0"/>
                                  </p:stCondLst>
                                  <p:iterate type="lt">
                                    <p:tmPct val="6000"/>
                                  </p:iterate>
                                  <p:childTnLst>
                                    <p:set>
                                      <p:cBhvr>
                                        <p:cTn id="61" dur="1" fill="hold">
                                          <p:stCondLst>
                                            <p:cond delay="0"/>
                                          </p:stCondLst>
                                        </p:cTn>
                                        <p:tgtEl>
                                          <p:spTgt spid="185356"/>
                                        </p:tgtEl>
                                        <p:attrNameLst>
                                          <p:attrName>style.visibility</p:attrName>
                                        </p:attrNameLst>
                                      </p:cBhvr>
                                      <p:to>
                                        <p:strVal val="visible"/>
                                      </p:to>
                                    </p:set>
                                    <p:animEffect transition="in" filter="wipe(left)">
                                      <p:cBhvr>
                                        <p:cTn id="62" dur="500"/>
                                        <p:tgtEl>
                                          <p:spTgt spid="185356"/>
                                        </p:tgtEl>
                                      </p:cBhvr>
                                    </p:animEffect>
                                  </p:childTnLst>
                                </p:cTn>
                              </p:par>
                            </p:childTnLst>
                          </p:cTn>
                        </p:par>
                        <p:par>
                          <p:cTn id="63" fill="hold" nodeType="afterGroup">
                            <p:stCondLst>
                              <p:cond delay="1000"/>
                            </p:stCondLst>
                            <p:childTnLst>
                              <p:par>
                                <p:cTn id="64" presetID="22" presetClass="entr" presetSubtype="2" fill="hold" nodeType="afterEffect">
                                  <p:stCondLst>
                                    <p:cond delay="0"/>
                                  </p:stCondLst>
                                  <p:childTnLst>
                                    <p:set>
                                      <p:cBhvr>
                                        <p:cTn id="65" dur="1" fill="hold">
                                          <p:stCondLst>
                                            <p:cond delay="0"/>
                                          </p:stCondLst>
                                        </p:cTn>
                                        <p:tgtEl>
                                          <p:spTgt spid="2"/>
                                        </p:tgtEl>
                                        <p:attrNameLst>
                                          <p:attrName>style.visibility</p:attrName>
                                        </p:attrNameLst>
                                      </p:cBhvr>
                                      <p:to>
                                        <p:strVal val="visible"/>
                                      </p:to>
                                    </p:set>
                                    <p:animEffect transition="in" filter="wipe(right)">
                                      <p:cBhvr>
                                        <p:cTn id="66" dur="500"/>
                                        <p:tgtEl>
                                          <p:spTgt spid="2"/>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iterate type="lt">
                                    <p:tmPct val="6000"/>
                                  </p:iterate>
                                  <p:childTnLst>
                                    <p:set>
                                      <p:cBhvr>
                                        <p:cTn id="70" dur="1" fill="hold">
                                          <p:stCondLst>
                                            <p:cond delay="0"/>
                                          </p:stCondLst>
                                        </p:cTn>
                                        <p:tgtEl>
                                          <p:spTgt spid="185353"/>
                                        </p:tgtEl>
                                        <p:attrNameLst>
                                          <p:attrName>style.visibility</p:attrName>
                                        </p:attrNameLst>
                                      </p:cBhvr>
                                      <p:to>
                                        <p:strVal val="visible"/>
                                      </p:to>
                                    </p:set>
                                    <p:animEffect transition="in" filter="wipe(left)">
                                      <p:cBhvr>
                                        <p:cTn id="71" dur="500"/>
                                        <p:tgtEl>
                                          <p:spTgt spid="1853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7" grpId="0"/>
      <p:bldP spid="185348" grpId="0"/>
      <p:bldP spid="185349" grpId="0"/>
      <p:bldP spid="185350" grpId="0"/>
      <p:bldP spid="185351" grpId="0"/>
      <p:bldP spid="185352" grpId="0"/>
      <p:bldP spid="18535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1" name="Rectangle 3"/>
          <p:cNvSpPr>
            <a:spLocks noChangeArrowheads="1"/>
          </p:cNvSpPr>
          <p:nvPr/>
        </p:nvSpPr>
        <p:spPr bwMode="auto">
          <a:xfrm>
            <a:off x="165100" y="1403350"/>
            <a:ext cx="492125" cy="457200"/>
          </a:xfrm>
          <a:prstGeom prst="rect">
            <a:avLst/>
          </a:prstGeom>
          <a:noFill/>
          <a:ln w="9525">
            <a:noFill/>
            <a:miter lim="800000"/>
            <a:headEnd/>
            <a:tailEnd/>
          </a:ln>
        </p:spPr>
        <p:txBody>
          <a:bodyPr wrap="none">
            <a:spAutoFit/>
          </a:bodyPr>
          <a:lstStyle/>
          <a:p>
            <a:r>
              <a:rPr lang="zh-CN" altLang="en-US" b="1">
                <a:solidFill>
                  <a:schemeClr val="hlink"/>
                </a:solidFill>
                <a:latin typeface="宋体" pitchFamily="2" charset="-122"/>
              </a:rPr>
              <a:t>解</a:t>
            </a:r>
          </a:p>
        </p:txBody>
      </p:sp>
      <p:sp>
        <p:nvSpPr>
          <p:cNvPr id="186373" name="Text Box 5"/>
          <p:cNvSpPr txBox="1">
            <a:spLocks noChangeArrowheads="1"/>
          </p:cNvSpPr>
          <p:nvPr/>
        </p:nvSpPr>
        <p:spPr bwMode="auto">
          <a:xfrm>
            <a:off x="161925" y="354013"/>
            <a:ext cx="8715375" cy="520700"/>
          </a:xfrm>
          <a:prstGeom prst="rect">
            <a:avLst/>
          </a:prstGeom>
          <a:noFill/>
          <a:ln w="9525">
            <a:noFill/>
            <a:miter lim="800000"/>
            <a:headEnd/>
            <a:tailEnd/>
          </a:ln>
        </p:spPr>
        <p:txBody>
          <a:bodyPr>
            <a:spAutoFit/>
          </a:bodyPr>
          <a:lstStyle/>
          <a:p>
            <a:pPr algn="l">
              <a:lnSpc>
                <a:spcPct val="130000"/>
              </a:lnSpc>
            </a:pPr>
            <a:r>
              <a:rPr lang="zh-CN" altLang="en-US" b="1">
                <a:solidFill>
                  <a:schemeClr val="hlink"/>
                </a:solidFill>
              </a:rPr>
              <a:t>例</a:t>
            </a:r>
            <a:r>
              <a:rPr lang="en-US" altLang="zh-CN" b="1">
                <a:solidFill>
                  <a:schemeClr val="hlink"/>
                </a:solidFill>
              </a:rPr>
              <a:t>6 </a:t>
            </a:r>
            <a:r>
              <a:rPr lang="zh-CN" altLang="en-US" b="1">
                <a:solidFill>
                  <a:schemeClr val="bg2"/>
                </a:solidFill>
              </a:rPr>
              <a:t>在</a:t>
            </a:r>
            <a:r>
              <a:rPr lang="en-US" altLang="zh-CN" b="1">
                <a:solidFill>
                  <a:schemeClr val="bg2"/>
                </a:solidFill>
              </a:rPr>
              <a:t> </a:t>
            </a:r>
            <a:r>
              <a:rPr lang="en-US" altLang="zh-CN" b="1" i="1">
                <a:solidFill>
                  <a:schemeClr val="accent2"/>
                </a:solidFill>
              </a:rPr>
              <a:t>S' </a:t>
            </a:r>
            <a:r>
              <a:rPr lang="zh-CN" altLang="en-US" b="1"/>
              <a:t>系中，以光速</a:t>
            </a:r>
            <a:r>
              <a:rPr lang="en-US" altLang="zh-CN" b="1"/>
              <a:t> </a:t>
            </a:r>
            <a:r>
              <a:rPr lang="en-US" altLang="zh-CN" b="1" i="1">
                <a:solidFill>
                  <a:schemeClr val="accent2"/>
                </a:solidFill>
              </a:rPr>
              <a:t>c </a:t>
            </a:r>
            <a:r>
              <a:rPr lang="zh-CN" altLang="en-US" b="1"/>
              <a:t>运动的粒子（光子），</a:t>
            </a:r>
            <a:endParaRPr lang="zh-CN" altLang="en-US"/>
          </a:p>
        </p:txBody>
      </p:sp>
      <p:sp>
        <p:nvSpPr>
          <p:cNvPr id="186374" name="Text Box 6"/>
          <p:cNvSpPr txBox="1">
            <a:spLocks noChangeArrowheads="1"/>
          </p:cNvSpPr>
          <p:nvPr/>
        </p:nvSpPr>
        <p:spPr bwMode="auto">
          <a:xfrm>
            <a:off x="660400" y="819150"/>
            <a:ext cx="4994275" cy="554038"/>
          </a:xfrm>
          <a:prstGeom prst="rect">
            <a:avLst/>
          </a:prstGeom>
          <a:noFill/>
          <a:ln w="9525">
            <a:noFill/>
            <a:miter lim="800000"/>
            <a:headEnd/>
            <a:tailEnd/>
          </a:ln>
        </p:spPr>
        <p:txBody>
          <a:bodyPr>
            <a:spAutoFit/>
          </a:bodyPr>
          <a:lstStyle/>
          <a:p>
            <a:pPr algn="l">
              <a:lnSpc>
                <a:spcPct val="130000"/>
              </a:lnSpc>
            </a:pPr>
            <a:r>
              <a:rPr lang="zh-CN" altLang="en-US" b="1">
                <a:solidFill>
                  <a:schemeClr val="hlink"/>
                </a:solidFill>
                <a:latin typeface="宋体" pitchFamily="2" charset="-122"/>
              </a:rPr>
              <a:t>求</a:t>
            </a:r>
            <a:r>
              <a:rPr lang="en-US" altLang="zh-CN" b="1">
                <a:solidFill>
                  <a:schemeClr val="hlink"/>
                </a:solidFill>
                <a:latin typeface="宋体" pitchFamily="2" charset="-122"/>
              </a:rPr>
              <a:t> </a:t>
            </a:r>
            <a:r>
              <a:rPr lang="zh-CN" altLang="en-US" b="1"/>
              <a:t>在</a:t>
            </a:r>
            <a:r>
              <a:rPr lang="en-US" altLang="zh-CN" b="1"/>
              <a:t> </a:t>
            </a:r>
            <a:r>
              <a:rPr lang="en-US" altLang="zh-CN" b="1" i="1">
                <a:solidFill>
                  <a:schemeClr val="accent2"/>
                </a:solidFill>
              </a:rPr>
              <a:t>S </a:t>
            </a:r>
            <a:r>
              <a:rPr lang="zh-CN" altLang="en-US" b="1"/>
              <a:t>系中测得的速率为多少？</a:t>
            </a:r>
            <a:r>
              <a:rPr lang="en-US" altLang="zh-CN"/>
              <a:t> </a:t>
            </a:r>
          </a:p>
        </p:txBody>
      </p:sp>
      <p:sp>
        <p:nvSpPr>
          <p:cNvPr id="21517" name="Text Box 8"/>
          <p:cNvSpPr txBox="1">
            <a:spLocks noChangeArrowheads="1"/>
          </p:cNvSpPr>
          <p:nvPr/>
        </p:nvSpPr>
        <p:spPr bwMode="auto">
          <a:xfrm>
            <a:off x="566738" y="1449388"/>
            <a:ext cx="8577262" cy="968375"/>
          </a:xfrm>
          <a:prstGeom prst="rect">
            <a:avLst/>
          </a:prstGeom>
          <a:noFill/>
          <a:ln w="9525">
            <a:noFill/>
            <a:miter lim="800000"/>
            <a:headEnd/>
            <a:tailEnd/>
          </a:ln>
        </p:spPr>
        <p:txBody>
          <a:bodyPr>
            <a:spAutoFit/>
          </a:bodyPr>
          <a:lstStyle/>
          <a:p>
            <a:pPr algn="l" eaLnBrk="0" hangingPunct="0">
              <a:lnSpc>
                <a:spcPct val="120000"/>
              </a:lnSpc>
            </a:pPr>
            <a:r>
              <a:rPr lang="zh-CN" altLang="en-US" b="1"/>
              <a:t>设光子沿</a:t>
            </a:r>
            <a:r>
              <a:rPr lang="en-US" altLang="zh-CN" b="1"/>
              <a:t> </a:t>
            </a:r>
            <a:r>
              <a:rPr lang="en-US" altLang="zh-CN" b="1" i="1">
                <a:solidFill>
                  <a:schemeClr val="accent2"/>
                </a:solidFill>
              </a:rPr>
              <a:t>o'x' </a:t>
            </a:r>
            <a:r>
              <a:rPr lang="zh-CN" altLang="en-US" b="1"/>
              <a:t>轴正方向运动，</a:t>
            </a:r>
            <a:r>
              <a:rPr lang="en-US" altLang="zh-CN" b="1" i="1">
                <a:solidFill>
                  <a:schemeClr val="accent2"/>
                </a:solidFill>
              </a:rPr>
              <a:t>S' </a:t>
            </a:r>
            <a:r>
              <a:rPr lang="zh-CN" altLang="en-US" b="1"/>
              <a:t>系相对</a:t>
            </a:r>
            <a:r>
              <a:rPr lang="en-US" altLang="zh-CN" b="1"/>
              <a:t> </a:t>
            </a:r>
            <a:r>
              <a:rPr lang="en-US" altLang="zh-CN" b="1" i="1">
                <a:solidFill>
                  <a:schemeClr val="accent2"/>
                </a:solidFill>
              </a:rPr>
              <a:t>S </a:t>
            </a:r>
            <a:r>
              <a:rPr lang="zh-CN" altLang="en-US" b="1"/>
              <a:t>系沿</a:t>
            </a:r>
            <a:r>
              <a:rPr lang="en-US" altLang="zh-CN" b="1"/>
              <a:t> </a:t>
            </a:r>
            <a:r>
              <a:rPr lang="en-US" altLang="zh-CN" b="1" i="1">
                <a:solidFill>
                  <a:schemeClr val="accent2"/>
                </a:solidFill>
              </a:rPr>
              <a:t>ox </a:t>
            </a:r>
            <a:r>
              <a:rPr lang="zh-CN" altLang="en-US" b="1"/>
              <a:t>轴正方向运动，则</a:t>
            </a:r>
            <a:r>
              <a:rPr lang="en-US" altLang="zh-CN" b="1"/>
              <a:t> </a:t>
            </a:r>
          </a:p>
        </p:txBody>
      </p:sp>
      <p:graphicFrame>
        <p:nvGraphicFramePr>
          <p:cNvPr id="186378" name="Object 10"/>
          <p:cNvGraphicFramePr>
            <a:graphicFrameLocks noChangeAspect="1"/>
          </p:cNvGraphicFramePr>
          <p:nvPr/>
        </p:nvGraphicFramePr>
        <p:xfrm>
          <a:off x="1062038" y="2214563"/>
          <a:ext cx="3284537" cy="1252537"/>
        </p:xfrm>
        <a:graphic>
          <a:graphicData uri="http://schemas.openxmlformats.org/presentationml/2006/ole">
            <p:oleObj spid="_x0000_s21506" name="Equation" r:id="rId3" imgW="1524000" imgH="584200" progId="">
              <p:embed/>
            </p:oleObj>
          </a:graphicData>
        </a:graphic>
      </p:graphicFrame>
      <p:graphicFrame>
        <p:nvGraphicFramePr>
          <p:cNvPr id="186379" name="Object 11"/>
          <p:cNvGraphicFramePr>
            <a:graphicFrameLocks noChangeAspect="1"/>
          </p:cNvGraphicFramePr>
          <p:nvPr/>
        </p:nvGraphicFramePr>
        <p:xfrm>
          <a:off x="5337175" y="2528888"/>
          <a:ext cx="3105150" cy="582612"/>
        </p:xfrm>
        <a:graphic>
          <a:graphicData uri="http://schemas.openxmlformats.org/presentationml/2006/ole">
            <p:oleObj spid="_x0000_s21507" name="Equation" r:id="rId4" imgW="1663700" imgH="254000" progId="">
              <p:embed/>
            </p:oleObj>
          </a:graphicData>
        </a:graphic>
      </p:graphicFrame>
      <p:grpSp>
        <p:nvGrpSpPr>
          <p:cNvPr id="2" name="Group 12"/>
          <p:cNvGrpSpPr>
            <a:grpSpLocks/>
          </p:cNvGrpSpPr>
          <p:nvPr/>
        </p:nvGrpSpPr>
        <p:grpSpPr bwMode="auto">
          <a:xfrm>
            <a:off x="296863" y="3473450"/>
            <a:ext cx="8577262" cy="566738"/>
            <a:chOff x="187" y="2188"/>
            <a:chExt cx="5403" cy="357"/>
          </a:xfrm>
        </p:grpSpPr>
        <p:sp>
          <p:nvSpPr>
            <p:cNvPr id="21520" name="Text Box 13"/>
            <p:cNvSpPr txBox="1">
              <a:spLocks noChangeArrowheads="1"/>
            </p:cNvSpPr>
            <p:nvPr/>
          </p:nvSpPr>
          <p:spPr bwMode="auto">
            <a:xfrm>
              <a:off x="187" y="2188"/>
              <a:ext cx="5403" cy="337"/>
            </a:xfrm>
            <a:prstGeom prst="rect">
              <a:avLst/>
            </a:prstGeom>
            <a:noFill/>
            <a:ln w="9525">
              <a:noFill/>
              <a:miter lim="800000"/>
              <a:headEnd/>
              <a:tailEnd/>
            </a:ln>
          </p:spPr>
          <p:txBody>
            <a:bodyPr>
              <a:spAutoFit/>
            </a:bodyPr>
            <a:lstStyle/>
            <a:p>
              <a:pPr algn="l" eaLnBrk="0" hangingPunct="0">
                <a:lnSpc>
                  <a:spcPct val="120000"/>
                </a:lnSpc>
              </a:pPr>
              <a:r>
                <a:rPr lang="zh-CN" altLang="en-US" b="1"/>
                <a:t>另：设光子沿   </a:t>
              </a:r>
              <a:r>
                <a:rPr lang="en-US" altLang="zh-CN" b="1"/>
                <a:t>    </a:t>
              </a:r>
              <a:r>
                <a:rPr lang="zh-CN" altLang="en-US" b="1"/>
                <a:t>方向运动</a:t>
              </a:r>
              <a:r>
                <a:rPr lang="en-US" altLang="zh-CN" b="1"/>
                <a:t>,</a:t>
              </a:r>
              <a:r>
                <a:rPr lang="zh-CN" altLang="en-US" b="1"/>
                <a:t>即</a:t>
              </a:r>
              <a:r>
                <a:rPr lang="en-US" altLang="zh-CN" b="1"/>
                <a:t>                                            </a:t>
              </a:r>
              <a:r>
                <a:rPr lang="zh-CN" altLang="en-US" b="1"/>
                <a:t>，</a:t>
              </a:r>
              <a:r>
                <a:rPr lang="en-US" altLang="zh-CN" b="1"/>
                <a:t> </a:t>
              </a:r>
              <a:r>
                <a:rPr lang="zh-CN" altLang="en-US" b="1"/>
                <a:t>得</a:t>
              </a:r>
              <a:r>
                <a:rPr lang="en-US" altLang="zh-CN"/>
                <a:t> </a:t>
              </a:r>
            </a:p>
          </p:txBody>
        </p:sp>
        <p:graphicFrame>
          <p:nvGraphicFramePr>
            <p:cNvPr id="21512" name="Object 14"/>
            <p:cNvGraphicFramePr>
              <a:graphicFrameLocks noChangeAspect="1"/>
            </p:cNvGraphicFramePr>
            <p:nvPr/>
          </p:nvGraphicFramePr>
          <p:xfrm>
            <a:off x="2795" y="2217"/>
            <a:ext cx="1956" cy="328"/>
          </p:xfrm>
          <a:graphic>
            <a:graphicData uri="http://schemas.openxmlformats.org/presentationml/2006/ole">
              <p:oleObj spid="_x0000_s21512" name="Equation" r:id="rId5" imgW="1536033" imgH="253890" progId="">
                <p:embed/>
              </p:oleObj>
            </a:graphicData>
          </a:graphic>
        </p:graphicFrame>
        <p:graphicFrame>
          <p:nvGraphicFramePr>
            <p:cNvPr id="21513" name="Object 15"/>
            <p:cNvGraphicFramePr>
              <a:graphicFrameLocks noChangeAspect="1"/>
            </p:cNvGraphicFramePr>
            <p:nvPr/>
          </p:nvGraphicFramePr>
          <p:xfrm>
            <a:off x="1434" y="2245"/>
            <a:ext cx="312" cy="256"/>
          </p:xfrm>
          <a:graphic>
            <a:graphicData uri="http://schemas.openxmlformats.org/presentationml/2006/ole">
              <p:oleObj spid="_x0000_s21513" name="Equation" r:id="rId6" imgW="266353" imgH="215619" progId="">
                <p:embed/>
              </p:oleObj>
            </a:graphicData>
          </a:graphic>
        </p:graphicFrame>
      </p:grpSp>
      <p:graphicFrame>
        <p:nvGraphicFramePr>
          <p:cNvPr id="186384" name="Object 16"/>
          <p:cNvGraphicFramePr>
            <a:graphicFrameLocks noChangeAspect="1"/>
          </p:cNvGraphicFramePr>
          <p:nvPr/>
        </p:nvGraphicFramePr>
        <p:xfrm>
          <a:off x="836613" y="4059238"/>
          <a:ext cx="2047875" cy="1125537"/>
        </p:xfrm>
        <a:graphic>
          <a:graphicData uri="http://schemas.openxmlformats.org/presentationml/2006/ole">
            <p:oleObj spid="_x0000_s21508" name="Equation" r:id="rId7" imgW="1054100" imgH="584200" progId="">
              <p:embed/>
            </p:oleObj>
          </a:graphicData>
        </a:graphic>
      </p:graphicFrame>
      <p:graphicFrame>
        <p:nvGraphicFramePr>
          <p:cNvPr id="186385" name="Object 17"/>
          <p:cNvGraphicFramePr>
            <a:graphicFrameLocks noChangeAspect="1"/>
          </p:cNvGraphicFramePr>
          <p:nvPr/>
        </p:nvGraphicFramePr>
        <p:xfrm>
          <a:off x="792163" y="5364163"/>
          <a:ext cx="2781300" cy="933450"/>
        </p:xfrm>
        <a:graphic>
          <a:graphicData uri="http://schemas.openxmlformats.org/presentationml/2006/ole">
            <p:oleObj spid="_x0000_s21509" name="Equation" r:id="rId8" imgW="1726451" imgH="583947" progId="">
              <p:embed/>
            </p:oleObj>
          </a:graphicData>
        </a:graphic>
      </p:graphicFrame>
      <p:graphicFrame>
        <p:nvGraphicFramePr>
          <p:cNvPr id="186386" name="Object 18"/>
          <p:cNvGraphicFramePr>
            <a:graphicFrameLocks noChangeAspect="1"/>
          </p:cNvGraphicFramePr>
          <p:nvPr/>
        </p:nvGraphicFramePr>
        <p:xfrm>
          <a:off x="3941763" y="4059238"/>
          <a:ext cx="3568700" cy="1169987"/>
        </p:xfrm>
        <a:graphic>
          <a:graphicData uri="http://schemas.openxmlformats.org/presentationml/2006/ole">
            <p:oleObj spid="_x0000_s21510" name="Equation" r:id="rId9" imgW="2400300" imgH="609600" progId="">
              <p:embed/>
            </p:oleObj>
          </a:graphicData>
        </a:graphic>
      </p:graphicFrame>
      <p:graphicFrame>
        <p:nvGraphicFramePr>
          <p:cNvPr id="186387" name="Object 19"/>
          <p:cNvGraphicFramePr>
            <a:graphicFrameLocks noChangeAspect="1"/>
          </p:cNvGraphicFramePr>
          <p:nvPr/>
        </p:nvGraphicFramePr>
        <p:xfrm>
          <a:off x="4257675" y="5319713"/>
          <a:ext cx="3105150" cy="660400"/>
        </p:xfrm>
        <a:graphic>
          <a:graphicData uri="http://schemas.openxmlformats.org/presentationml/2006/ole">
            <p:oleObj spid="_x0000_s21511" name="Equation" r:id="rId10" imgW="1447172" imgH="304668" progId="">
              <p:embed/>
            </p:oleObj>
          </a:graphicData>
        </a:graphic>
      </p:graphicFrame>
      <p:sp>
        <p:nvSpPr>
          <p:cNvPr id="186388" name="Text Box 20"/>
          <p:cNvSpPr txBox="1">
            <a:spLocks noChangeArrowheads="1"/>
          </p:cNvSpPr>
          <p:nvPr/>
        </p:nvSpPr>
        <p:spPr bwMode="auto">
          <a:xfrm>
            <a:off x="7993063" y="4464050"/>
            <a:ext cx="628650" cy="1570038"/>
          </a:xfrm>
          <a:prstGeom prst="rect">
            <a:avLst/>
          </a:prstGeom>
          <a:gradFill rotWithShape="1">
            <a:gsLst>
              <a:gs pos="0">
                <a:srgbClr val="FFFFFF"/>
              </a:gs>
              <a:gs pos="100000">
                <a:srgbClr val="CCFFFF"/>
              </a:gs>
            </a:gsLst>
            <a:path path="shape">
              <a:fillToRect l="50000" t="50000" r="50000" b="50000"/>
            </a:path>
          </a:gradFill>
          <a:ln w="9525">
            <a:noFill/>
            <a:miter lim="800000"/>
            <a:headEnd/>
            <a:tailEnd/>
          </a:ln>
        </p:spPr>
        <p:txBody>
          <a:bodyPr>
            <a:spAutoFit/>
          </a:bodyPr>
          <a:lstStyle/>
          <a:p>
            <a:pPr>
              <a:spcBef>
                <a:spcPct val="50000"/>
              </a:spcBef>
            </a:pPr>
            <a:r>
              <a:rPr lang="zh-CN" altLang="en-US" b="1"/>
              <a:t>光速不变</a:t>
            </a:r>
            <a:r>
              <a:rPr lang="en-US" altLang="zh-CN" b="1"/>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6373"/>
                                        </p:tgtEl>
                                        <p:attrNameLst>
                                          <p:attrName>style.visibility</p:attrName>
                                        </p:attrNameLst>
                                      </p:cBhvr>
                                      <p:to>
                                        <p:strVal val="visible"/>
                                      </p:to>
                                    </p:set>
                                    <p:animEffect transition="in" filter="wipe(left)">
                                      <p:cBhvr>
                                        <p:cTn id="7" dur="500"/>
                                        <p:tgtEl>
                                          <p:spTgt spid="1863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186374"/>
                                        </p:tgtEl>
                                        <p:attrNameLst>
                                          <p:attrName>style.visibility</p:attrName>
                                        </p:attrNameLst>
                                      </p:cBhvr>
                                      <p:to>
                                        <p:strVal val="visible"/>
                                      </p:to>
                                    </p:set>
                                    <p:animEffect transition="in" filter="wipe(left)">
                                      <p:cBhvr>
                                        <p:cTn id="12" dur="10"/>
                                        <p:tgtEl>
                                          <p:spTgt spid="1863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6000"/>
                                  </p:iterate>
                                  <p:childTnLst>
                                    <p:set>
                                      <p:cBhvr>
                                        <p:cTn id="16" dur="1" fill="hold">
                                          <p:stCondLst>
                                            <p:cond delay="0"/>
                                          </p:stCondLst>
                                        </p:cTn>
                                        <p:tgtEl>
                                          <p:spTgt spid="186371"/>
                                        </p:tgtEl>
                                        <p:attrNameLst>
                                          <p:attrName>style.visibility</p:attrName>
                                        </p:attrNameLst>
                                      </p:cBhvr>
                                      <p:to>
                                        <p:strVal val="visible"/>
                                      </p:to>
                                    </p:set>
                                    <p:animEffect transition="in" filter="wipe(left)">
                                      <p:cBhvr>
                                        <p:cTn id="17" dur="500"/>
                                        <p:tgtEl>
                                          <p:spTgt spid="18637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86378"/>
                                        </p:tgtEl>
                                        <p:attrNameLst>
                                          <p:attrName>style.visibility</p:attrName>
                                        </p:attrNameLst>
                                      </p:cBhvr>
                                      <p:to>
                                        <p:strVal val="visible"/>
                                      </p:to>
                                    </p:set>
                                    <p:animEffect transition="in" filter="wipe(left)">
                                      <p:cBhvr>
                                        <p:cTn id="22" dur="1000"/>
                                        <p:tgtEl>
                                          <p:spTgt spid="18637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86379"/>
                                        </p:tgtEl>
                                        <p:attrNameLst>
                                          <p:attrName>style.visibility</p:attrName>
                                        </p:attrNameLst>
                                      </p:cBhvr>
                                      <p:to>
                                        <p:strVal val="visible"/>
                                      </p:to>
                                    </p:set>
                                    <p:animEffect transition="in" filter="wipe(left)">
                                      <p:cBhvr>
                                        <p:cTn id="27" dur="1000"/>
                                        <p:tgtEl>
                                          <p:spTgt spid="18637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1000"/>
                                        <p:tgtEl>
                                          <p:spTgt spid="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86384"/>
                                        </p:tgtEl>
                                        <p:attrNameLst>
                                          <p:attrName>style.visibility</p:attrName>
                                        </p:attrNameLst>
                                      </p:cBhvr>
                                      <p:to>
                                        <p:strVal val="visible"/>
                                      </p:to>
                                    </p:set>
                                    <p:animEffect transition="in" filter="wipe(left)">
                                      <p:cBhvr>
                                        <p:cTn id="37" dur="1000"/>
                                        <p:tgtEl>
                                          <p:spTgt spid="18638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86386"/>
                                        </p:tgtEl>
                                        <p:attrNameLst>
                                          <p:attrName>style.visibility</p:attrName>
                                        </p:attrNameLst>
                                      </p:cBhvr>
                                      <p:to>
                                        <p:strVal val="visible"/>
                                      </p:to>
                                    </p:set>
                                    <p:animEffect transition="in" filter="wipe(left)">
                                      <p:cBhvr>
                                        <p:cTn id="42" dur="1000"/>
                                        <p:tgtEl>
                                          <p:spTgt spid="18638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86385"/>
                                        </p:tgtEl>
                                        <p:attrNameLst>
                                          <p:attrName>style.visibility</p:attrName>
                                        </p:attrNameLst>
                                      </p:cBhvr>
                                      <p:to>
                                        <p:strVal val="visible"/>
                                      </p:to>
                                    </p:set>
                                    <p:animEffect transition="in" filter="wipe(left)">
                                      <p:cBhvr>
                                        <p:cTn id="47" dur="1000"/>
                                        <p:tgtEl>
                                          <p:spTgt spid="18638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86387"/>
                                        </p:tgtEl>
                                        <p:attrNameLst>
                                          <p:attrName>style.visibility</p:attrName>
                                        </p:attrNameLst>
                                      </p:cBhvr>
                                      <p:to>
                                        <p:strVal val="visible"/>
                                      </p:to>
                                    </p:set>
                                    <p:animEffect transition="in" filter="wipe(left)">
                                      <p:cBhvr>
                                        <p:cTn id="52" dur="1000"/>
                                        <p:tgtEl>
                                          <p:spTgt spid="18638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86388"/>
                                        </p:tgtEl>
                                        <p:attrNameLst>
                                          <p:attrName>style.visibility</p:attrName>
                                        </p:attrNameLst>
                                      </p:cBhvr>
                                      <p:to>
                                        <p:strVal val="visible"/>
                                      </p:to>
                                    </p:set>
                                    <p:animEffect transition="in" filter="wipe(left)">
                                      <p:cBhvr>
                                        <p:cTn id="57" dur="1000"/>
                                        <p:tgtEl>
                                          <p:spTgt spid="186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1" grpId="0"/>
      <p:bldP spid="186373" grpId="0"/>
      <p:bldP spid="186374" grpId="0"/>
      <p:bldP spid="18638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ChangeArrowheads="1"/>
          </p:cNvSpPr>
          <p:nvPr/>
        </p:nvSpPr>
        <p:spPr bwMode="auto">
          <a:xfrm>
            <a:off x="1263650" y="3117850"/>
            <a:ext cx="7610475" cy="479425"/>
          </a:xfrm>
          <a:prstGeom prst="rect">
            <a:avLst/>
          </a:prstGeom>
          <a:noFill/>
          <a:ln w="9525">
            <a:noFill/>
            <a:miter lim="800000"/>
            <a:headEnd/>
            <a:tailEnd/>
          </a:ln>
        </p:spPr>
        <p:txBody>
          <a:bodyPr>
            <a:spAutoFit/>
          </a:bodyPr>
          <a:lstStyle/>
          <a:p>
            <a:pPr algn="l">
              <a:lnSpc>
                <a:spcPct val="115000"/>
              </a:lnSpc>
            </a:pPr>
            <a:r>
              <a:rPr lang="zh-CN" altLang="en-US" b="1">
                <a:solidFill>
                  <a:schemeClr val="accent2"/>
                </a:solidFill>
              </a:rPr>
              <a:t>即趋于低速时，物理量须趋于经典理论中相应的量</a:t>
            </a:r>
          </a:p>
        </p:txBody>
      </p:sp>
      <p:sp>
        <p:nvSpPr>
          <p:cNvPr id="187395" name="Rectangle 3"/>
          <p:cNvSpPr>
            <a:spLocks noChangeArrowheads="1"/>
          </p:cNvSpPr>
          <p:nvPr/>
        </p:nvSpPr>
        <p:spPr bwMode="auto">
          <a:xfrm>
            <a:off x="341313" y="1116013"/>
            <a:ext cx="5400675" cy="479425"/>
          </a:xfrm>
          <a:prstGeom prst="rect">
            <a:avLst/>
          </a:prstGeom>
          <a:noFill/>
          <a:ln w="9525">
            <a:noFill/>
            <a:miter lim="800000"/>
            <a:headEnd/>
            <a:tailEnd/>
          </a:ln>
        </p:spPr>
        <p:txBody>
          <a:bodyPr>
            <a:spAutoFit/>
          </a:bodyPr>
          <a:lstStyle/>
          <a:p>
            <a:pPr algn="l">
              <a:lnSpc>
                <a:spcPct val="115000"/>
              </a:lnSpc>
            </a:pPr>
            <a:r>
              <a:rPr lang="zh-CN" altLang="en-US" b="1">
                <a:solidFill>
                  <a:schemeClr val="bg1"/>
                </a:solidFill>
              </a:rPr>
              <a:t>物理概念：质量，动量，能量，</a:t>
            </a:r>
            <a:r>
              <a:rPr lang="en-US" altLang="zh-CN" b="1">
                <a:solidFill>
                  <a:schemeClr val="bg1"/>
                </a:solidFill>
              </a:rPr>
              <a:t>……</a:t>
            </a:r>
          </a:p>
        </p:txBody>
      </p:sp>
      <p:sp>
        <p:nvSpPr>
          <p:cNvPr id="187396" name="AutoShape 4"/>
          <p:cNvSpPr>
            <a:spLocks noChangeArrowheads="1"/>
          </p:cNvSpPr>
          <p:nvPr/>
        </p:nvSpPr>
        <p:spPr bwMode="auto">
          <a:xfrm>
            <a:off x="5526088" y="1258888"/>
            <a:ext cx="463550" cy="242887"/>
          </a:xfrm>
          <a:prstGeom prst="leftRightArrow">
            <a:avLst>
              <a:gd name="adj1" fmla="val 31815"/>
              <a:gd name="adj2" fmla="val 38311"/>
            </a:avLst>
          </a:prstGeom>
          <a:solidFill>
            <a:srgbClr val="0000FF"/>
          </a:solidFill>
          <a:ln w="9525">
            <a:solidFill>
              <a:schemeClr val="tx1"/>
            </a:solidFill>
            <a:miter lim="800000"/>
            <a:headEnd/>
            <a:tailEnd/>
          </a:ln>
        </p:spPr>
        <p:txBody>
          <a:bodyPr wrap="none" anchor="ctr"/>
          <a:lstStyle/>
          <a:p>
            <a:endParaRPr lang="zh-CN" altLang="en-US"/>
          </a:p>
        </p:txBody>
      </p:sp>
      <p:sp>
        <p:nvSpPr>
          <p:cNvPr id="187397" name="Rectangle 5"/>
          <p:cNvSpPr>
            <a:spLocks noChangeArrowheads="1"/>
          </p:cNvSpPr>
          <p:nvPr/>
        </p:nvSpPr>
        <p:spPr bwMode="auto">
          <a:xfrm>
            <a:off x="6102350" y="1116013"/>
            <a:ext cx="2592388" cy="479425"/>
          </a:xfrm>
          <a:prstGeom prst="rect">
            <a:avLst/>
          </a:prstGeom>
          <a:noFill/>
          <a:ln w="9525">
            <a:noFill/>
            <a:miter lim="800000"/>
            <a:headEnd/>
            <a:tailEnd/>
          </a:ln>
        </p:spPr>
        <p:txBody>
          <a:bodyPr>
            <a:spAutoFit/>
          </a:bodyPr>
          <a:lstStyle/>
          <a:p>
            <a:pPr algn="l">
              <a:lnSpc>
                <a:spcPct val="115000"/>
              </a:lnSpc>
            </a:pPr>
            <a:r>
              <a:rPr lang="zh-CN" altLang="en-US" b="1">
                <a:solidFill>
                  <a:schemeClr val="bg1"/>
                </a:solidFill>
              </a:rPr>
              <a:t>重新审视其定义</a:t>
            </a:r>
          </a:p>
        </p:txBody>
      </p:sp>
      <p:sp>
        <p:nvSpPr>
          <p:cNvPr id="187398" name="Rectangle 6"/>
          <p:cNvSpPr>
            <a:spLocks noChangeArrowheads="1"/>
          </p:cNvSpPr>
          <p:nvPr/>
        </p:nvSpPr>
        <p:spPr bwMode="auto">
          <a:xfrm>
            <a:off x="881063" y="1763713"/>
            <a:ext cx="6781800" cy="479425"/>
          </a:xfrm>
          <a:prstGeom prst="rect">
            <a:avLst/>
          </a:prstGeom>
          <a:noFill/>
          <a:ln w="9525">
            <a:noFill/>
            <a:miter lim="800000"/>
            <a:headEnd/>
            <a:tailEnd/>
          </a:ln>
        </p:spPr>
        <p:txBody>
          <a:bodyPr>
            <a:spAutoFit/>
          </a:bodyPr>
          <a:lstStyle/>
          <a:p>
            <a:pPr algn="l">
              <a:lnSpc>
                <a:spcPct val="115000"/>
              </a:lnSpc>
            </a:pPr>
            <a:r>
              <a:rPr lang="en-US" altLang="zh-CN" b="1">
                <a:solidFill>
                  <a:schemeClr val="bg1"/>
                </a:solidFill>
              </a:rPr>
              <a:t>(1) </a:t>
            </a:r>
            <a:r>
              <a:rPr lang="zh-CN" altLang="en-US" b="1">
                <a:solidFill>
                  <a:schemeClr val="bg1"/>
                </a:solidFill>
              </a:rPr>
              <a:t>应符合爱因斯坦的狭义相对性原理</a:t>
            </a:r>
          </a:p>
        </p:txBody>
      </p:sp>
      <p:sp>
        <p:nvSpPr>
          <p:cNvPr id="187399" name="Rectangle 7"/>
          <p:cNvSpPr>
            <a:spLocks noChangeArrowheads="1"/>
          </p:cNvSpPr>
          <p:nvPr/>
        </p:nvSpPr>
        <p:spPr bwMode="auto">
          <a:xfrm>
            <a:off x="852488" y="2686050"/>
            <a:ext cx="2992437" cy="479425"/>
          </a:xfrm>
          <a:prstGeom prst="rect">
            <a:avLst/>
          </a:prstGeom>
          <a:noFill/>
          <a:ln w="9525">
            <a:noFill/>
            <a:miter lim="800000"/>
            <a:headEnd/>
            <a:tailEnd/>
          </a:ln>
        </p:spPr>
        <p:txBody>
          <a:bodyPr>
            <a:spAutoFit/>
          </a:bodyPr>
          <a:lstStyle/>
          <a:p>
            <a:pPr algn="l">
              <a:lnSpc>
                <a:spcPct val="115000"/>
              </a:lnSpc>
            </a:pPr>
            <a:r>
              <a:rPr lang="en-US" altLang="zh-CN" b="1">
                <a:solidFill>
                  <a:schemeClr val="bg1"/>
                </a:solidFill>
              </a:rPr>
              <a:t>(2) </a:t>
            </a:r>
            <a:r>
              <a:rPr lang="zh-CN" altLang="en-US" b="1">
                <a:solidFill>
                  <a:schemeClr val="bg1"/>
                </a:solidFill>
              </a:rPr>
              <a:t>应满足对应原理</a:t>
            </a:r>
          </a:p>
        </p:txBody>
      </p:sp>
      <p:sp>
        <p:nvSpPr>
          <p:cNvPr id="187400" name="Rectangle 8"/>
          <p:cNvSpPr>
            <a:spLocks noChangeArrowheads="1"/>
          </p:cNvSpPr>
          <p:nvPr/>
        </p:nvSpPr>
        <p:spPr bwMode="auto">
          <a:xfrm>
            <a:off x="1292225" y="2217738"/>
            <a:ext cx="6105525" cy="479425"/>
          </a:xfrm>
          <a:prstGeom prst="rect">
            <a:avLst/>
          </a:prstGeom>
          <a:noFill/>
          <a:ln w="9525">
            <a:noFill/>
            <a:miter lim="800000"/>
            <a:headEnd/>
            <a:tailEnd/>
          </a:ln>
        </p:spPr>
        <p:txBody>
          <a:bodyPr>
            <a:spAutoFit/>
          </a:bodyPr>
          <a:lstStyle/>
          <a:p>
            <a:pPr algn="l">
              <a:lnSpc>
                <a:spcPct val="115000"/>
              </a:lnSpc>
            </a:pPr>
            <a:r>
              <a:rPr lang="zh-CN" altLang="en-US" b="1">
                <a:solidFill>
                  <a:schemeClr val="accent2"/>
                </a:solidFill>
              </a:rPr>
              <a:t>即经过洛伦兹变换时保持定律形式不变</a:t>
            </a:r>
          </a:p>
        </p:txBody>
      </p:sp>
      <p:sp>
        <p:nvSpPr>
          <p:cNvPr id="187401" name="Text Box 9"/>
          <p:cNvSpPr txBox="1">
            <a:spLocks noChangeArrowheads="1"/>
          </p:cNvSpPr>
          <p:nvPr/>
        </p:nvSpPr>
        <p:spPr bwMode="auto">
          <a:xfrm>
            <a:off x="171450" y="1852613"/>
            <a:ext cx="674688" cy="1363662"/>
          </a:xfrm>
          <a:prstGeom prst="rect">
            <a:avLst/>
          </a:prstGeom>
          <a:solidFill>
            <a:srgbClr val="00CC99">
              <a:alpha val="14117"/>
            </a:srgbClr>
          </a:solidFill>
          <a:ln w="9525">
            <a:solidFill>
              <a:srgbClr val="00CC99">
                <a:alpha val="38823"/>
              </a:srgbClr>
            </a:solidFill>
            <a:miter lim="800000"/>
            <a:headEnd/>
            <a:tailEnd/>
          </a:ln>
        </p:spPr>
        <p:txBody>
          <a:bodyPr>
            <a:spAutoFit/>
          </a:bodyPr>
          <a:lstStyle/>
          <a:p>
            <a:pPr>
              <a:lnSpc>
                <a:spcPct val="115000"/>
              </a:lnSpc>
            </a:pPr>
            <a:r>
              <a:rPr lang="zh-CN" altLang="en-US" b="1">
                <a:solidFill>
                  <a:srgbClr val="000099"/>
                </a:solidFill>
              </a:rPr>
              <a:t>原</a:t>
            </a:r>
            <a:endParaRPr lang="en-US" altLang="zh-CN" b="1">
              <a:solidFill>
                <a:srgbClr val="000099"/>
              </a:solidFill>
            </a:endParaRPr>
          </a:p>
          <a:p>
            <a:pPr>
              <a:lnSpc>
                <a:spcPct val="115000"/>
              </a:lnSpc>
            </a:pPr>
            <a:endParaRPr lang="en-US" altLang="zh-CN" b="1">
              <a:solidFill>
                <a:srgbClr val="000099"/>
              </a:solidFill>
            </a:endParaRPr>
          </a:p>
          <a:p>
            <a:pPr>
              <a:lnSpc>
                <a:spcPct val="115000"/>
              </a:lnSpc>
            </a:pPr>
            <a:r>
              <a:rPr lang="zh-CN" altLang="en-US" b="1">
                <a:solidFill>
                  <a:srgbClr val="000099"/>
                </a:solidFill>
              </a:rPr>
              <a:t>则</a:t>
            </a:r>
          </a:p>
        </p:txBody>
      </p:sp>
      <p:sp>
        <p:nvSpPr>
          <p:cNvPr id="187402" name="Text Box 10"/>
          <p:cNvSpPr txBox="1">
            <a:spLocks noChangeArrowheads="1"/>
          </p:cNvSpPr>
          <p:nvPr/>
        </p:nvSpPr>
        <p:spPr bwMode="auto">
          <a:xfrm>
            <a:off x="1150938" y="415925"/>
            <a:ext cx="6858000" cy="519113"/>
          </a:xfrm>
          <a:prstGeom prst="rect">
            <a:avLst/>
          </a:prstGeom>
          <a:noFill/>
          <a:ln w="9525">
            <a:noFill/>
            <a:miter lim="800000"/>
            <a:headEnd/>
            <a:tailEnd/>
          </a:ln>
        </p:spPr>
        <p:txBody>
          <a:bodyPr>
            <a:spAutoFit/>
          </a:bodyPr>
          <a:lstStyle/>
          <a:p>
            <a:r>
              <a:rPr lang="en-US" altLang="zh-CN" sz="2800" b="1">
                <a:solidFill>
                  <a:srgbClr val="000099"/>
                </a:solidFill>
                <a:ea typeface="黑体" pitchFamily="49" charset="-122"/>
              </a:rPr>
              <a:t>§ 4.4     </a:t>
            </a:r>
            <a:r>
              <a:rPr lang="zh-CN" altLang="en-US" sz="2800" b="1">
                <a:solidFill>
                  <a:srgbClr val="000099"/>
                </a:solidFill>
                <a:ea typeface="黑体" pitchFamily="49" charset="-122"/>
              </a:rPr>
              <a:t>狭义相对论动力学基础</a:t>
            </a:r>
            <a:r>
              <a:rPr lang="en-US" altLang="zh-CN" sz="2800" b="1">
                <a:solidFill>
                  <a:srgbClr val="000099"/>
                </a:solidFill>
                <a:ea typeface="黑体" pitchFamily="49" charset="-122"/>
              </a:rPr>
              <a:t> </a:t>
            </a:r>
          </a:p>
        </p:txBody>
      </p:sp>
      <p:sp>
        <p:nvSpPr>
          <p:cNvPr id="187403" name="Text Box 11"/>
          <p:cNvSpPr txBox="1">
            <a:spLocks noChangeArrowheads="1"/>
          </p:cNvSpPr>
          <p:nvPr/>
        </p:nvSpPr>
        <p:spPr bwMode="auto">
          <a:xfrm>
            <a:off x="120650" y="3743325"/>
            <a:ext cx="5307013" cy="457200"/>
          </a:xfrm>
          <a:prstGeom prst="rect">
            <a:avLst/>
          </a:prstGeom>
          <a:noFill/>
          <a:ln w="9525">
            <a:noFill/>
            <a:miter lim="800000"/>
            <a:headEnd/>
            <a:tailEnd/>
          </a:ln>
        </p:spPr>
        <p:txBody>
          <a:bodyPr>
            <a:spAutoFit/>
          </a:bodyPr>
          <a:lstStyle/>
          <a:p>
            <a:pPr algn="l">
              <a:spcBef>
                <a:spcPct val="50000"/>
              </a:spcBef>
            </a:pPr>
            <a:r>
              <a:rPr lang="en-US" altLang="zh-CN" b="1">
                <a:solidFill>
                  <a:srgbClr val="0000FF"/>
                </a:solidFill>
              </a:rPr>
              <a:t>4.4.1  </a:t>
            </a:r>
            <a:r>
              <a:rPr lang="zh-CN" altLang="en-US" b="1">
                <a:solidFill>
                  <a:srgbClr val="0000FF"/>
                </a:solidFill>
              </a:rPr>
              <a:t>相对论质</a:t>
            </a:r>
            <a:r>
              <a:rPr lang="en-US" altLang="zh-CN" b="1">
                <a:solidFill>
                  <a:srgbClr val="0000FF"/>
                </a:solidFill>
              </a:rPr>
              <a:t>-</a:t>
            </a:r>
            <a:r>
              <a:rPr lang="zh-CN" altLang="en-US" b="1">
                <a:solidFill>
                  <a:srgbClr val="0000FF"/>
                </a:solidFill>
              </a:rPr>
              <a:t>速关系</a:t>
            </a:r>
          </a:p>
        </p:txBody>
      </p:sp>
      <p:sp>
        <p:nvSpPr>
          <p:cNvPr id="187404" name="Rectangle 12"/>
          <p:cNvSpPr>
            <a:spLocks noChangeArrowheads="1"/>
          </p:cNvSpPr>
          <p:nvPr/>
        </p:nvSpPr>
        <p:spPr bwMode="auto">
          <a:xfrm>
            <a:off x="611188" y="4238625"/>
            <a:ext cx="1890712" cy="479425"/>
          </a:xfrm>
          <a:prstGeom prst="rect">
            <a:avLst/>
          </a:prstGeom>
          <a:noFill/>
          <a:ln w="9525">
            <a:noFill/>
            <a:miter lim="800000"/>
            <a:headEnd/>
            <a:tailEnd/>
          </a:ln>
        </p:spPr>
        <p:txBody>
          <a:bodyPr>
            <a:spAutoFit/>
          </a:bodyPr>
          <a:lstStyle/>
          <a:p>
            <a:pPr algn="l">
              <a:lnSpc>
                <a:spcPct val="115000"/>
              </a:lnSpc>
            </a:pPr>
            <a:r>
              <a:rPr lang="zh-CN" altLang="en-US" b="1">
                <a:solidFill>
                  <a:schemeClr val="accent2"/>
                </a:solidFill>
              </a:rPr>
              <a:t>经典力学中</a:t>
            </a:r>
            <a:endParaRPr lang="zh-CN" altLang="en-US" b="1">
              <a:solidFill>
                <a:schemeClr val="bg1"/>
              </a:solidFill>
            </a:endParaRPr>
          </a:p>
        </p:txBody>
      </p:sp>
      <p:graphicFrame>
        <p:nvGraphicFramePr>
          <p:cNvPr id="187405" name="Object 13"/>
          <p:cNvGraphicFramePr>
            <a:graphicFrameLocks noChangeAspect="1"/>
          </p:cNvGraphicFramePr>
          <p:nvPr/>
        </p:nvGraphicFramePr>
        <p:xfrm>
          <a:off x="4221163" y="4733925"/>
          <a:ext cx="1450975" cy="341313"/>
        </p:xfrm>
        <a:graphic>
          <a:graphicData uri="http://schemas.openxmlformats.org/presentationml/2006/ole">
            <p:oleObj spid="_x0000_s22530" name="公式" r:id="rId3" imgW="977900" imgH="228600" progId="Equation.3">
              <p:embed/>
            </p:oleObj>
          </a:graphicData>
        </a:graphic>
      </p:graphicFrame>
      <p:sp>
        <p:nvSpPr>
          <p:cNvPr id="187406" name="Rectangle 14"/>
          <p:cNvSpPr>
            <a:spLocks noChangeArrowheads="1"/>
          </p:cNvSpPr>
          <p:nvPr/>
        </p:nvSpPr>
        <p:spPr bwMode="auto">
          <a:xfrm>
            <a:off x="3897313" y="4149725"/>
            <a:ext cx="2719387" cy="517525"/>
          </a:xfrm>
          <a:prstGeom prst="rect">
            <a:avLst/>
          </a:prstGeom>
          <a:noFill/>
          <a:ln w="9525">
            <a:noFill/>
            <a:miter lim="800000"/>
            <a:headEnd/>
            <a:tailEnd/>
          </a:ln>
        </p:spPr>
        <p:txBody>
          <a:bodyPr>
            <a:spAutoFit/>
          </a:bodyPr>
          <a:lstStyle/>
          <a:p>
            <a:pPr algn="l">
              <a:lnSpc>
                <a:spcPct val="115000"/>
              </a:lnSpc>
            </a:pPr>
            <a:r>
              <a:rPr lang="en-US" altLang="zh-CN" b="1" i="1">
                <a:solidFill>
                  <a:schemeClr val="accent2"/>
                </a:solidFill>
              </a:rPr>
              <a:t>m </a:t>
            </a:r>
            <a:r>
              <a:rPr lang="zh-CN" altLang="en-US" b="1">
                <a:solidFill>
                  <a:schemeClr val="accent2"/>
                </a:solidFill>
              </a:rPr>
              <a:t>与物体运动无关</a:t>
            </a:r>
          </a:p>
        </p:txBody>
      </p:sp>
      <p:graphicFrame>
        <p:nvGraphicFramePr>
          <p:cNvPr id="187407" name="Object 15"/>
          <p:cNvGraphicFramePr>
            <a:graphicFrameLocks noChangeAspect="1"/>
          </p:cNvGraphicFramePr>
          <p:nvPr/>
        </p:nvGraphicFramePr>
        <p:xfrm>
          <a:off x="2557463" y="4194175"/>
          <a:ext cx="914400" cy="731838"/>
        </p:xfrm>
        <a:graphic>
          <a:graphicData uri="http://schemas.openxmlformats.org/presentationml/2006/ole">
            <p:oleObj spid="_x0000_s22531" name="公式" r:id="rId4" imgW="507780" imgH="406224" progId="Equation.3">
              <p:embed/>
            </p:oleObj>
          </a:graphicData>
        </a:graphic>
      </p:graphicFrame>
      <p:sp>
        <p:nvSpPr>
          <p:cNvPr id="187408" name="AutoShape 16"/>
          <p:cNvSpPr>
            <a:spLocks noChangeArrowheads="1"/>
          </p:cNvSpPr>
          <p:nvPr/>
        </p:nvSpPr>
        <p:spPr bwMode="auto">
          <a:xfrm>
            <a:off x="3862388" y="4554538"/>
            <a:ext cx="2970212" cy="179387"/>
          </a:xfrm>
          <a:prstGeom prst="rightArrow">
            <a:avLst>
              <a:gd name="adj1" fmla="val 50000"/>
              <a:gd name="adj2" fmla="val 413939"/>
            </a:avLst>
          </a:prstGeom>
          <a:solidFill>
            <a:srgbClr val="CCFFFF">
              <a:alpha val="91000"/>
            </a:srgbClr>
          </a:solidFill>
          <a:ln w="9525">
            <a:solidFill>
              <a:srgbClr val="66FFFF"/>
            </a:solidFill>
            <a:miter lim="800000"/>
            <a:headEnd/>
            <a:tailEnd/>
          </a:ln>
          <a:effectLst>
            <a:outerShdw blurRad="63500" dist="38099" dir="2700000" algn="ctr" rotWithShape="0">
              <a:schemeClr val="bg2">
                <a:alpha val="50000"/>
              </a:schemeClr>
            </a:outerShdw>
          </a:effectLst>
        </p:spPr>
        <p:txBody>
          <a:bodyPr wrap="none" tIns="0" anchor="ctr"/>
          <a:lstStyle/>
          <a:p>
            <a:pPr>
              <a:defRPr/>
            </a:pPr>
            <a:endParaRPr lang="zh-CN" altLang="en-US">
              <a:latin typeface="Times New Roman" charset="0"/>
              <a:ea typeface="宋体" charset="0"/>
            </a:endParaRPr>
          </a:p>
        </p:txBody>
      </p:sp>
      <p:graphicFrame>
        <p:nvGraphicFramePr>
          <p:cNvPr id="187409" name="Object 17"/>
          <p:cNvGraphicFramePr>
            <a:graphicFrameLocks noChangeAspect="1"/>
          </p:cNvGraphicFramePr>
          <p:nvPr/>
        </p:nvGraphicFramePr>
        <p:xfrm>
          <a:off x="6924675" y="4251325"/>
          <a:ext cx="1141413" cy="708025"/>
        </p:xfrm>
        <a:graphic>
          <a:graphicData uri="http://schemas.openxmlformats.org/presentationml/2006/ole">
            <p:oleObj spid="_x0000_s22532" name="Equation" r:id="rId5" imgW="634725" imgH="393529" progId="">
              <p:embed/>
            </p:oleObj>
          </a:graphicData>
        </a:graphic>
      </p:graphicFrame>
      <p:sp>
        <p:nvSpPr>
          <p:cNvPr id="187410" name="Text Box 18"/>
          <p:cNvSpPr txBox="1">
            <a:spLocks noChangeArrowheads="1"/>
          </p:cNvSpPr>
          <p:nvPr/>
        </p:nvSpPr>
        <p:spPr bwMode="auto">
          <a:xfrm>
            <a:off x="746125" y="5768975"/>
            <a:ext cx="7875588" cy="493713"/>
          </a:xfrm>
          <a:prstGeom prst="rect">
            <a:avLst/>
          </a:prstGeom>
          <a:noFill/>
          <a:ln w="9525">
            <a:noFill/>
            <a:miter lim="800000"/>
            <a:headEnd/>
            <a:tailEnd/>
          </a:ln>
        </p:spPr>
        <p:txBody>
          <a:bodyPr>
            <a:spAutoFit/>
          </a:bodyPr>
          <a:lstStyle/>
          <a:p>
            <a:pPr algn="l">
              <a:lnSpc>
                <a:spcPct val="120000"/>
              </a:lnSpc>
              <a:spcBef>
                <a:spcPct val="50000"/>
              </a:spcBef>
            </a:pPr>
            <a:r>
              <a:rPr lang="zh-CN" altLang="en-US" b="1"/>
              <a:t>质量</a:t>
            </a:r>
            <a:r>
              <a:rPr lang="en-US" altLang="zh-CN" b="1"/>
              <a:t> </a:t>
            </a:r>
            <a:r>
              <a:rPr lang="en-US" altLang="zh-CN" b="1" i="1">
                <a:solidFill>
                  <a:schemeClr val="accent2"/>
                </a:solidFill>
              </a:rPr>
              <a:t>m </a:t>
            </a:r>
            <a:r>
              <a:rPr lang="zh-CN" altLang="en-US" b="1"/>
              <a:t>不再是一个常量，而是随运动速率的改变而变化</a:t>
            </a:r>
          </a:p>
        </p:txBody>
      </p:sp>
      <p:sp>
        <p:nvSpPr>
          <p:cNvPr id="187411" name="Rectangle 19"/>
          <p:cNvSpPr>
            <a:spLocks noChangeArrowheads="1"/>
          </p:cNvSpPr>
          <p:nvPr/>
        </p:nvSpPr>
        <p:spPr bwMode="auto">
          <a:xfrm>
            <a:off x="476250" y="5094288"/>
            <a:ext cx="2746375" cy="479425"/>
          </a:xfrm>
          <a:prstGeom prst="rect">
            <a:avLst/>
          </a:prstGeom>
          <a:noFill/>
          <a:ln w="9525">
            <a:noFill/>
            <a:miter lim="800000"/>
            <a:headEnd/>
            <a:tailEnd/>
          </a:ln>
        </p:spPr>
        <p:txBody>
          <a:bodyPr>
            <a:spAutoFit/>
          </a:bodyPr>
          <a:lstStyle/>
          <a:p>
            <a:pPr algn="l">
              <a:lnSpc>
                <a:spcPct val="115000"/>
              </a:lnSpc>
            </a:pPr>
            <a:r>
              <a:rPr lang="zh-CN" altLang="en-US" b="1">
                <a:solidFill>
                  <a:schemeClr val="accent2"/>
                </a:solidFill>
              </a:rPr>
              <a:t>相对论动力学中</a:t>
            </a:r>
            <a:endParaRPr lang="zh-CN" altLang="en-US" b="1">
              <a:solidFill>
                <a:schemeClr val="bg1"/>
              </a:solidFill>
            </a:endParaRPr>
          </a:p>
        </p:txBody>
      </p:sp>
      <p:sp>
        <p:nvSpPr>
          <p:cNvPr id="22549" name="Rectangle 20"/>
          <p:cNvSpPr>
            <a:spLocks noChangeArrowheads="1"/>
          </p:cNvSpPr>
          <p:nvPr/>
        </p:nvSpPr>
        <p:spPr bwMode="auto">
          <a:xfrm>
            <a:off x="0" y="3343275"/>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87413" name="Object 21"/>
          <p:cNvGraphicFramePr>
            <a:graphicFrameLocks noChangeAspect="1"/>
          </p:cNvGraphicFramePr>
          <p:nvPr/>
        </p:nvGraphicFramePr>
        <p:xfrm>
          <a:off x="3267075" y="5238750"/>
          <a:ext cx="971550" cy="412750"/>
        </p:xfrm>
        <a:graphic>
          <a:graphicData uri="http://schemas.openxmlformats.org/presentationml/2006/ole">
            <p:oleObj spid="_x0000_s22533" name="Equation" r:id="rId6" imgW="545863" imgH="228501" progId="">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7402"/>
                                        </p:tgtEl>
                                        <p:attrNameLst>
                                          <p:attrName>style.visibility</p:attrName>
                                        </p:attrNameLst>
                                      </p:cBhvr>
                                      <p:to>
                                        <p:strVal val="visible"/>
                                      </p:to>
                                    </p:set>
                                    <p:animEffect transition="in" filter="wipe(left)">
                                      <p:cBhvr>
                                        <p:cTn id="7" dur="1000"/>
                                        <p:tgtEl>
                                          <p:spTgt spid="1874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7395"/>
                                        </p:tgtEl>
                                        <p:attrNameLst>
                                          <p:attrName>style.visibility</p:attrName>
                                        </p:attrNameLst>
                                      </p:cBhvr>
                                      <p:to>
                                        <p:strVal val="visible"/>
                                      </p:to>
                                    </p:set>
                                    <p:animEffect transition="in" filter="wipe(left)">
                                      <p:cBhvr>
                                        <p:cTn id="12" dur="1000"/>
                                        <p:tgtEl>
                                          <p:spTgt spid="1873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7396"/>
                                        </p:tgtEl>
                                        <p:attrNameLst>
                                          <p:attrName>style.visibility</p:attrName>
                                        </p:attrNameLst>
                                      </p:cBhvr>
                                      <p:to>
                                        <p:strVal val="visible"/>
                                      </p:to>
                                    </p:set>
                                    <p:animEffect transition="in" filter="wipe(left)">
                                      <p:cBhvr>
                                        <p:cTn id="17" dur="1000"/>
                                        <p:tgtEl>
                                          <p:spTgt spid="1873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7397"/>
                                        </p:tgtEl>
                                        <p:attrNameLst>
                                          <p:attrName>style.visibility</p:attrName>
                                        </p:attrNameLst>
                                      </p:cBhvr>
                                      <p:to>
                                        <p:strVal val="visible"/>
                                      </p:to>
                                    </p:set>
                                    <p:animEffect transition="in" filter="wipe(left)">
                                      <p:cBhvr>
                                        <p:cTn id="22" dur="1000"/>
                                        <p:tgtEl>
                                          <p:spTgt spid="18739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7401"/>
                                        </p:tgtEl>
                                        <p:attrNameLst>
                                          <p:attrName>style.visibility</p:attrName>
                                        </p:attrNameLst>
                                      </p:cBhvr>
                                      <p:to>
                                        <p:strVal val="visible"/>
                                      </p:to>
                                    </p:set>
                                    <p:animEffect transition="in" filter="wipe(left)">
                                      <p:cBhvr>
                                        <p:cTn id="27" dur="1000"/>
                                        <p:tgtEl>
                                          <p:spTgt spid="18740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7398"/>
                                        </p:tgtEl>
                                        <p:attrNameLst>
                                          <p:attrName>style.visibility</p:attrName>
                                        </p:attrNameLst>
                                      </p:cBhvr>
                                      <p:to>
                                        <p:strVal val="visible"/>
                                      </p:to>
                                    </p:set>
                                    <p:animEffect transition="in" filter="wipe(left)">
                                      <p:cBhvr>
                                        <p:cTn id="32" dur="1000"/>
                                        <p:tgtEl>
                                          <p:spTgt spid="18739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87400"/>
                                        </p:tgtEl>
                                        <p:attrNameLst>
                                          <p:attrName>style.visibility</p:attrName>
                                        </p:attrNameLst>
                                      </p:cBhvr>
                                      <p:to>
                                        <p:strVal val="visible"/>
                                      </p:to>
                                    </p:set>
                                    <p:animEffect transition="in" filter="wipe(left)">
                                      <p:cBhvr>
                                        <p:cTn id="37" dur="1000"/>
                                        <p:tgtEl>
                                          <p:spTgt spid="18740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7399"/>
                                        </p:tgtEl>
                                        <p:attrNameLst>
                                          <p:attrName>style.visibility</p:attrName>
                                        </p:attrNameLst>
                                      </p:cBhvr>
                                      <p:to>
                                        <p:strVal val="visible"/>
                                      </p:to>
                                    </p:set>
                                    <p:animEffect transition="in" filter="wipe(left)">
                                      <p:cBhvr>
                                        <p:cTn id="42" dur="1000"/>
                                        <p:tgtEl>
                                          <p:spTgt spid="18739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87394"/>
                                        </p:tgtEl>
                                        <p:attrNameLst>
                                          <p:attrName>style.visibility</p:attrName>
                                        </p:attrNameLst>
                                      </p:cBhvr>
                                      <p:to>
                                        <p:strVal val="visible"/>
                                      </p:to>
                                    </p:set>
                                    <p:animEffect transition="in" filter="wipe(left)">
                                      <p:cBhvr>
                                        <p:cTn id="47" dur="1000"/>
                                        <p:tgtEl>
                                          <p:spTgt spid="18739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87403"/>
                                        </p:tgtEl>
                                        <p:attrNameLst>
                                          <p:attrName>style.visibility</p:attrName>
                                        </p:attrNameLst>
                                      </p:cBhvr>
                                      <p:to>
                                        <p:strVal val="visible"/>
                                      </p:to>
                                    </p:set>
                                    <p:animEffect transition="in" filter="wipe(left)">
                                      <p:cBhvr>
                                        <p:cTn id="52" dur="1000"/>
                                        <p:tgtEl>
                                          <p:spTgt spid="18740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87404"/>
                                        </p:tgtEl>
                                        <p:attrNameLst>
                                          <p:attrName>style.visibility</p:attrName>
                                        </p:attrNameLst>
                                      </p:cBhvr>
                                      <p:to>
                                        <p:strVal val="visible"/>
                                      </p:to>
                                    </p:set>
                                    <p:animEffect transition="in" filter="wipe(left)">
                                      <p:cBhvr>
                                        <p:cTn id="57" dur="1000"/>
                                        <p:tgtEl>
                                          <p:spTgt spid="18740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187407"/>
                                        </p:tgtEl>
                                        <p:attrNameLst>
                                          <p:attrName>style.visibility</p:attrName>
                                        </p:attrNameLst>
                                      </p:cBhvr>
                                      <p:to>
                                        <p:strVal val="visible"/>
                                      </p:to>
                                    </p:set>
                                    <p:animEffect transition="in" filter="wipe(left)">
                                      <p:cBhvr>
                                        <p:cTn id="62" dur="1000"/>
                                        <p:tgtEl>
                                          <p:spTgt spid="18740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87406"/>
                                        </p:tgtEl>
                                        <p:attrNameLst>
                                          <p:attrName>style.visibility</p:attrName>
                                        </p:attrNameLst>
                                      </p:cBhvr>
                                      <p:to>
                                        <p:strVal val="visible"/>
                                      </p:to>
                                    </p:set>
                                    <p:animEffect transition="in" filter="wipe(left)">
                                      <p:cBhvr>
                                        <p:cTn id="67" dur="1000"/>
                                        <p:tgtEl>
                                          <p:spTgt spid="18740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87408"/>
                                        </p:tgtEl>
                                        <p:attrNameLst>
                                          <p:attrName>style.visibility</p:attrName>
                                        </p:attrNameLst>
                                      </p:cBhvr>
                                      <p:to>
                                        <p:strVal val="visible"/>
                                      </p:to>
                                    </p:set>
                                    <p:animEffect transition="in" filter="wipe(left)">
                                      <p:cBhvr>
                                        <p:cTn id="72" dur="1000"/>
                                        <p:tgtEl>
                                          <p:spTgt spid="187408"/>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187405"/>
                                        </p:tgtEl>
                                        <p:attrNameLst>
                                          <p:attrName>style.visibility</p:attrName>
                                        </p:attrNameLst>
                                      </p:cBhvr>
                                      <p:to>
                                        <p:strVal val="visible"/>
                                      </p:to>
                                    </p:set>
                                    <p:animEffect transition="in" filter="wipe(left)">
                                      <p:cBhvr>
                                        <p:cTn id="77" dur="1000"/>
                                        <p:tgtEl>
                                          <p:spTgt spid="187405"/>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187409"/>
                                        </p:tgtEl>
                                        <p:attrNameLst>
                                          <p:attrName>style.visibility</p:attrName>
                                        </p:attrNameLst>
                                      </p:cBhvr>
                                      <p:to>
                                        <p:strVal val="visible"/>
                                      </p:to>
                                    </p:set>
                                    <p:animEffect transition="in" filter="wipe(left)">
                                      <p:cBhvr>
                                        <p:cTn id="82" dur="1000"/>
                                        <p:tgtEl>
                                          <p:spTgt spid="187409"/>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87411"/>
                                        </p:tgtEl>
                                        <p:attrNameLst>
                                          <p:attrName>style.visibility</p:attrName>
                                        </p:attrNameLst>
                                      </p:cBhvr>
                                      <p:to>
                                        <p:strVal val="visible"/>
                                      </p:to>
                                    </p:set>
                                    <p:animEffect transition="in" filter="wipe(left)">
                                      <p:cBhvr>
                                        <p:cTn id="87" dur="1000"/>
                                        <p:tgtEl>
                                          <p:spTgt spid="187411"/>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187413"/>
                                        </p:tgtEl>
                                        <p:attrNameLst>
                                          <p:attrName>style.visibility</p:attrName>
                                        </p:attrNameLst>
                                      </p:cBhvr>
                                      <p:to>
                                        <p:strVal val="visible"/>
                                      </p:to>
                                    </p:set>
                                    <p:animEffect transition="in" filter="wipe(left)">
                                      <p:cBhvr>
                                        <p:cTn id="92" dur="1000"/>
                                        <p:tgtEl>
                                          <p:spTgt spid="187413"/>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187410"/>
                                        </p:tgtEl>
                                        <p:attrNameLst>
                                          <p:attrName>style.visibility</p:attrName>
                                        </p:attrNameLst>
                                      </p:cBhvr>
                                      <p:to>
                                        <p:strVal val="visible"/>
                                      </p:to>
                                    </p:set>
                                    <p:animEffect transition="in" filter="wipe(left)">
                                      <p:cBhvr>
                                        <p:cTn id="97" dur="1000"/>
                                        <p:tgtEl>
                                          <p:spTgt spid="187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4" grpId="0" autoUpdateAnimBg="0"/>
      <p:bldP spid="187395" grpId="0" autoUpdateAnimBg="0"/>
      <p:bldP spid="187396" grpId="0" animBg="1"/>
      <p:bldP spid="187397" grpId="0" autoUpdateAnimBg="0"/>
      <p:bldP spid="187398" grpId="0" autoUpdateAnimBg="0"/>
      <p:bldP spid="187399" grpId="0" autoUpdateAnimBg="0"/>
      <p:bldP spid="187400" grpId="0" autoUpdateAnimBg="0"/>
      <p:bldP spid="187401" grpId="0" animBg="1"/>
      <p:bldP spid="187402" grpId="0" autoUpdateAnimBg="0"/>
      <p:bldP spid="187403" grpId="0" autoUpdateAnimBg="0"/>
      <p:bldP spid="187404" grpId="0" autoUpdateAnimBg="0"/>
      <p:bldP spid="187406" grpId="0" autoUpdateAnimBg="0"/>
      <p:bldP spid="187408" grpId="0" animBg="1"/>
      <p:bldP spid="187410" grpId="0"/>
      <p:bldP spid="187411"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20" name="Text Box 4"/>
          <p:cNvSpPr txBox="1">
            <a:spLocks noChangeArrowheads="1"/>
          </p:cNvSpPr>
          <p:nvPr/>
        </p:nvSpPr>
        <p:spPr bwMode="auto">
          <a:xfrm>
            <a:off x="431800" y="458788"/>
            <a:ext cx="7470775" cy="457200"/>
          </a:xfrm>
          <a:prstGeom prst="rect">
            <a:avLst/>
          </a:prstGeom>
          <a:noFill/>
          <a:ln w="9525">
            <a:noFill/>
            <a:miter lim="800000"/>
            <a:headEnd/>
            <a:tailEnd/>
          </a:ln>
        </p:spPr>
        <p:txBody>
          <a:bodyPr>
            <a:spAutoFit/>
          </a:bodyPr>
          <a:lstStyle/>
          <a:p>
            <a:pPr algn="l">
              <a:spcBef>
                <a:spcPct val="50000"/>
              </a:spcBef>
            </a:pPr>
            <a:r>
              <a:rPr lang="zh-CN" altLang="en-US" b="1">
                <a:latin typeface="宋体" pitchFamily="2" charset="-122"/>
              </a:rPr>
              <a:t>两个相同的小球</a:t>
            </a:r>
            <a:r>
              <a:rPr lang="en-US" altLang="zh-CN" b="1" i="1">
                <a:solidFill>
                  <a:schemeClr val="accent2"/>
                </a:solidFill>
              </a:rPr>
              <a:t>A </a:t>
            </a:r>
            <a:r>
              <a:rPr lang="zh-CN" altLang="en-US" b="1">
                <a:latin typeface="宋体" pitchFamily="2" charset="-122"/>
              </a:rPr>
              <a:t>、</a:t>
            </a:r>
            <a:r>
              <a:rPr lang="en-US" altLang="zh-CN" b="1" i="1">
                <a:solidFill>
                  <a:schemeClr val="accent2"/>
                </a:solidFill>
              </a:rPr>
              <a:t>B</a:t>
            </a:r>
            <a:r>
              <a:rPr lang="en-US" altLang="zh-CN" b="1" i="1">
                <a:latin typeface="宋体" pitchFamily="2" charset="-122"/>
              </a:rPr>
              <a:t> </a:t>
            </a:r>
            <a:r>
              <a:rPr lang="zh-CN" altLang="en-US" b="1">
                <a:latin typeface="宋体" pitchFamily="2" charset="-122"/>
              </a:rPr>
              <a:t>沿</a:t>
            </a:r>
            <a:r>
              <a:rPr lang="en-US" altLang="zh-CN" b="1">
                <a:latin typeface="宋体" pitchFamily="2" charset="-122"/>
              </a:rPr>
              <a:t> </a:t>
            </a:r>
            <a:r>
              <a:rPr lang="en-US" altLang="zh-CN" b="1" i="1">
                <a:solidFill>
                  <a:schemeClr val="accent2"/>
                </a:solidFill>
              </a:rPr>
              <a:t>x </a:t>
            </a:r>
            <a:r>
              <a:rPr lang="zh-CN" altLang="en-US" b="1">
                <a:latin typeface="宋体" pitchFamily="2" charset="-122"/>
              </a:rPr>
              <a:t>方向发生完全非弹性正碰</a:t>
            </a:r>
            <a:r>
              <a:rPr lang="en-US" altLang="zh-CN" b="1">
                <a:latin typeface="宋体" pitchFamily="2" charset="-122"/>
              </a:rPr>
              <a:t> </a:t>
            </a:r>
          </a:p>
        </p:txBody>
      </p:sp>
      <p:sp>
        <p:nvSpPr>
          <p:cNvPr id="188421" name="Text Box 5"/>
          <p:cNvSpPr txBox="1">
            <a:spLocks noChangeArrowheads="1"/>
          </p:cNvSpPr>
          <p:nvPr/>
        </p:nvSpPr>
        <p:spPr bwMode="auto">
          <a:xfrm>
            <a:off x="522288" y="1077913"/>
            <a:ext cx="854075" cy="460375"/>
          </a:xfrm>
          <a:prstGeom prst="rect">
            <a:avLst/>
          </a:prstGeom>
          <a:noFill/>
          <a:ln w="9525">
            <a:noFill/>
            <a:miter lim="800000"/>
            <a:headEnd/>
            <a:tailEnd/>
          </a:ln>
        </p:spPr>
        <p:txBody>
          <a:bodyPr>
            <a:spAutoFit/>
          </a:bodyPr>
          <a:lstStyle/>
          <a:p>
            <a:pPr algn="l">
              <a:spcBef>
                <a:spcPct val="50000"/>
              </a:spcBef>
            </a:pPr>
            <a:r>
              <a:rPr lang="en-US" altLang="zh-CN" b="1" i="1">
                <a:solidFill>
                  <a:schemeClr val="accent2"/>
                </a:solidFill>
              </a:rPr>
              <a:t>S </a:t>
            </a:r>
            <a:r>
              <a:rPr lang="zh-CN" altLang="en-US" b="1"/>
              <a:t>系</a:t>
            </a:r>
          </a:p>
        </p:txBody>
      </p:sp>
      <p:sp>
        <p:nvSpPr>
          <p:cNvPr id="188422" name="Text Box 6"/>
          <p:cNvSpPr txBox="1">
            <a:spLocks noChangeArrowheads="1"/>
          </p:cNvSpPr>
          <p:nvPr/>
        </p:nvSpPr>
        <p:spPr bwMode="auto">
          <a:xfrm>
            <a:off x="431800" y="2738438"/>
            <a:ext cx="990600" cy="461962"/>
          </a:xfrm>
          <a:prstGeom prst="rect">
            <a:avLst/>
          </a:prstGeom>
          <a:noFill/>
          <a:ln w="9525">
            <a:noFill/>
            <a:miter lim="800000"/>
            <a:headEnd/>
            <a:tailEnd/>
          </a:ln>
        </p:spPr>
        <p:txBody>
          <a:bodyPr>
            <a:spAutoFit/>
          </a:bodyPr>
          <a:lstStyle/>
          <a:p>
            <a:pPr algn="l">
              <a:spcBef>
                <a:spcPct val="50000"/>
              </a:spcBef>
            </a:pPr>
            <a:r>
              <a:rPr lang="en-US" altLang="zh-CN" b="1" i="1">
                <a:solidFill>
                  <a:schemeClr val="accent2"/>
                </a:solidFill>
              </a:rPr>
              <a:t>S' </a:t>
            </a:r>
            <a:r>
              <a:rPr lang="zh-CN" altLang="en-US" b="1"/>
              <a:t>系</a:t>
            </a:r>
          </a:p>
        </p:txBody>
      </p:sp>
      <p:grpSp>
        <p:nvGrpSpPr>
          <p:cNvPr id="2" name="Group 7"/>
          <p:cNvGrpSpPr>
            <a:grpSpLocks/>
          </p:cNvGrpSpPr>
          <p:nvPr/>
        </p:nvGrpSpPr>
        <p:grpSpPr bwMode="auto">
          <a:xfrm>
            <a:off x="4875213" y="908050"/>
            <a:ext cx="4006850" cy="1446213"/>
            <a:chOff x="3022" y="431"/>
            <a:chExt cx="2524" cy="911"/>
          </a:xfrm>
        </p:grpSpPr>
        <p:sp>
          <p:nvSpPr>
            <p:cNvPr id="23601" name="Line 8"/>
            <p:cNvSpPr>
              <a:spLocks noChangeShapeType="1"/>
            </p:cNvSpPr>
            <p:nvPr/>
          </p:nvSpPr>
          <p:spPr bwMode="auto">
            <a:xfrm>
              <a:off x="3249" y="1139"/>
              <a:ext cx="2154" cy="0"/>
            </a:xfrm>
            <a:prstGeom prst="line">
              <a:avLst/>
            </a:prstGeom>
            <a:noFill/>
            <a:ln w="28575">
              <a:solidFill>
                <a:srgbClr val="3333CC"/>
              </a:solidFill>
              <a:round/>
              <a:headEnd/>
              <a:tailEnd type="stealth" w="med" len="lg"/>
            </a:ln>
          </p:spPr>
          <p:txBody>
            <a:bodyPr/>
            <a:lstStyle/>
            <a:p>
              <a:endParaRPr lang="zh-CN" altLang="en-US"/>
            </a:p>
          </p:txBody>
        </p:sp>
        <p:sp>
          <p:nvSpPr>
            <p:cNvPr id="23602" name="Line 9"/>
            <p:cNvSpPr>
              <a:spLocks noChangeShapeType="1"/>
            </p:cNvSpPr>
            <p:nvPr/>
          </p:nvSpPr>
          <p:spPr bwMode="auto">
            <a:xfrm flipV="1">
              <a:off x="3249" y="572"/>
              <a:ext cx="0" cy="567"/>
            </a:xfrm>
            <a:prstGeom prst="line">
              <a:avLst/>
            </a:prstGeom>
            <a:noFill/>
            <a:ln w="28575">
              <a:solidFill>
                <a:srgbClr val="3333CC"/>
              </a:solidFill>
              <a:round/>
              <a:headEnd/>
              <a:tailEnd type="stealth" w="med" len="lg"/>
            </a:ln>
          </p:spPr>
          <p:txBody>
            <a:bodyPr/>
            <a:lstStyle/>
            <a:p>
              <a:endParaRPr lang="zh-CN" altLang="en-US"/>
            </a:p>
          </p:txBody>
        </p:sp>
        <p:sp>
          <p:nvSpPr>
            <p:cNvPr id="23603" name="Text Box 10"/>
            <p:cNvSpPr txBox="1">
              <a:spLocks noChangeArrowheads="1"/>
            </p:cNvSpPr>
            <p:nvPr/>
          </p:nvSpPr>
          <p:spPr bwMode="auto">
            <a:xfrm>
              <a:off x="5290" y="1054"/>
              <a:ext cx="256" cy="288"/>
            </a:xfrm>
            <a:prstGeom prst="rect">
              <a:avLst/>
            </a:prstGeom>
            <a:noFill/>
            <a:ln w="9525">
              <a:noFill/>
              <a:miter lim="800000"/>
              <a:headEnd/>
              <a:tailEnd/>
            </a:ln>
          </p:spPr>
          <p:txBody>
            <a:bodyPr>
              <a:spAutoFit/>
            </a:bodyPr>
            <a:lstStyle/>
            <a:p>
              <a:pPr>
                <a:spcBef>
                  <a:spcPct val="50000"/>
                </a:spcBef>
              </a:pPr>
              <a:r>
                <a:rPr lang="en-US" altLang="zh-CN" b="1" i="1">
                  <a:solidFill>
                    <a:srgbClr val="000099"/>
                  </a:solidFill>
                </a:rPr>
                <a:t>x</a:t>
              </a:r>
            </a:p>
          </p:txBody>
        </p:sp>
        <p:sp>
          <p:nvSpPr>
            <p:cNvPr id="23604" name="Text Box 11"/>
            <p:cNvSpPr txBox="1">
              <a:spLocks noChangeArrowheads="1"/>
            </p:cNvSpPr>
            <p:nvPr/>
          </p:nvSpPr>
          <p:spPr bwMode="auto">
            <a:xfrm>
              <a:off x="3022" y="771"/>
              <a:ext cx="256" cy="288"/>
            </a:xfrm>
            <a:prstGeom prst="rect">
              <a:avLst/>
            </a:prstGeom>
            <a:noFill/>
            <a:ln w="9525">
              <a:noFill/>
              <a:miter lim="800000"/>
              <a:headEnd/>
              <a:tailEnd/>
            </a:ln>
          </p:spPr>
          <p:txBody>
            <a:bodyPr>
              <a:spAutoFit/>
            </a:bodyPr>
            <a:lstStyle/>
            <a:p>
              <a:pPr>
                <a:spcBef>
                  <a:spcPct val="50000"/>
                </a:spcBef>
              </a:pPr>
              <a:r>
                <a:rPr lang="en-US" altLang="zh-CN" b="1" i="1">
                  <a:solidFill>
                    <a:srgbClr val="000099"/>
                  </a:solidFill>
                </a:rPr>
                <a:t>S</a:t>
              </a:r>
            </a:p>
          </p:txBody>
        </p:sp>
        <p:sp>
          <p:nvSpPr>
            <p:cNvPr id="23605" name="Text Box 12"/>
            <p:cNvSpPr txBox="1">
              <a:spLocks noChangeArrowheads="1"/>
            </p:cNvSpPr>
            <p:nvPr/>
          </p:nvSpPr>
          <p:spPr bwMode="auto">
            <a:xfrm>
              <a:off x="3049" y="431"/>
              <a:ext cx="256" cy="288"/>
            </a:xfrm>
            <a:prstGeom prst="rect">
              <a:avLst/>
            </a:prstGeom>
            <a:noFill/>
            <a:ln w="9525">
              <a:noFill/>
              <a:miter lim="800000"/>
              <a:headEnd/>
              <a:tailEnd/>
            </a:ln>
          </p:spPr>
          <p:txBody>
            <a:bodyPr>
              <a:spAutoFit/>
            </a:bodyPr>
            <a:lstStyle/>
            <a:p>
              <a:pPr>
                <a:spcBef>
                  <a:spcPct val="50000"/>
                </a:spcBef>
              </a:pPr>
              <a:r>
                <a:rPr lang="en-US" altLang="zh-CN" b="1" i="1">
                  <a:solidFill>
                    <a:srgbClr val="000099"/>
                  </a:solidFill>
                </a:rPr>
                <a:t>y</a:t>
              </a:r>
            </a:p>
          </p:txBody>
        </p:sp>
        <p:sp>
          <p:nvSpPr>
            <p:cNvPr id="23606" name="Text Box 13"/>
            <p:cNvSpPr txBox="1">
              <a:spLocks noChangeArrowheads="1"/>
            </p:cNvSpPr>
            <p:nvPr/>
          </p:nvSpPr>
          <p:spPr bwMode="auto">
            <a:xfrm>
              <a:off x="3049" y="1054"/>
              <a:ext cx="256" cy="288"/>
            </a:xfrm>
            <a:prstGeom prst="rect">
              <a:avLst/>
            </a:prstGeom>
            <a:noFill/>
            <a:ln w="9525">
              <a:noFill/>
              <a:miter lim="800000"/>
              <a:headEnd/>
              <a:tailEnd/>
            </a:ln>
          </p:spPr>
          <p:txBody>
            <a:bodyPr>
              <a:spAutoFit/>
            </a:bodyPr>
            <a:lstStyle/>
            <a:p>
              <a:pPr>
                <a:spcBef>
                  <a:spcPct val="50000"/>
                </a:spcBef>
              </a:pPr>
              <a:r>
                <a:rPr lang="en-US" altLang="zh-CN" b="1" i="1">
                  <a:solidFill>
                    <a:srgbClr val="000099"/>
                  </a:solidFill>
                </a:rPr>
                <a:t>0</a:t>
              </a:r>
            </a:p>
          </p:txBody>
        </p:sp>
      </p:grpSp>
      <p:grpSp>
        <p:nvGrpSpPr>
          <p:cNvPr id="3" name="Group 14"/>
          <p:cNvGrpSpPr>
            <a:grpSpLocks/>
          </p:cNvGrpSpPr>
          <p:nvPr/>
        </p:nvGrpSpPr>
        <p:grpSpPr bwMode="auto">
          <a:xfrm>
            <a:off x="7573963" y="1312863"/>
            <a:ext cx="406400" cy="720725"/>
            <a:chOff x="3872" y="2358"/>
            <a:chExt cx="256" cy="454"/>
          </a:xfrm>
        </p:grpSpPr>
        <p:sp>
          <p:nvSpPr>
            <p:cNvPr id="23599" name="Text Box 15"/>
            <p:cNvSpPr txBox="1">
              <a:spLocks noChangeArrowheads="1"/>
            </p:cNvSpPr>
            <p:nvPr/>
          </p:nvSpPr>
          <p:spPr bwMode="auto">
            <a:xfrm>
              <a:off x="3872" y="2358"/>
              <a:ext cx="256" cy="288"/>
            </a:xfrm>
            <a:prstGeom prst="rect">
              <a:avLst/>
            </a:prstGeom>
            <a:noFill/>
            <a:ln w="9525">
              <a:noFill/>
              <a:miter lim="800000"/>
              <a:headEnd/>
              <a:tailEnd/>
            </a:ln>
          </p:spPr>
          <p:txBody>
            <a:bodyPr>
              <a:spAutoFit/>
            </a:bodyPr>
            <a:lstStyle/>
            <a:p>
              <a:pPr>
                <a:spcBef>
                  <a:spcPct val="50000"/>
                </a:spcBef>
              </a:pPr>
              <a:r>
                <a:rPr lang="en-US" altLang="zh-CN" b="1" i="1">
                  <a:solidFill>
                    <a:srgbClr val="000099"/>
                  </a:solidFill>
                </a:rPr>
                <a:t>B</a:t>
              </a:r>
            </a:p>
          </p:txBody>
        </p:sp>
        <p:sp>
          <p:nvSpPr>
            <p:cNvPr id="188432" name="Oval 16"/>
            <p:cNvSpPr>
              <a:spLocks noChangeArrowheads="1"/>
            </p:cNvSpPr>
            <p:nvPr/>
          </p:nvSpPr>
          <p:spPr bwMode="auto">
            <a:xfrm>
              <a:off x="3901" y="2614"/>
              <a:ext cx="198" cy="198"/>
            </a:xfrm>
            <a:prstGeom prst="ellipse">
              <a:avLst/>
            </a:prstGeom>
            <a:gradFill rotWithShape="1">
              <a:gsLst>
                <a:gs pos="0">
                  <a:schemeClr val="tx2">
                    <a:gamma/>
                    <a:tint val="0"/>
                    <a:invGamma/>
                  </a:schemeClr>
                </a:gs>
                <a:gs pos="100000">
                  <a:schemeClr val="tx2"/>
                </a:gs>
              </a:gsLst>
              <a:path path="shape">
                <a:fillToRect l="50000" t="50000" r="50000" b="50000"/>
              </a:path>
            </a:gradFill>
            <a:ln w="9525">
              <a:solidFill>
                <a:schemeClr val="tx2"/>
              </a:solidFill>
              <a:round/>
              <a:headEnd/>
              <a:tailEnd/>
            </a:ln>
            <a:effectLst/>
            <a:extLst>
              <a:ext uri="{AF507438-7753-43e0-B8FC-AC1667EBCBE1}"/>
            </a:extLst>
          </p:spPr>
          <p:txBody>
            <a:bodyPr wrap="none" anchor="ctr"/>
            <a:lstStyle/>
            <a:p>
              <a:pPr>
                <a:defRPr/>
              </a:pPr>
              <a:endParaRPr lang="zh-CN" altLang="en-US">
                <a:latin typeface="Times New Roman" charset="0"/>
                <a:ea typeface="宋体" charset="0"/>
              </a:endParaRPr>
            </a:p>
          </p:txBody>
        </p:sp>
      </p:grpSp>
      <p:grpSp>
        <p:nvGrpSpPr>
          <p:cNvPr id="4" name="Group 17"/>
          <p:cNvGrpSpPr>
            <a:grpSpLocks/>
          </p:cNvGrpSpPr>
          <p:nvPr/>
        </p:nvGrpSpPr>
        <p:grpSpPr bwMode="auto">
          <a:xfrm>
            <a:off x="5910263" y="1312863"/>
            <a:ext cx="406400" cy="719137"/>
            <a:chOff x="2964" y="2245"/>
            <a:chExt cx="256" cy="453"/>
          </a:xfrm>
        </p:grpSpPr>
        <p:sp>
          <p:nvSpPr>
            <p:cNvPr id="23597" name="Text Box 18"/>
            <p:cNvSpPr txBox="1">
              <a:spLocks noChangeArrowheads="1"/>
            </p:cNvSpPr>
            <p:nvPr/>
          </p:nvSpPr>
          <p:spPr bwMode="auto">
            <a:xfrm>
              <a:off x="2964" y="2245"/>
              <a:ext cx="256" cy="288"/>
            </a:xfrm>
            <a:prstGeom prst="rect">
              <a:avLst/>
            </a:prstGeom>
            <a:noFill/>
            <a:ln w="9525">
              <a:noFill/>
              <a:miter lim="800000"/>
              <a:headEnd/>
              <a:tailEnd/>
            </a:ln>
          </p:spPr>
          <p:txBody>
            <a:bodyPr>
              <a:spAutoFit/>
            </a:bodyPr>
            <a:lstStyle/>
            <a:p>
              <a:pPr>
                <a:spcBef>
                  <a:spcPct val="50000"/>
                </a:spcBef>
              </a:pPr>
              <a:r>
                <a:rPr lang="en-US" altLang="zh-CN" b="1" i="1">
                  <a:solidFill>
                    <a:srgbClr val="000099"/>
                  </a:solidFill>
                </a:rPr>
                <a:t>A</a:t>
              </a:r>
            </a:p>
          </p:txBody>
        </p:sp>
        <p:sp>
          <p:nvSpPr>
            <p:cNvPr id="188435" name="Oval 19"/>
            <p:cNvSpPr>
              <a:spLocks noChangeArrowheads="1"/>
            </p:cNvSpPr>
            <p:nvPr/>
          </p:nvSpPr>
          <p:spPr bwMode="auto">
            <a:xfrm>
              <a:off x="2965" y="2500"/>
              <a:ext cx="198" cy="198"/>
            </a:xfrm>
            <a:prstGeom prst="ellipse">
              <a:avLst/>
            </a:prstGeom>
            <a:gradFill rotWithShape="1">
              <a:gsLst>
                <a:gs pos="0">
                  <a:schemeClr val="tx2">
                    <a:gamma/>
                    <a:tint val="0"/>
                    <a:invGamma/>
                  </a:schemeClr>
                </a:gs>
                <a:gs pos="100000">
                  <a:schemeClr val="tx2"/>
                </a:gs>
              </a:gsLst>
              <a:path path="shape">
                <a:fillToRect l="50000" t="50000" r="50000" b="50000"/>
              </a:path>
            </a:gradFill>
            <a:ln w="9525">
              <a:solidFill>
                <a:schemeClr val="tx2"/>
              </a:solidFill>
              <a:round/>
              <a:headEnd/>
              <a:tailEnd/>
            </a:ln>
            <a:effectLst/>
            <a:extLst>
              <a:ext uri="{AF507438-7753-43e0-B8FC-AC1667EBCBE1}"/>
            </a:extLst>
          </p:spPr>
          <p:txBody>
            <a:bodyPr wrap="none" anchor="ctr"/>
            <a:lstStyle/>
            <a:p>
              <a:pPr>
                <a:defRPr/>
              </a:pPr>
              <a:endParaRPr lang="zh-CN" altLang="en-US">
                <a:latin typeface="Times New Roman" charset="0"/>
                <a:ea typeface="宋体" charset="0"/>
              </a:endParaRPr>
            </a:p>
          </p:txBody>
        </p:sp>
      </p:grpSp>
      <p:grpSp>
        <p:nvGrpSpPr>
          <p:cNvPr id="5" name="Group 20"/>
          <p:cNvGrpSpPr>
            <a:grpSpLocks/>
          </p:cNvGrpSpPr>
          <p:nvPr/>
        </p:nvGrpSpPr>
        <p:grpSpPr bwMode="auto">
          <a:xfrm>
            <a:off x="4794250" y="2738438"/>
            <a:ext cx="4098925" cy="1438275"/>
            <a:chOff x="2965" y="2047"/>
            <a:chExt cx="2582" cy="906"/>
          </a:xfrm>
        </p:grpSpPr>
        <p:sp>
          <p:nvSpPr>
            <p:cNvPr id="23595" name="Line 21"/>
            <p:cNvSpPr>
              <a:spLocks noChangeShapeType="1"/>
            </p:cNvSpPr>
            <p:nvPr/>
          </p:nvSpPr>
          <p:spPr bwMode="auto">
            <a:xfrm>
              <a:off x="3220" y="2755"/>
              <a:ext cx="2154" cy="0"/>
            </a:xfrm>
            <a:prstGeom prst="line">
              <a:avLst/>
            </a:prstGeom>
            <a:noFill/>
            <a:ln w="28575">
              <a:solidFill>
                <a:srgbClr val="3333CC"/>
              </a:solidFill>
              <a:round/>
              <a:headEnd/>
              <a:tailEnd type="stealth" w="med" len="lg"/>
            </a:ln>
          </p:spPr>
          <p:txBody>
            <a:bodyPr/>
            <a:lstStyle/>
            <a:p>
              <a:endParaRPr lang="zh-CN" altLang="en-US"/>
            </a:p>
          </p:txBody>
        </p:sp>
        <p:sp>
          <p:nvSpPr>
            <p:cNvPr id="23596" name="Line 22"/>
            <p:cNvSpPr>
              <a:spLocks noChangeShapeType="1"/>
            </p:cNvSpPr>
            <p:nvPr/>
          </p:nvSpPr>
          <p:spPr bwMode="auto">
            <a:xfrm flipV="1">
              <a:off x="3220" y="2188"/>
              <a:ext cx="0" cy="567"/>
            </a:xfrm>
            <a:prstGeom prst="line">
              <a:avLst/>
            </a:prstGeom>
            <a:noFill/>
            <a:ln w="28575">
              <a:solidFill>
                <a:srgbClr val="3333CC"/>
              </a:solidFill>
              <a:round/>
              <a:headEnd/>
              <a:tailEnd type="stealth" w="med" len="lg"/>
            </a:ln>
          </p:spPr>
          <p:txBody>
            <a:bodyPr/>
            <a:lstStyle/>
            <a:p>
              <a:endParaRPr lang="zh-CN" altLang="en-US"/>
            </a:p>
          </p:txBody>
        </p:sp>
        <p:graphicFrame>
          <p:nvGraphicFramePr>
            <p:cNvPr id="23562" name="Object 23"/>
            <p:cNvGraphicFramePr>
              <a:graphicFrameLocks noChangeAspect="1"/>
            </p:cNvGraphicFramePr>
            <p:nvPr/>
          </p:nvGraphicFramePr>
          <p:xfrm>
            <a:off x="3022" y="2047"/>
            <a:ext cx="229" cy="262"/>
          </p:xfrm>
          <a:graphic>
            <a:graphicData uri="http://schemas.openxmlformats.org/presentationml/2006/ole">
              <p:oleObj spid="_x0000_s23562" name="Equation" r:id="rId3" imgW="177569" imgH="202936" progId="">
                <p:embed/>
              </p:oleObj>
            </a:graphicData>
          </a:graphic>
        </p:graphicFrame>
        <p:graphicFrame>
          <p:nvGraphicFramePr>
            <p:cNvPr id="23563" name="Object 24"/>
            <p:cNvGraphicFramePr>
              <a:graphicFrameLocks noChangeAspect="1"/>
            </p:cNvGraphicFramePr>
            <p:nvPr/>
          </p:nvGraphicFramePr>
          <p:xfrm>
            <a:off x="2993" y="2670"/>
            <a:ext cx="243" cy="283"/>
          </p:xfrm>
          <a:graphic>
            <a:graphicData uri="http://schemas.openxmlformats.org/presentationml/2006/ole">
              <p:oleObj spid="_x0000_s23563" name="Equation" r:id="rId4" imgW="152202" imgH="177569" progId="">
                <p:embed/>
              </p:oleObj>
            </a:graphicData>
          </a:graphic>
        </p:graphicFrame>
        <p:graphicFrame>
          <p:nvGraphicFramePr>
            <p:cNvPr id="23564" name="Object 25"/>
            <p:cNvGraphicFramePr>
              <a:graphicFrameLocks noChangeAspect="1"/>
            </p:cNvGraphicFramePr>
            <p:nvPr/>
          </p:nvGraphicFramePr>
          <p:xfrm>
            <a:off x="2965" y="2387"/>
            <a:ext cx="245" cy="230"/>
          </p:xfrm>
          <a:graphic>
            <a:graphicData uri="http://schemas.openxmlformats.org/presentationml/2006/ole">
              <p:oleObj spid="_x0000_s23564" name="Equation" r:id="rId5" imgW="190335" imgH="177646" progId="">
                <p:embed/>
              </p:oleObj>
            </a:graphicData>
          </a:graphic>
        </p:graphicFrame>
        <p:graphicFrame>
          <p:nvGraphicFramePr>
            <p:cNvPr id="23565" name="Object 26"/>
            <p:cNvGraphicFramePr>
              <a:graphicFrameLocks noChangeAspect="1"/>
            </p:cNvGraphicFramePr>
            <p:nvPr/>
          </p:nvGraphicFramePr>
          <p:xfrm>
            <a:off x="5318" y="2715"/>
            <a:ext cx="229" cy="229"/>
          </p:xfrm>
          <a:graphic>
            <a:graphicData uri="http://schemas.openxmlformats.org/presentationml/2006/ole">
              <p:oleObj spid="_x0000_s23565" name="Equation" r:id="rId6" imgW="177492" imgH="177492" progId="">
                <p:embed/>
              </p:oleObj>
            </a:graphicData>
          </a:graphic>
        </p:graphicFrame>
      </p:grpSp>
      <p:grpSp>
        <p:nvGrpSpPr>
          <p:cNvPr id="6" name="Group 27"/>
          <p:cNvGrpSpPr>
            <a:grpSpLocks/>
          </p:cNvGrpSpPr>
          <p:nvPr/>
        </p:nvGrpSpPr>
        <p:grpSpPr bwMode="auto">
          <a:xfrm>
            <a:off x="7761288" y="3143250"/>
            <a:ext cx="406400" cy="720725"/>
            <a:chOff x="3872" y="2358"/>
            <a:chExt cx="256" cy="454"/>
          </a:xfrm>
        </p:grpSpPr>
        <p:sp>
          <p:nvSpPr>
            <p:cNvPr id="23593" name="Text Box 28"/>
            <p:cNvSpPr txBox="1">
              <a:spLocks noChangeArrowheads="1"/>
            </p:cNvSpPr>
            <p:nvPr/>
          </p:nvSpPr>
          <p:spPr bwMode="auto">
            <a:xfrm>
              <a:off x="3872" y="2358"/>
              <a:ext cx="256" cy="288"/>
            </a:xfrm>
            <a:prstGeom prst="rect">
              <a:avLst/>
            </a:prstGeom>
            <a:noFill/>
            <a:ln w="9525">
              <a:noFill/>
              <a:miter lim="800000"/>
              <a:headEnd/>
              <a:tailEnd/>
            </a:ln>
          </p:spPr>
          <p:txBody>
            <a:bodyPr>
              <a:spAutoFit/>
            </a:bodyPr>
            <a:lstStyle/>
            <a:p>
              <a:pPr>
                <a:spcBef>
                  <a:spcPct val="50000"/>
                </a:spcBef>
              </a:pPr>
              <a:r>
                <a:rPr lang="en-US" altLang="zh-CN" b="1" i="1">
                  <a:solidFill>
                    <a:srgbClr val="000099"/>
                  </a:solidFill>
                </a:rPr>
                <a:t>B</a:t>
              </a:r>
            </a:p>
          </p:txBody>
        </p:sp>
        <p:sp>
          <p:nvSpPr>
            <p:cNvPr id="188445" name="Oval 29"/>
            <p:cNvSpPr>
              <a:spLocks noChangeArrowheads="1"/>
            </p:cNvSpPr>
            <p:nvPr/>
          </p:nvSpPr>
          <p:spPr bwMode="auto">
            <a:xfrm>
              <a:off x="3901" y="2614"/>
              <a:ext cx="198" cy="198"/>
            </a:xfrm>
            <a:prstGeom prst="ellipse">
              <a:avLst/>
            </a:prstGeom>
            <a:gradFill rotWithShape="1">
              <a:gsLst>
                <a:gs pos="0">
                  <a:schemeClr val="tx2">
                    <a:gamma/>
                    <a:tint val="0"/>
                    <a:invGamma/>
                  </a:schemeClr>
                </a:gs>
                <a:gs pos="100000">
                  <a:schemeClr val="tx2"/>
                </a:gs>
              </a:gsLst>
              <a:path path="shape">
                <a:fillToRect l="50000" t="50000" r="50000" b="50000"/>
              </a:path>
            </a:gradFill>
            <a:ln w="9525">
              <a:solidFill>
                <a:schemeClr val="tx2"/>
              </a:solidFill>
              <a:round/>
              <a:headEnd/>
              <a:tailEnd/>
            </a:ln>
            <a:effectLst/>
            <a:extLst>
              <a:ext uri="{AF507438-7753-43e0-B8FC-AC1667EBCBE1}"/>
            </a:extLst>
          </p:spPr>
          <p:txBody>
            <a:bodyPr wrap="none" anchor="ctr"/>
            <a:lstStyle/>
            <a:p>
              <a:pPr>
                <a:defRPr/>
              </a:pPr>
              <a:endParaRPr lang="zh-CN" altLang="en-US">
                <a:latin typeface="Times New Roman" charset="0"/>
                <a:ea typeface="宋体" charset="0"/>
              </a:endParaRPr>
            </a:p>
          </p:txBody>
        </p:sp>
      </p:grpSp>
      <p:grpSp>
        <p:nvGrpSpPr>
          <p:cNvPr id="7" name="Group 30"/>
          <p:cNvGrpSpPr>
            <a:grpSpLocks/>
          </p:cNvGrpSpPr>
          <p:nvPr/>
        </p:nvGrpSpPr>
        <p:grpSpPr bwMode="auto">
          <a:xfrm>
            <a:off x="6097588" y="3143250"/>
            <a:ext cx="406400" cy="719138"/>
            <a:chOff x="2964" y="2245"/>
            <a:chExt cx="256" cy="453"/>
          </a:xfrm>
        </p:grpSpPr>
        <p:sp>
          <p:nvSpPr>
            <p:cNvPr id="23591" name="Text Box 31"/>
            <p:cNvSpPr txBox="1">
              <a:spLocks noChangeArrowheads="1"/>
            </p:cNvSpPr>
            <p:nvPr/>
          </p:nvSpPr>
          <p:spPr bwMode="auto">
            <a:xfrm>
              <a:off x="2964" y="2245"/>
              <a:ext cx="256" cy="288"/>
            </a:xfrm>
            <a:prstGeom prst="rect">
              <a:avLst/>
            </a:prstGeom>
            <a:noFill/>
            <a:ln w="9525">
              <a:noFill/>
              <a:miter lim="800000"/>
              <a:headEnd/>
              <a:tailEnd/>
            </a:ln>
          </p:spPr>
          <p:txBody>
            <a:bodyPr>
              <a:spAutoFit/>
            </a:bodyPr>
            <a:lstStyle/>
            <a:p>
              <a:pPr>
                <a:spcBef>
                  <a:spcPct val="50000"/>
                </a:spcBef>
              </a:pPr>
              <a:r>
                <a:rPr lang="en-US" altLang="zh-CN" b="1" i="1">
                  <a:solidFill>
                    <a:srgbClr val="000099"/>
                  </a:solidFill>
                </a:rPr>
                <a:t>A</a:t>
              </a:r>
            </a:p>
          </p:txBody>
        </p:sp>
        <p:sp>
          <p:nvSpPr>
            <p:cNvPr id="188448" name="Oval 32"/>
            <p:cNvSpPr>
              <a:spLocks noChangeArrowheads="1"/>
            </p:cNvSpPr>
            <p:nvPr/>
          </p:nvSpPr>
          <p:spPr bwMode="auto">
            <a:xfrm>
              <a:off x="2965" y="2500"/>
              <a:ext cx="198" cy="198"/>
            </a:xfrm>
            <a:prstGeom prst="ellipse">
              <a:avLst/>
            </a:prstGeom>
            <a:gradFill rotWithShape="1">
              <a:gsLst>
                <a:gs pos="0">
                  <a:schemeClr val="tx2">
                    <a:gamma/>
                    <a:tint val="0"/>
                    <a:invGamma/>
                  </a:schemeClr>
                </a:gs>
                <a:gs pos="100000">
                  <a:schemeClr val="tx2"/>
                </a:gs>
              </a:gsLst>
              <a:path path="shape">
                <a:fillToRect l="50000" t="50000" r="50000" b="50000"/>
              </a:path>
            </a:gradFill>
            <a:ln w="9525">
              <a:solidFill>
                <a:schemeClr val="tx2"/>
              </a:solidFill>
              <a:round/>
              <a:headEnd/>
              <a:tailEnd/>
            </a:ln>
            <a:effectLst/>
            <a:extLst>
              <a:ext uri="{AF507438-7753-43e0-B8FC-AC1667EBCBE1}"/>
            </a:extLst>
          </p:spPr>
          <p:txBody>
            <a:bodyPr wrap="none" anchor="ctr"/>
            <a:lstStyle/>
            <a:p>
              <a:pPr>
                <a:defRPr/>
              </a:pPr>
              <a:endParaRPr lang="zh-CN" altLang="en-US">
                <a:latin typeface="Times New Roman" charset="0"/>
                <a:ea typeface="宋体" charset="0"/>
              </a:endParaRPr>
            </a:p>
          </p:txBody>
        </p:sp>
      </p:grpSp>
      <p:grpSp>
        <p:nvGrpSpPr>
          <p:cNvPr id="8" name="Group 33"/>
          <p:cNvGrpSpPr>
            <a:grpSpLocks/>
          </p:cNvGrpSpPr>
          <p:nvPr/>
        </p:nvGrpSpPr>
        <p:grpSpPr bwMode="auto">
          <a:xfrm>
            <a:off x="6224588" y="1447800"/>
            <a:ext cx="631825" cy="457200"/>
            <a:chOff x="1774" y="1621"/>
            <a:chExt cx="398" cy="288"/>
          </a:xfrm>
        </p:grpSpPr>
        <p:sp>
          <p:nvSpPr>
            <p:cNvPr id="23589" name="Line 34"/>
            <p:cNvSpPr>
              <a:spLocks noChangeShapeType="1"/>
            </p:cNvSpPr>
            <p:nvPr/>
          </p:nvSpPr>
          <p:spPr bwMode="auto">
            <a:xfrm>
              <a:off x="1774" y="1877"/>
              <a:ext cx="341" cy="0"/>
            </a:xfrm>
            <a:prstGeom prst="line">
              <a:avLst/>
            </a:prstGeom>
            <a:noFill/>
            <a:ln w="28575">
              <a:solidFill>
                <a:srgbClr val="008000"/>
              </a:solidFill>
              <a:round/>
              <a:headEnd/>
              <a:tailEnd type="stealth" w="med" len="lg"/>
            </a:ln>
          </p:spPr>
          <p:txBody>
            <a:bodyPr/>
            <a:lstStyle/>
            <a:p>
              <a:endParaRPr lang="zh-CN" altLang="en-US"/>
            </a:p>
          </p:txBody>
        </p:sp>
        <p:sp>
          <p:nvSpPr>
            <p:cNvPr id="23590" name="Text Box 35"/>
            <p:cNvSpPr txBox="1">
              <a:spLocks noChangeArrowheads="1"/>
            </p:cNvSpPr>
            <p:nvPr/>
          </p:nvSpPr>
          <p:spPr bwMode="auto">
            <a:xfrm>
              <a:off x="1888" y="1621"/>
              <a:ext cx="284" cy="288"/>
            </a:xfrm>
            <a:prstGeom prst="rect">
              <a:avLst/>
            </a:prstGeom>
            <a:noFill/>
            <a:ln w="9525">
              <a:noFill/>
              <a:miter lim="800000"/>
              <a:headEnd/>
              <a:tailEnd/>
            </a:ln>
          </p:spPr>
          <p:txBody>
            <a:bodyPr>
              <a:spAutoFit/>
            </a:bodyPr>
            <a:lstStyle/>
            <a:p>
              <a:pPr>
                <a:spcBef>
                  <a:spcPct val="50000"/>
                </a:spcBef>
              </a:pPr>
              <a:r>
                <a:rPr lang="en-US" altLang="zh-CN" b="1" i="1">
                  <a:solidFill>
                    <a:srgbClr val="008000"/>
                  </a:solidFill>
                </a:rPr>
                <a:t>u</a:t>
              </a:r>
            </a:p>
          </p:txBody>
        </p:sp>
      </p:grpSp>
      <p:grpSp>
        <p:nvGrpSpPr>
          <p:cNvPr id="9" name="Group 36"/>
          <p:cNvGrpSpPr>
            <a:grpSpLocks/>
          </p:cNvGrpSpPr>
          <p:nvPr/>
        </p:nvGrpSpPr>
        <p:grpSpPr bwMode="auto">
          <a:xfrm>
            <a:off x="7221538" y="3278188"/>
            <a:ext cx="585787" cy="457200"/>
            <a:chOff x="640" y="2415"/>
            <a:chExt cx="369" cy="288"/>
          </a:xfrm>
        </p:grpSpPr>
        <p:sp>
          <p:nvSpPr>
            <p:cNvPr id="23587" name="Line 37"/>
            <p:cNvSpPr>
              <a:spLocks noChangeShapeType="1"/>
            </p:cNvSpPr>
            <p:nvPr/>
          </p:nvSpPr>
          <p:spPr bwMode="auto">
            <a:xfrm flipH="1">
              <a:off x="668" y="2671"/>
              <a:ext cx="341" cy="0"/>
            </a:xfrm>
            <a:prstGeom prst="line">
              <a:avLst/>
            </a:prstGeom>
            <a:noFill/>
            <a:ln w="28575">
              <a:solidFill>
                <a:srgbClr val="008000"/>
              </a:solidFill>
              <a:round/>
              <a:headEnd/>
              <a:tailEnd type="stealth" w="med" len="lg"/>
            </a:ln>
          </p:spPr>
          <p:txBody>
            <a:bodyPr/>
            <a:lstStyle/>
            <a:p>
              <a:endParaRPr lang="zh-CN" altLang="en-US"/>
            </a:p>
          </p:txBody>
        </p:sp>
        <p:sp>
          <p:nvSpPr>
            <p:cNvPr id="23588" name="Text Box 38"/>
            <p:cNvSpPr txBox="1">
              <a:spLocks noChangeArrowheads="1"/>
            </p:cNvSpPr>
            <p:nvPr/>
          </p:nvSpPr>
          <p:spPr bwMode="auto">
            <a:xfrm>
              <a:off x="640" y="2415"/>
              <a:ext cx="284" cy="288"/>
            </a:xfrm>
            <a:prstGeom prst="rect">
              <a:avLst/>
            </a:prstGeom>
            <a:noFill/>
            <a:ln w="9525">
              <a:noFill/>
              <a:miter lim="800000"/>
              <a:headEnd/>
              <a:tailEnd/>
            </a:ln>
          </p:spPr>
          <p:txBody>
            <a:bodyPr>
              <a:spAutoFit/>
            </a:bodyPr>
            <a:lstStyle/>
            <a:p>
              <a:pPr>
                <a:spcBef>
                  <a:spcPct val="50000"/>
                </a:spcBef>
              </a:pPr>
              <a:r>
                <a:rPr lang="en-US" altLang="zh-CN" b="1" i="1">
                  <a:solidFill>
                    <a:srgbClr val="008000"/>
                  </a:solidFill>
                </a:rPr>
                <a:t>u</a:t>
              </a:r>
            </a:p>
          </p:txBody>
        </p:sp>
      </p:grpSp>
      <p:grpSp>
        <p:nvGrpSpPr>
          <p:cNvPr id="10" name="Group 39"/>
          <p:cNvGrpSpPr>
            <a:grpSpLocks/>
          </p:cNvGrpSpPr>
          <p:nvPr/>
        </p:nvGrpSpPr>
        <p:grpSpPr bwMode="auto">
          <a:xfrm>
            <a:off x="7934325" y="1538288"/>
            <a:ext cx="958850" cy="539750"/>
            <a:chOff x="4156" y="3351"/>
            <a:chExt cx="604" cy="340"/>
          </a:xfrm>
        </p:grpSpPr>
        <p:graphicFrame>
          <p:nvGraphicFramePr>
            <p:cNvPr id="23561" name="Object 40"/>
            <p:cNvGraphicFramePr>
              <a:graphicFrameLocks noChangeAspect="1"/>
            </p:cNvGraphicFramePr>
            <p:nvPr/>
          </p:nvGraphicFramePr>
          <p:xfrm>
            <a:off x="4496" y="3351"/>
            <a:ext cx="264" cy="340"/>
          </p:xfrm>
          <a:graphic>
            <a:graphicData uri="http://schemas.openxmlformats.org/presentationml/2006/ole">
              <p:oleObj spid="_x0000_s23561" name="Equation" r:id="rId7" imgW="177646" imgH="228402" progId="">
                <p:embed/>
              </p:oleObj>
            </a:graphicData>
          </a:graphic>
        </p:graphicFrame>
        <p:sp>
          <p:nvSpPr>
            <p:cNvPr id="23586" name="Line 41"/>
            <p:cNvSpPr>
              <a:spLocks noChangeShapeType="1"/>
            </p:cNvSpPr>
            <p:nvPr/>
          </p:nvSpPr>
          <p:spPr bwMode="auto">
            <a:xfrm>
              <a:off x="4156" y="3549"/>
              <a:ext cx="341" cy="0"/>
            </a:xfrm>
            <a:prstGeom prst="line">
              <a:avLst/>
            </a:prstGeom>
            <a:noFill/>
            <a:ln w="28575">
              <a:solidFill>
                <a:srgbClr val="008000"/>
              </a:solidFill>
              <a:round/>
              <a:headEnd/>
              <a:tailEnd type="stealth" w="med" len="lg"/>
            </a:ln>
          </p:spPr>
          <p:txBody>
            <a:bodyPr/>
            <a:lstStyle/>
            <a:p>
              <a:endParaRPr lang="zh-CN" altLang="en-US"/>
            </a:p>
          </p:txBody>
        </p:sp>
      </p:grpSp>
      <p:grpSp>
        <p:nvGrpSpPr>
          <p:cNvPr id="11" name="Group 42"/>
          <p:cNvGrpSpPr>
            <a:grpSpLocks/>
          </p:cNvGrpSpPr>
          <p:nvPr/>
        </p:nvGrpSpPr>
        <p:grpSpPr bwMode="auto">
          <a:xfrm>
            <a:off x="5199063" y="3368675"/>
            <a:ext cx="900112" cy="539750"/>
            <a:chOff x="2937" y="3351"/>
            <a:chExt cx="567" cy="340"/>
          </a:xfrm>
        </p:grpSpPr>
        <p:graphicFrame>
          <p:nvGraphicFramePr>
            <p:cNvPr id="23560" name="Object 43"/>
            <p:cNvGraphicFramePr>
              <a:graphicFrameLocks noChangeAspect="1"/>
            </p:cNvGraphicFramePr>
            <p:nvPr/>
          </p:nvGraphicFramePr>
          <p:xfrm>
            <a:off x="2937" y="3351"/>
            <a:ext cx="264" cy="340"/>
          </p:xfrm>
          <a:graphic>
            <a:graphicData uri="http://schemas.openxmlformats.org/presentationml/2006/ole">
              <p:oleObj spid="_x0000_s23560" name="Equation" r:id="rId8" imgW="177646" imgH="228402" progId="">
                <p:embed/>
              </p:oleObj>
            </a:graphicData>
          </a:graphic>
        </p:graphicFrame>
        <p:sp>
          <p:nvSpPr>
            <p:cNvPr id="23585" name="Line 44"/>
            <p:cNvSpPr>
              <a:spLocks noChangeShapeType="1"/>
            </p:cNvSpPr>
            <p:nvPr/>
          </p:nvSpPr>
          <p:spPr bwMode="auto">
            <a:xfrm flipH="1">
              <a:off x="3163" y="3549"/>
              <a:ext cx="341" cy="0"/>
            </a:xfrm>
            <a:prstGeom prst="line">
              <a:avLst/>
            </a:prstGeom>
            <a:noFill/>
            <a:ln w="28575">
              <a:solidFill>
                <a:srgbClr val="008000"/>
              </a:solidFill>
              <a:round/>
              <a:headEnd/>
              <a:tailEnd type="stealth" w="med" len="lg"/>
            </a:ln>
          </p:spPr>
          <p:txBody>
            <a:bodyPr/>
            <a:lstStyle/>
            <a:p>
              <a:endParaRPr lang="zh-CN" altLang="en-US"/>
            </a:p>
          </p:txBody>
        </p:sp>
      </p:grpSp>
      <p:graphicFrame>
        <p:nvGraphicFramePr>
          <p:cNvPr id="188461" name="Object 45"/>
          <p:cNvGraphicFramePr>
            <a:graphicFrameLocks noChangeAspect="1"/>
          </p:cNvGraphicFramePr>
          <p:nvPr/>
        </p:nvGraphicFramePr>
        <p:xfrm>
          <a:off x="1511300" y="1127125"/>
          <a:ext cx="1935163" cy="398463"/>
        </p:xfrm>
        <a:graphic>
          <a:graphicData uri="http://schemas.openxmlformats.org/presentationml/2006/ole">
            <p:oleObj spid="_x0000_s23554" name="Equation" r:id="rId9" imgW="1104900" imgH="228600" progId="">
              <p:embed/>
            </p:oleObj>
          </a:graphicData>
        </a:graphic>
      </p:graphicFrame>
      <p:graphicFrame>
        <p:nvGraphicFramePr>
          <p:cNvPr id="188462" name="Object 46"/>
          <p:cNvGraphicFramePr>
            <a:graphicFrameLocks noChangeAspect="1"/>
          </p:cNvGraphicFramePr>
          <p:nvPr/>
        </p:nvGraphicFramePr>
        <p:xfrm>
          <a:off x="1736725" y="1622425"/>
          <a:ext cx="1439863" cy="739775"/>
        </p:xfrm>
        <a:graphic>
          <a:graphicData uri="http://schemas.openxmlformats.org/presentationml/2006/ole">
            <p:oleObj spid="_x0000_s23555" name="Equation" r:id="rId10" imgW="825500" imgH="431800" progId="">
              <p:embed/>
            </p:oleObj>
          </a:graphicData>
        </a:graphic>
      </p:graphicFrame>
      <p:sp>
        <p:nvSpPr>
          <p:cNvPr id="23579" name="Rectangle 47"/>
          <p:cNvSpPr>
            <a:spLocks noChangeArrowheads="1"/>
          </p:cNvSpPr>
          <p:nvPr/>
        </p:nvSpPr>
        <p:spPr bwMode="auto">
          <a:xfrm>
            <a:off x="265113" y="2411413"/>
            <a:ext cx="0" cy="0"/>
          </a:xfrm>
          <a:prstGeom prst="rect">
            <a:avLst/>
          </a:prstGeom>
          <a:solidFill>
            <a:schemeClr val="accent1"/>
          </a:solidFill>
          <a:ln w="9525">
            <a:solidFill>
              <a:schemeClr val="tx1"/>
            </a:solidFill>
            <a:miter lim="800000"/>
            <a:headEnd/>
            <a:tailEnd/>
          </a:ln>
        </p:spPr>
        <p:txBody>
          <a:bodyPr/>
          <a:lstStyle/>
          <a:p>
            <a:endParaRPr lang="zh-CN" altLang="en-US"/>
          </a:p>
        </p:txBody>
      </p:sp>
      <p:graphicFrame>
        <p:nvGraphicFramePr>
          <p:cNvPr id="188464" name="Object 48"/>
          <p:cNvGraphicFramePr>
            <a:graphicFrameLocks noChangeAspect="1"/>
          </p:cNvGraphicFramePr>
          <p:nvPr/>
        </p:nvGraphicFramePr>
        <p:xfrm>
          <a:off x="1557338" y="2738438"/>
          <a:ext cx="2116137" cy="450850"/>
        </p:xfrm>
        <a:graphic>
          <a:graphicData uri="http://schemas.openxmlformats.org/presentationml/2006/ole">
            <p:oleObj spid="_x0000_s23556" name="Equation" r:id="rId11" imgW="1130300" imgH="228600" progId="">
              <p:embed/>
            </p:oleObj>
          </a:graphicData>
        </a:graphic>
      </p:graphicFrame>
      <p:graphicFrame>
        <p:nvGraphicFramePr>
          <p:cNvPr id="188465" name="Object 49"/>
          <p:cNvGraphicFramePr>
            <a:graphicFrameLocks noChangeAspect="1"/>
          </p:cNvGraphicFramePr>
          <p:nvPr/>
        </p:nvGraphicFramePr>
        <p:xfrm>
          <a:off x="1331913" y="3368675"/>
          <a:ext cx="2476500" cy="825500"/>
        </p:xfrm>
        <a:graphic>
          <a:graphicData uri="http://schemas.openxmlformats.org/presentationml/2006/ole">
            <p:oleObj spid="_x0000_s23557" name="Equation" r:id="rId12" imgW="1257300" imgH="419100" progId="">
              <p:embed/>
            </p:oleObj>
          </a:graphicData>
        </a:graphic>
      </p:graphicFrame>
      <p:sp>
        <p:nvSpPr>
          <p:cNvPr id="23580" name="Rectangle 50"/>
          <p:cNvSpPr>
            <a:spLocks noChangeArrowheads="1"/>
          </p:cNvSpPr>
          <p:nvPr/>
        </p:nvSpPr>
        <p:spPr bwMode="auto">
          <a:xfrm>
            <a:off x="0" y="3384550"/>
            <a:ext cx="184150" cy="457200"/>
          </a:xfrm>
          <a:prstGeom prst="rect">
            <a:avLst/>
          </a:prstGeom>
          <a:noFill/>
          <a:ln w="9525">
            <a:noFill/>
            <a:miter lim="800000"/>
            <a:headEnd/>
            <a:tailEnd/>
          </a:ln>
        </p:spPr>
        <p:txBody>
          <a:bodyPr wrap="none" anchor="ctr">
            <a:spAutoFit/>
          </a:bodyPr>
          <a:lstStyle/>
          <a:p>
            <a:pPr algn="l"/>
            <a:endParaRPr lang="zh-CN" altLang="en-US"/>
          </a:p>
        </p:txBody>
      </p:sp>
      <p:sp>
        <p:nvSpPr>
          <p:cNvPr id="188467" name="Text Box 51"/>
          <p:cNvSpPr txBox="1">
            <a:spLocks noChangeArrowheads="1"/>
          </p:cNvSpPr>
          <p:nvPr/>
        </p:nvSpPr>
        <p:spPr bwMode="auto">
          <a:xfrm>
            <a:off x="522288" y="5003800"/>
            <a:ext cx="765175" cy="457200"/>
          </a:xfrm>
          <a:prstGeom prst="rect">
            <a:avLst/>
          </a:prstGeom>
          <a:noFill/>
          <a:ln w="9525">
            <a:noFill/>
            <a:miter lim="800000"/>
            <a:headEnd/>
            <a:tailEnd/>
          </a:ln>
        </p:spPr>
        <p:txBody>
          <a:bodyPr>
            <a:spAutoFit/>
          </a:bodyPr>
          <a:lstStyle/>
          <a:p>
            <a:pPr>
              <a:spcBef>
                <a:spcPct val="50000"/>
              </a:spcBef>
            </a:pPr>
            <a:r>
              <a:rPr lang="zh-CN" altLang="en-US" b="1"/>
              <a:t>因</a:t>
            </a:r>
          </a:p>
        </p:txBody>
      </p:sp>
      <p:graphicFrame>
        <p:nvGraphicFramePr>
          <p:cNvPr id="188468" name="Object 52"/>
          <p:cNvGraphicFramePr>
            <a:graphicFrameLocks noChangeAspect="1"/>
          </p:cNvGraphicFramePr>
          <p:nvPr/>
        </p:nvGraphicFramePr>
        <p:xfrm>
          <a:off x="1422400" y="4824413"/>
          <a:ext cx="1484313" cy="1092200"/>
        </p:xfrm>
        <a:graphic>
          <a:graphicData uri="http://schemas.openxmlformats.org/presentationml/2006/ole">
            <p:oleObj spid="_x0000_s23558" name="Equation" r:id="rId13" imgW="787058" imgH="583947" progId="">
              <p:embed/>
            </p:oleObj>
          </a:graphicData>
        </a:graphic>
      </p:graphicFrame>
      <p:sp>
        <p:nvSpPr>
          <p:cNvPr id="188469" name="AutoShape 53"/>
          <p:cNvSpPr>
            <a:spLocks noChangeArrowheads="1"/>
          </p:cNvSpPr>
          <p:nvPr/>
        </p:nvSpPr>
        <p:spPr bwMode="auto">
          <a:xfrm>
            <a:off x="2997200" y="5138738"/>
            <a:ext cx="900113" cy="225425"/>
          </a:xfrm>
          <a:prstGeom prst="rightArrow">
            <a:avLst>
              <a:gd name="adj1" fmla="val 50000"/>
              <a:gd name="adj2" fmla="val 99824"/>
            </a:avLst>
          </a:prstGeom>
          <a:solidFill>
            <a:srgbClr val="CCFFFF">
              <a:alpha val="91000"/>
            </a:srgbClr>
          </a:solidFill>
          <a:ln w="9525">
            <a:solidFill>
              <a:srgbClr val="66FFFF"/>
            </a:solidFill>
            <a:miter lim="800000"/>
            <a:headEnd/>
            <a:tailEnd/>
          </a:ln>
          <a:effectLst>
            <a:outerShdw blurRad="63500" dist="38099" dir="2700000" algn="ctr" rotWithShape="0">
              <a:schemeClr val="bg2">
                <a:alpha val="50000"/>
              </a:schemeClr>
            </a:outerShdw>
          </a:effectLst>
        </p:spPr>
        <p:txBody>
          <a:bodyPr wrap="none" tIns="0" anchor="ctr"/>
          <a:lstStyle/>
          <a:p>
            <a:pPr>
              <a:defRPr/>
            </a:pPr>
            <a:endParaRPr lang="zh-CN" altLang="en-US">
              <a:latin typeface="Times New Roman" charset="0"/>
              <a:ea typeface="宋体" charset="0"/>
            </a:endParaRPr>
          </a:p>
        </p:txBody>
      </p:sp>
      <p:sp>
        <p:nvSpPr>
          <p:cNvPr id="23583" name="Rectangle 5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88471" name="Object 55"/>
          <p:cNvGraphicFramePr>
            <a:graphicFrameLocks noChangeAspect="1"/>
          </p:cNvGraphicFramePr>
          <p:nvPr/>
        </p:nvGraphicFramePr>
        <p:xfrm>
          <a:off x="4032250" y="4824413"/>
          <a:ext cx="1981200" cy="1060450"/>
        </p:xfrm>
        <a:graphic>
          <a:graphicData uri="http://schemas.openxmlformats.org/presentationml/2006/ole">
            <p:oleObj spid="_x0000_s23559" name="Equation" r:id="rId14" imgW="1143000" imgH="482600" progId="">
              <p:embed/>
            </p:oleObj>
          </a:graphicData>
        </a:graphic>
      </p:graphicFrame>
      <p:sp>
        <p:nvSpPr>
          <p:cNvPr id="188472" name="AutoShape 56"/>
          <p:cNvSpPr>
            <a:spLocks noChangeArrowheads="1"/>
          </p:cNvSpPr>
          <p:nvPr/>
        </p:nvSpPr>
        <p:spPr bwMode="auto">
          <a:xfrm>
            <a:off x="6732588" y="4778375"/>
            <a:ext cx="2025650" cy="809625"/>
          </a:xfrm>
          <a:prstGeom prst="wedgeRectCallout">
            <a:avLst>
              <a:gd name="adj1" fmla="val -86755"/>
              <a:gd name="adj2" fmla="val 36079"/>
            </a:avLst>
          </a:prstGeom>
          <a:gradFill rotWithShape="1">
            <a:gsLst>
              <a:gs pos="0">
                <a:srgbClr val="FFFFFF"/>
              </a:gs>
              <a:gs pos="100000">
                <a:srgbClr val="CCFFFF"/>
              </a:gs>
            </a:gsLst>
            <a:path path="rect">
              <a:fillToRect l="50000" t="50000" r="50000" b="50000"/>
            </a:path>
          </a:gradFill>
          <a:ln w="9525">
            <a:solidFill>
              <a:srgbClr val="66FFFF"/>
            </a:solidFill>
            <a:miter lim="800000"/>
            <a:headEnd/>
            <a:tailEnd/>
          </a:ln>
        </p:spPr>
        <p:txBody>
          <a:bodyPr/>
          <a:lstStyle/>
          <a:p>
            <a:r>
              <a:rPr lang="zh-CN" altLang="en-US" b="1">
                <a:solidFill>
                  <a:srgbClr val="0000FF"/>
                </a:solidFill>
              </a:rPr>
              <a:t>相对论</a:t>
            </a:r>
            <a:endParaRPr lang="en-US" altLang="zh-CN" b="1">
              <a:solidFill>
                <a:srgbClr val="0000FF"/>
              </a:solidFill>
            </a:endParaRPr>
          </a:p>
          <a:p>
            <a:r>
              <a:rPr lang="zh-CN" altLang="en-US" b="1">
                <a:solidFill>
                  <a:srgbClr val="0000FF"/>
                </a:solidFill>
              </a:rPr>
              <a:t>质</a:t>
            </a:r>
            <a:r>
              <a:rPr lang="en-US" altLang="zh-CN" b="1">
                <a:solidFill>
                  <a:srgbClr val="0000FF"/>
                </a:solidFill>
              </a:rPr>
              <a:t>-</a:t>
            </a:r>
            <a:r>
              <a:rPr lang="zh-CN" altLang="en-US" b="1">
                <a:solidFill>
                  <a:srgbClr val="0000FF"/>
                </a:solidFill>
              </a:rPr>
              <a:t>速关系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8420"/>
                                        </p:tgtEl>
                                        <p:attrNameLst>
                                          <p:attrName>style.visibility</p:attrName>
                                        </p:attrNameLst>
                                      </p:cBhvr>
                                      <p:to>
                                        <p:strVal val="visible"/>
                                      </p:to>
                                    </p:set>
                                    <p:animEffect transition="in" filter="wipe(left)">
                                      <p:cBhvr>
                                        <p:cTn id="7" dur="1000"/>
                                        <p:tgtEl>
                                          <p:spTgt spid="188420"/>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88421"/>
                                        </p:tgtEl>
                                        <p:attrNameLst>
                                          <p:attrName>style.visibility</p:attrName>
                                        </p:attrNameLst>
                                      </p:cBhvr>
                                      <p:to>
                                        <p:strVal val="visible"/>
                                      </p:to>
                                    </p:set>
                                    <p:animEffect transition="in" filter="wipe(left)">
                                      <p:cBhvr>
                                        <p:cTn id="11" dur="1000"/>
                                        <p:tgtEl>
                                          <p:spTgt spid="18842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32"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ox(out)">
                                      <p:cBhvr>
                                        <p:cTn id="16" dur="5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1000"/>
                                        <p:tgtEl>
                                          <p:spTgt spid="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0" presetClass="path" presetSubtype="0" accel="50000" decel="50000" fill="hold" nodeType="clickEffect">
                                  <p:stCondLst>
                                    <p:cond delay="0"/>
                                  </p:stCondLst>
                                  <p:childTnLst>
                                    <p:animMotion origin="layout" path="M -2.5E-6 -3.4104E-6 L 0.15486 0.00023 " pathEditMode="relative" rAng="0" ptsTypes="AA">
                                      <p:cBhvr>
                                        <p:cTn id="31" dur="2000" fill="hold"/>
                                        <p:tgtEl>
                                          <p:spTgt spid="4"/>
                                        </p:tgtEl>
                                        <p:attrNameLst>
                                          <p:attrName>ppt_x</p:attrName>
                                          <p:attrName>ppt_y</p:attrName>
                                        </p:attrNameLst>
                                      </p:cBhvr>
                                      <p:rCtr x="77" y="0"/>
                                    </p:animMotion>
                                  </p:childTnLst>
                                </p:cTn>
                              </p:par>
                              <p:par>
                                <p:cTn id="32" presetID="1" presetClass="exit" presetSubtype="0" fill="hold" nodeType="withEffect">
                                  <p:stCondLst>
                                    <p:cond delay="0"/>
                                  </p:stCondLst>
                                  <p:childTnLst>
                                    <p:set>
                                      <p:cBhvr>
                                        <p:cTn id="33" dur="1" fill="hold">
                                          <p:stCondLst>
                                            <p:cond delay="0"/>
                                          </p:stCondLst>
                                        </p:cTn>
                                        <p:tgtEl>
                                          <p:spTgt spid="8"/>
                                        </p:tgtEl>
                                        <p:attrNameLst>
                                          <p:attrName>style.visibility</p:attrName>
                                        </p:attrNameLst>
                                      </p:cBhvr>
                                      <p:to>
                                        <p:strVal val="hidden"/>
                                      </p:to>
                                    </p:set>
                                  </p:childTnLst>
                                </p:cTn>
                              </p:par>
                            </p:childTnLst>
                          </p:cTn>
                        </p:par>
                        <p:par>
                          <p:cTn id="34" fill="hold" nodeType="afterGroup">
                            <p:stCondLst>
                              <p:cond delay="2000"/>
                            </p:stCondLst>
                            <p:childTnLst>
                              <p:par>
                                <p:cTn id="35" presetID="22" presetClass="entr" presetSubtype="8" fill="hold" nodeType="after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1000"/>
                                        <p:tgtEl>
                                          <p:spTgt spid="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88461"/>
                                        </p:tgtEl>
                                        <p:attrNameLst>
                                          <p:attrName>style.visibility</p:attrName>
                                        </p:attrNameLst>
                                      </p:cBhvr>
                                      <p:to>
                                        <p:strVal val="visible"/>
                                      </p:to>
                                    </p:set>
                                    <p:animEffect transition="in" filter="wipe(left)">
                                      <p:cBhvr>
                                        <p:cTn id="42" dur="1000"/>
                                        <p:tgtEl>
                                          <p:spTgt spid="18846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88462"/>
                                        </p:tgtEl>
                                        <p:attrNameLst>
                                          <p:attrName>style.visibility</p:attrName>
                                        </p:attrNameLst>
                                      </p:cBhvr>
                                      <p:to>
                                        <p:strVal val="visible"/>
                                      </p:to>
                                    </p:set>
                                    <p:animEffect transition="in" filter="wipe(left)">
                                      <p:cBhvr>
                                        <p:cTn id="47" dur="1000"/>
                                        <p:tgtEl>
                                          <p:spTgt spid="188462"/>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88422"/>
                                        </p:tgtEl>
                                        <p:attrNameLst>
                                          <p:attrName>style.visibility</p:attrName>
                                        </p:attrNameLst>
                                      </p:cBhvr>
                                      <p:to>
                                        <p:strVal val="visible"/>
                                      </p:to>
                                    </p:set>
                                    <p:animEffect transition="in" filter="wipe(left)">
                                      <p:cBhvr>
                                        <p:cTn id="50" dur="1000"/>
                                        <p:tgtEl>
                                          <p:spTgt spid="188422"/>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4" presetClass="entr" presetSubtype="32"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box(out)">
                                      <p:cBhvr>
                                        <p:cTn id="55" dur="1000"/>
                                        <p:tgtEl>
                                          <p:spTgt spid="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nodeType="clickEffect">
                                  <p:stCondLst>
                                    <p:cond delay="0"/>
                                  </p:stCondLst>
                                  <p:childTnLst>
                                    <p:set>
                                      <p:cBhvr>
                                        <p:cTn id="59" dur="1" fill="hold">
                                          <p:stCondLst>
                                            <p:cond delay="0"/>
                                          </p:stCondLst>
                                        </p:cTn>
                                        <p:tgtEl>
                                          <p:spTgt spid="7"/>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6"/>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2" fill="hold" nodeType="click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wipe(right)">
                                      <p:cBhvr>
                                        <p:cTn id="66" dur="1000"/>
                                        <p:tgtEl>
                                          <p:spTgt spid="9"/>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0" presetClass="path" presetSubtype="0" accel="50000" decel="50000" fill="hold" nodeType="clickEffect">
                                  <p:stCondLst>
                                    <p:cond delay="0"/>
                                  </p:stCondLst>
                                  <p:childTnLst>
                                    <p:animMotion origin="layout" path="M -0.00226 -4.79769E-6 L -0.15486 -4.79769E-6 " pathEditMode="relative" rAng="0" ptsTypes="AA">
                                      <p:cBhvr>
                                        <p:cTn id="70" dur="2000" fill="hold"/>
                                        <p:tgtEl>
                                          <p:spTgt spid="6"/>
                                        </p:tgtEl>
                                        <p:attrNameLst>
                                          <p:attrName>ppt_x</p:attrName>
                                          <p:attrName>ppt_y</p:attrName>
                                        </p:attrNameLst>
                                      </p:cBhvr>
                                      <p:rCtr x="-76" y="0"/>
                                    </p:animMotion>
                                  </p:childTnLst>
                                </p:cTn>
                              </p:par>
                              <p:par>
                                <p:cTn id="71" presetID="1" presetClass="exit" presetSubtype="0" fill="hold" nodeType="withEffect">
                                  <p:stCondLst>
                                    <p:cond delay="0"/>
                                  </p:stCondLst>
                                  <p:childTnLst>
                                    <p:set>
                                      <p:cBhvr>
                                        <p:cTn id="72" dur="1" fill="hold">
                                          <p:stCondLst>
                                            <p:cond delay="0"/>
                                          </p:stCondLst>
                                        </p:cTn>
                                        <p:tgtEl>
                                          <p:spTgt spid="9"/>
                                        </p:tgtEl>
                                        <p:attrNameLst>
                                          <p:attrName>style.visibility</p:attrName>
                                        </p:attrNameLst>
                                      </p:cBhvr>
                                      <p:to>
                                        <p:strVal val="hidden"/>
                                      </p:to>
                                    </p:set>
                                  </p:childTnLst>
                                </p:cTn>
                              </p:par>
                            </p:childTnLst>
                          </p:cTn>
                        </p:par>
                        <p:par>
                          <p:cTn id="73" fill="hold" nodeType="afterGroup">
                            <p:stCondLst>
                              <p:cond delay="2000"/>
                            </p:stCondLst>
                            <p:childTnLst>
                              <p:par>
                                <p:cTn id="74" presetID="22" presetClass="entr" presetSubtype="2" fill="hold" nodeType="after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wipe(right)">
                                      <p:cBhvr>
                                        <p:cTn id="76" dur="1000"/>
                                        <p:tgtEl>
                                          <p:spTgt spid="11"/>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188464"/>
                                        </p:tgtEl>
                                        <p:attrNameLst>
                                          <p:attrName>style.visibility</p:attrName>
                                        </p:attrNameLst>
                                      </p:cBhvr>
                                      <p:to>
                                        <p:strVal val="visible"/>
                                      </p:to>
                                    </p:set>
                                    <p:animEffect transition="in" filter="wipe(left)">
                                      <p:cBhvr>
                                        <p:cTn id="81" dur="1000"/>
                                        <p:tgtEl>
                                          <p:spTgt spid="188464"/>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188465"/>
                                        </p:tgtEl>
                                        <p:attrNameLst>
                                          <p:attrName>style.visibility</p:attrName>
                                        </p:attrNameLst>
                                      </p:cBhvr>
                                      <p:to>
                                        <p:strVal val="visible"/>
                                      </p:to>
                                    </p:set>
                                    <p:animEffect transition="in" filter="wipe(left)">
                                      <p:cBhvr>
                                        <p:cTn id="86" dur="1000"/>
                                        <p:tgtEl>
                                          <p:spTgt spid="188465"/>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188467"/>
                                        </p:tgtEl>
                                        <p:attrNameLst>
                                          <p:attrName>style.visibility</p:attrName>
                                        </p:attrNameLst>
                                      </p:cBhvr>
                                      <p:to>
                                        <p:strVal val="visible"/>
                                      </p:to>
                                    </p:set>
                                    <p:animEffect transition="in" filter="wipe(left)">
                                      <p:cBhvr>
                                        <p:cTn id="91" dur="1000"/>
                                        <p:tgtEl>
                                          <p:spTgt spid="188467"/>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188468"/>
                                        </p:tgtEl>
                                        <p:attrNameLst>
                                          <p:attrName>style.visibility</p:attrName>
                                        </p:attrNameLst>
                                      </p:cBhvr>
                                      <p:to>
                                        <p:strVal val="visible"/>
                                      </p:to>
                                    </p:set>
                                    <p:animEffect transition="in" filter="wipe(left)">
                                      <p:cBhvr>
                                        <p:cTn id="96" dur="1000"/>
                                        <p:tgtEl>
                                          <p:spTgt spid="188468"/>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188469"/>
                                        </p:tgtEl>
                                        <p:attrNameLst>
                                          <p:attrName>style.visibility</p:attrName>
                                        </p:attrNameLst>
                                      </p:cBhvr>
                                      <p:to>
                                        <p:strVal val="visible"/>
                                      </p:to>
                                    </p:set>
                                    <p:animEffect transition="in" filter="wipe(left)">
                                      <p:cBhvr>
                                        <p:cTn id="101" dur="1000"/>
                                        <p:tgtEl>
                                          <p:spTgt spid="188469"/>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188471"/>
                                        </p:tgtEl>
                                        <p:attrNameLst>
                                          <p:attrName>style.visibility</p:attrName>
                                        </p:attrNameLst>
                                      </p:cBhvr>
                                      <p:to>
                                        <p:strVal val="visible"/>
                                      </p:to>
                                    </p:set>
                                    <p:animEffect transition="in" filter="wipe(left)">
                                      <p:cBhvr>
                                        <p:cTn id="106" dur="1000"/>
                                        <p:tgtEl>
                                          <p:spTgt spid="188471"/>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2" fill="hold" grpId="0" nodeType="clickEffect">
                                  <p:stCondLst>
                                    <p:cond delay="0"/>
                                  </p:stCondLst>
                                  <p:childTnLst>
                                    <p:set>
                                      <p:cBhvr>
                                        <p:cTn id="110" dur="1" fill="hold">
                                          <p:stCondLst>
                                            <p:cond delay="0"/>
                                          </p:stCondLst>
                                        </p:cTn>
                                        <p:tgtEl>
                                          <p:spTgt spid="188472"/>
                                        </p:tgtEl>
                                        <p:attrNameLst>
                                          <p:attrName>style.visibility</p:attrName>
                                        </p:attrNameLst>
                                      </p:cBhvr>
                                      <p:to>
                                        <p:strVal val="visible"/>
                                      </p:to>
                                    </p:set>
                                    <p:animEffect transition="in" filter="wipe(right)">
                                      <p:cBhvr>
                                        <p:cTn id="111" dur="1000"/>
                                        <p:tgtEl>
                                          <p:spTgt spid="1884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0" grpId="0"/>
      <p:bldP spid="188421" grpId="0"/>
      <p:bldP spid="188422" grpId="0"/>
      <p:bldP spid="188467" grpId="0"/>
      <p:bldP spid="188469" grpId="0" animBg="1"/>
      <p:bldP spid="18847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ChangeArrowheads="1"/>
          </p:cNvSpPr>
          <p:nvPr/>
        </p:nvSpPr>
        <p:spPr bwMode="auto">
          <a:xfrm>
            <a:off x="161925" y="458788"/>
            <a:ext cx="8802688" cy="933450"/>
          </a:xfrm>
          <a:prstGeom prst="rect">
            <a:avLst/>
          </a:prstGeom>
          <a:noFill/>
          <a:ln w="9525">
            <a:noFill/>
            <a:miter lim="800000"/>
            <a:headEnd/>
            <a:tailEnd/>
          </a:ln>
        </p:spPr>
        <p:txBody>
          <a:bodyPr>
            <a:spAutoFit/>
          </a:bodyPr>
          <a:lstStyle/>
          <a:p>
            <a:pPr algn="l">
              <a:lnSpc>
                <a:spcPct val="115000"/>
              </a:lnSpc>
            </a:pPr>
            <a:r>
              <a:rPr lang="en-US" altLang="zh-CN" b="1">
                <a:solidFill>
                  <a:schemeClr val="bg1"/>
                </a:solidFill>
              </a:rPr>
              <a:t>    </a:t>
            </a:r>
            <a:r>
              <a:rPr lang="zh-CN" altLang="en-US" b="1">
                <a:solidFill>
                  <a:schemeClr val="bg1"/>
                </a:solidFill>
              </a:rPr>
              <a:t>当质点作</a:t>
            </a:r>
            <a:r>
              <a:rPr lang="zh-CN" altLang="en-US" b="1">
                <a:solidFill>
                  <a:schemeClr val="accent2"/>
                </a:solidFill>
              </a:rPr>
              <a:t>高速运动</a:t>
            </a:r>
            <a:r>
              <a:rPr lang="zh-CN" altLang="en-US" b="1">
                <a:solidFill>
                  <a:schemeClr val="bg1"/>
                </a:solidFill>
              </a:rPr>
              <a:t>（</a:t>
            </a:r>
            <a:r>
              <a:rPr lang="zh-CN" altLang="en-US" b="1">
                <a:solidFill>
                  <a:srgbClr val="9900CC"/>
                </a:solidFill>
              </a:rPr>
              <a:t>接近光速</a:t>
            </a:r>
            <a:r>
              <a:rPr lang="zh-CN" altLang="en-US" b="1">
                <a:solidFill>
                  <a:schemeClr val="bg1"/>
                </a:solidFill>
              </a:rPr>
              <a:t>）时，质点的质量就不再是一个常量，而与其运动速率有关，随速率增大而增大，即：</a:t>
            </a:r>
          </a:p>
        </p:txBody>
      </p:sp>
      <p:graphicFrame>
        <p:nvGraphicFramePr>
          <p:cNvPr id="189443" name="Object 3"/>
          <p:cNvGraphicFramePr>
            <a:graphicFrameLocks noChangeAspect="1"/>
          </p:cNvGraphicFramePr>
          <p:nvPr/>
        </p:nvGraphicFramePr>
        <p:xfrm>
          <a:off x="985838" y="1462088"/>
          <a:ext cx="2335212" cy="1123950"/>
        </p:xfrm>
        <a:graphic>
          <a:graphicData uri="http://schemas.openxmlformats.org/presentationml/2006/ole">
            <p:oleObj spid="_x0000_s24578" name="Equation" r:id="rId3" imgW="1002865" imgH="482391" progId="">
              <p:embed/>
            </p:oleObj>
          </a:graphicData>
        </a:graphic>
      </p:graphicFrame>
      <p:sp>
        <p:nvSpPr>
          <p:cNvPr id="189444" name="Rectangle 4"/>
          <p:cNvSpPr>
            <a:spLocks noChangeArrowheads="1"/>
          </p:cNvSpPr>
          <p:nvPr/>
        </p:nvSpPr>
        <p:spPr bwMode="auto">
          <a:xfrm>
            <a:off x="3716338" y="1584325"/>
            <a:ext cx="4462462" cy="479425"/>
          </a:xfrm>
          <a:prstGeom prst="rect">
            <a:avLst/>
          </a:prstGeom>
          <a:noFill/>
          <a:ln w="9525">
            <a:noFill/>
            <a:miter lim="800000"/>
            <a:headEnd/>
            <a:tailEnd/>
          </a:ln>
        </p:spPr>
        <p:txBody>
          <a:bodyPr>
            <a:spAutoFit/>
          </a:bodyPr>
          <a:lstStyle/>
          <a:p>
            <a:pPr algn="l">
              <a:lnSpc>
                <a:spcPct val="115000"/>
              </a:lnSpc>
            </a:pPr>
            <a:r>
              <a:rPr lang="zh-CN" altLang="en-US" b="1">
                <a:solidFill>
                  <a:schemeClr val="bg1"/>
                </a:solidFill>
              </a:rPr>
              <a:t>（</a:t>
            </a:r>
            <a:r>
              <a:rPr lang="en-US" altLang="zh-CN" b="1" i="1">
                <a:solidFill>
                  <a:schemeClr val="accent2"/>
                </a:solidFill>
              </a:rPr>
              <a:t>m</a:t>
            </a:r>
            <a:r>
              <a:rPr lang="en-US" altLang="zh-CN" b="1" baseline="-25000">
                <a:solidFill>
                  <a:schemeClr val="accent2"/>
                </a:solidFill>
              </a:rPr>
              <a:t>0 </a:t>
            </a:r>
            <a:r>
              <a:rPr lang="zh-CN" altLang="en-US" b="1">
                <a:solidFill>
                  <a:schemeClr val="bg1"/>
                </a:solidFill>
              </a:rPr>
              <a:t>是质点静止时的质量）</a:t>
            </a:r>
          </a:p>
        </p:txBody>
      </p:sp>
      <p:sp>
        <p:nvSpPr>
          <p:cNvPr id="189445" name="Text Box 5"/>
          <p:cNvSpPr txBox="1">
            <a:spLocks noChangeArrowheads="1"/>
          </p:cNvSpPr>
          <p:nvPr/>
        </p:nvSpPr>
        <p:spPr bwMode="auto">
          <a:xfrm>
            <a:off x="250825" y="2663825"/>
            <a:ext cx="1568450" cy="479425"/>
          </a:xfrm>
          <a:prstGeom prst="rect">
            <a:avLst/>
          </a:prstGeom>
          <a:noFill/>
          <a:ln w="9525">
            <a:noFill/>
            <a:miter lim="800000"/>
            <a:headEnd/>
            <a:tailEnd/>
          </a:ln>
        </p:spPr>
        <p:txBody>
          <a:bodyPr>
            <a:spAutoFit/>
          </a:bodyPr>
          <a:lstStyle/>
          <a:p>
            <a:pPr algn="l">
              <a:lnSpc>
                <a:spcPct val="115000"/>
              </a:lnSpc>
            </a:pPr>
            <a:r>
              <a:rPr lang="zh-CN" altLang="en-US" b="1">
                <a:solidFill>
                  <a:schemeClr val="hlink"/>
                </a:solidFill>
              </a:rPr>
              <a:t>讨论：</a:t>
            </a:r>
          </a:p>
        </p:txBody>
      </p:sp>
      <p:sp>
        <p:nvSpPr>
          <p:cNvPr id="189446" name="Text Box 6"/>
          <p:cNvSpPr txBox="1">
            <a:spLocks noChangeArrowheads="1"/>
          </p:cNvSpPr>
          <p:nvPr/>
        </p:nvSpPr>
        <p:spPr bwMode="auto">
          <a:xfrm>
            <a:off x="169863" y="3114675"/>
            <a:ext cx="4897437" cy="479425"/>
          </a:xfrm>
          <a:prstGeom prst="rect">
            <a:avLst/>
          </a:prstGeom>
          <a:noFill/>
          <a:ln w="9525">
            <a:noFill/>
            <a:miter lim="800000"/>
            <a:headEnd/>
            <a:tailEnd/>
          </a:ln>
        </p:spPr>
        <p:txBody>
          <a:bodyPr>
            <a:spAutoFit/>
          </a:bodyPr>
          <a:lstStyle/>
          <a:p>
            <a:pPr algn="l">
              <a:lnSpc>
                <a:spcPct val="115000"/>
              </a:lnSpc>
            </a:pPr>
            <a:r>
              <a:rPr lang="en-US" altLang="zh-CN" b="1">
                <a:solidFill>
                  <a:schemeClr val="bg1"/>
                </a:solidFill>
              </a:rPr>
              <a:t>(1)  </a:t>
            </a:r>
            <a:r>
              <a:rPr lang="zh-CN" altLang="en-US" b="1">
                <a:solidFill>
                  <a:schemeClr val="bg1"/>
                </a:solidFill>
              </a:rPr>
              <a:t>当</a:t>
            </a:r>
            <a:r>
              <a:rPr lang="en-US" altLang="zh-CN" b="1">
                <a:solidFill>
                  <a:schemeClr val="bg1"/>
                </a:solidFill>
              </a:rPr>
              <a:t> </a:t>
            </a:r>
            <a:r>
              <a:rPr lang="en-US" altLang="zh-CN" b="1" i="1">
                <a:solidFill>
                  <a:schemeClr val="accent2"/>
                </a:solidFill>
              </a:rPr>
              <a:t>u </a:t>
            </a:r>
            <a:r>
              <a:rPr lang="en-US" altLang="zh-CN" b="1">
                <a:solidFill>
                  <a:schemeClr val="accent2"/>
                </a:solidFill>
              </a:rPr>
              <a:t>&lt;&lt; </a:t>
            </a:r>
            <a:r>
              <a:rPr lang="en-US" altLang="zh-CN" b="1" i="1">
                <a:solidFill>
                  <a:schemeClr val="accent2"/>
                </a:solidFill>
              </a:rPr>
              <a:t>c</a:t>
            </a:r>
            <a:r>
              <a:rPr lang="en-US" altLang="zh-CN" b="1" i="1">
                <a:solidFill>
                  <a:srgbClr val="66FFFF"/>
                </a:solidFill>
              </a:rPr>
              <a:t> </a:t>
            </a:r>
            <a:r>
              <a:rPr lang="zh-CN" altLang="en-US" b="1">
                <a:solidFill>
                  <a:schemeClr val="bg1"/>
                </a:solidFill>
              </a:rPr>
              <a:t>时，</a:t>
            </a:r>
            <a:r>
              <a:rPr lang="en-US" altLang="zh-CN" b="1" i="1">
                <a:solidFill>
                  <a:schemeClr val="accent2"/>
                </a:solidFill>
              </a:rPr>
              <a:t>m = m</a:t>
            </a:r>
            <a:r>
              <a:rPr lang="en-US" altLang="zh-CN" b="1" baseline="-25000">
                <a:solidFill>
                  <a:schemeClr val="accent2"/>
                </a:solidFill>
              </a:rPr>
              <a:t>0</a:t>
            </a:r>
          </a:p>
        </p:txBody>
      </p:sp>
      <p:sp>
        <p:nvSpPr>
          <p:cNvPr id="189447" name="Rectangle 7"/>
          <p:cNvSpPr>
            <a:spLocks noChangeArrowheads="1"/>
          </p:cNvSpPr>
          <p:nvPr/>
        </p:nvSpPr>
        <p:spPr bwMode="auto">
          <a:xfrm>
            <a:off x="0" y="4419600"/>
            <a:ext cx="2085975" cy="479425"/>
          </a:xfrm>
          <a:prstGeom prst="rect">
            <a:avLst/>
          </a:prstGeom>
          <a:noFill/>
          <a:ln w="9525">
            <a:noFill/>
            <a:miter lim="800000"/>
            <a:headEnd/>
            <a:tailEnd/>
          </a:ln>
        </p:spPr>
        <p:txBody>
          <a:bodyPr>
            <a:spAutoFit/>
          </a:bodyPr>
          <a:lstStyle/>
          <a:p>
            <a:pPr algn="l">
              <a:lnSpc>
                <a:spcPct val="115000"/>
              </a:lnSpc>
            </a:pPr>
            <a:r>
              <a:rPr lang="en-US" altLang="zh-CN" b="1">
                <a:solidFill>
                  <a:schemeClr val="bg1"/>
                </a:solidFill>
              </a:rPr>
              <a:t>(2)  </a:t>
            </a:r>
            <a:r>
              <a:rPr lang="zh-CN" altLang="en-US" b="1">
                <a:solidFill>
                  <a:schemeClr val="bg1"/>
                </a:solidFill>
              </a:rPr>
              <a:t>质速曲线</a:t>
            </a:r>
          </a:p>
        </p:txBody>
      </p:sp>
      <p:sp>
        <p:nvSpPr>
          <p:cNvPr id="189448" name="Rectangle 8"/>
          <p:cNvSpPr>
            <a:spLocks noChangeArrowheads="1"/>
          </p:cNvSpPr>
          <p:nvPr/>
        </p:nvSpPr>
        <p:spPr bwMode="auto">
          <a:xfrm>
            <a:off x="2051050" y="3608388"/>
            <a:ext cx="1620838" cy="479425"/>
          </a:xfrm>
          <a:prstGeom prst="rect">
            <a:avLst/>
          </a:prstGeom>
          <a:noFill/>
          <a:ln w="9525">
            <a:noFill/>
            <a:miter lim="800000"/>
            <a:headEnd/>
            <a:tailEnd/>
          </a:ln>
        </p:spPr>
        <p:txBody>
          <a:bodyPr>
            <a:spAutoFit/>
          </a:bodyPr>
          <a:lstStyle/>
          <a:p>
            <a:pPr algn="l">
              <a:lnSpc>
                <a:spcPct val="115000"/>
              </a:lnSpc>
            </a:pPr>
            <a:r>
              <a:rPr lang="zh-CN" altLang="en-US" b="1">
                <a:solidFill>
                  <a:schemeClr val="bg1"/>
                </a:solidFill>
                <a:ea typeface="楷体_GB2312" pitchFamily="49" charset="-122"/>
              </a:rPr>
              <a:t>当</a:t>
            </a:r>
            <a:r>
              <a:rPr lang="en-US" altLang="zh-CN" b="1">
                <a:solidFill>
                  <a:schemeClr val="bg1"/>
                </a:solidFill>
                <a:ea typeface="楷体_GB2312" pitchFamily="49" charset="-122"/>
              </a:rPr>
              <a:t> </a:t>
            </a:r>
            <a:r>
              <a:rPr lang="en-US" altLang="zh-CN" b="1" i="1">
                <a:solidFill>
                  <a:schemeClr val="accent2"/>
                </a:solidFill>
                <a:ea typeface="楷体_GB2312" pitchFamily="49" charset="-122"/>
              </a:rPr>
              <a:t>u </a:t>
            </a:r>
            <a:r>
              <a:rPr lang="en-US" altLang="zh-CN" b="1">
                <a:solidFill>
                  <a:schemeClr val="accent2"/>
                </a:solidFill>
                <a:ea typeface="楷体_GB2312" pitchFamily="49" charset="-122"/>
              </a:rPr>
              <a:t>=0.1 </a:t>
            </a:r>
            <a:r>
              <a:rPr lang="en-US" altLang="zh-CN" b="1" i="1">
                <a:solidFill>
                  <a:schemeClr val="accent2"/>
                </a:solidFill>
                <a:ea typeface="楷体_GB2312" pitchFamily="49" charset="-122"/>
              </a:rPr>
              <a:t>c</a:t>
            </a:r>
          </a:p>
        </p:txBody>
      </p:sp>
      <p:sp>
        <p:nvSpPr>
          <p:cNvPr id="189449" name="Rectangle 9"/>
          <p:cNvSpPr>
            <a:spLocks noChangeArrowheads="1"/>
          </p:cNvSpPr>
          <p:nvPr/>
        </p:nvSpPr>
        <p:spPr bwMode="auto">
          <a:xfrm>
            <a:off x="3860800" y="3651250"/>
            <a:ext cx="1874838" cy="517525"/>
          </a:xfrm>
          <a:prstGeom prst="rect">
            <a:avLst/>
          </a:prstGeom>
          <a:noFill/>
          <a:ln w="9525">
            <a:noFill/>
            <a:miter lim="800000"/>
            <a:headEnd/>
            <a:tailEnd/>
          </a:ln>
        </p:spPr>
        <p:txBody>
          <a:bodyPr>
            <a:spAutoFit/>
          </a:bodyPr>
          <a:lstStyle/>
          <a:p>
            <a:pPr algn="l">
              <a:lnSpc>
                <a:spcPct val="115000"/>
              </a:lnSpc>
            </a:pPr>
            <a:r>
              <a:rPr lang="en-US" altLang="zh-CN" b="1" i="1">
                <a:solidFill>
                  <a:schemeClr val="bg1"/>
                </a:solidFill>
                <a:ea typeface="楷体_GB2312" pitchFamily="49" charset="-122"/>
              </a:rPr>
              <a:t>m</a:t>
            </a:r>
            <a:r>
              <a:rPr lang="en-US" altLang="zh-CN" b="1">
                <a:solidFill>
                  <a:schemeClr val="bg1"/>
                </a:solidFill>
                <a:ea typeface="楷体_GB2312" pitchFamily="49" charset="-122"/>
              </a:rPr>
              <a:t> </a:t>
            </a:r>
            <a:r>
              <a:rPr lang="zh-CN" altLang="en-US" b="1">
                <a:solidFill>
                  <a:schemeClr val="bg1"/>
                </a:solidFill>
                <a:ea typeface="楷体_GB2312" pitchFamily="49" charset="-122"/>
              </a:rPr>
              <a:t>增加</a:t>
            </a:r>
            <a:r>
              <a:rPr lang="en-US" altLang="zh-CN" b="1">
                <a:solidFill>
                  <a:schemeClr val="bg1"/>
                </a:solidFill>
                <a:ea typeface="楷体_GB2312" pitchFamily="49" charset="-122"/>
              </a:rPr>
              <a:t> 0.5%</a:t>
            </a:r>
          </a:p>
        </p:txBody>
      </p:sp>
      <p:sp>
        <p:nvSpPr>
          <p:cNvPr id="189450" name="Rectangle 10"/>
          <p:cNvSpPr>
            <a:spLocks noChangeArrowheads="1"/>
          </p:cNvSpPr>
          <p:nvPr/>
        </p:nvSpPr>
        <p:spPr bwMode="auto">
          <a:xfrm>
            <a:off x="2051050" y="4238625"/>
            <a:ext cx="2025650" cy="479425"/>
          </a:xfrm>
          <a:prstGeom prst="rect">
            <a:avLst/>
          </a:prstGeom>
          <a:noFill/>
          <a:ln w="9525">
            <a:noFill/>
            <a:miter lim="800000"/>
            <a:headEnd/>
            <a:tailEnd/>
          </a:ln>
        </p:spPr>
        <p:txBody>
          <a:bodyPr>
            <a:spAutoFit/>
          </a:bodyPr>
          <a:lstStyle/>
          <a:p>
            <a:pPr algn="l">
              <a:lnSpc>
                <a:spcPct val="115000"/>
              </a:lnSpc>
            </a:pPr>
            <a:r>
              <a:rPr lang="zh-CN" altLang="en-US" b="1">
                <a:solidFill>
                  <a:schemeClr val="bg1"/>
                </a:solidFill>
                <a:ea typeface="楷体_GB2312" pitchFamily="49" charset="-122"/>
              </a:rPr>
              <a:t>当</a:t>
            </a:r>
            <a:r>
              <a:rPr lang="en-US" altLang="zh-CN" b="1">
                <a:solidFill>
                  <a:schemeClr val="bg1"/>
                </a:solidFill>
                <a:ea typeface="楷体_GB2312" pitchFamily="49" charset="-122"/>
              </a:rPr>
              <a:t> </a:t>
            </a:r>
            <a:r>
              <a:rPr lang="en-US" altLang="zh-CN" b="1" i="1">
                <a:solidFill>
                  <a:schemeClr val="accent2"/>
                </a:solidFill>
                <a:ea typeface="楷体_GB2312" pitchFamily="49" charset="-122"/>
              </a:rPr>
              <a:t>u </a:t>
            </a:r>
            <a:r>
              <a:rPr lang="en-US" altLang="zh-CN" b="1">
                <a:solidFill>
                  <a:schemeClr val="accent2"/>
                </a:solidFill>
                <a:ea typeface="楷体_GB2312" pitchFamily="49" charset="-122"/>
              </a:rPr>
              <a:t>=0.866 </a:t>
            </a:r>
            <a:r>
              <a:rPr lang="en-US" altLang="zh-CN" b="1" i="1">
                <a:solidFill>
                  <a:schemeClr val="accent2"/>
                </a:solidFill>
                <a:ea typeface="楷体_GB2312" pitchFamily="49" charset="-122"/>
              </a:rPr>
              <a:t>c</a:t>
            </a:r>
          </a:p>
        </p:txBody>
      </p:sp>
      <p:graphicFrame>
        <p:nvGraphicFramePr>
          <p:cNvPr id="189451" name="Object 11"/>
          <p:cNvGraphicFramePr>
            <a:graphicFrameLocks noChangeAspect="1"/>
          </p:cNvGraphicFramePr>
          <p:nvPr/>
        </p:nvGraphicFramePr>
        <p:xfrm>
          <a:off x="4321175" y="4389438"/>
          <a:ext cx="881063" cy="344487"/>
        </p:xfrm>
        <a:graphic>
          <a:graphicData uri="http://schemas.openxmlformats.org/presentationml/2006/ole">
            <p:oleObj spid="_x0000_s24579" name="公式" r:id="rId4" imgW="583947" imgH="228501" progId="Equation.3">
              <p:embed/>
            </p:oleObj>
          </a:graphicData>
        </a:graphic>
      </p:graphicFrame>
      <p:sp>
        <p:nvSpPr>
          <p:cNvPr id="189452" name="Rectangle 12"/>
          <p:cNvSpPr>
            <a:spLocks noChangeArrowheads="1"/>
          </p:cNvSpPr>
          <p:nvPr/>
        </p:nvSpPr>
        <p:spPr bwMode="auto">
          <a:xfrm>
            <a:off x="2051050" y="4868863"/>
            <a:ext cx="1484313" cy="479425"/>
          </a:xfrm>
          <a:prstGeom prst="rect">
            <a:avLst/>
          </a:prstGeom>
          <a:noFill/>
          <a:ln w="9525">
            <a:noFill/>
            <a:miter lim="800000"/>
            <a:headEnd/>
            <a:tailEnd/>
          </a:ln>
        </p:spPr>
        <p:txBody>
          <a:bodyPr>
            <a:spAutoFit/>
          </a:bodyPr>
          <a:lstStyle/>
          <a:p>
            <a:pPr algn="l">
              <a:lnSpc>
                <a:spcPct val="115000"/>
              </a:lnSpc>
            </a:pPr>
            <a:r>
              <a:rPr lang="zh-CN" altLang="en-US" b="1">
                <a:solidFill>
                  <a:schemeClr val="bg1"/>
                </a:solidFill>
                <a:ea typeface="楷体_GB2312" pitchFamily="49" charset="-122"/>
              </a:rPr>
              <a:t>当</a:t>
            </a:r>
            <a:r>
              <a:rPr lang="en-US" altLang="zh-CN" b="1">
                <a:solidFill>
                  <a:schemeClr val="bg1"/>
                </a:solidFill>
                <a:ea typeface="楷体_GB2312" pitchFamily="49" charset="-122"/>
              </a:rPr>
              <a:t> </a:t>
            </a:r>
            <a:r>
              <a:rPr lang="en-US" altLang="zh-CN" b="1" i="1">
                <a:solidFill>
                  <a:schemeClr val="accent2"/>
                </a:solidFill>
                <a:ea typeface="楷体_GB2312" pitchFamily="49" charset="-122"/>
              </a:rPr>
              <a:t>u </a:t>
            </a:r>
            <a:r>
              <a:rPr lang="en-US" altLang="zh-CN" b="1">
                <a:solidFill>
                  <a:schemeClr val="accent2"/>
                </a:solidFill>
                <a:ea typeface="楷体_GB2312" pitchFamily="49" charset="-122"/>
                <a:sym typeface="Symbol" pitchFamily="18" charset="2"/>
              </a:rPr>
              <a:t></a:t>
            </a:r>
            <a:r>
              <a:rPr lang="en-US" altLang="zh-CN" b="1">
                <a:solidFill>
                  <a:schemeClr val="accent2"/>
                </a:solidFill>
                <a:ea typeface="楷体_GB2312" pitchFamily="49" charset="-122"/>
              </a:rPr>
              <a:t> </a:t>
            </a:r>
            <a:r>
              <a:rPr lang="en-US" altLang="zh-CN" b="1" i="1">
                <a:solidFill>
                  <a:schemeClr val="accent2"/>
                </a:solidFill>
                <a:ea typeface="楷体_GB2312" pitchFamily="49" charset="-122"/>
              </a:rPr>
              <a:t>c</a:t>
            </a:r>
          </a:p>
        </p:txBody>
      </p:sp>
      <p:graphicFrame>
        <p:nvGraphicFramePr>
          <p:cNvPr id="189453" name="Object 13"/>
          <p:cNvGraphicFramePr>
            <a:graphicFrameLocks noChangeAspect="1"/>
          </p:cNvGraphicFramePr>
          <p:nvPr/>
        </p:nvGraphicFramePr>
        <p:xfrm>
          <a:off x="4302125" y="5003800"/>
          <a:ext cx="733425" cy="225425"/>
        </p:xfrm>
        <a:graphic>
          <a:graphicData uri="http://schemas.openxmlformats.org/presentationml/2006/ole">
            <p:oleObj spid="_x0000_s24580" name="公式" r:id="rId5" imgW="507780" imgH="152334" progId="Equation.3">
              <p:embed/>
            </p:oleObj>
          </a:graphicData>
        </a:graphic>
      </p:graphicFrame>
      <p:sp>
        <p:nvSpPr>
          <p:cNvPr id="189454" name="Rectangle 14"/>
          <p:cNvSpPr>
            <a:spLocks noChangeArrowheads="1"/>
          </p:cNvSpPr>
          <p:nvPr/>
        </p:nvSpPr>
        <p:spPr bwMode="auto">
          <a:xfrm>
            <a:off x="2051050" y="5499100"/>
            <a:ext cx="1530350" cy="479425"/>
          </a:xfrm>
          <a:prstGeom prst="rect">
            <a:avLst/>
          </a:prstGeom>
          <a:noFill/>
          <a:ln w="9525">
            <a:noFill/>
            <a:miter lim="800000"/>
            <a:headEnd/>
            <a:tailEnd/>
          </a:ln>
        </p:spPr>
        <p:txBody>
          <a:bodyPr>
            <a:spAutoFit/>
          </a:bodyPr>
          <a:lstStyle/>
          <a:p>
            <a:pPr algn="l">
              <a:lnSpc>
                <a:spcPct val="115000"/>
              </a:lnSpc>
            </a:pPr>
            <a:r>
              <a:rPr lang="zh-CN" altLang="en-US" b="1">
                <a:solidFill>
                  <a:schemeClr val="bg1"/>
                </a:solidFill>
                <a:ea typeface="楷体_GB2312" pitchFamily="49" charset="-122"/>
              </a:rPr>
              <a:t>当</a:t>
            </a:r>
            <a:r>
              <a:rPr lang="en-US" altLang="zh-CN" b="1">
                <a:solidFill>
                  <a:schemeClr val="bg1"/>
                </a:solidFill>
                <a:ea typeface="楷体_GB2312" pitchFamily="49" charset="-122"/>
              </a:rPr>
              <a:t> </a:t>
            </a:r>
            <a:r>
              <a:rPr lang="en-US" altLang="zh-CN" b="1" i="1">
                <a:solidFill>
                  <a:schemeClr val="accent2"/>
                </a:solidFill>
                <a:ea typeface="楷体_GB2312" pitchFamily="49" charset="-122"/>
              </a:rPr>
              <a:t>u = 0</a:t>
            </a:r>
          </a:p>
        </p:txBody>
      </p:sp>
      <p:graphicFrame>
        <p:nvGraphicFramePr>
          <p:cNvPr id="189455" name="Object 15"/>
          <p:cNvGraphicFramePr>
            <a:graphicFrameLocks noChangeAspect="1"/>
          </p:cNvGraphicFramePr>
          <p:nvPr/>
        </p:nvGraphicFramePr>
        <p:xfrm>
          <a:off x="4341813" y="5561013"/>
          <a:ext cx="725487" cy="342900"/>
        </p:xfrm>
        <a:graphic>
          <a:graphicData uri="http://schemas.openxmlformats.org/presentationml/2006/ole">
            <p:oleObj spid="_x0000_s24581" name="公式" r:id="rId6" imgW="495085" imgH="228501" progId="Equation.3">
              <p:embed/>
            </p:oleObj>
          </a:graphicData>
        </a:graphic>
      </p:graphicFrame>
      <p:sp>
        <p:nvSpPr>
          <p:cNvPr id="189456" name="AutoShape 16"/>
          <p:cNvSpPr>
            <a:spLocks/>
          </p:cNvSpPr>
          <p:nvPr/>
        </p:nvSpPr>
        <p:spPr bwMode="auto">
          <a:xfrm>
            <a:off x="1916113" y="3833813"/>
            <a:ext cx="180975" cy="1890712"/>
          </a:xfrm>
          <a:prstGeom prst="leftBrace">
            <a:avLst>
              <a:gd name="adj1" fmla="val 87061"/>
              <a:gd name="adj2" fmla="val 50000"/>
            </a:avLst>
          </a:prstGeom>
          <a:noFill/>
          <a:ln w="22225">
            <a:solidFill>
              <a:srgbClr val="0000FF"/>
            </a:solidFill>
            <a:round/>
            <a:headEnd/>
            <a:tailEnd/>
          </a:ln>
        </p:spPr>
        <p:txBody>
          <a:bodyPr wrap="none" tIns="0" anchor="ctr"/>
          <a:lstStyle/>
          <a:p>
            <a:r>
              <a:rPr lang="en-US" altLang="zh-CN"/>
              <a:t> </a:t>
            </a:r>
          </a:p>
        </p:txBody>
      </p:sp>
      <p:sp>
        <p:nvSpPr>
          <p:cNvPr id="189457" name="Rectangle 17"/>
          <p:cNvSpPr>
            <a:spLocks noChangeArrowheads="1"/>
          </p:cNvSpPr>
          <p:nvPr/>
        </p:nvSpPr>
        <p:spPr bwMode="auto">
          <a:xfrm>
            <a:off x="173038" y="5930900"/>
            <a:ext cx="5029200" cy="479425"/>
          </a:xfrm>
          <a:prstGeom prst="rect">
            <a:avLst/>
          </a:prstGeom>
          <a:noFill/>
          <a:ln w="9525">
            <a:noFill/>
            <a:miter lim="800000"/>
            <a:headEnd/>
            <a:tailEnd/>
          </a:ln>
        </p:spPr>
        <p:txBody>
          <a:bodyPr>
            <a:spAutoFit/>
          </a:bodyPr>
          <a:lstStyle/>
          <a:p>
            <a:pPr algn="l">
              <a:lnSpc>
                <a:spcPct val="115000"/>
              </a:lnSpc>
            </a:pPr>
            <a:r>
              <a:rPr lang="en-US" altLang="zh-CN" b="1">
                <a:solidFill>
                  <a:schemeClr val="bg1"/>
                </a:solidFill>
              </a:rPr>
              <a:t>(3)  </a:t>
            </a:r>
            <a:r>
              <a:rPr lang="zh-CN" altLang="en-US" b="1">
                <a:solidFill>
                  <a:schemeClr val="bg1"/>
                </a:solidFill>
              </a:rPr>
              <a:t>光速是物体运动的极限速度</a:t>
            </a:r>
          </a:p>
        </p:txBody>
      </p:sp>
      <p:sp>
        <p:nvSpPr>
          <p:cNvPr id="189458" name="Freeform 18"/>
          <p:cNvSpPr>
            <a:spLocks/>
          </p:cNvSpPr>
          <p:nvPr/>
        </p:nvSpPr>
        <p:spPr bwMode="auto">
          <a:xfrm>
            <a:off x="5921375" y="2859088"/>
            <a:ext cx="2133600" cy="1792287"/>
          </a:xfrm>
          <a:custGeom>
            <a:avLst/>
            <a:gdLst>
              <a:gd name="T0" fmla="*/ 0 w 1344"/>
              <a:gd name="T1" fmla="*/ 2147483647 h 1129"/>
              <a:gd name="T2" fmla="*/ 284778446 w 1344"/>
              <a:gd name="T3" fmla="*/ 2147483647 h 1129"/>
              <a:gd name="T4" fmla="*/ 786288663 w 1344"/>
              <a:gd name="T5" fmla="*/ 2147483647 h 1129"/>
              <a:gd name="T6" fmla="*/ 1257558702 w 1344"/>
              <a:gd name="T7" fmla="*/ 2147483647 h 1129"/>
              <a:gd name="T8" fmla="*/ 1786791720 w 1344"/>
              <a:gd name="T9" fmla="*/ 2147483647 h 1129"/>
              <a:gd name="T10" fmla="*/ 2147483647 w 1344"/>
              <a:gd name="T11" fmla="*/ 2147483647 h 1129"/>
              <a:gd name="T12" fmla="*/ 2147483647 w 1344"/>
              <a:gd name="T13" fmla="*/ 1925398799 h 1129"/>
              <a:gd name="T14" fmla="*/ 2147483647 w 1344"/>
              <a:gd name="T15" fmla="*/ 1547375233 h 1129"/>
              <a:gd name="T16" fmla="*/ 2147483647 w 1344"/>
              <a:gd name="T17" fmla="*/ 1048384651 h 1129"/>
              <a:gd name="T18" fmla="*/ 2147483647 w 1344"/>
              <a:gd name="T19" fmla="*/ 521671377 h 1129"/>
              <a:gd name="T20" fmla="*/ 2147483647 w 1344"/>
              <a:gd name="T21" fmla="*/ 0 h 11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44"/>
              <a:gd name="T34" fmla="*/ 0 h 1129"/>
              <a:gd name="T35" fmla="*/ 1344 w 1344"/>
              <a:gd name="T36" fmla="*/ 1129 h 11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44" h="1129">
                <a:moveTo>
                  <a:pt x="0" y="1124"/>
                </a:moveTo>
                <a:cubicBezTo>
                  <a:pt x="30" y="1126"/>
                  <a:pt x="61" y="1129"/>
                  <a:pt x="113" y="1124"/>
                </a:cubicBezTo>
                <a:cubicBezTo>
                  <a:pt x="165" y="1119"/>
                  <a:pt x="248" y="1107"/>
                  <a:pt x="312" y="1096"/>
                </a:cubicBezTo>
                <a:cubicBezTo>
                  <a:pt x="376" y="1085"/>
                  <a:pt x="433" y="1076"/>
                  <a:pt x="499" y="1057"/>
                </a:cubicBezTo>
                <a:cubicBezTo>
                  <a:pt x="565" y="1038"/>
                  <a:pt x="644" y="1013"/>
                  <a:pt x="709" y="983"/>
                </a:cubicBezTo>
                <a:cubicBezTo>
                  <a:pt x="774" y="953"/>
                  <a:pt x="840" y="911"/>
                  <a:pt x="892" y="874"/>
                </a:cubicBezTo>
                <a:cubicBezTo>
                  <a:pt x="944" y="837"/>
                  <a:pt x="975" y="807"/>
                  <a:pt x="1020" y="764"/>
                </a:cubicBezTo>
                <a:cubicBezTo>
                  <a:pt x="1065" y="721"/>
                  <a:pt x="1119" y="672"/>
                  <a:pt x="1162" y="614"/>
                </a:cubicBezTo>
                <a:cubicBezTo>
                  <a:pt x="1205" y="556"/>
                  <a:pt x="1249" y="484"/>
                  <a:pt x="1276" y="416"/>
                </a:cubicBezTo>
                <a:cubicBezTo>
                  <a:pt x="1303" y="348"/>
                  <a:pt x="1311" y="276"/>
                  <a:pt x="1322" y="207"/>
                </a:cubicBezTo>
                <a:cubicBezTo>
                  <a:pt x="1333" y="138"/>
                  <a:pt x="1340" y="43"/>
                  <a:pt x="1344" y="0"/>
                </a:cubicBezTo>
              </a:path>
            </a:pathLst>
          </a:custGeom>
          <a:noFill/>
          <a:ln w="38100">
            <a:solidFill>
              <a:srgbClr val="3333CC"/>
            </a:solidFill>
            <a:round/>
            <a:headEnd/>
            <a:tailEnd/>
          </a:ln>
        </p:spPr>
        <p:txBody>
          <a:bodyPr/>
          <a:lstStyle/>
          <a:p>
            <a:endParaRPr lang="zh-CN" altLang="en-US"/>
          </a:p>
        </p:txBody>
      </p:sp>
      <p:sp>
        <p:nvSpPr>
          <p:cNvPr id="189459" name="Line 19"/>
          <p:cNvSpPr>
            <a:spLocks noChangeShapeType="1"/>
          </p:cNvSpPr>
          <p:nvPr/>
        </p:nvSpPr>
        <p:spPr bwMode="auto">
          <a:xfrm>
            <a:off x="5921375" y="4643438"/>
            <a:ext cx="2609850" cy="0"/>
          </a:xfrm>
          <a:prstGeom prst="line">
            <a:avLst/>
          </a:prstGeom>
          <a:noFill/>
          <a:ln w="19050">
            <a:solidFill>
              <a:srgbClr val="3333CC"/>
            </a:solidFill>
            <a:round/>
            <a:headEnd/>
            <a:tailEnd/>
          </a:ln>
        </p:spPr>
        <p:txBody>
          <a:bodyPr/>
          <a:lstStyle/>
          <a:p>
            <a:endParaRPr lang="zh-CN" altLang="en-US"/>
          </a:p>
        </p:txBody>
      </p:sp>
      <p:sp>
        <p:nvSpPr>
          <p:cNvPr id="189460" name="Line 20"/>
          <p:cNvSpPr>
            <a:spLocks noChangeShapeType="1"/>
          </p:cNvSpPr>
          <p:nvPr/>
        </p:nvSpPr>
        <p:spPr bwMode="auto">
          <a:xfrm flipV="1">
            <a:off x="8081963" y="2573338"/>
            <a:ext cx="44450" cy="2925762"/>
          </a:xfrm>
          <a:prstGeom prst="line">
            <a:avLst/>
          </a:prstGeom>
          <a:noFill/>
          <a:ln w="19050">
            <a:solidFill>
              <a:srgbClr val="3333CC"/>
            </a:solidFill>
            <a:prstDash val="dash"/>
            <a:round/>
            <a:headEnd/>
            <a:tailEnd/>
          </a:ln>
        </p:spPr>
        <p:txBody>
          <a:bodyPr/>
          <a:lstStyle/>
          <a:p>
            <a:endParaRPr lang="zh-CN" altLang="en-US"/>
          </a:p>
        </p:txBody>
      </p:sp>
      <p:grpSp>
        <p:nvGrpSpPr>
          <p:cNvPr id="2" name="Group 21"/>
          <p:cNvGrpSpPr>
            <a:grpSpLocks/>
          </p:cNvGrpSpPr>
          <p:nvPr/>
        </p:nvGrpSpPr>
        <p:grpSpPr bwMode="auto">
          <a:xfrm>
            <a:off x="5516563" y="2484438"/>
            <a:ext cx="3557587" cy="3149600"/>
            <a:chOff x="3475" y="1565"/>
            <a:chExt cx="2241" cy="1984"/>
          </a:xfrm>
        </p:grpSpPr>
        <p:sp>
          <p:nvSpPr>
            <p:cNvPr id="24605" name="Line 22"/>
            <p:cNvSpPr>
              <a:spLocks noChangeShapeType="1"/>
            </p:cNvSpPr>
            <p:nvPr/>
          </p:nvSpPr>
          <p:spPr bwMode="auto">
            <a:xfrm>
              <a:off x="3730" y="3407"/>
              <a:ext cx="1916" cy="28"/>
            </a:xfrm>
            <a:prstGeom prst="line">
              <a:avLst/>
            </a:prstGeom>
            <a:noFill/>
            <a:ln w="28575">
              <a:solidFill>
                <a:srgbClr val="3333CC"/>
              </a:solidFill>
              <a:round/>
              <a:headEnd/>
              <a:tailEnd type="stealth" w="med" len="lg"/>
            </a:ln>
          </p:spPr>
          <p:txBody>
            <a:bodyPr/>
            <a:lstStyle/>
            <a:p>
              <a:endParaRPr lang="zh-CN" altLang="en-US"/>
            </a:p>
          </p:txBody>
        </p:sp>
        <p:sp>
          <p:nvSpPr>
            <p:cNvPr id="24606" name="Line 23"/>
            <p:cNvSpPr>
              <a:spLocks noChangeShapeType="1"/>
            </p:cNvSpPr>
            <p:nvPr/>
          </p:nvSpPr>
          <p:spPr bwMode="auto">
            <a:xfrm flipV="1">
              <a:off x="3730" y="1621"/>
              <a:ext cx="0" cy="1786"/>
            </a:xfrm>
            <a:prstGeom prst="line">
              <a:avLst/>
            </a:prstGeom>
            <a:noFill/>
            <a:ln w="28575">
              <a:solidFill>
                <a:srgbClr val="3333CC"/>
              </a:solidFill>
              <a:round/>
              <a:headEnd/>
              <a:tailEnd type="stealth" w="med" len="lg"/>
            </a:ln>
          </p:spPr>
          <p:txBody>
            <a:bodyPr/>
            <a:lstStyle/>
            <a:p>
              <a:endParaRPr lang="zh-CN" altLang="en-US"/>
            </a:p>
          </p:txBody>
        </p:sp>
        <p:sp>
          <p:nvSpPr>
            <p:cNvPr id="24607" name="Text Box 24"/>
            <p:cNvSpPr txBox="1">
              <a:spLocks noChangeArrowheads="1"/>
            </p:cNvSpPr>
            <p:nvPr/>
          </p:nvSpPr>
          <p:spPr bwMode="auto">
            <a:xfrm>
              <a:off x="3532" y="3334"/>
              <a:ext cx="227" cy="215"/>
            </a:xfrm>
            <a:prstGeom prst="rect">
              <a:avLst/>
            </a:prstGeom>
            <a:noFill/>
            <a:ln w="9525">
              <a:noFill/>
              <a:miter lim="800000"/>
              <a:headEnd/>
              <a:tailEnd/>
            </a:ln>
          </p:spPr>
          <p:txBody>
            <a:bodyPr lIns="0" tIns="0" rIns="0" bIns="0">
              <a:spAutoFit/>
            </a:bodyPr>
            <a:lstStyle/>
            <a:p>
              <a:pPr>
                <a:lnSpc>
                  <a:spcPct val="80000"/>
                </a:lnSpc>
              </a:pPr>
              <a:r>
                <a:rPr lang="en-US" altLang="zh-CN" sz="2800" b="1" i="1">
                  <a:solidFill>
                    <a:srgbClr val="000099"/>
                  </a:solidFill>
                </a:rPr>
                <a:t>o</a:t>
              </a:r>
            </a:p>
          </p:txBody>
        </p:sp>
        <p:sp>
          <p:nvSpPr>
            <p:cNvPr id="24608" name="Text Box 25"/>
            <p:cNvSpPr txBox="1">
              <a:spLocks noChangeArrowheads="1"/>
            </p:cNvSpPr>
            <p:nvPr/>
          </p:nvSpPr>
          <p:spPr bwMode="auto">
            <a:xfrm>
              <a:off x="3475" y="1565"/>
              <a:ext cx="227" cy="184"/>
            </a:xfrm>
            <a:prstGeom prst="rect">
              <a:avLst/>
            </a:prstGeom>
            <a:noFill/>
            <a:ln w="9525">
              <a:noFill/>
              <a:miter lim="800000"/>
              <a:headEnd/>
              <a:tailEnd/>
            </a:ln>
          </p:spPr>
          <p:txBody>
            <a:bodyPr lIns="0" tIns="0" rIns="0" bIns="0">
              <a:spAutoFit/>
            </a:bodyPr>
            <a:lstStyle/>
            <a:p>
              <a:pPr>
                <a:lnSpc>
                  <a:spcPct val="80000"/>
                </a:lnSpc>
              </a:pPr>
              <a:r>
                <a:rPr lang="en-US" altLang="zh-CN" b="1" i="1">
                  <a:solidFill>
                    <a:srgbClr val="000099"/>
                  </a:solidFill>
                </a:rPr>
                <a:t>m</a:t>
              </a:r>
            </a:p>
          </p:txBody>
        </p:sp>
        <p:sp>
          <p:nvSpPr>
            <p:cNvPr id="24609" name="Text Box 26"/>
            <p:cNvSpPr txBox="1">
              <a:spLocks noChangeArrowheads="1"/>
            </p:cNvSpPr>
            <p:nvPr/>
          </p:nvSpPr>
          <p:spPr bwMode="auto">
            <a:xfrm>
              <a:off x="5375" y="3237"/>
              <a:ext cx="341" cy="184"/>
            </a:xfrm>
            <a:prstGeom prst="rect">
              <a:avLst/>
            </a:prstGeom>
            <a:noFill/>
            <a:ln w="9525">
              <a:noFill/>
              <a:miter lim="800000"/>
              <a:headEnd/>
              <a:tailEnd/>
            </a:ln>
          </p:spPr>
          <p:txBody>
            <a:bodyPr lIns="0" tIns="0" rIns="0" bIns="0">
              <a:spAutoFit/>
            </a:bodyPr>
            <a:lstStyle/>
            <a:p>
              <a:pPr>
                <a:lnSpc>
                  <a:spcPct val="80000"/>
                </a:lnSpc>
              </a:pPr>
              <a:r>
                <a:rPr lang="en-US" altLang="zh-CN" b="1" i="1">
                  <a:solidFill>
                    <a:srgbClr val="000099"/>
                  </a:solidFill>
                </a:rPr>
                <a:t>u/c</a:t>
              </a:r>
            </a:p>
          </p:txBody>
        </p:sp>
      </p:grpSp>
      <p:sp>
        <p:nvSpPr>
          <p:cNvPr id="189467" name="Text Box 27"/>
          <p:cNvSpPr txBox="1">
            <a:spLocks noChangeArrowheads="1"/>
          </p:cNvSpPr>
          <p:nvPr/>
        </p:nvSpPr>
        <p:spPr bwMode="auto">
          <a:xfrm>
            <a:off x="5516563" y="4464050"/>
            <a:ext cx="404812" cy="292100"/>
          </a:xfrm>
          <a:prstGeom prst="rect">
            <a:avLst/>
          </a:prstGeom>
          <a:noFill/>
          <a:ln w="9525">
            <a:noFill/>
            <a:miter lim="800000"/>
            <a:headEnd/>
            <a:tailEnd/>
          </a:ln>
        </p:spPr>
        <p:txBody>
          <a:bodyPr lIns="0" tIns="0" rIns="0" bIns="0">
            <a:spAutoFit/>
          </a:bodyPr>
          <a:lstStyle/>
          <a:p>
            <a:pPr>
              <a:lnSpc>
                <a:spcPct val="80000"/>
              </a:lnSpc>
            </a:pPr>
            <a:r>
              <a:rPr lang="en-US" altLang="zh-CN" b="1" i="1">
                <a:solidFill>
                  <a:srgbClr val="000099"/>
                </a:solidFill>
              </a:rPr>
              <a:t>m</a:t>
            </a:r>
            <a:r>
              <a:rPr lang="en-US" altLang="zh-CN" b="1" baseline="-25000">
                <a:solidFill>
                  <a:srgbClr val="000099"/>
                </a:solidFill>
              </a:rPr>
              <a:t>0</a:t>
            </a:r>
            <a:endParaRPr lang="en-US" altLang="zh-CN" b="1">
              <a:solidFill>
                <a:srgbClr val="000099"/>
              </a:solidFill>
            </a:endParaRPr>
          </a:p>
        </p:txBody>
      </p:sp>
      <p:grpSp>
        <p:nvGrpSpPr>
          <p:cNvPr id="3" name="Group 28"/>
          <p:cNvGrpSpPr>
            <a:grpSpLocks/>
          </p:cNvGrpSpPr>
          <p:nvPr/>
        </p:nvGrpSpPr>
        <p:grpSpPr bwMode="auto">
          <a:xfrm>
            <a:off x="7902575" y="5408613"/>
            <a:ext cx="360363" cy="334962"/>
            <a:chOff x="4978" y="3407"/>
            <a:chExt cx="227" cy="211"/>
          </a:xfrm>
        </p:grpSpPr>
        <p:sp>
          <p:nvSpPr>
            <p:cNvPr id="24603" name="Text Box 29"/>
            <p:cNvSpPr txBox="1">
              <a:spLocks noChangeArrowheads="1"/>
            </p:cNvSpPr>
            <p:nvPr/>
          </p:nvSpPr>
          <p:spPr bwMode="auto">
            <a:xfrm>
              <a:off x="4978" y="3464"/>
              <a:ext cx="227" cy="154"/>
            </a:xfrm>
            <a:prstGeom prst="rect">
              <a:avLst/>
            </a:prstGeom>
            <a:noFill/>
            <a:ln w="9525">
              <a:noFill/>
              <a:miter lim="800000"/>
              <a:headEnd/>
              <a:tailEnd/>
            </a:ln>
          </p:spPr>
          <p:txBody>
            <a:bodyPr lIns="0" tIns="0" rIns="0" bIns="0">
              <a:spAutoFit/>
            </a:bodyPr>
            <a:lstStyle/>
            <a:p>
              <a:pPr>
                <a:lnSpc>
                  <a:spcPct val="80000"/>
                </a:lnSpc>
              </a:pPr>
              <a:r>
                <a:rPr lang="en-US" altLang="zh-CN" sz="2000" b="1">
                  <a:solidFill>
                    <a:srgbClr val="000099"/>
                  </a:solidFill>
                </a:rPr>
                <a:t>1</a:t>
              </a:r>
            </a:p>
          </p:txBody>
        </p:sp>
        <p:sp>
          <p:nvSpPr>
            <p:cNvPr id="24604" name="Oval 30"/>
            <p:cNvSpPr>
              <a:spLocks noChangeArrowheads="1"/>
            </p:cNvSpPr>
            <p:nvPr/>
          </p:nvSpPr>
          <p:spPr bwMode="auto">
            <a:xfrm>
              <a:off x="5063" y="3407"/>
              <a:ext cx="57" cy="57"/>
            </a:xfrm>
            <a:prstGeom prst="ellipse">
              <a:avLst/>
            </a:prstGeom>
            <a:solidFill>
              <a:srgbClr val="000099"/>
            </a:solidFill>
            <a:ln w="9525">
              <a:solidFill>
                <a:srgbClr val="3333CC"/>
              </a:solidFill>
              <a:round/>
              <a:headEnd/>
              <a:tailEnd/>
            </a:ln>
          </p:spPr>
          <p:txBody>
            <a:bodyPr wrap="none" anchor="ctr"/>
            <a:lstStyle/>
            <a:p>
              <a:endParaRPr lang="zh-CN" altLang="en-US"/>
            </a:p>
          </p:txBody>
        </p:sp>
      </p:grpSp>
      <p:grpSp>
        <p:nvGrpSpPr>
          <p:cNvPr id="4" name="Group 31"/>
          <p:cNvGrpSpPr>
            <a:grpSpLocks/>
          </p:cNvGrpSpPr>
          <p:nvPr/>
        </p:nvGrpSpPr>
        <p:grpSpPr bwMode="auto">
          <a:xfrm>
            <a:off x="6821488" y="5408613"/>
            <a:ext cx="450850" cy="379412"/>
            <a:chOff x="4297" y="3407"/>
            <a:chExt cx="284" cy="239"/>
          </a:xfrm>
        </p:grpSpPr>
        <p:sp>
          <p:nvSpPr>
            <p:cNvPr id="24601" name="Text Box 32"/>
            <p:cNvSpPr txBox="1">
              <a:spLocks noChangeArrowheads="1"/>
            </p:cNvSpPr>
            <p:nvPr/>
          </p:nvSpPr>
          <p:spPr bwMode="auto">
            <a:xfrm>
              <a:off x="4297" y="3492"/>
              <a:ext cx="284" cy="154"/>
            </a:xfrm>
            <a:prstGeom prst="rect">
              <a:avLst/>
            </a:prstGeom>
            <a:noFill/>
            <a:ln w="9525">
              <a:noFill/>
              <a:miter lim="800000"/>
              <a:headEnd/>
              <a:tailEnd/>
            </a:ln>
          </p:spPr>
          <p:txBody>
            <a:bodyPr lIns="0" tIns="0" rIns="0" bIns="0">
              <a:spAutoFit/>
            </a:bodyPr>
            <a:lstStyle/>
            <a:p>
              <a:pPr>
                <a:lnSpc>
                  <a:spcPct val="80000"/>
                </a:lnSpc>
              </a:pPr>
              <a:r>
                <a:rPr lang="en-US" altLang="zh-CN" sz="2000" b="1">
                  <a:solidFill>
                    <a:srgbClr val="000099"/>
                  </a:solidFill>
                </a:rPr>
                <a:t>0.5</a:t>
              </a:r>
            </a:p>
          </p:txBody>
        </p:sp>
        <p:sp>
          <p:nvSpPr>
            <p:cNvPr id="24602" name="Oval 33"/>
            <p:cNvSpPr>
              <a:spLocks noChangeArrowheads="1"/>
            </p:cNvSpPr>
            <p:nvPr/>
          </p:nvSpPr>
          <p:spPr bwMode="auto">
            <a:xfrm>
              <a:off x="4383" y="3407"/>
              <a:ext cx="57" cy="57"/>
            </a:xfrm>
            <a:prstGeom prst="ellipse">
              <a:avLst/>
            </a:prstGeom>
            <a:solidFill>
              <a:srgbClr val="000099"/>
            </a:solidFill>
            <a:ln w="9525">
              <a:solidFill>
                <a:srgbClr val="3333CC"/>
              </a:solidFill>
              <a:round/>
              <a:headEnd/>
              <a:tailEnd/>
            </a:ln>
          </p:spPr>
          <p:txBody>
            <a:bodyPr wrap="none" anchor="ct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9442"/>
                                        </p:tgtEl>
                                        <p:attrNameLst>
                                          <p:attrName>style.visibility</p:attrName>
                                        </p:attrNameLst>
                                      </p:cBhvr>
                                      <p:to>
                                        <p:strVal val="visible"/>
                                      </p:to>
                                    </p:set>
                                    <p:animEffect transition="in" filter="wipe(left)">
                                      <p:cBhvr>
                                        <p:cTn id="7" dur="500"/>
                                        <p:tgtEl>
                                          <p:spTgt spid="1894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89443"/>
                                        </p:tgtEl>
                                        <p:attrNameLst>
                                          <p:attrName>style.visibility</p:attrName>
                                        </p:attrNameLst>
                                      </p:cBhvr>
                                      <p:to>
                                        <p:strVal val="visible"/>
                                      </p:to>
                                    </p:set>
                                    <p:animEffect transition="in" filter="wipe(left)">
                                      <p:cBhvr>
                                        <p:cTn id="12" dur="500"/>
                                        <p:tgtEl>
                                          <p:spTgt spid="1894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9444"/>
                                        </p:tgtEl>
                                        <p:attrNameLst>
                                          <p:attrName>style.visibility</p:attrName>
                                        </p:attrNameLst>
                                      </p:cBhvr>
                                      <p:to>
                                        <p:strVal val="visible"/>
                                      </p:to>
                                    </p:set>
                                    <p:animEffect transition="in" filter="wipe(left)">
                                      <p:cBhvr>
                                        <p:cTn id="17" dur="500"/>
                                        <p:tgtEl>
                                          <p:spTgt spid="189444"/>
                                        </p:tgtEl>
                                      </p:cBhvr>
                                    </p:animEffect>
                                  </p:childTnLst>
                                </p:cTn>
                              </p:par>
                            </p:childTnLst>
                          </p:cTn>
                        </p:par>
                        <p:par>
                          <p:cTn id="18" fill="hold" nodeType="afterGroup">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89445"/>
                                        </p:tgtEl>
                                        <p:attrNameLst>
                                          <p:attrName>style.visibility</p:attrName>
                                        </p:attrNameLst>
                                      </p:cBhvr>
                                      <p:to>
                                        <p:strVal val="visible"/>
                                      </p:to>
                                    </p:set>
                                    <p:animEffect transition="in" filter="wipe(left)">
                                      <p:cBhvr>
                                        <p:cTn id="21" dur="500"/>
                                        <p:tgtEl>
                                          <p:spTgt spid="18944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89446"/>
                                        </p:tgtEl>
                                        <p:attrNameLst>
                                          <p:attrName>style.visibility</p:attrName>
                                        </p:attrNameLst>
                                      </p:cBhvr>
                                      <p:to>
                                        <p:strVal val="visible"/>
                                      </p:to>
                                    </p:set>
                                    <p:animEffect transition="in" filter="wipe(left)">
                                      <p:cBhvr>
                                        <p:cTn id="26" dur="500"/>
                                        <p:tgtEl>
                                          <p:spTgt spid="18944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89447"/>
                                        </p:tgtEl>
                                        <p:attrNameLst>
                                          <p:attrName>style.visibility</p:attrName>
                                        </p:attrNameLst>
                                      </p:cBhvr>
                                      <p:to>
                                        <p:strVal val="visible"/>
                                      </p:to>
                                    </p:set>
                                    <p:animEffect transition="in" filter="wipe(left)">
                                      <p:cBhvr>
                                        <p:cTn id="31" dur="500"/>
                                        <p:tgtEl>
                                          <p:spTgt spid="18944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32"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box(out)">
                                      <p:cBhvr>
                                        <p:cTn id="36" dur="1000"/>
                                        <p:tgtEl>
                                          <p:spTgt spid="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89467"/>
                                        </p:tgtEl>
                                        <p:attrNameLst>
                                          <p:attrName>style.visibility</p:attrName>
                                        </p:attrNameLst>
                                      </p:cBhvr>
                                      <p:to>
                                        <p:strVal val="visible"/>
                                      </p:to>
                                    </p:set>
                                    <p:animEffect transition="in" filter="wipe(left)">
                                      <p:cBhvr>
                                        <p:cTn id="41" dur="1000"/>
                                        <p:tgtEl>
                                          <p:spTgt spid="18946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89459"/>
                                        </p:tgtEl>
                                        <p:attrNameLst>
                                          <p:attrName>style.visibility</p:attrName>
                                        </p:attrNameLst>
                                      </p:cBhvr>
                                      <p:to>
                                        <p:strVal val="visible"/>
                                      </p:to>
                                    </p:set>
                                    <p:animEffect transition="in" filter="wipe(left)">
                                      <p:cBhvr>
                                        <p:cTn id="46" dur="1000"/>
                                        <p:tgtEl>
                                          <p:spTgt spid="18945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4"/>
                                        </p:tgtEl>
                                        <p:attrNameLst>
                                          <p:attrName>style.visibility</p:attrName>
                                        </p:attrNameLst>
                                      </p:cBhvr>
                                      <p:to>
                                        <p:strVal val="visible"/>
                                      </p:to>
                                    </p:set>
                                    <p:animEffect transition="in" filter="wipe(left)">
                                      <p:cBhvr>
                                        <p:cTn id="51" dur="1000"/>
                                        <p:tgtEl>
                                          <p:spTgt spid="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3"/>
                                        </p:tgtEl>
                                        <p:attrNameLst>
                                          <p:attrName>style.visibility</p:attrName>
                                        </p:attrNameLst>
                                      </p:cBhvr>
                                      <p:to>
                                        <p:strVal val="visible"/>
                                      </p:to>
                                    </p:set>
                                    <p:animEffect transition="in" filter="wipe(left)">
                                      <p:cBhvr>
                                        <p:cTn id="56" dur="1000"/>
                                        <p:tgtEl>
                                          <p:spTgt spid="3"/>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89460"/>
                                        </p:tgtEl>
                                        <p:attrNameLst>
                                          <p:attrName>style.visibility</p:attrName>
                                        </p:attrNameLst>
                                      </p:cBhvr>
                                      <p:to>
                                        <p:strVal val="visible"/>
                                      </p:to>
                                    </p:set>
                                    <p:animEffect transition="in" filter="wipe(left)">
                                      <p:cBhvr>
                                        <p:cTn id="61" dur="1000"/>
                                        <p:tgtEl>
                                          <p:spTgt spid="189460"/>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89458"/>
                                        </p:tgtEl>
                                        <p:attrNameLst>
                                          <p:attrName>style.visibility</p:attrName>
                                        </p:attrNameLst>
                                      </p:cBhvr>
                                      <p:to>
                                        <p:strVal val="visible"/>
                                      </p:to>
                                    </p:set>
                                    <p:animEffect transition="in" filter="wipe(left)">
                                      <p:cBhvr>
                                        <p:cTn id="66" dur="1000"/>
                                        <p:tgtEl>
                                          <p:spTgt spid="189458"/>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89456"/>
                                        </p:tgtEl>
                                        <p:attrNameLst>
                                          <p:attrName>style.visibility</p:attrName>
                                        </p:attrNameLst>
                                      </p:cBhvr>
                                      <p:to>
                                        <p:strVal val="visible"/>
                                      </p:to>
                                    </p:set>
                                    <p:animEffect transition="in" filter="wipe(left)">
                                      <p:cBhvr>
                                        <p:cTn id="71" dur="500"/>
                                        <p:tgtEl>
                                          <p:spTgt spid="189456"/>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89448"/>
                                        </p:tgtEl>
                                        <p:attrNameLst>
                                          <p:attrName>style.visibility</p:attrName>
                                        </p:attrNameLst>
                                      </p:cBhvr>
                                      <p:to>
                                        <p:strVal val="visible"/>
                                      </p:to>
                                    </p:set>
                                    <p:animEffect transition="in" filter="wipe(left)">
                                      <p:cBhvr>
                                        <p:cTn id="76" dur="500"/>
                                        <p:tgtEl>
                                          <p:spTgt spid="189448"/>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89449"/>
                                        </p:tgtEl>
                                        <p:attrNameLst>
                                          <p:attrName>style.visibility</p:attrName>
                                        </p:attrNameLst>
                                      </p:cBhvr>
                                      <p:to>
                                        <p:strVal val="visible"/>
                                      </p:to>
                                    </p:set>
                                    <p:animEffect transition="in" filter="wipe(left)">
                                      <p:cBhvr>
                                        <p:cTn id="81" dur="500"/>
                                        <p:tgtEl>
                                          <p:spTgt spid="189449"/>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189450"/>
                                        </p:tgtEl>
                                        <p:attrNameLst>
                                          <p:attrName>style.visibility</p:attrName>
                                        </p:attrNameLst>
                                      </p:cBhvr>
                                      <p:to>
                                        <p:strVal val="visible"/>
                                      </p:to>
                                    </p:set>
                                    <p:animEffect transition="in" filter="wipe(left)">
                                      <p:cBhvr>
                                        <p:cTn id="86" dur="500"/>
                                        <p:tgtEl>
                                          <p:spTgt spid="189450"/>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189451"/>
                                        </p:tgtEl>
                                        <p:attrNameLst>
                                          <p:attrName>style.visibility</p:attrName>
                                        </p:attrNameLst>
                                      </p:cBhvr>
                                      <p:to>
                                        <p:strVal val="visible"/>
                                      </p:to>
                                    </p:set>
                                    <p:animEffect transition="in" filter="wipe(left)">
                                      <p:cBhvr>
                                        <p:cTn id="91" dur="500"/>
                                        <p:tgtEl>
                                          <p:spTgt spid="189451"/>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189452"/>
                                        </p:tgtEl>
                                        <p:attrNameLst>
                                          <p:attrName>style.visibility</p:attrName>
                                        </p:attrNameLst>
                                      </p:cBhvr>
                                      <p:to>
                                        <p:strVal val="visible"/>
                                      </p:to>
                                    </p:set>
                                    <p:animEffect transition="in" filter="wipe(left)">
                                      <p:cBhvr>
                                        <p:cTn id="96" dur="500"/>
                                        <p:tgtEl>
                                          <p:spTgt spid="189452"/>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189453"/>
                                        </p:tgtEl>
                                        <p:attrNameLst>
                                          <p:attrName>style.visibility</p:attrName>
                                        </p:attrNameLst>
                                      </p:cBhvr>
                                      <p:to>
                                        <p:strVal val="visible"/>
                                      </p:to>
                                    </p:set>
                                    <p:animEffect transition="in" filter="wipe(left)">
                                      <p:cBhvr>
                                        <p:cTn id="101" dur="500"/>
                                        <p:tgtEl>
                                          <p:spTgt spid="189453"/>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189454"/>
                                        </p:tgtEl>
                                        <p:attrNameLst>
                                          <p:attrName>style.visibility</p:attrName>
                                        </p:attrNameLst>
                                      </p:cBhvr>
                                      <p:to>
                                        <p:strVal val="visible"/>
                                      </p:to>
                                    </p:set>
                                    <p:animEffect transition="in" filter="wipe(left)">
                                      <p:cBhvr>
                                        <p:cTn id="106" dur="500"/>
                                        <p:tgtEl>
                                          <p:spTgt spid="189454"/>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nodeType="clickEffect">
                                  <p:stCondLst>
                                    <p:cond delay="0"/>
                                  </p:stCondLst>
                                  <p:childTnLst>
                                    <p:set>
                                      <p:cBhvr>
                                        <p:cTn id="110" dur="1" fill="hold">
                                          <p:stCondLst>
                                            <p:cond delay="0"/>
                                          </p:stCondLst>
                                        </p:cTn>
                                        <p:tgtEl>
                                          <p:spTgt spid="189455"/>
                                        </p:tgtEl>
                                        <p:attrNameLst>
                                          <p:attrName>style.visibility</p:attrName>
                                        </p:attrNameLst>
                                      </p:cBhvr>
                                      <p:to>
                                        <p:strVal val="visible"/>
                                      </p:to>
                                    </p:set>
                                    <p:animEffect transition="in" filter="wipe(left)">
                                      <p:cBhvr>
                                        <p:cTn id="111" dur="500"/>
                                        <p:tgtEl>
                                          <p:spTgt spid="189455"/>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189457"/>
                                        </p:tgtEl>
                                        <p:attrNameLst>
                                          <p:attrName>style.visibility</p:attrName>
                                        </p:attrNameLst>
                                      </p:cBhvr>
                                      <p:to>
                                        <p:strVal val="visible"/>
                                      </p:to>
                                    </p:set>
                                    <p:animEffect transition="in" filter="wipe(left)">
                                      <p:cBhvr>
                                        <p:cTn id="116" dur="500"/>
                                        <p:tgtEl>
                                          <p:spTgt spid="1894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2" grpId="0"/>
      <p:bldP spid="189444" grpId="0"/>
      <p:bldP spid="189445" grpId="0"/>
      <p:bldP spid="189446" grpId="0" autoUpdateAnimBg="0"/>
      <p:bldP spid="189447" grpId="0" autoUpdateAnimBg="0"/>
      <p:bldP spid="189448" grpId="0" autoUpdateAnimBg="0"/>
      <p:bldP spid="189449" grpId="0" autoUpdateAnimBg="0"/>
      <p:bldP spid="189450" grpId="0" autoUpdateAnimBg="0"/>
      <p:bldP spid="189452" grpId="0" autoUpdateAnimBg="0"/>
      <p:bldP spid="189454" grpId="0" autoUpdateAnimBg="0"/>
      <p:bldP spid="189456" grpId="0" animBg="1"/>
      <p:bldP spid="189457" grpId="0" autoUpdateAnimBg="0"/>
      <p:bldP spid="189458" grpId="0" animBg="1"/>
      <p:bldP spid="189459" grpId="0" animBg="1"/>
      <p:bldP spid="189460" grpId="0" animBg="1"/>
      <p:bldP spid="18946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ChangeArrowheads="1"/>
          </p:cNvSpPr>
          <p:nvPr/>
        </p:nvSpPr>
        <p:spPr bwMode="auto">
          <a:xfrm>
            <a:off x="176213" y="485775"/>
            <a:ext cx="3810000" cy="457200"/>
          </a:xfrm>
          <a:prstGeom prst="rect">
            <a:avLst/>
          </a:prstGeom>
          <a:noFill/>
          <a:ln w="9525">
            <a:noFill/>
            <a:miter lim="800000"/>
            <a:headEnd/>
            <a:tailEnd/>
          </a:ln>
        </p:spPr>
        <p:txBody>
          <a:bodyPr>
            <a:spAutoFit/>
          </a:bodyPr>
          <a:lstStyle/>
          <a:p>
            <a:pPr algn="l">
              <a:spcBef>
                <a:spcPct val="50000"/>
              </a:spcBef>
            </a:pPr>
            <a:r>
              <a:rPr lang="en-US" altLang="zh-CN" b="1">
                <a:solidFill>
                  <a:srgbClr val="0000FF"/>
                </a:solidFill>
              </a:rPr>
              <a:t>4.4.2  </a:t>
            </a:r>
            <a:r>
              <a:rPr lang="zh-CN" altLang="en-US" b="1">
                <a:solidFill>
                  <a:srgbClr val="0000FF"/>
                </a:solidFill>
              </a:rPr>
              <a:t>相对论动量</a:t>
            </a:r>
          </a:p>
        </p:txBody>
      </p:sp>
      <p:sp>
        <p:nvSpPr>
          <p:cNvPr id="190467" name="Text Box 3"/>
          <p:cNvSpPr txBox="1">
            <a:spLocks noChangeArrowheads="1"/>
          </p:cNvSpPr>
          <p:nvPr/>
        </p:nvSpPr>
        <p:spPr bwMode="auto">
          <a:xfrm>
            <a:off x="341313" y="1116013"/>
            <a:ext cx="7723187" cy="479425"/>
          </a:xfrm>
          <a:prstGeom prst="rect">
            <a:avLst/>
          </a:prstGeom>
          <a:noFill/>
          <a:ln w="9525">
            <a:noFill/>
            <a:miter lim="800000"/>
            <a:headEnd/>
            <a:tailEnd/>
          </a:ln>
        </p:spPr>
        <p:txBody>
          <a:bodyPr>
            <a:spAutoFit/>
          </a:bodyPr>
          <a:lstStyle/>
          <a:p>
            <a:pPr algn="l">
              <a:lnSpc>
                <a:spcPct val="115000"/>
              </a:lnSpc>
            </a:pPr>
            <a:r>
              <a:rPr lang="zh-CN" altLang="en-US" b="1">
                <a:solidFill>
                  <a:schemeClr val="bg1"/>
                </a:solidFill>
              </a:rPr>
              <a:t>在相对论中，若仍定义</a:t>
            </a:r>
            <a:r>
              <a:rPr lang="zh-CN" altLang="en-US" b="1">
                <a:solidFill>
                  <a:schemeClr val="accent2"/>
                </a:solidFill>
              </a:rPr>
              <a:t>质点动量为质量与速度的乘积</a:t>
            </a:r>
          </a:p>
        </p:txBody>
      </p:sp>
      <p:graphicFrame>
        <p:nvGraphicFramePr>
          <p:cNvPr id="190468" name="Object 4"/>
          <p:cNvGraphicFramePr>
            <a:graphicFrameLocks noChangeAspect="1"/>
          </p:cNvGraphicFramePr>
          <p:nvPr/>
        </p:nvGraphicFramePr>
        <p:xfrm>
          <a:off x="1827213" y="1808163"/>
          <a:ext cx="4332287" cy="668337"/>
        </p:xfrm>
        <a:graphic>
          <a:graphicData uri="http://schemas.openxmlformats.org/presentationml/2006/ole">
            <p:oleObj spid="_x0000_s25602" name="Equation" r:id="rId3" imgW="1803400" imgH="279400" progId="">
              <p:embed/>
            </p:oleObj>
          </a:graphicData>
        </a:graphic>
      </p:graphicFrame>
      <p:sp>
        <p:nvSpPr>
          <p:cNvPr id="190469" name="Rectangle 5"/>
          <p:cNvSpPr>
            <a:spLocks noChangeArrowheads="1"/>
          </p:cNvSpPr>
          <p:nvPr/>
        </p:nvSpPr>
        <p:spPr bwMode="auto">
          <a:xfrm>
            <a:off x="161925" y="2451100"/>
            <a:ext cx="8802688" cy="933450"/>
          </a:xfrm>
          <a:prstGeom prst="rect">
            <a:avLst/>
          </a:prstGeom>
          <a:noFill/>
          <a:ln w="9525">
            <a:noFill/>
            <a:miter lim="800000"/>
            <a:headEnd/>
            <a:tailEnd/>
          </a:ln>
        </p:spPr>
        <p:txBody>
          <a:bodyPr>
            <a:spAutoFit/>
          </a:bodyPr>
          <a:lstStyle/>
          <a:p>
            <a:pPr algn="l">
              <a:lnSpc>
                <a:spcPct val="115000"/>
              </a:lnSpc>
            </a:pPr>
            <a:r>
              <a:rPr lang="en-US" altLang="zh-CN" b="1">
                <a:solidFill>
                  <a:schemeClr val="bg1"/>
                </a:solidFill>
              </a:rPr>
              <a:t>    </a:t>
            </a:r>
            <a:r>
              <a:rPr lang="zh-CN" altLang="en-US" b="1">
                <a:solidFill>
                  <a:schemeClr val="bg1"/>
                </a:solidFill>
              </a:rPr>
              <a:t>可以证明，该公式保证动量守恒定律在</a:t>
            </a:r>
            <a:r>
              <a:rPr lang="zh-CN" altLang="en-US" b="1"/>
              <a:t>洛伦兹变换下</a:t>
            </a:r>
            <a:r>
              <a:rPr lang="zh-CN" altLang="en-US" b="1">
                <a:solidFill>
                  <a:schemeClr val="bg1"/>
                </a:solidFill>
              </a:rPr>
              <a:t>，对任何惯性系都保持不变性。</a:t>
            </a:r>
          </a:p>
        </p:txBody>
      </p:sp>
      <p:sp>
        <p:nvSpPr>
          <p:cNvPr id="190470" name="Rectangle 6"/>
          <p:cNvSpPr>
            <a:spLocks noChangeArrowheads="1"/>
          </p:cNvSpPr>
          <p:nvPr/>
        </p:nvSpPr>
        <p:spPr bwMode="auto">
          <a:xfrm>
            <a:off x="3716338" y="3429000"/>
            <a:ext cx="1755775" cy="933450"/>
          </a:xfrm>
          <a:prstGeom prst="rect">
            <a:avLst/>
          </a:prstGeom>
          <a:noFill/>
          <a:ln w="9525">
            <a:noFill/>
            <a:miter lim="800000"/>
            <a:headEnd/>
            <a:tailEnd/>
          </a:ln>
        </p:spPr>
        <p:txBody>
          <a:bodyPr>
            <a:spAutoFit/>
          </a:bodyPr>
          <a:lstStyle/>
          <a:p>
            <a:pPr algn="l">
              <a:lnSpc>
                <a:spcPct val="115000"/>
              </a:lnSpc>
            </a:pPr>
            <a:r>
              <a:rPr lang="zh-CN" altLang="en-US" b="1">
                <a:solidFill>
                  <a:schemeClr val="hlink"/>
                </a:solidFill>
              </a:rPr>
              <a:t>相对论动力学基本方程</a:t>
            </a:r>
          </a:p>
        </p:txBody>
      </p:sp>
      <p:sp>
        <p:nvSpPr>
          <p:cNvPr id="190471" name="Rectangle 7"/>
          <p:cNvSpPr>
            <a:spLocks noChangeArrowheads="1"/>
          </p:cNvSpPr>
          <p:nvPr/>
        </p:nvSpPr>
        <p:spPr bwMode="auto">
          <a:xfrm>
            <a:off x="171450" y="4643438"/>
            <a:ext cx="1511300" cy="517525"/>
          </a:xfrm>
          <a:prstGeom prst="rect">
            <a:avLst/>
          </a:prstGeom>
          <a:noFill/>
          <a:ln w="9525">
            <a:noFill/>
            <a:miter lim="800000"/>
            <a:headEnd/>
            <a:tailEnd/>
          </a:ln>
        </p:spPr>
        <p:txBody>
          <a:bodyPr>
            <a:spAutoFit/>
          </a:bodyPr>
          <a:lstStyle/>
          <a:p>
            <a:pPr algn="l">
              <a:lnSpc>
                <a:spcPct val="115000"/>
              </a:lnSpc>
            </a:pPr>
            <a:r>
              <a:rPr lang="zh-CN" altLang="en-US" b="1">
                <a:solidFill>
                  <a:srgbClr val="9900CC"/>
                </a:solidFill>
                <a:ea typeface="楷体_GB2312" pitchFamily="49" charset="-122"/>
              </a:rPr>
              <a:t>低速退化</a:t>
            </a:r>
          </a:p>
        </p:txBody>
      </p:sp>
      <p:sp>
        <p:nvSpPr>
          <p:cNvPr id="190472" name="Rectangle 8"/>
          <p:cNvSpPr>
            <a:spLocks noChangeArrowheads="1"/>
          </p:cNvSpPr>
          <p:nvPr/>
        </p:nvSpPr>
        <p:spPr bwMode="auto">
          <a:xfrm>
            <a:off x="2366963" y="5768975"/>
            <a:ext cx="1890712" cy="479425"/>
          </a:xfrm>
          <a:prstGeom prst="rect">
            <a:avLst/>
          </a:prstGeom>
          <a:noFill/>
          <a:ln w="9525">
            <a:noFill/>
            <a:miter lim="800000"/>
            <a:headEnd/>
            <a:tailEnd/>
          </a:ln>
        </p:spPr>
        <p:txBody>
          <a:bodyPr>
            <a:spAutoFit/>
          </a:bodyPr>
          <a:lstStyle/>
          <a:p>
            <a:pPr algn="l">
              <a:lnSpc>
                <a:spcPct val="115000"/>
              </a:lnSpc>
            </a:pPr>
            <a:r>
              <a:rPr lang="zh-CN" altLang="en-US" b="1">
                <a:solidFill>
                  <a:schemeClr val="bg1"/>
                </a:solidFill>
              </a:rPr>
              <a:t>（经典力学）</a:t>
            </a:r>
          </a:p>
        </p:txBody>
      </p:sp>
      <p:graphicFrame>
        <p:nvGraphicFramePr>
          <p:cNvPr id="190473" name="Object 9"/>
          <p:cNvGraphicFramePr>
            <a:graphicFrameLocks noChangeAspect="1"/>
          </p:cNvGraphicFramePr>
          <p:nvPr/>
        </p:nvGraphicFramePr>
        <p:xfrm>
          <a:off x="1770063" y="4778375"/>
          <a:ext cx="2892425" cy="812800"/>
        </p:xfrm>
        <a:graphic>
          <a:graphicData uri="http://schemas.openxmlformats.org/presentationml/2006/ole">
            <p:oleObj spid="_x0000_s25603" name="Equation" r:id="rId4" imgW="1459866" imgH="393529" progId="">
              <p:embed/>
            </p:oleObj>
          </a:graphicData>
        </a:graphic>
      </p:graphicFrame>
      <p:sp>
        <p:nvSpPr>
          <p:cNvPr id="25611" name="Rectangle 10"/>
          <p:cNvSpPr>
            <a:spLocks noChangeArrowheads="1"/>
          </p:cNvSpPr>
          <p:nvPr/>
        </p:nvSpPr>
        <p:spPr bwMode="auto">
          <a:xfrm>
            <a:off x="0" y="31480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90475" name="Object 11"/>
          <p:cNvGraphicFramePr>
            <a:graphicFrameLocks noChangeAspect="1"/>
          </p:cNvGraphicFramePr>
          <p:nvPr/>
        </p:nvGraphicFramePr>
        <p:xfrm>
          <a:off x="431800" y="3338513"/>
          <a:ext cx="3240088" cy="1214437"/>
        </p:xfrm>
        <a:graphic>
          <a:graphicData uri="http://schemas.openxmlformats.org/presentationml/2006/ole">
            <p:oleObj spid="_x0000_s25604" name="Equation" r:id="rId5" imgW="1625600" imgH="558800" progId="">
              <p:embed/>
            </p:oleObj>
          </a:graphicData>
        </a:graphic>
      </p:graphicFrame>
      <p:sp>
        <p:nvSpPr>
          <p:cNvPr id="190476" name="AutoShape 12"/>
          <p:cNvSpPr>
            <a:spLocks noChangeArrowheads="1"/>
          </p:cNvSpPr>
          <p:nvPr/>
        </p:nvSpPr>
        <p:spPr bwMode="auto">
          <a:xfrm flipV="1">
            <a:off x="296863" y="5094288"/>
            <a:ext cx="1395412" cy="225425"/>
          </a:xfrm>
          <a:prstGeom prst="rightArrow">
            <a:avLst>
              <a:gd name="adj1" fmla="val 50000"/>
              <a:gd name="adj2" fmla="val 154753"/>
            </a:avLst>
          </a:prstGeom>
          <a:solidFill>
            <a:srgbClr val="CCFFFF">
              <a:alpha val="91000"/>
            </a:srgbClr>
          </a:solidFill>
          <a:ln w="9525">
            <a:solidFill>
              <a:srgbClr val="66FFFF"/>
            </a:solidFill>
            <a:miter lim="800000"/>
            <a:headEnd/>
            <a:tailEnd/>
          </a:ln>
          <a:effectLst>
            <a:outerShdw blurRad="63500" dist="38099" dir="2700000" algn="ctr" rotWithShape="0">
              <a:schemeClr val="bg2">
                <a:alpha val="50000"/>
              </a:schemeClr>
            </a:outerShdw>
          </a:effectLst>
        </p:spPr>
        <p:txBody>
          <a:bodyPr rot="10800000" wrap="none" tIns="0" anchor="ctr"/>
          <a:lstStyle/>
          <a:p>
            <a:pPr>
              <a:defRPr/>
            </a:pPr>
            <a:endParaRPr lang="zh-CN" altLang="en-US">
              <a:latin typeface="Times New Roman" charset="0"/>
              <a:ea typeface="宋体" charset="0"/>
            </a:endParaRPr>
          </a:p>
        </p:txBody>
      </p:sp>
      <p:sp>
        <p:nvSpPr>
          <p:cNvPr id="190477" name="Line 13"/>
          <p:cNvSpPr>
            <a:spLocks noChangeShapeType="1"/>
          </p:cNvSpPr>
          <p:nvPr/>
        </p:nvSpPr>
        <p:spPr bwMode="auto">
          <a:xfrm flipV="1">
            <a:off x="7947025" y="3022600"/>
            <a:ext cx="44450" cy="2925763"/>
          </a:xfrm>
          <a:prstGeom prst="line">
            <a:avLst/>
          </a:prstGeom>
          <a:noFill/>
          <a:ln w="19050">
            <a:solidFill>
              <a:srgbClr val="3333CC"/>
            </a:solidFill>
            <a:prstDash val="lgDash"/>
            <a:round/>
            <a:headEnd/>
            <a:tailEnd/>
          </a:ln>
        </p:spPr>
        <p:txBody>
          <a:bodyPr/>
          <a:lstStyle/>
          <a:p>
            <a:endParaRPr lang="zh-CN" altLang="en-US"/>
          </a:p>
        </p:txBody>
      </p:sp>
      <p:grpSp>
        <p:nvGrpSpPr>
          <p:cNvPr id="2" name="Group 14"/>
          <p:cNvGrpSpPr>
            <a:grpSpLocks/>
          </p:cNvGrpSpPr>
          <p:nvPr/>
        </p:nvGrpSpPr>
        <p:grpSpPr bwMode="auto">
          <a:xfrm>
            <a:off x="5381625" y="2933700"/>
            <a:ext cx="3557588" cy="3149600"/>
            <a:chOff x="3475" y="1565"/>
            <a:chExt cx="2241" cy="1984"/>
          </a:xfrm>
        </p:grpSpPr>
        <p:sp>
          <p:nvSpPr>
            <p:cNvPr id="25621" name="Line 15"/>
            <p:cNvSpPr>
              <a:spLocks noChangeShapeType="1"/>
            </p:cNvSpPr>
            <p:nvPr/>
          </p:nvSpPr>
          <p:spPr bwMode="auto">
            <a:xfrm>
              <a:off x="3730" y="3407"/>
              <a:ext cx="1916" cy="28"/>
            </a:xfrm>
            <a:prstGeom prst="line">
              <a:avLst/>
            </a:prstGeom>
            <a:noFill/>
            <a:ln w="28575">
              <a:solidFill>
                <a:srgbClr val="3333CC"/>
              </a:solidFill>
              <a:round/>
              <a:headEnd/>
              <a:tailEnd type="stealth" w="med" len="lg"/>
            </a:ln>
          </p:spPr>
          <p:txBody>
            <a:bodyPr/>
            <a:lstStyle/>
            <a:p>
              <a:endParaRPr lang="zh-CN" altLang="en-US"/>
            </a:p>
          </p:txBody>
        </p:sp>
        <p:sp>
          <p:nvSpPr>
            <p:cNvPr id="25622" name="Line 16"/>
            <p:cNvSpPr>
              <a:spLocks noChangeShapeType="1"/>
            </p:cNvSpPr>
            <p:nvPr/>
          </p:nvSpPr>
          <p:spPr bwMode="auto">
            <a:xfrm flipV="1">
              <a:off x="3730" y="1621"/>
              <a:ext cx="0" cy="1786"/>
            </a:xfrm>
            <a:prstGeom prst="line">
              <a:avLst/>
            </a:prstGeom>
            <a:noFill/>
            <a:ln w="28575">
              <a:solidFill>
                <a:srgbClr val="3333CC"/>
              </a:solidFill>
              <a:round/>
              <a:headEnd/>
              <a:tailEnd type="stealth" w="med" len="lg"/>
            </a:ln>
          </p:spPr>
          <p:txBody>
            <a:bodyPr/>
            <a:lstStyle/>
            <a:p>
              <a:endParaRPr lang="zh-CN" altLang="en-US"/>
            </a:p>
          </p:txBody>
        </p:sp>
        <p:sp>
          <p:nvSpPr>
            <p:cNvPr id="25623" name="Text Box 17"/>
            <p:cNvSpPr txBox="1">
              <a:spLocks noChangeArrowheads="1"/>
            </p:cNvSpPr>
            <p:nvPr/>
          </p:nvSpPr>
          <p:spPr bwMode="auto">
            <a:xfrm>
              <a:off x="3532" y="3334"/>
              <a:ext cx="227" cy="215"/>
            </a:xfrm>
            <a:prstGeom prst="rect">
              <a:avLst/>
            </a:prstGeom>
            <a:noFill/>
            <a:ln w="9525">
              <a:noFill/>
              <a:miter lim="800000"/>
              <a:headEnd/>
              <a:tailEnd/>
            </a:ln>
          </p:spPr>
          <p:txBody>
            <a:bodyPr lIns="0" tIns="0" rIns="0" bIns="0">
              <a:spAutoFit/>
            </a:bodyPr>
            <a:lstStyle/>
            <a:p>
              <a:pPr>
                <a:lnSpc>
                  <a:spcPct val="80000"/>
                </a:lnSpc>
              </a:pPr>
              <a:r>
                <a:rPr lang="en-US" altLang="zh-CN" sz="2800" b="1" i="1">
                  <a:solidFill>
                    <a:srgbClr val="000099"/>
                  </a:solidFill>
                </a:rPr>
                <a:t>o</a:t>
              </a:r>
            </a:p>
          </p:txBody>
        </p:sp>
        <p:sp>
          <p:nvSpPr>
            <p:cNvPr id="25624" name="Text Box 18"/>
            <p:cNvSpPr txBox="1">
              <a:spLocks noChangeArrowheads="1"/>
            </p:cNvSpPr>
            <p:nvPr/>
          </p:nvSpPr>
          <p:spPr bwMode="auto">
            <a:xfrm>
              <a:off x="3475" y="1565"/>
              <a:ext cx="227" cy="184"/>
            </a:xfrm>
            <a:prstGeom prst="rect">
              <a:avLst/>
            </a:prstGeom>
            <a:noFill/>
            <a:ln w="9525">
              <a:noFill/>
              <a:miter lim="800000"/>
              <a:headEnd/>
              <a:tailEnd/>
            </a:ln>
          </p:spPr>
          <p:txBody>
            <a:bodyPr lIns="0" tIns="0" rIns="0" bIns="0">
              <a:spAutoFit/>
            </a:bodyPr>
            <a:lstStyle/>
            <a:p>
              <a:pPr>
                <a:lnSpc>
                  <a:spcPct val="80000"/>
                </a:lnSpc>
              </a:pPr>
              <a:r>
                <a:rPr lang="en-US" altLang="zh-CN" b="1" i="1">
                  <a:solidFill>
                    <a:srgbClr val="000099"/>
                  </a:solidFill>
                </a:rPr>
                <a:t>p</a:t>
              </a:r>
            </a:p>
          </p:txBody>
        </p:sp>
        <p:sp>
          <p:nvSpPr>
            <p:cNvPr id="25625" name="Text Box 19"/>
            <p:cNvSpPr txBox="1">
              <a:spLocks noChangeArrowheads="1"/>
            </p:cNvSpPr>
            <p:nvPr/>
          </p:nvSpPr>
          <p:spPr bwMode="auto">
            <a:xfrm>
              <a:off x="5375" y="3237"/>
              <a:ext cx="341" cy="184"/>
            </a:xfrm>
            <a:prstGeom prst="rect">
              <a:avLst/>
            </a:prstGeom>
            <a:noFill/>
            <a:ln w="9525">
              <a:noFill/>
              <a:miter lim="800000"/>
              <a:headEnd/>
              <a:tailEnd/>
            </a:ln>
          </p:spPr>
          <p:txBody>
            <a:bodyPr lIns="0" tIns="0" rIns="0" bIns="0">
              <a:spAutoFit/>
            </a:bodyPr>
            <a:lstStyle/>
            <a:p>
              <a:pPr>
                <a:lnSpc>
                  <a:spcPct val="80000"/>
                </a:lnSpc>
              </a:pPr>
              <a:r>
                <a:rPr lang="en-US" altLang="zh-CN" b="1" i="1">
                  <a:solidFill>
                    <a:srgbClr val="000099"/>
                  </a:solidFill>
                </a:rPr>
                <a:t>u/c</a:t>
              </a:r>
            </a:p>
          </p:txBody>
        </p:sp>
      </p:grpSp>
      <p:grpSp>
        <p:nvGrpSpPr>
          <p:cNvPr id="3" name="Group 20"/>
          <p:cNvGrpSpPr>
            <a:grpSpLocks/>
          </p:cNvGrpSpPr>
          <p:nvPr/>
        </p:nvGrpSpPr>
        <p:grpSpPr bwMode="auto">
          <a:xfrm>
            <a:off x="7767638" y="5857875"/>
            <a:ext cx="360362" cy="334963"/>
            <a:chOff x="4978" y="3407"/>
            <a:chExt cx="227" cy="211"/>
          </a:xfrm>
        </p:grpSpPr>
        <p:sp>
          <p:nvSpPr>
            <p:cNvPr id="25619" name="Text Box 21"/>
            <p:cNvSpPr txBox="1">
              <a:spLocks noChangeArrowheads="1"/>
            </p:cNvSpPr>
            <p:nvPr/>
          </p:nvSpPr>
          <p:spPr bwMode="auto">
            <a:xfrm>
              <a:off x="4978" y="3464"/>
              <a:ext cx="227" cy="154"/>
            </a:xfrm>
            <a:prstGeom prst="rect">
              <a:avLst/>
            </a:prstGeom>
            <a:noFill/>
            <a:ln w="9525">
              <a:noFill/>
              <a:miter lim="800000"/>
              <a:headEnd/>
              <a:tailEnd/>
            </a:ln>
          </p:spPr>
          <p:txBody>
            <a:bodyPr lIns="0" tIns="0" rIns="0" bIns="0">
              <a:spAutoFit/>
            </a:bodyPr>
            <a:lstStyle/>
            <a:p>
              <a:pPr>
                <a:lnSpc>
                  <a:spcPct val="80000"/>
                </a:lnSpc>
              </a:pPr>
              <a:r>
                <a:rPr lang="en-US" altLang="zh-CN" sz="2000" b="1">
                  <a:solidFill>
                    <a:srgbClr val="000099"/>
                  </a:solidFill>
                </a:rPr>
                <a:t>1</a:t>
              </a:r>
            </a:p>
          </p:txBody>
        </p:sp>
        <p:sp>
          <p:nvSpPr>
            <p:cNvPr id="25620" name="Oval 22"/>
            <p:cNvSpPr>
              <a:spLocks noChangeArrowheads="1"/>
            </p:cNvSpPr>
            <p:nvPr/>
          </p:nvSpPr>
          <p:spPr bwMode="auto">
            <a:xfrm>
              <a:off x="5063" y="3407"/>
              <a:ext cx="57" cy="57"/>
            </a:xfrm>
            <a:prstGeom prst="ellipse">
              <a:avLst/>
            </a:prstGeom>
            <a:solidFill>
              <a:srgbClr val="000099"/>
            </a:solidFill>
            <a:ln w="9525">
              <a:solidFill>
                <a:srgbClr val="3333CC"/>
              </a:solidFill>
              <a:round/>
              <a:headEnd/>
              <a:tailEnd/>
            </a:ln>
          </p:spPr>
          <p:txBody>
            <a:bodyPr wrap="none" anchor="ctr"/>
            <a:lstStyle/>
            <a:p>
              <a:endParaRPr lang="zh-CN" altLang="en-US"/>
            </a:p>
          </p:txBody>
        </p:sp>
      </p:grpSp>
      <p:sp>
        <p:nvSpPr>
          <p:cNvPr id="190487" name="Freeform 23"/>
          <p:cNvSpPr>
            <a:spLocks/>
          </p:cNvSpPr>
          <p:nvPr/>
        </p:nvSpPr>
        <p:spPr bwMode="auto">
          <a:xfrm>
            <a:off x="6462713" y="3338513"/>
            <a:ext cx="1462087" cy="2251075"/>
          </a:xfrm>
          <a:custGeom>
            <a:avLst/>
            <a:gdLst>
              <a:gd name="T0" fmla="*/ 0 w 921"/>
              <a:gd name="T1" fmla="*/ 2147483647 h 1418"/>
              <a:gd name="T2" fmla="*/ 284776789 w 921"/>
              <a:gd name="T3" fmla="*/ 2147483647 h 1418"/>
              <a:gd name="T4" fmla="*/ 642638858 w 921"/>
              <a:gd name="T5" fmla="*/ 2147483647 h 1418"/>
              <a:gd name="T6" fmla="*/ 1000501027 w 921"/>
              <a:gd name="T7" fmla="*/ 2147483647 h 1418"/>
              <a:gd name="T8" fmla="*/ 1537294776 w 921"/>
              <a:gd name="T9" fmla="*/ 2147483647 h 1418"/>
              <a:gd name="T10" fmla="*/ 1905237762 w 921"/>
              <a:gd name="T11" fmla="*/ 1842235172 h 1418"/>
              <a:gd name="T12" fmla="*/ 2137091996 w 921"/>
              <a:gd name="T13" fmla="*/ 1267639348 h 1418"/>
              <a:gd name="T14" fmla="*/ 2147483647 w 921"/>
              <a:gd name="T15" fmla="*/ 667842168 h 1418"/>
              <a:gd name="T16" fmla="*/ 2147483647 w 921"/>
              <a:gd name="T17" fmla="*/ 0 h 14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21"/>
              <a:gd name="T28" fmla="*/ 0 h 1418"/>
              <a:gd name="T29" fmla="*/ 921 w 921"/>
              <a:gd name="T30" fmla="*/ 1418 h 141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21" h="1418">
                <a:moveTo>
                  <a:pt x="0" y="1418"/>
                </a:moveTo>
                <a:cubicBezTo>
                  <a:pt x="35" y="1401"/>
                  <a:pt x="71" y="1385"/>
                  <a:pt x="113" y="1361"/>
                </a:cubicBezTo>
                <a:cubicBezTo>
                  <a:pt x="155" y="1337"/>
                  <a:pt x="208" y="1309"/>
                  <a:pt x="255" y="1276"/>
                </a:cubicBezTo>
                <a:cubicBezTo>
                  <a:pt x="302" y="1243"/>
                  <a:pt x="338" y="1216"/>
                  <a:pt x="397" y="1163"/>
                </a:cubicBezTo>
                <a:cubicBezTo>
                  <a:pt x="456" y="1110"/>
                  <a:pt x="550" y="1032"/>
                  <a:pt x="610" y="960"/>
                </a:cubicBezTo>
                <a:cubicBezTo>
                  <a:pt x="670" y="888"/>
                  <a:pt x="716" y="807"/>
                  <a:pt x="756" y="731"/>
                </a:cubicBezTo>
                <a:cubicBezTo>
                  <a:pt x="796" y="655"/>
                  <a:pt x="825" y="581"/>
                  <a:pt x="848" y="503"/>
                </a:cubicBezTo>
                <a:cubicBezTo>
                  <a:pt x="871" y="425"/>
                  <a:pt x="882" y="349"/>
                  <a:pt x="894" y="265"/>
                </a:cubicBezTo>
                <a:cubicBezTo>
                  <a:pt x="906" y="181"/>
                  <a:pt x="916" y="55"/>
                  <a:pt x="921" y="0"/>
                </a:cubicBezTo>
              </a:path>
            </a:pathLst>
          </a:custGeom>
          <a:noFill/>
          <a:ln w="38100">
            <a:solidFill>
              <a:srgbClr val="000099"/>
            </a:solidFill>
            <a:round/>
            <a:headEnd/>
            <a:tailEnd/>
          </a:ln>
        </p:spPr>
        <p:txBody>
          <a:bodyPr/>
          <a:lstStyle/>
          <a:p>
            <a:endParaRPr lang="zh-CN" altLang="en-US"/>
          </a:p>
        </p:txBody>
      </p:sp>
      <p:sp>
        <p:nvSpPr>
          <p:cNvPr id="190488" name="Line 24"/>
          <p:cNvSpPr>
            <a:spLocks noChangeShapeType="1"/>
          </p:cNvSpPr>
          <p:nvPr/>
        </p:nvSpPr>
        <p:spPr bwMode="auto">
          <a:xfrm flipV="1">
            <a:off x="5786438" y="4689475"/>
            <a:ext cx="2881312" cy="1169988"/>
          </a:xfrm>
          <a:prstGeom prst="line">
            <a:avLst/>
          </a:prstGeom>
          <a:noFill/>
          <a:ln w="38100">
            <a:solidFill>
              <a:srgbClr val="000099"/>
            </a:solidFill>
            <a:prstDash val="sysDot"/>
            <a:round/>
            <a:headEnd/>
            <a:tailEnd/>
          </a:ln>
        </p:spPr>
        <p:txBody>
          <a:bodyPr/>
          <a:lstStyle/>
          <a:p>
            <a:endParaRPr lang="zh-CN" altLang="en-US"/>
          </a:p>
        </p:txBody>
      </p:sp>
      <p:sp>
        <p:nvSpPr>
          <p:cNvPr id="190489" name="Text Box 25"/>
          <p:cNvSpPr txBox="1">
            <a:spLocks noChangeArrowheads="1"/>
          </p:cNvSpPr>
          <p:nvPr/>
        </p:nvSpPr>
        <p:spPr bwMode="auto">
          <a:xfrm>
            <a:off x="7902575" y="4373563"/>
            <a:ext cx="990600" cy="366712"/>
          </a:xfrm>
          <a:prstGeom prst="rect">
            <a:avLst/>
          </a:prstGeom>
          <a:noFill/>
          <a:ln w="9525">
            <a:noFill/>
            <a:miter lim="800000"/>
            <a:headEnd/>
            <a:tailEnd/>
          </a:ln>
        </p:spPr>
        <p:txBody>
          <a:bodyPr>
            <a:spAutoFit/>
          </a:bodyPr>
          <a:lstStyle/>
          <a:p>
            <a:pPr algn="l">
              <a:spcBef>
                <a:spcPct val="50000"/>
              </a:spcBef>
            </a:pPr>
            <a:r>
              <a:rPr lang="en-US" altLang="zh-CN" sz="1800" b="1" i="1">
                <a:solidFill>
                  <a:srgbClr val="000099"/>
                </a:solidFill>
              </a:rPr>
              <a:t>P</a:t>
            </a:r>
            <a:r>
              <a:rPr lang="en-US" altLang="zh-CN" sz="1800">
                <a:solidFill>
                  <a:srgbClr val="000099"/>
                </a:solidFill>
              </a:rPr>
              <a:t> = </a:t>
            </a:r>
            <a:r>
              <a:rPr lang="en-US" altLang="zh-CN" sz="1800" b="1" i="1">
                <a:solidFill>
                  <a:srgbClr val="000099"/>
                </a:solidFill>
              </a:rPr>
              <a:t>m</a:t>
            </a:r>
            <a:r>
              <a:rPr lang="en-US" altLang="zh-CN" sz="1800" baseline="-25000">
                <a:solidFill>
                  <a:srgbClr val="000099"/>
                </a:solidFill>
              </a:rPr>
              <a:t>0</a:t>
            </a:r>
            <a:r>
              <a:rPr lang="en-US" altLang="zh-CN" sz="1800" b="1" i="1">
                <a:solidFill>
                  <a:srgbClr val="000099"/>
                </a:solidFill>
              </a:rPr>
              <a:t>u</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iterate type="wd">
                                    <p:tmPct val="100000"/>
                                  </p:iterate>
                                  <p:childTnLst>
                                    <p:set>
                                      <p:cBhvr>
                                        <p:cTn id="6" dur="1" fill="hold">
                                          <p:stCondLst>
                                            <p:cond delay="0"/>
                                          </p:stCondLst>
                                        </p:cTn>
                                        <p:tgtEl>
                                          <p:spTgt spid="190466"/>
                                        </p:tgtEl>
                                        <p:attrNameLst>
                                          <p:attrName>style.visibility</p:attrName>
                                        </p:attrNameLst>
                                      </p:cBhvr>
                                      <p:to>
                                        <p:strVal val="visible"/>
                                      </p:to>
                                    </p:set>
                                    <p:animEffect transition="in" filter="slide(fromBottom)">
                                      <p:cBhvr>
                                        <p:cTn id="7" dur="300"/>
                                        <p:tgtEl>
                                          <p:spTgt spid="1904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90467"/>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90468"/>
                                        </p:tgtEl>
                                        <p:attrNameLst>
                                          <p:attrName>style.visibility</p:attrName>
                                        </p:attrNameLst>
                                      </p:cBhvr>
                                      <p:to>
                                        <p:strVal val="visible"/>
                                      </p:to>
                                    </p:set>
                                    <p:animEffect transition="in" filter="wipe(left)">
                                      <p:cBhvr>
                                        <p:cTn id="16" dur="500"/>
                                        <p:tgtEl>
                                          <p:spTgt spid="19046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4" fill="hold" grpId="0" nodeType="clickEffect">
                                  <p:stCondLst>
                                    <p:cond delay="0"/>
                                  </p:stCondLst>
                                  <p:iterate type="wd">
                                    <p:tmPct val="100000"/>
                                  </p:iterate>
                                  <p:childTnLst>
                                    <p:set>
                                      <p:cBhvr>
                                        <p:cTn id="20" dur="1" fill="hold">
                                          <p:stCondLst>
                                            <p:cond delay="0"/>
                                          </p:stCondLst>
                                        </p:cTn>
                                        <p:tgtEl>
                                          <p:spTgt spid="190469"/>
                                        </p:tgtEl>
                                        <p:attrNameLst>
                                          <p:attrName>style.visibility</p:attrName>
                                        </p:attrNameLst>
                                      </p:cBhvr>
                                      <p:to>
                                        <p:strVal val="visible"/>
                                      </p:to>
                                    </p:set>
                                    <p:animEffect transition="in" filter="slide(fromBottom)">
                                      <p:cBhvr>
                                        <p:cTn id="21" dur="300"/>
                                        <p:tgtEl>
                                          <p:spTgt spid="19046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left)">
                                      <p:cBhvr>
                                        <p:cTn id="26" dur="1000"/>
                                        <p:tgtEl>
                                          <p:spTgt spid="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left)">
                                      <p:cBhvr>
                                        <p:cTn id="31" dur="1000"/>
                                        <p:tgtEl>
                                          <p:spTgt spid="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90477"/>
                                        </p:tgtEl>
                                        <p:attrNameLst>
                                          <p:attrName>style.visibility</p:attrName>
                                        </p:attrNameLst>
                                      </p:cBhvr>
                                      <p:to>
                                        <p:strVal val="visible"/>
                                      </p:to>
                                    </p:set>
                                    <p:animEffect transition="in" filter="wipe(left)">
                                      <p:cBhvr>
                                        <p:cTn id="36" dur="1000"/>
                                        <p:tgtEl>
                                          <p:spTgt spid="19047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90488"/>
                                        </p:tgtEl>
                                        <p:attrNameLst>
                                          <p:attrName>style.visibility</p:attrName>
                                        </p:attrNameLst>
                                      </p:cBhvr>
                                      <p:to>
                                        <p:strVal val="visible"/>
                                      </p:to>
                                    </p:set>
                                    <p:animEffect transition="in" filter="wipe(left)">
                                      <p:cBhvr>
                                        <p:cTn id="41" dur="1000"/>
                                        <p:tgtEl>
                                          <p:spTgt spid="19048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90489"/>
                                        </p:tgtEl>
                                        <p:attrNameLst>
                                          <p:attrName>style.visibility</p:attrName>
                                        </p:attrNameLst>
                                      </p:cBhvr>
                                      <p:to>
                                        <p:strVal val="visible"/>
                                      </p:to>
                                    </p:set>
                                    <p:animEffect transition="in" filter="wipe(left)">
                                      <p:cBhvr>
                                        <p:cTn id="46" dur="1000"/>
                                        <p:tgtEl>
                                          <p:spTgt spid="19048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90487"/>
                                        </p:tgtEl>
                                        <p:attrNameLst>
                                          <p:attrName>style.visibility</p:attrName>
                                        </p:attrNameLst>
                                      </p:cBhvr>
                                      <p:to>
                                        <p:strVal val="visible"/>
                                      </p:to>
                                    </p:set>
                                    <p:animEffect transition="in" filter="wipe(left)">
                                      <p:cBhvr>
                                        <p:cTn id="51" dur="1000"/>
                                        <p:tgtEl>
                                          <p:spTgt spid="19048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190475"/>
                                        </p:tgtEl>
                                        <p:attrNameLst>
                                          <p:attrName>style.visibility</p:attrName>
                                        </p:attrNameLst>
                                      </p:cBhvr>
                                      <p:to>
                                        <p:strVal val="visible"/>
                                      </p:to>
                                    </p:set>
                                    <p:animEffect transition="in" filter="wipe(left)">
                                      <p:cBhvr>
                                        <p:cTn id="56" dur="1000"/>
                                        <p:tgtEl>
                                          <p:spTgt spid="19047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90470"/>
                                        </p:tgtEl>
                                        <p:attrNameLst>
                                          <p:attrName>style.visibility</p:attrName>
                                        </p:attrNameLst>
                                      </p:cBhvr>
                                      <p:to>
                                        <p:strVal val="visible"/>
                                      </p:to>
                                    </p:set>
                                    <p:animEffect transition="in" filter="wipe(left)">
                                      <p:cBhvr>
                                        <p:cTn id="61" dur="1000"/>
                                        <p:tgtEl>
                                          <p:spTgt spid="190470"/>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90471"/>
                                        </p:tgtEl>
                                        <p:attrNameLst>
                                          <p:attrName>style.visibility</p:attrName>
                                        </p:attrNameLst>
                                      </p:cBhvr>
                                      <p:to>
                                        <p:strVal val="visible"/>
                                      </p:to>
                                    </p:set>
                                    <p:animEffect transition="in" filter="wipe(left)">
                                      <p:cBhvr>
                                        <p:cTn id="66" dur="1000"/>
                                        <p:tgtEl>
                                          <p:spTgt spid="190471"/>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90476"/>
                                        </p:tgtEl>
                                        <p:attrNameLst>
                                          <p:attrName>style.visibility</p:attrName>
                                        </p:attrNameLst>
                                      </p:cBhvr>
                                      <p:to>
                                        <p:strVal val="visible"/>
                                      </p:to>
                                    </p:set>
                                    <p:animEffect transition="in" filter="wipe(left)">
                                      <p:cBhvr>
                                        <p:cTn id="71" dur="1000"/>
                                        <p:tgtEl>
                                          <p:spTgt spid="190476"/>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190473"/>
                                        </p:tgtEl>
                                        <p:attrNameLst>
                                          <p:attrName>style.visibility</p:attrName>
                                        </p:attrNameLst>
                                      </p:cBhvr>
                                      <p:to>
                                        <p:strVal val="visible"/>
                                      </p:to>
                                    </p:set>
                                    <p:animEffect transition="in" filter="wipe(left)">
                                      <p:cBhvr>
                                        <p:cTn id="76" dur="1000"/>
                                        <p:tgtEl>
                                          <p:spTgt spid="190473"/>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90472"/>
                                        </p:tgtEl>
                                        <p:attrNameLst>
                                          <p:attrName>style.visibility</p:attrName>
                                        </p:attrNameLst>
                                      </p:cBhvr>
                                      <p:to>
                                        <p:strVal val="visible"/>
                                      </p:to>
                                    </p:set>
                                    <p:animEffect transition="in" filter="wipe(left)">
                                      <p:cBhvr>
                                        <p:cTn id="81" dur="1000"/>
                                        <p:tgtEl>
                                          <p:spTgt spid="1904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6" grpId="0" autoUpdateAnimBg="0"/>
      <p:bldP spid="190467" grpId="0" autoUpdateAnimBg="0"/>
      <p:bldP spid="190469" grpId="0" autoUpdateAnimBg="0"/>
      <p:bldP spid="190470" grpId="0"/>
      <p:bldP spid="190471" grpId="0"/>
      <p:bldP spid="190472" grpId="0"/>
      <p:bldP spid="190476" grpId="0" animBg="1"/>
      <p:bldP spid="190477" grpId="0" animBg="1"/>
      <p:bldP spid="190487" grpId="0" animBg="1"/>
      <p:bldP spid="190488" grpId="0" animBg="1"/>
      <p:bldP spid="19048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ChangeArrowheads="1"/>
          </p:cNvSpPr>
          <p:nvPr/>
        </p:nvSpPr>
        <p:spPr bwMode="auto">
          <a:xfrm>
            <a:off x="161925" y="1039813"/>
            <a:ext cx="8747125" cy="1354137"/>
          </a:xfrm>
          <a:prstGeom prst="rect">
            <a:avLst/>
          </a:prstGeom>
          <a:noFill/>
          <a:ln w="9525">
            <a:noFill/>
            <a:miter lim="800000"/>
            <a:headEnd/>
            <a:tailEnd/>
          </a:ln>
        </p:spPr>
        <p:txBody>
          <a:bodyPr>
            <a:spAutoFit/>
          </a:bodyPr>
          <a:lstStyle/>
          <a:p>
            <a:pPr algn="l">
              <a:lnSpc>
                <a:spcPct val="115000"/>
              </a:lnSpc>
            </a:pPr>
            <a:r>
              <a:rPr lang="en-US" altLang="zh-CN" b="1">
                <a:solidFill>
                  <a:schemeClr val="bg1"/>
                </a:solidFill>
              </a:rPr>
              <a:t>        </a:t>
            </a:r>
            <a:r>
              <a:rPr lang="zh-CN" altLang="en-US" b="1">
                <a:solidFill>
                  <a:schemeClr val="bg1"/>
                </a:solidFill>
              </a:rPr>
              <a:t>在相对论中，认为动能定理仍适用。若取质点速率为零时动能为零。则质点动能就是其从静止到以</a:t>
            </a:r>
            <a:r>
              <a:rPr lang="en-US" altLang="zh-CN" b="1">
                <a:solidFill>
                  <a:schemeClr val="bg1"/>
                </a:solidFill>
              </a:rPr>
              <a:t> </a:t>
            </a:r>
            <a:r>
              <a:rPr lang="en-US" altLang="zh-CN" b="1" i="1">
                <a:solidFill>
                  <a:schemeClr val="accent2"/>
                </a:solidFill>
              </a:rPr>
              <a:t>v </a:t>
            </a:r>
            <a:r>
              <a:rPr lang="zh-CN" altLang="en-US" b="1">
                <a:solidFill>
                  <a:schemeClr val="bg1"/>
                </a:solidFill>
              </a:rPr>
              <a:t>的速率运动的过程中，</a:t>
            </a:r>
            <a:r>
              <a:rPr lang="zh-CN" altLang="en-US" b="1">
                <a:solidFill>
                  <a:srgbClr val="990000"/>
                </a:solidFill>
              </a:rPr>
              <a:t>合外力所做的功：</a:t>
            </a:r>
          </a:p>
        </p:txBody>
      </p:sp>
      <p:graphicFrame>
        <p:nvGraphicFramePr>
          <p:cNvPr id="191491" name="Object 3"/>
          <p:cNvGraphicFramePr>
            <a:graphicFrameLocks noChangeAspect="1"/>
          </p:cNvGraphicFramePr>
          <p:nvPr/>
        </p:nvGraphicFramePr>
        <p:xfrm>
          <a:off x="566738" y="2349500"/>
          <a:ext cx="2757487" cy="889000"/>
        </p:xfrm>
        <a:graphic>
          <a:graphicData uri="http://schemas.openxmlformats.org/presentationml/2006/ole">
            <p:oleObj spid="_x0000_s26626" name="Equation" r:id="rId3" imgW="1384300" imgH="393700" progId="">
              <p:embed/>
            </p:oleObj>
          </a:graphicData>
        </a:graphic>
      </p:graphicFrame>
      <p:graphicFrame>
        <p:nvGraphicFramePr>
          <p:cNvPr id="191492" name="Object 4"/>
          <p:cNvGraphicFramePr>
            <a:graphicFrameLocks noChangeAspect="1"/>
          </p:cNvGraphicFramePr>
          <p:nvPr/>
        </p:nvGraphicFramePr>
        <p:xfrm>
          <a:off x="3267075" y="2573338"/>
          <a:ext cx="1027113" cy="450850"/>
        </p:xfrm>
        <a:graphic>
          <a:graphicData uri="http://schemas.openxmlformats.org/presentationml/2006/ole">
            <p:oleObj spid="_x0000_s26627" name="公式" r:id="rId4" imgW="494870" imgH="203024" progId="Equation.3">
              <p:embed/>
            </p:oleObj>
          </a:graphicData>
        </a:graphic>
      </p:graphicFrame>
      <p:graphicFrame>
        <p:nvGraphicFramePr>
          <p:cNvPr id="191493" name="Object 5"/>
          <p:cNvGraphicFramePr>
            <a:graphicFrameLocks noChangeAspect="1"/>
          </p:cNvGraphicFramePr>
          <p:nvPr/>
        </p:nvGraphicFramePr>
        <p:xfrm>
          <a:off x="4437063" y="2573338"/>
          <a:ext cx="2430462" cy="450850"/>
        </p:xfrm>
        <a:graphic>
          <a:graphicData uri="http://schemas.openxmlformats.org/presentationml/2006/ole">
            <p:oleObj spid="_x0000_s26628" name="公式" r:id="rId5" imgW="1167893" imgH="215806" progId="Equation.3">
              <p:embed/>
            </p:oleObj>
          </a:graphicData>
        </a:graphic>
      </p:graphicFrame>
      <p:graphicFrame>
        <p:nvGraphicFramePr>
          <p:cNvPr id="191494" name="Object 6"/>
          <p:cNvGraphicFramePr>
            <a:graphicFrameLocks noChangeAspect="1"/>
          </p:cNvGraphicFramePr>
          <p:nvPr/>
        </p:nvGraphicFramePr>
        <p:xfrm>
          <a:off x="6911975" y="2573338"/>
          <a:ext cx="1079500" cy="425450"/>
        </p:xfrm>
        <a:graphic>
          <a:graphicData uri="http://schemas.openxmlformats.org/presentationml/2006/ole">
            <p:oleObj spid="_x0000_s26629" name="公式" r:id="rId6" imgW="507780" imgH="203112" progId="Equation.3">
              <p:embed/>
            </p:oleObj>
          </a:graphicData>
        </a:graphic>
      </p:graphicFrame>
      <p:graphicFrame>
        <p:nvGraphicFramePr>
          <p:cNvPr id="191495" name="Object 7"/>
          <p:cNvGraphicFramePr>
            <a:graphicFrameLocks noChangeAspect="1"/>
          </p:cNvGraphicFramePr>
          <p:nvPr/>
        </p:nvGraphicFramePr>
        <p:xfrm>
          <a:off x="949325" y="3294063"/>
          <a:ext cx="1931988" cy="860425"/>
        </p:xfrm>
        <a:graphic>
          <a:graphicData uri="http://schemas.openxmlformats.org/presentationml/2006/ole">
            <p:oleObj spid="_x0000_s26630" name="Equation" r:id="rId7" imgW="1066800" imgH="457200" progId="">
              <p:embed/>
            </p:oleObj>
          </a:graphicData>
        </a:graphic>
      </p:graphicFrame>
      <p:sp>
        <p:nvSpPr>
          <p:cNvPr id="191496" name="Text Box 8"/>
          <p:cNvSpPr txBox="1">
            <a:spLocks noChangeArrowheads="1"/>
          </p:cNvSpPr>
          <p:nvPr/>
        </p:nvSpPr>
        <p:spPr bwMode="auto">
          <a:xfrm>
            <a:off x="3176588" y="3298825"/>
            <a:ext cx="1422400" cy="479425"/>
          </a:xfrm>
          <a:prstGeom prst="rect">
            <a:avLst/>
          </a:prstGeom>
          <a:noFill/>
          <a:ln w="9525">
            <a:noFill/>
            <a:miter lim="800000"/>
            <a:headEnd/>
            <a:tailEnd/>
          </a:ln>
        </p:spPr>
        <p:txBody>
          <a:bodyPr wrap="none">
            <a:spAutoFit/>
          </a:bodyPr>
          <a:lstStyle/>
          <a:p>
            <a:pPr>
              <a:lnSpc>
                <a:spcPct val="115000"/>
              </a:lnSpc>
            </a:pPr>
            <a:r>
              <a:rPr lang="zh-CN" altLang="en-US" b="1">
                <a:solidFill>
                  <a:schemeClr val="bg1"/>
                </a:solidFill>
              </a:rPr>
              <a:t>两边微分</a:t>
            </a:r>
          </a:p>
        </p:txBody>
      </p:sp>
      <p:sp>
        <p:nvSpPr>
          <p:cNvPr id="191497" name="Line 9"/>
          <p:cNvSpPr>
            <a:spLocks noChangeShapeType="1"/>
          </p:cNvSpPr>
          <p:nvPr/>
        </p:nvSpPr>
        <p:spPr bwMode="auto">
          <a:xfrm>
            <a:off x="2951163" y="3789363"/>
            <a:ext cx="1873250" cy="0"/>
          </a:xfrm>
          <a:prstGeom prst="line">
            <a:avLst/>
          </a:prstGeom>
          <a:noFill/>
          <a:ln w="76200">
            <a:solidFill>
              <a:srgbClr val="66FFFF"/>
            </a:solidFill>
            <a:round/>
            <a:headEnd/>
            <a:tailEnd type="triangle" w="med" len="lg"/>
          </a:ln>
        </p:spPr>
        <p:txBody>
          <a:bodyPr wrap="none" anchor="ctr"/>
          <a:lstStyle/>
          <a:p>
            <a:endParaRPr lang="zh-CN" altLang="en-US"/>
          </a:p>
        </p:txBody>
      </p:sp>
      <p:graphicFrame>
        <p:nvGraphicFramePr>
          <p:cNvPr id="191498" name="Object 10"/>
          <p:cNvGraphicFramePr>
            <a:graphicFrameLocks noChangeAspect="1"/>
          </p:cNvGraphicFramePr>
          <p:nvPr/>
        </p:nvGraphicFramePr>
        <p:xfrm>
          <a:off x="4932363" y="3294063"/>
          <a:ext cx="2235200" cy="855662"/>
        </p:xfrm>
        <a:graphic>
          <a:graphicData uri="http://schemas.openxmlformats.org/presentationml/2006/ole">
            <p:oleObj spid="_x0000_s26631" name="公式" r:id="rId8" imgW="1231366" imgH="406224" progId="Equation.3">
              <p:embed/>
            </p:oleObj>
          </a:graphicData>
        </a:graphic>
      </p:graphicFrame>
      <p:sp>
        <p:nvSpPr>
          <p:cNvPr id="191499" name="Line 11"/>
          <p:cNvSpPr>
            <a:spLocks noChangeShapeType="1"/>
          </p:cNvSpPr>
          <p:nvPr/>
        </p:nvSpPr>
        <p:spPr bwMode="auto">
          <a:xfrm rot="5400000">
            <a:off x="6362700" y="4427538"/>
            <a:ext cx="647700" cy="0"/>
          </a:xfrm>
          <a:prstGeom prst="line">
            <a:avLst/>
          </a:prstGeom>
          <a:noFill/>
          <a:ln w="76200">
            <a:solidFill>
              <a:srgbClr val="66FFFF"/>
            </a:solidFill>
            <a:round/>
            <a:headEnd/>
            <a:tailEnd type="triangle" w="med" len="lg"/>
          </a:ln>
        </p:spPr>
        <p:txBody>
          <a:bodyPr wrap="none" anchor="ctr"/>
          <a:lstStyle/>
          <a:p>
            <a:endParaRPr lang="zh-CN" altLang="en-US"/>
          </a:p>
        </p:txBody>
      </p:sp>
      <p:graphicFrame>
        <p:nvGraphicFramePr>
          <p:cNvPr id="191500" name="Object 12"/>
          <p:cNvGraphicFramePr>
            <a:graphicFrameLocks noChangeAspect="1"/>
          </p:cNvGraphicFramePr>
          <p:nvPr/>
        </p:nvGraphicFramePr>
        <p:xfrm>
          <a:off x="5337175" y="4818063"/>
          <a:ext cx="3105150" cy="546100"/>
        </p:xfrm>
        <a:graphic>
          <a:graphicData uri="http://schemas.openxmlformats.org/presentationml/2006/ole">
            <p:oleObj spid="_x0000_s26632" name="公式" r:id="rId9" imgW="1409700" imgH="228600" progId="Equation.3">
              <p:embed/>
            </p:oleObj>
          </a:graphicData>
        </a:graphic>
      </p:graphicFrame>
      <p:sp>
        <p:nvSpPr>
          <p:cNvPr id="191501" name="Line 13"/>
          <p:cNvSpPr>
            <a:spLocks noChangeShapeType="1"/>
          </p:cNvSpPr>
          <p:nvPr/>
        </p:nvSpPr>
        <p:spPr bwMode="auto">
          <a:xfrm rot="-5400000">
            <a:off x="6623050" y="3949700"/>
            <a:ext cx="1657350" cy="0"/>
          </a:xfrm>
          <a:prstGeom prst="line">
            <a:avLst/>
          </a:prstGeom>
          <a:noFill/>
          <a:ln w="76200">
            <a:solidFill>
              <a:srgbClr val="66FFFF"/>
            </a:solidFill>
            <a:round/>
            <a:headEnd/>
            <a:tailEnd type="triangle" w="med" len="lg"/>
          </a:ln>
        </p:spPr>
        <p:txBody>
          <a:bodyPr wrap="none" anchor="ctr"/>
          <a:lstStyle/>
          <a:p>
            <a:endParaRPr lang="zh-CN" altLang="en-US"/>
          </a:p>
        </p:txBody>
      </p:sp>
      <p:graphicFrame>
        <p:nvGraphicFramePr>
          <p:cNvPr id="191502" name="Object 14"/>
          <p:cNvGraphicFramePr>
            <a:graphicFrameLocks noChangeAspect="1"/>
          </p:cNvGraphicFramePr>
          <p:nvPr/>
        </p:nvGraphicFramePr>
        <p:xfrm>
          <a:off x="657225" y="4643438"/>
          <a:ext cx="3400425" cy="850900"/>
        </p:xfrm>
        <a:graphic>
          <a:graphicData uri="http://schemas.openxmlformats.org/presentationml/2006/ole">
            <p:oleObj spid="_x0000_s26633" name="公式" r:id="rId10" imgW="1637589" imgH="355446" progId="Equation.3">
              <p:embed/>
            </p:oleObj>
          </a:graphicData>
        </a:graphic>
      </p:graphicFrame>
      <p:sp>
        <p:nvSpPr>
          <p:cNvPr id="191503" name="AutoShape 15"/>
          <p:cNvSpPr>
            <a:spLocks noChangeArrowheads="1"/>
          </p:cNvSpPr>
          <p:nvPr/>
        </p:nvSpPr>
        <p:spPr bwMode="auto">
          <a:xfrm>
            <a:off x="522288" y="5768975"/>
            <a:ext cx="868362" cy="315913"/>
          </a:xfrm>
          <a:prstGeom prst="rightArrow">
            <a:avLst>
              <a:gd name="adj1" fmla="val 34806"/>
              <a:gd name="adj2" fmla="val 100380"/>
            </a:avLst>
          </a:prstGeom>
          <a:solidFill>
            <a:srgbClr val="CCFFFF"/>
          </a:solidFill>
          <a:ln w="9525">
            <a:solidFill>
              <a:srgbClr val="66FFFF"/>
            </a:solidFill>
            <a:miter lim="800000"/>
            <a:headEnd/>
            <a:tailEnd/>
          </a:ln>
        </p:spPr>
        <p:txBody>
          <a:bodyPr wrap="none" anchor="ctr"/>
          <a:lstStyle/>
          <a:p>
            <a:endParaRPr lang="zh-CN" altLang="en-US"/>
          </a:p>
        </p:txBody>
      </p:sp>
      <p:graphicFrame>
        <p:nvGraphicFramePr>
          <p:cNvPr id="191504" name="Object 16"/>
          <p:cNvGraphicFramePr>
            <a:graphicFrameLocks noChangeAspect="1"/>
          </p:cNvGraphicFramePr>
          <p:nvPr/>
        </p:nvGraphicFramePr>
        <p:xfrm>
          <a:off x="1601788" y="5724525"/>
          <a:ext cx="2879725" cy="576263"/>
        </p:xfrm>
        <a:graphic>
          <a:graphicData uri="http://schemas.openxmlformats.org/presentationml/2006/ole">
            <p:oleObj spid="_x0000_s26634" name="公式" r:id="rId11" imgW="1206500" imgH="241300" progId="Equation.3">
              <p:embed/>
            </p:oleObj>
          </a:graphicData>
        </a:graphic>
      </p:graphicFrame>
      <p:sp>
        <p:nvSpPr>
          <p:cNvPr id="191505" name="Rectangle 17"/>
          <p:cNvSpPr>
            <a:spLocks noChangeArrowheads="1"/>
          </p:cNvSpPr>
          <p:nvPr/>
        </p:nvSpPr>
        <p:spPr bwMode="auto">
          <a:xfrm>
            <a:off x="4841875" y="5815013"/>
            <a:ext cx="2841625" cy="517525"/>
          </a:xfrm>
          <a:prstGeom prst="rect">
            <a:avLst/>
          </a:prstGeom>
          <a:noFill/>
          <a:ln w="9525">
            <a:noFill/>
            <a:miter lim="800000"/>
            <a:headEnd/>
            <a:tailEnd/>
          </a:ln>
        </p:spPr>
        <p:txBody>
          <a:bodyPr>
            <a:spAutoFit/>
          </a:bodyPr>
          <a:lstStyle/>
          <a:p>
            <a:pPr algn="l">
              <a:lnSpc>
                <a:spcPct val="115000"/>
              </a:lnSpc>
            </a:pPr>
            <a:r>
              <a:rPr lang="zh-CN" altLang="en-US" b="1">
                <a:solidFill>
                  <a:srgbClr val="990000"/>
                </a:solidFill>
              </a:rPr>
              <a:t>相对论动能表达式</a:t>
            </a:r>
          </a:p>
        </p:txBody>
      </p:sp>
      <p:sp>
        <p:nvSpPr>
          <p:cNvPr id="26642" name="Rectangle 18"/>
          <p:cNvSpPr>
            <a:spLocks noChangeArrowheads="1"/>
          </p:cNvSpPr>
          <p:nvPr/>
        </p:nvSpPr>
        <p:spPr bwMode="auto">
          <a:xfrm>
            <a:off x="176213" y="485775"/>
            <a:ext cx="3810000" cy="457200"/>
          </a:xfrm>
          <a:prstGeom prst="rect">
            <a:avLst/>
          </a:prstGeom>
          <a:noFill/>
          <a:ln w="9525">
            <a:noFill/>
            <a:miter lim="800000"/>
            <a:headEnd/>
            <a:tailEnd/>
          </a:ln>
        </p:spPr>
        <p:txBody>
          <a:bodyPr>
            <a:spAutoFit/>
          </a:bodyPr>
          <a:lstStyle/>
          <a:p>
            <a:pPr algn="l">
              <a:spcBef>
                <a:spcPct val="50000"/>
              </a:spcBef>
            </a:pPr>
            <a:r>
              <a:rPr lang="en-US" altLang="zh-CN" b="1">
                <a:solidFill>
                  <a:srgbClr val="0000FF"/>
                </a:solidFill>
              </a:rPr>
              <a:t>4.4.3  </a:t>
            </a:r>
            <a:r>
              <a:rPr lang="zh-CN" altLang="en-US" b="1">
                <a:solidFill>
                  <a:srgbClr val="0000FF"/>
                </a:solidFill>
              </a:rPr>
              <a:t>相对论动能</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1490"/>
                                        </p:tgtEl>
                                        <p:attrNameLst>
                                          <p:attrName>style.visibility</p:attrName>
                                        </p:attrNameLst>
                                      </p:cBhvr>
                                      <p:to>
                                        <p:strVal val="visible"/>
                                      </p:to>
                                    </p:set>
                                    <p:animEffect transition="in" filter="wipe(left)">
                                      <p:cBhvr>
                                        <p:cTn id="7" dur="1000"/>
                                        <p:tgtEl>
                                          <p:spTgt spid="1914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91491"/>
                                        </p:tgtEl>
                                        <p:attrNameLst>
                                          <p:attrName>style.visibility</p:attrName>
                                        </p:attrNameLst>
                                      </p:cBhvr>
                                      <p:to>
                                        <p:strVal val="visible"/>
                                      </p:to>
                                    </p:set>
                                    <p:animEffect transition="in" filter="wipe(left)">
                                      <p:cBhvr>
                                        <p:cTn id="12" dur="500"/>
                                        <p:tgtEl>
                                          <p:spTgt spid="1914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91492"/>
                                        </p:tgtEl>
                                        <p:attrNameLst>
                                          <p:attrName>style.visibility</p:attrName>
                                        </p:attrNameLst>
                                      </p:cBhvr>
                                      <p:to>
                                        <p:strVal val="visible"/>
                                      </p:to>
                                    </p:set>
                                    <p:animEffect transition="in" filter="wipe(left)">
                                      <p:cBhvr>
                                        <p:cTn id="17" dur="500"/>
                                        <p:tgtEl>
                                          <p:spTgt spid="1914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91493"/>
                                        </p:tgtEl>
                                        <p:attrNameLst>
                                          <p:attrName>style.visibility</p:attrName>
                                        </p:attrNameLst>
                                      </p:cBhvr>
                                      <p:to>
                                        <p:strVal val="visible"/>
                                      </p:to>
                                    </p:set>
                                    <p:animEffect transition="in" filter="wipe(left)">
                                      <p:cBhvr>
                                        <p:cTn id="22" dur="500"/>
                                        <p:tgtEl>
                                          <p:spTgt spid="19149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91495"/>
                                        </p:tgtEl>
                                        <p:attrNameLst>
                                          <p:attrName>style.visibility</p:attrName>
                                        </p:attrNameLst>
                                      </p:cBhvr>
                                      <p:to>
                                        <p:strVal val="visible"/>
                                      </p:to>
                                    </p:set>
                                    <p:animEffect transition="in" filter="wipe(left)">
                                      <p:cBhvr>
                                        <p:cTn id="27" dur="500"/>
                                        <p:tgtEl>
                                          <p:spTgt spid="1914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1496"/>
                                        </p:tgtEl>
                                        <p:attrNameLst>
                                          <p:attrName>style.visibility</p:attrName>
                                        </p:attrNameLst>
                                      </p:cBhvr>
                                      <p:to>
                                        <p:strVal val="visible"/>
                                      </p:to>
                                    </p:set>
                                    <p:animEffect transition="in" filter="wipe(left)">
                                      <p:cBhvr>
                                        <p:cTn id="32" dur="500"/>
                                        <p:tgtEl>
                                          <p:spTgt spid="191496"/>
                                        </p:tgtEl>
                                      </p:cBhvr>
                                    </p:animEffect>
                                  </p:childTnLst>
                                </p:cTn>
                              </p:par>
                            </p:childTnLst>
                          </p:cTn>
                        </p:par>
                        <p:par>
                          <p:cTn id="33" fill="hold" nodeType="afterGroup">
                            <p:stCondLst>
                              <p:cond delay="500"/>
                            </p:stCondLst>
                            <p:childTnLst>
                              <p:par>
                                <p:cTn id="34" presetID="22" presetClass="entr" presetSubtype="8" fill="hold" grpId="0" nodeType="afterEffect">
                                  <p:stCondLst>
                                    <p:cond delay="500"/>
                                  </p:stCondLst>
                                  <p:childTnLst>
                                    <p:set>
                                      <p:cBhvr>
                                        <p:cTn id="35" dur="1" fill="hold">
                                          <p:stCondLst>
                                            <p:cond delay="0"/>
                                          </p:stCondLst>
                                        </p:cTn>
                                        <p:tgtEl>
                                          <p:spTgt spid="191497"/>
                                        </p:tgtEl>
                                        <p:attrNameLst>
                                          <p:attrName>style.visibility</p:attrName>
                                        </p:attrNameLst>
                                      </p:cBhvr>
                                      <p:to>
                                        <p:strVal val="visible"/>
                                      </p:to>
                                    </p:set>
                                    <p:animEffect transition="in" filter="wipe(left)">
                                      <p:cBhvr>
                                        <p:cTn id="36" dur="500"/>
                                        <p:tgtEl>
                                          <p:spTgt spid="19149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91498"/>
                                        </p:tgtEl>
                                        <p:attrNameLst>
                                          <p:attrName>style.visibility</p:attrName>
                                        </p:attrNameLst>
                                      </p:cBhvr>
                                      <p:to>
                                        <p:strVal val="visible"/>
                                      </p:to>
                                    </p:set>
                                    <p:animEffect transition="in" filter="wipe(left)">
                                      <p:cBhvr>
                                        <p:cTn id="41" dur="500"/>
                                        <p:tgtEl>
                                          <p:spTgt spid="19149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191499"/>
                                        </p:tgtEl>
                                        <p:attrNameLst>
                                          <p:attrName>style.visibility</p:attrName>
                                        </p:attrNameLst>
                                      </p:cBhvr>
                                      <p:to>
                                        <p:strVal val="visible"/>
                                      </p:to>
                                    </p:set>
                                    <p:animEffect transition="in" filter="wipe(up)">
                                      <p:cBhvr>
                                        <p:cTn id="46" dur="500"/>
                                        <p:tgtEl>
                                          <p:spTgt spid="19149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191500"/>
                                        </p:tgtEl>
                                        <p:attrNameLst>
                                          <p:attrName>style.visibility</p:attrName>
                                        </p:attrNameLst>
                                      </p:cBhvr>
                                      <p:to>
                                        <p:strVal val="visible"/>
                                      </p:to>
                                    </p:set>
                                    <p:animEffect transition="in" filter="wipe(left)">
                                      <p:cBhvr>
                                        <p:cTn id="51" dur="500"/>
                                        <p:tgtEl>
                                          <p:spTgt spid="19150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191501"/>
                                        </p:tgtEl>
                                        <p:attrNameLst>
                                          <p:attrName>style.visibility</p:attrName>
                                        </p:attrNameLst>
                                      </p:cBhvr>
                                      <p:to>
                                        <p:strVal val="visible"/>
                                      </p:to>
                                    </p:set>
                                    <p:animEffect transition="in" filter="wipe(down)">
                                      <p:cBhvr>
                                        <p:cTn id="56" dur="500"/>
                                        <p:tgtEl>
                                          <p:spTgt spid="191501"/>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191494"/>
                                        </p:tgtEl>
                                        <p:attrNameLst>
                                          <p:attrName>style.visibility</p:attrName>
                                        </p:attrNameLst>
                                      </p:cBhvr>
                                      <p:to>
                                        <p:strVal val="visible"/>
                                      </p:to>
                                    </p:set>
                                    <p:animEffect transition="in" filter="wipe(left)">
                                      <p:cBhvr>
                                        <p:cTn id="61" dur="500"/>
                                        <p:tgtEl>
                                          <p:spTgt spid="19149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191502"/>
                                        </p:tgtEl>
                                        <p:attrNameLst>
                                          <p:attrName>style.visibility</p:attrName>
                                        </p:attrNameLst>
                                      </p:cBhvr>
                                      <p:to>
                                        <p:strVal val="visible"/>
                                      </p:to>
                                    </p:set>
                                    <p:animEffect transition="in" filter="wipe(left)">
                                      <p:cBhvr>
                                        <p:cTn id="66" dur="500"/>
                                        <p:tgtEl>
                                          <p:spTgt spid="191502"/>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91503"/>
                                        </p:tgtEl>
                                        <p:attrNameLst>
                                          <p:attrName>style.visibility</p:attrName>
                                        </p:attrNameLst>
                                      </p:cBhvr>
                                      <p:to>
                                        <p:strVal val="visible"/>
                                      </p:to>
                                    </p:set>
                                    <p:animEffect transition="in" filter="wipe(left)">
                                      <p:cBhvr>
                                        <p:cTn id="71" dur="500"/>
                                        <p:tgtEl>
                                          <p:spTgt spid="191503"/>
                                        </p:tgtEl>
                                      </p:cBhvr>
                                    </p:animEffect>
                                  </p:childTnLst>
                                </p:cTn>
                              </p:par>
                            </p:childTnLst>
                          </p:cTn>
                        </p:par>
                        <p:par>
                          <p:cTn id="72" fill="hold" nodeType="afterGroup">
                            <p:stCondLst>
                              <p:cond delay="500"/>
                            </p:stCondLst>
                            <p:childTnLst>
                              <p:par>
                                <p:cTn id="73" presetID="22" presetClass="entr" presetSubtype="8" fill="hold" nodeType="afterEffect">
                                  <p:stCondLst>
                                    <p:cond delay="0"/>
                                  </p:stCondLst>
                                  <p:childTnLst>
                                    <p:set>
                                      <p:cBhvr>
                                        <p:cTn id="74" dur="1" fill="hold">
                                          <p:stCondLst>
                                            <p:cond delay="0"/>
                                          </p:stCondLst>
                                        </p:cTn>
                                        <p:tgtEl>
                                          <p:spTgt spid="191504"/>
                                        </p:tgtEl>
                                        <p:attrNameLst>
                                          <p:attrName>style.visibility</p:attrName>
                                        </p:attrNameLst>
                                      </p:cBhvr>
                                      <p:to>
                                        <p:strVal val="visible"/>
                                      </p:to>
                                    </p:set>
                                    <p:animEffect transition="in" filter="wipe(left)">
                                      <p:cBhvr>
                                        <p:cTn id="75" dur="500"/>
                                        <p:tgtEl>
                                          <p:spTgt spid="191504"/>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91505"/>
                                        </p:tgtEl>
                                        <p:attrNameLst>
                                          <p:attrName>style.visibility</p:attrName>
                                        </p:attrNameLst>
                                      </p:cBhvr>
                                      <p:to>
                                        <p:strVal val="visible"/>
                                      </p:to>
                                    </p:set>
                                    <p:animEffect transition="in" filter="wipe(left)">
                                      <p:cBhvr>
                                        <p:cTn id="80" dur="500"/>
                                        <p:tgtEl>
                                          <p:spTgt spid="1915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0" grpId="0" autoUpdateAnimBg="0"/>
      <p:bldP spid="191496" grpId="0"/>
      <p:bldP spid="191497" grpId="0" animBg="1"/>
      <p:bldP spid="191499" grpId="0" animBg="1"/>
      <p:bldP spid="191501" grpId="0" animBg="1"/>
      <p:bldP spid="191503" grpId="0" animBg="1"/>
      <p:bldP spid="191505"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ChangeArrowheads="1"/>
          </p:cNvSpPr>
          <p:nvPr/>
        </p:nvSpPr>
        <p:spPr bwMode="auto">
          <a:xfrm>
            <a:off x="144463" y="1071563"/>
            <a:ext cx="8388350" cy="479425"/>
          </a:xfrm>
          <a:prstGeom prst="rect">
            <a:avLst/>
          </a:prstGeom>
          <a:noFill/>
          <a:ln w="9525">
            <a:noFill/>
            <a:miter lim="800000"/>
            <a:headEnd/>
            <a:tailEnd/>
          </a:ln>
        </p:spPr>
        <p:txBody>
          <a:bodyPr>
            <a:spAutoFit/>
          </a:bodyPr>
          <a:lstStyle/>
          <a:p>
            <a:pPr algn="l">
              <a:lnSpc>
                <a:spcPct val="115000"/>
              </a:lnSpc>
            </a:pPr>
            <a:r>
              <a:rPr lang="en-US" altLang="zh-CN" b="1">
                <a:solidFill>
                  <a:schemeClr val="bg1"/>
                </a:solidFill>
              </a:rPr>
              <a:t>(1)  </a:t>
            </a:r>
            <a:r>
              <a:rPr lang="zh-CN" altLang="en-US" b="1">
                <a:solidFill>
                  <a:schemeClr val="bg1"/>
                </a:solidFill>
              </a:rPr>
              <a:t>注意相对论动能与经典力学动能的区别和联系</a:t>
            </a:r>
          </a:p>
        </p:txBody>
      </p:sp>
      <p:graphicFrame>
        <p:nvGraphicFramePr>
          <p:cNvPr id="192515" name="Object 3"/>
          <p:cNvGraphicFramePr>
            <a:graphicFrameLocks noChangeAspect="1"/>
          </p:cNvGraphicFramePr>
          <p:nvPr/>
        </p:nvGraphicFramePr>
        <p:xfrm>
          <a:off x="1241425" y="1689100"/>
          <a:ext cx="2503488" cy="541338"/>
        </p:xfrm>
        <a:graphic>
          <a:graphicData uri="http://schemas.openxmlformats.org/presentationml/2006/ole">
            <p:oleObj spid="_x0000_s27650" name="公式" r:id="rId3" imgW="1091726" imgH="241195" progId="Equation.3">
              <p:embed/>
            </p:oleObj>
          </a:graphicData>
        </a:graphic>
      </p:graphicFrame>
      <p:graphicFrame>
        <p:nvGraphicFramePr>
          <p:cNvPr id="192516" name="Object 4"/>
          <p:cNvGraphicFramePr>
            <a:graphicFrameLocks noChangeAspect="1"/>
          </p:cNvGraphicFramePr>
          <p:nvPr/>
        </p:nvGraphicFramePr>
        <p:xfrm>
          <a:off x="4932363" y="1719263"/>
          <a:ext cx="2025650" cy="541337"/>
        </p:xfrm>
        <a:graphic>
          <a:graphicData uri="http://schemas.openxmlformats.org/presentationml/2006/ole">
            <p:oleObj spid="_x0000_s27651" name="公式" r:id="rId4" imgW="876300" imgH="241300" progId="Equation.3">
              <p:embed/>
            </p:oleObj>
          </a:graphicData>
        </a:graphic>
      </p:graphicFrame>
      <p:sp>
        <p:nvSpPr>
          <p:cNvPr id="192517" name="Text Box 5"/>
          <p:cNvSpPr txBox="1">
            <a:spLocks noChangeArrowheads="1"/>
          </p:cNvSpPr>
          <p:nvPr/>
        </p:nvSpPr>
        <p:spPr bwMode="auto">
          <a:xfrm>
            <a:off x="161925" y="414338"/>
            <a:ext cx="1214438" cy="512762"/>
          </a:xfrm>
          <a:prstGeom prst="rect">
            <a:avLst/>
          </a:prstGeom>
          <a:noFill/>
          <a:ln w="9525">
            <a:noFill/>
            <a:miter lim="800000"/>
            <a:headEnd/>
            <a:tailEnd/>
          </a:ln>
        </p:spPr>
        <p:txBody>
          <a:bodyPr>
            <a:spAutoFit/>
          </a:bodyPr>
          <a:lstStyle/>
          <a:p>
            <a:pPr algn="l">
              <a:lnSpc>
                <a:spcPct val="115000"/>
              </a:lnSpc>
            </a:pPr>
            <a:r>
              <a:rPr lang="zh-CN" altLang="en-US" b="1">
                <a:solidFill>
                  <a:schemeClr val="hlink"/>
                </a:solidFill>
              </a:rPr>
              <a:t>讨论：</a:t>
            </a:r>
          </a:p>
        </p:txBody>
      </p:sp>
      <p:sp>
        <p:nvSpPr>
          <p:cNvPr id="192518" name="Text Box 6"/>
          <p:cNvSpPr txBox="1">
            <a:spLocks noChangeArrowheads="1"/>
          </p:cNvSpPr>
          <p:nvPr/>
        </p:nvSpPr>
        <p:spPr bwMode="auto">
          <a:xfrm>
            <a:off x="611188" y="2303463"/>
            <a:ext cx="4321175" cy="477837"/>
          </a:xfrm>
          <a:prstGeom prst="rect">
            <a:avLst/>
          </a:prstGeom>
          <a:noFill/>
          <a:ln w="9525">
            <a:noFill/>
            <a:miter lim="800000"/>
            <a:headEnd/>
            <a:tailEnd/>
          </a:ln>
        </p:spPr>
        <p:txBody>
          <a:bodyPr>
            <a:spAutoFit/>
          </a:bodyPr>
          <a:lstStyle/>
          <a:p>
            <a:pPr algn="l">
              <a:lnSpc>
                <a:spcPct val="115000"/>
              </a:lnSpc>
            </a:pPr>
            <a:r>
              <a:rPr lang="zh-CN" altLang="en-US" b="1">
                <a:solidFill>
                  <a:schemeClr val="bg1"/>
                </a:solidFill>
              </a:rPr>
              <a:t>当</a:t>
            </a:r>
            <a:r>
              <a:rPr lang="en-US" altLang="zh-CN" b="1">
                <a:solidFill>
                  <a:schemeClr val="bg1"/>
                </a:solidFill>
              </a:rPr>
              <a:t> </a:t>
            </a:r>
            <a:r>
              <a:rPr lang="en-US" altLang="zh-CN" b="1" i="1">
                <a:solidFill>
                  <a:schemeClr val="accent2"/>
                </a:solidFill>
              </a:rPr>
              <a:t>v </a:t>
            </a:r>
            <a:r>
              <a:rPr lang="en-US" altLang="zh-CN" b="1">
                <a:solidFill>
                  <a:schemeClr val="accent2"/>
                </a:solidFill>
              </a:rPr>
              <a:t>&lt;&lt; </a:t>
            </a:r>
            <a:r>
              <a:rPr lang="en-US" altLang="zh-CN" b="1" i="1">
                <a:solidFill>
                  <a:schemeClr val="accent2"/>
                </a:solidFill>
              </a:rPr>
              <a:t>c</a:t>
            </a:r>
            <a:r>
              <a:rPr lang="en-US" altLang="zh-CN" b="1" i="1">
                <a:solidFill>
                  <a:srgbClr val="66FFFF"/>
                </a:solidFill>
              </a:rPr>
              <a:t> </a:t>
            </a:r>
            <a:r>
              <a:rPr lang="zh-CN" altLang="en-US" b="1">
                <a:solidFill>
                  <a:schemeClr val="bg1"/>
                </a:solidFill>
              </a:rPr>
              <a:t>时，</a:t>
            </a:r>
            <a:r>
              <a:rPr lang="en-US" altLang="zh-CN" b="1" i="1">
                <a:solidFill>
                  <a:schemeClr val="accent2"/>
                </a:solidFill>
                <a:sym typeface="Symbol" pitchFamily="18" charset="2"/>
              </a:rPr>
              <a:t>v</a:t>
            </a:r>
            <a:r>
              <a:rPr lang="en-US" altLang="zh-CN" b="1" baseline="30000">
                <a:solidFill>
                  <a:schemeClr val="accent2"/>
                </a:solidFill>
                <a:sym typeface="Symbol" pitchFamily="18" charset="2"/>
              </a:rPr>
              <a:t>2</a:t>
            </a:r>
            <a:r>
              <a:rPr lang="en-US" altLang="zh-CN" b="1">
                <a:solidFill>
                  <a:schemeClr val="accent2"/>
                </a:solidFill>
                <a:sym typeface="Symbol" pitchFamily="18" charset="2"/>
              </a:rPr>
              <a:t>/</a:t>
            </a:r>
            <a:r>
              <a:rPr lang="en-US" altLang="zh-CN" b="1" i="1">
                <a:solidFill>
                  <a:schemeClr val="accent2"/>
                </a:solidFill>
                <a:sym typeface="Symbol" pitchFamily="18" charset="2"/>
              </a:rPr>
              <a:t>c</a:t>
            </a:r>
            <a:r>
              <a:rPr lang="en-US" altLang="zh-CN" b="1" baseline="30000">
                <a:solidFill>
                  <a:schemeClr val="accent2"/>
                </a:solidFill>
                <a:sym typeface="Symbol" pitchFamily="18" charset="2"/>
              </a:rPr>
              <a:t>2</a:t>
            </a:r>
            <a:r>
              <a:rPr lang="en-US" altLang="zh-CN" b="1">
                <a:solidFill>
                  <a:schemeClr val="accent2"/>
                </a:solidFill>
                <a:sym typeface="Symbol" pitchFamily="18" charset="2"/>
              </a:rPr>
              <a:t> 0</a:t>
            </a:r>
            <a:r>
              <a:rPr lang="en-US" altLang="zh-CN" b="1">
                <a:solidFill>
                  <a:srgbClr val="66FFFF"/>
                </a:solidFill>
                <a:sym typeface="Symbol" pitchFamily="18" charset="2"/>
              </a:rPr>
              <a:t> </a:t>
            </a:r>
            <a:r>
              <a:rPr lang="zh-CN" altLang="en-US" b="1">
                <a:sym typeface="Symbol" pitchFamily="18" charset="2"/>
              </a:rPr>
              <a:t>，</a:t>
            </a:r>
            <a:r>
              <a:rPr lang="zh-CN" altLang="en-US" b="1">
                <a:solidFill>
                  <a:schemeClr val="bg1"/>
                </a:solidFill>
              </a:rPr>
              <a:t>有</a:t>
            </a:r>
            <a:endParaRPr lang="zh-CN" altLang="en-US" b="1" baseline="-25000">
              <a:solidFill>
                <a:schemeClr val="bg1"/>
              </a:solidFill>
            </a:endParaRPr>
          </a:p>
        </p:txBody>
      </p:sp>
      <p:graphicFrame>
        <p:nvGraphicFramePr>
          <p:cNvPr id="192519" name="Object 7"/>
          <p:cNvGraphicFramePr>
            <a:graphicFrameLocks noChangeAspect="1"/>
          </p:cNvGraphicFramePr>
          <p:nvPr/>
        </p:nvGraphicFramePr>
        <p:xfrm>
          <a:off x="341313" y="2798763"/>
          <a:ext cx="3832225" cy="1050925"/>
        </p:xfrm>
        <a:graphic>
          <a:graphicData uri="http://schemas.openxmlformats.org/presentationml/2006/ole">
            <p:oleObj spid="_x0000_s27652" name="公式" r:id="rId5" imgW="1726451" imgH="495085" progId="Equation.3">
              <p:embed/>
            </p:oleObj>
          </a:graphicData>
        </a:graphic>
      </p:graphicFrame>
      <p:graphicFrame>
        <p:nvGraphicFramePr>
          <p:cNvPr id="192520" name="Object 8"/>
          <p:cNvGraphicFramePr>
            <a:graphicFrameLocks noChangeAspect="1"/>
          </p:cNvGraphicFramePr>
          <p:nvPr/>
        </p:nvGraphicFramePr>
        <p:xfrm>
          <a:off x="971550" y="4014788"/>
          <a:ext cx="4432300" cy="889000"/>
        </p:xfrm>
        <a:graphic>
          <a:graphicData uri="http://schemas.openxmlformats.org/presentationml/2006/ole">
            <p:oleObj spid="_x0000_s27653" name="公式" r:id="rId6" imgW="1993900" imgH="419100" progId="Equation.3">
              <p:embed/>
            </p:oleObj>
          </a:graphicData>
        </a:graphic>
      </p:graphicFrame>
      <p:graphicFrame>
        <p:nvGraphicFramePr>
          <p:cNvPr id="192521" name="Object 9"/>
          <p:cNvGraphicFramePr>
            <a:graphicFrameLocks noChangeAspect="1"/>
          </p:cNvGraphicFramePr>
          <p:nvPr/>
        </p:nvGraphicFramePr>
        <p:xfrm>
          <a:off x="5427663" y="4103688"/>
          <a:ext cx="1155700" cy="892175"/>
        </p:xfrm>
        <a:graphic>
          <a:graphicData uri="http://schemas.openxmlformats.org/presentationml/2006/ole">
            <p:oleObj spid="_x0000_s27654" name="公式" r:id="rId7" imgW="520700" imgH="419100" progId="Equation.3">
              <p:embed/>
            </p:oleObj>
          </a:graphicData>
        </a:graphic>
      </p:graphicFrame>
      <p:sp>
        <p:nvSpPr>
          <p:cNvPr id="192522" name="AutoShape 10"/>
          <p:cNvSpPr>
            <a:spLocks noChangeArrowheads="1"/>
          </p:cNvSpPr>
          <p:nvPr/>
        </p:nvSpPr>
        <p:spPr bwMode="auto">
          <a:xfrm>
            <a:off x="4927600" y="2851150"/>
            <a:ext cx="2266950" cy="938213"/>
          </a:xfrm>
          <a:prstGeom prst="wedgeRectCallout">
            <a:avLst>
              <a:gd name="adj1" fmla="val -20060"/>
              <a:gd name="adj2" fmla="val 113310"/>
            </a:avLst>
          </a:prstGeom>
          <a:solidFill>
            <a:srgbClr val="99FF99">
              <a:alpha val="18823"/>
            </a:srgbClr>
          </a:solidFill>
          <a:ln w="9525">
            <a:solidFill>
              <a:srgbClr val="66FFFF"/>
            </a:solidFill>
            <a:miter lim="800000"/>
            <a:headEnd/>
            <a:tailEnd/>
          </a:ln>
        </p:spPr>
        <p:txBody>
          <a:bodyPr/>
          <a:lstStyle/>
          <a:p>
            <a:pPr>
              <a:lnSpc>
                <a:spcPct val="115000"/>
              </a:lnSpc>
            </a:pPr>
            <a:r>
              <a:rPr lang="zh-CN" altLang="en-US" b="1">
                <a:solidFill>
                  <a:schemeClr val="bg1"/>
                </a:solidFill>
              </a:rPr>
              <a:t>牛顿力学中的动能公式</a:t>
            </a:r>
          </a:p>
        </p:txBody>
      </p:sp>
      <p:graphicFrame>
        <p:nvGraphicFramePr>
          <p:cNvPr id="192523" name="Object 11"/>
          <p:cNvGraphicFramePr>
            <a:graphicFrameLocks noChangeAspect="1"/>
          </p:cNvGraphicFramePr>
          <p:nvPr/>
        </p:nvGraphicFramePr>
        <p:xfrm>
          <a:off x="7451725" y="3338513"/>
          <a:ext cx="1035050" cy="322262"/>
        </p:xfrm>
        <a:graphic>
          <a:graphicData uri="http://schemas.openxmlformats.org/presentationml/2006/ole">
            <p:oleObj spid="_x0000_s27655" name="公式" r:id="rId8" imgW="444307" imgH="139639" progId="Equation.3">
              <p:embed/>
            </p:oleObj>
          </a:graphicData>
        </a:graphic>
      </p:graphicFrame>
      <p:sp>
        <p:nvSpPr>
          <p:cNvPr id="192524" name="Rectangle 12"/>
          <p:cNvSpPr>
            <a:spLocks noChangeArrowheads="1"/>
          </p:cNvSpPr>
          <p:nvPr/>
        </p:nvSpPr>
        <p:spPr bwMode="auto">
          <a:xfrm>
            <a:off x="7632700" y="3743325"/>
            <a:ext cx="1028700" cy="941388"/>
          </a:xfrm>
          <a:prstGeom prst="rect">
            <a:avLst/>
          </a:prstGeom>
          <a:noFill/>
          <a:ln w="9525">
            <a:noFill/>
            <a:miter lim="800000"/>
            <a:headEnd/>
            <a:tailEnd/>
          </a:ln>
        </p:spPr>
        <p:txBody>
          <a:bodyPr>
            <a:spAutoFit/>
          </a:bodyPr>
          <a:lstStyle/>
          <a:p>
            <a:pPr algn="l">
              <a:lnSpc>
                <a:spcPct val="115000"/>
              </a:lnSpc>
            </a:pPr>
            <a:r>
              <a:rPr lang="zh-CN" altLang="en-US" b="1">
                <a:solidFill>
                  <a:schemeClr val="hlink"/>
                </a:solidFill>
              </a:rPr>
              <a:t>出现</a:t>
            </a:r>
            <a:endParaRPr lang="en-US" altLang="zh-CN" b="1">
              <a:solidFill>
                <a:schemeClr val="hlink"/>
              </a:solidFill>
            </a:endParaRPr>
          </a:p>
          <a:p>
            <a:pPr algn="l">
              <a:lnSpc>
                <a:spcPct val="115000"/>
              </a:lnSpc>
            </a:pPr>
            <a:r>
              <a:rPr lang="zh-CN" altLang="en-US" b="1">
                <a:solidFill>
                  <a:schemeClr val="hlink"/>
                </a:solidFill>
              </a:rPr>
              <a:t>退化</a:t>
            </a:r>
          </a:p>
        </p:txBody>
      </p:sp>
      <p:sp>
        <p:nvSpPr>
          <p:cNvPr id="192525" name="Rectangle 13"/>
          <p:cNvSpPr>
            <a:spLocks noChangeArrowheads="1"/>
          </p:cNvSpPr>
          <p:nvPr/>
        </p:nvSpPr>
        <p:spPr bwMode="auto">
          <a:xfrm>
            <a:off x="176213" y="5138738"/>
            <a:ext cx="8805862" cy="933450"/>
          </a:xfrm>
          <a:prstGeom prst="rect">
            <a:avLst/>
          </a:prstGeom>
          <a:noFill/>
          <a:ln w="9525">
            <a:noFill/>
            <a:miter lim="800000"/>
            <a:headEnd/>
            <a:tailEnd/>
          </a:ln>
        </p:spPr>
        <p:txBody>
          <a:bodyPr>
            <a:spAutoFit/>
          </a:bodyPr>
          <a:lstStyle/>
          <a:p>
            <a:pPr marL="450850" indent="-450850" algn="l">
              <a:lnSpc>
                <a:spcPct val="115000"/>
              </a:lnSpc>
            </a:pPr>
            <a:r>
              <a:rPr lang="en-US" altLang="zh-CN" b="1">
                <a:solidFill>
                  <a:schemeClr val="bg1"/>
                </a:solidFill>
              </a:rPr>
              <a:t>(2)  </a:t>
            </a:r>
            <a:r>
              <a:rPr lang="zh-CN" altLang="en-US" b="1">
                <a:solidFill>
                  <a:schemeClr val="bg1"/>
                </a:solidFill>
              </a:rPr>
              <a:t>当</a:t>
            </a:r>
            <a:r>
              <a:rPr lang="en-US" altLang="zh-CN" b="1" i="1">
                <a:solidFill>
                  <a:schemeClr val="accent2"/>
                </a:solidFill>
              </a:rPr>
              <a:t>v </a:t>
            </a:r>
            <a:r>
              <a:rPr lang="en-US" altLang="zh-CN" b="1">
                <a:solidFill>
                  <a:schemeClr val="accent2"/>
                </a:solidFill>
                <a:sym typeface="Symbol" pitchFamily="18" charset="2"/>
              </a:rPr>
              <a:t></a:t>
            </a:r>
            <a:r>
              <a:rPr lang="en-US" altLang="zh-CN" b="1">
                <a:solidFill>
                  <a:schemeClr val="accent2"/>
                </a:solidFill>
              </a:rPr>
              <a:t> </a:t>
            </a:r>
            <a:r>
              <a:rPr lang="en-US" altLang="zh-CN" b="1" i="1">
                <a:solidFill>
                  <a:schemeClr val="accent2"/>
                </a:solidFill>
              </a:rPr>
              <a:t>c</a:t>
            </a:r>
            <a:r>
              <a:rPr lang="zh-CN" altLang="en-US" b="1">
                <a:solidFill>
                  <a:schemeClr val="bg1"/>
                </a:solidFill>
              </a:rPr>
              <a:t>，</a:t>
            </a:r>
            <a:r>
              <a:rPr lang="en-US" altLang="zh-CN" b="1" i="1">
                <a:solidFill>
                  <a:schemeClr val="accent2"/>
                </a:solidFill>
              </a:rPr>
              <a:t>E</a:t>
            </a:r>
            <a:r>
              <a:rPr lang="en-US" altLang="zh-CN" b="1" i="1" baseline="-25000">
                <a:solidFill>
                  <a:schemeClr val="accent2"/>
                </a:solidFill>
              </a:rPr>
              <a:t>k</a:t>
            </a:r>
            <a:r>
              <a:rPr lang="en-US" altLang="zh-CN" b="1">
                <a:solidFill>
                  <a:schemeClr val="accent2"/>
                </a:solidFill>
              </a:rPr>
              <a:t> </a:t>
            </a:r>
            <a:r>
              <a:rPr lang="en-US" altLang="zh-CN" b="1">
                <a:solidFill>
                  <a:schemeClr val="accent2"/>
                </a:solidFill>
                <a:sym typeface="Symbol" pitchFamily="18" charset="2"/>
              </a:rPr>
              <a:t> </a:t>
            </a:r>
            <a:r>
              <a:rPr lang="en-US" altLang="zh-CN" b="1">
                <a:solidFill>
                  <a:schemeClr val="bg1"/>
                </a:solidFill>
                <a:sym typeface="Symbol" pitchFamily="18" charset="2"/>
              </a:rPr>
              <a:t> </a:t>
            </a:r>
            <a:r>
              <a:rPr lang="zh-CN" altLang="en-US" b="1">
                <a:solidFill>
                  <a:schemeClr val="bg1"/>
                </a:solidFill>
              </a:rPr>
              <a:t>，意味着将一个静止质量不为零的粒子，使其速度达到光速，是不可能的。</a:t>
            </a:r>
          </a:p>
        </p:txBody>
      </p:sp>
      <p:sp>
        <p:nvSpPr>
          <p:cNvPr id="192526" name="AutoShape 14"/>
          <p:cNvSpPr>
            <a:spLocks noChangeArrowheads="1"/>
          </p:cNvSpPr>
          <p:nvPr/>
        </p:nvSpPr>
        <p:spPr bwMode="auto">
          <a:xfrm>
            <a:off x="3806825" y="1854200"/>
            <a:ext cx="1035050" cy="269875"/>
          </a:xfrm>
          <a:prstGeom prst="leftRightArrow">
            <a:avLst>
              <a:gd name="adj1" fmla="val 50000"/>
              <a:gd name="adj2" fmla="val 76706"/>
            </a:avLst>
          </a:prstGeom>
          <a:solidFill>
            <a:srgbClr val="CCFFFF"/>
          </a:solidFill>
          <a:ln w="9525">
            <a:solidFill>
              <a:srgbClr val="66FFFF"/>
            </a:solidFill>
            <a:miter lim="800000"/>
            <a:headEnd/>
            <a:tailE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9251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92514"/>
                                        </p:tgtEl>
                                        <p:attrNameLst>
                                          <p:attrName>style.visibility</p:attrName>
                                        </p:attrNameLst>
                                      </p:cBhvr>
                                      <p:to>
                                        <p:strVal val="visible"/>
                                      </p:to>
                                    </p:set>
                                    <p:animEffect transition="in" filter="wipe(left)">
                                      <p:cBhvr>
                                        <p:cTn id="11" dur="1000"/>
                                        <p:tgtEl>
                                          <p:spTgt spid="19251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92515"/>
                                        </p:tgtEl>
                                        <p:attrNameLst>
                                          <p:attrName>style.visibility</p:attrName>
                                        </p:attrNameLst>
                                      </p:cBhvr>
                                      <p:to>
                                        <p:strVal val="visible"/>
                                      </p:to>
                                    </p:set>
                                    <p:animEffect transition="in" filter="wipe(left)">
                                      <p:cBhvr>
                                        <p:cTn id="16" dur="500"/>
                                        <p:tgtEl>
                                          <p:spTgt spid="19251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32" fill="hold" grpId="0" nodeType="clickEffect">
                                  <p:stCondLst>
                                    <p:cond delay="0"/>
                                  </p:stCondLst>
                                  <p:childTnLst>
                                    <p:set>
                                      <p:cBhvr>
                                        <p:cTn id="20" dur="1" fill="hold">
                                          <p:stCondLst>
                                            <p:cond delay="0"/>
                                          </p:stCondLst>
                                        </p:cTn>
                                        <p:tgtEl>
                                          <p:spTgt spid="192526"/>
                                        </p:tgtEl>
                                        <p:attrNameLst>
                                          <p:attrName>style.visibility</p:attrName>
                                        </p:attrNameLst>
                                      </p:cBhvr>
                                      <p:to>
                                        <p:strVal val="visible"/>
                                      </p:to>
                                    </p:set>
                                    <p:animEffect transition="in" filter="box(out)">
                                      <p:cBhvr>
                                        <p:cTn id="21" dur="1000"/>
                                        <p:tgtEl>
                                          <p:spTgt spid="19252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192516"/>
                                        </p:tgtEl>
                                        <p:attrNameLst>
                                          <p:attrName>style.visibility</p:attrName>
                                        </p:attrNameLst>
                                      </p:cBhvr>
                                      <p:to>
                                        <p:strVal val="visible"/>
                                      </p:to>
                                    </p:set>
                                    <p:animEffect transition="in" filter="wipe(left)">
                                      <p:cBhvr>
                                        <p:cTn id="26" dur="500"/>
                                        <p:tgtEl>
                                          <p:spTgt spid="19251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92518"/>
                                        </p:tgtEl>
                                        <p:attrNameLst>
                                          <p:attrName>style.visibility</p:attrName>
                                        </p:attrNameLst>
                                      </p:cBhvr>
                                      <p:to>
                                        <p:strVal val="visible"/>
                                      </p:to>
                                    </p:set>
                                    <p:animEffect transition="in" filter="wipe(left)">
                                      <p:cBhvr>
                                        <p:cTn id="31" dur="1000"/>
                                        <p:tgtEl>
                                          <p:spTgt spid="19251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192519"/>
                                        </p:tgtEl>
                                        <p:attrNameLst>
                                          <p:attrName>style.visibility</p:attrName>
                                        </p:attrNameLst>
                                      </p:cBhvr>
                                      <p:to>
                                        <p:strVal val="visible"/>
                                      </p:to>
                                    </p:set>
                                    <p:animEffect transition="in" filter="wipe(left)">
                                      <p:cBhvr>
                                        <p:cTn id="36" dur="500"/>
                                        <p:tgtEl>
                                          <p:spTgt spid="19251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92520"/>
                                        </p:tgtEl>
                                        <p:attrNameLst>
                                          <p:attrName>style.visibility</p:attrName>
                                        </p:attrNameLst>
                                      </p:cBhvr>
                                      <p:to>
                                        <p:strVal val="visible"/>
                                      </p:to>
                                    </p:set>
                                    <p:animEffect transition="in" filter="wipe(left)">
                                      <p:cBhvr>
                                        <p:cTn id="41" dur="500"/>
                                        <p:tgtEl>
                                          <p:spTgt spid="19252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192521"/>
                                        </p:tgtEl>
                                        <p:attrNameLst>
                                          <p:attrName>style.visibility</p:attrName>
                                        </p:attrNameLst>
                                      </p:cBhvr>
                                      <p:to>
                                        <p:strVal val="visible"/>
                                      </p:to>
                                    </p:set>
                                    <p:animEffect transition="in" filter="wipe(left)">
                                      <p:cBhvr>
                                        <p:cTn id="46" dur="500"/>
                                        <p:tgtEl>
                                          <p:spTgt spid="19252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3" presetClass="entr" presetSubtype="528" fill="hold" grpId="0" nodeType="clickEffect">
                                  <p:stCondLst>
                                    <p:cond delay="0"/>
                                  </p:stCondLst>
                                  <p:childTnLst>
                                    <p:set>
                                      <p:cBhvr>
                                        <p:cTn id="50" dur="1" fill="hold">
                                          <p:stCondLst>
                                            <p:cond delay="0"/>
                                          </p:stCondLst>
                                        </p:cTn>
                                        <p:tgtEl>
                                          <p:spTgt spid="192522"/>
                                        </p:tgtEl>
                                        <p:attrNameLst>
                                          <p:attrName>style.visibility</p:attrName>
                                        </p:attrNameLst>
                                      </p:cBhvr>
                                      <p:to>
                                        <p:strVal val="visible"/>
                                      </p:to>
                                    </p:set>
                                    <p:anim calcmode="lin" valueType="num">
                                      <p:cBhvr>
                                        <p:cTn id="51" dur="500" fill="hold"/>
                                        <p:tgtEl>
                                          <p:spTgt spid="192522"/>
                                        </p:tgtEl>
                                        <p:attrNameLst>
                                          <p:attrName>ppt_w</p:attrName>
                                        </p:attrNameLst>
                                      </p:cBhvr>
                                      <p:tavLst>
                                        <p:tav tm="0">
                                          <p:val>
                                            <p:fltVal val="0"/>
                                          </p:val>
                                        </p:tav>
                                        <p:tav tm="100000">
                                          <p:val>
                                            <p:strVal val="#ppt_w"/>
                                          </p:val>
                                        </p:tav>
                                      </p:tavLst>
                                    </p:anim>
                                    <p:anim calcmode="lin" valueType="num">
                                      <p:cBhvr>
                                        <p:cTn id="52" dur="500" fill="hold"/>
                                        <p:tgtEl>
                                          <p:spTgt spid="192522"/>
                                        </p:tgtEl>
                                        <p:attrNameLst>
                                          <p:attrName>ppt_h</p:attrName>
                                        </p:attrNameLst>
                                      </p:cBhvr>
                                      <p:tavLst>
                                        <p:tav tm="0">
                                          <p:val>
                                            <p:fltVal val="0"/>
                                          </p:val>
                                        </p:tav>
                                        <p:tav tm="100000">
                                          <p:val>
                                            <p:strVal val="#ppt_h"/>
                                          </p:val>
                                        </p:tav>
                                      </p:tavLst>
                                    </p:anim>
                                    <p:anim calcmode="lin" valueType="num">
                                      <p:cBhvr>
                                        <p:cTn id="53" dur="500" fill="hold"/>
                                        <p:tgtEl>
                                          <p:spTgt spid="192522"/>
                                        </p:tgtEl>
                                        <p:attrNameLst>
                                          <p:attrName>ppt_x</p:attrName>
                                        </p:attrNameLst>
                                      </p:cBhvr>
                                      <p:tavLst>
                                        <p:tav tm="0">
                                          <p:val>
                                            <p:fltVal val="0.5"/>
                                          </p:val>
                                        </p:tav>
                                        <p:tav tm="100000">
                                          <p:val>
                                            <p:strVal val="#ppt_x"/>
                                          </p:val>
                                        </p:tav>
                                      </p:tavLst>
                                    </p:anim>
                                    <p:anim calcmode="lin" valueType="num">
                                      <p:cBhvr>
                                        <p:cTn id="54" dur="500" fill="hold"/>
                                        <p:tgtEl>
                                          <p:spTgt spid="192522"/>
                                        </p:tgtEl>
                                        <p:attrNameLst>
                                          <p:attrName>ppt_y</p:attrName>
                                        </p:attrNameLst>
                                      </p:cBhvr>
                                      <p:tavLst>
                                        <p:tav tm="0">
                                          <p:val>
                                            <p:fltVal val="0.5"/>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192523"/>
                                        </p:tgtEl>
                                        <p:attrNameLst>
                                          <p:attrName>style.visibility</p:attrName>
                                        </p:attrNameLst>
                                      </p:cBhvr>
                                      <p:to>
                                        <p:strVal val="visible"/>
                                      </p:to>
                                    </p:set>
                                    <p:animEffect transition="in" filter="wipe(left)">
                                      <p:cBhvr>
                                        <p:cTn id="59" dur="500"/>
                                        <p:tgtEl>
                                          <p:spTgt spid="192523"/>
                                        </p:tgtEl>
                                      </p:cBhvr>
                                    </p:animEffect>
                                  </p:childTnLst>
                                </p:cTn>
                              </p:par>
                            </p:childTnLst>
                          </p:cTn>
                        </p:par>
                        <p:par>
                          <p:cTn id="60" fill="hold" nodeType="afterGroup">
                            <p:stCondLst>
                              <p:cond delay="500"/>
                            </p:stCondLst>
                            <p:childTnLst>
                              <p:par>
                                <p:cTn id="61" presetID="23" presetClass="entr" presetSubtype="16" fill="hold" grpId="0" nodeType="afterEffect">
                                  <p:stCondLst>
                                    <p:cond delay="0"/>
                                  </p:stCondLst>
                                  <p:iterate type="wd">
                                    <p:tmPct val="100000"/>
                                  </p:iterate>
                                  <p:childTnLst>
                                    <p:set>
                                      <p:cBhvr>
                                        <p:cTn id="62" dur="1" fill="hold">
                                          <p:stCondLst>
                                            <p:cond delay="0"/>
                                          </p:stCondLst>
                                        </p:cTn>
                                        <p:tgtEl>
                                          <p:spTgt spid="192524"/>
                                        </p:tgtEl>
                                        <p:attrNameLst>
                                          <p:attrName>style.visibility</p:attrName>
                                        </p:attrNameLst>
                                      </p:cBhvr>
                                      <p:to>
                                        <p:strVal val="visible"/>
                                      </p:to>
                                    </p:set>
                                    <p:anim calcmode="lin" valueType="num">
                                      <p:cBhvr>
                                        <p:cTn id="63" dur="300" fill="hold"/>
                                        <p:tgtEl>
                                          <p:spTgt spid="192524"/>
                                        </p:tgtEl>
                                        <p:attrNameLst>
                                          <p:attrName>ppt_w</p:attrName>
                                        </p:attrNameLst>
                                      </p:cBhvr>
                                      <p:tavLst>
                                        <p:tav tm="0">
                                          <p:val>
                                            <p:fltVal val="0"/>
                                          </p:val>
                                        </p:tav>
                                        <p:tav tm="100000">
                                          <p:val>
                                            <p:strVal val="#ppt_w"/>
                                          </p:val>
                                        </p:tav>
                                      </p:tavLst>
                                    </p:anim>
                                    <p:anim calcmode="lin" valueType="num">
                                      <p:cBhvr>
                                        <p:cTn id="64" dur="300" fill="hold"/>
                                        <p:tgtEl>
                                          <p:spTgt spid="192524"/>
                                        </p:tgtEl>
                                        <p:attrNameLst>
                                          <p:attrName>ppt_h</p:attrName>
                                        </p:attrNameLst>
                                      </p:cBhvr>
                                      <p:tavLst>
                                        <p:tav tm="0">
                                          <p:val>
                                            <p:fltVal val="0"/>
                                          </p:val>
                                        </p:tav>
                                        <p:tav tm="100000">
                                          <p:val>
                                            <p:strVal val="#ppt_h"/>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92525"/>
                                        </p:tgtEl>
                                        <p:attrNameLst>
                                          <p:attrName>style.visibility</p:attrName>
                                        </p:attrNameLst>
                                      </p:cBhvr>
                                      <p:to>
                                        <p:strVal val="visible"/>
                                      </p:to>
                                    </p:set>
                                    <p:animEffect transition="in" filter="wipe(left)">
                                      <p:cBhvr>
                                        <p:cTn id="69" dur="1000"/>
                                        <p:tgtEl>
                                          <p:spTgt spid="1925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4" grpId="0" autoUpdateAnimBg="0"/>
      <p:bldP spid="192517" grpId="0"/>
      <p:bldP spid="192518" grpId="0" autoUpdateAnimBg="0"/>
      <p:bldP spid="192522" grpId="0" animBg="1" autoUpdateAnimBg="0"/>
      <p:bldP spid="192524" grpId="0" autoUpdateAnimBg="0"/>
      <p:bldP spid="192525" grpId="0" autoUpdateAnimBg="0"/>
      <p:bldP spid="19252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3538" name="Object 2"/>
          <p:cNvGraphicFramePr>
            <a:graphicFrameLocks noChangeAspect="1"/>
          </p:cNvGraphicFramePr>
          <p:nvPr/>
        </p:nvGraphicFramePr>
        <p:xfrm>
          <a:off x="1285875" y="4165600"/>
          <a:ext cx="2185988" cy="506413"/>
        </p:xfrm>
        <a:graphic>
          <a:graphicData uri="http://schemas.openxmlformats.org/presentationml/2006/ole">
            <p:oleObj spid="_x0000_s28674" name="公式" r:id="rId3" imgW="672808" imgH="203112" progId="Equation.3">
              <p:embed/>
            </p:oleObj>
          </a:graphicData>
        </a:graphic>
      </p:graphicFrame>
      <p:sp>
        <p:nvSpPr>
          <p:cNvPr id="193539" name="Rectangle 3"/>
          <p:cNvSpPr>
            <a:spLocks noChangeArrowheads="1"/>
          </p:cNvSpPr>
          <p:nvPr/>
        </p:nvSpPr>
        <p:spPr bwMode="auto">
          <a:xfrm>
            <a:off x="3671888" y="4041775"/>
            <a:ext cx="5202237" cy="933450"/>
          </a:xfrm>
          <a:prstGeom prst="rect">
            <a:avLst/>
          </a:prstGeom>
          <a:noFill/>
          <a:ln w="9525">
            <a:noFill/>
            <a:miter lim="800000"/>
            <a:headEnd/>
            <a:tailEnd/>
          </a:ln>
        </p:spPr>
        <p:txBody>
          <a:bodyPr>
            <a:spAutoFit/>
          </a:bodyPr>
          <a:lstStyle/>
          <a:p>
            <a:pPr algn="l">
              <a:lnSpc>
                <a:spcPct val="115000"/>
              </a:lnSpc>
            </a:pPr>
            <a:r>
              <a:rPr lang="zh-CN" altLang="en-US" b="1">
                <a:solidFill>
                  <a:srgbClr val="000099"/>
                </a:solidFill>
              </a:rPr>
              <a:t>物体的相对论总能量与物体的总质量成正比</a:t>
            </a:r>
            <a:r>
              <a:rPr lang="en-US" altLang="zh-CN" b="1">
                <a:solidFill>
                  <a:srgbClr val="FFFF00"/>
                </a:solidFill>
              </a:rPr>
              <a:t> </a:t>
            </a:r>
            <a:r>
              <a:rPr lang="en-US" altLang="zh-CN" b="1">
                <a:solidFill>
                  <a:srgbClr val="990000"/>
                </a:solidFill>
              </a:rPr>
              <a:t>——</a:t>
            </a:r>
            <a:r>
              <a:rPr lang="zh-CN" altLang="en-US" b="1">
                <a:solidFill>
                  <a:srgbClr val="990000"/>
                </a:solidFill>
              </a:rPr>
              <a:t>质量与能量不可分割</a:t>
            </a:r>
          </a:p>
        </p:txBody>
      </p:sp>
      <p:graphicFrame>
        <p:nvGraphicFramePr>
          <p:cNvPr id="193540" name="Object 4"/>
          <p:cNvGraphicFramePr>
            <a:graphicFrameLocks noChangeAspect="1"/>
          </p:cNvGraphicFramePr>
          <p:nvPr/>
        </p:nvGraphicFramePr>
        <p:xfrm>
          <a:off x="1331913" y="5300663"/>
          <a:ext cx="2220912" cy="536575"/>
        </p:xfrm>
        <a:graphic>
          <a:graphicData uri="http://schemas.openxmlformats.org/presentationml/2006/ole">
            <p:oleObj spid="_x0000_s28675" name="公式" r:id="rId4" imgW="952087" imgH="228501" progId="Equation.3">
              <p:embed/>
            </p:oleObj>
          </a:graphicData>
        </a:graphic>
      </p:graphicFrame>
      <p:sp>
        <p:nvSpPr>
          <p:cNvPr id="193541" name="Rectangle 5"/>
          <p:cNvSpPr>
            <a:spLocks noChangeArrowheads="1"/>
          </p:cNvSpPr>
          <p:nvPr/>
        </p:nvSpPr>
        <p:spPr bwMode="auto">
          <a:xfrm>
            <a:off x="3762375" y="5346700"/>
            <a:ext cx="4006850" cy="479425"/>
          </a:xfrm>
          <a:prstGeom prst="rect">
            <a:avLst/>
          </a:prstGeom>
          <a:noFill/>
          <a:ln w="9525">
            <a:noFill/>
            <a:miter lim="800000"/>
            <a:headEnd/>
            <a:tailEnd/>
          </a:ln>
        </p:spPr>
        <p:txBody>
          <a:bodyPr>
            <a:spAutoFit/>
          </a:bodyPr>
          <a:lstStyle/>
          <a:p>
            <a:pPr algn="l">
              <a:lnSpc>
                <a:spcPct val="115000"/>
              </a:lnSpc>
            </a:pPr>
            <a:r>
              <a:rPr lang="zh-CN" altLang="en-US" b="1">
                <a:solidFill>
                  <a:srgbClr val="000099"/>
                </a:solidFill>
              </a:rPr>
              <a:t>物体质量与能量变化的关系</a:t>
            </a:r>
          </a:p>
        </p:txBody>
      </p:sp>
      <p:graphicFrame>
        <p:nvGraphicFramePr>
          <p:cNvPr id="193542" name="Object 6"/>
          <p:cNvGraphicFramePr>
            <a:graphicFrameLocks noChangeAspect="1"/>
          </p:cNvGraphicFramePr>
          <p:nvPr/>
        </p:nvGraphicFramePr>
        <p:xfrm>
          <a:off x="3176588" y="863600"/>
          <a:ext cx="2790825" cy="604838"/>
        </p:xfrm>
        <a:graphic>
          <a:graphicData uri="http://schemas.openxmlformats.org/presentationml/2006/ole">
            <p:oleObj spid="_x0000_s28676" name="公式" r:id="rId5" imgW="1117600" imgH="241300" progId="Equation.3">
              <p:embed/>
            </p:oleObj>
          </a:graphicData>
        </a:graphic>
      </p:graphicFrame>
      <p:sp>
        <p:nvSpPr>
          <p:cNvPr id="193543" name="Text Box 7"/>
          <p:cNvSpPr txBox="1">
            <a:spLocks noChangeArrowheads="1"/>
          </p:cNvSpPr>
          <p:nvPr/>
        </p:nvSpPr>
        <p:spPr bwMode="auto">
          <a:xfrm>
            <a:off x="701675" y="1493838"/>
            <a:ext cx="1079500" cy="479425"/>
          </a:xfrm>
          <a:prstGeom prst="rect">
            <a:avLst/>
          </a:prstGeom>
          <a:noFill/>
          <a:ln w="9525">
            <a:noFill/>
            <a:miter lim="800000"/>
            <a:headEnd/>
            <a:tailEnd/>
          </a:ln>
        </p:spPr>
        <p:txBody>
          <a:bodyPr>
            <a:spAutoFit/>
          </a:bodyPr>
          <a:lstStyle/>
          <a:p>
            <a:pPr algn="l">
              <a:lnSpc>
                <a:spcPct val="115000"/>
              </a:lnSpc>
            </a:pPr>
            <a:r>
              <a:rPr lang="zh-CN" altLang="en-US" b="1">
                <a:solidFill>
                  <a:schemeClr val="hlink"/>
                </a:solidFill>
                <a:ea typeface="楷体_GB2312" pitchFamily="49" charset="-122"/>
              </a:rPr>
              <a:t>静能：</a:t>
            </a:r>
          </a:p>
        </p:txBody>
      </p:sp>
      <p:graphicFrame>
        <p:nvGraphicFramePr>
          <p:cNvPr id="193544" name="Object 8"/>
          <p:cNvGraphicFramePr>
            <a:graphicFrameLocks noChangeAspect="1"/>
          </p:cNvGraphicFramePr>
          <p:nvPr/>
        </p:nvGraphicFramePr>
        <p:xfrm>
          <a:off x="1781175" y="1539875"/>
          <a:ext cx="1341438" cy="482600"/>
        </p:xfrm>
        <a:graphic>
          <a:graphicData uri="http://schemas.openxmlformats.org/presentationml/2006/ole">
            <p:oleObj spid="_x0000_s28677" name="公式" r:id="rId6" imgW="672808" imgH="241195" progId="Equation.3">
              <p:embed/>
            </p:oleObj>
          </a:graphicData>
        </a:graphic>
      </p:graphicFrame>
      <p:sp>
        <p:nvSpPr>
          <p:cNvPr id="193545" name="Text Box 9"/>
          <p:cNvSpPr txBox="1">
            <a:spLocks noChangeArrowheads="1"/>
          </p:cNvSpPr>
          <p:nvPr/>
        </p:nvSpPr>
        <p:spPr bwMode="auto">
          <a:xfrm>
            <a:off x="385763" y="2170113"/>
            <a:ext cx="1171575" cy="479425"/>
          </a:xfrm>
          <a:prstGeom prst="rect">
            <a:avLst/>
          </a:prstGeom>
          <a:noFill/>
          <a:ln w="9525">
            <a:noFill/>
            <a:miter lim="800000"/>
            <a:headEnd/>
            <a:tailEnd/>
          </a:ln>
        </p:spPr>
        <p:txBody>
          <a:bodyPr>
            <a:spAutoFit/>
          </a:bodyPr>
          <a:lstStyle/>
          <a:p>
            <a:pPr algn="l">
              <a:lnSpc>
                <a:spcPct val="115000"/>
              </a:lnSpc>
            </a:pPr>
            <a:r>
              <a:rPr lang="zh-CN" altLang="en-US" b="1">
                <a:solidFill>
                  <a:schemeClr val="hlink"/>
                </a:solidFill>
              </a:rPr>
              <a:t>总能量：</a:t>
            </a:r>
          </a:p>
        </p:txBody>
      </p:sp>
      <p:graphicFrame>
        <p:nvGraphicFramePr>
          <p:cNvPr id="193546" name="Object 10"/>
          <p:cNvGraphicFramePr>
            <a:graphicFrameLocks/>
          </p:cNvGraphicFramePr>
          <p:nvPr/>
        </p:nvGraphicFramePr>
        <p:xfrm>
          <a:off x="1827213" y="2305050"/>
          <a:ext cx="1079500" cy="406400"/>
        </p:xfrm>
        <a:graphic>
          <a:graphicData uri="http://schemas.openxmlformats.org/presentationml/2006/ole">
            <p:oleObj spid="_x0000_s28678" name="公式" r:id="rId7" imgW="571252" imgH="203112" progId="Equation.3">
              <p:embed/>
            </p:oleObj>
          </a:graphicData>
        </a:graphic>
      </p:graphicFrame>
      <p:sp>
        <p:nvSpPr>
          <p:cNvPr id="193547" name="Rectangle 11"/>
          <p:cNvSpPr>
            <a:spLocks noChangeArrowheads="1"/>
          </p:cNvSpPr>
          <p:nvPr/>
        </p:nvSpPr>
        <p:spPr bwMode="auto">
          <a:xfrm>
            <a:off x="176213" y="414338"/>
            <a:ext cx="3946525" cy="457200"/>
          </a:xfrm>
          <a:prstGeom prst="rect">
            <a:avLst/>
          </a:prstGeom>
          <a:noFill/>
          <a:ln w="9525">
            <a:noFill/>
            <a:miter lim="800000"/>
            <a:headEnd/>
            <a:tailEnd/>
          </a:ln>
        </p:spPr>
        <p:txBody>
          <a:bodyPr>
            <a:spAutoFit/>
          </a:bodyPr>
          <a:lstStyle/>
          <a:p>
            <a:pPr algn="l">
              <a:spcBef>
                <a:spcPct val="50000"/>
              </a:spcBef>
            </a:pPr>
            <a:r>
              <a:rPr lang="en-US" altLang="zh-CN" b="1">
                <a:solidFill>
                  <a:srgbClr val="0000FF"/>
                </a:solidFill>
              </a:rPr>
              <a:t>4.4.4  </a:t>
            </a:r>
            <a:r>
              <a:rPr lang="zh-CN" altLang="en-US" b="1">
                <a:solidFill>
                  <a:srgbClr val="0000FF"/>
                </a:solidFill>
              </a:rPr>
              <a:t>相对论质能关系</a:t>
            </a:r>
          </a:p>
        </p:txBody>
      </p:sp>
      <p:sp>
        <p:nvSpPr>
          <p:cNvPr id="193548" name="Text Box 12"/>
          <p:cNvSpPr txBox="1">
            <a:spLocks noChangeArrowheads="1"/>
          </p:cNvSpPr>
          <p:nvPr/>
        </p:nvSpPr>
        <p:spPr bwMode="auto">
          <a:xfrm>
            <a:off x="3267075" y="1584325"/>
            <a:ext cx="4140200" cy="512763"/>
          </a:xfrm>
          <a:prstGeom prst="rect">
            <a:avLst/>
          </a:prstGeom>
          <a:noFill/>
          <a:ln w="9525">
            <a:noFill/>
            <a:miter lim="800000"/>
            <a:headEnd/>
            <a:tailEnd/>
          </a:ln>
        </p:spPr>
        <p:txBody>
          <a:bodyPr>
            <a:spAutoFit/>
          </a:bodyPr>
          <a:lstStyle/>
          <a:p>
            <a:pPr algn="l">
              <a:lnSpc>
                <a:spcPct val="115000"/>
              </a:lnSpc>
            </a:pPr>
            <a:r>
              <a:rPr lang="zh-CN" altLang="en-US" b="1">
                <a:solidFill>
                  <a:schemeClr val="bg1"/>
                </a:solidFill>
              </a:rPr>
              <a:t>任何宏观静止物体具有能量</a:t>
            </a:r>
            <a:endParaRPr lang="zh-CN" altLang="en-US"/>
          </a:p>
        </p:txBody>
      </p:sp>
      <p:sp>
        <p:nvSpPr>
          <p:cNvPr id="193549" name="Text Box 13"/>
          <p:cNvSpPr txBox="1">
            <a:spLocks noChangeArrowheads="1"/>
          </p:cNvSpPr>
          <p:nvPr/>
        </p:nvSpPr>
        <p:spPr bwMode="auto">
          <a:xfrm>
            <a:off x="3222625" y="2214563"/>
            <a:ext cx="3735388" cy="512762"/>
          </a:xfrm>
          <a:prstGeom prst="rect">
            <a:avLst/>
          </a:prstGeom>
          <a:noFill/>
          <a:ln w="9525">
            <a:noFill/>
            <a:miter lim="800000"/>
            <a:headEnd/>
            <a:tailEnd/>
          </a:ln>
        </p:spPr>
        <p:txBody>
          <a:bodyPr>
            <a:spAutoFit/>
          </a:bodyPr>
          <a:lstStyle/>
          <a:p>
            <a:pPr>
              <a:lnSpc>
                <a:spcPct val="115000"/>
              </a:lnSpc>
            </a:pPr>
            <a:r>
              <a:rPr lang="zh-CN" altLang="en-US" b="1">
                <a:solidFill>
                  <a:schemeClr val="bg1"/>
                </a:solidFill>
              </a:rPr>
              <a:t>相对论质量是能量的量度</a:t>
            </a:r>
            <a:endParaRPr lang="zh-CN" altLang="en-US"/>
          </a:p>
        </p:txBody>
      </p:sp>
      <p:sp>
        <p:nvSpPr>
          <p:cNvPr id="193550" name="Text Box 14"/>
          <p:cNvSpPr txBox="1">
            <a:spLocks noChangeArrowheads="1"/>
          </p:cNvSpPr>
          <p:nvPr/>
        </p:nvSpPr>
        <p:spPr bwMode="auto">
          <a:xfrm>
            <a:off x="1285875" y="3095625"/>
            <a:ext cx="585788" cy="457200"/>
          </a:xfrm>
          <a:prstGeom prst="rect">
            <a:avLst/>
          </a:prstGeom>
          <a:noFill/>
          <a:ln w="9525">
            <a:noFill/>
            <a:miter lim="800000"/>
            <a:headEnd/>
            <a:tailEnd/>
          </a:ln>
        </p:spPr>
        <p:txBody>
          <a:bodyPr>
            <a:spAutoFit/>
          </a:bodyPr>
          <a:lstStyle/>
          <a:p>
            <a:pPr>
              <a:spcBef>
                <a:spcPct val="50000"/>
              </a:spcBef>
            </a:pPr>
            <a:r>
              <a:rPr lang="zh-CN" altLang="en-US" b="1"/>
              <a:t>即</a:t>
            </a:r>
          </a:p>
        </p:txBody>
      </p:sp>
      <p:graphicFrame>
        <p:nvGraphicFramePr>
          <p:cNvPr id="193551" name="Object 15"/>
          <p:cNvGraphicFramePr>
            <a:graphicFrameLocks noChangeAspect="1"/>
          </p:cNvGraphicFramePr>
          <p:nvPr/>
        </p:nvGraphicFramePr>
        <p:xfrm>
          <a:off x="2143125" y="2916238"/>
          <a:ext cx="2790825" cy="900112"/>
        </p:xfrm>
        <a:graphic>
          <a:graphicData uri="http://schemas.openxmlformats.org/presentationml/2006/ole">
            <p:oleObj spid="_x0000_s28679" name="Equation" r:id="rId8" imgW="1548728" imgH="495085" progId="">
              <p:embed/>
            </p:oleObj>
          </a:graphicData>
        </a:graphic>
      </p:graphicFrame>
      <p:sp>
        <p:nvSpPr>
          <p:cNvPr id="193552" name="AutoShape 16"/>
          <p:cNvSpPr>
            <a:spLocks noChangeArrowheads="1"/>
          </p:cNvSpPr>
          <p:nvPr/>
        </p:nvSpPr>
        <p:spPr bwMode="auto">
          <a:xfrm>
            <a:off x="5518150" y="3230563"/>
            <a:ext cx="2339975" cy="495300"/>
          </a:xfrm>
          <a:prstGeom prst="wedgeRoundRectCallout">
            <a:avLst>
              <a:gd name="adj1" fmla="val -69199"/>
              <a:gd name="adj2" fmla="val -28204"/>
              <a:gd name="adj3" fmla="val 16667"/>
            </a:avLst>
          </a:prstGeom>
          <a:gradFill rotWithShape="1">
            <a:gsLst>
              <a:gs pos="0">
                <a:srgbClr val="FFFFFF"/>
              </a:gs>
              <a:gs pos="100000">
                <a:srgbClr val="CCFFFF"/>
              </a:gs>
            </a:gsLst>
            <a:path path="rect">
              <a:fillToRect l="50000" t="50000" r="50000" b="50000"/>
            </a:path>
          </a:gradFill>
          <a:ln w="9525">
            <a:solidFill>
              <a:srgbClr val="66FFFF"/>
            </a:solidFill>
            <a:miter lim="800000"/>
            <a:headEnd/>
            <a:tailEnd/>
          </a:ln>
        </p:spPr>
        <p:txBody>
          <a:bodyPr/>
          <a:lstStyle/>
          <a:p>
            <a:r>
              <a:rPr lang="zh-CN" altLang="en-US" b="1">
                <a:solidFill>
                  <a:srgbClr val="000099"/>
                </a:solidFill>
              </a:rPr>
              <a:t>质能关系式</a:t>
            </a:r>
            <a:r>
              <a:rPr lang="en-US" altLang="zh-CN" b="1">
                <a:solidFill>
                  <a:srgbClr val="000099"/>
                </a:solidFill>
              </a:rPr>
              <a:t> </a:t>
            </a:r>
          </a:p>
        </p:txBody>
      </p:sp>
      <p:sp>
        <p:nvSpPr>
          <p:cNvPr id="193553" name="AutoShape 17"/>
          <p:cNvSpPr>
            <a:spLocks noChangeArrowheads="1"/>
          </p:cNvSpPr>
          <p:nvPr/>
        </p:nvSpPr>
        <p:spPr bwMode="auto">
          <a:xfrm>
            <a:off x="2141538" y="4716463"/>
            <a:ext cx="269875" cy="539750"/>
          </a:xfrm>
          <a:prstGeom prst="downArrow">
            <a:avLst>
              <a:gd name="adj1" fmla="val 50000"/>
              <a:gd name="adj2" fmla="val 50000"/>
            </a:avLst>
          </a:prstGeom>
          <a:solidFill>
            <a:srgbClr val="CCFFFF"/>
          </a:solidFill>
          <a:ln w="9525">
            <a:solidFill>
              <a:srgbClr val="66FFFF"/>
            </a:solidFill>
            <a:miter lim="800000"/>
            <a:headEnd/>
            <a:tailEnd/>
          </a:ln>
        </p:spPr>
        <p:txBody>
          <a:bodyPr vert="eaVert"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3547"/>
                                        </p:tgtEl>
                                        <p:attrNameLst>
                                          <p:attrName>style.visibility</p:attrName>
                                        </p:attrNameLst>
                                      </p:cBhvr>
                                      <p:to>
                                        <p:strVal val="visible"/>
                                      </p:to>
                                    </p:set>
                                    <p:animEffect transition="in" filter="wipe(left)">
                                      <p:cBhvr>
                                        <p:cTn id="7" dur="1000"/>
                                        <p:tgtEl>
                                          <p:spTgt spid="1935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93542"/>
                                        </p:tgtEl>
                                        <p:attrNameLst>
                                          <p:attrName>style.visibility</p:attrName>
                                        </p:attrNameLst>
                                      </p:cBhvr>
                                      <p:to>
                                        <p:strVal val="visible"/>
                                      </p:to>
                                    </p:set>
                                    <p:animEffect transition="in" filter="wipe(left)">
                                      <p:cBhvr>
                                        <p:cTn id="12" dur="1000"/>
                                        <p:tgtEl>
                                          <p:spTgt spid="19354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3543"/>
                                        </p:tgtEl>
                                        <p:attrNameLst>
                                          <p:attrName>style.visibility</p:attrName>
                                        </p:attrNameLst>
                                      </p:cBhvr>
                                      <p:to>
                                        <p:strVal val="visible"/>
                                      </p:to>
                                    </p:set>
                                    <p:animEffect transition="in" filter="wipe(left)">
                                      <p:cBhvr>
                                        <p:cTn id="17" dur="1000"/>
                                        <p:tgtEl>
                                          <p:spTgt spid="19354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93544"/>
                                        </p:tgtEl>
                                        <p:attrNameLst>
                                          <p:attrName>style.visibility</p:attrName>
                                        </p:attrNameLst>
                                      </p:cBhvr>
                                      <p:to>
                                        <p:strVal val="visible"/>
                                      </p:to>
                                    </p:set>
                                    <p:animEffect transition="in" filter="wipe(left)">
                                      <p:cBhvr>
                                        <p:cTn id="22" dur="1000"/>
                                        <p:tgtEl>
                                          <p:spTgt spid="19354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3548"/>
                                        </p:tgtEl>
                                        <p:attrNameLst>
                                          <p:attrName>style.visibility</p:attrName>
                                        </p:attrNameLst>
                                      </p:cBhvr>
                                      <p:to>
                                        <p:strVal val="visible"/>
                                      </p:to>
                                    </p:set>
                                    <p:animEffect transition="in" filter="wipe(left)">
                                      <p:cBhvr>
                                        <p:cTn id="27" dur="1000"/>
                                        <p:tgtEl>
                                          <p:spTgt spid="19354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3545"/>
                                        </p:tgtEl>
                                        <p:attrNameLst>
                                          <p:attrName>style.visibility</p:attrName>
                                        </p:attrNameLst>
                                      </p:cBhvr>
                                      <p:to>
                                        <p:strVal val="visible"/>
                                      </p:to>
                                    </p:set>
                                    <p:animEffect transition="in" filter="wipe(left)">
                                      <p:cBhvr>
                                        <p:cTn id="32" dur="1000"/>
                                        <p:tgtEl>
                                          <p:spTgt spid="19354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93546"/>
                                        </p:tgtEl>
                                        <p:attrNameLst>
                                          <p:attrName>style.visibility</p:attrName>
                                        </p:attrNameLst>
                                      </p:cBhvr>
                                      <p:to>
                                        <p:strVal val="visible"/>
                                      </p:to>
                                    </p:set>
                                    <p:animEffect transition="in" filter="wipe(left)">
                                      <p:cBhvr>
                                        <p:cTn id="37" dur="1000"/>
                                        <p:tgtEl>
                                          <p:spTgt spid="19354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93549"/>
                                        </p:tgtEl>
                                        <p:attrNameLst>
                                          <p:attrName>style.visibility</p:attrName>
                                        </p:attrNameLst>
                                      </p:cBhvr>
                                      <p:to>
                                        <p:strVal val="visible"/>
                                      </p:to>
                                    </p:set>
                                    <p:animEffect transition="in" filter="wipe(left)">
                                      <p:cBhvr>
                                        <p:cTn id="42" dur="1000"/>
                                        <p:tgtEl>
                                          <p:spTgt spid="19354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93550"/>
                                        </p:tgtEl>
                                        <p:attrNameLst>
                                          <p:attrName>style.visibility</p:attrName>
                                        </p:attrNameLst>
                                      </p:cBhvr>
                                      <p:to>
                                        <p:strVal val="visible"/>
                                      </p:to>
                                    </p:set>
                                    <p:animEffect transition="in" filter="wipe(left)">
                                      <p:cBhvr>
                                        <p:cTn id="47" dur="1000"/>
                                        <p:tgtEl>
                                          <p:spTgt spid="19355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93551"/>
                                        </p:tgtEl>
                                        <p:attrNameLst>
                                          <p:attrName>style.visibility</p:attrName>
                                        </p:attrNameLst>
                                      </p:cBhvr>
                                      <p:to>
                                        <p:strVal val="visible"/>
                                      </p:to>
                                    </p:set>
                                    <p:animEffect transition="in" filter="wipe(left)">
                                      <p:cBhvr>
                                        <p:cTn id="52" dur="1000"/>
                                        <p:tgtEl>
                                          <p:spTgt spid="19355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2" fill="hold" grpId="0" nodeType="clickEffect">
                                  <p:stCondLst>
                                    <p:cond delay="0"/>
                                  </p:stCondLst>
                                  <p:childTnLst>
                                    <p:set>
                                      <p:cBhvr>
                                        <p:cTn id="56" dur="1" fill="hold">
                                          <p:stCondLst>
                                            <p:cond delay="0"/>
                                          </p:stCondLst>
                                        </p:cTn>
                                        <p:tgtEl>
                                          <p:spTgt spid="193552"/>
                                        </p:tgtEl>
                                        <p:attrNameLst>
                                          <p:attrName>style.visibility</p:attrName>
                                        </p:attrNameLst>
                                      </p:cBhvr>
                                      <p:to>
                                        <p:strVal val="visible"/>
                                      </p:to>
                                    </p:set>
                                    <p:animEffect transition="in" filter="wipe(right)">
                                      <p:cBhvr>
                                        <p:cTn id="57" dur="1000"/>
                                        <p:tgtEl>
                                          <p:spTgt spid="19355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193538"/>
                                        </p:tgtEl>
                                        <p:attrNameLst>
                                          <p:attrName>style.visibility</p:attrName>
                                        </p:attrNameLst>
                                      </p:cBhvr>
                                      <p:to>
                                        <p:strVal val="visible"/>
                                      </p:to>
                                    </p:set>
                                    <p:animEffect transition="in" filter="wipe(left)">
                                      <p:cBhvr>
                                        <p:cTn id="62" dur="1000"/>
                                        <p:tgtEl>
                                          <p:spTgt spid="19353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93539"/>
                                        </p:tgtEl>
                                        <p:attrNameLst>
                                          <p:attrName>style.visibility</p:attrName>
                                        </p:attrNameLst>
                                      </p:cBhvr>
                                      <p:to>
                                        <p:strVal val="visible"/>
                                      </p:to>
                                    </p:set>
                                    <p:animEffect transition="in" filter="wipe(left)">
                                      <p:cBhvr>
                                        <p:cTn id="67" dur="1000"/>
                                        <p:tgtEl>
                                          <p:spTgt spid="19353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193553"/>
                                        </p:tgtEl>
                                        <p:attrNameLst>
                                          <p:attrName>style.visibility</p:attrName>
                                        </p:attrNameLst>
                                      </p:cBhvr>
                                      <p:to>
                                        <p:strVal val="visible"/>
                                      </p:to>
                                    </p:set>
                                    <p:animEffect transition="in" filter="wipe(up)">
                                      <p:cBhvr>
                                        <p:cTn id="72" dur="1000"/>
                                        <p:tgtEl>
                                          <p:spTgt spid="193553"/>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193540"/>
                                        </p:tgtEl>
                                        <p:attrNameLst>
                                          <p:attrName>style.visibility</p:attrName>
                                        </p:attrNameLst>
                                      </p:cBhvr>
                                      <p:to>
                                        <p:strVal val="visible"/>
                                      </p:to>
                                    </p:set>
                                    <p:animEffect transition="in" filter="wipe(left)">
                                      <p:cBhvr>
                                        <p:cTn id="77" dur="1000"/>
                                        <p:tgtEl>
                                          <p:spTgt spid="193540"/>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93541"/>
                                        </p:tgtEl>
                                        <p:attrNameLst>
                                          <p:attrName>style.visibility</p:attrName>
                                        </p:attrNameLst>
                                      </p:cBhvr>
                                      <p:to>
                                        <p:strVal val="visible"/>
                                      </p:to>
                                    </p:set>
                                    <p:animEffect transition="in" filter="wipe(left)">
                                      <p:cBhvr>
                                        <p:cTn id="82" dur="1000"/>
                                        <p:tgtEl>
                                          <p:spTgt spid="1935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9" grpId="0"/>
      <p:bldP spid="193541" grpId="0"/>
      <p:bldP spid="193543" grpId="0"/>
      <p:bldP spid="193545" grpId="0"/>
      <p:bldP spid="193547" grpId="0"/>
      <p:bldP spid="193548" grpId="0"/>
      <p:bldP spid="193549" grpId="0"/>
      <p:bldP spid="193550" grpId="0"/>
      <p:bldP spid="193552" grpId="0" animBg="1"/>
      <p:bldP spid="19355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ChangeArrowheads="1"/>
          </p:cNvSpPr>
          <p:nvPr/>
        </p:nvSpPr>
        <p:spPr bwMode="auto">
          <a:xfrm>
            <a:off x="144463" y="1071563"/>
            <a:ext cx="8658225" cy="968375"/>
          </a:xfrm>
          <a:prstGeom prst="rect">
            <a:avLst/>
          </a:prstGeom>
          <a:noFill/>
          <a:ln w="9525">
            <a:noFill/>
            <a:miter lim="800000"/>
            <a:headEnd/>
            <a:tailEnd/>
          </a:ln>
        </p:spPr>
        <p:txBody>
          <a:bodyPr>
            <a:spAutoFit/>
          </a:bodyPr>
          <a:lstStyle/>
          <a:p>
            <a:pPr algn="l">
              <a:lnSpc>
                <a:spcPct val="120000"/>
              </a:lnSpc>
            </a:pPr>
            <a:r>
              <a:rPr lang="en-US" altLang="zh-CN" b="1">
                <a:solidFill>
                  <a:schemeClr val="bg1"/>
                </a:solidFill>
              </a:rPr>
              <a:t>(1)</a:t>
            </a:r>
            <a:r>
              <a:rPr lang="zh-CN" altLang="en-US" b="1"/>
              <a:t>相对论总能</a:t>
            </a:r>
            <a:r>
              <a:rPr lang="en-US" altLang="zh-CN" b="1" i="1">
                <a:solidFill>
                  <a:schemeClr val="accent2"/>
                </a:solidFill>
              </a:rPr>
              <a:t>E</a:t>
            </a:r>
            <a:r>
              <a:rPr lang="zh-CN" altLang="en-US" b="1"/>
              <a:t>是包含了物体的全部能量，从而解决了经典力</a:t>
            </a:r>
            <a:endParaRPr lang="en-US" altLang="zh-CN" b="1"/>
          </a:p>
          <a:p>
            <a:pPr algn="l">
              <a:lnSpc>
                <a:spcPct val="120000"/>
              </a:lnSpc>
            </a:pPr>
            <a:r>
              <a:rPr lang="en-US" altLang="zh-CN" b="1"/>
              <a:t>   </a:t>
            </a:r>
            <a:r>
              <a:rPr lang="zh-CN" altLang="en-US" b="1"/>
              <a:t>学中始终未能阐明的如何计算物体的全部能量总和的问题．</a:t>
            </a:r>
          </a:p>
        </p:txBody>
      </p:sp>
      <p:sp>
        <p:nvSpPr>
          <p:cNvPr id="194563" name="Text Box 3"/>
          <p:cNvSpPr txBox="1">
            <a:spLocks noChangeArrowheads="1"/>
          </p:cNvSpPr>
          <p:nvPr/>
        </p:nvSpPr>
        <p:spPr bwMode="auto">
          <a:xfrm>
            <a:off x="161925" y="414338"/>
            <a:ext cx="1214438" cy="512762"/>
          </a:xfrm>
          <a:prstGeom prst="rect">
            <a:avLst/>
          </a:prstGeom>
          <a:noFill/>
          <a:ln w="9525">
            <a:noFill/>
            <a:miter lim="800000"/>
            <a:headEnd/>
            <a:tailEnd/>
          </a:ln>
        </p:spPr>
        <p:txBody>
          <a:bodyPr>
            <a:spAutoFit/>
          </a:bodyPr>
          <a:lstStyle/>
          <a:p>
            <a:pPr algn="l">
              <a:lnSpc>
                <a:spcPct val="115000"/>
              </a:lnSpc>
            </a:pPr>
            <a:r>
              <a:rPr lang="zh-CN" altLang="en-US" b="1">
                <a:solidFill>
                  <a:schemeClr val="hlink"/>
                </a:solidFill>
              </a:rPr>
              <a:t>讨论：</a:t>
            </a:r>
          </a:p>
        </p:txBody>
      </p:sp>
      <p:sp>
        <p:nvSpPr>
          <p:cNvPr id="194564" name="Rectangle 4"/>
          <p:cNvSpPr>
            <a:spLocks noChangeArrowheads="1"/>
          </p:cNvSpPr>
          <p:nvPr/>
        </p:nvSpPr>
        <p:spPr bwMode="auto">
          <a:xfrm>
            <a:off x="115888" y="1989138"/>
            <a:ext cx="8658225" cy="2282825"/>
          </a:xfrm>
          <a:prstGeom prst="rect">
            <a:avLst/>
          </a:prstGeom>
          <a:noFill/>
          <a:ln w="9525">
            <a:noFill/>
            <a:miter lim="800000"/>
            <a:headEnd/>
            <a:tailEnd/>
          </a:ln>
        </p:spPr>
        <p:txBody>
          <a:bodyPr>
            <a:spAutoFit/>
          </a:bodyPr>
          <a:lstStyle/>
          <a:p>
            <a:pPr algn="l">
              <a:lnSpc>
                <a:spcPct val="120000"/>
              </a:lnSpc>
            </a:pPr>
            <a:r>
              <a:rPr lang="en-US" altLang="zh-CN" b="1">
                <a:solidFill>
                  <a:schemeClr val="bg1"/>
                </a:solidFill>
              </a:rPr>
              <a:t>(2)</a:t>
            </a:r>
            <a:r>
              <a:rPr lang="zh-CN" altLang="en-US" b="1"/>
              <a:t>质能关系揭示了物质的两个基本属性</a:t>
            </a:r>
            <a:r>
              <a:rPr lang="en-US" altLang="zh-CN" b="1"/>
              <a:t>——</a:t>
            </a:r>
            <a:r>
              <a:rPr lang="zh-CN" altLang="en-US" b="1"/>
              <a:t>质量和能量间的联</a:t>
            </a:r>
            <a:endParaRPr lang="en-US" altLang="zh-CN" b="1"/>
          </a:p>
          <a:p>
            <a:pPr algn="l">
              <a:lnSpc>
                <a:spcPct val="120000"/>
              </a:lnSpc>
            </a:pPr>
            <a:r>
              <a:rPr lang="en-US" altLang="zh-CN" b="1"/>
              <a:t>   </a:t>
            </a:r>
            <a:r>
              <a:rPr lang="zh-CN" altLang="en-US" b="1"/>
              <a:t>系和对应关系．物质具有质量，必然同时具有相应的能量；</a:t>
            </a:r>
            <a:endParaRPr lang="en-US" altLang="zh-CN" b="1"/>
          </a:p>
          <a:p>
            <a:pPr algn="l">
              <a:lnSpc>
                <a:spcPct val="120000"/>
              </a:lnSpc>
            </a:pPr>
            <a:r>
              <a:rPr lang="en-US" altLang="zh-CN" b="1"/>
              <a:t>   </a:t>
            </a:r>
            <a:r>
              <a:rPr lang="zh-CN" altLang="en-US" b="1"/>
              <a:t>如果质量发生变化，则能量也伴随发生相应的变化，反之，</a:t>
            </a:r>
            <a:endParaRPr lang="en-US" altLang="zh-CN" b="1"/>
          </a:p>
          <a:p>
            <a:pPr algn="l">
              <a:lnSpc>
                <a:spcPct val="120000"/>
              </a:lnSpc>
            </a:pPr>
            <a:r>
              <a:rPr lang="en-US" altLang="zh-CN" b="1"/>
              <a:t>   </a:t>
            </a:r>
            <a:r>
              <a:rPr lang="zh-CN" altLang="en-US" b="1"/>
              <a:t>如果物体的能量发生变化，那么它的质量一定会发生相应的</a:t>
            </a:r>
            <a:endParaRPr lang="en-US" altLang="zh-CN" b="1"/>
          </a:p>
          <a:p>
            <a:pPr algn="l">
              <a:lnSpc>
                <a:spcPct val="120000"/>
              </a:lnSpc>
            </a:pPr>
            <a:r>
              <a:rPr lang="en-US" altLang="zh-CN" b="1"/>
              <a:t>   </a:t>
            </a:r>
            <a:r>
              <a:rPr lang="zh-CN" altLang="en-US" b="1"/>
              <a:t>变化。</a:t>
            </a:r>
          </a:p>
        </p:txBody>
      </p:sp>
      <p:sp>
        <p:nvSpPr>
          <p:cNvPr id="194565" name="Rectangle 5"/>
          <p:cNvSpPr>
            <a:spLocks noChangeArrowheads="1"/>
          </p:cNvSpPr>
          <p:nvPr/>
        </p:nvSpPr>
        <p:spPr bwMode="auto">
          <a:xfrm>
            <a:off x="115888" y="4206875"/>
            <a:ext cx="8658225" cy="968375"/>
          </a:xfrm>
          <a:prstGeom prst="rect">
            <a:avLst/>
          </a:prstGeom>
          <a:noFill/>
          <a:ln w="9525">
            <a:noFill/>
            <a:miter lim="800000"/>
            <a:headEnd/>
            <a:tailEnd/>
          </a:ln>
        </p:spPr>
        <p:txBody>
          <a:bodyPr>
            <a:spAutoFit/>
          </a:bodyPr>
          <a:lstStyle/>
          <a:p>
            <a:pPr algn="l">
              <a:lnSpc>
                <a:spcPct val="120000"/>
              </a:lnSpc>
            </a:pPr>
            <a:r>
              <a:rPr lang="en-US" altLang="zh-CN" b="1">
                <a:solidFill>
                  <a:schemeClr val="bg1"/>
                </a:solidFill>
              </a:rPr>
              <a:t>(3)</a:t>
            </a:r>
            <a:r>
              <a:rPr lang="zh-CN" altLang="en-US" b="1"/>
              <a:t>质能关系将经典物理中的两条孤立的守恒定律</a:t>
            </a:r>
            <a:r>
              <a:rPr lang="en-US" altLang="zh-CN" b="1"/>
              <a:t>——</a:t>
            </a:r>
            <a:r>
              <a:rPr lang="zh-CN" altLang="en-US" b="1"/>
              <a:t>质量守恒</a:t>
            </a:r>
            <a:endParaRPr lang="en-US" altLang="zh-CN" b="1"/>
          </a:p>
          <a:p>
            <a:pPr algn="l">
              <a:lnSpc>
                <a:spcPct val="120000"/>
              </a:lnSpc>
            </a:pPr>
            <a:r>
              <a:rPr lang="en-US" altLang="zh-CN" b="1"/>
              <a:t>   </a:t>
            </a:r>
            <a:r>
              <a:rPr lang="zh-CN" altLang="en-US" b="1"/>
              <a:t>定律、能量守恒定律统一在一起．</a:t>
            </a:r>
            <a:r>
              <a:rPr lang="en-US" altLang="zh-CN" b="1"/>
              <a:t> </a:t>
            </a:r>
          </a:p>
        </p:txBody>
      </p:sp>
      <p:sp>
        <p:nvSpPr>
          <p:cNvPr id="194566" name="Text Box 6"/>
          <p:cNvSpPr txBox="1">
            <a:spLocks noChangeArrowheads="1"/>
          </p:cNvSpPr>
          <p:nvPr/>
        </p:nvSpPr>
        <p:spPr bwMode="auto">
          <a:xfrm>
            <a:off x="438150" y="5207000"/>
            <a:ext cx="7966075" cy="968375"/>
          </a:xfrm>
          <a:prstGeom prst="rect">
            <a:avLst/>
          </a:prstGeom>
          <a:noFill/>
          <a:ln w="9525">
            <a:noFill/>
            <a:miter lim="800000"/>
            <a:headEnd/>
            <a:tailEnd/>
          </a:ln>
        </p:spPr>
        <p:txBody>
          <a:bodyPr>
            <a:spAutoFit/>
          </a:bodyPr>
          <a:lstStyle/>
          <a:p>
            <a:pPr algn="l">
              <a:lnSpc>
                <a:spcPct val="120000"/>
              </a:lnSpc>
              <a:spcBef>
                <a:spcPct val="50000"/>
              </a:spcBef>
            </a:pPr>
            <a:r>
              <a:rPr lang="en-US" altLang="zh-CN" b="1"/>
              <a:t>    </a:t>
            </a:r>
            <a:r>
              <a:rPr lang="zh-CN" altLang="en-US" b="1"/>
              <a:t>在一个孤立系统内，所有粒子的相对论动能与静能之和在相互作用过程中保持不变。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563"/>
                                        </p:tgtEl>
                                        <p:attrNameLst>
                                          <p:attrName>style.visibility</p:attrName>
                                        </p:attrNameLst>
                                      </p:cBhvr>
                                      <p:to>
                                        <p:strVal val="visible"/>
                                      </p:to>
                                    </p:set>
                                    <p:animEffect transition="in" filter="wipe(left)">
                                      <p:cBhvr>
                                        <p:cTn id="7" dur="1000"/>
                                        <p:tgtEl>
                                          <p:spTgt spid="1945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562"/>
                                        </p:tgtEl>
                                        <p:attrNameLst>
                                          <p:attrName>style.visibility</p:attrName>
                                        </p:attrNameLst>
                                      </p:cBhvr>
                                      <p:to>
                                        <p:strVal val="visible"/>
                                      </p:to>
                                    </p:set>
                                    <p:animEffect transition="in" filter="wipe(left)">
                                      <p:cBhvr>
                                        <p:cTn id="12" dur="1000"/>
                                        <p:tgtEl>
                                          <p:spTgt spid="1945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4564"/>
                                        </p:tgtEl>
                                        <p:attrNameLst>
                                          <p:attrName>style.visibility</p:attrName>
                                        </p:attrNameLst>
                                      </p:cBhvr>
                                      <p:to>
                                        <p:strVal val="visible"/>
                                      </p:to>
                                    </p:set>
                                    <p:animEffect transition="in" filter="wipe(left)">
                                      <p:cBhvr>
                                        <p:cTn id="17" dur="1000"/>
                                        <p:tgtEl>
                                          <p:spTgt spid="1945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4565"/>
                                        </p:tgtEl>
                                        <p:attrNameLst>
                                          <p:attrName>style.visibility</p:attrName>
                                        </p:attrNameLst>
                                      </p:cBhvr>
                                      <p:to>
                                        <p:strVal val="visible"/>
                                      </p:to>
                                    </p:set>
                                    <p:animEffect transition="in" filter="wipe(left)">
                                      <p:cBhvr>
                                        <p:cTn id="22" dur="1000"/>
                                        <p:tgtEl>
                                          <p:spTgt spid="19456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4566"/>
                                        </p:tgtEl>
                                        <p:attrNameLst>
                                          <p:attrName>style.visibility</p:attrName>
                                        </p:attrNameLst>
                                      </p:cBhvr>
                                      <p:to>
                                        <p:strVal val="visible"/>
                                      </p:to>
                                    </p:set>
                                    <p:animEffect transition="in" filter="wipe(left)">
                                      <p:cBhvr>
                                        <p:cTn id="27" dur="1000"/>
                                        <p:tgtEl>
                                          <p:spTgt spid="1945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2" grpId="0"/>
      <p:bldP spid="194563" grpId="0"/>
      <p:bldP spid="194564" grpId="0"/>
      <p:bldP spid="194565" grpId="0"/>
      <p:bldP spid="19456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5586" name="Object 2"/>
          <p:cNvGraphicFramePr>
            <a:graphicFrameLocks noChangeAspect="1"/>
          </p:cNvGraphicFramePr>
          <p:nvPr/>
        </p:nvGraphicFramePr>
        <p:xfrm>
          <a:off x="657225" y="1763713"/>
          <a:ext cx="2922588" cy="649287"/>
        </p:xfrm>
        <a:graphic>
          <a:graphicData uri="http://schemas.openxmlformats.org/presentationml/2006/ole">
            <p:oleObj spid="_x0000_s29698" name="Equation" r:id="rId3" imgW="1562100" imgH="342900" progId="">
              <p:embed/>
            </p:oleObj>
          </a:graphicData>
        </a:graphic>
      </p:graphicFrame>
      <p:graphicFrame>
        <p:nvGraphicFramePr>
          <p:cNvPr id="195587" name="Object 3"/>
          <p:cNvGraphicFramePr>
            <a:graphicFrameLocks noChangeAspect="1"/>
          </p:cNvGraphicFramePr>
          <p:nvPr/>
        </p:nvGraphicFramePr>
        <p:xfrm>
          <a:off x="4662488" y="1719263"/>
          <a:ext cx="1728787" cy="712787"/>
        </p:xfrm>
        <a:graphic>
          <a:graphicData uri="http://schemas.openxmlformats.org/presentationml/2006/ole">
            <p:oleObj spid="_x0000_s29699" name="Equation" r:id="rId4" imgW="850531" imgH="342751" progId="">
              <p:embed/>
            </p:oleObj>
          </a:graphicData>
        </a:graphic>
      </p:graphicFrame>
      <p:sp>
        <p:nvSpPr>
          <p:cNvPr id="195588" name="Text Box 4"/>
          <p:cNvSpPr txBox="1">
            <a:spLocks noChangeArrowheads="1"/>
          </p:cNvSpPr>
          <p:nvPr/>
        </p:nvSpPr>
        <p:spPr bwMode="auto">
          <a:xfrm>
            <a:off x="431800" y="414338"/>
            <a:ext cx="8326438" cy="968375"/>
          </a:xfrm>
          <a:prstGeom prst="rect">
            <a:avLst/>
          </a:prstGeom>
          <a:noFill/>
          <a:ln w="9525">
            <a:noFill/>
            <a:miter lim="800000"/>
            <a:headEnd/>
            <a:tailEnd/>
          </a:ln>
        </p:spPr>
        <p:txBody>
          <a:bodyPr>
            <a:spAutoFit/>
          </a:bodyPr>
          <a:lstStyle/>
          <a:p>
            <a:pPr algn="l">
              <a:lnSpc>
                <a:spcPct val="120000"/>
              </a:lnSpc>
            </a:pPr>
            <a:r>
              <a:rPr lang="en-US" altLang="zh-CN" b="1"/>
              <a:t>    </a:t>
            </a:r>
            <a:r>
              <a:rPr lang="zh-CN" altLang="en-US" b="1"/>
              <a:t>按相对论的概念，几个粒子在相互作用过程中，普遍的</a:t>
            </a:r>
            <a:endParaRPr lang="en-US" altLang="zh-CN" b="1"/>
          </a:p>
          <a:p>
            <a:pPr algn="l">
              <a:lnSpc>
                <a:spcPct val="120000"/>
              </a:lnSpc>
            </a:pPr>
            <a:r>
              <a:rPr lang="zh-CN" altLang="en-US" b="1"/>
              <a:t>能量守恒定律应表示为</a:t>
            </a:r>
            <a:endParaRPr lang="zh-CN" altLang="en-US"/>
          </a:p>
        </p:txBody>
      </p:sp>
      <p:sp>
        <p:nvSpPr>
          <p:cNvPr id="195589" name="AutoShape 5"/>
          <p:cNvSpPr>
            <a:spLocks noChangeArrowheads="1"/>
          </p:cNvSpPr>
          <p:nvPr/>
        </p:nvSpPr>
        <p:spPr bwMode="auto">
          <a:xfrm>
            <a:off x="3671888" y="1989138"/>
            <a:ext cx="868362" cy="315912"/>
          </a:xfrm>
          <a:prstGeom prst="rightArrow">
            <a:avLst>
              <a:gd name="adj1" fmla="val 34806"/>
              <a:gd name="adj2" fmla="val 100380"/>
            </a:avLst>
          </a:prstGeom>
          <a:solidFill>
            <a:srgbClr val="CCFFFF"/>
          </a:solidFill>
          <a:ln w="9525">
            <a:solidFill>
              <a:srgbClr val="66FFFF"/>
            </a:solidFill>
            <a:miter lim="800000"/>
            <a:headEnd/>
            <a:tailEnd/>
          </a:ln>
        </p:spPr>
        <p:txBody>
          <a:bodyPr wrap="none" anchor="ctr"/>
          <a:lstStyle/>
          <a:p>
            <a:endParaRPr lang="zh-CN" altLang="en-US"/>
          </a:p>
        </p:txBody>
      </p:sp>
      <p:sp>
        <p:nvSpPr>
          <p:cNvPr id="195590" name="Text Box 6"/>
          <p:cNvSpPr txBox="1">
            <a:spLocks noChangeArrowheads="1"/>
          </p:cNvSpPr>
          <p:nvPr/>
        </p:nvSpPr>
        <p:spPr bwMode="auto">
          <a:xfrm>
            <a:off x="7046913" y="1808163"/>
            <a:ext cx="1484312" cy="457200"/>
          </a:xfrm>
          <a:prstGeom prst="rect">
            <a:avLst/>
          </a:prstGeom>
          <a:noFill/>
          <a:ln w="9525">
            <a:noFill/>
            <a:miter lim="800000"/>
            <a:headEnd/>
            <a:tailEnd/>
          </a:ln>
        </p:spPr>
        <p:txBody>
          <a:bodyPr>
            <a:spAutoFit/>
          </a:bodyPr>
          <a:lstStyle/>
          <a:p>
            <a:pPr>
              <a:spcBef>
                <a:spcPct val="50000"/>
              </a:spcBef>
            </a:pPr>
            <a:r>
              <a:rPr lang="zh-CN" altLang="en-US" b="1"/>
              <a:t>质量守恒</a:t>
            </a:r>
          </a:p>
        </p:txBody>
      </p:sp>
      <p:sp>
        <p:nvSpPr>
          <p:cNvPr id="195591" name="Rectangle 7"/>
          <p:cNvSpPr>
            <a:spLocks noChangeArrowheads="1"/>
          </p:cNvSpPr>
          <p:nvPr/>
        </p:nvSpPr>
        <p:spPr bwMode="auto">
          <a:xfrm>
            <a:off x="206375" y="2708275"/>
            <a:ext cx="8658225" cy="493713"/>
          </a:xfrm>
          <a:prstGeom prst="rect">
            <a:avLst/>
          </a:prstGeom>
          <a:noFill/>
          <a:ln w="9525">
            <a:noFill/>
            <a:miter lim="800000"/>
            <a:headEnd/>
            <a:tailEnd/>
          </a:ln>
        </p:spPr>
        <p:txBody>
          <a:bodyPr>
            <a:spAutoFit/>
          </a:bodyPr>
          <a:lstStyle/>
          <a:p>
            <a:pPr algn="l">
              <a:lnSpc>
                <a:spcPct val="120000"/>
              </a:lnSpc>
            </a:pPr>
            <a:r>
              <a:rPr lang="en-US" altLang="zh-CN" b="1">
                <a:solidFill>
                  <a:schemeClr val="bg1"/>
                </a:solidFill>
              </a:rPr>
              <a:t>(4) </a:t>
            </a:r>
            <a:r>
              <a:rPr lang="zh-CN" altLang="en-US" b="1"/>
              <a:t>质能关系开启了人类利用核能的大门。</a:t>
            </a:r>
            <a:r>
              <a:rPr lang="en-US" altLang="zh-CN"/>
              <a:t> </a:t>
            </a:r>
          </a:p>
        </p:txBody>
      </p:sp>
      <p:sp>
        <p:nvSpPr>
          <p:cNvPr id="195592" name="Text Box 8"/>
          <p:cNvSpPr txBox="1">
            <a:spLocks noChangeArrowheads="1"/>
          </p:cNvSpPr>
          <p:nvPr/>
        </p:nvSpPr>
        <p:spPr bwMode="auto">
          <a:xfrm>
            <a:off x="611188" y="3294063"/>
            <a:ext cx="1665287" cy="457200"/>
          </a:xfrm>
          <a:prstGeom prst="rect">
            <a:avLst/>
          </a:prstGeom>
          <a:noFill/>
          <a:ln w="9525">
            <a:noFill/>
            <a:miter lim="800000"/>
            <a:headEnd/>
            <a:tailEnd/>
          </a:ln>
        </p:spPr>
        <p:txBody>
          <a:bodyPr>
            <a:spAutoFit/>
          </a:bodyPr>
          <a:lstStyle/>
          <a:p>
            <a:pPr algn="l">
              <a:spcBef>
                <a:spcPct val="50000"/>
              </a:spcBef>
            </a:pPr>
            <a:r>
              <a:rPr lang="zh-CN" altLang="en-US" b="1">
                <a:solidFill>
                  <a:schemeClr val="bg2"/>
                </a:solidFill>
              </a:rPr>
              <a:t>质量亏损：</a:t>
            </a:r>
          </a:p>
        </p:txBody>
      </p:sp>
      <p:pic>
        <p:nvPicPr>
          <p:cNvPr id="195593" name="Picture 9"/>
          <p:cNvPicPr preferRelativeResize="0">
            <a:picLocks noChangeAspect="1" noChangeArrowheads="1"/>
          </p:cNvPicPr>
          <p:nvPr/>
        </p:nvPicPr>
        <p:blipFill>
          <a:blip r:embed="rId5"/>
          <a:srcRect/>
          <a:stretch>
            <a:fillRect/>
          </a:stretch>
        </p:blipFill>
        <p:spPr bwMode="auto">
          <a:xfrm>
            <a:off x="2681288" y="4284663"/>
            <a:ext cx="2070100" cy="636587"/>
          </a:xfrm>
          <a:prstGeom prst="rect">
            <a:avLst/>
          </a:prstGeom>
          <a:noFill/>
          <a:ln w="9525">
            <a:noFill/>
            <a:miter lim="800000"/>
            <a:headEnd/>
            <a:tailEnd/>
          </a:ln>
        </p:spPr>
      </p:pic>
      <p:sp>
        <p:nvSpPr>
          <p:cNvPr id="195594" name="Text Box 10"/>
          <p:cNvSpPr txBox="1">
            <a:spLocks noChangeArrowheads="1"/>
          </p:cNvSpPr>
          <p:nvPr/>
        </p:nvSpPr>
        <p:spPr bwMode="auto">
          <a:xfrm>
            <a:off x="2097088" y="3294063"/>
            <a:ext cx="6661150" cy="979487"/>
          </a:xfrm>
          <a:prstGeom prst="rect">
            <a:avLst/>
          </a:prstGeom>
          <a:noFill/>
          <a:ln>
            <a:noFill/>
          </a:ln>
          <a:effectLst/>
          <a:extLst>
            <a:ext uri="{909E8E84-426E-40dd-AFC4-6F175D3DCCD1}"/>
            <a:ext uri="{91240B29-F687-4f45-9708-019B960494DF}"/>
            <a:ext uri="{AF507438-7753-43e0-B8FC-AC1667EBCBE1}"/>
          </a:extLst>
        </p:spPr>
        <p:txBody>
          <a:bodyPr>
            <a:spAutoFit/>
          </a:bodyPr>
          <a:lstStyle/>
          <a:p>
            <a:pPr algn="l">
              <a:lnSpc>
                <a:spcPct val="120000"/>
              </a:lnSpc>
              <a:defRPr/>
            </a:pPr>
            <a:r>
              <a:rPr lang="zh-CN" altLang="en-US" b="1" dirty="0"/>
              <a:t>在核反应中，原子核的裂变和聚变反应前后系统都存在质量差</a:t>
            </a:r>
            <a:r>
              <a:rPr lang="en-US" altLang="zh-CN" b="1" dirty="0" err="1">
                <a:solidFill>
                  <a:schemeClr val="accent2"/>
                </a:solidFill>
                <a:latin typeface="+mn-ea"/>
                <a:ea typeface="+mn-ea"/>
              </a:rPr>
              <a:t>Δ</a:t>
            </a:r>
            <a:r>
              <a:rPr lang="en-US" altLang="zh-CN" b="1" i="1" dirty="0" err="1">
                <a:solidFill>
                  <a:schemeClr val="accent2"/>
                </a:solidFill>
              </a:rPr>
              <a:t>m</a:t>
            </a:r>
            <a:r>
              <a:rPr lang="zh-CN" altLang="en-US" b="1" dirty="0"/>
              <a:t>。</a:t>
            </a:r>
            <a:r>
              <a:rPr lang="en-US" altLang="zh-CN" b="1" dirty="0"/>
              <a:t> </a:t>
            </a:r>
          </a:p>
        </p:txBody>
      </p:sp>
      <p:sp>
        <p:nvSpPr>
          <p:cNvPr id="195595" name="Text Box 11"/>
          <p:cNvSpPr txBox="1">
            <a:spLocks noChangeArrowheads="1"/>
          </p:cNvSpPr>
          <p:nvPr/>
        </p:nvSpPr>
        <p:spPr bwMode="auto">
          <a:xfrm>
            <a:off x="385763" y="4914900"/>
            <a:ext cx="8326437" cy="1406525"/>
          </a:xfrm>
          <a:prstGeom prst="rect">
            <a:avLst/>
          </a:prstGeom>
          <a:noFill/>
          <a:ln w="9525">
            <a:noFill/>
            <a:miter lim="800000"/>
            <a:headEnd/>
            <a:tailEnd/>
          </a:ln>
        </p:spPr>
        <p:txBody>
          <a:bodyPr>
            <a:spAutoFit/>
          </a:bodyPr>
          <a:lstStyle/>
          <a:p>
            <a:pPr algn="l">
              <a:lnSpc>
                <a:spcPct val="120000"/>
              </a:lnSpc>
            </a:pPr>
            <a:r>
              <a:rPr lang="en-US" altLang="zh-CN" b="1">
                <a:latin typeface="宋体" pitchFamily="2" charset="-122"/>
              </a:rPr>
              <a:t>    </a:t>
            </a:r>
            <a:r>
              <a:rPr lang="zh-CN" altLang="en-US" b="1">
                <a:latin typeface="宋体" pitchFamily="2" charset="-122"/>
              </a:rPr>
              <a:t>当重核裂变或轻核聚合时，会发生质量“亏损”，</a:t>
            </a:r>
            <a:r>
              <a:rPr lang="en-US" altLang="zh-CN" b="1">
                <a:latin typeface="宋体" pitchFamily="2" charset="-122"/>
              </a:rPr>
              <a:t> </a:t>
            </a:r>
            <a:r>
              <a:rPr lang="zh-CN" altLang="en-US" b="1">
                <a:latin typeface="宋体" pitchFamily="2" charset="-122"/>
              </a:rPr>
              <a:t>“亏损”的质量以场的形式辐射出去了，场是释放出去的能量的携带者。</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5588"/>
                                        </p:tgtEl>
                                        <p:attrNameLst>
                                          <p:attrName>style.visibility</p:attrName>
                                        </p:attrNameLst>
                                      </p:cBhvr>
                                      <p:to>
                                        <p:strVal val="visible"/>
                                      </p:to>
                                    </p:set>
                                    <p:animEffect transition="in" filter="wipe(left)">
                                      <p:cBhvr>
                                        <p:cTn id="7" dur="1000"/>
                                        <p:tgtEl>
                                          <p:spTgt spid="1955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95586"/>
                                        </p:tgtEl>
                                        <p:attrNameLst>
                                          <p:attrName>style.visibility</p:attrName>
                                        </p:attrNameLst>
                                      </p:cBhvr>
                                      <p:to>
                                        <p:strVal val="visible"/>
                                      </p:to>
                                    </p:set>
                                    <p:animEffect transition="in" filter="wipe(left)">
                                      <p:cBhvr>
                                        <p:cTn id="12" dur="1000"/>
                                        <p:tgtEl>
                                          <p:spTgt spid="19558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5589"/>
                                        </p:tgtEl>
                                        <p:attrNameLst>
                                          <p:attrName>style.visibility</p:attrName>
                                        </p:attrNameLst>
                                      </p:cBhvr>
                                      <p:to>
                                        <p:strVal val="visible"/>
                                      </p:to>
                                    </p:set>
                                    <p:animEffect transition="in" filter="wipe(left)">
                                      <p:cBhvr>
                                        <p:cTn id="17" dur="1000"/>
                                        <p:tgtEl>
                                          <p:spTgt spid="19558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95587"/>
                                        </p:tgtEl>
                                        <p:attrNameLst>
                                          <p:attrName>style.visibility</p:attrName>
                                        </p:attrNameLst>
                                      </p:cBhvr>
                                      <p:to>
                                        <p:strVal val="visible"/>
                                      </p:to>
                                    </p:set>
                                    <p:animEffect transition="in" filter="wipe(left)">
                                      <p:cBhvr>
                                        <p:cTn id="22" dur="1000"/>
                                        <p:tgtEl>
                                          <p:spTgt spid="19558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5590"/>
                                        </p:tgtEl>
                                        <p:attrNameLst>
                                          <p:attrName>style.visibility</p:attrName>
                                        </p:attrNameLst>
                                      </p:cBhvr>
                                      <p:to>
                                        <p:strVal val="visible"/>
                                      </p:to>
                                    </p:set>
                                    <p:animEffect transition="in" filter="wipe(left)">
                                      <p:cBhvr>
                                        <p:cTn id="27" dur="1000"/>
                                        <p:tgtEl>
                                          <p:spTgt spid="19559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5591"/>
                                        </p:tgtEl>
                                        <p:attrNameLst>
                                          <p:attrName>style.visibility</p:attrName>
                                        </p:attrNameLst>
                                      </p:cBhvr>
                                      <p:to>
                                        <p:strVal val="visible"/>
                                      </p:to>
                                    </p:set>
                                    <p:animEffect transition="in" filter="wipe(left)">
                                      <p:cBhvr>
                                        <p:cTn id="32" dur="1000"/>
                                        <p:tgtEl>
                                          <p:spTgt spid="19559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5592"/>
                                        </p:tgtEl>
                                        <p:attrNameLst>
                                          <p:attrName>style.visibility</p:attrName>
                                        </p:attrNameLst>
                                      </p:cBhvr>
                                      <p:to>
                                        <p:strVal val="visible"/>
                                      </p:to>
                                    </p:set>
                                    <p:animEffect transition="in" filter="wipe(left)">
                                      <p:cBhvr>
                                        <p:cTn id="37" dur="1000"/>
                                        <p:tgtEl>
                                          <p:spTgt spid="19559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95594"/>
                                        </p:tgtEl>
                                        <p:attrNameLst>
                                          <p:attrName>style.visibility</p:attrName>
                                        </p:attrNameLst>
                                      </p:cBhvr>
                                      <p:to>
                                        <p:strVal val="visible"/>
                                      </p:to>
                                    </p:set>
                                    <p:animEffect transition="in" filter="wipe(left)">
                                      <p:cBhvr>
                                        <p:cTn id="42" dur="1000"/>
                                        <p:tgtEl>
                                          <p:spTgt spid="19559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95593"/>
                                        </p:tgtEl>
                                        <p:attrNameLst>
                                          <p:attrName>style.visibility</p:attrName>
                                        </p:attrNameLst>
                                      </p:cBhvr>
                                      <p:to>
                                        <p:strVal val="visible"/>
                                      </p:to>
                                    </p:set>
                                    <p:animEffect transition="in" filter="wipe(left)">
                                      <p:cBhvr>
                                        <p:cTn id="47" dur="1000"/>
                                        <p:tgtEl>
                                          <p:spTgt spid="19559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95595"/>
                                        </p:tgtEl>
                                        <p:attrNameLst>
                                          <p:attrName>style.visibility</p:attrName>
                                        </p:attrNameLst>
                                      </p:cBhvr>
                                      <p:to>
                                        <p:strVal val="visible"/>
                                      </p:to>
                                    </p:set>
                                    <p:animEffect transition="in" filter="wipe(left)">
                                      <p:cBhvr>
                                        <p:cTn id="52" dur="1000"/>
                                        <p:tgtEl>
                                          <p:spTgt spid="195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8" grpId="0"/>
      <p:bldP spid="195589" grpId="0" animBg="1"/>
      <p:bldP spid="195590" grpId="0"/>
      <p:bldP spid="195591" grpId="0"/>
      <p:bldP spid="195592" grpId="0"/>
      <p:bldP spid="195594" grpId="0"/>
      <p:bldP spid="19559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1" name="Rectangle 3"/>
          <p:cNvSpPr>
            <a:spLocks noChangeArrowheads="1"/>
          </p:cNvSpPr>
          <p:nvPr/>
        </p:nvSpPr>
        <p:spPr bwMode="auto">
          <a:xfrm>
            <a:off x="276225" y="1876425"/>
            <a:ext cx="492125" cy="457200"/>
          </a:xfrm>
          <a:prstGeom prst="rect">
            <a:avLst/>
          </a:prstGeom>
          <a:noFill/>
          <a:ln w="9525">
            <a:noFill/>
            <a:miter lim="800000"/>
            <a:headEnd/>
            <a:tailEnd/>
          </a:ln>
        </p:spPr>
        <p:txBody>
          <a:bodyPr wrap="none">
            <a:spAutoFit/>
          </a:bodyPr>
          <a:lstStyle/>
          <a:p>
            <a:r>
              <a:rPr lang="zh-CN" altLang="en-US" b="1">
                <a:solidFill>
                  <a:schemeClr val="hlink"/>
                </a:solidFill>
                <a:latin typeface="宋体" pitchFamily="2" charset="-122"/>
              </a:rPr>
              <a:t>解</a:t>
            </a:r>
          </a:p>
        </p:txBody>
      </p:sp>
      <p:sp>
        <p:nvSpPr>
          <p:cNvPr id="196613" name="Rectangle 5"/>
          <p:cNvSpPr>
            <a:spLocks noChangeArrowheads="1"/>
          </p:cNvSpPr>
          <p:nvPr/>
        </p:nvSpPr>
        <p:spPr bwMode="auto">
          <a:xfrm>
            <a:off x="188913" y="409575"/>
            <a:ext cx="8748712" cy="968663"/>
          </a:xfrm>
          <a:prstGeom prst="rect">
            <a:avLst/>
          </a:prstGeom>
          <a:noFill/>
          <a:ln w="9525">
            <a:noFill/>
            <a:miter lim="800000"/>
            <a:headEnd/>
            <a:tailEnd/>
          </a:ln>
        </p:spPr>
        <p:txBody>
          <a:bodyPr anchor="ctr">
            <a:spAutoFit/>
          </a:bodyPr>
          <a:lstStyle/>
          <a:p>
            <a:pPr algn="l">
              <a:lnSpc>
                <a:spcPct val="125000"/>
              </a:lnSpc>
              <a:spcBef>
                <a:spcPct val="50000"/>
              </a:spcBef>
              <a:tabLst>
                <a:tab pos="1733550" algn="l"/>
              </a:tabLst>
            </a:pPr>
            <a:r>
              <a:rPr lang="zh-CN" altLang="en-US" b="1" dirty="0">
                <a:solidFill>
                  <a:schemeClr val="hlink"/>
                </a:solidFill>
              </a:rPr>
              <a:t>例</a:t>
            </a:r>
            <a:r>
              <a:rPr lang="en-US" altLang="zh-CN" b="1" dirty="0">
                <a:solidFill>
                  <a:schemeClr val="hlink"/>
                </a:solidFill>
              </a:rPr>
              <a:t>7 </a:t>
            </a:r>
            <a:r>
              <a:rPr lang="en-US" altLang="zh-CN" b="1" dirty="0" smtClean="0">
                <a:solidFill>
                  <a:schemeClr val="hlink"/>
                </a:solidFill>
              </a:rPr>
              <a:t> </a:t>
            </a:r>
            <a:r>
              <a:rPr lang="zh-CN" altLang="en-US" b="1" dirty="0" smtClean="0">
                <a:solidFill>
                  <a:schemeClr val="bg1"/>
                </a:solidFill>
              </a:rPr>
              <a:t>两</a:t>
            </a:r>
            <a:r>
              <a:rPr lang="zh-CN" altLang="en-US" b="1" dirty="0">
                <a:solidFill>
                  <a:schemeClr val="bg1"/>
                </a:solidFill>
              </a:rPr>
              <a:t>个静质量都为</a:t>
            </a:r>
            <a:r>
              <a:rPr lang="en-US" altLang="zh-CN" dirty="0">
                <a:solidFill>
                  <a:schemeClr val="accent2"/>
                </a:solidFill>
              </a:rPr>
              <a:t> </a:t>
            </a:r>
            <a:r>
              <a:rPr lang="en-US" altLang="zh-CN" b="1" i="1" dirty="0">
                <a:solidFill>
                  <a:schemeClr val="accent2"/>
                </a:solidFill>
              </a:rPr>
              <a:t>m</a:t>
            </a:r>
            <a:r>
              <a:rPr lang="en-US" altLang="zh-CN" b="1" baseline="-25000" dirty="0">
                <a:solidFill>
                  <a:schemeClr val="accent2"/>
                </a:solidFill>
              </a:rPr>
              <a:t>0</a:t>
            </a:r>
            <a:r>
              <a:rPr lang="en-US" altLang="zh-CN" baseline="-25000" dirty="0">
                <a:solidFill>
                  <a:srgbClr val="66FFFF"/>
                </a:solidFill>
              </a:rPr>
              <a:t> </a:t>
            </a:r>
            <a:r>
              <a:rPr lang="zh-CN" altLang="en-US" b="1" dirty="0">
                <a:solidFill>
                  <a:schemeClr val="bg1"/>
                </a:solidFill>
              </a:rPr>
              <a:t>的粒子，其中一个静止，另一个以</a:t>
            </a:r>
            <a:r>
              <a:rPr lang="en-US" altLang="zh-CN" b="1" dirty="0">
                <a:solidFill>
                  <a:schemeClr val="bg1"/>
                </a:solidFill>
              </a:rPr>
              <a:t> </a:t>
            </a:r>
            <a:r>
              <a:rPr lang="en-US" altLang="zh-CN" b="1" i="1" dirty="0">
                <a:solidFill>
                  <a:schemeClr val="accent2"/>
                </a:solidFill>
              </a:rPr>
              <a:t>v</a:t>
            </a:r>
            <a:r>
              <a:rPr lang="en-US" altLang="zh-CN" b="1" baseline="-25000" dirty="0">
                <a:solidFill>
                  <a:schemeClr val="accent2"/>
                </a:solidFill>
              </a:rPr>
              <a:t>0 </a:t>
            </a:r>
            <a:r>
              <a:rPr lang="en-US" altLang="zh-CN" b="1" dirty="0">
                <a:solidFill>
                  <a:schemeClr val="accent2"/>
                </a:solidFill>
              </a:rPr>
              <a:t>=</a:t>
            </a:r>
            <a:r>
              <a:rPr lang="en-US" altLang="zh-CN" b="1" dirty="0">
                <a:solidFill>
                  <a:srgbClr val="66FFFF"/>
                </a:solidFill>
              </a:rPr>
              <a:t> </a:t>
            </a:r>
            <a:r>
              <a:rPr lang="en-US" altLang="zh-CN" b="1" dirty="0">
                <a:solidFill>
                  <a:schemeClr val="accent2"/>
                </a:solidFill>
              </a:rPr>
              <a:t>0.8 </a:t>
            </a:r>
            <a:r>
              <a:rPr lang="en-US" altLang="zh-CN" b="1" i="1" dirty="0">
                <a:solidFill>
                  <a:schemeClr val="accent2"/>
                </a:solidFill>
              </a:rPr>
              <a:t>c</a:t>
            </a:r>
            <a:r>
              <a:rPr lang="en-US" altLang="zh-CN" b="1" i="1" dirty="0">
                <a:solidFill>
                  <a:srgbClr val="66FFFF"/>
                </a:solidFill>
              </a:rPr>
              <a:t> </a:t>
            </a:r>
            <a:r>
              <a:rPr lang="zh-CN" altLang="en-US" b="1" dirty="0">
                <a:solidFill>
                  <a:schemeClr val="bg1"/>
                </a:solidFill>
              </a:rPr>
              <a:t>运动，它们对心碰撞以后粘在一起。</a:t>
            </a:r>
          </a:p>
        </p:txBody>
      </p:sp>
      <p:sp>
        <p:nvSpPr>
          <p:cNvPr id="196614" name="Rectangle 6"/>
          <p:cNvSpPr>
            <a:spLocks noChangeArrowheads="1"/>
          </p:cNvSpPr>
          <p:nvPr/>
        </p:nvSpPr>
        <p:spPr bwMode="auto">
          <a:xfrm>
            <a:off x="188913" y="1346200"/>
            <a:ext cx="4454525" cy="539750"/>
          </a:xfrm>
          <a:prstGeom prst="rect">
            <a:avLst/>
          </a:prstGeom>
          <a:noFill/>
          <a:ln w="9525">
            <a:noFill/>
            <a:miter lim="800000"/>
            <a:headEnd/>
            <a:tailEnd/>
          </a:ln>
        </p:spPr>
        <p:txBody>
          <a:bodyPr anchor="ctr">
            <a:spAutoFit/>
          </a:bodyPr>
          <a:lstStyle/>
          <a:p>
            <a:pPr algn="l">
              <a:lnSpc>
                <a:spcPct val="125000"/>
              </a:lnSpc>
              <a:spcBef>
                <a:spcPct val="50000"/>
              </a:spcBef>
              <a:tabLst>
                <a:tab pos="1733550" algn="l"/>
              </a:tabLst>
            </a:pPr>
            <a:r>
              <a:rPr lang="zh-CN" altLang="en-US" b="1">
                <a:solidFill>
                  <a:schemeClr val="hlink"/>
                </a:solidFill>
                <a:latin typeface="宋体" pitchFamily="2" charset="-122"/>
              </a:rPr>
              <a:t>求</a:t>
            </a:r>
            <a:r>
              <a:rPr lang="en-US" altLang="zh-CN" b="1">
                <a:solidFill>
                  <a:schemeClr val="hlink"/>
                </a:solidFill>
                <a:latin typeface="宋体" pitchFamily="2" charset="-122"/>
              </a:rPr>
              <a:t> </a:t>
            </a:r>
            <a:r>
              <a:rPr lang="zh-CN" altLang="en-US" b="1">
                <a:solidFill>
                  <a:schemeClr val="bg1"/>
                </a:solidFill>
              </a:rPr>
              <a:t>碰撞后合成粒子的静止质量。</a:t>
            </a:r>
          </a:p>
        </p:txBody>
      </p:sp>
      <p:sp>
        <p:nvSpPr>
          <p:cNvPr id="196615" name="Rectangle 7"/>
          <p:cNvSpPr>
            <a:spLocks noChangeArrowheads="1"/>
          </p:cNvSpPr>
          <p:nvPr/>
        </p:nvSpPr>
        <p:spPr bwMode="auto">
          <a:xfrm>
            <a:off x="755650" y="1876425"/>
            <a:ext cx="8158163" cy="1463675"/>
          </a:xfrm>
          <a:prstGeom prst="rect">
            <a:avLst/>
          </a:prstGeom>
          <a:noFill/>
          <a:ln w="9525">
            <a:noFill/>
            <a:miter lim="800000"/>
            <a:headEnd/>
            <a:tailEnd/>
          </a:ln>
        </p:spPr>
        <p:txBody>
          <a:bodyPr anchor="ctr">
            <a:spAutoFit/>
          </a:bodyPr>
          <a:lstStyle/>
          <a:p>
            <a:pPr algn="l">
              <a:lnSpc>
                <a:spcPct val="125000"/>
              </a:lnSpc>
            </a:pPr>
            <a:r>
              <a:rPr lang="zh-CN" altLang="en-US" b="1">
                <a:solidFill>
                  <a:schemeClr val="bg1"/>
                </a:solidFill>
              </a:rPr>
              <a:t>取两粒子作为一个系统，碰撞前后动量、能量圴守恒，设碰撞后合成粒子的静止质量为</a:t>
            </a:r>
            <a:r>
              <a:rPr lang="en-US" altLang="zh-CN" b="1">
                <a:solidFill>
                  <a:schemeClr val="accent2"/>
                </a:solidFill>
              </a:rPr>
              <a:t> </a:t>
            </a:r>
            <a:r>
              <a:rPr lang="en-US" altLang="zh-CN" b="1" i="1">
                <a:solidFill>
                  <a:schemeClr val="accent2"/>
                </a:solidFill>
              </a:rPr>
              <a:t>M</a:t>
            </a:r>
            <a:r>
              <a:rPr lang="en-US" altLang="zh-CN" b="1" baseline="-25000">
                <a:solidFill>
                  <a:schemeClr val="accent2"/>
                </a:solidFill>
              </a:rPr>
              <a:t>0 </a:t>
            </a:r>
            <a:r>
              <a:rPr lang="zh-CN" altLang="en-US" b="1">
                <a:solidFill>
                  <a:schemeClr val="bg1"/>
                </a:solidFill>
              </a:rPr>
              <a:t>，运动质量为</a:t>
            </a:r>
            <a:r>
              <a:rPr lang="en-US" altLang="zh-CN" b="1">
                <a:solidFill>
                  <a:schemeClr val="bg1"/>
                </a:solidFill>
              </a:rPr>
              <a:t> </a:t>
            </a:r>
            <a:r>
              <a:rPr lang="en-US" altLang="zh-CN" b="1" i="1">
                <a:solidFill>
                  <a:schemeClr val="accent2"/>
                </a:solidFill>
              </a:rPr>
              <a:t>M </a:t>
            </a:r>
            <a:r>
              <a:rPr lang="zh-CN" altLang="en-US" b="1">
                <a:solidFill>
                  <a:schemeClr val="bg1"/>
                </a:solidFill>
              </a:rPr>
              <a:t>，运动速度为</a:t>
            </a:r>
            <a:r>
              <a:rPr lang="en-US" altLang="zh-CN" b="1">
                <a:solidFill>
                  <a:schemeClr val="bg1"/>
                </a:solidFill>
              </a:rPr>
              <a:t> </a:t>
            </a:r>
            <a:r>
              <a:rPr lang="en-US" altLang="zh-CN" b="1" i="1">
                <a:solidFill>
                  <a:schemeClr val="accent2"/>
                </a:solidFill>
              </a:rPr>
              <a:t>v</a:t>
            </a:r>
            <a:r>
              <a:rPr lang="zh-CN" altLang="en-US" b="1">
                <a:solidFill>
                  <a:schemeClr val="bg1"/>
                </a:solidFill>
              </a:rPr>
              <a:t>，则</a:t>
            </a:r>
          </a:p>
        </p:txBody>
      </p:sp>
      <p:graphicFrame>
        <p:nvGraphicFramePr>
          <p:cNvPr id="196616" name="Object 8"/>
          <p:cNvGraphicFramePr>
            <a:graphicFrameLocks/>
          </p:cNvGraphicFramePr>
          <p:nvPr/>
        </p:nvGraphicFramePr>
        <p:xfrm>
          <a:off x="1781175" y="3429000"/>
          <a:ext cx="1979613" cy="541338"/>
        </p:xfrm>
        <a:graphic>
          <a:graphicData uri="http://schemas.openxmlformats.org/presentationml/2006/ole">
            <p:oleObj spid="_x0000_s30722" name="Equation" r:id="rId3" imgW="914400" imgH="228600" progId="">
              <p:embed/>
            </p:oleObj>
          </a:graphicData>
        </a:graphic>
      </p:graphicFrame>
      <p:graphicFrame>
        <p:nvGraphicFramePr>
          <p:cNvPr id="196617" name="Object 9"/>
          <p:cNvGraphicFramePr>
            <a:graphicFrameLocks/>
          </p:cNvGraphicFramePr>
          <p:nvPr/>
        </p:nvGraphicFramePr>
        <p:xfrm>
          <a:off x="1557338" y="4059238"/>
          <a:ext cx="2584450" cy="482600"/>
        </p:xfrm>
        <a:graphic>
          <a:graphicData uri="http://schemas.openxmlformats.org/presentationml/2006/ole">
            <p:oleObj spid="_x0000_s30723" name="公式" r:id="rId4" imgW="2552700" imgH="482600" progId="Equation.3">
              <p:embed/>
            </p:oleObj>
          </a:graphicData>
        </a:graphic>
      </p:graphicFrame>
      <p:graphicFrame>
        <p:nvGraphicFramePr>
          <p:cNvPr id="196618" name="Object 10"/>
          <p:cNvGraphicFramePr>
            <a:graphicFrameLocks/>
          </p:cNvGraphicFramePr>
          <p:nvPr/>
        </p:nvGraphicFramePr>
        <p:xfrm>
          <a:off x="1601788" y="5678488"/>
          <a:ext cx="5491162" cy="681037"/>
        </p:xfrm>
        <a:graphic>
          <a:graphicData uri="http://schemas.openxmlformats.org/presentationml/2006/ole">
            <p:oleObj spid="_x0000_s30724" name="Equation" r:id="rId5" imgW="2806700" imgH="355600" progId="">
              <p:embed/>
            </p:oleObj>
          </a:graphicData>
        </a:graphic>
      </p:graphicFrame>
      <p:graphicFrame>
        <p:nvGraphicFramePr>
          <p:cNvPr id="196619" name="Object 11"/>
          <p:cNvGraphicFramePr>
            <a:graphicFrameLocks/>
          </p:cNvGraphicFramePr>
          <p:nvPr/>
        </p:nvGraphicFramePr>
        <p:xfrm>
          <a:off x="1422400" y="4778375"/>
          <a:ext cx="1935163" cy="790575"/>
        </p:xfrm>
        <a:graphic>
          <a:graphicData uri="http://schemas.openxmlformats.org/presentationml/2006/ole">
            <p:oleObj spid="_x0000_s30725" name="Equation" r:id="rId6" imgW="1104421" imgH="495085" progId="">
              <p:embed/>
            </p:oleObj>
          </a:graphicData>
        </a:graphic>
      </p:graphicFrame>
      <p:sp>
        <p:nvSpPr>
          <p:cNvPr id="196620" name="Text Box 12"/>
          <p:cNvSpPr txBox="1">
            <a:spLocks noChangeArrowheads="1"/>
          </p:cNvSpPr>
          <p:nvPr/>
        </p:nvSpPr>
        <p:spPr bwMode="auto">
          <a:xfrm>
            <a:off x="3575050" y="4870450"/>
            <a:ext cx="492125" cy="457200"/>
          </a:xfrm>
          <a:prstGeom prst="rect">
            <a:avLst/>
          </a:prstGeom>
          <a:noFill/>
          <a:ln w="9525">
            <a:noFill/>
            <a:miter lim="800000"/>
            <a:headEnd/>
            <a:tailEnd/>
          </a:ln>
        </p:spPr>
        <p:txBody>
          <a:bodyPr wrap="none">
            <a:spAutoFit/>
          </a:bodyPr>
          <a:lstStyle/>
          <a:p>
            <a:r>
              <a:rPr lang="zh-CN" altLang="en-US" b="1">
                <a:solidFill>
                  <a:schemeClr val="bg1"/>
                </a:solidFill>
              </a:rPr>
              <a:t>得</a:t>
            </a:r>
          </a:p>
        </p:txBody>
      </p:sp>
      <p:sp>
        <p:nvSpPr>
          <p:cNvPr id="196621" name="Text Box 13"/>
          <p:cNvSpPr txBox="1">
            <a:spLocks noChangeArrowheads="1"/>
          </p:cNvSpPr>
          <p:nvPr/>
        </p:nvSpPr>
        <p:spPr bwMode="auto">
          <a:xfrm>
            <a:off x="755650" y="4870450"/>
            <a:ext cx="492125" cy="457200"/>
          </a:xfrm>
          <a:prstGeom prst="rect">
            <a:avLst/>
          </a:prstGeom>
          <a:noFill/>
          <a:ln w="9525">
            <a:noFill/>
            <a:miter lim="800000"/>
            <a:headEnd/>
            <a:tailEnd/>
          </a:ln>
        </p:spPr>
        <p:txBody>
          <a:bodyPr wrap="none">
            <a:spAutoFit/>
          </a:bodyPr>
          <a:lstStyle/>
          <a:p>
            <a:r>
              <a:rPr lang="zh-CN" altLang="en-US" b="1">
                <a:solidFill>
                  <a:schemeClr val="bg1"/>
                </a:solidFill>
              </a:rPr>
              <a:t>由</a:t>
            </a:r>
          </a:p>
        </p:txBody>
      </p:sp>
      <p:grpSp>
        <p:nvGrpSpPr>
          <p:cNvPr id="2" name="Group 14"/>
          <p:cNvGrpSpPr>
            <a:grpSpLocks/>
          </p:cNvGrpSpPr>
          <p:nvPr/>
        </p:nvGrpSpPr>
        <p:grpSpPr bwMode="auto">
          <a:xfrm>
            <a:off x="6777038" y="3294063"/>
            <a:ext cx="504825" cy="504825"/>
            <a:chOff x="2744" y="3475"/>
            <a:chExt cx="318" cy="318"/>
          </a:xfrm>
        </p:grpSpPr>
        <p:sp>
          <p:nvSpPr>
            <p:cNvPr id="30747" name="Oval 15"/>
            <p:cNvSpPr>
              <a:spLocks noChangeArrowheads="1"/>
            </p:cNvSpPr>
            <p:nvPr/>
          </p:nvSpPr>
          <p:spPr bwMode="auto">
            <a:xfrm>
              <a:off x="2744" y="3475"/>
              <a:ext cx="318" cy="318"/>
            </a:xfrm>
            <a:prstGeom prst="ellipse">
              <a:avLst/>
            </a:prstGeom>
            <a:gradFill rotWithShape="1">
              <a:gsLst>
                <a:gs pos="0">
                  <a:srgbClr val="FFFFFF">
                    <a:alpha val="50000"/>
                  </a:srgbClr>
                </a:gs>
                <a:gs pos="100000">
                  <a:srgbClr val="99FFCC">
                    <a:alpha val="79999"/>
                  </a:srgbClr>
                </a:gs>
              </a:gsLst>
              <a:path path="shape">
                <a:fillToRect l="50000" t="50000" r="50000" b="50000"/>
              </a:path>
            </a:gradFill>
            <a:ln w="9525">
              <a:noFill/>
              <a:round/>
              <a:headEnd/>
              <a:tailEnd/>
            </a:ln>
          </p:spPr>
          <p:txBody>
            <a:bodyPr wrap="none" anchor="ctr"/>
            <a:lstStyle/>
            <a:p>
              <a:endParaRPr lang="zh-CN" altLang="en-US"/>
            </a:p>
          </p:txBody>
        </p:sp>
        <p:graphicFrame>
          <p:nvGraphicFramePr>
            <p:cNvPr id="30730" name="Object 16"/>
            <p:cNvGraphicFramePr>
              <a:graphicFrameLocks noChangeAspect="1"/>
            </p:cNvGraphicFramePr>
            <p:nvPr/>
          </p:nvGraphicFramePr>
          <p:xfrm>
            <a:off x="2772" y="3490"/>
            <a:ext cx="263" cy="270"/>
          </p:xfrm>
          <a:graphic>
            <a:graphicData uri="http://schemas.openxmlformats.org/presentationml/2006/ole">
              <p:oleObj spid="_x0000_s30730" name="公式" r:id="rId7" imgW="393529" imgH="431613" progId="Equation.3">
                <p:embed/>
              </p:oleObj>
            </a:graphicData>
          </a:graphic>
        </p:graphicFrame>
      </p:grpSp>
      <p:grpSp>
        <p:nvGrpSpPr>
          <p:cNvPr id="3" name="Group 17"/>
          <p:cNvGrpSpPr>
            <a:grpSpLocks/>
          </p:cNvGrpSpPr>
          <p:nvPr/>
        </p:nvGrpSpPr>
        <p:grpSpPr bwMode="auto">
          <a:xfrm>
            <a:off x="6372225" y="3024188"/>
            <a:ext cx="1239838" cy="833437"/>
            <a:chOff x="4269" y="2954"/>
            <a:chExt cx="781" cy="525"/>
          </a:xfrm>
        </p:grpSpPr>
        <p:sp>
          <p:nvSpPr>
            <p:cNvPr id="30744" name="Line 18"/>
            <p:cNvSpPr>
              <a:spLocks noChangeShapeType="1"/>
            </p:cNvSpPr>
            <p:nvPr/>
          </p:nvSpPr>
          <p:spPr bwMode="auto">
            <a:xfrm>
              <a:off x="4609" y="3294"/>
              <a:ext cx="439" cy="0"/>
            </a:xfrm>
            <a:prstGeom prst="line">
              <a:avLst/>
            </a:prstGeom>
            <a:noFill/>
            <a:ln w="28575">
              <a:solidFill>
                <a:srgbClr val="000099"/>
              </a:solidFill>
              <a:round/>
              <a:headEnd/>
              <a:tailEnd type="triangle" w="med" len="lg"/>
            </a:ln>
          </p:spPr>
          <p:txBody>
            <a:bodyPr wrap="none" anchor="ctr"/>
            <a:lstStyle/>
            <a:p>
              <a:endParaRPr lang="zh-CN" altLang="en-US"/>
            </a:p>
          </p:txBody>
        </p:sp>
        <p:graphicFrame>
          <p:nvGraphicFramePr>
            <p:cNvPr id="30728" name="Object 19"/>
            <p:cNvGraphicFramePr>
              <a:graphicFrameLocks/>
            </p:cNvGraphicFramePr>
            <p:nvPr/>
          </p:nvGraphicFramePr>
          <p:xfrm>
            <a:off x="4836" y="2954"/>
            <a:ext cx="214" cy="269"/>
          </p:xfrm>
          <a:graphic>
            <a:graphicData uri="http://schemas.openxmlformats.org/presentationml/2006/ole">
              <p:oleObj spid="_x0000_s30728" name="Equation" r:id="rId8" imgW="126725" imgH="177415" progId="">
                <p:embed/>
              </p:oleObj>
            </a:graphicData>
          </a:graphic>
        </p:graphicFrame>
        <p:grpSp>
          <p:nvGrpSpPr>
            <p:cNvPr id="30745" name="Group 20"/>
            <p:cNvGrpSpPr>
              <a:grpSpLocks/>
            </p:cNvGrpSpPr>
            <p:nvPr/>
          </p:nvGrpSpPr>
          <p:grpSpPr bwMode="auto">
            <a:xfrm>
              <a:off x="4269" y="3096"/>
              <a:ext cx="369" cy="383"/>
              <a:chOff x="2880" y="3673"/>
              <a:chExt cx="363" cy="363"/>
            </a:xfrm>
          </p:grpSpPr>
          <p:sp>
            <p:nvSpPr>
              <p:cNvPr id="30746" name="Oval 21"/>
              <p:cNvSpPr>
                <a:spLocks noChangeArrowheads="1"/>
              </p:cNvSpPr>
              <p:nvPr/>
            </p:nvSpPr>
            <p:spPr bwMode="auto">
              <a:xfrm>
                <a:off x="2880" y="3673"/>
                <a:ext cx="363" cy="363"/>
              </a:xfrm>
              <a:prstGeom prst="ellipse">
                <a:avLst/>
              </a:prstGeom>
              <a:gradFill rotWithShape="1">
                <a:gsLst>
                  <a:gs pos="0">
                    <a:srgbClr val="FFFFFF">
                      <a:alpha val="50000"/>
                    </a:srgbClr>
                  </a:gs>
                  <a:gs pos="100000">
                    <a:srgbClr val="FF66FF">
                      <a:alpha val="79999"/>
                    </a:srgbClr>
                  </a:gs>
                </a:gsLst>
                <a:path path="shape">
                  <a:fillToRect l="50000" t="50000" r="50000" b="50000"/>
                </a:path>
              </a:gradFill>
              <a:ln w="9525">
                <a:noFill/>
                <a:round/>
                <a:headEnd/>
                <a:tailEnd/>
              </a:ln>
            </p:spPr>
            <p:txBody>
              <a:bodyPr wrap="none" anchor="ctr"/>
              <a:lstStyle/>
              <a:p>
                <a:endParaRPr lang="zh-CN" altLang="en-US"/>
              </a:p>
            </p:txBody>
          </p:sp>
          <p:graphicFrame>
            <p:nvGraphicFramePr>
              <p:cNvPr id="30729" name="Object 22"/>
              <p:cNvGraphicFramePr>
                <a:graphicFrameLocks noChangeAspect="1"/>
              </p:cNvGraphicFramePr>
              <p:nvPr/>
            </p:nvGraphicFramePr>
            <p:xfrm>
              <a:off x="2940" y="3778"/>
              <a:ext cx="239" cy="166"/>
            </p:xfrm>
            <a:graphic>
              <a:graphicData uri="http://schemas.openxmlformats.org/presentationml/2006/ole">
                <p:oleObj spid="_x0000_s30729" name="公式" r:id="rId9" imgW="393529" imgH="291973" progId="Equation.3">
                  <p:embed/>
                </p:oleObj>
              </a:graphicData>
            </a:graphic>
          </p:graphicFrame>
        </p:grpSp>
      </p:grpSp>
      <p:grpSp>
        <p:nvGrpSpPr>
          <p:cNvPr id="5" name="Group 23"/>
          <p:cNvGrpSpPr>
            <a:grpSpLocks/>
          </p:cNvGrpSpPr>
          <p:nvPr/>
        </p:nvGrpSpPr>
        <p:grpSpPr bwMode="auto">
          <a:xfrm>
            <a:off x="4976813" y="3114675"/>
            <a:ext cx="960437" cy="684213"/>
            <a:chOff x="1098" y="3515"/>
            <a:chExt cx="605" cy="431"/>
          </a:xfrm>
        </p:grpSpPr>
        <p:grpSp>
          <p:nvGrpSpPr>
            <p:cNvPr id="30740" name="Group 24"/>
            <p:cNvGrpSpPr>
              <a:grpSpLocks/>
            </p:cNvGrpSpPr>
            <p:nvPr/>
          </p:nvGrpSpPr>
          <p:grpSpPr bwMode="auto">
            <a:xfrm>
              <a:off x="1415" y="3515"/>
              <a:ext cx="288" cy="273"/>
              <a:chOff x="1415" y="3515"/>
              <a:chExt cx="288" cy="273"/>
            </a:xfrm>
          </p:grpSpPr>
          <p:sp>
            <p:nvSpPr>
              <p:cNvPr id="30743" name="Line 25"/>
              <p:cNvSpPr>
                <a:spLocks noChangeShapeType="1"/>
              </p:cNvSpPr>
              <p:nvPr/>
            </p:nvSpPr>
            <p:spPr bwMode="auto">
              <a:xfrm>
                <a:off x="1415" y="3787"/>
                <a:ext cx="288" cy="0"/>
              </a:xfrm>
              <a:prstGeom prst="line">
                <a:avLst/>
              </a:prstGeom>
              <a:noFill/>
              <a:ln w="28575">
                <a:solidFill>
                  <a:srgbClr val="000099"/>
                </a:solidFill>
                <a:round/>
                <a:headEnd/>
                <a:tailEnd type="triangle" w="med" len="lg"/>
              </a:ln>
            </p:spPr>
            <p:txBody>
              <a:bodyPr/>
              <a:lstStyle/>
              <a:p>
                <a:endParaRPr lang="zh-CN" altLang="en-US"/>
              </a:p>
            </p:txBody>
          </p:sp>
          <p:graphicFrame>
            <p:nvGraphicFramePr>
              <p:cNvPr id="30727" name="Object 26"/>
              <p:cNvGraphicFramePr>
                <a:graphicFrameLocks/>
              </p:cNvGraphicFramePr>
              <p:nvPr/>
            </p:nvGraphicFramePr>
            <p:xfrm>
              <a:off x="1495" y="3515"/>
              <a:ext cx="200" cy="273"/>
            </p:xfrm>
            <a:graphic>
              <a:graphicData uri="http://schemas.openxmlformats.org/presentationml/2006/ole">
                <p:oleObj spid="_x0000_s30727" name="Equation" r:id="rId10" imgW="317225" imgH="431425" progId="">
                  <p:embed/>
                </p:oleObj>
              </a:graphicData>
            </a:graphic>
          </p:graphicFrame>
        </p:grpSp>
        <p:grpSp>
          <p:nvGrpSpPr>
            <p:cNvPr id="30741" name="Group 27"/>
            <p:cNvGrpSpPr>
              <a:grpSpLocks/>
            </p:cNvGrpSpPr>
            <p:nvPr/>
          </p:nvGrpSpPr>
          <p:grpSpPr bwMode="auto">
            <a:xfrm>
              <a:off x="1098" y="3628"/>
              <a:ext cx="318" cy="318"/>
              <a:chOff x="1111" y="3657"/>
              <a:chExt cx="318" cy="318"/>
            </a:xfrm>
          </p:grpSpPr>
          <p:sp>
            <p:nvSpPr>
              <p:cNvPr id="196636" name="Oval 28"/>
              <p:cNvSpPr>
                <a:spLocks noChangeArrowheads="1"/>
              </p:cNvSpPr>
              <p:nvPr/>
            </p:nvSpPr>
            <p:spPr bwMode="auto">
              <a:xfrm>
                <a:off x="1111" y="3657"/>
                <a:ext cx="318" cy="318"/>
              </a:xfrm>
              <a:prstGeom prst="ellipse">
                <a:avLst/>
              </a:prstGeom>
              <a:gradFill rotWithShape="1">
                <a:gsLst>
                  <a:gs pos="0">
                    <a:schemeClr val="tx2">
                      <a:gamma/>
                      <a:tint val="0"/>
                      <a:invGamma/>
                      <a:alpha val="50000"/>
                    </a:schemeClr>
                  </a:gs>
                  <a:gs pos="100000">
                    <a:schemeClr val="tx2">
                      <a:alpha val="80000"/>
                    </a:schemeClr>
                  </a:gs>
                </a:gsLst>
                <a:path path="shape">
                  <a:fillToRect l="50000" t="50000" r="50000" b="50000"/>
                </a:path>
              </a:gradFill>
              <a:ln>
                <a:noFill/>
              </a:ln>
              <a:effectLst/>
              <a:extLst>
                <a:ext uri="{91240B29-F687-4f45-9708-019B960494DF}"/>
                <a:ext uri="{AF507438-7753-43e0-B8FC-AC1667EBCBE1}"/>
              </a:extLst>
            </p:spPr>
            <p:txBody>
              <a:bodyPr wrap="none" anchor="ctr"/>
              <a:lstStyle/>
              <a:p>
                <a:pPr>
                  <a:defRPr/>
                </a:pPr>
                <a:endParaRPr lang="zh-CN" altLang="en-US">
                  <a:latin typeface="Times New Roman" charset="0"/>
                  <a:ea typeface="宋体" charset="0"/>
                </a:endParaRPr>
              </a:p>
            </p:txBody>
          </p:sp>
          <p:graphicFrame>
            <p:nvGraphicFramePr>
              <p:cNvPr id="30726" name="Object 29"/>
              <p:cNvGraphicFramePr>
                <a:graphicFrameLocks noChangeAspect="1"/>
              </p:cNvGraphicFramePr>
              <p:nvPr/>
            </p:nvGraphicFramePr>
            <p:xfrm>
              <a:off x="1176" y="3740"/>
              <a:ext cx="196" cy="143"/>
            </p:xfrm>
            <a:graphic>
              <a:graphicData uri="http://schemas.openxmlformats.org/presentationml/2006/ole">
                <p:oleObj spid="_x0000_s30726" name="公式" r:id="rId11" imgW="291973" imgH="228501" progId="Equation.3">
                  <p:embed/>
                </p:oleObj>
              </a:graphicData>
            </a:graphic>
          </p:graphicFrame>
        </p:gr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6613"/>
                                        </p:tgtEl>
                                        <p:attrNameLst>
                                          <p:attrName>style.visibility</p:attrName>
                                        </p:attrNameLst>
                                      </p:cBhvr>
                                      <p:to>
                                        <p:strVal val="visible"/>
                                      </p:to>
                                    </p:set>
                                    <p:animEffect transition="in" filter="wipe(left)">
                                      <p:cBhvr>
                                        <p:cTn id="7" dur="1000"/>
                                        <p:tgtEl>
                                          <p:spTgt spid="1966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6614"/>
                                        </p:tgtEl>
                                        <p:attrNameLst>
                                          <p:attrName>style.visibility</p:attrName>
                                        </p:attrNameLst>
                                      </p:cBhvr>
                                      <p:to>
                                        <p:strVal val="visible"/>
                                      </p:to>
                                    </p:set>
                                    <p:animEffect transition="in" filter="wipe(left)">
                                      <p:cBhvr>
                                        <p:cTn id="12" dur="1000"/>
                                        <p:tgtEl>
                                          <p:spTgt spid="1966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6611"/>
                                        </p:tgtEl>
                                        <p:attrNameLst>
                                          <p:attrName>style.visibility</p:attrName>
                                        </p:attrNameLst>
                                      </p:cBhvr>
                                      <p:to>
                                        <p:strVal val="visible"/>
                                      </p:to>
                                    </p:set>
                                    <p:animEffect transition="in" filter="wipe(left)">
                                      <p:cBhvr>
                                        <p:cTn id="17" dur="1000"/>
                                        <p:tgtEl>
                                          <p:spTgt spid="1966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2"/>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0" presetClass="path" presetSubtype="0" accel="50000" decel="50000" fill="hold" nodeType="clickEffect">
                                  <p:stCondLst>
                                    <p:cond delay="0"/>
                                  </p:stCondLst>
                                  <p:childTnLst>
                                    <p:animMotion origin="layout" path="M -3.33333E-6 1.44509E-6 L 0.14775 1.44509E-6 " pathEditMode="relative" ptsTypes="AA">
                                      <p:cBhvr>
                                        <p:cTn id="27" dur="2000" fill="hold"/>
                                        <p:tgtEl>
                                          <p:spTgt spid="5"/>
                                        </p:tgtEl>
                                        <p:attrNameLst>
                                          <p:attrName>ppt_x</p:attrName>
                                          <p:attrName>ppt_y</p:attrName>
                                        </p:attrNameLst>
                                      </p:cBhvr>
                                    </p:animMotion>
                                  </p:childTnLst>
                                </p:cTn>
                              </p:par>
                            </p:childTnLst>
                          </p:cTn>
                        </p:par>
                        <p:par>
                          <p:cTn id="28" fill="hold" nodeType="afterGroup">
                            <p:stCondLst>
                              <p:cond delay="2000"/>
                            </p:stCondLst>
                            <p:childTnLst>
                              <p:par>
                                <p:cTn id="29" presetID="1" presetClass="exit" presetSubtype="0" fill="hold" nodeType="afterEffect">
                                  <p:stCondLst>
                                    <p:cond delay="0"/>
                                  </p:stCondLst>
                                  <p:childTnLst>
                                    <p:set>
                                      <p:cBhvr>
                                        <p:cTn id="30" dur="1" fill="hold">
                                          <p:stCondLst>
                                            <p:cond delay="0"/>
                                          </p:stCondLst>
                                        </p:cTn>
                                        <p:tgtEl>
                                          <p:spTgt spid="5"/>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2"/>
                                        </p:tgtEl>
                                        <p:attrNameLst>
                                          <p:attrName>style.visibility</p:attrName>
                                        </p:attrNameLst>
                                      </p:cBhvr>
                                      <p:to>
                                        <p:strVal val="hidden"/>
                                      </p:to>
                                    </p:set>
                                  </p:childTnLst>
                                </p:cTn>
                              </p:par>
                            </p:childTnLst>
                          </p:cTn>
                        </p:par>
                        <p:par>
                          <p:cTn id="33" fill="hold" nodeType="afterGroup">
                            <p:stCondLst>
                              <p:cond delay="2000"/>
                            </p:stCondLst>
                            <p:childTnLst>
                              <p:par>
                                <p:cTn id="34" presetID="1" presetClass="entr" presetSubtype="0" fill="hold" nodeType="afterEffect">
                                  <p:stCondLst>
                                    <p:cond delay="0"/>
                                  </p:stCondLst>
                                  <p:childTnLst>
                                    <p:set>
                                      <p:cBhvr>
                                        <p:cTn id="35" dur="1" fill="hold">
                                          <p:stCondLst>
                                            <p:cond delay="0"/>
                                          </p:stCondLst>
                                        </p:cTn>
                                        <p:tgtEl>
                                          <p:spTgt spid="3"/>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96615"/>
                                        </p:tgtEl>
                                        <p:attrNameLst>
                                          <p:attrName>style.visibility</p:attrName>
                                        </p:attrNameLst>
                                      </p:cBhvr>
                                      <p:to>
                                        <p:strVal val="visible"/>
                                      </p:to>
                                    </p:set>
                                    <p:animEffect transition="in" filter="wipe(left)">
                                      <p:cBhvr>
                                        <p:cTn id="40" dur="1000"/>
                                        <p:tgtEl>
                                          <p:spTgt spid="19661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196616"/>
                                        </p:tgtEl>
                                        <p:attrNameLst>
                                          <p:attrName>style.visibility</p:attrName>
                                        </p:attrNameLst>
                                      </p:cBhvr>
                                      <p:to>
                                        <p:strVal val="visible"/>
                                      </p:to>
                                    </p:set>
                                    <p:animEffect transition="in" filter="wipe(left)">
                                      <p:cBhvr>
                                        <p:cTn id="45" dur="1000"/>
                                        <p:tgtEl>
                                          <p:spTgt spid="19661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196617"/>
                                        </p:tgtEl>
                                        <p:attrNameLst>
                                          <p:attrName>style.visibility</p:attrName>
                                        </p:attrNameLst>
                                      </p:cBhvr>
                                      <p:to>
                                        <p:strVal val="visible"/>
                                      </p:to>
                                    </p:set>
                                    <p:animEffect transition="in" filter="wipe(left)">
                                      <p:cBhvr>
                                        <p:cTn id="50" dur="1000"/>
                                        <p:tgtEl>
                                          <p:spTgt spid="196617"/>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96621"/>
                                        </p:tgtEl>
                                        <p:attrNameLst>
                                          <p:attrName>style.visibility</p:attrName>
                                        </p:attrNameLst>
                                      </p:cBhvr>
                                      <p:to>
                                        <p:strVal val="visible"/>
                                      </p:to>
                                    </p:set>
                                    <p:animEffect transition="in" filter="wipe(left)">
                                      <p:cBhvr>
                                        <p:cTn id="55" dur="1000"/>
                                        <p:tgtEl>
                                          <p:spTgt spid="19662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196619"/>
                                        </p:tgtEl>
                                        <p:attrNameLst>
                                          <p:attrName>style.visibility</p:attrName>
                                        </p:attrNameLst>
                                      </p:cBhvr>
                                      <p:to>
                                        <p:strVal val="visible"/>
                                      </p:to>
                                    </p:set>
                                    <p:animEffect transition="in" filter="wipe(left)">
                                      <p:cBhvr>
                                        <p:cTn id="60" dur="1000"/>
                                        <p:tgtEl>
                                          <p:spTgt spid="196619"/>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96620"/>
                                        </p:tgtEl>
                                        <p:attrNameLst>
                                          <p:attrName>style.visibility</p:attrName>
                                        </p:attrNameLst>
                                      </p:cBhvr>
                                      <p:to>
                                        <p:strVal val="visible"/>
                                      </p:to>
                                    </p:set>
                                    <p:animEffect transition="in" filter="wipe(left)">
                                      <p:cBhvr>
                                        <p:cTn id="65" dur="1000"/>
                                        <p:tgtEl>
                                          <p:spTgt spid="196620"/>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196618"/>
                                        </p:tgtEl>
                                        <p:attrNameLst>
                                          <p:attrName>style.visibility</p:attrName>
                                        </p:attrNameLst>
                                      </p:cBhvr>
                                      <p:to>
                                        <p:strVal val="visible"/>
                                      </p:to>
                                    </p:set>
                                    <p:animEffect transition="in" filter="wipe(left)">
                                      <p:cBhvr>
                                        <p:cTn id="70" dur="1000"/>
                                        <p:tgtEl>
                                          <p:spTgt spid="1966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1" grpId="0" autoUpdateAnimBg="0"/>
      <p:bldP spid="196613" grpId="0"/>
      <p:bldP spid="196614" grpId="0"/>
      <p:bldP spid="196615" grpId="0"/>
      <p:bldP spid="196620" grpId="0"/>
      <p:bldP spid="19662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5" name="Rectangle 3"/>
          <p:cNvSpPr>
            <a:spLocks noChangeArrowheads="1"/>
          </p:cNvSpPr>
          <p:nvPr/>
        </p:nvSpPr>
        <p:spPr bwMode="auto">
          <a:xfrm>
            <a:off x="161925" y="1790700"/>
            <a:ext cx="490538" cy="512763"/>
          </a:xfrm>
          <a:prstGeom prst="rect">
            <a:avLst/>
          </a:prstGeom>
          <a:noFill/>
          <a:ln w="9525">
            <a:noFill/>
            <a:miter lim="800000"/>
            <a:headEnd/>
            <a:tailEnd/>
          </a:ln>
        </p:spPr>
        <p:txBody>
          <a:bodyPr wrap="none">
            <a:spAutoFit/>
          </a:bodyPr>
          <a:lstStyle/>
          <a:p>
            <a:pPr>
              <a:lnSpc>
                <a:spcPct val="115000"/>
              </a:lnSpc>
            </a:pPr>
            <a:r>
              <a:rPr lang="zh-CN" altLang="en-US" b="1">
                <a:solidFill>
                  <a:schemeClr val="hlink"/>
                </a:solidFill>
                <a:latin typeface="宋体" pitchFamily="2" charset="-122"/>
              </a:rPr>
              <a:t>解</a:t>
            </a:r>
          </a:p>
        </p:txBody>
      </p:sp>
      <p:sp>
        <p:nvSpPr>
          <p:cNvPr id="197637" name="Rectangle 5"/>
          <p:cNvSpPr>
            <a:spLocks noChangeArrowheads="1"/>
          </p:cNvSpPr>
          <p:nvPr/>
        </p:nvSpPr>
        <p:spPr bwMode="auto">
          <a:xfrm>
            <a:off x="161925" y="461963"/>
            <a:ext cx="7559675" cy="479425"/>
          </a:xfrm>
          <a:prstGeom prst="rect">
            <a:avLst/>
          </a:prstGeom>
          <a:noFill/>
          <a:ln w="9525">
            <a:noFill/>
            <a:miter lim="800000"/>
            <a:headEnd/>
            <a:tailEnd/>
          </a:ln>
        </p:spPr>
        <p:txBody>
          <a:bodyPr anchor="ctr">
            <a:spAutoFit/>
          </a:bodyPr>
          <a:lstStyle/>
          <a:p>
            <a:pPr algn="l">
              <a:lnSpc>
                <a:spcPct val="115000"/>
              </a:lnSpc>
              <a:tabLst>
                <a:tab pos="1733550" algn="l"/>
              </a:tabLst>
            </a:pPr>
            <a:r>
              <a:rPr lang="zh-CN" altLang="en-US" b="1">
                <a:solidFill>
                  <a:schemeClr val="hlink"/>
                </a:solidFill>
              </a:rPr>
              <a:t>例</a:t>
            </a:r>
            <a:r>
              <a:rPr lang="en-US" altLang="zh-CN" b="1">
                <a:solidFill>
                  <a:schemeClr val="hlink"/>
                </a:solidFill>
              </a:rPr>
              <a:t>8 </a:t>
            </a:r>
            <a:r>
              <a:rPr lang="zh-CN" altLang="en-US" b="1">
                <a:solidFill>
                  <a:schemeClr val="bg1"/>
                </a:solidFill>
              </a:rPr>
              <a:t>某粒子的静止质量为</a:t>
            </a:r>
            <a:r>
              <a:rPr lang="en-US" altLang="zh-CN" b="1">
                <a:solidFill>
                  <a:srgbClr val="FFFF00"/>
                </a:solidFill>
              </a:rPr>
              <a:t> </a:t>
            </a:r>
            <a:r>
              <a:rPr lang="en-US" altLang="zh-CN" b="1" i="1">
                <a:solidFill>
                  <a:schemeClr val="accent2"/>
                </a:solidFill>
              </a:rPr>
              <a:t>m</a:t>
            </a:r>
            <a:r>
              <a:rPr lang="en-US" altLang="zh-CN" b="1" baseline="-25000">
                <a:solidFill>
                  <a:schemeClr val="accent2"/>
                </a:solidFill>
              </a:rPr>
              <a:t>0</a:t>
            </a:r>
            <a:r>
              <a:rPr lang="en-US" altLang="zh-CN" b="1" baseline="-25000">
                <a:solidFill>
                  <a:srgbClr val="FFFF99"/>
                </a:solidFill>
              </a:rPr>
              <a:t>  </a:t>
            </a:r>
            <a:r>
              <a:rPr lang="zh-CN" altLang="en-US" b="1">
                <a:solidFill>
                  <a:schemeClr val="bg1"/>
                </a:solidFill>
              </a:rPr>
              <a:t>，当其动能等于其静能时，</a:t>
            </a:r>
          </a:p>
        </p:txBody>
      </p:sp>
      <p:sp>
        <p:nvSpPr>
          <p:cNvPr id="197638" name="Text Box 6"/>
          <p:cNvSpPr txBox="1">
            <a:spLocks noChangeArrowheads="1"/>
          </p:cNvSpPr>
          <p:nvPr/>
        </p:nvSpPr>
        <p:spPr bwMode="auto">
          <a:xfrm>
            <a:off x="161925" y="1089025"/>
            <a:ext cx="4987925" cy="479425"/>
          </a:xfrm>
          <a:prstGeom prst="rect">
            <a:avLst/>
          </a:prstGeom>
          <a:noFill/>
          <a:ln w="9525">
            <a:noFill/>
            <a:miter lim="800000"/>
            <a:headEnd/>
            <a:tailEnd/>
          </a:ln>
        </p:spPr>
        <p:txBody>
          <a:bodyPr>
            <a:spAutoFit/>
          </a:bodyPr>
          <a:lstStyle/>
          <a:p>
            <a:pPr algn="l">
              <a:lnSpc>
                <a:spcPct val="115000"/>
              </a:lnSpc>
            </a:pPr>
            <a:r>
              <a:rPr lang="zh-CN" altLang="en-US" b="1">
                <a:solidFill>
                  <a:schemeClr val="hlink"/>
                </a:solidFill>
              </a:rPr>
              <a:t>求</a:t>
            </a:r>
            <a:r>
              <a:rPr lang="en-US" altLang="zh-CN" b="1">
                <a:solidFill>
                  <a:schemeClr val="hlink"/>
                </a:solidFill>
              </a:rPr>
              <a:t> </a:t>
            </a:r>
            <a:r>
              <a:rPr lang="zh-CN" altLang="en-US" b="1">
                <a:solidFill>
                  <a:schemeClr val="bg1"/>
                </a:solidFill>
              </a:rPr>
              <a:t>其质量和动量各等于多少？</a:t>
            </a:r>
          </a:p>
        </p:txBody>
      </p:sp>
      <p:graphicFrame>
        <p:nvGraphicFramePr>
          <p:cNvPr id="197639" name="Object 7"/>
          <p:cNvGraphicFramePr>
            <a:graphicFrameLocks noChangeAspect="1"/>
          </p:cNvGraphicFramePr>
          <p:nvPr/>
        </p:nvGraphicFramePr>
        <p:xfrm>
          <a:off x="1744663" y="1808163"/>
          <a:ext cx="2365375" cy="525462"/>
        </p:xfrm>
        <a:graphic>
          <a:graphicData uri="http://schemas.openxmlformats.org/presentationml/2006/ole">
            <p:oleObj spid="_x0000_s31746" name="公式" r:id="rId3" imgW="1091726" imgH="241195" progId="Equation.3">
              <p:embed/>
            </p:oleObj>
          </a:graphicData>
        </a:graphic>
      </p:graphicFrame>
      <p:sp>
        <p:nvSpPr>
          <p:cNvPr id="197640" name="Text Box 8"/>
          <p:cNvSpPr txBox="1">
            <a:spLocks noChangeArrowheads="1"/>
          </p:cNvSpPr>
          <p:nvPr/>
        </p:nvSpPr>
        <p:spPr bwMode="auto">
          <a:xfrm>
            <a:off x="701675" y="1790700"/>
            <a:ext cx="1584325" cy="479425"/>
          </a:xfrm>
          <a:prstGeom prst="rect">
            <a:avLst/>
          </a:prstGeom>
          <a:noFill/>
          <a:ln w="9525">
            <a:noFill/>
            <a:miter lim="800000"/>
            <a:headEnd/>
            <a:tailEnd/>
          </a:ln>
        </p:spPr>
        <p:txBody>
          <a:bodyPr>
            <a:spAutoFit/>
          </a:bodyPr>
          <a:lstStyle/>
          <a:p>
            <a:pPr algn="l">
              <a:lnSpc>
                <a:spcPct val="115000"/>
              </a:lnSpc>
            </a:pPr>
            <a:r>
              <a:rPr lang="zh-CN" altLang="en-US" b="1">
                <a:solidFill>
                  <a:schemeClr val="bg1"/>
                </a:solidFill>
              </a:rPr>
              <a:t>动能：</a:t>
            </a:r>
          </a:p>
        </p:txBody>
      </p:sp>
      <p:sp>
        <p:nvSpPr>
          <p:cNvPr id="197641" name="Rectangle 9"/>
          <p:cNvSpPr>
            <a:spLocks noChangeArrowheads="1"/>
          </p:cNvSpPr>
          <p:nvPr/>
        </p:nvSpPr>
        <p:spPr bwMode="auto">
          <a:xfrm>
            <a:off x="712788" y="4895850"/>
            <a:ext cx="2293937" cy="479425"/>
          </a:xfrm>
          <a:prstGeom prst="rect">
            <a:avLst/>
          </a:prstGeom>
          <a:noFill/>
          <a:ln w="9525">
            <a:noFill/>
            <a:miter lim="800000"/>
            <a:headEnd/>
            <a:tailEnd/>
          </a:ln>
        </p:spPr>
        <p:txBody>
          <a:bodyPr>
            <a:spAutoFit/>
          </a:bodyPr>
          <a:lstStyle/>
          <a:p>
            <a:pPr algn="l" eaLnBrk="0" hangingPunct="0">
              <a:lnSpc>
                <a:spcPct val="115000"/>
              </a:lnSpc>
              <a:tabLst>
                <a:tab pos="1733550" algn="l"/>
              </a:tabLst>
            </a:pPr>
            <a:r>
              <a:rPr lang="zh-CN" altLang="en-US" b="1">
                <a:solidFill>
                  <a:schemeClr val="bg1"/>
                </a:solidFill>
              </a:rPr>
              <a:t>由此得，动量</a:t>
            </a:r>
          </a:p>
        </p:txBody>
      </p:sp>
      <p:graphicFrame>
        <p:nvGraphicFramePr>
          <p:cNvPr id="197642" name="Object 10"/>
          <p:cNvGraphicFramePr>
            <a:graphicFrameLocks noChangeAspect="1"/>
          </p:cNvGraphicFramePr>
          <p:nvPr/>
        </p:nvGraphicFramePr>
        <p:xfrm>
          <a:off x="2947988" y="4711700"/>
          <a:ext cx="4054475" cy="1462088"/>
        </p:xfrm>
        <a:graphic>
          <a:graphicData uri="http://schemas.openxmlformats.org/presentationml/2006/ole">
            <p:oleObj spid="_x0000_s31747" name="公式" r:id="rId4" imgW="1879600" imgH="673100" progId="Equation.3">
              <p:embed/>
            </p:oleObj>
          </a:graphicData>
        </a:graphic>
      </p:graphicFrame>
      <p:graphicFrame>
        <p:nvGraphicFramePr>
          <p:cNvPr id="197643" name="Object 11"/>
          <p:cNvGraphicFramePr>
            <a:graphicFrameLocks noChangeAspect="1"/>
          </p:cNvGraphicFramePr>
          <p:nvPr/>
        </p:nvGraphicFramePr>
        <p:xfrm>
          <a:off x="5472113" y="3465513"/>
          <a:ext cx="1260475" cy="830262"/>
        </p:xfrm>
        <a:graphic>
          <a:graphicData uri="http://schemas.openxmlformats.org/presentationml/2006/ole">
            <p:oleObj spid="_x0000_s31748" name="公式" r:id="rId5" imgW="583947" imgH="380835" progId="Equation.3">
              <p:embed/>
            </p:oleObj>
          </a:graphicData>
        </a:graphic>
      </p:graphicFrame>
      <p:sp>
        <p:nvSpPr>
          <p:cNvPr id="197644" name="Rectangle 12"/>
          <p:cNvSpPr>
            <a:spLocks noChangeArrowheads="1"/>
          </p:cNvSpPr>
          <p:nvPr/>
        </p:nvSpPr>
        <p:spPr bwMode="auto">
          <a:xfrm>
            <a:off x="698500" y="3621088"/>
            <a:ext cx="2087563" cy="479425"/>
          </a:xfrm>
          <a:prstGeom prst="rect">
            <a:avLst/>
          </a:prstGeom>
          <a:noFill/>
          <a:ln w="9525">
            <a:noFill/>
            <a:miter lim="800000"/>
            <a:headEnd/>
            <a:tailEnd/>
          </a:ln>
        </p:spPr>
        <p:txBody>
          <a:bodyPr anchor="ctr">
            <a:spAutoFit/>
          </a:bodyPr>
          <a:lstStyle/>
          <a:p>
            <a:pPr algn="l">
              <a:lnSpc>
                <a:spcPct val="115000"/>
              </a:lnSpc>
              <a:tabLst>
                <a:tab pos="1733550" algn="l"/>
              </a:tabLst>
            </a:pPr>
            <a:r>
              <a:rPr lang="zh-CN" altLang="en-US" b="1">
                <a:solidFill>
                  <a:schemeClr val="bg1"/>
                </a:solidFill>
              </a:rPr>
              <a:t>由</a:t>
            </a:r>
            <a:r>
              <a:rPr lang="zh-CN" altLang="en-US" b="1">
                <a:solidFill>
                  <a:schemeClr val="accent2"/>
                </a:solidFill>
              </a:rPr>
              <a:t>质速关系</a:t>
            </a:r>
          </a:p>
        </p:txBody>
      </p:sp>
      <p:graphicFrame>
        <p:nvGraphicFramePr>
          <p:cNvPr id="197645" name="Object 13"/>
          <p:cNvGraphicFramePr>
            <a:graphicFrameLocks noChangeAspect="1"/>
          </p:cNvGraphicFramePr>
          <p:nvPr/>
        </p:nvGraphicFramePr>
        <p:xfrm>
          <a:off x="2460625" y="3403600"/>
          <a:ext cx="2262188" cy="969963"/>
        </p:xfrm>
        <a:graphic>
          <a:graphicData uri="http://schemas.openxmlformats.org/presentationml/2006/ole">
            <p:oleObj spid="_x0000_s31749" name="公式" r:id="rId6" imgW="1040948" imgH="444307" progId="Equation.3">
              <p:embed/>
            </p:oleObj>
          </a:graphicData>
        </a:graphic>
      </p:graphicFrame>
      <p:sp>
        <p:nvSpPr>
          <p:cNvPr id="197646" name="Line 14"/>
          <p:cNvSpPr>
            <a:spLocks noChangeShapeType="1"/>
          </p:cNvSpPr>
          <p:nvPr/>
        </p:nvSpPr>
        <p:spPr bwMode="auto">
          <a:xfrm>
            <a:off x="3581400" y="2889250"/>
            <a:ext cx="720725" cy="0"/>
          </a:xfrm>
          <a:prstGeom prst="line">
            <a:avLst/>
          </a:prstGeom>
          <a:noFill/>
          <a:ln w="76200">
            <a:solidFill>
              <a:srgbClr val="66FFFF"/>
            </a:solidFill>
            <a:round/>
            <a:headEnd/>
            <a:tailEnd type="triangle" w="med" len="lg"/>
          </a:ln>
        </p:spPr>
        <p:txBody>
          <a:bodyPr wrap="none" anchor="ctr"/>
          <a:lstStyle/>
          <a:p>
            <a:endParaRPr lang="zh-CN" altLang="en-US"/>
          </a:p>
        </p:txBody>
      </p:sp>
      <p:graphicFrame>
        <p:nvGraphicFramePr>
          <p:cNvPr id="197647" name="Object 15"/>
          <p:cNvGraphicFramePr>
            <a:graphicFrameLocks noChangeAspect="1"/>
          </p:cNvGraphicFramePr>
          <p:nvPr/>
        </p:nvGraphicFramePr>
        <p:xfrm>
          <a:off x="2163763" y="2573338"/>
          <a:ext cx="1485900" cy="525462"/>
        </p:xfrm>
        <a:graphic>
          <a:graphicData uri="http://schemas.openxmlformats.org/presentationml/2006/ole">
            <p:oleObj spid="_x0000_s31750" name="公式" r:id="rId7" imgW="685800" imgH="241300" progId="Equation.3">
              <p:embed/>
            </p:oleObj>
          </a:graphicData>
        </a:graphic>
      </p:graphicFrame>
      <p:graphicFrame>
        <p:nvGraphicFramePr>
          <p:cNvPr id="197648" name="Object 16"/>
          <p:cNvGraphicFramePr>
            <a:graphicFrameLocks noChangeAspect="1"/>
          </p:cNvGraphicFramePr>
          <p:nvPr/>
        </p:nvGraphicFramePr>
        <p:xfrm>
          <a:off x="4392613" y="2663825"/>
          <a:ext cx="1257300" cy="495300"/>
        </p:xfrm>
        <a:graphic>
          <a:graphicData uri="http://schemas.openxmlformats.org/presentationml/2006/ole">
            <p:oleObj spid="_x0000_s31751" name="公式" r:id="rId8" imgW="583947" imgH="228501" progId="Equation.3">
              <p:embed/>
            </p:oleObj>
          </a:graphicData>
        </a:graphic>
      </p:graphicFrame>
      <p:sp>
        <p:nvSpPr>
          <p:cNvPr id="197649" name="Line 17"/>
          <p:cNvSpPr>
            <a:spLocks noChangeShapeType="1"/>
          </p:cNvSpPr>
          <p:nvPr/>
        </p:nvSpPr>
        <p:spPr bwMode="auto">
          <a:xfrm>
            <a:off x="4751388" y="3968750"/>
            <a:ext cx="719137" cy="0"/>
          </a:xfrm>
          <a:prstGeom prst="line">
            <a:avLst/>
          </a:prstGeom>
          <a:noFill/>
          <a:ln w="76200">
            <a:solidFill>
              <a:srgbClr val="66FFFF"/>
            </a:solidFill>
            <a:round/>
            <a:headEnd/>
            <a:tailEnd type="triangle" w="med" len="lg"/>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197637"/>
                                        </p:tgtEl>
                                        <p:attrNameLst>
                                          <p:attrName>style.visibility</p:attrName>
                                        </p:attrNameLst>
                                      </p:cBhvr>
                                      <p:to>
                                        <p:strVal val="visible"/>
                                      </p:to>
                                    </p:set>
                                    <p:animEffect transition="in" filter="wipe(left)">
                                      <p:cBhvr>
                                        <p:cTn id="7" dur="300"/>
                                        <p:tgtEl>
                                          <p:spTgt spid="1976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97638"/>
                                        </p:tgtEl>
                                        <p:attrNameLst>
                                          <p:attrName>style.visibility</p:attrName>
                                        </p:attrNameLst>
                                      </p:cBhvr>
                                      <p:to>
                                        <p:strVal val="visible"/>
                                      </p:to>
                                    </p:set>
                                    <p:animEffect transition="in" filter="wipe(left)">
                                      <p:cBhvr>
                                        <p:cTn id="12" dur="300"/>
                                        <p:tgtEl>
                                          <p:spTgt spid="1976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7635"/>
                                        </p:tgtEl>
                                        <p:attrNameLst>
                                          <p:attrName>style.visibility</p:attrName>
                                        </p:attrNameLst>
                                      </p:cBhvr>
                                      <p:to>
                                        <p:strVal val="visible"/>
                                      </p:to>
                                    </p:set>
                                    <p:animEffect transition="in" filter="wipe(left)">
                                      <p:cBhvr>
                                        <p:cTn id="17" dur="500"/>
                                        <p:tgtEl>
                                          <p:spTgt spid="19763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7640"/>
                                        </p:tgtEl>
                                        <p:attrNameLst>
                                          <p:attrName>style.visibility</p:attrName>
                                        </p:attrNameLst>
                                      </p:cBhvr>
                                      <p:to>
                                        <p:strVal val="visible"/>
                                      </p:to>
                                    </p:set>
                                    <p:animEffect transition="in" filter="wipe(left)">
                                      <p:cBhvr>
                                        <p:cTn id="22" dur="500"/>
                                        <p:tgtEl>
                                          <p:spTgt spid="197640"/>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197639"/>
                                        </p:tgtEl>
                                        <p:attrNameLst>
                                          <p:attrName>style.visibility</p:attrName>
                                        </p:attrNameLst>
                                      </p:cBhvr>
                                      <p:to>
                                        <p:strVal val="visible"/>
                                      </p:to>
                                    </p:set>
                                    <p:animEffect transition="in" filter="wipe(left)">
                                      <p:cBhvr>
                                        <p:cTn id="26" dur="500"/>
                                        <p:tgtEl>
                                          <p:spTgt spid="19763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97647"/>
                                        </p:tgtEl>
                                        <p:attrNameLst>
                                          <p:attrName>style.visibility</p:attrName>
                                        </p:attrNameLst>
                                      </p:cBhvr>
                                      <p:to>
                                        <p:strVal val="visible"/>
                                      </p:to>
                                    </p:set>
                                    <p:animEffect transition="in" filter="wipe(left)">
                                      <p:cBhvr>
                                        <p:cTn id="31" dur="500"/>
                                        <p:tgtEl>
                                          <p:spTgt spid="19764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97646"/>
                                        </p:tgtEl>
                                        <p:attrNameLst>
                                          <p:attrName>style.visibility</p:attrName>
                                        </p:attrNameLst>
                                      </p:cBhvr>
                                      <p:to>
                                        <p:strVal val="visible"/>
                                      </p:to>
                                    </p:set>
                                    <p:animEffect transition="in" filter="wipe(left)">
                                      <p:cBhvr>
                                        <p:cTn id="36" dur="500"/>
                                        <p:tgtEl>
                                          <p:spTgt spid="197646"/>
                                        </p:tgtEl>
                                      </p:cBhvr>
                                    </p:animEffect>
                                  </p:childTnLst>
                                </p:cTn>
                              </p:par>
                            </p:childTnLst>
                          </p:cTn>
                        </p:par>
                        <p:par>
                          <p:cTn id="37" fill="hold" nodeType="afterGroup">
                            <p:stCondLst>
                              <p:cond delay="500"/>
                            </p:stCondLst>
                            <p:childTnLst>
                              <p:par>
                                <p:cTn id="38" presetID="22" presetClass="entr" presetSubtype="8" fill="hold" nodeType="afterEffect">
                                  <p:stCondLst>
                                    <p:cond delay="0"/>
                                  </p:stCondLst>
                                  <p:childTnLst>
                                    <p:set>
                                      <p:cBhvr>
                                        <p:cTn id="39" dur="1" fill="hold">
                                          <p:stCondLst>
                                            <p:cond delay="0"/>
                                          </p:stCondLst>
                                        </p:cTn>
                                        <p:tgtEl>
                                          <p:spTgt spid="197648"/>
                                        </p:tgtEl>
                                        <p:attrNameLst>
                                          <p:attrName>style.visibility</p:attrName>
                                        </p:attrNameLst>
                                      </p:cBhvr>
                                      <p:to>
                                        <p:strVal val="visible"/>
                                      </p:to>
                                    </p:set>
                                    <p:animEffect transition="in" filter="wipe(left)">
                                      <p:cBhvr>
                                        <p:cTn id="40" dur="500"/>
                                        <p:tgtEl>
                                          <p:spTgt spid="19764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97644"/>
                                        </p:tgtEl>
                                        <p:attrNameLst>
                                          <p:attrName>style.visibility</p:attrName>
                                        </p:attrNameLst>
                                      </p:cBhvr>
                                      <p:to>
                                        <p:strVal val="visible"/>
                                      </p:to>
                                    </p:set>
                                    <p:animEffect transition="in" filter="wipe(left)">
                                      <p:cBhvr>
                                        <p:cTn id="45" dur="500"/>
                                        <p:tgtEl>
                                          <p:spTgt spid="197644"/>
                                        </p:tgtEl>
                                      </p:cBhvr>
                                    </p:animEffect>
                                  </p:childTnLst>
                                </p:cTn>
                              </p:par>
                            </p:childTnLst>
                          </p:cTn>
                        </p:par>
                        <p:par>
                          <p:cTn id="46" fill="hold" nodeType="afterGroup">
                            <p:stCondLst>
                              <p:cond delay="500"/>
                            </p:stCondLst>
                            <p:childTnLst>
                              <p:par>
                                <p:cTn id="47" presetID="22" presetClass="entr" presetSubtype="8" fill="hold" nodeType="afterEffect">
                                  <p:stCondLst>
                                    <p:cond delay="0"/>
                                  </p:stCondLst>
                                  <p:childTnLst>
                                    <p:set>
                                      <p:cBhvr>
                                        <p:cTn id="48" dur="1" fill="hold">
                                          <p:stCondLst>
                                            <p:cond delay="0"/>
                                          </p:stCondLst>
                                        </p:cTn>
                                        <p:tgtEl>
                                          <p:spTgt spid="197645"/>
                                        </p:tgtEl>
                                        <p:attrNameLst>
                                          <p:attrName>style.visibility</p:attrName>
                                        </p:attrNameLst>
                                      </p:cBhvr>
                                      <p:to>
                                        <p:strVal val="visible"/>
                                      </p:to>
                                    </p:set>
                                    <p:animEffect transition="in" filter="wipe(left)">
                                      <p:cBhvr>
                                        <p:cTn id="49" dur="500"/>
                                        <p:tgtEl>
                                          <p:spTgt spid="197645"/>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97649"/>
                                        </p:tgtEl>
                                        <p:attrNameLst>
                                          <p:attrName>style.visibility</p:attrName>
                                        </p:attrNameLst>
                                      </p:cBhvr>
                                      <p:to>
                                        <p:strVal val="visible"/>
                                      </p:to>
                                    </p:set>
                                    <p:animEffect transition="in" filter="wipe(left)">
                                      <p:cBhvr>
                                        <p:cTn id="54" dur="500"/>
                                        <p:tgtEl>
                                          <p:spTgt spid="197649"/>
                                        </p:tgtEl>
                                      </p:cBhvr>
                                    </p:animEffect>
                                  </p:childTnLst>
                                </p:cTn>
                              </p:par>
                            </p:childTnLst>
                          </p:cTn>
                        </p:par>
                        <p:par>
                          <p:cTn id="55" fill="hold" nodeType="afterGroup">
                            <p:stCondLst>
                              <p:cond delay="500"/>
                            </p:stCondLst>
                            <p:childTnLst>
                              <p:par>
                                <p:cTn id="56" presetID="22" presetClass="entr" presetSubtype="8" fill="hold" nodeType="afterEffect">
                                  <p:stCondLst>
                                    <p:cond delay="0"/>
                                  </p:stCondLst>
                                  <p:childTnLst>
                                    <p:set>
                                      <p:cBhvr>
                                        <p:cTn id="57" dur="1" fill="hold">
                                          <p:stCondLst>
                                            <p:cond delay="0"/>
                                          </p:stCondLst>
                                        </p:cTn>
                                        <p:tgtEl>
                                          <p:spTgt spid="197643"/>
                                        </p:tgtEl>
                                        <p:attrNameLst>
                                          <p:attrName>style.visibility</p:attrName>
                                        </p:attrNameLst>
                                      </p:cBhvr>
                                      <p:to>
                                        <p:strVal val="visible"/>
                                      </p:to>
                                    </p:set>
                                    <p:animEffect transition="in" filter="wipe(left)">
                                      <p:cBhvr>
                                        <p:cTn id="58" dur="500"/>
                                        <p:tgtEl>
                                          <p:spTgt spid="197643"/>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97641"/>
                                        </p:tgtEl>
                                        <p:attrNameLst>
                                          <p:attrName>style.visibility</p:attrName>
                                        </p:attrNameLst>
                                      </p:cBhvr>
                                      <p:to>
                                        <p:strVal val="visible"/>
                                      </p:to>
                                    </p:set>
                                    <p:animEffect transition="in" filter="wipe(left)">
                                      <p:cBhvr>
                                        <p:cTn id="63" dur="500"/>
                                        <p:tgtEl>
                                          <p:spTgt spid="197641"/>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197642"/>
                                        </p:tgtEl>
                                        <p:attrNameLst>
                                          <p:attrName>style.visibility</p:attrName>
                                        </p:attrNameLst>
                                      </p:cBhvr>
                                      <p:to>
                                        <p:strVal val="visible"/>
                                      </p:to>
                                    </p:set>
                                    <p:animEffect transition="in" filter="wipe(left)">
                                      <p:cBhvr>
                                        <p:cTn id="68" dur="500"/>
                                        <p:tgtEl>
                                          <p:spTgt spid="1976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5" grpId="0" autoUpdateAnimBg="0"/>
      <p:bldP spid="197637" grpId="0"/>
      <p:bldP spid="197638" grpId="0"/>
      <p:bldP spid="197640" grpId="0"/>
      <p:bldP spid="197641" grpId="0"/>
      <p:bldP spid="197644" grpId="0"/>
      <p:bldP spid="197646" grpId="0" animBg="1"/>
      <p:bldP spid="197649" grpId="0" animBg="1"/>
    </p:bldLst>
  </p:timing>
</p:sld>
</file>

<file path=ppt/theme/theme1.xml><?xml version="1.0" encoding="utf-8"?>
<a:theme xmlns:a="http://schemas.openxmlformats.org/drawingml/2006/main" name="默认设计模板">
  <a:themeElements>
    <a:clrScheme name="默认设计模板 12">
      <a:dk1>
        <a:srgbClr val="000000"/>
      </a:dk1>
      <a:lt1>
        <a:srgbClr val="000000"/>
      </a:lt1>
      <a:dk2>
        <a:srgbClr val="FF0000"/>
      </a:dk2>
      <a:lt2>
        <a:srgbClr val="000000"/>
      </a:lt2>
      <a:accent1>
        <a:srgbClr val="FFFFFF"/>
      </a:accent1>
      <a:accent2>
        <a:srgbClr val="FF6600"/>
      </a:accent2>
      <a:accent3>
        <a:srgbClr val="AAAAAA"/>
      </a:accent3>
      <a:accent4>
        <a:srgbClr val="000000"/>
      </a:accent4>
      <a:accent5>
        <a:srgbClr val="FFFFFF"/>
      </a:accent5>
      <a:accent6>
        <a:srgbClr val="E75C00"/>
      </a:accent6>
      <a:hlink>
        <a:srgbClr val="FF0000"/>
      </a:hlink>
      <a:folHlink>
        <a:srgbClr val="969696"/>
      </a:folHlink>
    </a:clrScheme>
    <a:fontScheme name="默认设计模板">
      <a:majorFont>
        <a:latin typeface="Times New Roman"/>
        <a:ea typeface="宋体"/>
        <a:cs typeface="宋体"/>
      </a:majorFont>
      <a:minorFont>
        <a:latin typeface="Times New Roman"/>
        <a:ea typeface="宋体"/>
        <a:cs typeface="宋体"/>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a:ln>
              <a:noFill/>
            </a:ln>
            <a:solidFill>
              <a:schemeClr val="tx1"/>
            </a:solidFill>
            <a:effectLst/>
            <a:latin typeface="Times New Roman" charset="0"/>
            <a:ea typeface="宋体" charset="0"/>
            <a:cs typeface="宋体"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a:ln>
              <a:noFill/>
            </a:ln>
            <a:solidFill>
              <a:schemeClr val="tx1"/>
            </a:solidFill>
            <a:effectLst/>
            <a:latin typeface="Times New Roman" charset="0"/>
            <a:ea typeface="宋体" charset="0"/>
            <a:cs typeface="宋体" charset="0"/>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默认设计模板 8">
        <a:dk1>
          <a:srgbClr val="000000"/>
        </a:dk1>
        <a:lt1>
          <a:srgbClr val="FFFFFF"/>
        </a:lt1>
        <a:dk2>
          <a:srgbClr val="000000"/>
        </a:dk2>
        <a:lt2>
          <a:srgbClr val="FFFFFF"/>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9">
        <a:dk1>
          <a:srgbClr val="000000"/>
        </a:dk1>
        <a:lt1>
          <a:srgbClr val="FFFFFF"/>
        </a:lt1>
        <a:dk2>
          <a:srgbClr val="0000FF"/>
        </a:dk2>
        <a:lt2>
          <a:srgbClr val="FFFFFF"/>
        </a:lt2>
        <a:accent1>
          <a:srgbClr val="3399FF"/>
        </a:accent1>
        <a:accent2>
          <a:srgbClr val="FF6600"/>
        </a:accent2>
        <a:accent3>
          <a:srgbClr val="FFFFFF"/>
        </a:accent3>
        <a:accent4>
          <a:srgbClr val="000000"/>
        </a:accent4>
        <a:accent5>
          <a:srgbClr val="ADCAFF"/>
        </a:accent5>
        <a:accent6>
          <a:srgbClr val="E75C00"/>
        </a:accent6>
        <a:hlink>
          <a:srgbClr val="FF0000"/>
        </a:hlink>
        <a:folHlink>
          <a:srgbClr val="B2B2B2"/>
        </a:folHlink>
      </a:clrScheme>
      <a:clrMap bg1="lt1" tx1="dk1" bg2="lt2" tx2="dk2" accent1="accent1" accent2="accent2" accent3="accent3" accent4="accent4" accent5="accent5" accent6="accent6" hlink="hlink" folHlink="folHlink"/>
    </a:extraClrScheme>
    <a:extraClrScheme>
      <a:clrScheme name="默认设计模板 10">
        <a:dk1>
          <a:srgbClr val="000000"/>
        </a:dk1>
        <a:lt1>
          <a:srgbClr val="FFFFFF"/>
        </a:lt1>
        <a:dk2>
          <a:srgbClr val="000000"/>
        </a:dk2>
        <a:lt2>
          <a:srgbClr val="FFFF00"/>
        </a:lt2>
        <a:accent1>
          <a:srgbClr val="FF9900"/>
        </a:accent1>
        <a:accent2>
          <a:srgbClr val="0000CC"/>
        </a:accent2>
        <a:accent3>
          <a:srgbClr val="AAAAAA"/>
        </a:accent3>
        <a:accent4>
          <a:srgbClr val="DADADA"/>
        </a:accent4>
        <a:accent5>
          <a:srgbClr val="FFCAAA"/>
        </a:accent5>
        <a:accent6>
          <a:srgbClr val="0000B9"/>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12">
        <a:dk1>
          <a:srgbClr val="000000"/>
        </a:dk1>
        <a:lt1>
          <a:srgbClr val="000000"/>
        </a:lt1>
        <a:dk2>
          <a:srgbClr val="FF0000"/>
        </a:dk2>
        <a:lt2>
          <a:srgbClr val="000000"/>
        </a:lt2>
        <a:accent1>
          <a:srgbClr val="FFFFFF"/>
        </a:accent1>
        <a:accent2>
          <a:srgbClr val="FF6600"/>
        </a:accent2>
        <a:accent3>
          <a:srgbClr val="AAAAAA"/>
        </a:accent3>
        <a:accent4>
          <a:srgbClr val="000000"/>
        </a:accent4>
        <a:accent5>
          <a:srgbClr val="FFFFFF"/>
        </a:accent5>
        <a:accent6>
          <a:srgbClr val="E75C00"/>
        </a:accent6>
        <a:hlink>
          <a:srgbClr val="FF0000"/>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3476</TotalTime>
  <Words>3106</Words>
  <Application>Microsoft Macintosh PowerPoint</Application>
  <PresentationFormat>全屏显示(4:3)</PresentationFormat>
  <Paragraphs>397</Paragraphs>
  <Slides>37</Slides>
  <Notes>0</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37</vt:i4>
      </vt:variant>
    </vt:vector>
  </HeadingPairs>
  <TitlesOfParts>
    <vt:vector size="40" baseType="lpstr">
      <vt:lpstr>默认设计模板</vt:lpstr>
      <vt:lpstr>Equation</vt:lpstr>
      <vt:lpstr>公式</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vector>
  </TitlesOfParts>
  <Company>Microsoft China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微软用户</dc:creator>
  <cp:lastModifiedBy>解迎革</cp:lastModifiedBy>
  <cp:revision>288</cp:revision>
  <dcterms:created xsi:type="dcterms:W3CDTF">2005-06-24T09:15:10Z</dcterms:created>
  <dcterms:modified xsi:type="dcterms:W3CDTF">2015-12-09T06:44:16Z</dcterms:modified>
</cp:coreProperties>
</file>